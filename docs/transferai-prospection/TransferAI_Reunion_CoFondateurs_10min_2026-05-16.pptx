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530"/>
  </p:normalViewPr>
  <p:slideViewPr>
    <p:cSldViewPr snapToGrid="0">
      <p:cViewPr varScale="1">
        <p:scale>
          <a:sx n="124" d="100"/>
          <a:sy n="124" d="100"/>
        </p:scale>
        <p:origin x="2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95CD4E81-0175-4213-9F2A-6A5DEEE8E4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E"/>
          </a:solidFill>
          <a:ln w="0">
            <a:solidFill>
              <a:srgbClr val="F7F3E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5F3844-98E7-407C-8DC7-89DF87617235}"/>
              </a:ext>
            </a:extLst>
          </p:cNvPr>
          <p:cNvSpPr>
            <a:spLocks noGrp="1"/>
          </p:cNvSpPr>
          <p:nvPr/>
        </p:nvSpPr>
        <p:spPr>
          <a:xfrm>
            <a:off x="8572500" y="0"/>
            <a:ext cx="3619500" cy="685800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35180-E568-4BCF-8173-F2775400F3F9}"/>
              </a:ext>
            </a:extLst>
          </p:cNvPr>
          <p:cNvSpPr>
            <a:spLocks noGrp="1"/>
          </p:cNvSpPr>
          <p:nvPr/>
        </p:nvSpPr>
        <p:spPr>
          <a:xfrm>
            <a:off x="571500" y="4572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RÉUNION STRATÉGIQUE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7BE59A-143A-4C36-8EE4-B404C997826F}"/>
              </a:ext>
            </a:extLst>
          </p:cNvPr>
          <p:cNvSpPr>
            <a:spLocks noGrp="1"/>
          </p:cNvSpPr>
          <p:nvPr/>
        </p:nvSpPr>
        <p:spPr>
          <a:xfrm>
            <a:off x="571500" y="1047750"/>
            <a:ext cx="6858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TransferAI Africa - Réunion des cofondateurs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160FEE-BDC4-40A3-8479-55CCA5B1CE6D}"/>
              </a:ext>
            </a:extLst>
          </p:cNvPr>
          <p:cNvSpPr>
            <a:spLocks noGrp="1"/>
          </p:cNvSpPr>
          <p:nvPr/>
        </p:nvSpPr>
        <p:spPr>
          <a:xfrm>
            <a:off x="571500" y="2266950"/>
            <a:ext cx="6667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Domaines d'expertise, cas d'usage et stratégie de prospection Côte d'Ivoire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3E928E-E16D-4D74-9AD2-A0630D939A71}"/>
              </a:ext>
            </a:extLst>
          </p:cNvPr>
          <p:cNvSpPr>
            <a:spLocks noGrp="1"/>
          </p:cNvSpPr>
          <p:nvPr/>
        </p:nvSpPr>
        <p:spPr>
          <a:xfrm>
            <a:off x="571500" y="29337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Date : 16 mai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DA49E1-40BB-4962-BC8B-653A3B8D5C5B}"/>
              </a:ext>
            </a:extLst>
          </p:cNvPr>
          <p:cNvSpPr>
            <a:spLocks noGrp="1"/>
          </p:cNvSpPr>
          <p:nvPr/>
        </p:nvSpPr>
        <p:spPr>
          <a:xfrm>
            <a:off x="8991600" y="8763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Objet de la séance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19465F-1831-42D3-A370-3C53BB4A7997}"/>
              </a:ext>
            </a:extLst>
          </p:cNvPr>
          <p:cNvSpPr>
            <a:spLocks noGrp="1"/>
          </p:cNvSpPr>
          <p:nvPr/>
        </p:nvSpPr>
        <p:spPr>
          <a:xfrm>
            <a:off x="8991600" y="1276350"/>
            <a:ext cx="24765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5EF"/>
                </a:solidFill>
                <a:latin typeface="Aptos"/>
                <a:ea typeface="Aptos"/>
                <a:cs typeface="Aptos"/>
              </a:rPr>
              <a:t>Aligner les cofondateurs sur les domaines les plus porteurs, les cas d'usage les plus vendeurs et les priorités commerciales à 90 jours.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18C87A-D809-402A-8514-E47E200E1127}"/>
              </a:ext>
            </a:extLst>
          </p:cNvPr>
          <p:cNvSpPr>
            <a:spLocks noGrp="1"/>
          </p:cNvSpPr>
          <p:nvPr/>
        </p:nvSpPr>
        <p:spPr>
          <a:xfrm>
            <a:off x="8991600" y="2895600"/>
            <a:ext cx="24384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Question centrale : sur quels domaines concentrer la prospection et quelles offres pousser en priorité 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CF39A4-0061-4E59-8042-2D67A3404E95}"/>
              </a:ext>
            </a:extLst>
          </p:cNvPr>
          <p:cNvSpPr>
            <a:spLocks noGrp="1"/>
          </p:cNvSpPr>
          <p:nvPr/>
        </p:nvSpPr>
        <p:spPr>
          <a:xfrm>
            <a:off x="571500" y="4857750"/>
            <a:ext cx="2381250" cy="11430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D66B0D-9ABB-4A2C-BC3E-0322AF782642}"/>
              </a:ext>
            </a:extLst>
          </p:cNvPr>
          <p:cNvSpPr>
            <a:spLocks noGrp="1"/>
          </p:cNvSpPr>
          <p:nvPr/>
        </p:nvSpPr>
        <p:spPr>
          <a:xfrm>
            <a:off x="742950" y="5010150"/>
            <a:ext cx="38100" cy="457200"/>
          </a:xfrm>
          <a:prstGeom prst="rect">
            <a:avLst/>
          </a:prstGeom>
          <a:solidFill>
            <a:srgbClr val="D66724"/>
          </a:solidFill>
          <a:ln w="0">
            <a:solidFill>
              <a:srgbClr val="D6672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FDE32D-462C-401E-947C-E044246AC879}"/>
              </a:ext>
            </a:extLst>
          </p:cNvPr>
          <p:cNvSpPr>
            <a:spLocks noGrp="1"/>
          </p:cNvSpPr>
          <p:nvPr/>
        </p:nvSpPr>
        <p:spPr>
          <a:xfrm>
            <a:off x="895350" y="497205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AE6466-CE06-495E-87B2-8F3514BFD226}"/>
              </a:ext>
            </a:extLst>
          </p:cNvPr>
          <p:cNvSpPr>
            <a:spLocks noGrp="1"/>
          </p:cNvSpPr>
          <p:nvPr/>
        </p:nvSpPr>
        <p:spPr>
          <a:xfrm>
            <a:off x="895350" y="5314950"/>
            <a:ext cx="188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5B6A"/>
                </a:solidFill>
                <a:latin typeface="Aptos"/>
                <a:ea typeface="Aptos"/>
                <a:cs typeface="Aptos"/>
              </a:rPr>
              <a:t>domaines structurés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29D8BC-3CBD-446F-9868-46995BED9553}"/>
              </a:ext>
            </a:extLst>
          </p:cNvPr>
          <p:cNvSpPr>
            <a:spLocks noGrp="1"/>
          </p:cNvSpPr>
          <p:nvPr/>
        </p:nvSpPr>
        <p:spPr>
          <a:xfrm>
            <a:off x="895350" y="5505450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base déjà présente sur le site et dans le catalogue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0397D5-42B4-419A-8054-888072908B29}"/>
              </a:ext>
            </a:extLst>
          </p:cNvPr>
          <p:cNvSpPr>
            <a:spLocks noGrp="1"/>
          </p:cNvSpPr>
          <p:nvPr/>
        </p:nvSpPr>
        <p:spPr>
          <a:xfrm>
            <a:off x="3143250" y="4857750"/>
            <a:ext cx="2381250" cy="11430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DAE887-1D24-4A28-B533-2E38E6F85372}"/>
              </a:ext>
            </a:extLst>
          </p:cNvPr>
          <p:cNvSpPr>
            <a:spLocks noGrp="1"/>
          </p:cNvSpPr>
          <p:nvPr/>
        </p:nvSpPr>
        <p:spPr>
          <a:xfrm>
            <a:off x="3314700" y="5010150"/>
            <a:ext cx="38100" cy="457200"/>
          </a:xfrm>
          <a:prstGeom prst="rect">
            <a:avLst/>
          </a:prstGeom>
          <a:solidFill>
            <a:srgbClr val="3E7C78"/>
          </a:solidFill>
          <a:ln w="0">
            <a:solidFill>
              <a:srgbClr val="3E7C7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6ED9D7-2D24-4CE5-8B83-45620C41AB59}"/>
              </a:ext>
            </a:extLst>
          </p:cNvPr>
          <p:cNvSpPr>
            <a:spLocks noGrp="1"/>
          </p:cNvSpPr>
          <p:nvPr/>
        </p:nvSpPr>
        <p:spPr>
          <a:xfrm>
            <a:off x="3467100" y="497205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47FB5D-F65B-4F3A-B69A-748DD4FB2C41}"/>
              </a:ext>
            </a:extLst>
          </p:cNvPr>
          <p:cNvSpPr>
            <a:spLocks noGrp="1"/>
          </p:cNvSpPr>
          <p:nvPr/>
        </p:nvSpPr>
        <p:spPr>
          <a:xfrm>
            <a:off x="3467100" y="5314950"/>
            <a:ext cx="188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5B6A"/>
                </a:solidFill>
                <a:latin typeface="Aptos"/>
                <a:ea typeface="Aptos"/>
                <a:cs typeface="Aptos"/>
              </a:rPr>
              <a:t>priorités court terme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BBB53B-647F-4878-9927-D72FE5539DDD}"/>
              </a:ext>
            </a:extLst>
          </p:cNvPr>
          <p:cNvSpPr>
            <a:spLocks noGrp="1"/>
          </p:cNvSpPr>
          <p:nvPr/>
        </p:nvSpPr>
        <p:spPr>
          <a:xfrm>
            <a:off x="3467100" y="5505450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domaines à pousser sans attendre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76ADF1-19DA-4A9B-BA49-FD20FE4FA7CF}"/>
              </a:ext>
            </a:extLst>
          </p:cNvPr>
          <p:cNvSpPr>
            <a:spLocks noGrp="1"/>
          </p:cNvSpPr>
          <p:nvPr/>
        </p:nvSpPr>
        <p:spPr>
          <a:xfrm>
            <a:off x="5715000" y="4857750"/>
            <a:ext cx="2381250" cy="11430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D7A56E-8D72-486F-A7F8-D9397EE80708}"/>
              </a:ext>
            </a:extLst>
          </p:cNvPr>
          <p:cNvSpPr>
            <a:spLocks noGrp="1"/>
          </p:cNvSpPr>
          <p:nvPr/>
        </p:nvSpPr>
        <p:spPr>
          <a:xfrm>
            <a:off x="5886450" y="5010150"/>
            <a:ext cx="38100" cy="457200"/>
          </a:xfrm>
          <a:prstGeom prst="rect">
            <a:avLst/>
          </a:prstGeom>
          <a:solidFill>
            <a:srgbClr val="7E8B99"/>
          </a:solidFill>
          <a:ln w="0">
            <a:solidFill>
              <a:srgbClr val="7E8B99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9F4410-4F9B-489A-AFE1-4E7DB2FDD511}"/>
              </a:ext>
            </a:extLst>
          </p:cNvPr>
          <p:cNvSpPr>
            <a:spLocks noGrp="1"/>
          </p:cNvSpPr>
          <p:nvPr/>
        </p:nvSpPr>
        <p:spPr>
          <a:xfrm>
            <a:off x="6038850" y="4972050"/>
            <a:ext cx="1885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90j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7BA499-B514-4919-8591-FCD18D71400D}"/>
              </a:ext>
            </a:extLst>
          </p:cNvPr>
          <p:cNvSpPr>
            <a:spLocks noGrp="1"/>
          </p:cNvSpPr>
          <p:nvPr/>
        </p:nvSpPr>
        <p:spPr>
          <a:xfrm>
            <a:off x="6038850" y="5314950"/>
            <a:ext cx="188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C5B6A"/>
                </a:solidFill>
                <a:latin typeface="Aptos"/>
                <a:ea typeface="Aptos"/>
                <a:cs typeface="Aptos"/>
              </a:rPr>
              <a:t>fenêtre d'exécution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6DA955-F212-463F-9BE9-E9EAE17FCDD4}"/>
              </a:ext>
            </a:extLst>
          </p:cNvPr>
          <p:cNvSpPr>
            <a:spLocks noGrp="1"/>
          </p:cNvSpPr>
          <p:nvPr/>
        </p:nvSpPr>
        <p:spPr>
          <a:xfrm>
            <a:off x="6038850" y="5505450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pour convertir l'offre en pipeline concret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14BE45-4E85-4964-879A-86988C8506E2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12ADDD-A5F1-405B-B497-4E9EA65A7B7C}"/>
              </a:ext>
            </a:extLst>
          </p:cNvPr>
          <p:cNvSpPr>
            <a:spLocks noGrp="1"/>
          </p:cNvSpPr>
          <p:nvPr/>
        </p:nvSpPr>
        <p:spPr>
          <a:xfrm>
            <a:off x="571500" y="656272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TransferAI Africa | Réunion des cofondateurs | Synthèse stratégique Côte d'Ivoire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180CE8-E0FB-4CAD-9AC8-6E5EF202A823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22459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E208648-8270-42D3-BF87-3D71EFA7FE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418617-A14B-4B26-8BDE-AE75886E1408}"/>
              </a:ext>
            </a:extLst>
          </p:cNvPr>
          <p:cNvSpPr>
            <a:spLocks noGrp="1"/>
          </p:cNvSpPr>
          <p:nvPr/>
        </p:nvSpPr>
        <p:spPr>
          <a:xfrm>
            <a:off x="571500" y="3429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VUE D'ENSEMBLE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3F955B-13CF-4724-88B0-28AD15AAC0BE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Ce que les cofondateurs doivent retenir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3991E2-C899-4216-9EA7-BBD1A1BB43D6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6096000" cy="34290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AF9C91-2CE0-44C9-8336-9811C41BF832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AFDB15-CD0A-4F34-8C90-79A569AF930A}"/>
              </a:ext>
            </a:extLst>
          </p:cNvPr>
          <p:cNvSpPr>
            <a:spLocks noGrp="1"/>
          </p:cNvSpPr>
          <p:nvPr/>
        </p:nvSpPr>
        <p:spPr>
          <a:xfrm>
            <a:off x="1009650" y="1943100"/>
            <a:ext cx="5429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Le site et le catalogue TransferAI Africa structurent déjà 13 domaines d'expertise distincts.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9F4E2B-4DB5-4169-BF87-CF1EFF53E8D1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A26F7A-2050-486B-B9E5-3B547A4569B6}"/>
              </a:ext>
            </a:extLst>
          </p:cNvPr>
          <p:cNvSpPr>
            <a:spLocks noGrp="1"/>
          </p:cNvSpPr>
          <p:nvPr/>
        </p:nvSpPr>
        <p:spPr>
          <a:xfrm>
            <a:off x="1009650" y="2533650"/>
            <a:ext cx="5429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Tous les domaines ne se vendent pas avec la même vitesse : 5 domaines doivent porter l'effort commercial court terme.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16366F-1F1C-4CF8-A346-308517446B5B}"/>
              </a:ext>
            </a:extLst>
          </p:cNvPr>
          <p:cNvSpPr>
            <a:spLocks noGrp="1"/>
          </p:cNvSpPr>
          <p:nvPr/>
        </p:nvSpPr>
        <p:spPr>
          <a:xfrm>
            <a:off x="800100" y="3143250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1C8B09-5051-4355-9E0F-40C0FBDEEF91}"/>
              </a:ext>
            </a:extLst>
          </p:cNvPr>
          <p:cNvSpPr>
            <a:spLocks noGrp="1"/>
          </p:cNvSpPr>
          <p:nvPr/>
        </p:nvSpPr>
        <p:spPr>
          <a:xfrm>
            <a:off x="1009650" y="3124200"/>
            <a:ext cx="5429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Les cas d'usage les plus faciles à vendre en Côte d'Ivoire sont ceux qui réduisent le temps administratif, améliorent la réactivité commerciale ou fluidifient les workflows internes.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6AD547-E3D8-497B-AEDF-049E5902CBCA}"/>
              </a:ext>
            </a:extLst>
          </p:cNvPr>
          <p:cNvSpPr>
            <a:spLocks noGrp="1"/>
          </p:cNvSpPr>
          <p:nvPr/>
        </p:nvSpPr>
        <p:spPr>
          <a:xfrm>
            <a:off x="800100" y="3733800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369122-A197-4E5A-8810-F9052F3F92E2}"/>
              </a:ext>
            </a:extLst>
          </p:cNvPr>
          <p:cNvSpPr>
            <a:spLocks noGrp="1"/>
          </p:cNvSpPr>
          <p:nvPr/>
        </p:nvSpPr>
        <p:spPr>
          <a:xfrm>
            <a:off x="1009650" y="3714750"/>
            <a:ext cx="5429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Le meilleur angle de vente n'est pas la technologie, mais le ROI métier visible en moins de 90 jours.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D2114F-0C09-4422-BB9D-304C1EDC54C0}"/>
              </a:ext>
            </a:extLst>
          </p:cNvPr>
          <p:cNvSpPr>
            <a:spLocks noGrp="1"/>
          </p:cNvSpPr>
          <p:nvPr/>
        </p:nvSpPr>
        <p:spPr>
          <a:xfrm>
            <a:off x="800100" y="4324350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3352A0-ACF8-42C4-BCC0-B1F0FD86AB9F}"/>
              </a:ext>
            </a:extLst>
          </p:cNvPr>
          <p:cNvSpPr>
            <a:spLocks noGrp="1"/>
          </p:cNvSpPr>
          <p:nvPr/>
        </p:nvSpPr>
        <p:spPr>
          <a:xfrm>
            <a:off x="1009650" y="4305300"/>
            <a:ext cx="5429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La prospection doit s'organiser autour d'offres simples : audit, formation métier, pilote de workflow, puis déploiement.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75F360-F179-4BA9-BFD1-64D9B67C2B63}"/>
              </a:ext>
            </a:extLst>
          </p:cNvPr>
          <p:cNvSpPr>
            <a:spLocks noGrp="1"/>
          </p:cNvSpPr>
          <p:nvPr/>
        </p:nvSpPr>
        <p:spPr>
          <a:xfrm>
            <a:off x="7143750" y="1619250"/>
            <a:ext cx="4095750" cy="2476500"/>
          </a:xfrm>
          <a:prstGeom prst="rect">
            <a:avLst/>
          </a:prstGeom>
          <a:solidFill>
            <a:srgbClr val="D66724"/>
          </a:solidFill>
          <a:ln w="9525">
            <a:solidFill>
              <a:srgbClr val="D6672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86BA1C-B28B-4423-91FD-17A88536B255}"/>
              </a:ext>
            </a:extLst>
          </p:cNvPr>
          <p:cNvSpPr>
            <a:spLocks noGrp="1"/>
          </p:cNvSpPr>
          <p:nvPr/>
        </p:nvSpPr>
        <p:spPr>
          <a:xfrm>
            <a:off x="7448550" y="18669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E9D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E9DB"/>
                </a:solidFill>
                <a:latin typeface="Aptos"/>
                <a:ea typeface="Aptos"/>
                <a:cs typeface="Aptos"/>
              </a:rPr>
              <a:t>Pourquoi agir maintenant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260D86-B1BF-46AC-A997-A0A828F8ACF7}"/>
              </a:ext>
            </a:extLst>
          </p:cNvPr>
          <p:cNvSpPr>
            <a:spLocks noGrp="1"/>
          </p:cNvSpPr>
          <p:nvPr/>
        </p:nvSpPr>
        <p:spPr>
          <a:xfrm>
            <a:off x="7448550" y="2152650"/>
            <a:ext cx="3238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5 domaines peuvent porter l'effort commercial des 90 prochains jours.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99D07B-D399-4651-83A4-9BA1A8D4317F}"/>
              </a:ext>
            </a:extLst>
          </p:cNvPr>
          <p:cNvSpPr>
            <a:spLocks noGrp="1"/>
          </p:cNvSpPr>
          <p:nvPr/>
        </p:nvSpPr>
        <p:spPr>
          <a:xfrm>
            <a:off x="7448550" y="3143250"/>
            <a:ext cx="3238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5E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5EE"/>
                </a:solidFill>
                <a:latin typeface="Aptos"/>
                <a:ea typeface="Aptos"/>
                <a:cs typeface="Aptos"/>
              </a:rPr>
              <a:t>Le but n'est pas d'élargir le catalogue. Le but est de concentrer la vente sur ce qui est démontrable, répétable et transformable en mission.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4CE3F1-52DB-40C3-982F-90B9F0E18A3E}"/>
              </a:ext>
            </a:extLst>
          </p:cNvPr>
          <p:cNvSpPr>
            <a:spLocks noGrp="1"/>
          </p:cNvSpPr>
          <p:nvPr/>
        </p:nvSpPr>
        <p:spPr>
          <a:xfrm>
            <a:off x="571500" y="5486400"/>
            <a:ext cx="2381250" cy="285750"/>
          </a:xfrm>
          <a:prstGeom prst="rect">
            <a:avLst/>
          </a:prstGeom>
          <a:solidFill>
            <a:srgbClr val="F4D8C6"/>
          </a:solidFill>
          <a:ln w="9525">
            <a:solidFill>
              <a:srgbClr val="F4D8C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5481D8-AB9E-402E-A6AD-CA66EE59A275}"/>
              </a:ext>
            </a:extLst>
          </p:cNvPr>
          <p:cNvSpPr>
            <a:spLocks noGrp="1"/>
          </p:cNvSpPr>
          <p:nvPr/>
        </p:nvSpPr>
        <p:spPr>
          <a:xfrm>
            <a:off x="571500" y="554355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Demande marché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34CB67-63D1-41C3-9118-3BEC2CC4351D}"/>
              </a:ext>
            </a:extLst>
          </p:cNvPr>
          <p:cNvSpPr>
            <a:spLocks noGrp="1"/>
          </p:cNvSpPr>
          <p:nvPr/>
        </p:nvSpPr>
        <p:spPr>
          <a:xfrm>
            <a:off x="3143250" y="5486400"/>
            <a:ext cx="2381250" cy="285750"/>
          </a:xfrm>
          <a:prstGeom prst="rect">
            <a:avLst/>
          </a:prstGeom>
          <a:solidFill>
            <a:srgbClr val="DCEAE8"/>
          </a:solidFill>
          <a:ln w="9525">
            <a:solidFill>
              <a:srgbClr val="DCEAE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DD36BE-0E57-460F-9CFD-791E1113CD12}"/>
              </a:ext>
            </a:extLst>
          </p:cNvPr>
          <p:cNvSpPr>
            <a:spLocks noGrp="1"/>
          </p:cNvSpPr>
          <p:nvPr/>
        </p:nvSpPr>
        <p:spPr>
          <a:xfrm>
            <a:off x="3143250" y="554355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Vitesse de ROI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7AA5BF-EFBD-468F-82DF-6ACCCC06E45C}"/>
              </a:ext>
            </a:extLst>
          </p:cNvPr>
          <p:cNvSpPr>
            <a:spLocks noGrp="1"/>
          </p:cNvSpPr>
          <p:nvPr/>
        </p:nvSpPr>
        <p:spPr>
          <a:xfrm>
            <a:off x="5715000" y="5486400"/>
            <a:ext cx="2381250" cy="285750"/>
          </a:xfrm>
          <a:prstGeom prst="rect">
            <a:avLst/>
          </a:prstGeom>
          <a:solidFill>
            <a:srgbClr val="E3E8EE"/>
          </a:solidFill>
          <a:ln w="9525">
            <a:solidFill>
              <a:srgbClr val="E3E8EE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CB7E66-A955-45DF-ACDA-B1D46FBD81BF}"/>
              </a:ext>
            </a:extLst>
          </p:cNvPr>
          <p:cNvSpPr>
            <a:spLocks noGrp="1"/>
          </p:cNvSpPr>
          <p:nvPr/>
        </p:nvSpPr>
        <p:spPr>
          <a:xfrm>
            <a:off x="5715000" y="554355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Facilité de démonstration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617957-B484-4D79-B403-A192D6C07CA8}"/>
              </a:ext>
            </a:extLst>
          </p:cNvPr>
          <p:cNvSpPr>
            <a:spLocks noGrp="1"/>
          </p:cNvSpPr>
          <p:nvPr/>
        </p:nvSpPr>
        <p:spPr>
          <a:xfrm>
            <a:off x="8286750" y="5486400"/>
            <a:ext cx="2381250" cy="285750"/>
          </a:xfrm>
          <a:prstGeom prst="rect">
            <a:avLst/>
          </a:prstGeom>
          <a:solidFill>
            <a:srgbClr val="F0E9DF"/>
          </a:solidFill>
          <a:ln w="9525">
            <a:solidFill>
              <a:srgbClr val="F0E9DF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D470DB-55C1-43CF-8CE2-F4CBF5678F09}"/>
              </a:ext>
            </a:extLst>
          </p:cNvPr>
          <p:cNvSpPr>
            <a:spLocks noGrp="1"/>
          </p:cNvSpPr>
          <p:nvPr/>
        </p:nvSpPr>
        <p:spPr>
          <a:xfrm>
            <a:off x="8286750" y="554355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Réplicabilité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7FE637-AC7F-481E-8274-1BBF4F1D7B49}"/>
              </a:ext>
            </a:extLst>
          </p:cNvPr>
          <p:cNvSpPr>
            <a:spLocks noGrp="1"/>
          </p:cNvSpPr>
          <p:nvPr/>
        </p:nvSpPr>
        <p:spPr>
          <a:xfrm>
            <a:off x="571500" y="584835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Fréquence potentielle des besoins dans les entreprises ivoiriennes privées, publiques et parapubliques.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F70480-C0F3-4EF8-802E-A14403E85DFC}"/>
              </a:ext>
            </a:extLst>
          </p:cNvPr>
          <p:cNvSpPr>
            <a:spLocks noGrp="1"/>
          </p:cNvSpPr>
          <p:nvPr/>
        </p:nvSpPr>
        <p:spPr>
          <a:xfrm>
            <a:off x="3143250" y="584835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Capacité à démontrer un gain visible rapidement, sans projet SI lourd.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40F7C7-D20F-4C59-9D2B-02DBE0D74BBC}"/>
              </a:ext>
            </a:extLst>
          </p:cNvPr>
          <p:cNvSpPr>
            <a:spLocks noGrp="1"/>
          </p:cNvSpPr>
          <p:nvPr/>
        </p:nvSpPr>
        <p:spPr>
          <a:xfrm>
            <a:off x="5715000" y="584835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Possibilité de montrer un avant/après concret en rendez-vous.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11DA0E-D9BC-44C8-A515-6D6856411ABA}"/>
              </a:ext>
            </a:extLst>
          </p:cNvPr>
          <p:cNvSpPr>
            <a:spLocks noGrp="1"/>
          </p:cNvSpPr>
          <p:nvPr/>
        </p:nvSpPr>
        <p:spPr>
          <a:xfrm>
            <a:off x="8286750" y="584835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Capacité à réutiliser la même offre dans plusieurs secteurs et clients.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A99E96-CFAF-425B-87B7-81CA1D089D37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509EE87-2B26-4128-A819-FB9DBAC65295}"/>
              </a:ext>
            </a:extLst>
          </p:cNvPr>
          <p:cNvSpPr>
            <a:spLocks noGrp="1"/>
          </p:cNvSpPr>
          <p:nvPr/>
        </p:nvSpPr>
        <p:spPr>
          <a:xfrm>
            <a:off x="571500" y="656272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Thèse : la prochaine croissance commerciale viendra des domaines à ROI court terme, pas d'un discours IA générique.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693760-32FD-4E9A-8F1F-BF1FE1D56A27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6205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7DDB4DC7-D792-4ADC-A2CC-F2FD14D639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23412F-4D08-4ADA-87A8-4B6D6CE55A5D}"/>
              </a:ext>
            </a:extLst>
          </p:cNvPr>
          <p:cNvSpPr>
            <a:spLocks noGrp="1"/>
          </p:cNvSpPr>
          <p:nvPr/>
        </p:nvSpPr>
        <p:spPr>
          <a:xfrm>
            <a:off x="571500" y="3429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MATRICE DE PRIORITÉ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E16BA9-64D6-4F7D-9805-28E5CE745D29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La priorité doit croiser facilité de vente et vitesse de ROI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ABFE60-8AB6-4615-9EBE-F1FE1B26146A}"/>
              </a:ext>
            </a:extLst>
          </p:cNvPr>
          <p:cNvSpPr>
            <a:spLocks noGrp="1"/>
          </p:cNvSpPr>
          <p:nvPr/>
        </p:nvSpPr>
        <p:spPr>
          <a:xfrm>
            <a:off x="819150" y="196215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ROI rapide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7EA617-2DE9-4BB9-AC00-D80E24A94135}"/>
              </a:ext>
            </a:extLst>
          </p:cNvPr>
          <p:cNvSpPr>
            <a:spLocks noGrp="1"/>
          </p:cNvSpPr>
          <p:nvPr/>
        </p:nvSpPr>
        <p:spPr>
          <a:xfrm>
            <a:off x="819150" y="51435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E8B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E8B99"/>
                </a:solidFill>
                <a:latin typeface="Aptos"/>
                <a:ea typeface="Aptos"/>
                <a:cs typeface="Aptos"/>
              </a:rPr>
              <a:t>ROI plus lent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59989-11A0-468C-8D6C-B890FFA2257C}"/>
              </a:ext>
            </a:extLst>
          </p:cNvPr>
          <p:cNvSpPr>
            <a:spLocks noGrp="1"/>
          </p:cNvSpPr>
          <p:nvPr/>
        </p:nvSpPr>
        <p:spPr>
          <a:xfrm>
            <a:off x="1885950" y="56388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E8B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E8B99"/>
                </a:solidFill>
                <a:latin typeface="Aptos"/>
                <a:ea typeface="Aptos"/>
                <a:cs typeface="Aptos"/>
              </a:rPr>
              <a:t>Vente plus difficile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0BE551-0351-40CF-B73B-CF287C3AFC0A}"/>
              </a:ext>
            </a:extLst>
          </p:cNvPr>
          <p:cNvSpPr>
            <a:spLocks noGrp="1"/>
          </p:cNvSpPr>
          <p:nvPr/>
        </p:nvSpPr>
        <p:spPr>
          <a:xfrm>
            <a:off x="6953250" y="56388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Vente plus facile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544B85-BCC4-4B1F-9165-4952183B14DB}"/>
              </a:ext>
            </a:extLst>
          </p:cNvPr>
          <p:cNvSpPr>
            <a:spLocks noGrp="1"/>
          </p:cNvSpPr>
          <p:nvPr/>
        </p:nvSpPr>
        <p:spPr>
          <a:xfrm>
            <a:off x="1714500" y="2476500"/>
            <a:ext cx="6667500" cy="2952750"/>
          </a:xfrm>
          <a:prstGeom prst="rect">
            <a:avLst/>
          </a:prstGeom>
          <a:solidFill>
            <a:srgbClr val="FCFAF7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57E599-62E3-490B-82BC-43801ADADEF0}"/>
              </a:ext>
            </a:extLst>
          </p:cNvPr>
          <p:cNvSpPr>
            <a:spLocks noGrp="1"/>
          </p:cNvSpPr>
          <p:nvPr/>
        </p:nvSpPr>
        <p:spPr>
          <a:xfrm>
            <a:off x="5038725" y="2476500"/>
            <a:ext cx="19050" cy="2952750"/>
          </a:xfrm>
          <a:prstGeom prst="rect">
            <a:avLst/>
          </a:prstGeom>
          <a:solidFill>
            <a:srgbClr val="D9D3C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E5FFFD-4A41-4210-B298-C117EFB7298B}"/>
              </a:ext>
            </a:extLst>
          </p:cNvPr>
          <p:cNvSpPr>
            <a:spLocks noGrp="1"/>
          </p:cNvSpPr>
          <p:nvPr/>
        </p:nvSpPr>
        <p:spPr>
          <a:xfrm>
            <a:off x="1714500" y="3943350"/>
            <a:ext cx="6667500" cy="19050"/>
          </a:xfrm>
          <a:prstGeom prst="rect">
            <a:avLst/>
          </a:prstGeom>
          <a:solidFill>
            <a:srgbClr val="D9D3C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533095-A7E2-427A-9D48-2216C1109BE1}"/>
              </a:ext>
            </a:extLst>
          </p:cNvPr>
          <p:cNvSpPr>
            <a:spLocks noGrp="1"/>
          </p:cNvSpPr>
          <p:nvPr/>
        </p:nvSpPr>
        <p:spPr>
          <a:xfrm>
            <a:off x="6067425" y="2828925"/>
            <a:ext cx="152400" cy="152400"/>
          </a:xfrm>
          <a:prstGeom prst="rect">
            <a:avLst/>
          </a:prstGeom>
          <a:solidFill>
            <a:srgbClr val="D66724"/>
          </a:solidFill>
          <a:ln w="9525">
            <a:solidFill>
              <a:srgbClr val="D6672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170A2A-8BD6-4D59-97CD-D435D85F02B9}"/>
              </a:ext>
            </a:extLst>
          </p:cNvPr>
          <p:cNvSpPr>
            <a:spLocks noGrp="1"/>
          </p:cNvSpPr>
          <p:nvPr/>
        </p:nvSpPr>
        <p:spPr>
          <a:xfrm>
            <a:off x="6296025" y="2809875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IT &amp; Transfo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4A8117-4E77-48B2-B7AE-C862DBE7690A}"/>
              </a:ext>
            </a:extLst>
          </p:cNvPr>
          <p:cNvSpPr>
            <a:spLocks noGrp="1"/>
          </p:cNvSpPr>
          <p:nvPr/>
        </p:nvSpPr>
        <p:spPr>
          <a:xfrm>
            <a:off x="5734050" y="3209925"/>
            <a:ext cx="152400" cy="152400"/>
          </a:xfrm>
          <a:prstGeom prst="rect">
            <a:avLst/>
          </a:prstGeom>
          <a:solidFill>
            <a:srgbClr val="D66724"/>
          </a:solidFill>
          <a:ln w="9525">
            <a:solidFill>
              <a:srgbClr val="D66724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2E9AB4-F648-4A7D-B592-446A4FC6617D}"/>
              </a:ext>
            </a:extLst>
          </p:cNvPr>
          <p:cNvSpPr>
            <a:spLocks noGrp="1"/>
          </p:cNvSpPr>
          <p:nvPr/>
        </p:nvSpPr>
        <p:spPr>
          <a:xfrm>
            <a:off x="5962650" y="3190875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Service Client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0045C7-7A3A-4672-8160-5AE00A0BF216}"/>
              </a:ext>
            </a:extLst>
          </p:cNvPr>
          <p:cNvSpPr>
            <a:spLocks noGrp="1"/>
          </p:cNvSpPr>
          <p:nvPr/>
        </p:nvSpPr>
        <p:spPr>
          <a:xfrm>
            <a:off x="5210175" y="3543300"/>
            <a:ext cx="152400" cy="152400"/>
          </a:xfrm>
          <a:prstGeom prst="rect">
            <a:avLst/>
          </a:prstGeom>
          <a:solidFill>
            <a:srgbClr val="D66724"/>
          </a:solidFill>
          <a:ln w="9525">
            <a:solidFill>
              <a:srgbClr val="D6672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4A96B9-5798-47A2-AA1D-A9694A9F8876}"/>
              </a:ext>
            </a:extLst>
          </p:cNvPr>
          <p:cNvSpPr>
            <a:spLocks noGrp="1"/>
          </p:cNvSpPr>
          <p:nvPr/>
        </p:nvSpPr>
        <p:spPr>
          <a:xfrm>
            <a:off x="5438775" y="352425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E19230-4A25-45BE-A6FB-AB79C71CA09F}"/>
              </a:ext>
            </a:extLst>
          </p:cNvPr>
          <p:cNvSpPr>
            <a:spLocks noGrp="1"/>
          </p:cNvSpPr>
          <p:nvPr/>
        </p:nvSpPr>
        <p:spPr>
          <a:xfrm>
            <a:off x="4733925" y="3971925"/>
            <a:ext cx="152400" cy="152400"/>
          </a:xfrm>
          <a:prstGeom prst="rect">
            <a:avLst/>
          </a:prstGeom>
          <a:solidFill>
            <a:srgbClr val="D66724"/>
          </a:solidFill>
          <a:ln w="9525">
            <a:solidFill>
              <a:srgbClr val="D66724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08A918-57C0-4F1C-91A6-BB4EFB5F093E}"/>
              </a:ext>
            </a:extLst>
          </p:cNvPr>
          <p:cNvSpPr>
            <a:spLocks noGrp="1"/>
          </p:cNvSpPr>
          <p:nvPr/>
        </p:nvSpPr>
        <p:spPr>
          <a:xfrm>
            <a:off x="4962525" y="3952875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Administration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F953CD-FB6C-49C4-933D-DC5B51AC8274}"/>
              </a:ext>
            </a:extLst>
          </p:cNvPr>
          <p:cNvSpPr>
            <a:spLocks noGrp="1"/>
          </p:cNvSpPr>
          <p:nvPr/>
        </p:nvSpPr>
        <p:spPr>
          <a:xfrm>
            <a:off x="5972175" y="4400550"/>
            <a:ext cx="152400" cy="152400"/>
          </a:xfrm>
          <a:prstGeom prst="rect">
            <a:avLst/>
          </a:prstGeom>
          <a:solidFill>
            <a:srgbClr val="D66724"/>
          </a:solidFill>
          <a:ln w="9525">
            <a:solidFill>
              <a:srgbClr val="D66724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559CD9-A024-49EF-A4B9-5E7292932757}"/>
              </a:ext>
            </a:extLst>
          </p:cNvPr>
          <p:cNvSpPr>
            <a:spLocks noGrp="1"/>
          </p:cNvSpPr>
          <p:nvPr/>
        </p:nvSpPr>
        <p:spPr>
          <a:xfrm>
            <a:off x="6200775" y="43815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Assistanat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B347C0-DFC1-442E-9D12-0A1B027110AB}"/>
              </a:ext>
            </a:extLst>
          </p:cNvPr>
          <p:cNvSpPr>
            <a:spLocks noGrp="1"/>
          </p:cNvSpPr>
          <p:nvPr/>
        </p:nvSpPr>
        <p:spPr>
          <a:xfrm>
            <a:off x="3924300" y="3638550"/>
            <a:ext cx="152400" cy="152400"/>
          </a:xfrm>
          <a:prstGeom prst="rect">
            <a:avLst/>
          </a:prstGeom>
          <a:solidFill>
            <a:srgbClr val="3E7C78"/>
          </a:solidFill>
          <a:ln w="9525">
            <a:solidFill>
              <a:srgbClr val="3E7C7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B19C68-D01A-4BC2-B868-3AB22B6ECF89}"/>
              </a:ext>
            </a:extLst>
          </p:cNvPr>
          <p:cNvSpPr>
            <a:spLocks noGrp="1"/>
          </p:cNvSpPr>
          <p:nvPr/>
        </p:nvSpPr>
        <p:spPr>
          <a:xfrm>
            <a:off x="4152900" y="36195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2FCC65-495E-479F-99E6-AAFB4F094882}"/>
              </a:ext>
            </a:extLst>
          </p:cNvPr>
          <p:cNvSpPr>
            <a:spLocks noGrp="1"/>
          </p:cNvSpPr>
          <p:nvPr/>
        </p:nvSpPr>
        <p:spPr>
          <a:xfrm>
            <a:off x="3352800" y="4400550"/>
            <a:ext cx="152400" cy="152400"/>
          </a:xfrm>
          <a:prstGeom prst="rect">
            <a:avLst/>
          </a:prstGeom>
          <a:solidFill>
            <a:srgbClr val="3E7C78"/>
          </a:solidFill>
          <a:ln w="9525">
            <a:solidFill>
              <a:srgbClr val="3E7C7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CBFDFD-00FD-410F-83CB-CECADC803427}"/>
              </a:ext>
            </a:extLst>
          </p:cNvPr>
          <p:cNvSpPr>
            <a:spLocks noGrp="1"/>
          </p:cNvSpPr>
          <p:nvPr/>
        </p:nvSpPr>
        <p:spPr>
          <a:xfrm>
            <a:off x="3581400" y="43815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93D4D7-D331-4F12-87E8-2125FC9431F4}"/>
              </a:ext>
            </a:extLst>
          </p:cNvPr>
          <p:cNvSpPr>
            <a:spLocks noGrp="1"/>
          </p:cNvSpPr>
          <p:nvPr/>
        </p:nvSpPr>
        <p:spPr>
          <a:xfrm>
            <a:off x="3067050" y="4067175"/>
            <a:ext cx="152400" cy="152400"/>
          </a:xfrm>
          <a:prstGeom prst="rect">
            <a:avLst/>
          </a:prstGeom>
          <a:solidFill>
            <a:srgbClr val="3E7C78"/>
          </a:solidFill>
          <a:ln w="9525">
            <a:solidFill>
              <a:srgbClr val="3E7C78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104A27-E6CF-461C-8901-DD4BB89C8BB3}"/>
              </a:ext>
            </a:extLst>
          </p:cNvPr>
          <p:cNvSpPr>
            <a:spLocks noGrp="1"/>
          </p:cNvSpPr>
          <p:nvPr/>
        </p:nvSpPr>
        <p:spPr>
          <a:xfrm>
            <a:off x="3295650" y="4048125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34A4CE-BDC8-4386-9175-33800C07802C}"/>
              </a:ext>
            </a:extLst>
          </p:cNvPr>
          <p:cNvSpPr>
            <a:spLocks noGrp="1"/>
          </p:cNvSpPr>
          <p:nvPr/>
        </p:nvSpPr>
        <p:spPr>
          <a:xfrm>
            <a:off x="6210300" y="4953000"/>
            <a:ext cx="152400" cy="152400"/>
          </a:xfrm>
          <a:prstGeom prst="rect">
            <a:avLst/>
          </a:prstGeom>
          <a:solidFill>
            <a:srgbClr val="3E7C78"/>
          </a:solidFill>
          <a:ln w="9525">
            <a:solidFill>
              <a:srgbClr val="3E7C7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1A1554-FA00-4A2E-A2B4-2822418D643F}"/>
              </a:ext>
            </a:extLst>
          </p:cNvPr>
          <p:cNvSpPr>
            <a:spLocks noGrp="1"/>
          </p:cNvSpPr>
          <p:nvPr/>
        </p:nvSpPr>
        <p:spPr>
          <a:xfrm>
            <a:off x="6438900" y="493395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Formation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255DDED-6452-43A0-889A-2395A335553C}"/>
              </a:ext>
            </a:extLst>
          </p:cNvPr>
          <p:cNvSpPr>
            <a:spLocks noGrp="1"/>
          </p:cNvSpPr>
          <p:nvPr/>
        </p:nvSpPr>
        <p:spPr>
          <a:xfrm>
            <a:off x="2352675" y="4638675"/>
            <a:ext cx="152400" cy="152400"/>
          </a:xfrm>
          <a:prstGeom prst="rect">
            <a:avLst/>
          </a:prstGeom>
          <a:solidFill>
            <a:srgbClr val="7E8B99"/>
          </a:solidFill>
          <a:ln w="9525">
            <a:solidFill>
              <a:srgbClr val="7E8B99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B16516-596A-4483-88FD-1EBA51A32C9F}"/>
              </a:ext>
            </a:extLst>
          </p:cNvPr>
          <p:cNvSpPr>
            <a:spLocks noGrp="1"/>
          </p:cNvSpPr>
          <p:nvPr/>
        </p:nvSpPr>
        <p:spPr>
          <a:xfrm>
            <a:off x="2581275" y="4619625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Juridique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16FF12-C103-4B6F-9594-AE54B6253FE2}"/>
              </a:ext>
            </a:extLst>
          </p:cNvPr>
          <p:cNvSpPr>
            <a:spLocks noGrp="1"/>
          </p:cNvSpPr>
          <p:nvPr/>
        </p:nvSpPr>
        <p:spPr>
          <a:xfrm>
            <a:off x="4400550" y="4705350"/>
            <a:ext cx="152400" cy="152400"/>
          </a:xfrm>
          <a:prstGeom prst="rect">
            <a:avLst/>
          </a:prstGeom>
          <a:solidFill>
            <a:srgbClr val="7E8B99"/>
          </a:solidFill>
          <a:ln w="9525">
            <a:solidFill>
              <a:srgbClr val="7E8B99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3147DA-8543-457A-BC02-ECD4AF235BDE}"/>
              </a:ext>
            </a:extLst>
          </p:cNvPr>
          <p:cNvSpPr>
            <a:spLocks noGrp="1"/>
          </p:cNvSpPr>
          <p:nvPr/>
        </p:nvSpPr>
        <p:spPr>
          <a:xfrm>
            <a:off x="4629150" y="468630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Management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561181-76FB-4C9A-A60A-559693CBA8E9}"/>
              </a:ext>
            </a:extLst>
          </p:cNvPr>
          <p:cNvSpPr>
            <a:spLocks noGrp="1"/>
          </p:cNvSpPr>
          <p:nvPr/>
        </p:nvSpPr>
        <p:spPr>
          <a:xfrm>
            <a:off x="3638550" y="5029200"/>
            <a:ext cx="152400" cy="152400"/>
          </a:xfrm>
          <a:prstGeom prst="rect">
            <a:avLst/>
          </a:prstGeom>
          <a:solidFill>
            <a:srgbClr val="7E8B99"/>
          </a:solidFill>
          <a:ln w="9525">
            <a:solidFill>
              <a:srgbClr val="7E8B99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0F2F05-41EE-4D12-A003-BADBD1FF6E5A}"/>
              </a:ext>
            </a:extLst>
          </p:cNvPr>
          <p:cNvSpPr>
            <a:spLocks noGrp="1"/>
          </p:cNvSpPr>
          <p:nvPr/>
        </p:nvSpPr>
        <p:spPr>
          <a:xfrm>
            <a:off x="3867150" y="501015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Santé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EFC131C-A760-4EB3-9DB7-B265FA26A5C4}"/>
              </a:ext>
            </a:extLst>
          </p:cNvPr>
          <p:cNvSpPr>
            <a:spLocks noGrp="1"/>
          </p:cNvSpPr>
          <p:nvPr/>
        </p:nvSpPr>
        <p:spPr>
          <a:xfrm>
            <a:off x="2209800" y="5114925"/>
            <a:ext cx="152400" cy="152400"/>
          </a:xfrm>
          <a:prstGeom prst="rect">
            <a:avLst/>
          </a:prstGeom>
          <a:solidFill>
            <a:srgbClr val="7E8B99"/>
          </a:solidFill>
          <a:ln w="9525">
            <a:solidFill>
              <a:srgbClr val="7E8B99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66C4C8F-3369-4751-96C5-1A5A44D5A9D6}"/>
              </a:ext>
            </a:extLst>
          </p:cNvPr>
          <p:cNvSpPr>
            <a:spLocks noGrp="1"/>
          </p:cNvSpPr>
          <p:nvPr/>
        </p:nvSpPr>
        <p:spPr>
          <a:xfrm>
            <a:off x="2438400" y="5095875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Diplomatie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129D69-62B0-4165-A718-BFC62BD69B4D}"/>
              </a:ext>
            </a:extLst>
          </p:cNvPr>
          <p:cNvSpPr>
            <a:spLocks noGrp="1"/>
          </p:cNvSpPr>
          <p:nvPr/>
        </p:nvSpPr>
        <p:spPr>
          <a:xfrm>
            <a:off x="9001125" y="2000250"/>
            <a:ext cx="2428875" cy="390525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85F9A4-6159-409D-8213-214A538453CD}"/>
              </a:ext>
            </a:extLst>
          </p:cNvPr>
          <p:cNvSpPr>
            <a:spLocks noGrp="1"/>
          </p:cNvSpPr>
          <p:nvPr/>
        </p:nvSpPr>
        <p:spPr>
          <a:xfrm>
            <a:off x="9286875" y="22479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E0EA"/>
                </a:solidFill>
                <a:latin typeface="Aptos"/>
                <a:ea typeface="Aptos"/>
                <a:cs typeface="Aptos"/>
              </a:rPr>
              <a:t>Lecture stratégique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930F26-4C59-4C76-8407-A2E1F55CD718}"/>
              </a:ext>
            </a:extLst>
          </p:cNvPr>
          <p:cNvSpPr>
            <a:spLocks noGrp="1"/>
          </p:cNvSpPr>
          <p:nvPr/>
        </p:nvSpPr>
        <p:spPr>
          <a:xfrm>
            <a:off x="9286875" y="2533650"/>
            <a:ext cx="180975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quadrant en haut à droite doit absorber l'essentiel du temps commercial.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CC3ED56-2CA2-45F2-8270-6D9EFA9284D3}"/>
              </a:ext>
            </a:extLst>
          </p:cNvPr>
          <p:cNvSpPr>
            <a:spLocks noGrp="1"/>
          </p:cNvSpPr>
          <p:nvPr/>
        </p:nvSpPr>
        <p:spPr>
          <a:xfrm>
            <a:off x="9286875" y="4076700"/>
            <a:ext cx="18097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Top 5 retenus : IT &amp; Transformation Digitale, Service Client, Marketing &amp; Communication, Administration &amp; Gestion, Assistanat &amp; Secrétariat.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F5BE96-6EBD-43DE-ABA0-52ABFC4F30FE}"/>
              </a:ext>
            </a:extLst>
          </p:cNvPr>
          <p:cNvSpPr>
            <a:spLocks noGrp="1"/>
          </p:cNvSpPr>
          <p:nvPr/>
        </p:nvSpPr>
        <p:spPr>
          <a:xfrm>
            <a:off x="9286875" y="5257800"/>
            <a:ext cx="1809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6E0EA"/>
                </a:solidFill>
                <a:latin typeface="Aptos"/>
                <a:ea typeface="Aptos"/>
                <a:cs typeface="Aptos"/>
              </a:rPr>
              <a:t>Les autres domaines restent utiles, mais plutôt comme extension ou réponse à une demande entrante qualifiée.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6AD804-BC3B-49BA-8378-7EE6FE18D36C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A0F15C-BB2B-40CE-A743-C7EF6976BABB}"/>
              </a:ext>
            </a:extLst>
          </p:cNvPr>
          <p:cNvSpPr>
            <a:spLocks noGrp="1"/>
          </p:cNvSpPr>
          <p:nvPr/>
        </p:nvSpPr>
        <p:spPr>
          <a:xfrm>
            <a:off x="571500" y="656272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Priorité commerciale : là où la démonstration est simple et la valeur visible rapidement.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2D6354D-98D1-400D-B145-44BEF4B2F40C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42125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5FF35BC-6AB0-441C-B370-F2F45DED10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E"/>
          </a:solidFill>
          <a:ln w="0">
            <a:solidFill>
              <a:srgbClr val="F7F3E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10AD8B-8C74-4638-BF0E-3FD07F0A4828}"/>
              </a:ext>
            </a:extLst>
          </p:cNvPr>
          <p:cNvSpPr>
            <a:spLocks noGrp="1"/>
          </p:cNvSpPr>
          <p:nvPr/>
        </p:nvSpPr>
        <p:spPr>
          <a:xfrm>
            <a:off x="571500" y="3429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TOP DOMAINES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40AF44-8E20-4D71-9AE6-F39FFE38F3A7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dirty="0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Les 5 </a:t>
            </a:r>
            <a:r>
              <a:rPr sz="2250" b="1" dirty="0" err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domaines</a:t>
            </a:r>
            <a:r>
              <a:rPr sz="2250" b="1" dirty="0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 à </a:t>
            </a:r>
            <a:r>
              <a:rPr sz="2250" b="1" dirty="0" err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pousser</a:t>
            </a:r>
            <a:r>
              <a:rPr sz="2250" b="1" dirty="0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250" b="1" dirty="0" err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immédiatement</a:t>
            </a:r>
            <a:endParaRPr sz="2250" b="1" dirty="0">
              <a:solidFill>
                <a:srgbClr val="12355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B46007-3539-4675-B2B8-15C549E872A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3333750" cy="20955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7605AC-DBC0-469E-8361-4F40EB50910D}"/>
              </a:ext>
            </a:extLst>
          </p:cNvPr>
          <p:cNvSpPr>
            <a:spLocks noGrp="1"/>
          </p:cNvSpPr>
          <p:nvPr/>
        </p:nvSpPr>
        <p:spPr>
          <a:xfrm>
            <a:off x="742950" y="1771650"/>
            <a:ext cx="723900" cy="285750"/>
          </a:xfrm>
          <a:prstGeom prst="rect">
            <a:avLst/>
          </a:prstGeom>
          <a:solidFill>
            <a:srgbClr val="D66724"/>
          </a:solidFill>
          <a:ln w="9525">
            <a:solidFill>
              <a:srgbClr val="D66724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AD426D-032C-4653-A4E9-53261DDE6612}"/>
              </a:ext>
            </a:extLst>
          </p:cNvPr>
          <p:cNvSpPr>
            <a:spLocks noGrp="1"/>
          </p:cNvSpPr>
          <p:nvPr/>
        </p:nvSpPr>
        <p:spPr>
          <a:xfrm>
            <a:off x="742950" y="18288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Tier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9B3EED-E199-4611-A359-37CF4D5A3F46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2990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dirty="0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IT &amp; Transformation </a:t>
            </a:r>
            <a:r>
              <a:rPr sz="1350" b="1" dirty="0" err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Digitale</a:t>
            </a:r>
            <a:endParaRPr sz="1350" b="1" dirty="0">
              <a:solidFill>
                <a:srgbClr val="12355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FF4332-15B0-48DA-A96B-638923748B71}"/>
              </a:ext>
            </a:extLst>
          </p:cNvPr>
          <p:cNvSpPr>
            <a:spLocks noGrp="1"/>
          </p:cNvSpPr>
          <p:nvPr/>
        </p:nvSpPr>
        <p:spPr>
          <a:xfrm>
            <a:off x="742950" y="2628900"/>
            <a:ext cx="2990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938" b="0" dirty="0" err="1">
                <a:solidFill>
                  <a:srgbClr val="4C5B6A"/>
                </a:solidFill>
                <a:latin typeface="Aptos"/>
                <a:ea typeface="Aptos"/>
                <a:cs typeface="Aptos"/>
              </a:rPr>
              <a:t>Automatiser</a:t>
            </a:r>
            <a:r>
              <a:rPr sz="938" b="0" dirty="0">
                <a:solidFill>
                  <a:srgbClr val="4C5B6A"/>
                </a:solidFill>
                <a:latin typeface="Aptos"/>
                <a:ea typeface="Aptos"/>
                <a:cs typeface="Aptos"/>
              </a:rPr>
              <a:t> un workflow interne de bout </a:t>
            </a:r>
            <a:r>
              <a:rPr sz="938" b="0" dirty="0" err="1">
                <a:solidFill>
                  <a:srgbClr val="4C5B6A"/>
                </a:solidFill>
                <a:latin typeface="Aptos"/>
                <a:ea typeface="Aptos"/>
                <a:cs typeface="Aptos"/>
              </a:rPr>
              <a:t>en</a:t>
            </a:r>
            <a:r>
              <a:rPr sz="938" b="0" dirty="0">
                <a:solidFill>
                  <a:srgbClr val="4C5B6A"/>
                </a:solidFill>
                <a:latin typeface="Aptos"/>
                <a:ea typeface="Aptos"/>
                <a:cs typeface="Aptos"/>
              </a:rPr>
              <a:t> bout avec validation humaine.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60A3EF-7E03-4030-8A42-41AD5233E56A}"/>
              </a:ext>
            </a:extLst>
          </p:cNvPr>
          <p:cNvSpPr>
            <a:spLocks noGrp="1"/>
          </p:cNvSpPr>
          <p:nvPr/>
        </p:nvSpPr>
        <p:spPr>
          <a:xfrm>
            <a:off x="742950" y="3200400"/>
            <a:ext cx="2990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 dirty="0" err="1">
                <a:solidFill>
                  <a:srgbClr val="D66724"/>
                </a:solidFill>
                <a:latin typeface="Aptos"/>
                <a:ea typeface="Aptos"/>
                <a:cs typeface="Aptos"/>
              </a:rPr>
              <a:t>Réduction</a:t>
            </a:r>
            <a:r>
              <a:rPr sz="825" b="1" dirty="0">
                <a:solidFill>
                  <a:srgbClr val="D66724"/>
                </a:solidFill>
                <a:latin typeface="Aptos"/>
                <a:ea typeface="Aptos"/>
                <a:cs typeface="Aptos"/>
              </a:rPr>
              <a:t> des </a:t>
            </a:r>
            <a:r>
              <a:rPr sz="825" b="1" dirty="0" err="1">
                <a:solidFill>
                  <a:srgbClr val="D66724"/>
                </a:solidFill>
                <a:latin typeface="Aptos"/>
                <a:ea typeface="Aptos"/>
                <a:cs typeface="Aptos"/>
              </a:rPr>
              <a:t>tâches</a:t>
            </a:r>
            <a:r>
              <a:rPr sz="825" b="1" dirty="0">
                <a:solidFill>
                  <a:srgbClr val="D66724"/>
                </a:solidFill>
                <a:latin typeface="Aptos"/>
                <a:ea typeface="Aptos"/>
                <a:cs typeface="Aptos"/>
              </a:rPr>
              <a:t> </a:t>
            </a:r>
            <a:r>
              <a:rPr sz="825" b="1" dirty="0" err="1">
                <a:solidFill>
                  <a:srgbClr val="D66724"/>
                </a:solidFill>
                <a:latin typeface="Aptos"/>
                <a:ea typeface="Aptos"/>
                <a:cs typeface="Aptos"/>
              </a:rPr>
              <a:t>manuelles</a:t>
            </a:r>
            <a:r>
              <a:rPr sz="825" b="1" dirty="0">
                <a:solidFill>
                  <a:srgbClr val="D66724"/>
                </a:solidFill>
                <a:latin typeface="Aptos"/>
                <a:ea typeface="Aptos"/>
                <a:cs typeface="Aptos"/>
              </a:rPr>
              <a:t>, </a:t>
            </a:r>
            <a:r>
              <a:rPr sz="825" b="1" dirty="0" err="1">
                <a:solidFill>
                  <a:srgbClr val="D66724"/>
                </a:solidFill>
                <a:latin typeface="Aptos"/>
                <a:ea typeface="Aptos"/>
                <a:cs typeface="Aptos"/>
              </a:rPr>
              <a:t>baisse</a:t>
            </a:r>
            <a:r>
              <a:rPr sz="825" b="1" dirty="0">
                <a:solidFill>
                  <a:srgbClr val="D66724"/>
                </a:solidFill>
                <a:latin typeface="Aptos"/>
                <a:ea typeface="Aptos"/>
                <a:cs typeface="Aptos"/>
              </a:rPr>
              <a:t> du temps de cycle, </a:t>
            </a:r>
            <a:r>
              <a:rPr sz="825" b="1" dirty="0" err="1">
                <a:solidFill>
                  <a:srgbClr val="D66724"/>
                </a:solidFill>
                <a:latin typeface="Aptos"/>
                <a:ea typeface="Aptos"/>
                <a:cs typeface="Aptos"/>
              </a:rPr>
              <a:t>meilleure</a:t>
            </a:r>
            <a:r>
              <a:rPr sz="825" b="1" dirty="0">
                <a:solidFill>
                  <a:srgbClr val="D66724"/>
                </a:solidFill>
                <a:latin typeface="Aptos"/>
                <a:ea typeface="Aptos"/>
                <a:cs typeface="Aptos"/>
              </a:rPr>
              <a:t> </a:t>
            </a:r>
            <a:r>
              <a:rPr sz="825" b="1" dirty="0" err="1">
                <a:solidFill>
                  <a:srgbClr val="D66724"/>
                </a:solidFill>
                <a:latin typeface="Aptos"/>
                <a:ea typeface="Aptos"/>
                <a:cs typeface="Aptos"/>
              </a:rPr>
              <a:t>traçabilité</a:t>
            </a:r>
            <a:r>
              <a:rPr sz="825" b="1" dirty="0">
                <a:solidFill>
                  <a:srgbClr val="D66724"/>
                </a:solidFill>
                <a:latin typeface="Aptos"/>
                <a:ea typeface="Aptos"/>
                <a:cs typeface="Aptos"/>
              </a:rPr>
              <a:t>, </a:t>
            </a:r>
            <a:r>
              <a:rPr sz="825" b="1" dirty="0" err="1">
                <a:solidFill>
                  <a:srgbClr val="D66724"/>
                </a:solidFill>
                <a:latin typeface="Aptos"/>
                <a:ea typeface="Aptos"/>
                <a:cs typeface="Aptos"/>
              </a:rPr>
              <a:t>déploiement</a:t>
            </a:r>
            <a:r>
              <a:rPr sz="825" b="1" dirty="0">
                <a:solidFill>
                  <a:srgbClr val="D66724"/>
                </a:solidFill>
                <a:latin typeface="Aptos"/>
                <a:ea typeface="Aptos"/>
                <a:cs typeface="Aptos"/>
              </a:rPr>
              <a:t> plus </a:t>
            </a:r>
            <a:r>
              <a:rPr sz="825" b="1" dirty="0" err="1">
                <a:solidFill>
                  <a:srgbClr val="D66724"/>
                </a:solidFill>
                <a:latin typeface="Aptos"/>
                <a:ea typeface="Aptos"/>
                <a:cs typeface="Aptos"/>
              </a:rPr>
              <a:t>rapide</a:t>
            </a:r>
            <a:r>
              <a:rPr sz="825" b="1" dirty="0">
                <a:solidFill>
                  <a:srgbClr val="D66724"/>
                </a:solidFill>
                <a:latin typeface="Aptos"/>
                <a:ea typeface="Aptos"/>
                <a:cs typeface="Aptos"/>
              </a:rPr>
              <a:t> </a:t>
            </a:r>
            <a:r>
              <a:rPr sz="825" b="1" dirty="0" err="1">
                <a:solidFill>
                  <a:srgbClr val="D66724"/>
                </a:solidFill>
                <a:latin typeface="Aptos"/>
                <a:ea typeface="Aptos"/>
                <a:cs typeface="Aptos"/>
              </a:rPr>
              <a:t>qu'un</a:t>
            </a:r>
            <a:r>
              <a:rPr sz="825" b="1" dirty="0">
                <a:solidFill>
                  <a:srgbClr val="D66724"/>
                </a:solidFill>
                <a:latin typeface="Aptos"/>
                <a:ea typeface="Aptos"/>
                <a:cs typeface="Aptos"/>
              </a:rPr>
              <a:t> </a:t>
            </a:r>
            <a:r>
              <a:rPr sz="825" b="1" dirty="0" err="1">
                <a:solidFill>
                  <a:srgbClr val="D66724"/>
                </a:solidFill>
                <a:latin typeface="Aptos"/>
                <a:ea typeface="Aptos"/>
                <a:cs typeface="Aptos"/>
              </a:rPr>
              <a:t>projet</a:t>
            </a:r>
            <a:r>
              <a:rPr sz="825" b="1" dirty="0">
                <a:solidFill>
                  <a:srgbClr val="D66724"/>
                </a:solidFill>
                <a:latin typeface="Aptos"/>
                <a:ea typeface="Aptos"/>
                <a:cs typeface="Aptos"/>
              </a:rPr>
              <a:t> </a:t>
            </a:r>
            <a:r>
              <a:rPr sz="825" b="1" dirty="0" err="1">
                <a:solidFill>
                  <a:srgbClr val="D66724"/>
                </a:solidFill>
                <a:latin typeface="Aptos"/>
                <a:ea typeface="Aptos"/>
                <a:cs typeface="Aptos"/>
              </a:rPr>
              <a:t>applicatif</a:t>
            </a:r>
            <a:r>
              <a:rPr sz="825" b="1" dirty="0">
                <a:solidFill>
                  <a:srgbClr val="D66724"/>
                </a:solidFill>
                <a:latin typeface="Aptos"/>
                <a:ea typeface="Aptos"/>
                <a:cs typeface="Aptos"/>
              </a:rPr>
              <a:t> </a:t>
            </a:r>
            <a:r>
              <a:rPr sz="825" b="1" dirty="0" err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classique</a:t>
            </a:r>
            <a:r>
              <a:rPr sz="825" b="1" dirty="0">
                <a:solidFill>
                  <a:srgbClr val="D66724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97E23E-0CBE-46C1-A080-F239CF603967}"/>
              </a:ext>
            </a:extLst>
          </p:cNvPr>
          <p:cNvSpPr>
            <a:spLocks noGrp="1"/>
          </p:cNvSpPr>
          <p:nvPr/>
        </p:nvSpPr>
        <p:spPr>
          <a:xfrm>
            <a:off x="4143375" y="1619250"/>
            <a:ext cx="3333750" cy="20955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016D2C-5582-4C54-90EC-9BD28C249CE3}"/>
              </a:ext>
            </a:extLst>
          </p:cNvPr>
          <p:cNvSpPr>
            <a:spLocks noGrp="1"/>
          </p:cNvSpPr>
          <p:nvPr/>
        </p:nvSpPr>
        <p:spPr>
          <a:xfrm>
            <a:off x="4314825" y="1771650"/>
            <a:ext cx="723900" cy="285750"/>
          </a:xfrm>
          <a:prstGeom prst="rect">
            <a:avLst/>
          </a:prstGeom>
          <a:solidFill>
            <a:srgbClr val="D66724"/>
          </a:solidFill>
          <a:ln w="9525">
            <a:solidFill>
              <a:srgbClr val="D66724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4BE59E-8150-4A86-963A-B71BEC5A6F2C}"/>
              </a:ext>
            </a:extLst>
          </p:cNvPr>
          <p:cNvSpPr>
            <a:spLocks noGrp="1"/>
          </p:cNvSpPr>
          <p:nvPr/>
        </p:nvSpPr>
        <p:spPr>
          <a:xfrm>
            <a:off x="4314825" y="18288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Tier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AB2975-84EB-49B5-9182-BE785A170274}"/>
              </a:ext>
            </a:extLst>
          </p:cNvPr>
          <p:cNvSpPr>
            <a:spLocks noGrp="1"/>
          </p:cNvSpPr>
          <p:nvPr/>
        </p:nvSpPr>
        <p:spPr>
          <a:xfrm>
            <a:off x="4314825" y="2114550"/>
            <a:ext cx="2990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Service Client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D66C2B-E5CB-4423-84BF-C661B8773848}"/>
              </a:ext>
            </a:extLst>
          </p:cNvPr>
          <p:cNvSpPr>
            <a:spLocks noGrp="1"/>
          </p:cNvSpPr>
          <p:nvPr/>
        </p:nvSpPr>
        <p:spPr>
          <a:xfrm>
            <a:off x="4314825" y="2628900"/>
            <a:ext cx="2990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Assistant de réponses multicanales et qualification automatique des demandes.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BDFC0D-FBF5-4297-B16D-E0A30509AEC8}"/>
              </a:ext>
            </a:extLst>
          </p:cNvPr>
          <p:cNvSpPr>
            <a:spLocks noGrp="1"/>
          </p:cNvSpPr>
          <p:nvPr/>
        </p:nvSpPr>
        <p:spPr>
          <a:xfrm>
            <a:off x="4314825" y="3200400"/>
            <a:ext cx="2990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20% à 50% de réduction du temps de traitement, hausse de satisfaction, plus grand volume traité sans recruter.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6D773-4264-4BEE-A09A-593651681BB7}"/>
              </a:ext>
            </a:extLst>
          </p:cNvPr>
          <p:cNvSpPr>
            <a:spLocks noGrp="1"/>
          </p:cNvSpPr>
          <p:nvPr/>
        </p:nvSpPr>
        <p:spPr>
          <a:xfrm>
            <a:off x="7715250" y="1619250"/>
            <a:ext cx="3333750" cy="20955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87573E-7F95-4F69-99DA-94669E1523B7}"/>
              </a:ext>
            </a:extLst>
          </p:cNvPr>
          <p:cNvSpPr>
            <a:spLocks noGrp="1"/>
          </p:cNvSpPr>
          <p:nvPr/>
        </p:nvSpPr>
        <p:spPr>
          <a:xfrm>
            <a:off x="7886700" y="1771650"/>
            <a:ext cx="723900" cy="285750"/>
          </a:xfrm>
          <a:prstGeom prst="rect">
            <a:avLst/>
          </a:prstGeom>
          <a:solidFill>
            <a:srgbClr val="D66724"/>
          </a:solidFill>
          <a:ln w="9525">
            <a:solidFill>
              <a:srgbClr val="D66724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EA96D1-631E-435C-A9A3-D88A490142C6}"/>
              </a:ext>
            </a:extLst>
          </p:cNvPr>
          <p:cNvSpPr>
            <a:spLocks noGrp="1"/>
          </p:cNvSpPr>
          <p:nvPr/>
        </p:nvSpPr>
        <p:spPr>
          <a:xfrm>
            <a:off x="7886700" y="18288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Tier 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AF0273-7FD7-4E1E-9140-06D4C753B902}"/>
              </a:ext>
            </a:extLst>
          </p:cNvPr>
          <p:cNvSpPr>
            <a:spLocks noGrp="1"/>
          </p:cNvSpPr>
          <p:nvPr/>
        </p:nvSpPr>
        <p:spPr>
          <a:xfrm>
            <a:off x="7886700" y="2114550"/>
            <a:ext cx="2990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Marketing &amp; Communication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80F9B2-118B-498C-BABC-000EA7656604}"/>
              </a:ext>
            </a:extLst>
          </p:cNvPr>
          <p:cNvSpPr>
            <a:spLocks noGrp="1"/>
          </p:cNvSpPr>
          <p:nvPr/>
        </p:nvSpPr>
        <p:spPr>
          <a:xfrm>
            <a:off x="7886700" y="2628900"/>
            <a:ext cx="2990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938" b="0" dirty="0">
                <a:solidFill>
                  <a:srgbClr val="4C5B6A"/>
                </a:solidFill>
                <a:latin typeface="Aptos"/>
                <a:ea typeface="Aptos"/>
                <a:cs typeface="Aptos"/>
              </a:rPr>
              <a:t>Machine à </a:t>
            </a:r>
            <a:r>
              <a:rPr sz="938" b="0" dirty="0" err="1">
                <a:solidFill>
                  <a:srgbClr val="4C5B6A"/>
                </a:solidFill>
                <a:latin typeface="Aptos"/>
                <a:ea typeface="Aptos"/>
                <a:cs typeface="Aptos"/>
              </a:rPr>
              <a:t>contenu</a:t>
            </a:r>
            <a:r>
              <a:rPr sz="938" b="0" dirty="0">
                <a:solidFill>
                  <a:srgbClr val="4C5B6A"/>
                </a:solidFill>
                <a:latin typeface="Aptos"/>
                <a:ea typeface="Aptos"/>
                <a:cs typeface="Aptos"/>
              </a:rPr>
              <a:t> multiformat pour </a:t>
            </a:r>
            <a:r>
              <a:rPr sz="938" b="0" dirty="0" err="1">
                <a:solidFill>
                  <a:srgbClr val="4C5B6A"/>
                </a:solidFill>
                <a:latin typeface="Aptos"/>
                <a:ea typeface="Aptos"/>
                <a:cs typeface="Aptos"/>
              </a:rPr>
              <a:t>campagnes</a:t>
            </a:r>
            <a:r>
              <a:rPr sz="938" b="0" dirty="0">
                <a:solidFill>
                  <a:srgbClr val="4C5B6A"/>
                </a:solidFill>
                <a:latin typeface="Aptos"/>
                <a:ea typeface="Aptos"/>
                <a:cs typeface="Aptos"/>
              </a:rPr>
              <a:t>, WhatsApp, email, scripts </a:t>
            </a:r>
            <a:r>
              <a:rPr sz="938" b="0" dirty="0" err="1">
                <a:solidFill>
                  <a:srgbClr val="4C5B6A"/>
                </a:solidFill>
                <a:latin typeface="Aptos"/>
                <a:ea typeface="Aptos"/>
                <a:cs typeface="Aptos"/>
              </a:rPr>
              <a:t>vidéo</a:t>
            </a:r>
            <a:r>
              <a:rPr sz="938" b="0" dirty="0">
                <a:solidFill>
                  <a:srgbClr val="4C5B6A"/>
                </a:solidFill>
                <a:latin typeface="Aptos"/>
                <a:ea typeface="Aptos"/>
                <a:cs typeface="Aptos"/>
              </a:rPr>
              <a:t> et fiches </a:t>
            </a:r>
            <a:r>
              <a:rPr sz="938" b="0" dirty="0" err="1">
                <a:solidFill>
                  <a:srgbClr val="4C5B6A"/>
                </a:solidFill>
                <a:latin typeface="Aptos"/>
                <a:ea typeface="Aptos"/>
                <a:cs typeface="Aptos"/>
              </a:rPr>
              <a:t>commerciales</a:t>
            </a:r>
            <a:r>
              <a:rPr sz="938" b="0" dirty="0">
                <a:solidFill>
                  <a:srgbClr val="4C5B6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9C2CE6-CC95-4966-A0B2-8B5D12B7F39F}"/>
              </a:ext>
            </a:extLst>
          </p:cNvPr>
          <p:cNvSpPr>
            <a:spLocks noGrp="1"/>
          </p:cNvSpPr>
          <p:nvPr/>
        </p:nvSpPr>
        <p:spPr>
          <a:xfrm>
            <a:off x="7886700" y="3200400"/>
            <a:ext cx="2990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3 à 5 fois plus de contenus avec la même équipe, baisse du coût de production, meilleure vitesse de relance.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57D604-C294-471B-9D40-7CE9BAA7D663}"/>
              </a:ext>
            </a:extLst>
          </p:cNvPr>
          <p:cNvSpPr>
            <a:spLocks noGrp="1"/>
          </p:cNvSpPr>
          <p:nvPr/>
        </p:nvSpPr>
        <p:spPr>
          <a:xfrm>
            <a:off x="2333625" y="3771900"/>
            <a:ext cx="3333750" cy="20955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09E777-1C0E-4C5E-B852-ABB0751FEB9D}"/>
              </a:ext>
            </a:extLst>
          </p:cNvPr>
          <p:cNvSpPr>
            <a:spLocks noGrp="1"/>
          </p:cNvSpPr>
          <p:nvPr/>
        </p:nvSpPr>
        <p:spPr>
          <a:xfrm>
            <a:off x="2505075" y="3924300"/>
            <a:ext cx="723900" cy="285750"/>
          </a:xfrm>
          <a:prstGeom prst="rect">
            <a:avLst/>
          </a:prstGeom>
          <a:solidFill>
            <a:srgbClr val="D66724"/>
          </a:solidFill>
          <a:ln w="9525">
            <a:solidFill>
              <a:srgbClr val="D66724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FCA5-5946-49F6-8592-5E7CEEAF0448}"/>
              </a:ext>
            </a:extLst>
          </p:cNvPr>
          <p:cNvSpPr>
            <a:spLocks noGrp="1"/>
          </p:cNvSpPr>
          <p:nvPr/>
        </p:nvSpPr>
        <p:spPr>
          <a:xfrm>
            <a:off x="2505075" y="39814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Tier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8E3D60-62D2-4C24-89DD-69370E99852A}"/>
              </a:ext>
            </a:extLst>
          </p:cNvPr>
          <p:cNvSpPr>
            <a:spLocks noGrp="1"/>
          </p:cNvSpPr>
          <p:nvPr/>
        </p:nvSpPr>
        <p:spPr>
          <a:xfrm>
            <a:off x="2505075" y="4267200"/>
            <a:ext cx="2990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Administration &amp; Gestion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33A009-0AC4-403B-9EF6-4FE4A2E05994}"/>
              </a:ext>
            </a:extLst>
          </p:cNvPr>
          <p:cNvSpPr>
            <a:spLocks noGrp="1"/>
          </p:cNvSpPr>
          <p:nvPr/>
        </p:nvSpPr>
        <p:spPr>
          <a:xfrm>
            <a:off x="2505075" y="4781550"/>
            <a:ext cx="2990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Standardiser procédures, notes de service, suivis et dossiers administratifs.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C0BD71-94F5-4C6B-9CC7-C4E9DDAB9586}"/>
              </a:ext>
            </a:extLst>
          </p:cNvPr>
          <p:cNvSpPr>
            <a:spLocks noGrp="1"/>
          </p:cNvSpPr>
          <p:nvPr/>
        </p:nvSpPr>
        <p:spPr>
          <a:xfrm>
            <a:off x="2505075" y="5353050"/>
            <a:ext cx="2990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Moins de dispersion, moins de relectures, meilleure standardisation, meilleure exécution.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38CF06-4E67-4853-B356-5822407BF176}"/>
              </a:ext>
            </a:extLst>
          </p:cNvPr>
          <p:cNvSpPr>
            <a:spLocks noGrp="1"/>
          </p:cNvSpPr>
          <p:nvPr/>
        </p:nvSpPr>
        <p:spPr>
          <a:xfrm>
            <a:off x="5905500" y="3771900"/>
            <a:ext cx="3333750" cy="20955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F3D5B9-0C8D-460F-8B3D-06D4B1F71C8A}"/>
              </a:ext>
            </a:extLst>
          </p:cNvPr>
          <p:cNvSpPr>
            <a:spLocks noGrp="1"/>
          </p:cNvSpPr>
          <p:nvPr/>
        </p:nvSpPr>
        <p:spPr>
          <a:xfrm>
            <a:off x="6076950" y="3924300"/>
            <a:ext cx="723900" cy="285750"/>
          </a:xfrm>
          <a:prstGeom prst="rect">
            <a:avLst/>
          </a:prstGeom>
          <a:solidFill>
            <a:srgbClr val="D66724"/>
          </a:solidFill>
          <a:ln w="9525">
            <a:solidFill>
              <a:srgbClr val="D66724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4B9139-9FEC-4EAC-81CD-1BD1AE1760C8}"/>
              </a:ext>
            </a:extLst>
          </p:cNvPr>
          <p:cNvSpPr>
            <a:spLocks noGrp="1"/>
          </p:cNvSpPr>
          <p:nvPr/>
        </p:nvSpPr>
        <p:spPr>
          <a:xfrm>
            <a:off x="6076950" y="39814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Tier 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A45220-27B4-476F-B103-A6149995B8EF}"/>
              </a:ext>
            </a:extLst>
          </p:cNvPr>
          <p:cNvSpPr>
            <a:spLocks noGrp="1"/>
          </p:cNvSpPr>
          <p:nvPr/>
        </p:nvSpPr>
        <p:spPr>
          <a:xfrm>
            <a:off x="6076950" y="4267200"/>
            <a:ext cx="2990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dirty="0" err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Assistanat</a:t>
            </a:r>
            <a:r>
              <a:rPr sz="1350" b="1" dirty="0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 &amp; </a:t>
            </a:r>
            <a:r>
              <a:rPr sz="1350" b="1" dirty="0" err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Secrétariat</a:t>
            </a:r>
            <a:endParaRPr sz="1350" b="1" dirty="0">
              <a:solidFill>
                <a:srgbClr val="12355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11C073-C339-4AEA-A096-3BD06A6B99A4}"/>
              </a:ext>
            </a:extLst>
          </p:cNvPr>
          <p:cNvSpPr>
            <a:spLocks noGrp="1"/>
          </p:cNvSpPr>
          <p:nvPr/>
        </p:nvSpPr>
        <p:spPr>
          <a:xfrm>
            <a:off x="6076950" y="4781550"/>
            <a:ext cx="2990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938" b="0" dirty="0">
                <a:solidFill>
                  <a:srgbClr val="4C5B6A"/>
                </a:solidFill>
                <a:latin typeface="Aptos"/>
                <a:ea typeface="Aptos"/>
                <a:cs typeface="Aptos"/>
              </a:rPr>
              <a:t>Production </a:t>
            </a:r>
            <a:r>
              <a:rPr sz="938" b="0" dirty="0" err="1">
                <a:solidFill>
                  <a:srgbClr val="4C5B6A"/>
                </a:solidFill>
                <a:latin typeface="Aptos"/>
                <a:ea typeface="Aptos"/>
                <a:cs typeface="Aptos"/>
              </a:rPr>
              <a:t>accélérée</a:t>
            </a:r>
            <a:r>
              <a:rPr sz="938" b="0" dirty="0">
                <a:solidFill>
                  <a:srgbClr val="4C5B6A"/>
                </a:solidFill>
                <a:latin typeface="Aptos"/>
                <a:ea typeface="Aptos"/>
                <a:cs typeface="Aptos"/>
              </a:rPr>
              <a:t> des </a:t>
            </a:r>
            <a:r>
              <a:rPr sz="938" b="0" dirty="0" err="1">
                <a:solidFill>
                  <a:srgbClr val="4C5B6A"/>
                </a:solidFill>
                <a:latin typeface="Aptos"/>
                <a:ea typeface="Aptos"/>
                <a:cs typeface="Aptos"/>
              </a:rPr>
              <a:t>comptes</a:t>
            </a:r>
            <a:r>
              <a:rPr sz="938" b="0" dirty="0">
                <a:solidFill>
                  <a:srgbClr val="4C5B6A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4C5B6A"/>
                </a:solidFill>
                <a:latin typeface="Aptos"/>
                <a:ea typeface="Aptos"/>
                <a:cs typeface="Aptos"/>
              </a:rPr>
              <a:t>rendus</a:t>
            </a:r>
            <a:r>
              <a:rPr sz="938" b="0" dirty="0">
                <a:solidFill>
                  <a:srgbClr val="4C5B6A"/>
                </a:solidFill>
                <a:latin typeface="Aptos"/>
                <a:ea typeface="Aptos"/>
                <a:cs typeface="Aptos"/>
              </a:rPr>
              <a:t>, notes, relances et dossiers de </a:t>
            </a:r>
            <a:r>
              <a:rPr sz="938" b="0" dirty="0" err="1">
                <a:solidFill>
                  <a:srgbClr val="4C5B6A"/>
                </a:solidFill>
                <a:latin typeface="Aptos"/>
                <a:ea typeface="Aptos"/>
                <a:cs typeface="Aptos"/>
              </a:rPr>
              <a:t>réunion</a:t>
            </a:r>
            <a:r>
              <a:rPr sz="938" b="0" dirty="0">
                <a:solidFill>
                  <a:srgbClr val="4C5B6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CD1FB6-B0A8-4D98-9CB5-7D751CC2606F}"/>
              </a:ext>
            </a:extLst>
          </p:cNvPr>
          <p:cNvSpPr>
            <a:spLocks noGrp="1"/>
          </p:cNvSpPr>
          <p:nvPr/>
        </p:nvSpPr>
        <p:spPr>
          <a:xfrm>
            <a:off x="6076950" y="5353050"/>
            <a:ext cx="2990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40% à 70% de temps gagné sur la production documentaire et meilleure réactivité de direction.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F8DB82-DA55-46E4-882B-6C5DC2ED8C9D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7A47F5-8C2F-4E25-AAC3-90C8B5B25D6F}"/>
              </a:ext>
            </a:extLst>
          </p:cNvPr>
          <p:cNvSpPr>
            <a:spLocks noGrp="1"/>
          </p:cNvSpPr>
          <p:nvPr/>
        </p:nvSpPr>
        <p:spPr>
          <a:xfrm>
            <a:off x="571500" y="656272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Ces 5 domaines combinent transversalité, facilité de démonstration et potentiel de conversion rapide.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B345F1-E813-4EA1-B808-26A7652E6828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2904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C954E7D-EEC2-42E9-95AB-1988BBC72B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E"/>
          </a:solidFill>
          <a:ln w="0">
            <a:solidFill>
              <a:srgbClr val="F7F3E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5BFB8-8251-428C-A5F9-1F3684EC662E}"/>
              </a:ext>
            </a:extLst>
          </p:cNvPr>
          <p:cNvSpPr>
            <a:spLocks noGrp="1"/>
          </p:cNvSpPr>
          <p:nvPr/>
        </p:nvSpPr>
        <p:spPr>
          <a:xfrm>
            <a:off x="571500" y="3429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OFFRES COMMERCIALES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F15F9B-CF53-4E38-A4B5-60A4FE787737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723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La séquence commerciale recommandée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DC92CC-FA5F-4FA0-B0E5-AD16E9C9AB35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3143250" cy="24765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A90647-1DDE-4E6D-8348-2B857C66D544}"/>
              </a:ext>
            </a:extLst>
          </p:cNvPr>
          <p:cNvSpPr>
            <a:spLocks noGrp="1"/>
          </p:cNvSpPr>
          <p:nvPr/>
        </p:nvSpPr>
        <p:spPr>
          <a:xfrm>
            <a:off x="819150" y="21145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FDE3F0-22C2-45C9-A701-85BE96411EE2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2381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Audit Express IA Métier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935094-6AF0-447E-81D9-29F519FB7EA0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26479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Identifier en 5 à 10 jours les tâches à plus fort ROI et les cas d'usage prioritaires.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5B4F48-D93A-4C05-A078-6EFEB07B2F91}"/>
              </a:ext>
            </a:extLst>
          </p:cNvPr>
          <p:cNvSpPr>
            <a:spLocks noGrp="1"/>
          </p:cNvSpPr>
          <p:nvPr/>
        </p:nvSpPr>
        <p:spPr>
          <a:xfrm>
            <a:off x="819150" y="3790950"/>
            <a:ext cx="2647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Porte d'entrée simple, rassurante et vendable à presque tous les prospects.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63CEAB-B15F-4FC7-9BEB-7BBE6A16D4BD}"/>
              </a:ext>
            </a:extLst>
          </p:cNvPr>
          <p:cNvSpPr>
            <a:spLocks noGrp="1"/>
          </p:cNvSpPr>
          <p:nvPr/>
        </p:nvSpPr>
        <p:spPr>
          <a:xfrm>
            <a:off x="4238625" y="1905000"/>
            <a:ext cx="3143250" cy="247650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31DA47-04ED-4096-B828-FD0F8E030F05}"/>
              </a:ext>
            </a:extLst>
          </p:cNvPr>
          <p:cNvSpPr>
            <a:spLocks noGrp="1"/>
          </p:cNvSpPr>
          <p:nvPr/>
        </p:nvSpPr>
        <p:spPr>
          <a:xfrm>
            <a:off x="4486275" y="21145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CBB2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6CBB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479D8D-E717-4064-8CE0-CC0BB0A6386C}"/>
              </a:ext>
            </a:extLst>
          </p:cNvPr>
          <p:cNvSpPr>
            <a:spLocks noGrp="1"/>
          </p:cNvSpPr>
          <p:nvPr/>
        </p:nvSpPr>
        <p:spPr>
          <a:xfrm>
            <a:off x="4486275" y="2400300"/>
            <a:ext cx="2381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Bootcamp Métier 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0C1676-DDC9-4DC3-A54F-C82CC6843F3E}"/>
              </a:ext>
            </a:extLst>
          </p:cNvPr>
          <p:cNvSpPr>
            <a:spLocks noGrp="1"/>
          </p:cNvSpPr>
          <p:nvPr/>
        </p:nvSpPr>
        <p:spPr>
          <a:xfrm>
            <a:off x="4486275" y="3048000"/>
            <a:ext cx="26479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Former une équipe métier sur ses usages concrets, ses prompts, ses workflows et ses garde-fous.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13FD1A-DD00-4178-ADDC-B71DE24CD157}"/>
              </a:ext>
            </a:extLst>
          </p:cNvPr>
          <p:cNvSpPr>
            <a:spLocks noGrp="1"/>
          </p:cNvSpPr>
          <p:nvPr/>
        </p:nvSpPr>
        <p:spPr>
          <a:xfrm>
            <a:off x="4486275" y="3790950"/>
            <a:ext cx="2647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6E0EA"/>
                </a:solidFill>
                <a:latin typeface="Aptos"/>
                <a:ea typeface="Aptos"/>
                <a:cs typeface="Aptos"/>
              </a:rPr>
              <a:t>Permet d'encaisser rapidement tout en préparant l'adoption.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AD4B1E-7402-44B1-8008-48BD930C4E02}"/>
              </a:ext>
            </a:extLst>
          </p:cNvPr>
          <p:cNvSpPr>
            <a:spLocks noGrp="1"/>
          </p:cNvSpPr>
          <p:nvPr/>
        </p:nvSpPr>
        <p:spPr>
          <a:xfrm>
            <a:off x="7905750" y="1905000"/>
            <a:ext cx="3143250" cy="24765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9C3EAE-67B3-47C3-869B-18C508C41416}"/>
              </a:ext>
            </a:extLst>
          </p:cNvPr>
          <p:cNvSpPr>
            <a:spLocks noGrp="1"/>
          </p:cNvSpPr>
          <p:nvPr/>
        </p:nvSpPr>
        <p:spPr>
          <a:xfrm>
            <a:off x="8153400" y="21145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BAF016-E2AE-4FA9-99E7-183F5151D284}"/>
              </a:ext>
            </a:extLst>
          </p:cNvPr>
          <p:cNvSpPr>
            <a:spLocks noGrp="1"/>
          </p:cNvSpPr>
          <p:nvPr/>
        </p:nvSpPr>
        <p:spPr>
          <a:xfrm>
            <a:off x="8153400" y="2400300"/>
            <a:ext cx="2381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Pilote Workflow ou Assistant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BD969C-0B74-4062-B7D6-3EEC125E4161}"/>
              </a:ext>
            </a:extLst>
          </p:cNvPr>
          <p:cNvSpPr>
            <a:spLocks noGrp="1"/>
          </p:cNvSpPr>
          <p:nvPr/>
        </p:nvSpPr>
        <p:spPr>
          <a:xfrm>
            <a:off x="8153400" y="3048000"/>
            <a:ext cx="26479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Déployer un premier workflow ou assistant IA sur un périmètre précis et mesurable.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DEBA3A-1E23-418A-8C51-4FE967D6542E}"/>
              </a:ext>
            </a:extLst>
          </p:cNvPr>
          <p:cNvSpPr>
            <a:spLocks noGrp="1"/>
          </p:cNvSpPr>
          <p:nvPr/>
        </p:nvSpPr>
        <p:spPr>
          <a:xfrm>
            <a:off x="8153400" y="3790950"/>
            <a:ext cx="2647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Transforme la formation en preuve d'impact et ouvre les déploiements plus larges.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CF9123-7957-4AC6-8DDC-88AF9DB0D068}"/>
              </a:ext>
            </a:extLst>
          </p:cNvPr>
          <p:cNvSpPr>
            <a:spLocks noGrp="1"/>
          </p:cNvSpPr>
          <p:nvPr/>
        </p:nvSpPr>
        <p:spPr>
          <a:xfrm>
            <a:off x="571500" y="4953000"/>
            <a:ext cx="10477500" cy="857250"/>
          </a:xfrm>
          <a:prstGeom prst="rect">
            <a:avLst/>
          </a:prstGeom>
          <a:solidFill>
            <a:srgbClr val="FFF7F1"/>
          </a:solidFill>
          <a:ln w="9525">
            <a:solidFill>
              <a:srgbClr val="FFF7F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B9BD60-3125-4393-AE55-BF4AF584FDD1}"/>
              </a:ext>
            </a:extLst>
          </p:cNvPr>
          <p:cNvSpPr>
            <a:spLocks noGrp="1"/>
          </p:cNvSpPr>
          <p:nvPr/>
        </p:nvSpPr>
        <p:spPr>
          <a:xfrm>
            <a:off x="819150" y="51625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Logique de conversion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214902-260E-41F3-89DC-5F7D9E20518D}"/>
              </a:ext>
            </a:extLst>
          </p:cNvPr>
          <p:cNvSpPr>
            <a:spLocks noGrp="1"/>
          </p:cNvSpPr>
          <p:nvPr/>
        </p:nvSpPr>
        <p:spPr>
          <a:xfrm>
            <a:off x="819150" y="54292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Audit pour ouvrir la porte, bootcamp pour créer l'adoption, pilote pour matérialiser le ROI et déclencher un déploiement plus large.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8343AE-5A47-417D-9465-12A801962060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8AE38C-0990-483D-8663-33A03902829F}"/>
              </a:ext>
            </a:extLst>
          </p:cNvPr>
          <p:cNvSpPr>
            <a:spLocks noGrp="1"/>
          </p:cNvSpPr>
          <p:nvPr/>
        </p:nvSpPr>
        <p:spPr>
          <a:xfrm>
            <a:off x="571500" y="656272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Les offres doivent être simples à comprendre, simples à signer et faciles à convertir en mission plus profonde.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6806B4-A3CB-4218-9ABC-9BD5F5FAA0AE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66059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5D9131F-B0FA-4433-9938-5A14010B3284}"/>
              </a:ext>
            </a:extLst>
          </p:cNvPr>
          <p:cNvSpPr>
            <a:spLocks noGrp="1"/>
          </p:cNvSpPr>
          <p:nvPr/>
        </p:nvSpPr>
        <p:spPr>
          <a:xfrm>
            <a:off x="0" y="142875"/>
            <a:ext cx="12192000" cy="6858000"/>
          </a:xfrm>
          <a:prstGeom prst="rect">
            <a:avLst/>
          </a:prstGeom>
          <a:solidFill>
            <a:srgbClr val="F7F3EE"/>
          </a:solidFill>
          <a:ln w="0">
            <a:solidFill>
              <a:srgbClr val="F7F3E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646E93-2EC5-452D-992F-2437FC07D496}"/>
              </a:ext>
            </a:extLst>
          </p:cNvPr>
          <p:cNvSpPr>
            <a:spLocks noGrp="1"/>
          </p:cNvSpPr>
          <p:nvPr/>
        </p:nvSpPr>
        <p:spPr>
          <a:xfrm>
            <a:off x="571500" y="3429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DÉCISIONS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C8218F-F17C-411D-8B4E-330A9EB0336A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7810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Ce que la réunion doit valider aujourd'hui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FF2351-B33A-4B44-8080-C27AD975096A}"/>
              </a:ext>
            </a:extLst>
          </p:cNvPr>
          <p:cNvSpPr>
            <a:spLocks noGrp="1"/>
          </p:cNvSpPr>
          <p:nvPr/>
        </p:nvSpPr>
        <p:spPr>
          <a:xfrm>
            <a:off x="571500" y="1847850"/>
            <a:ext cx="5143500" cy="1104900"/>
          </a:xfrm>
          <a:prstGeom prst="rect">
            <a:avLst/>
          </a:prstGeom>
          <a:solidFill>
            <a:srgbClr val="FFF4EC"/>
          </a:solidFill>
          <a:ln w="9525">
            <a:solidFill>
              <a:srgbClr val="FFF4E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BE77B2-BE09-41C6-96C0-569B9A1463BC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13F0D1-7DB7-4D9A-ADBC-5751BE93A294}"/>
              </a:ext>
            </a:extLst>
          </p:cNvPr>
          <p:cNvSpPr>
            <a:spLocks noGrp="1"/>
          </p:cNvSpPr>
          <p:nvPr/>
        </p:nvSpPr>
        <p:spPr>
          <a:xfrm>
            <a:off x="1352550" y="2038350"/>
            <a:ext cx="4000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Valider les 5 domaines à pousser en priorité sur les 90 prochains jours.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F431EE-D4EB-47DA-8A20-0ECD70107930}"/>
              </a:ext>
            </a:extLst>
          </p:cNvPr>
          <p:cNvSpPr>
            <a:spLocks noGrp="1"/>
          </p:cNvSpPr>
          <p:nvPr/>
        </p:nvSpPr>
        <p:spPr>
          <a:xfrm>
            <a:off x="6096000" y="1847850"/>
            <a:ext cx="5143500" cy="11049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BA87E1-70BB-4FDE-898D-A73CB1DA9807}"/>
              </a:ext>
            </a:extLst>
          </p:cNvPr>
          <p:cNvSpPr>
            <a:spLocks noGrp="1"/>
          </p:cNvSpPr>
          <p:nvPr/>
        </p:nvSpPr>
        <p:spPr>
          <a:xfrm>
            <a:off x="6324600" y="203835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733A08-7377-4510-8031-9F4144986B69}"/>
              </a:ext>
            </a:extLst>
          </p:cNvPr>
          <p:cNvSpPr>
            <a:spLocks noGrp="1"/>
          </p:cNvSpPr>
          <p:nvPr/>
        </p:nvSpPr>
        <p:spPr>
          <a:xfrm>
            <a:off x="6877050" y="2038350"/>
            <a:ext cx="4000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Valider les 3 offres d'entrée commerciales : audit, bootcamp, pilote.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07218A-6978-48F7-A2AD-F397060CB5C4}"/>
              </a:ext>
            </a:extLst>
          </p:cNvPr>
          <p:cNvSpPr>
            <a:spLocks noGrp="1"/>
          </p:cNvSpPr>
          <p:nvPr/>
        </p:nvSpPr>
        <p:spPr>
          <a:xfrm>
            <a:off x="571500" y="3276600"/>
            <a:ext cx="5143500" cy="11049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2F7E9E-4CF6-435D-9DFC-BC5FCC9FFBE3}"/>
              </a:ext>
            </a:extLst>
          </p:cNvPr>
          <p:cNvSpPr>
            <a:spLocks noGrp="1"/>
          </p:cNvSpPr>
          <p:nvPr/>
        </p:nvSpPr>
        <p:spPr>
          <a:xfrm>
            <a:off x="800100" y="34671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FB38F4-53FD-4BA4-8214-B3A92383E41E}"/>
              </a:ext>
            </a:extLst>
          </p:cNvPr>
          <p:cNvSpPr>
            <a:spLocks noGrp="1"/>
          </p:cNvSpPr>
          <p:nvPr/>
        </p:nvSpPr>
        <p:spPr>
          <a:xfrm>
            <a:off x="1352550" y="3467100"/>
            <a:ext cx="4000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Valider les 3 démonstrations à construire en priorité pour la prospection.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7AF6FF-B4CB-4844-98B5-B67E40F18096}"/>
              </a:ext>
            </a:extLst>
          </p:cNvPr>
          <p:cNvSpPr>
            <a:spLocks noGrp="1"/>
          </p:cNvSpPr>
          <p:nvPr/>
        </p:nvSpPr>
        <p:spPr>
          <a:xfrm>
            <a:off x="6096000" y="3276600"/>
            <a:ext cx="5143500" cy="1104900"/>
          </a:xfrm>
          <a:prstGeom prst="rect">
            <a:avLst/>
          </a:prstGeom>
          <a:solidFill>
            <a:srgbClr val="FFFDFC"/>
          </a:solidFill>
          <a:ln w="9525">
            <a:solidFill>
              <a:srgbClr val="D9D3C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6B5C70-691E-4E6C-A08C-8424B5A7B7EE}"/>
              </a:ext>
            </a:extLst>
          </p:cNvPr>
          <p:cNvSpPr>
            <a:spLocks noGrp="1"/>
          </p:cNvSpPr>
          <p:nvPr/>
        </p:nvSpPr>
        <p:spPr>
          <a:xfrm>
            <a:off x="6324600" y="34671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66724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1A39DE-F7FF-40B8-A11F-22600857B3F2}"/>
              </a:ext>
            </a:extLst>
          </p:cNvPr>
          <p:cNvSpPr>
            <a:spLocks noGrp="1"/>
          </p:cNvSpPr>
          <p:nvPr/>
        </p:nvSpPr>
        <p:spPr>
          <a:xfrm>
            <a:off x="6877050" y="3467100"/>
            <a:ext cx="4000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Valider la répartition des rôles entre cofondateurs sur la vente, la démo et la delivery.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53055-B361-46D3-9864-FBFB61D997F3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0668000" cy="609600"/>
          </a:xfrm>
          <a:prstGeom prst="rect">
            <a:avLst/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F4324B-93C8-4ABA-9811-32C9127E15FB}"/>
              </a:ext>
            </a:extLst>
          </p:cNvPr>
          <p:cNvSpPr>
            <a:spLocks noGrp="1"/>
          </p:cNvSpPr>
          <p:nvPr/>
        </p:nvSpPr>
        <p:spPr>
          <a:xfrm>
            <a:off x="857250" y="5543550"/>
            <a:ext cx="990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Décision recommandée : concentrer l'effort commercial sur 5 domaines, outiller 3 offres d'entrée et industrialiser 3 démonstrations fortes avant d'élargir.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229A49-10FE-415D-A530-19ABCD6602EE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9D3CC"/>
          </a:solidFill>
          <a:ln w="0">
            <a:solidFill>
              <a:srgbClr val="D9D3C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85037-7013-4973-90B3-A6E41029224D}"/>
              </a:ext>
            </a:extLst>
          </p:cNvPr>
          <p:cNvSpPr>
            <a:spLocks noGrp="1"/>
          </p:cNvSpPr>
          <p:nvPr/>
        </p:nvSpPr>
        <p:spPr>
          <a:xfrm>
            <a:off x="571500" y="6562725"/>
            <a:ext cx="904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4C5B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C5B6A"/>
                </a:solidFill>
                <a:latin typeface="Aptos"/>
                <a:ea typeface="Aptos"/>
                <a:cs typeface="Aptos"/>
              </a:rPr>
              <a:t>Clôture : priorité, séquence commerciale et discipline d'exécution.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E3D259-9F46-4C95-9623-853E6D35FC5D}"/>
              </a:ext>
            </a:extLst>
          </p:cNvPr>
          <p:cNvSpPr>
            <a:spLocks noGrp="1"/>
          </p:cNvSpPr>
          <p:nvPr/>
        </p:nvSpPr>
        <p:spPr>
          <a:xfrm>
            <a:off x="10858500" y="65341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069260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</Words>
  <Application>Microsoft Macintosh PowerPoint</Application>
  <DocSecurity>0</DocSecurity>
  <PresentationFormat>Widescreen</PresentationFormat>
  <Paragraphs>123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vtoc limited</cp:lastModifiedBy>
  <cp:revision>1</cp:revision>
  <dcterms:created xsi:type="dcterms:W3CDTF">2026-05-16T21:21:48Z</dcterms:created>
  <dcterms:modified xsi:type="dcterms:W3CDTF">2026-05-17T20:28:46Z</dcterms:modified>
</cp:coreProperties>
</file>