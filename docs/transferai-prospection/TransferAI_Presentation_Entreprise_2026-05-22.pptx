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1"/>
  </p:normalViewPr>
  <p:slideViewPr>
    <p:cSldViewPr snapToGrid="0">
      <p:cViewPr varScale="1">
        <p:scale>
          <a:sx n="122" d="100"/>
          <a:sy n="122" d="100"/>
        </p:scale>
        <p:origin x="224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F37A3B7F-5C7D-4FC9-B307-8C7CADF254A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E"/>
          </a:solidFill>
          <a:ln w="0">
            <a:solidFill>
              <a:srgbClr val="F7F3EE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B77884B-5885-4BC2-B14B-51E75E1CC0E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048500" cy="6858000"/>
          </a:xfrm>
          <a:prstGeom prst="rect">
            <a:avLst/>
          </a:prstGeom>
          <a:solidFill>
            <a:srgbClr val="F7F3EE"/>
          </a:solidFill>
          <a:ln w="9525">
            <a:solidFill>
              <a:srgbClr val="F7F3EE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B7C34F-88B5-40E2-A4BF-82E5E54B0ED5}"/>
              </a:ext>
            </a:extLst>
          </p:cNvPr>
          <p:cNvSpPr>
            <a:spLocks noGrp="1"/>
          </p:cNvSpPr>
          <p:nvPr/>
        </p:nvSpPr>
        <p:spPr>
          <a:xfrm>
            <a:off x="7048500" y="0"/>
            <a:ext cx="5143500" cy="6858000"/>
          </a:xfrm>
          <a:prstGeom prst="rect">
            <a:avLst/>
          </a:prstGeom>
          <a:solidFill>
            <a:srgbClr val="EEE6DE"/>
          </a:solidFill>
          <a:ln w="9525">
            <a:solidFill>
              <a:srgbClr val="EEE6DE"/>
            </a:solidFill>
            <a:prstDash val="solid"/>
          </a:ln>
        </p:spPr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 l="4799" r="4799"/>
          <a:stretch>
            <a:fillRect/>
          </a:stretch>
        </p:blipFill>
        <p:spPr>
          <a:xfrm>
            <a:off x="7048500" y="2686050"/>
            <a:ext cx="5143500" cy="32004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B6A5A76-C135-46E6-AB31-832F237968BA}"/>
              </a:ext>
            </a:extLst>
          </p:cNvPr>
          <p:cNvSpPr>
            <a:spLocks noGrp="1"/>
          </p:cNvSpPr>
          <p:nvPr/>
        </p:nvSpPr>
        <p:spPr>
          <a:xfrm>
            <a:off x="571500" y="781050"/>
            <a:ext cx="5334000" cy="409575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84069" y="1028700"/>
            <a:ext cx="1384663" cy="6096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4A046C4-2A3D-45F0-B505-D1BF20529918}"/>
              </a:ext>
            </a:extLst>
          </p:cNvPr>
          <p:cNvSpPr>
            <a:spLocks noGrp="1"/>
          </p:cNvSpPr>
          <p:nvPr/>
        </p:nvSpPr>
        <p:spPr>
          <a:xfrm>
            <a:off x="819150" y="1809750"/>
            <a:ext cx="2095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1">
                <a:solidFill>
                  <a:srgbClr val="D66724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D66724"/>
                </a:solidFill>
                <a:latin typeface="Aptos"/>
                <a:ea typeface="Aptos"/>
                <a:cs typeface="Aptos"/>
              </a:rPr>
              <a:t>PRÉSENTATION ENTREPRISE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5D4A52-A51A-4508-AB6D-9E5FCEEFF89E}"/>
              </a:ext>
            </a:extLst>
          </p:cNvPr>
          <p:cNvSpPr>
            <a:spLocks noGrp="1"/>
          </p:cNvSpPr>
          <p:nvPr/>
        </p:nvSpPr>
        <p:spPr>
          <a:xfrm>
            <a:off x="819150" y="2114550"/>
            <a:ext cx="4000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TransferAI Africa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197A78-5EC9-4BE7-8644-2CA24A9E1A18}"/>
              </a:ext>
            </a:extLst>
          </p:cNvPr>
          <p:cNvSpPr>
            <a:spLocks noGrp="1"/>
          </p:cNvSpPr>
          <p:nvPr/>
        </p:nvSpPr>
        <p:spPr>
          <a:xfrm>
            <a:off x="819150" y="2647950"/>
            <a:ext cx="447675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Présentation de la structure et de l'offre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83A255F-165E-4BBC-B02A-DE299C3CA84C}"/>
              </a:ext>
            </a:extLst>
          </p:cNvPr>
          <p:cNvSpPr>
            <a:spLocks noGrp="1"/>
          </p:cNvSpPr>
          <p:nvPr/>
        </p:nvSpPr>
        <p:spPr>
          <a:xfrm>
            <a:off x="819150" y="3524250"/>
            <a:ext cx="447675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Former, cadrer et déployer une IA utile pour les entreprises, institutions et talents d'Afrique.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A9D0595-7654-4A0A-B8E0-C79984D1594A}"/>
              </a:ext>
            </a:extLst>
          </p:cNvPr>
          <p:cNvSpPr>
            <a:spLocks noGrp="1"/>
          </p:cNvSpPr>
          <p:nvPr/>
        </p:nvSpPr>
        <p:spPr>
          <a:xfrm>
            <a:off x="819150" y="4267200"/>
            <a:ext cx="44767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Point d'entrée recommandé : audit IA gratuit puis rendez-vous expert de 30 à 45 minutes.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5C4AC3D-42ED-4D35-9205-442765FA91C7}"/>
              </a:ext>
            </a:extLst>
          </p:cNvPr>
          <p:cNvSpPr>
            <a:spLocks noGrp="1"/>
          </p:cNvSpPr>
          <p:nvPr/>
        </p:nvSpPr>
        <p:spPr>
          <a:xfrm>
            <a:off x="571500" y="5200650"/>
            <a:ext cx="1428750" cy="89535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DBB93C9-B100-4D8B-BF08-3A491181FBC9}"/>
              </a:ext>
            </a:extLst>
          </p:cNvPr>
          <p:cNvSpPr>
            <a:spLocks noGrp="1"/>
          </p:cNvSpPr>
          <p:nvPr/>
        </p:nvSpPr>
        <p:spPr>
          <a:xfrm>
            <a:off x="742950" y="5372100"/>
            <a:ext cx="38100" cy="552450"/>
          </a:xfrm>
          <a:prstGeom prst="rect">
            <a:avLst/>
          </a:prstGeom>
          <a:solidFill>
            <a:srgbClr val="D66724"/>
          </a:solidFill>
          <a:ln w="0">
            <a:solidFill>
              <a:srgbClr val="D66724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FFED25-1636-41A7-AD1B-8A120ECAA892}"/>
              </a:ext>
            </a:extLst>
          </p:cNvPr>
          <p:cNvSpPr>
            <a:spLocks noGrp="1"/>
          </p:cNvSpPr>
          <p:nvPr/>
        </p:nvSpPr>
        <p:spPr>
          <a:xfrm>
            <a:off x="933450" y="5353050"/>
            <a:ext cx="9334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130+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3624E3C-C57E-4800-B26E-C50106AB72B8}"/>
              </a:ext>
            </a:extLst>
          </p:cNvPr>
          <p:cNvSpPr>
            <a:spLocks noGrp="1"/>
          </p:cNvSpPr>
          <p:nvPr/>
        </p:nvSpPr>
        <p:spPr>
          <a:xfrm>
            <a:off x="933450" y="5715000"/>
            <a:ext cx="933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16072"/>
                </a:solidFill>
                <a:latin typeface="Aptos"/>
                <a:ea typeface="Aptos"/>
                <a:cs typeface="Aptos"/>
              </a:rPr>
              <a:t>formations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A972D7-7591-4A2C-89E4-039ADB88574A}"/>
              </a:ext>
            </a:extLst>
          </p:cNvPr>
          <p:cNvSpPr>
            <a:spLocks noGrp="1"/>
          </p:cNvSpPr>
          <p:nvPr/>
        </p:nvSpPr>
        <p:spPr>
          <a:xfrm>
            <a:off x="2171700" y="5200650"/>
            <a:ext cx="1428750" cy="89535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0D12DF3-AE1B-4724-8E01-B47909B177CD}"/>
              </a:ext>
            </a:extLst>
          </p:cNvPr>
          <p:cNvSpPr>
            <a:spLocks noGrp="1"/>
          </p:cNvSpPr>
          <p:nvPr/>
        </p:nvSpPr>
        <p:spPr>
          <a:xfrm>
            <a:off x="2343150" y="5372100"/>
            <a:ext cx="38100" cy="552450"/>
          </a:xfrm>
          <a:prstGeom prst="rect">
            <a:avLst/>
          </a:prstGeom>
          <a:solidFill>
            <a:srgbClr val="2FB67E"/>
          </a:solidFill>
          <a:ln w="0">
            <a:solidFill>
              <a:srgbClr val="2FB67E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85EF1B-B4B1-42F4-93E7-695808ED99FB}"/>
              </a:ext>
            </a:extLst>
          </p:cNvPr>
          <p:cNvSpPr>
            <a:spLocks noGrp="1"/>
          </p:cNvSpPr>
          <p:nvPr/>
        </p:nvSpPr>
        <p:spPr>
          <a:xfrm>
            <a:off x="2533650" y="5353050"/>
            <a:ext cx="9334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13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7DAD7C5-4292-4C50-9BB0-5BD41D3DE426}"/>
              </a:ext>
            </a:extLst>
          </p:cNvPr>
          <p:cNvSpPr>
            <a:spLocks noGrp="1"/>
          </p:cNvSpPr>
          <p:nvPr/>
        </p:nvSpPr>
        <p:spPr>
          <a:xfrm>
            <a:off x="2533650" y="5715000"/>
            <a:ext cx="933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16072"/>
                </a:solidFill>
                <a:latin typeface="Aptos"/>
                <a:ea typeface="Aptos"/>
                <a:cs typeface="Aptos"/>
              </a:rPr>
              <a:t>domaines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ADAB4B1-6E46-4FDF-8C6C-9B4A9F976726}"/>
              </a:ext>
            </a:extLst>
          </p:cNvPr>
          <p:cNvSpPr>
            <a:spLocks noGrp="1"/>
          </p:cNvSpPr>
          <p:nvPr/>
        </p:nvSpPr>
        <p:spPr>
          <a:xfrm>
            <a:off x="3771900" y="5200650"/>
            <a:ext cx="1428750" cy="89535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FF2E080-EAE2-4C1B-BD92-62A1724352E4}"/>
              </a:ext>
            </a:extLst>
          </p:cNvPr>
          <p:cNvSpPr>
            <a:spLocks noGrp="1"/>
          </p:cNvSpPr>
          <p:nvPr/>
        </p:nvSpPr>
        <p:spPr>
          <a:xfrm>
            <a:off x="3943350" y="5372100"/>
            <a:ext cx="38100" cy="552450"/>
          </a:xfrm>
          <a:prstGeom prst="rect">
            <a:avLst/>
          </a:prstGeom>
          <a:solidFill>
            <a:srgbClr val="16324F"/>
          </a:solidFill>
          <a:ln w="0">
            <a:solidFill>
              <a:srgbClr val="16324F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F04441D-5150-47B5-A4E2-5BE1B84E130F}"/>
              </a:ext>
            </a:extLst>
          </p:cNvPr>
          <p:cNvSpPr>
            <a:spLocks noGrp="1"/>
          </p:cNvSpPr>
          <p:nvPr/>
        </p:nvSpPr>
        <p:spPr>
          <a:xfrm>
            <a:off x="4133850" y="5353050"/>
            <a:ext cx="9334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15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3AD90B4-7722-4CD5-995D-E5BE39257668}"/>
              </a:ext>
            </a:extLst>
          </p:cNvPr>
          <p:cNvSpPr>
            <a:spLocks noGrp="1"/>
          </p:cNvSpPr>
          <p:nvPr/>
        </p:nvSpPr>
        <p:spPr>
          <a:xfrm>
            <a:off x="4133850" y="5715000"/>
            <a:ext cx="933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16072"/>
                </a:solidFill>
                <a:latin typeface="Aptos"/>
                <a:ea typeface="Aptos"/>
                <a:cs typeface="Aptos"/>
              </a:rPr>
              <a:t>experts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99966E4-8FBD-4F9E-B386-8C393D391964}"/>
              </a:ext>
            </a:extLst>
          </p:cNvPr>
          <p:cNvSpPr>
            <a:spLocks noGrp="1"/>
          </p:cNvSpPr>
          <p:nvPr/>
        </p:nvSpPr>
        <p:spPr>
          <a:xfrm>
            <a:off x="5372100" y="5200650"/>
            <a:ext cx="1428750" cy="89535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009F830-B265-42A5-B695-057F1E90860B}"/>
              </a:ext>
            </a:extLst>
          </p:cNvPr>
          <p:cNvSpPr>
            <a:spLocks noGrp="1"/>
          </p:cNvSpPr>
          <p:nvPr/>
        </p:nvSpPr>
        <p:spPr>
          <a:xfrm>
            <a:off x="5543550" y="5372100"/>
            <a:ext cx="38100" cy="552450"/>
          </a:xfrm>
          <a:prstGeom prst="rect">
            <a:avLst/>
          </a:prstGeom>
          <a:solidFill>
            <a:srgbClr val="6E7D8C"/>
          </a:solidFill>
          <a:ln w="0">
            <a:solidFill>
              <a:srgbClr val="6E7D8C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D9FA104-2498-4AB0-AA12-A5AFA4EE357D}"/>
              </a:ext>
            </a:extLst>
          </p:cNvPr>
          <p:cNvSpPr>
            <a:spLocks noGrp="1"/>
          </p:cNvSpPr>
          <p:nvPr/>
        </p:nvSpPr>
        <p:spPr>
          <a:xfrm>
            <a:off x="5734050" y="5353050"/>
            <a:ext cx="9334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70E6BE1-2F06-4958-A48C-4379C962C267}"/>
              </a:ext>
            </a:extLst>
          </p:cNvPr>
          <p:cNvSpPr>
            <a:spLocks noGrp="1"/>
          </p:cNvSpPr>
          <p:nvPr/>
        </p:nvSpPr>
        <p:spPr>
          <a:xfrm>
            <a:off x="5734050" y="5715000"/>
            <a:ext cx="933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16072"/>
                </a:solidFill>
                <a:latin typeface="Aptos"/>
                <a:ea typeface="Aptos"/>
                <a:cs typeface="Aptos"/>
              </a:rPr>
              <a:t>partenaires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F6B1879-0A4C-46DF-8770-A0889E9D0B4F}"/>
              </a:ext>
            </a:extLst>
          </p:cNvPr>
          <p:cNvSpPr>
            <a:spLocks noGrp="1"/>
          </p:cNvSpPr>
          <p:nvPr/>
        </p:nvSpPr>
        <p:spPr>
          <a:xfrm>
            <a:off x="7810500" y="704850"/>
            <a:ext cx="3429000" cy="1752600"/>
          </a:xfrm>
          <a:prstGeom prst="rect">
            <a:avLst/>
          </a:prstGeom>
          <a:solidFill>
            <a:srgbClr val="16324F"/>
          </a:solidFill>
          <a:ln w="9525">
            <a:solidFill>
              <a:srgbClr val="16324F"/>
            </a:solidFill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CB8D66C-D28B-4066-A8CF-7490BDC2D724}"/>
              </a:ext>
            </a:extLst>
          </p:cNvPr>
          <p:cNvSpPr>
            <a:spLocks noGrp="1"/>
          </p:cNvSpPr>
          <p:nvPr/>
        </p:nvSpPr>
        <p:spPr>
          <a:xfrm>
            <a:off x="8667750" y="933450"/>
            <a:ext cx="1143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1">
                <a:solidFill>
                  <a:srgbClr val="C9D8E8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C9D8E8"/>
                </a:solidFill>
                <a:latin typeface="Aptos"/>
                <a:ea typeface="Aptos"/>
                <a:cs typeface="Aptos"/>
              </a:rPr>
              <a:t>Promesse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743C803-9D6A-4903-8A58-778104C8B319}"/>
              </a:ext>
            </a:extLst>
          </p:cNvPr>
          <p:cNvSpPr>
            <a:spLocks noGrp="1"/>
          </p:cNvSpPr>
          <p:nvPr/>
        </p:nvSpPr>
        <p:spPr>
          <a:xfrm>
            <a:off x="8096250" y="1200150"/>
            <a:ext cx="2857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Rendre l'IA utile, lisible et actionnable.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CDCBEEF-BEF9-47D8-B37A-E354DE1FDD5D}"/>
              </a:ext>
            </a:extLst>
          </p:cNvPr>
          <p:cNvSpPr>
            <a:spLocks noGrp="1"/>
          </p:cNvSpPr>
          <p:nvPr/>
        </p:nvSpPr>
        <p:spPr>
          <a:xfrm>
            <a:off x="8096250" y="1847850"/>
            <a:ext cx="2857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85" b="0">
                <a:solidFill>
                  <a:srgbClr val="E7EEF6"/>
                </a:solidFill>
                <a:latin typeface="Aptos"/>
                <a:ea typeface="Aptos"/>
                <a:cs typeface="Aptos"/>
              </a:defRPr>
            </a:pPr>
            <a:r>
              <a:rPr sz="885" b="0">
                <a:solidFill>
                  <a:srgbClr val="E7EEF6"/>
                </a:solidFill>
                <a:latin typeface="Aptos"/>
                <a:ea typeface="Aptos"/>
                <a:cs typeface="Aptos"/>
              </a:rPr>
              <a:t>TransferAI Africa relie conseil, formation et exécution pour transformer l'intérêt pour l'IA en trajectoire concrète.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3CB52A6-D821-464A-B609-ADFCB57F9D92}"/>
              </a:ext>
            </a:extLst>
          </p:cNvPr>
          <p:cNvSpPr>
            <a:spLocks noGrp="1"/>
          </p:cNvSpPr>
          <p:nvPr/>
        </p:nvSpPr>
        <p:spPr>
          <a:xfrm>
            <a:off x="571500" y="6477000"/>
            <a:ext cx="11049000" cy="9525"/>
          </a:xfrm>
          <a:prstGeom prst="rect">
            <a:avLst/>
          </a:prstGeom>
          <a:solidFill>
            <a:srgbClr val="D9D3CC"/>
          </a:solidFill>
          <a:ln w="0">
            <a:solidFill>
              <a:srgbClr val="D9D3CC"/>
            </a:solidFill>
            <a:prstDash val="solid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FB6BE15-06BC-4446-BC47-86116FE578F9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9334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TransferAI Africa | Présentation de structure et d'offre | Version commerciale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80D8DFC-A357-40A1-B763-DE8C0B3B22C7}"/>
              </a:ext>
            </a:extLst>
          </p:cNvPr>
          <p:cNvSpPr>
            <a:spLocks noGrp="1"/>
          </p:cNvSpPr>
          <p:nvPr/>
        </p:nvSpPr>
        <p:spPr>
          <a:xfrm>
            <a:off x="10858500" y="6534150"/>
            <a:ext cx="571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10213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0213D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1397673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A340B5BF-E617-4075-B3D4-0854C1F106F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DFC"/>
          </a:solidFill>
          <a:ln w="0">
            <a:solidFill>
              <a:srgbClr val="FFFDF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88EF43-A05F-45E7-B8C7-8404C077DF04}"/>
              </a:ext>
            </a:extLst>
          </p:cNvPr>
          <p:cNvSpPr>
            <a:spLocks noGrp="1"/>
          </p:cNvSpPr>
          <p:nvPr/>
        </p:nvSpPr>
        <p:spPr>
          <a:xfrm>
            <a:off x="571500" y="381000"/>
            <a:ext cx="2667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1">
                <a:solidFill>
                  <a:srgbClr val="D66724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D66724"/>
                </a:solidFill>
                <a:latin typeface="Aptos"/>
                <a:ea typeface="Aptos"/>
                <a:cs typeface="Aptos"/>
              </a:rPr>
              <a:t>CONSTAT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301A6D-2798-439C-8F6E-7B8BEACDC40B}"/>
              </a:ext>
            </a:extLst>
          </p:cNvPr>
          <p:cNvSpPr>
            <a:spLocks noGrp="1"/>
          </p:cNvSpPr>
          <p:nvPr/>
        </p:nvSpPr>
        <p:spPr>
          <a:xfrm>
            <a:off x="571500" y="742950"/>
            <a:ext cx="7239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Pourquoi les organisations nous sollicitent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041DE0-ECDE-4801-A1D9-B6B0DDBF106D}"/>
              </a:ext>
            </a:extLst>
          </p:cNvPr>
          <p:cNvSpPr>
            <a:spLocks noGrp="1"/>
          </p:cNvSpPr>
          <p:nvPr/>
        </p:nvSpPr>
        <p:spPr>
          <a:xfrm>
            <a:off x="571500" y="1733550"/>
            <a:ext cx="3143250" cy="20955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pic>
        <p:nvPicPr>
          <p:cNvPr id="5" name="Graphic 4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00100" y="1943100"/>
            <a:ext cx="285750" cy="2857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B79C32-A5D4-41F1-B272-F16B849D49A6}"/>
              </a:ext>
            </a:extLst>
          </p:cNvPr>
          <p:cNvSpPr>
            <a:spLocks noGrp="1"/>
          </p:cNvSpPr>
          <p:nvPr/>
        </p:nvSpPr>
        <p:spPr>
          <a:xfrm>
            <a:off x="1200150" y="1943100"/>
            <a:ext cx="2095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Clarifier avant d'acheter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C3CDC31-921A-4998-97F6-8CA26E1376DC}"/>
              </a:ext>
            </a:extLst>
          </p:cNvPr>
          <p:cNvSpPr>
            <a:spLocks noGrp="1"/>
          </p:cNvSpPr>
          <p:nvPr/>
        </p:nvSpPr>
        <p:spPr>
          <a:xfrm>
            <a:off x="800100" y="2457450"/>
            <a:ext cx="268605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Beaucoup d'entreprises veulent aller vite sur l'IA mais n'ont pas encore priorisé les bons cas d'usage.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9E5AF-0C11-4A93-AC56-250F78B7CEC0}"/>
              </a:ext>
            </a:extLst>
          </p:cNvPr>
          <p:cNvSpPr>
            <a:spLocks noGrp="1"/>
          </p:cNvSpPr>
          <p:nvPr/>
        </p:nvSpPr>
        <p:spPr>
          <a:xfrm>
            <a:off x="4238625" y="1733550"/>
            <a:ext cx="3143250" cy="2095500"/>
          </a:xfrm>
          <a:prstGeom prst="rect">
            <a:avLst/>
          </a:prstGeom>
          <a:solidFill>
            <a:srgbClr val="16324F"/>
          </a:solidFill>
          <a:ln w="9525">
            <a:solidFill>
              <a:srgbClr val="16324F"/>
            </a:solidFill>
            <a:prstDash val="solid"/>
          </a:ln>
        </p:spPr>
      </p:sp>
      <p:pic>
        <p:nvPicPr>
          <p:cNvPr id="9" name="Graphic 8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4467225" y="1943100"/>
            <a:ext cx="285750" cy="28575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339E05B-B12D-4CCB-B632-BA5CFCAE408C}"/>
              </a:ext>
            </a:extLst>
          </p:cNvPr>
          <p:cNvSpPr>
            <a:spLocks noGrp="1"/>
          </p:cNvSpPr>
          <p:nvPr/>
        </p:nvSpPr>
        <p:spPr>
          <a:xfrm>
            <a:off x="4867275" y="1943100"/>
            <a:ext cx="2095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Former sans perdre les équipes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1F5A849-3772-4C59-B919-4489A1EC61BD}"/>
              </a:ext>
            </a:extLst>
          </p:cNvPr>
          <p:cNvSpPr>
            <a:spLocks noGrp="1"/>
          </p:cNvSpPr>
          <p:nvPr/>
        </p:nvSpPr>
        <p:spPr>
          <a:xfrm>
            <a:off x="4467225" y="2457450"/>
            <a:ext cx="268605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E4ED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4EDF7"/>
                </a:solidFill>
                <a:latin typeface="Aptos"/>
                <a:ea typeface="Aptos"/>
                <a:cs typeface="Aptos"/>
              </a:rPr>
              <a:t>Les dirigeants veulent embarquer managers et métiers avec des usages compréhensibles et activables.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A38621-1C47-435F-897B-163779392E14}"/>
              </a:ext>
            </a:extLst>
          </p:cNvPr>
          <p:cNvSpPr>
            <a:spLocks noGrp="1"/>
          </p:cNvSpPr>
          <p:nvPr/>
        </p:nvSpPr>
        <p:spPr>
          <a:xfrm>
            <a:off x="7905750" y="1733550"/>
            <a:ext cx="3143250" cy="20955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pic>
        <p:nvPicPr>
          <p:cNvPr id="13" name="Graphic 12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134350" y="1943100"/>
            <a:ext cx="285750" cy="28575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150E0634-CBA1-4533-A714-601ADEC68E06}"/>
              </a:ext>
            </a:extLst>
          </p:cNvPr>
          <p:cNvSpPr>
            <a:spLocks noGrp="1"/>
          </p:cNvSpPr>
          <p:nvPr/>
        </p:nvSpPr>
        <p:spPr>
          <a:xfrm>
            <a:off x="8534400" y="1943100"/>
            <a:ext cx="2095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Déployer sans dispersion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883A6D-E6EA-45F5-A7A0-46B249A86E3C}"/>
              </a:ext>
            </a:extLst>
          </p:cNvPr>
          <p:cNvSpPr>
            <a:spLocks noGrp="1"/>
          </p:cNvSpPr>
          <p:nvPr/>
        </p:nvSpPr>
        <p:spPr>
          <a:xfrm>
            <a:off x="8134350" y="2457450"/>
            <a:ext cx="268605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Les besoins portent sur l'automatisation, les assistants IA et des workflows concrets, pas sur des effets de mode.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1ABA154-87DE-4BF8-8FC3-B4B965D4997D}"/>
              </a:ext>
            </a:extLst>
          </p:cNvPr>
          <p:cNvSpPr>
            <a:spLocks noGrp="1"/>
          </p:cNvSpPr>
          <p:nvPr/>
        </p:nvSpPr>
        <p:spPr>
          <a:xfrm>
            <a:off x="571500" y="4362450"/>
            <a:ext cx="10668000" cy="1504950"/>
          </a:xfrm>
          <a:prstGeom prst="rect">
            <a:avLst/>
          </a:prstGeom>
          <a:solidFill>
            <a:srgbClr val="FFF7F1"/>
          </a:solidFill>
          <a:ln w="9525">
            <a:solidFill>
              <a:srgbClr val="FFF7F1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BCD8E1B-2710-4D98-B03A-6DE8030FA35E}"/>
              </a:ext>
            </a:extLst>
          </p:cNvPr>
          <p:cNvSpPr>
            <a:spLocks noGrp="1"/>
          </p:cNvSpPr>
          <p:nvPr/>
        </p:nvSpPr>
        <p:spPr>
          <a:xfrm>
            <a:off x="838200" y="4629150"/>
            <a:ext cx="1714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1">
                <a:solidFill>
                  <a:srgbClr val="D66724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D66724"/>
                </a:solidFill>
                <a:latin typeface="Aptos"/>
                <a:ea typeface="Aptos"/>
                <a:cs typeface="Aptos"/>
              </a:rPr>
              <a:t>Réponse TransferAI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20FD05D-6F6D-4786-AC57-D9A0365B8BF7}"/>
              </a:ext>
            </a:extLst>
          </p:cNvPr>
          <p:cNvSpPr>
            <a:spLocks noGrp="1"/>
          </p:cNvSpPr>
          <p:nvPr/>
        </p:nvSpPr>
        <p:spPr>
          <a:xfrm>
            <a:off x="838200" y="4914900"/>
            <a:ext cx="5334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Transformer l'intérêt pour l'IA en trajectoire lisible.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843342-4502-4CF5-AE78-56D24B1F882D}"/>
              </a:ext>
            </a:extLst>
          </p:cNvPr>
          <p:cNvSpPr>
            <a:spLocks noGrp="1"/>
          </p:cNvSpPr>
          <p:nvPr/>
        </p:nvSpPr>
        <p:spPr>
          <a:xfrm>
            <a:off x="838200" y="5314950"/>
            <a:ext cx="53340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Notre rôle est de faire passer l'organisation d'une envie floue à une suite claire : diagnostic, priorisation, montée en compétences, pilote puis déploiement.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A7EB4C1-C495-46BD-A17B-06666F1D6FDD}"/>
              </a:ext>
            </a:extLst>
          </p:cNvPr>
          <p:cNvSpPr>
            <a:spLocks noGrp="1"/>
          </p:cNvSpPr>
          <p:nvPr/>
        </p:nvSpPr>
        <p:spPr>
          <a:xfrm>
            <a:off x="7239000" y="4591050"/>
            <a:ext cx="3543300" cy="127635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325A81C-FD75-4428-877D-DF9F7842525D}"/>
              </a:ext>
            </a:extLst>
          </p:cNvPr>
          <p:cNvSpPr>
            <a:spLocks noGrp="1"/>
          </p:cNvSpPr>
          <p:nvPr/>
        </p:nvSpPr>
        <p:spPr>
          <a:xfrm>
            <a:off x="7505700" y="4800600"/>
            <a:ext cx="1333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1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516072"/>
                </a:solidFill>
                <a:latin typeface="Aptos"/>
                <a:ea typeface="Aptos"/>
                <a:cs typeface="Aptos"/>
              </a:rPr>
              <a:t>Ce que cela change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F8BB8AD-DF8E-4F47-8481-AD8C0D3DC299}"/>
              </a:ext>
            </a:extLst>
          </p:cNvPr>
          <p:cNvSpPr>
            <a:spLocks noGrp="1"/>
          </p:cNvSpPr>
          <p:nvPr/>
        </p:nvSpPr>
        <p:spPr>
          <a:xfrm>
            <a:off x="7505700" y="5086350"/>
            <a:ext cx="1714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1013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Moins de dispersion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CC368-9399-4E02-9836-8949C83132C4}"/>
              </a:ext>
            </a:extLst>
          </p:cNvPr>
          <p:cNvSpPr>
            <a:spLocks noGrp="1"/>
          </p:cNvSpPr>
          <p:nvPr/>
        </p:nvSpPr>
        <p:spPr>
          <a:xfrm>
            <a:off x="7505700" y="5314950"/>
            <a:ext cx="2381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1013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Des cas d'usage plus concrets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F5DA931-3249-4F65-9A56-57EEC7790151}"/>
              </a:ext>
            </a:extLst>
          </p:cNvPr>
          <p:cNvSpPr>
            <a:spLocks noGrp="1"/>
          </p:cNvSpPr>
          <p:nvPr/>
        </p:nvSpPr>
        <p:spPr>
          <a:xfrm>
            <a:off x="7505700" y="5543550"/>
            <a:ext cx="2476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1013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Une meilleure adhésion des équipes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E3040B1-2ECB-4754-877A-E27BD0BA84E7}"/>
              </a:ext>
            </a:extLst>
          </p:cNvPr>
          <p:cNvSpPr>
            <a:spLocks noGrp="1"/>
          </p:cNvSpPr>
          <p:nvPr/>
        </p:nvSpPr>
        <p:spPr>
          <a:xfrm>
            <a:off x="571500" y="6477000"/>
            <a:ext cx="11049000" cy="9525"/>
          </a:xfrm>
          <a:prstGeom prst="rect">
            <a:avLst/>
          </a:prstGeom>
          <a:solidFill>
            <a:srgbClr val="D9D3CC"/>
          </a:solidFill>
          <a:ln w="0">
            <a:solidFill>
              <a:srgbClr val="D9D3CC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907F36E-33C3-4F28-9D7E-520056FF232D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9334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TransferAI ne vend pas un effet de mode : la promesse porte sur des priorités, des usages et un passage à l'action.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334F71-0B46-4DF9-BDE9-B9C1CBDDD598}"/>
              </a:ext>
            </a:extLst>
          </p:cNvPr>
          <p:cNvSpPr>
            <a:spLocks noGrp="1"/>
          </p:cNvSpPr>
          <p:nvPr/>
        </p:nvSpPr>
        <p:spPr>
          <a:xfrm>
            <a:off x="10858500" y="6534150"/>
            <a:ext cx="571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10213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0213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63855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C568359D-B758-46AD-8F29-743EC448C4C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E"/>
          </a:solidFill>
          <a:ln w="0">
            <a:solidFill>
              <a:srgbClr val="F7F3EE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D9E386D-8C79-4942-B424-6430814A6B03}"/>
              </a:ext>
            </a:extLst>
          </p:cNvPr>
          <p:cNvSpPr>
            <a:spLocks noGrp="1"/>
          </p:cNvSpPr>
          <p:nvPr/>
        </p:nvSpPr>
        <p:spPr>
          <a:xfrm>
            <a:off x="571500" y="381000"/>
            <a:ext cx="2667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1">
                <a:solidFill>
                  <a:srgbClr val="D66724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D66724"/>
                </a:solidFill>
                <a:latin typeface="Aptos"/>
                <a:ea typeface="Aptos"/>
                <a:cs typeface="Aptos"/>
              </a:rPr>
              <a:t>CRÉDIBILITÉ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4AF2D9-5247-4C95-ABE2-A1011893DE4B}"/>
              </a:ext>
            </a:extLst>
          </p:cNvPr>
          <p:cNvSpPr>
            <a:spLocks noGrp="1"/>
          </p:cNvSpPr>
          <p:nvPr/>
        </p:nvSpPr>
        <p:spPr>
          <a:xfrm>
            <a:off x="571500" y="742950"/>
            <a:ext cx="7239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Une structure ancrée, crédible et mobilisable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062221" y="533400"/>
            <a:ext cx="1687558" cy="74295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1B75299-2CCA-419D-A07B-16A9D0C70CC4}"/>
              </a:ext>
            </a:extLst>
          </p:cNvPr>
          <p:cNvSpPr>
            <a:spLocks noGrp="1"/>
          </p:cNvSpPr>
          <p:nvPr/>
        </p:nvSpPr>
        <p:spPr>
          <a:xfrm>
            <a:off x="7143750" y="1390650"/>
            <a:ext cx="40957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TransferAI Africa est issu d'une collaboration avec Nettelecom CI et s'appuie sur une équipe fondatrice renforcée par des consultants experts.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2C7177-41FF-4C99-B498-8ADF08BE4427}"/>
              </a:ext>
            </a:extLst>
          </p:cNvPr>
          <p:cNvSpPr>
            <a:spLocks noGrp="1"/>
          </p:cNvSpPr>
          <p:nvPr/>
        </p:nvSpPr>
        <p:spPr>
          <a:xfrm>
            <a:off x="571500" y="1828800"/>
            <a:ext cx="4714875" cy="15240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A5E4F40-C1AC-47C7-A1A7-CC5D0A3A0661}"/>
              </a:ext>
            </a:extLst>
          </p:cNvPr>
          <p:cNvSpPr>
            <a:spLocks noGrp="1"/>
          </p:cNvSpPr>
          <p:nvPr/>
        </p:nvSpPr>
        <p:spPr>
          <a:xfrm>
            <a:off x="800100" y="2057400"/>
            <a:ext cx="3429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Ancrage local, ambition Afrique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E0176CB-4707-4D10-9BEA-8B1844DFB896}"/>
              </a:ext>
            </a:extLst>
          </p:cNvPr>
          <p:cNvSpPr>
            <a:spLocks noGrp="1"/>
          </p:cNvSpPr>
          <p:nvPr/>
        </p:nvSpPr>
        <p:spPr>
          <a:xfrm>
            <a:off x="800100" y="2495550"/>
            <a:ext cx="41148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Structure portée depuis Abidjan, pensée pour la Côte d'Ivoire et les réalités des organisations africaines.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E94100-1E96-4F41-AB3E-F4600F2A231E}"/>
              </a:ext>
            </a:extLst>
          </p:cNvPr>
          <p:cNvSpPr>
            <a:spLocks noGrp="1"/>
          </p:cNvSpPr>
          <p:nvPr/>
        </p:nvSpPr>
        <p:spPr>
          <a:xfrm>
            <a:off x="5953125" y="1828800"/>
            <a:ext cx="4714875" cy="15240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EE73DF2-A9AD-4425-8B37-65FBDB3D10CC}"/>
              </a:ext>
            </a:extLst>
          </p:cNvPr>
          <p:cNvSpPr>
            <a:spLocks noGrp="1"/>
          </p:cNvSpPr>
          <p:nvPr/>
        </p:nvSpPr>
        <p:spPr>
          <a:xfrm>
            <a:off x="6181725" y="2057400"/>
            <a:ext cx="3429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Équipe fondatrice + consultants experts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4BE5E8E-0F3A-454A-B299-8FACC1EDA716}"/>
              </a:ext>
            </a:extLst>
          </p:cNvPr>
          <p:cNvSpPr>
            <a:spLocks noGrp="1"/>
          </p:cNvSpPr>
          <p:nvPr/>
        </p:nvSpPr>
        <p:spPr>
          <a:xfrm>
            <a:off x="6181725" y="2495550"/>
            <a:ext cx="41148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Vision, partenariats, data, audit, pédagogie, conformité, automatisation et adoption réunis dans une même offre.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1B2442-A8A3-41A9-89FF-83478A9ACD7B}"/>
              </a:ext>
            </a:extLst>
          </p:cNvPr>
          <p:cNvSpPr>
            <a:spLocks noGrp="1"/>
          </p:cNvSpPr>
          <p:nvPr/>
        </p:nvSpPr>
        <p:spPr>
          <a:xfrm>
            <a:off x="571500" y="3848100"/>
            <a:ext cx="4714875" cy="15240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CF2B9F-C04E-4821-B4A4-16DCBEF17452}"/>
              </a:ext>
            </a:extLst>
          </p:cNvPr>
          <p:cNvSpPr>
            <a:spLocks noGrp="1"/>
          </p:cNvSpPr>
          <p:nvPr/>
        </p:nvSpPr>
        <p:spPr>
          <a:xfrm>
            <a:off x="800100" y="4076700"/>
            <a:ext cx="3429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Adossée à des partenaires crédibles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3476745-7FF2-427E-A97B-D00BF077A4EC}"/>
              </a:ext>
            </a:extLst>
          </p:cNvPr>
          <p:cNvSpPr>
            <a:spLocks noGrp="1"/>
          </p:cNvSpPr>
          <p:nvPr/>
        </p:nvSpPr>
        <p:spPr>
          <a:xfrm>
            <a:off x="800100" y="4514850"/>
            <a:ext cx="41148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Des partenaires académiques, institutionnels et opérationnels renforcent la crédibilité de l'écosystème TransferAI.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F437CC9-C7F1-4C66-93DD-52B740F7D9E2}"/>
              </a:ext>
            </a:extLst>
          </p:cNvPr>
          <p:cNvSpPr>
            <a:spLocks noGrp="1"/>
          </p:cNvSpPr>
          <p:nvPr/>
        </p:nvSpPr>
        <p:spPr>
          <a:xfrm>
            <a:off x="5953125" y="3848100"/>
            <a:ext cx="4714875" cy="15240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E40C1BE-1EB5-4249-8DD0-7FA77C4C4DDD}"/>
              </a:ext>
            </a:extLst>
          </p:cNvPr>
          <p:cNvSpPr>
            <a:spLocks noGrp="1"/>
          </p:cNvSpPr>
          <p:nvPr/>
        </p:nvSpPr>
        <p:spPr>
          <a:xfrm>
            <a:off x="6181725" y="4076700"/>
            <a:ext cx="3429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Du conseil au passage à l'action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9924A01-59F1-4D12-A05C-DF2102E882F1}"/>
              </a:ext>
            </a:extLst>
          </p:cNvPr>
          <p:cNvSpPr>
            <a:spLocks noGrp="1"/>
          </p:cNvSpPr>
          <p:nvPr/>
        </p:nvSpPr>
        <p:spPr>
          <a:xfrm>
            <a:off x="6181725" y="4514850"/>
            <a:ext cx="41148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La valeur n'est pas seulement dans le discours IA, mais dans la capacité à produire un résultat lisible et maintenable.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DDD1084-D76D-4B72-A68D-75CE90F505A0}"/>
              </a:ext>
            </a:extLst>
          </p:cNvPr>
          <p:cNvSpPr>
            <a:spLocks noGrp="1"/>
          </p:cNvSpPr>
          <p:nvPr/>
        </p:nvSpPr>
        <p:spPr>
          <a:xfrm>
            <a:off x="571500" y="5448300"/>
            <a:ext cx="2095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1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516072"/>
                </a:solidFill>
                <a:latin typeface="Aptos"/>
                <a:ea typeface="Aptos"/>
                <a:cs typeface="Aptos"/>
              </a:rPr>
              <a:t>Partenaires visibles sur le site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872BF5E-B5A0-417C-AF9F-FA1A3BD76F73}"/>
              </a:ext>
            </a:extLst>
          </p:cNvPr>
          <p:cNvSpPr>
            <a:spLocks noGrp="1"/>
          </p:cNvSpPr>
          <p:nvPr/>
        </p:nvSpPr>
        <p:spPr>
          <a:xfrm>
            <a:off x="571500" y="5676900"/>
            <a:ext cx="1543050" cy="5715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5850" y="5791200"/>
            <a:ext cx="514350" cy="3429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1D5DBD2D-8D0B-42D9-B17F-ACBE49466E13}"/>
              </a:ext>
            </a:extLst>
          </p:cNvPr>
          <p:cNvSpPr>
            <a:spLocks noGrp="1"/>
          </p:cNvSpPr>
          <p:nvPr/>
        </p:nvSpPr>
        <p:spPr>
          <a:xfrm>
            <a:off x="2381250" y="5676900"/>
            <a:ext cx="1543050" cy="5715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2895600" y="5791200"/>
            <a:ext cx="514350" cy="34290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E2D64FFD-1291-4E2C-B2DF-0AA938765782}"/>
              </a:ext>
            </a:extLst>
          </p:cNvPr>
          <p:cNvSpPr>
            <a:spLocks noGrp="1"/>
          </p:cNvSpPr>
          <p:nvPr/>
        </p:nvSpPr>
        <p:spPr>
          <a:xfrm>
            <a:off x="4191000" y="5676900"/>
            <a:ext cx="1543050" cy="5715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4705350" y="5791200"/>
            <a:ext cx="514350" cy="34290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20D57D09-F51B-4BBD-875C-55A872252388}"/>
              </a:ext>
            </a:extLst>
          </p:cNvPr>
          <p:cNvSpPr>
            <a:spLocks noGrp="1"/>
          </p:cNvSpPr>
          <p:nvPr/>
        </p:nvSpPr>
        <p:spPr>
          <a:xfrm>
            <a:off x="6000750" y="5676900"/>
            <a:ext cx="1543050" cy="5715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6600825" y="5791200"/>
            <a:ext cx="342900" cy="34290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268496D6-2208-4549-B3DE-E9F3B7A9741A}"/>
              </a:ext>
            </a:extLst>
          </p:cNvPr>
          <p:cNvSpPr>
            <a:spLocks noGrp="1"/>
          </p:cNvSpPr>
          <p:nvPr/>
        </p:nvSpPr>
        <p:spPr>
          <a:xfrm>
            <a:off x="7810500" y="5676900"/>
            <a:ext cx="1543050" cy="5715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pic>
        <p:nvPicPr>
          <p:cNvPr id="28" name="Picture 27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8410575" y="5791200"/>
            <a:ext cx="342900" cy="34290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159DEBD0-CB51-468C-A390-613F3F727F68}"/>
              </a:ext>
            </a:extLst>
          </p:cNvPr>
          <p:cNvSpPr>
            <a:spLocks noGrp="1"/>
          </p:cNvSpPr>
          <p:nvPr/>
        </p:nvSpPr>
        <p:spPr>
          <a:xfrm>
            <a:off x="9620250" y="5676900"/>
            <a:ext cx="1543050" cy="5715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pic>
        <p:nvPicPr>
          <p:cNvPr id="30" name="Picture 29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134600" y="5791200"/>
            <a:ext cx="514350" cy="34290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540AB493-7D0F-4697-97AE-AF49782D7135}"/>
              </a:ext>
            </a:extLst>
          </p:cNvPr>
          <p:cNvSpPr>
            <a:spLocks noGrp="1"/>
          </p:cNvSpPr>
          <p:nvPr/>
        </p:nvSpPr>
        <p:spPr>
          <a:xfrm>
            <a:off x="571500" y="6477000"/>
            <a:ext cx="11049000" cy="9525"/>
          </a:xfrm>
          <a:prstGeom prst="rect">
            <a:avLst/>
          </a:prstGeom>
          <a:solidFill>
            <a:srgbClr val="D9D3CC"/>
          </a:solidFill>
          <a:ln w="0">
            <a:solidFill>
              <a:srgbClr val="D9D3CC"/>
            </a:solidFill>
            <a:prstDash val="solid"/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C1A7FBF-6D81-4A3B-BCD7-2AC0F72896AC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9334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Signaux de confiance visibles : équipe pluridisciplinaire, partenaires académiques et institutionnels, ancrage Côte d'Ivoire.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F42E0DB-0AB1-4520-8A3F-095669AB7E66}"/>
              </a:ext>
            </a:extLst>
          </p:cNvPr>
          <p:cNvSpPr>
            <a:spLocks noGrp="1"/>
          </p:cNvSpPr>
          <p:nvPr/>
        </p:nvSpPr>
        <p:spPr>
          <a:xfrm>
            <a:off x="10858500" y="6534150"/>
            <a:ext cx="571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10213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0213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433461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D9C21725-CB17-479F-94C7-E16AA84A30D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DFC"/>
          </a:solidFill>
          <a:ln w="0">
            <a:solidFill>
              <a:srgbClr val="FFFDF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0B3B554-7BA2-4828-B713-0742812838D7}"/>
              </a:ext>
            </a:extLst>
          </p:cNvPr>
          <p:cNvSpPr>
            <a:spLocks noGrp="1"/>
          </p:cNvSpPr>
          <p:nvPr/>
        </p:nvSpPr>
        <p:spPr>
          <a:xfrm>
            <a:off x="571500" y="381000"/>
            <a:ext cx="2667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1">
                <a:solidFill>
                  <a:srgbClr val="D66724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D66724"/>
                </a:solidFill>
                <a:latin typeface="Aptos"/>
                <a:ea typeface="Aptos"/>
                <a:cs typeface="Aptos"/>
              </a:rPr>
              <a:t>OFFRE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433DA1-3CAA-401D-8456-3E5481FB7B0C}"/>
              </a:ext>
            </a:extLst>
          </p:cNvPr>
          <p:cNvSpPr>
            <a:spLocks noGrp="1"/>
          </p:cNvSpPr>
          <p:nvPr/>
        </p:nvSpPr>
        <p:spPr>
          <a:xfrm>
            <a:off x="571500" y="742950"/>
            <a:ext cx="6477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Ce que nous faisons concrètement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8894EF-7A37-49AC-BC5B-9A39E65028B5}"/>
              </a:ext>
            </a:extLst>
          </p:cNvPr>
          <p:cNvSpPr>
            <a:spLocks noGrp="1"/>
          </p:cNvSpPr>
          <p:nvPr/>
        </p:nvSpPr>
        <p:spPr>
          <a:xfrm>
            <a:off x="571500" y="1238250"/>
            <a:ext cx="5905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Trois points d'entrée simples pour cadrer, déployer et faire vivre une dynamique IA utile dans l'organisation.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2D6919-7EAC-439D-82A5-3BE1CDFF40FD}"/>
              </a:ext>
            </a:extLst>
          </p:cNvPr>
          <p:cNvSpPr>
            <a:spLocks noGrp="1"/>
          </p:cNvSpPr>
          <p:nvPr/>
        </p:nvSpPr>
        <p:spPr>
          <a:xfrm>
            <a:off x="571500" y="1885950"/>
            <a:ext cx="3143250" cy="333375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pic>
        <p:nvPicPr>
          <p:cNvPr id="6" name="Graphic 5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00100" y="2114550"/>
            <a:ext cx="266700" cy="2667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599C027-184E-46EF-A427-40076B164D94}"/>
              </a:ext>
            </a:extLst>
          </p:cNvPr>
          <p:cNvSpPr>
            <a:spLocks noGrp="1"/>
          </p:cNvSpPr>
          <p:nvPr/>
        </p:nvSpPr>
        <p:spPr>
          <a:xfrm>
            <a:off x="1200150" y="2095500"/>
            <a:ext cx="2095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Conseil &amp; adoption IA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BFCC6B-BDBA-489D-9C1B-7A5710EF06EB}"/>
              </a:ext>
            </a:extLst>
          </p:cNvPr>
          <p:cNvSpPr>
            <a:spLocks noGrp="1"/>
          </p:cNvSpPr>
          <p:nvPr/>
        </p:nvSpPr>
        <p:spPr>
          <a:xfrm>
            <a:off x="800100" y="2590800"/>
            <a:ext cx="268605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Clarifier les priorités, choisir les bons cas d'usage et préparer les équipes avant d'investir.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03A58A7-5AEC-4500-8750-7D53FB334FAC}"/>
              </a:ext>
            </a:extLst>
          </p:cNvPr>
          <p:cNvSpPr>
            <a:spLocks noGrp="1"/>
          </p:cNvSpPr>
          <p:nvPr/>
        </p:nvSpPr>
        <p:spPr>
          <a:xfrm>
            <a:off x="800100" y="354330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015E9F-4536-4126-81EA-80DB83C108ED}"/>
              </a:ext>
            </a:extLst>
          </p:cNvPr>
          <p:cNvSpPr>
            <a:spLocks noGrp="1"/>
          </p:cNvSpPr>
          <p:nvPr/>
        </p:nvSpPr>
        <p:spPr>
          <a:xfrm>
            <a:off x="990600" y="3524250"/>
            <a:ext cx="2495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Diagnostic de maturité IA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21F28D-66CF-4167-9F86-0947D986160B}"/>
              </a:ext>
            </a:extLst>
          </p:cNvPr>
          <p:cNvSpPr>
            <a:spLocks noGrp="1"/>
          </p:cNvSpPr>
          <p:nvPr/>
        </p:nvSpPr>
        <p:spPr>
          <a:xfrm>
            <a:off x="800100" y="386715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D4A690C-33F8-47EE-87DE-3E9A20566922}"/>
              </a:ext>
            </a:extLst>
          </p:cNvPr>
          <p:cNvSpPr>
            <a:spLocks noGrp="1"/>
          </p:cNvSpPr>
          <p:nvPr/>
        </p:nvSpPr>
        <p:spPr>
          <a:xfrm>
            <a:off x="990600" y="3848100"/>
            <a:ext cx="2495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Cartographie des usages et freins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EBB6D51-1767-41C8-ADF2-B9627AD9B1B2}"/>
              </a:ext>
            </a:extLst>
          </p:cNvPr>
          <p:cNvSpPr>
            <a:spLocks noGrp="1"/>
          </p:cNvSpPr>
          <p:nvPr/>
        </p:nvSpPr>
        <p:spPr>
          <a:xfrm>
            <a:off x="800100" y="419100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3178E3B-E27C-4FE9-991E-39E9F52BEF45}"/>
              </a:ext>
            </a:extLst>
          </p:cNvPr>
          <p:cNvSpPr>
            <a:spLocks noGrp="1"/>
          </p:cNvSpPr>
          <p:nvPr/>
        </p:nvSpPr>
        <p:spPr>
          <a:xfrm>
            <a:off x="990600" y="4171950"/>
            <a:ext cx="2495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Feuille de route 30 / 60 / 90 jours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ECDBB93-EFC9-41F9-8D98-3686AE94D758}"/>
              </a:ext>
            </a:extLst>
          </p:cNvPr>
          <p:cNvSpPr>
            <a:spLocks noGrp="1"/>
          </p:cNvSpPr>
          <p:nvPr/>
        </p:nvSpPr>
        <p:spPr>
          <a:xfrm>
            <a:off x="800100" y="451485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8AC754-F310-4AD1-BE26-D8EC70C2EB42}"/>
              </a:ext>
            </a:extLst>
          </p:cNvPr>
          <p:cNvSpPr>
            <a:spLocks noGrp="1"/>
          </p:cNvSpPr>
          <p:nvPr/>
        </p:nvSpPr>
        <p:spPr>
          <a:xfrm>
            <a:off x="990600" y="4495800"/>
            <a:ext cx="2495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Gouvernance et conduite du changement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A79FE6-86DA-4B68-ACE1-7BA473C4861E}"/>
              </a:ext>
            </a:extLst>
          </p:cNvPr>
          <p:cNvSpPr>
            <a:spLocks noGrp="1"/>
          </p:cNvSpPr>
          <p:nvPr/>
        </p:nvSpPr>
        <p:spPr>
          <a:xfrm>
            <a:off x="4238625" y="1885950"/>
            <a:ext cx="3143250" cy="3333750"/>
          </a:xfrm>
          <a:prstGeom prst="rect">
            <a:avLst/>
          </a:prstGeom>
          <a:solidFill>
            <a:srgbClr val="D66724"/>
          </a:solidFill>
          <a:ln w="9525">
            <a:solidFill>
              <a:srgbClr val="D66724"/>
            </a:solidFill>
            <a:prstDash val="solid"/>
          </a:ln>
        </p:spPr>
      </p:sp>
      <p:pic>
        <p:nvPicPr>
          <p:cNvPr id="18" name="Graphic 1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4467225" y="2114550"/>
            <a:ext cx="266700" cy="2667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F632B099-CF20-4623-9BB9-AAEA4A603B1A}"/>
              </a:ext>
            </a:extLst>
          </p:cNvPr>
          <p:cNvSpPr>
            <a:spLocks noGrp="1"/>
          </p:cNvSpPr>
          <p:nvPr/>
        </p:nvSpPr>
        <p:spPr>
          <a:xfrm>
            <a:off x="4867275" y="2095500"/>
            <a:ext cx="2095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Automatisation &amp; solutions IA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7B9ABBF-7DEC-45F2-B0C5-FDA8C321FE6F}"/>
              </a:ext>
            </a:extLst>
          </p:cNvPr>
          <p:cNvSpPr>
            <a:spLocks noGrp="1"/>
          </p:cNvSpPr>
          <p:nvPr/>
        </p:nvSpPr>
        <p:spPr>
          <a:xfrm>
            <a:off x="4467225" y="2590800"/>
            <a:ext cx="268605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EDF3FA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EDF3FA"/>
                </a:solidFill>
                <a:latin typeface="Aptos"/>
                <a:ea typeface="Aptos"/>
                <a:cs typeface="Aptos"/>
              </a:rPr>
              <a:t>Déployer des assistants, workflows et solutions maintenables sur des besoins déjà identifiés.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CE22180-F571-4144-BFDB-FE034FCB1351}"/>
              </a:ext>
            </a:extLst>
          </p:cNvPr>
          <p:cNvSpPr>
            <a:spLocks noGrp="1"/>
          </p:cNvSpPr>
          <p:nvPr/>
        </p:nvSpPr>
        <p:spPr>
          <a:xfrm>
            <a:off x="4467225" y="354330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E4D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E4D2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DBB921C-05B0-4076-821A-9A7D01B71115}"/>
              </a:ext>
            </a:extLst>
          </p:cNvPr>
          <p:cNvSpPr>
            <a:spLocks noGrp="1"/>
          </p:cNvSpPr>
          <p:nvPr/>
        </p:nvSpPr>
        <p:spPr>
          <a:xfrm>
            <a:off x="4657725" y="3524250"/>
            <a:ext cx="2495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Automatisation de processus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FD6675F-69BD-4F54-BA4E-F0F1BC054F3C}"/>
              </a:ext>
            </a:extLst>
          </p:cNvPr>
          <p:cNvSpPr>
            <a:spLocks noGrp="1"/>
          </p:cNvSpPr>
          <p:nvPr/>
        </p:nvSpPr>
        <p:spPr>
          <a:xfrm>
            <a:off x="4467225" y="386715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E4D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E4D2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4BF7A1B-106E-4572-BFB0-55EBDC043140}"/>
              </a:ext>
            </a:extLst>
          </p:cNvPr>
          <p:cNvSpPr>
            <a:spLocks noGrp="1"/>
          </p:cNvSpPr>
          <p:nvPr/>
        </p:nvSpPr>
        <p:spPr>
          <a:xfrm>
            <a:off x="4657725" y="3848100"/>
            <a:ext cx="2495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Chatbots et assistants métier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8E0F78E-13BB-4C47-BCC9-D2181BDADA5F}"/>
              </a:ext>
            </a:extLst>
          </p:cNvPr>
          <p:cNvSpPr>
            <a:spLocks noGrp="1"/>
          </p:cNvSpPr>
          <p:nvPr/>
        </p:nvSpPr>
        <p:spPr>
          <a:xfrm>
            <a:off x="4467225" y="419100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E4D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E4D2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B2B88B8-ABA3-40EE-921E-3A0E78576445}"/>
              </a:ext>
            </a:extLst>
          </p:cNvPr>
          <p:cNvSpPr>
            <a:spLocks noGrp="1"/>
          </p:cNvSpPr>
          <p:nvPr/>
        </p:nvSpPr>
        <p:spPr>
          <a:xfrm>
            <a:off x="4657725" y="4171950"/>
            <a:ext cx="2495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Reporting et dashboards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0BD28C3-F477-4A36-A9A5-DF5938C11B5C}"/>
              </a:ext>
            </a:extLst>
          </p:cNvPr>
          <p:cNvSpPr>
            <a:spLocks noGrp="1"/>
          </p:cNvSpPr>
          <p:nvPr/>
        </p:nvSpPr>
        <p:spPr>
          <a:xfrm>
            <a:off x="4467225" y="451485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E4D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E4D2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C8A59BC-0788-46B8-9754-F54AD38BB070}"/>
              </a:ext>
            </a:extLst>
          </p:cNvPr>
          <p:cNvSpPr>
            <a:spLocks noGrp="1"/>
          </p:cNvSpPr>
          <p:nvPr/>
        </p:nvSpPr>
        <p:spPr>
          <a:xfrm>
            <a:off x="4657725" y="4495800"/>
            <a:ext cx="2495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Génération de contenu et documents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E25F996-27B7-4397-92DD-5B081474D891}"/>
              </a:ext>
            </a:extLst>
          </p:cNvPr>
          <p:cNvSpPr>
            <a:spLocks noGrp="1"/>
          </p:cNvSpPr>
          <p:nvPr/>
        </p:nvSpPr>
        <p:spPr>
          <a:xfrm>
            <a:off x="7905750" y="1885950"/>
            <a:ext cx="3143250" cy="333375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pic>
        <p:nvPicPr>
          <p:cNvPr id="30" name="Graphic 29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134350" y="2114550"/>
            <a:ext cx="266700" cy="26670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1980FEA3-8907-495B-A179-905E57EA0FA0}"/>
              </a:ext>
            </a:extLst>
          </p:cNvPr>
          <p:cNvSpPr>
            <a:spLocks noGrp="1"/>
          </p:cNvSpPr>
          <p:nvPr/>
        </p:nvSpPr>
        <p:spPr>
          <a:xfrm>
            <a:off x="8534400" y="2095500"/>
            <a:ext cx="2095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Média, veille &amp; opportunités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5AFD327-2B98-415B-AE6A-560DDE60A275}"/>
              </a:ext>
            </a:extLst>
          </p:cNvPr>
          <p:cNvSpPr>
            <a:spLocks noGrp="1"/>
          </p:cNvSpPr>
          <p:nvPr/>
        </p:nvSpPr>
        <p:spPr>
          <a:xfrm>
            <a:off x="8134350" y="2590800"/>
            <a:ext cx="268605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Entretenir la dynamique dans le temps avec des contenus, signaux utiles et formats d'activation.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B78A183-2AFD-4F83-98E1-D1177938B9DC}"/>
              </a:ext>
            </a:extLst>
          </p:cNvPr>
          <p:cNvSpPr>
            <a:spLocks noGrp="1"/>
          </p:cNvSpPr>
          <p:nvPr/>
        </p:nvSpPr>
        <p:spPr>
          <a:xfrm>
            <a:off x="8134350" y="354330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6F6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6F6A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7776A95-BC7A-44A0-9522-369B6CE90079}"/>
              </a:ext>
            </a:extLst>
          </p:cNvPr>
          <p:cNvSpPr>
            <a:spLocks noGrp="1"/>
          </p:cNvSpPr>
          <p:nvPr/>
        </p:nvSpPr>
        <p:spPr>
          <a:xfrm>
            <a:off x="8324850" y="3524250"/>
            <a:ext cx="2495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Newsletter et veille executive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45C925F-FD86-4BEA-9B61-4F38658F3F57}"/>
              </a:ext>
            </a:extLst>
          </p:cNvPr>
          <p:cNvSpPr>
            <a:spLocks noGrp="1"/>
          </p:cNvSpPr>
          <p:nvPr/>
        </p:nvSpPr>
        <p:spPr>
          <a:xfrm>
            <a:off x="8134350" y="386715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6F6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6F6A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494DC29-8E67-4F20-8F3C-C9B4AD186F55}"/>
              </a:ext>
            </a:extLst>
          </p:cNvPr>
          <p:cNvSpPr>
            <a:spLocks noGrp="1"/>
          </p:cNvSpPr>
          <p:nvPr/>
        </p:nvSpPr>
        <p:spPr>
          <a:xfrm>
            <a:off x="8324850" y="3848100"/>
            <a:ext cx="2495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Guides pratiques et contenus courts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73AB57B-5BBD-4624-8827-3B3684132E8C}"/>
              </a:ext>
            </a:extLst>
          </p:cNvPr>
          <p:cNvSpPr>
            <a:spLocks noGrp="1"/>
          </p:cNvSpPr>
          <p:nvPr/>
        </p:nvSpPr>
        <p:spPr>
          <a:xfrm>
            <a:off x="8134350" y="419100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6F6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6F6A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48BF3EF-D65A-466A-BEAD-BA5CB2512F8E}"/>
              </a:ext>
            </a:extLst>
          </p:cNvPr>
          <p:cNvSpPr>
            <a:spLocks noGrp="1"/>
          </p:cNvSpPr>
          <p:nvPr/>
        </p:nvSpPr>
        <p:spPr>
          <a:xfrm>
            <a:off x="8324850" y="4171950"/>
            <a:ext cx="2495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Webinars et capsules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E59BF51-93CC-496C-8A57-39009E715B57}"/>
              </a:ext>
            </a:extLst>
          </p:cNvPr>
          <p:cNvSpPr>
            <a:spLocks noGrp="1"/>
          </p:cNvSpPr>
          <p:nvPr/>
        </p:nvSpPr>
        <p:spPr>
          <a:xfrm>
            <a:off x="8134350" y="451485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6F6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6F6A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041023E-37B2-49FA-B3E2-9FF2555CCBA9}"/>
              </a:ext>
            </a:extLst>
          </p:cNvPr>
          <p:cNvSpPr>
            <a:spLocks noGrp="1"/>
          </p:cNvSpPr>
          <p:nvPr/>
        </p:nvSpPr>
        <p:spPr>
          <a:xfrm>
            <a:off x="8324850" y="4495800"/>
            <a:ext cx="2495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Opportunités et mises en relation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16425A0-24FF-4AD6-8682-3DC85AF56A18}"/>
              </a:ext>
            </a:extLst>
          </p:cNvPr>
          <p:cNvSpPr>
            <a:spLocks noGrp="1"/>
          </p:cNvSpPr>
          <p:nvPr/>
        </p:nvSpPr>
        <p:spPr>
          <a:xfrm>
            <a:off x="571500" y="5581650"/>
            <a:ext cx="10668000" cy="514350"/>
          </a:xfrm>
          <a:prstGeom prst="rect">
            <a:avLst/>
          </a:prstGeom>
          <a:solidFill>
            <a:srgbClr val="16324F"/>
          </a:solidFill>
          <a:ln w="9525">
            <a:solidFill>
              <a:srgbClr val="16324F"/>
            </a:solidFill>
            <a:prstDash val="solid"/>
          </a:ln>
        </p:spPr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E8A4021-8E06-4387-AEAF-1C10EF95C315}"/>
              </a:ext>
            </a:extLst>
          </p:cNvPr>
          <p:cNvSpPr>
            <a:spLocks noGrp="1"/>
          </p:cNvSpPr>
          <p:nvPr/>
        </p:nvSpPr>
        <p:spPr>
          <a:xfrm>
            <a:off x="800100" y="5743575"/>
            <a:ext cx="10001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TransferAI peut intervenir sur une mission courte de cadrage, un plan de formation, un pilote ou un déploiement plus opérationnel selon le besoin.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FB58248-2882-449C-BCF8-D6BFAF5E027D}"/>
              </a:ext>
            </a:extLst>
          </p:cNvPr>
          <p:cNvSpPr>
            <a:spLocks noGrp="1"/>
          </p:cNvSpPr>
          <p:nvPr/>
        </p:nvSpPr>
        <p:spPr>
          <a:xfrm>
            <a:off x="571500" y="6477000"/>
            <a:ext cx="11049000" cy="9525"/>
          </a:xfrm>
          <a:prstGeom prst="rect">
            <a:avLst/>
          </a:prstGeom>
          <a:solidFill>
            <a:srgbClr val="D9D3CC"/>
          </a:solidFill>
          <a:ln w="0">
            <a:solidFill>
              <a:srgbClr val="D9D3CC"/>
            </a:solidFill>
            <a:prstDash val="solid"/>
          </a:ln>
        </p:spPr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7B919F0-C675-4C6B-84E2-84E360781883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9334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Lecture recommandée : commencer par le bon pilier, puis avancer avec un plan clair.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BB0E75F-4C58-443B-B901-7924FF3C720A}"/>
              </a:ext>
            </a:extLst>
          </p:cNvPr>
          <p:cNvSpPr>
            <a:spLocks noGrp="1"/>
          </p:cNvSpPr>
          <p:nvPr/>
        </p:nvSpPr>
        <p:spPr>
          <a:xfrm>
            <a:off x="10858500" y="6534150"/>
            <a:ext cx="571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10213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0213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118790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E72A39EE-3909-42B9-9A02-75D22EBB6E4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E"/>
          </a:solidFill>
          <a:ln w="0">
            <a:solidFill>
              <a:srgbClr val="F7F3EE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94A81A-C3DA-4DC4-A0C2-BE3B8801E09C}"/>
              </a:ext>
            </a:extLst>
          </p:cNvPr>
          <p:cNvSpPr>
            <a:spLocks noGrp="1"/>
          </p:cNvSpPr>
          <p:nvPr/>
        </p:nvSpPr>
        <p:spPr>
          <a:xfrm>
            <a:off x="571500" y="381000"/>
            <a:ext cx="2667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1">
                <a:solidFill>
                  <a:srgbClr val="D66724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D66724"/>
                </a:solidFill>
                <a:latin typeface="Aptos"/>
                <a:ea typeface="Aptos"/>
                <a:cs typeface="Aptos"/>
              </a:rPr>
              <a:t>CAS D'USAGE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A037E50-376F-4B27-BC5B-94A34DD03F76}"/>
              </a:ext>
            </a:extLst>
          </p:cNvPr>
          <p:cNvSpPr>
            <a:spLocks noGrp="1"/>
          </p:cNvSpPr>
          <p:nvPr/>
        </p:nvSpPr>
        <p:spPr>
          <a:xfrm>
            <a:off x="571500" y="742950"/>
            <a:ext cx="7239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Des usages concrets, métier par métier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CAE88ED-929E-4670-8225-FE8E29776476}"/>
              </a:ext>
            </a:extLst>
          </p:cNvPr>
          <p:cNvSpPr>
            <a:spLocks noGrp="1"/>
          </p:cNvSpPr>
          <p:nvPr/>
        </p:nvSpPr>
        <p:spPr>
          <a:xfrm>
            <a:off x="571500" y="1333500"/>
            <a:ext cx="7239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L'objectif n'est pas de mettre de l'IA partout, mais là où le gain devient visible, crédible et appropriable par les équipes.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A2AD6F-F3F9-488A-815E-FEAD9B7D93AD}"/>
              </a:ext>
            </a:extLst>
          </p:cNvPr>
          <p:cNvSpPr>
            <a:spLocks noGrp="1"/>
          </p:cNvSpPr>
          <p:nvPr/>
        </p:nvSpPr>
        <p:spPr>
          <a:xfrm>
            <a:off x="571500" y="1962150"/>
            <a:ext cx="3143250" cy="12954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16C5A58-DE58-408F-8631-DEE900A43E4C}"/>
              </a:ext>
            </a:extLst>
          </p:cNvPr>
          <p:cNvSpPr>
            <a:spLocks noGrp="1"/>
          </p:cNvSpPr>
          <p:nvPr/>
        </p:nvSpPr>
        <p:spPr>
          <a:xfrm>
            <a:off x="781050" y="2152650"/>
            <a:ext cx="2476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Assistanat, administration, support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0B9D5E-ED40-45F1-9231-F7A7483558B3}"/>
              </a:ext>
            </a:extLst>
          </p:cNvPr>
          <p:cNvSpPr>
            <a:spLocks noGrp="1"/>
          </p:cNvSpPr>
          <p:nvPr/>
        </p:nvSpPr>
        <p:spPr>
          <a:xfrm>
            <a:off x="781050" y="2590800"/>
            <a:ext cx="26860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Emails, comptes rendus, agendas, notes, coordination et flux documentaires.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A6B3C3-BD90-4F56-9513-DC79433413CA}"/>
              </a:ext>
            </a:extLst>
          </p:cNvPr>
          <p:cNvSpPr>
            <a:spLocks noGrp="1"/>
          </p:cNvSpPr>
          <p:nvPr/>
        </p:nvSpPr>
        <p:spPr>
          <a:xfrm>
            <a:off x="4238625" y="1962150"/>
            <a:ext cx="3143250" cy="12954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901D0CB-A463-45CE-AC8F-06ED5CA45198}"/>
              </a:ext>
            </a:extLst>
          </p:cNvPr>
          <p:cNvSpPr>
            <a:spLocks noGrp="1"/>
          </p:cNvSpPr>
          <p:nvPr/>
        </p:nvSpPr>
        <p:spPr>
          <a:xfrm>
            <a:off x="4448175" y="2152650"/>
            <a:ext cx="2476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RH et montée en compétences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4561C34-C4DD-4E04-900B-5F1220628B61}"/>
              </a:ext>
            </a:extLst>
          </p:cNvPr>
          <p:cNvSpPr>
            <a:spLocks noGrp="1"/>
          </p:cNvSpPr>
          <p:nvPr/>
        </p:nvSpPr>
        <p:spPr>
          <a:xfrm>
            <a:off x="4448175" y="2590800"/>
            <a:ext cx="26860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Recrutement, onboarding, communication RH, plans de formation et IA responsable.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6080874-E5DC-4E8E-835E-ED97CEBA8747}"/>
              </a:ext>
            </a:extLst>
          </p:cNvPr>
          <p:cNvSpPr>
            <a:spLocks noGrp="1"/>
          </p:cNvSpPr>
          <p:nvPr/>
        </p:nvSpPr>
        <p:spPr>
          <a:xfrm>
            <a:off x="7905750" y="1962150"/>
            <a:ext cx="3143250" cy="12954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3FCB17-9156-4892-A774-FF34FC035070}"/>
              </a:ext>
            </a:extLst>
          </p:cNvPr>
          <p:cNvSpPr>
            <a:spLocks noGrp="1"/>
          </p:cNvSpPr>
          <p:nvPr/>
        </p:nvSpPr>
        <p:spPr>
          <a:xfrm>
            <a:off x="8115300" y="2152650"/>
            <a:ext cx="2476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Marketing &amp; communication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57822C-4BC6-4D72-AEA0-AEFBD332208D}"/>
              </a:ext>
            </a:extLst>
          </p:cNvPr>
          <p:cNvSpPr>
            <a:spLocks noGrp="1"/>
          </p:cNvSpPr>
          <p:nvPr/>
        </p:nvSpPr>
        <p:spPr>
          <a:xfrm>
            <a:off x="8115300" y="2590800"/>
            <a:ext cx="26860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Création de contenus, adaptation multiformat, segmentation et pilotage de campagnes.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2FCC5ED-1557-427A-BD81-D3A257CB5614}"/>
              </a:ext>
            </a:extLst>
          </p:cNvPr>
          <p:cNvSpPr>
            <a:spLocks noGrp="1"/>
          </p:cNvSpPr>
          <p:nvPr/>
        </p:nvSpPr>
        <p:spPr>
          <a:xfrm>
            <a:off x="571500" y="3600450"/>
            <a:ext cx="3143250" cy="12954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8DF61D-B5E9-49D1-B8EC-0D6FD289BEC9}"/>
              </a:ext>
            </a:extLst>
          </p:cNvPr>
          <p:cNvSpPr>
            <a:spLocks noGrp="1"/>
          </p:cNvSpPr>
          <p:nvPr/>
        </p:nvSpPr>
        <p:spPr>
          <a:xfrm>
            <a:off x="781050" y="3790950"/>
            <a:ext cx="2476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Service client &amp; relation commerciale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18DA2E4-F918-418D-8F5A-137399E2F16B}"/>
              </a:ext>
            </a:extLst>
          </p:cNvPr>
          <p:cNvSpPr>
            <a:spLocks noGrp="1"/>
          </p:cNvSpPr>
          <p:nvPr/>
        </p:nvSpPr>
        <p:spPr>
          <a:xfrm>
            <a:off x="781050" y="4229100"/>
            <a:ext cx="26860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FAQ, qualification de leads, prise de rendez-vous, réponses plus rapides et mieux tracées.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5D6495C-D9C1-4B99-83B7-DE88DD96F1E8}"/>
              </a:ext>
            </a:extLst>
          </p:cNvPr>
          <p:cNvSpPr>
            <a:spLocks noGrp="1"/>
          </p:cNvSpPr>
          <p:nvPr/>
        </p:nvSpPr>
        <p:spPr>
          <a:xfrm>
            <a:off x="4238625" y="3600450"/>
            <a:ext cx="3143250" cy="12954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34358D1-AFB1-4CA1-879B-14F6559CB39B}"/>
              </a:ext>
            </a:extLst>
          </p:cNvPr>
          <p:cNvSpPr>
            <a:spLocks noGrp="1"/>
          </p:cNvSpPr>
          <p:nvPr/>
        </p:nvSpPr>
        <p:spPr>
          <a:xfrm>
            <a:off x="4448175" y="3790950"/>
            <a:ext cx="2476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Data, reporting, finance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0AD0A73-398A-4332-98A8-BACEF115BF34}"/>
              </a:ext>
            </a:extLst>
          </p:cNvPr>
          <p:cNvSpPr>
            <a:spLocks noGrp="1"/>
          </p:cNvSpPr>
          <p:nvPr/>
        </p:nvSpPr>
        <p:spPr>
          <a:xfrm>
            <a:off x="4448175" y="4229100"/>
            <a:ext cx="26860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Synthèses, dashboards, reporting régulier, gains de temps et aide à la décision.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CE5A51F-8848-48AD-B43C-A60FC9BF9F79}"/>
              </a:ext>
            </a:extLst>
          </p:cNvPr>
          <p:cNvSpPr>
            <a:spLocks noGrp="1"/>
          </p:cNvSpPr>
          <p:nvPr/>
        </p:nvSpPr>
        <p:spPr>
          <a:xfrm>
            <a:off x="7905750" y="3600450"/>
            <a:ext cx="3143250" cy="12954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1E1E1A-5589-4D12-8B50-C1F0A5D1E68D}"/>
              </a:ext>
            </a:extLst>
          </p:cNvPr>
          <p:cNvSpPr>
            <a:spLocks noGrp="1"/>
          </p:cNvSpPr>
          <p:nvPr/>
        </p:nvSpPr>
        <p:spPr>
          <a:xfrm>
            <a:off x="8115300" y="3790950"/>
            <a:ext cx="2476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Juridique, conformité, direction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3A2DCC5-C637-4584-A914-AC4D8FFCFBE4}"/>
              </a:ext>
            </a:extLst>
          </p:cNvPr>
          <p:cNvSpPr>
            <a:spLocks noGrp="1"/>
          </p:cNvSpPr>
          <p:nvPr/>
        </p:nvSpPr>
        <p:spPr>
          <a:xfrm>
            <a:off x="8115300" y="4229100"/>
            <a:ext cx="26860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Documents sensibles, veille, notes de décision, gouvernance et cadre d'usage.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5AF575D-BEB8-4028-A8A1-7898AFA6D1E4}"/>
              </a:ext>
            </a:extLst>
          </p:cNvPr>
          <p:cNvSpPr>
            <a:spLocks noGrp="1"/>
          </p:cNvSpPr>
          <p:nvPr/>
        </p:nvSpPr>
        <p:spPr>
          <a:xfrm>
            <a:off x="7143750" y="5334000"/>
            <a:ext cx="4095750" cy="819150"/>
          </a:xfrm>
          <a:prstGeom prst="rect">
            <a:avLst/>
          </a:prstGeom>
          <a:solidFill>
            <a:srgbClr val="FFF7F1"/>
          </a:solidFill>
          <a:ln w="9525">
            <a:solidFill>
              <a:srgbClr val="FFF7F1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BED022C-A782-42DD-BC31-DE324C750F9E}"/>
              </a:ext>
            </a:extLst>
          </p:cNvPr>
          <p:cNvSpPr>
            <a:spLocks noGrp="1"/>
          </p:cNvSpPr>
          <p:nvPr/>
        </p:nvSpPr>
        <p:spPr>
          <a:xfrm>
            <a:off x="7410450" y="5505450"/>
            <a:ext cx="1524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1">
                <a:solidFill>
                  <a:srgbClr val="D66724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D66724"/>
                </a:solidFill>
                <a:latin typeface="Aptos"/>
                <a:ea typeface="Aptos"/>
                <a:cs typeface="Aptos"/>
              </a:rPr>
              <a:t>Ce que cela permet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EF2682C-FE6E-4F4F-9A48-7A70A7C009EC}"/>
              </a:ext>
            </a:extLst>
          </p:cNvPr>
          <p:cNvSpPr>
            <a:spLocks noGrp="1"/>
          </p:cNvSpPr>
          <p:nvPr/>
        </p:nvSpPr>
        <p:spPr>
          <a:xfrm>
            <a:off x="7410450" y="5695950"/>
            <a:ext cx="3371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Prioriser les tâches répétitives, mieux structurer l'information, accélérer les décisions et préparer des pilotes plus crédibles.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2906364-0E6D-452A-B1A8-F3F07149958A}"/>
              </a:ext>
            </a:extLst>
          </p:cNvPr>
          <p:cNvSpPr>
            <a:spLocks noGrp="1"/>
          </p:cNvSpPr>
          <p:nvPr/>
        </p:nvSpPr>
        <p:spPr>
          <a:xfrm>
            <a:off x="571500" y="6477000"/>
            <a:ext cx="11049000" cy="9525"/>
          </a:xfrm>
          <a:prstGeom prst="rect">
            <a:avLst/>
          </a:prstGeom>
          <a:solidFill>
            <a:srgbClr val="D9D3CC"/>
          </a:solidFill>
          <a:ln w="0">
            <a:solidFill>
              <a:srgbClr val="D9D3CC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9DDB0C2-6EFF-4C1C-A695-E19555A3ECB8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9334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Le site et le catalogue montrent une logique métier : support, croissance, pilotage, conformité, tech et secteurs ciblés.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0A4C22E-CD1B-4384-9792-25D677C88345}"/>
              </a:ext>
            </a:extLst>
          </p:cNvPr>
          <p:cNvSpPr>
            <a:spLocks noGrp="1"/>
          </p:cNvSpPr>
          <p:nvPr/>
        </p:nvSpPr>
        <p:spPr>
          <a:xfrm>
            <a:off x="10858500" y="6534150"/>
            <a:ext cx="571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10213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0213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8395786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>
            <a:extLst>
              <a:ext uri="{FF2B5EF4-FFF2-40B4-BE49-F238E27FC236}">
                <a16:creationId xmlns:a16="http://schemas.microsoft.com/office/drawing/2014/main" id="{6A430E8B-277D-4B9C-AFBB-0CA4ABF0C99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DFC"/>
          </a:solidFill>
          <a:ln w="0">
            <a:solidFill>
              <a:srgbClr val="FFFDF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65BC3A-7F8B-4825-BADB-013E55A520B9}"/>
              </a:ext>
            </a:extLst>
          </p:cNvPr>
          <p:cNvSpPr>
            <a:spLocks noGrp="1"/>
          </p:cNvSpPr>
          <p:nvPr/>
        </p:nvSpPr>
        <p:spPr>
          <a:xfrm>
            <a:off x="571500" y="381000"/>
            <a:ext cx="2667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1">
                <a:solidFill>
                  <a:srgbClr val="D66724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D66724"/>
                </a:solidFill>
                <a:latin typeface="Aptos"/>
                <a:ea typeface="Aptos"/>
                <a:cs typeface="Aptos"/>
              </a:rPr>
              <a:t>CATALOGUE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9758F3-94FF-45AB-B261-DAD47E845717}"/>
              </a:ext>
            </a:extLst>
          </p:cNvPr>
          <p:cNvSpPr>
            <a:spLocks noGrp="1"/>
          </p:cNvSpPr>
          <p:nvPr/>
        </p:nvSpPr>
        <p:spPr>
          <a:xfrm>
            <a:off x="571500" y="742950"/>
            <a:ext cx="7239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Un catalogue structuré pour former dans la durée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812AE6-2A46-4F95-89CB-2FD4E26A9902}"/>
              </a:ext>
            </a:extLst>
          </p:cNvPr>
          <p:cNvSpPr>
            <a:spLocks noGrp="1"/>
          </p:cNvSpPr>
          <p:nvPr/>
        </p:nvSpPr>
        <p:spPr>
          <a:xfrm>
            <a:off x="8191500" y="800100"/>
            <a:ext cx="1333500" cy="8382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58DD4C-A140-476D-9803-B839C7F6D72E}"/>
              </a:ext>
            </a:extLst>
          </p:cNvPr>
          <p:cNvSpPr>
            <a:spLocks noGrp="1"/>
          </p:cNvSpPr>
          <p:nvPr/>
        </p:nvSpPr>
        <p:spPr>
          <a:xfrm>
            <a:off x="8362950" y="971550"/>
            <a:ext cx="38100" cy="495300"/>
          </a:xfrm>
          <a:prstGeom prst="rect">
            <a:avLst/>
          </a:prstGeom>
          <a:solidFill>
            <a:srgbClr val="D66724"/>
          </a:solidFill>
          <a:ln w="0">
            <a:solidFill>
              <a:srgbClr val="D66724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84A96E-A0CE-47DC-A75F-F085FAA15EBC}"/>
              </a:ext>
            </a:extLst>
          </p:cNvPr>
          <p:cNvSpPr>
            <a:spLocks noGrp="1"/>
          </p:cNvSpPr>
          <p:nvPr/>
        </p:nvSpPr>
        <p:spPr>
          <a:xfrm>
            <a:off x="8553450" y="952500"/>
            <a:ext cx="838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130+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EE1358-9476-4884-804A-50EB17569732}"/>
              </a:ext>
            </a:extLst>
          </p:cNvPr>
          <p:cNvSpPr>
            <a:spLocks noGrp="1"/>
          </p:cNvSpPr>
          <p:nvPr/>
        </p:nvSpPr>
        <p:spPr>
          <a:xfrm>
            <a:off x="8553450" y="1314450"/>
            <a:ext cx="8382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16072"/>
                </a:solidFill>
                <a:latin typeface="Aptos"/>
                <a:ea typeface="Aptos"/>
                <a:cs typeface="Aptos"/>
              </a:rPr>
              <a:t>formations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88B88B-25C2-48A4-858D-C0841B726AA3}"/>
              </a:ext>
            </a:extLst>
          </p:cNvPr>
          <p:cNvSpPr>
            <a:spLocks noGrp="1"/>
          </p:cNvSpPr>
          <p:nvPr/>
        </p:nvSpPr>
        <p:spPr>
          <a:xfrm>
            <a:off x="9715500" y="800100"/>
            <a:ext cx="1333500" cy="8382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7F12D7-74E7-451F-B59E-2C53B594FE99}"/>
              </a:ext>
            </a:extLst>
          </p:cNvPr>
          <p:cNvSpPr>
            <a:spLocks noGrp="1"/>
          </p:cNvSpPr>
          <p:nvPr/>
        </p:nvSpPr>
        <p:spPr>
          <a:xfrm>
            <a:off x="9886950" y="971550"/>
            <a:ext cx="38100" cy="495300"/>
          </a:xfrm>
          <a:prstGeom prst="rect">
            <a:avLst/>
          </a:prstGeom>
          <a:solidFill>
            <a:srgbClr val="2FB67E"/>
          </a:solidFill>
          <a:ln w="0">
            <a:solidFill>
              <a:srgbClr val="2FB67E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1F1D3D-F312-4ABC-987E-22C3747EB2FC}"/>
              </a:ext>
            </a:extLst>
          </p:cNvPr>
          <p:cNvSpPr>
            <a:spLocks noGrp="1"/>
          </p:cNvSpPr>
          <p:nvPr/>
        </p:nvSpPr>
        <p:spPr>
          <a:xfrm>
            <a:off x="10077450" y="952500"/>
            <a:ext cx="838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13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7A4D460-3D72-45A1-BEF4-2EE1EC168AF2}"/>
              </a:ext>
            </a:extLst>
          </p:cNvPr>
          <p:cNvSpPr>
            <a:spLocks noGrp="1"/>
          </p:cNvSpPr>
          <p:nvPr/>
        </p:nvSpPr>
        <p:spPr>
          <a:xfrm>
            <a:off x="10077450" y="1314450"/>
            <a:ext cx="8382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16072"/>
                </a:solidFill>
                <a:latin typeface="Aptos"/>
                <a:ea typeface="Aptos"/>
                <a:cs typeface="Aptos"/>
              </a:rPr>
              <a:t>domaines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209A14-9EF8-41D2-9A87-265365175AEF}"/>
              </a:ext>
            </a:extLst>
          </p:cNvPr>
          <p:cNvSpPr>
            <a:spLocks noGrp="1"/>
          </p:cNvSpPr>
          <p:nvPr/>
        </p:nvSpPr>
        <p:spPr>
          <a:xfrm>
            <a:off x="571500" y="1790700"/>
            <a:ext cx="2381250" cy="3714750"/>
          </a:xfrm>
          <a:prstGeom prst="rect">
            <a:avLst/>
          </a:prstGeom>
          <a:solidFill>
            <a:srgbClr val="F7F3EE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97D31EA-6F68-44E0-A8EB-A703C60DDDB9}"/>
              </a:ext>
            </a:extLst>
          </p:cNvPr>
          <p:cNvSpPr>
            <a:spLocks noGrp="1"/>
          </p:cNvSpPr>
          <p:nvPr/>
        </p:nvSpPr>
        <p:spPr>
          <a:xfrm>
            <a:off x="571500" y="1790700"/>
            <a:ext cx="2381250" cy="457200"/>
          </a:xfrm>
          <a:prstGeom prst="rect">
            <a:avLst/>
          </a:prstGeom>
          <a:solidFill>
            <a:srgbClr val="16324F"/>
          </a:solidFill>
          <a:ln w="9525">
            <a:solidFill>
              <a:srgbClr val="16324F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862A39E-B0B2-429D-9402-8B5CED52F71F}"/>
              </a:ext>
            </a:extLst>
          </p:cNvPr>
          <p:cNvSpPr>
            <a:spLocks noGrp="1"/>
          </p:cNvSpPr>
          <p:nvPr/>
        </p:nvSpPr>
        <p:spPr>
          <a:xfrm>
            <a:off x="742950" y="1924050"/>
            <a:ext cx="20383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Fonctions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992B83-348C-484E-8F8B-1E2FBC5DB0BE}"/>
              </a:ext>
            </a:extLst>
          </p:cNvPr>
          <p:cNvSpPr>
            <a:spLocks noGrp="1"/>
          </p:cNvSpPr>
          <p:nvPr/>
        </p:nvSpPr>
        <p:spPr>
          <a:xfrm>
            <a:off x="742950" y="2438400"/>
            <a:ext cx="2038350" cy="4572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9F4971-A2DB-4ECA-A629-7F88AB1100E9}"/>
              </a:ext>
            </a:extLst>
          </p:cNvPr>
          <p:cNvSpPr>
            <a:spLocks noGrp="1"/>
          </p:cNvSpPr>
          <p:nvPr/>
        </p:nvSpPr>
        <p:spPr>
          <a:xfrm>
            <a:off x="838200" y="2571750"/>
            <a:ext cx="1847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63" b="1">
                <a:solidFill>
                  <a:srgbClr val="10213D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0213D"/>
                </a:solidFill>
                <a:latin typeface="Aptos"/>
                <a:ea typeface="Aptos"/>
                <a:cs typeface="Aptos"/>
              </a:rPr>
              <a:t>Assistanat &amp; Secrétariat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971850A-28CC-4370-A80F-2E24642E652B}"/>
              </a:ext>
            </a:extLst>
          </p:cNvPr>
          <p:cNvSpPr>
            <a:spLocks noGrp="1"/>
          </p:cNvSpPr>
          <p:nvPr/>
        </p:nvSpPr>
        <p:spPr>
          <a:xfrm>
            <a:off x="742950" y="3105150"/>
            <a:ext cx="2038350" cy="4572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E9DCCF-9F7D-4483-BA87-3146743DACDA}"/>
              </a:ext>
            </a:extLst>
          </p:cNvPr>
          <p:cNvSpPr>
            <a:spLocks noGrp="1"/>
          </p:cNvSpPr>
          <p:nvPr/>
        </p:nvSpPr>
        <p:spPr>
          <a:xfrm>
            <a:off x="838200" y="3238500"/>
            <a:ext cx="1847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63" b="1">
                <a:solidFill>
                  <a:srgbClr val="10213D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0213D"/>
                </a:solidFill>
                <a:latin typeface="Aptos"/>
                <a:ea typeface="Aptos"/>
                <a:cs typeface="Aptos"/>
              </a:rPr>
              <a:t>Administration &amp; Gestion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489D434-6420-4C85-A9D0-A6CB625F8D10}"/>
              </a:ext>
            </a:extLst>
          </p:cNvPr>
          <p:cNvSpPr>
            <a:spLocks noGrp="1"/>
          </p:cNvSpPr>
          <p:nvPr/>
        </p:nvSpPr>
        <p:spPr>
          <a:xfrm>
            <a:off x="742950" y="3771900"/>
            <a:ext cx="2038350" cy="4572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E0958BE-4D9D-41B6-BA84-A7DB1C9D5C23}"/>
              </a:ext>
            </a:extLst>
          </p:cNvPr>
          <p:cNvSpPr>
            <a:spLocks noGrp="1"/>
          </p:cNvSpPr>
          <p:nvPr/>
        </p:nvSpPr>
        <p:spPr>
          <a:xfrm>
            <a:off x="838200" y="3905250"/>
            <a:ext cx="1847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63" b="1">
                <a:solidFill>
                  <a:srgbClr val="10213D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0213D"/>
                </a:solidFill>
                <a:latin typeface="Aptos"/>
                <a:ea typeface="Aptos"/>
                <a:cs typeface="Aptos"/>
              </a:rPr>
              <a:t>Ressources Humaines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02A6189-8490-4FBE-8229-CBC3F66BFDAC}"/>
              </a:ext>
            </a:extLst>
          </p:cNvPr>
          <p:cNvSpPr>
            <a:spLocks noGrp="1"/>
          </p:cNvSpPr>
          <p:nvPr/>
        </p:nvSpPr>
        <p:spPr>
          <a:xfrm>
            <a:off x="742950" y="4438650"/>
            <a:ext cx="2038350" cy="4572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81583FC-AC51-4D27-9A65-21CDD9E4E9D5}"/>
              </a:ext>
            </a:extLst>
          </p:cNvPr>
          <p:cNvSpPr>
            <a:spLocks noGrp="1"/>
          </p:cNvSpPr>
          <p:nvPr/>
        </p:nvSpPr>
        <p:spPr>
          <a:xfrm>
            <a:off x="838200" y="4572000"/>
            <a:ext cx="1847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63" b="1">
                <a:solidFill>
                  <a:srgbClr val="10213D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0213D"/>
                </a:solidFill>
                <a:latin typeface="Aptos"/>
                <a:ea typeface="Aptos"/>
                <a:cs typeface="Aptos"/>
              </a:rPr>
              <a:t>Finance &amp; Comptabilité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A21F23D-D0AF-400B-B8E7-3047A47FD7E1}"/>
              </a:ext>
            </a:extLst>
          </p:cNvPr>
          <p:cNvSpPr>
            <a:spLocks noGrp="1"/>
          </p:cNvSpPr>
          <p:nvPr/>
        </p:nvSpPr>
        <p:spPr>
          <a:xfrm>
            <a:off x="3305175" y="1790700"/>
            <a:ext cx="2381250" cy="3714750"/>
          </a:xfrm>
          <a:prstGeom prst="rect">
            <a:avLst/>
          </a:prstGeom>
          <a:solidFill>
            <a:srgbClr val="F7F3EE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2881DB3-3E39-4027-9CDC-86E60C89D38F}"/>
              </a:ext>
            </a:extLst>
          </p:cNvPr>
          <p:cNvSpPr>
            <a:spLocks noGrp="1"/>
          </p:cNvSpPr>
          <p:nvPr/>
        </p:nvSpPr>
        <p:spPr>
          <a:xfrm>
            <a:off x="3305175" y="1790700"/>
            <a:ext cx="2381250" cy="457200"/>
          </a:xfrm>
          <a:prstGeom prst="rect">
            <a:avLst/>
          </a:prstGeom>
          <a:solidFill>
            <a:srgbClr val="D66724"/>
          </a:solidFill>
          <a:ln w="9525">
            <a:solidFill>
              <a:srgbClr val="D66724"/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6520D30-31AB-4720-89A3-3C2130E94C55}"/>
              </a:ext>
            </a:extLst>
          </p:cNvPr>
          <p:cNvSpPr>
            <a:spLocks noGrp="1"/>
          </p:cNvSpPr>
          <p:nvPr/>
        </p:nvSpPr>
        <p:spPr>
          <a:xfrm>
            <a:off x="3476625" y="1924050"/>
            <a:ext cx="20383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Croissance &amp; relation client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F63977-6ACB-46B2-896C-CC7C6FE6F573}"/>
              </a:ext>
            </a:extLst>
          </p:cNvPr>
          <p:cNvSpPr>
            <a:spLocks noGrp="1"/>
          </p:cNvSpPr>
          <p:nvPr/>
        </p:nvSpPr>
        <p:spPr>
          <a:xfrm>
            <a:off x="3476625" y="2438400"/>
            <a:ext cx="2038350" cy="4572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F867E1E-7ECA-45D4-8F49-3D1020D498C3}"/>
              </a:ext>
            </a:extLst>
          </p:cNvPr>
          <p:cNvSpPr>
            <a:spLocks noGrp="1"/>
          </p:cNvSpPr>
          <p:nvPr/>
        </p:nvSpPr>
        <p:spPr>
          <a:xfrm>
            <a:off x="3571875" y="2571750"/>
            <a:ext cx="1847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63" b="1">
                <a:solidFill>
                  <a:srgbClr val="10213D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0213D"/>
                </a:solidFill>
                <a:latin typeface="Aptos"/>
                <a:ea typeface="Aptos"/>
                <a:cs typeface="Aptos"/>
              </a:rPr>
              <a:t>Marketing &amp; Communication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9538A74-6CBE-43BF-B347-517AF5EB7754}"/>
              </a:ext>
            </a:extLst>
          </p:cNvPr>
          <p:cNvSpPr>
            <a:spLocks noGrp="1"/>
          </p:cNvSpPr>
          <p:nvPr/>
        </p:nvSpPr>
        <p:spPr>
          <a:xfrm>
            <a:off x="3476625" y="3105150"/>
            <a:ext cx="2038350" cy="4572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E587CF2-203E-4E45-8BC0-2F2DB2E1D52F}"/>
              </a:ext>
            </a:extLst>
          </p:cNvPr>
          <p:cNvSpPr>
            <a:spLocks noGrp="1"/>
          </p:cNvSpPr>
          <p:nvPr/>
        </p:nvSpPr>
        <p:spPr>
          <a:xfrm>
            <a:off x="3571875" y="3238500"/>
            <a:ext cx="1847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63" b="1">
                <a:solidFill>
                  <a:srgbClr val="10213D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0213D"/>
                </a:solidFill>
                <a:latin typeface="Aptos"/>
                <a:ea typeface="Aptos"/>
                <a:cs typeface="Aptos"/>
              </a:rPr>
              <a:t>Service client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B66E05E-14F9-4A00-BCD3-179F1724E416}"/>
              </a:ext>
            </a:extLst>
          </p:cNvPr>
          <p:cNvSpPr>
            <a:spLocks noGrp="1"/>
          </p:cNvSpPr>
          <p:nvPr/>
        </p:nvSpPr>
        <p:spPr>
          <a:xfrm>
            <a:off x="3476625" y="3771900"/>
            <a:ext cx="2038350" cy="4572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0C3244E-E114-465C-8E98-B317DBF61DCC}"/>
              </a:ext>
            </a:extLst>
          </p:cNvPr>
          <p:cNvSpPr>
            <a:spLocks noGrp="1"/>
          </p:cNvSpPr>
          <p:nvPr/>
        </p:nvSpPr>
        <p:spPr>
          <a:xfrm>
            <a:off x="3571875" y="3905250"/>
            <a:ext cx="1847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63" b="1">
                <a:solidFill>
                  <a:srgbClr val="10213D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0213D"/>
                </a:solidFill>
                <a:latin typeface="Aptos"/>
                <a:ea typeface="Aptos"/>
                <a:cs typeface="Aptos"/>
              </a:rPr>
              <a:t>Formation &amp; Pédagogie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F4EED35-CB91-4CA7-AE10-84B2AC79E010}"/>
              </a:ext>
            </a:extLst>
          </p:cNvPr>
          <p:cNvSpPr>
            <a:spLocks noGrp="1"/>
          </p:cNvSpPr>
          <p:nvPr/>
        </p:nvSpPr>
        <p:spPr>
          <a:xfrm>
            <a:off x="6038850" y="1790700"/>
            <a:ext cx="2381250" cy="3714750"/>
          </a:xfrm>
          <a:prstGeom prst="rect">
            <a:avLst/>
          </a:prstGeom>
          <a:solidFill>
            <a:srgbClr val="F7F3EE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7CB7E8D-13C4-4473-B382-092648255B8E}"/>
              </a:ext>
            </a:extLst>
          </p:cNvPr>
          <p:cNvSpPr>
            <a:spLocks noGrp="1"/>
          </p:cNvSpPr>
          <p:nvPr/>
        </p:nvSpPr>
        <p:spPr>
          <a:xfrm>
            <a:off x="6038850" y="1790700"/>
            <a:ext cx="2381250" cy="457200"/>
          </a:xfrm>
          <a:prstGeom prst="rect">
            <a:avLst/>
          </a:prstGeom>
          <a:solidFill>
            <a:srgbClr val="2F6F6A"/>
          </a:solidFill>
          <a:ln w="9525">
            <a:solidFill>
              <a:srgbClr val="2F6F6A"/>
            </a:solidFill>
            <a:prstDash val="solid"/>
          </a:ln>
        </p:spPr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DB70F7C-5C00-4433-844E-9075F84FB33E}"/>
              </a:ext>
            </a:extLst>
          </p:cNvPr>
          <p:cNvSpPr>
            <a:spLocks noGrp="1"/>
          </p:cNvSpPr>
          <p:nvPr/>
        </p:nvSpPr>
        <p:spPr>
          <a:xfrm>
            <a:off x="6210300" y="1924050"/>
            <a:ext cx="20383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Pilotage &amp; expertise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B962729-467A-4A46-AE91-8864902A6672}"/>
              </a:ext>
            </a:extLst>
          </p:cNvPr>
          <p:cNvSpPr>
            <a:spLocks noGrp="1"/>
          </p:cNvSpPr>
          <p:nvPr/>
        </p:nvSpPr>
        <p:spPr>
          <a:xfrm>
            <a:off x="6210300" y="2438400"/>
            <a:ext cx="2038350" cy="4572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65CC60E-8765-4025-8F34-795EA6D1D5A3}"/>
              </a:ext>
            </a:extLst>
          </p:cNvPr>
          <p:cNvSpPr>
            <a:spLocks noGrp="1"/>
          </p:cNvSpPr>
          <p:nvPr/>
        </p:nvSpPr>
        <p:spPr>
          <a:xfrm>
            <a:off x="6305550" y="2571750"/>
            <a:ext cx="1847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63" b="1">
                <a:solidFill>
                  <a:srgbClr val="10213D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0213D"/>
                </a:solidFill>
                <a:latin typeface="Aptos"/>
                <a:ea typeface="Aptos"/>
                <a:cs typeface="Aptos"/>
              </a:rPr>
              <a:t>Données &amp; Analyse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F70CC5-B9C7-403D-8806-BCADFFDC2D85}"/>
              </a:ext>
            </a:extLst>
          </p:cNvPr>
          <p:cNvSpPr>
            <a:spLocks noGrp="1"/>
          </p:cNvSpPr>
          <p:nvPr/>
        </p:nvSpPr>
        <p:spPr>
          <a:xfrm>
            <a:off x="6210300" y="3105150"/>
            <a:ext cx="2038350" cy="4572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2512F12-7B93-411B-AD35-60901A75BD41}"/>
              </a:ext>
            </a:extLst>
          </p:cNvPr>
          <p:cNvSpPr>
            <a:spLocks noGrp="1"/>
          </p:cNvSpPr>
          <p:nvPr/>
        </p:nvSpPr>
        <p:spPr>
          <a:xfrm>
            <a:off x="6305550" y="3238500"/>
            <a:ext cx="1847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63" b="1">
                <a:solidFill>
                  <a:srgbClr val="10213D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0213D"/>
                </a:solidFill>
                <a:latin typeface="Aptos"/>
                <a:ea typeface="Aptos"/>
                <a:cs typeface="Aptos"/>
              </a:rPr>
              <a:t>Management &amp; Leadership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3508C8B-8D88-4134-B732-7595D2BB5B2E}"/>
              </a:ext>
            </a:extLst>
          </p:cNvPr>
          <p:cNvSpPr>
            <a:spLocks noGrp="1"/>
          </p:cNvSpPr>
          <p:nvPr/>
        </p:nvSpPr>
        <p:spPr>
          <a:xfrm>
            <a:off x="6210300" y="3771900"/>
            <a:ext cx="2038350" cy="4572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F068720-796A-49A4-9DA7-AB4BF647C81C}"/>
              </a:ext>
            </a:extLst>
          </p:cNvPr>
          <p:cNvSpPr>
            <a:spLocks noGrp="1"/>
          </p:cNvSpPr>
          <p:nvPr/>
        </p:nvSpPr>
        <p:spPr>
          <a:xfrm>
            <a:off x="6305550" y="3905250"/>
            <a:ext cx="1847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63" b="1">
                <a:solidFill>
                  <a:srgbClr val="10213D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0213D"/>
                </a:solidFill>
                <a:latin typeface="Aptos"/>
                <a:ea typeface="Aptos"/>
                <a:cs typeface="Aptos"/>
              </a:rPr>
              <a:t>Juridique &amp; Conformité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BA18F3F-0576-4176-A351-4E4896A3CC76}"/>
              </a:ext>
            </a:extLst>
          </p:cNvPr>
          <p:cNvSpPr>
            <a:spLocks noGrp="1"/>
          </p:cNvSpPr>
          <p:nvPr/>
        </p:nvSpPr>
        <p:spPr>
          <a:xfrm>
            <a:off x="8772525" y="1790700"/>
            <a:ext cx="2381250" cy="3714750"/>
          </a:xfrm>
          <a:prstGeom prst="rect">
            <a:avLst/>
          </a:prstGeom>
          <a:solidFill>
            <a:srgbClr val="F7F3EE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50F76BC-F587-4274-9A99-516775A66CCA}"/>
              </a:ext>
            </a:extLst>
          </p:cNvPr>
          <p:cNvSpPr>
            <a:spLocks noGrp="1"/>
          </p:cNvSpPr>
          <p:nvPr/>
        </p:nvSpPr>
        <p:spPr>
          <a:xfrm>
            <a:off x="8772525" y="1790700"/>
            <a:ext cx="2381250" cy="457200"/>
          </a:xfrm>
          <a:prstGeom prst="rect">
            <a:avLst/>
          </a:prstGeom>
          <a:solidFill>
            <a:srgbClr val="6E7D8C"/>
          </a:solidFill>
          <a:ln w="9525">
            <a:solidFill>
              <a:srgbClr val="6E7D8C"/>
            </a:solidFill>
            <a:prstDash val="solid"/>
          </a:ln>
        </p:spPr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54DEB97-6DDE-4E0F-9B21-0E252871F9ED}"/>
              </a:ext>
            </a:extLst>
          </p:cNvPr>
          <p:cNvSpPr>
            <a:spLocks noGrp="1"/>
          </p:cNvSpPr>
          <p:nvPr/>
        </p:nvSpPr>
        <p:spPr>
          <a:xfrm>
            <a:off x="8943975" y="1924050"/>
            <a:ext cx="20383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Tech &amp; secteurs ciblés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21A805A-DAB4-4F80-BB47-514E85C234FD}"/>
              </a:ext>
            </a:extLst>
          </p:cNvPr>
          <p:cNvSpPr>
            <a:spLocks noGrp="1"/>
          </p:cNvSpPr>
          <p:nvPr/>
        </p:nvSpPr>
        <p:spPr>
          <a:xfrm>
            <a:off x="8943975" y="2438400"/>
            <a:ext cx="2038350" cy="4572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FE3521-A7F2-44B4-9666-2BBC5B6ACD28}"/>
              </a:ext>
            </a:extLst>
          </p:cNvPr>
          <p:cNvSpPr>
            <a:spLocks noGrp="1"/>
          </p:cNvSpPr>
          <p:nvPr/>
        </p:nvSpPr>
        <p:spPr>
          <a:xfrm>
            <a:off x="9039225" y="2571750"/>
            <a:ext cx="1847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63" b="1">
                <a:solidFill>
                  <a:srgbClr val="10213D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0213D"/>
                </a:solidFill>
                <a:latin typeface="Aptos"/>
                <a:ea typeface="Aptos"/>
                <a:cs typeface="Aptos"/>
              </a:rPr>
              <a:t>IT &amp; Transformation digitale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04F7195-4FC2-4AC3-B5F8-8A5A43337039}"/>
              </a:ext>
            </a:extLst>
          </p:cNvPr>
          <p:cNvSpPr>
            <a:spLocks noGrp="1"/>
          </p:cNvSpPr>
          <p:nvPr/>
        </p:nvSpPr>
        <p:spPr>
          <a:xfrm>
            <a:off x="8943975" y="3105150"/>
            <a:ext cx="2038350" cy="4572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E744610-0C43-4987-85EE-F860FB82754B}"/>
              </a:ext>
            </a:extLst>
          </p:cNvPr>
          <p:cNvSpPr>
            <a:spLocks noGrp="1"/>
          </p:cNvSpPr>
          <p:nvPr/>
        </p:nvSpPr>
        <p:spPr>
          <a:xfrm>
            <a:off x="9039225" y="3238500"/>
            <a:ext cx="1847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63" b="1">
                <a:solidFill>
                  <a:srgbClr val="10213D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0213D"/>
                </a:solidFill>
                <a:latin typeface="Aptos"/>
                <a:ea typeface="Aptos"/>
                <a:cs typeface="Aptos"/>
              </a:rPr>
              <a:t>Santé &amp; Bien-être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8C1BB45-7FAA-49AB-BD73-D8C48E355CDF}"/>
              </a:ext>
            </a:extLst>
          </p:cNvPr>
          <p:cNvSpPr>
            <a:spLocks noGrp="1"/>
          </p:cNvSpPr>
          <p:nvPr/>
        </p:nvSpPr>
        <p:spPr>
          <a:xfrm>
            <a:off x="8943975" y="3771900"/>
            <a:ext cx="2038350" cy="4572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5C6793-E5D4-48FC-962E-089C88051545}"/>
              </a:ext>
            </a:extLst>
          </p:cNvPr>
          <p:cNvSpPr>
            <a:spLocks noGrp="1"/>
          </p:cNvSpPr>
          <p:nvPr/>
        </p:nvSpPr>
        <p:spPr>
          <a:xfrm>
            <a:off x="9039225" y="3905250"/>
            <a:ext cx="1847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63" b="1">
                <a:solidFill>
                  <a:srgbClr val="10213D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0213D"/>
                </a:solidFill>
                <a:latin typeface="Aptos"/>
                <a:ea typeface="Aptos"/>
                <a:cs typeface="Aptos"/>
              </a:rPr>
              <a:t>Diplomatie &amp; Affaires Internationales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1F248A3-7C65-46D2-9494-BE2417430BEA}"/>
              </a:ext>
            </a:extLst>
          </p:cNvPr>
          <p:cNvSpPr>
            <a:spLocks noGrp="1"/>
          </p:cNvSpPr>
          <p:nvPr/>
        </p:nvSpPr>
        <p:spPr>
          <a:xfrm>
            <a:off x="571500" y="5867400"/>
            <a:ext cx="10668000" cy="342900"/>
          </a:xfrm>
          <a:prstGeom prst="rect">
            <a:avLst/>
          </a:prstGeom>
          <a:solidFill>
            <a:srgbClr val="16324F"/>
          </a:solidFill>
          <a:ln w="9525">
            <a:solidFill>
              <a:srgbClr val="16324F"/>
            </a:solidFill>
            <a:prstDash val="solid"/>
          </a:ln>
        </p:spPr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1FE30E0-7CA0-4654-8691-BC43370DE31A}"/>
              </a:ext>
            </a:extLst>
          </p:cNvPr>
          <p:cNvSpPr>
            <a:spLocks noGrp="1"/>
          </p:cNvSpPr>
          <p:nvPr/>
        </p:nvSpPr>
        <p:spPr>
          <a:xfrm>
            <a:off x="800100" y="5953125"/>
            <a:ext cx="102108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63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Formats disponibles sur le site : présentiel, hybride et en ligne, avec logique de parcours métier et possibilité de certification selon les offres.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BB06573-B08A-4BEB-9804-AE9CAD25DFED}"/>
              </a:ext>
            </a:extLst>
          </p:cNvPr>
          <p:cNvSpPr>
            <a:spLocks noGrp="1"/>
          </p:cNvSpPr>
          <p:nvPr/>
        </p:nvSpPr>
        <p:spPr>
          <a:xfrm>
            <a:off x="571500" y="6477000"/>
            <a:ext cx="11049000" cy="9525"/>
          </a:xfrm>
          <a:prstGeom prst="rect">
            <a:avLst/>
          </a:prstGeom>
          <a:solidFill>
            <a:srgbClr val="D9D3CC"/>
          </a:solidFill>
          <a:ln w="0">
            <a:solidFill>
              <a:srgbClr val="D9D3CC"/>
            </a:solidFill>
            <a:prstDash val="solid"/>
          </a:ln>
        </p:spPr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8EB0722-7D35-4E29-A0DA-3F7A1DB1CC35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9334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Le catalogue renforce la crédibilité commerciale : il montre que TransferAI peut former dans la durée après la phase de cadrage.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9CE125F-36F6-448D-8CCC-B9A34EB25200}"/>
              </a:ext>
            </a:extLst>
          </p:cNvPr>
          <p:cNvSpPr>
            <a:spLocks noGrp="1"/>
          </p:cNvSpPr>
          <p:nvPr/>
        </p:nvSpPr>
        <p:spPr>
          <a:xfrm>
            <a:off x="10858500" y="6534150"/>
            <a:ext cx="571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10213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0213D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230078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9D473D9B-9D23-47A5-B978-568B41392E9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E"/>
          </a:solidFill>
          <a:ln w="0">
            <a:solidFill>
              <a:srgbClr val="F7F3EE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5D7D217-2FEC-4AB7-91B6-797D83D5C3ED}"/>
              </a:ext>
            </a:extLst>
          </p:cNvPr>
          <p:cNvSpPr>
            <a:spLocks noGrp="1"/>
          </p:cNvSpPr>
          <p:nvPr/>
        </p:nvSpPr>
        <p:spPr>
          <a:xfrm>
            <a:off x="571500" y="381000"/>
            <a:ext cx="2667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1">
                <a:solidFill>
                  <a:srgbClr val="D66724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D66724"/>
                </a:solidFill>
                <a:latin typeface="Aptos"/>
                <a:ea typeface="Aptos"/>
                <a:cs typeface="Aptos"/>
              </a:rPr>
              <a:t>AUDIT GRATUIT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C3EA70-93FC-4749-8372-DCD599F074EE}"/>
              </a:ext>
            </a:extLst>
          </p:cNvPr>
          <p:cNvSpPr>
            <a:spLocks noGrp="1"/>
          </p:cNvSpPr>
          <p:nvPr/>
        </p:nvSpPr>
        <p:spPr>
          <a:xfrm>
            <a:off x="571500" y="742950"/>
            <a:ext cx="7239000" cy="762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L'entrée idéale pour démarrer : l'audit IA gratuit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D95BA-7906-4350-8BC0-7E4A12EDB269}"/>
              </a:ext>
            </a:extLst>
          </p:cNvPr>
          <p:cNvSpPr>
            <a:spLocks noGrp="1"/>
          </p:cNvSpPr>
          <p:nvPr/>
        </p:nvSpPr>
        <p:spPr>
          <a:xfrm>
            <a:off x="571500" y="1790700"/>
            <a:ext cx="4762500" cy="361950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BDCCE33-8FB4-4CCB-8710-F3AF48854A35}"/>
              </a:ext>
            </a:extLst>
          </p:cNvPr>
          <p:cNvSpPr>
            <a:spLocks noGrp="1"/>
          </p:cNvSpPr>
          <p:nvPr/>
        </p:nvSpPr>
        <p:spPr>
          <a:xfrm>
            <a:off x="819150" y="2038350"/>
            <a:ext cx="2095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1">
                <a:solidFill>
                  <a:srgbClr val="D66724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D66724"/>
                </a:solidFill>
                <a:latin typeface="Aptos"/>
                <a:ea typeface="Aptos"/>
                <a:cs typeface="Aptos"/>
              </a:rPr>
              <a:t>Ce que l'entreprise obtient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6088E4-6415-440E-B272-6592EB6C4CFA}"/>
              </a:ext>
            </a:extLst>
          </p:cNvPr>
          <p:cNvSpPr>
            <a:spLocks noGrp="1"/>
          </p:cNvSpPr>
          <p:nvPr/>
        </p:nvSpPr>
        <p:spPr>
          <a:xfrm>
            <a:off x="819150" y="240030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D667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66724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2D85B4-5D6F-4873-A6F5-4CA50D8D7530}"/>
              </a:ext>
            </a:extLst>
          </p:cNvPr>
          <p:cNvSpPr>
            <a:spLocks noGrp="1"/>
          </p:cNvSpPr>
          <p:nvPr/>
        </p:nvSpPr>
        <p:spPr>
          <a:xfrm>
            <a:off x="1009650" y="2381250"/>
            <a:ext cx="40005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Diagnostic synthétique des priorités IA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77A40E-D3B5-4BEB-BBB6-159F739AADFC}"/>
              </a:ext>
            </a:extLst>
          </p:cNvPr>
          <p:cNvSpPr>
            <a:spLocks noGrp="1"/>
          </p:cNvSpPr>
          <p:nvPr/>
        </p:nvSpPr>
        <p:spPr>
          <a:xfrm>
            <a:off x="819150" y="293370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D667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66724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6E5538-8AB7-4123-A53F-22BDA3CDA9A6}"/>
              </a:ext>
            </a:extLst>
          </p:cNvPr>
          <p:cNvSpPr>
            <a:spLocks noGrp="1"/>
          </p:cNvSpPr>
          <p:nvPr/>
        </p:nvSpPr>
        <p:spPr>
          <a:xfrm>
            <a:off x="1009650" y="2914650"/>
            <a:ext cx="40005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Irritants et opportunités les plus pertinents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F3214D6-6789-4AB5-BAEB-5C070B52976D}"/>
              </a:ext>
            </a:extLst>
          </p:cNvPr>
          <p:cNvSpPr>
            <a:spLocks noGrp="1"/>
          </p:cNvSpPr>
          <p:nvPr/>
        </p:nvSpPr>
        <p:spPr>
          <a:xfrm>
            <a:off x="819150" y="346710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D667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66724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962A8D0-0DFF-42A9-8744-79AA4DFD9015}"/>
              </a:ext>
            </a:extLst>
          </p:cNvPr>
          <p:cNvSpPr>
            <a:spLocks noGrp="1"/>
          </p:cNvSpPr>
          <p:nvPr/>
        </p:nvSpPr>
        <p:spPr>
          <a:xfrm>
            <a:off x="1009650" y="3448050"/>
            <a:ext cx="40005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Cas d'usage concrets par équipe ou métier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2A3536-F395-42AA-8CAA-91B9985BE1CD}"/>
              </a:ext>
            </a:extLst>
          </p:cNvPr>
          <p:cNvSpPr>
            <a:spLocks noGrp="1"/>
          </p:cNvSpPr>
          <p:nvPr/>
        </p:nvSpPr>
        <p:spPr>
          <a:xfrm>
            <a:off x="819150" y="400050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D667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66724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FD4A3E4-A4D4-43D2-8C0A-CE73CBAF7D73}"/>
              </a:ext>
            </a:extLst>
          </p:cNvPr>
          <p:cNvSpPr>
            <a:spLocks noGrp="1"/>
          </p:cNvSpPr>
          <p:nvPr/>
        </p:nvSpPr>
        <p:spPr>
          <a:xfrm>
            <a:off x="1009650" y="3981450"/>
            <a:ext cx="40005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Première feuille de route 30 / 60 / 90 jours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DCAF656-6F5F-4ED2-A01D-19B9B72391E0}"/>
              </a:ext>
            </a:extLst>
          </p:cNvPr>
          <p:cNvSpPr>
            <a:spLocks noGrp="1"/>
          </p:cNvSpPr>
          <p:nvPr/>
        </p:nvSpPr>
        <p:spPr>
          <a:xfrm>
            <a:off x="819150" y="453390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D667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66724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31989E8-43B2-4D1D-ADF6-B20CBE676110}"/>
              </a:ext>
            </a:extLst>
          </p:cNvPr>
          <p:cNvSpPr>
            <a:spLocks noGrp="1"/>
          </p:cNvSpPr>
          <p:nvPr/>
        </p:nvSpPr>
        <p:spPr>
          <a:xfrm>
            <a:off x="1009650" y="4514850"/>
            <a:ext cx="40005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Orientation vers la bonne suite : formation, accompagnement ou solution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BAE0558-02A7-4B63-A80E-868B2973A2E6}"/>
              </a:ext>
            </a:extLst>
          </p:cNvPr>
          <p:cNvSpPr>
            <a:spLocks noGrp="1"/>
          </p:cNvSpPr>
          <p:nvPr/>
        </p:nvSpPr>
        <p:spPr>
          <a:xfrm>
            <a:off x="5810250" y="1790700"/>
            <a:ext cx="5429250" cy="1695450"/>
          </a:xfrm>
          <a:prstGeom prst="rect">
            <a:avLst/>
          </a:prstGeom>
          <a:solidFill>
            <a:srgbClr val="16324F"/>
          </a:solidFill>
          <a:ln w="9525">
            <a:solidFill>
              <a:srgbClr val="16324F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5B10BDE-2D2D-4CD9-B9D3-80D6BEC85824}"/>
              </a:ext>
            </a:extLst>
          </p:cNvPr>
          <p:cNvSpPr>
            <a:spLocks noGrp="1"/>
          </p:cNvSpPr>
          <p:nvPr/>
        </p:nvSpPr>
        <p:spPr>
          <a:xfrm>
            <a:off x="6096000" y="2038350"/>
            <a:ext cx="2095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1">
                <a:solidFill>
                  <a:srgbClr val="D7E2EE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D7E2EE"/>
                </a:solidFill>
                <a:latin typeface="Aptos"/>
                <a:ea typeface="Aptos"/>
                <a:cs typeface="Aptos"/>
              </a:rPr>
              <a:t>Message fort à faire ressortir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C9C49EA-D154-48DA-9B4C-61AEDED0F86C}"/>
              </a:ext>
            </a:extLst>
          </p:cNvPr>
          <p:cNvSpPr>
            <a:spLocks noGrp="1"/>
          </p:cNvSpPr>
          <p:nvPr/>
        </p:nvSpPr>
        <p:spPr>
          <a:xfrm>
            <a:off x="6096000" y="2324100"/>
            <a:ext cx="45720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Rendez-vous expert gratuit de 30 à 45 minutes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1772034-A820-4C59-987E-F92FB6C809B1}"/>
              </a:ext>
            </a:extLst>
          </p:cNvPr>
          <p:cNvSpPr>
            <a:spLocks noGrp="1"/>
          </p:cNvSpPr>
          <p:nvPr/>
        </p:nvSpPr>
        <p:spPr>
          <a:xfrm>
            <a:off x="6096000" y="2990850"/>
            <a:ext cx="4476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EDF3FA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EDF3FA"/>
                </a:solidFill>
                <a:latin typeface="Aptos"/>
                <a:ea typeface="Aptos"/>
                <a:cs typeface="Aptos"/>
              </a:rPr>
              <a:t>Un échange de cadrage pour clarifier le besoin, identifier les gains rapides et décider de la meilleure suite sans perdre de temps.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F7C19E-D72F-4D2E-88FD-7C7A9DC5140F}"/>
              </a:ext>
            </a:extLst>
          </p:cNvPr>
          <p:cNvSpPr>
            <a:spLocks noGrp="1"/>
          </p:cNvSpPr>
          <p:nvPr/>
        </p:nvSpPr>
        <p:spPr>
          <a:xfrm>
            <a:off x="5810250" y="3714750"/>
            <a:ext cx="5429250" cy="1866900"/>
          </a:xfrm>
          <a:prstGeom prst="rect">
            <a:avLst/>
          </a:prstGeom>
          <a:solidFill>
            <a:srgbClr val="FFF7F1"/>
          </a:solidFill>
          <a:ln w="9525">
            <a:solidFill>
              <a:srgbClr val="FFF7F1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86A337-CA6D-46D1-85EA-ABC9258012CA}"/>
              </a:ext>
            </a:extLst>
          </p:cNvPr>
          <p:cNvSpPr>
            <a:spLocks noGrp="1"/>
          </p:cNvSpPr>
          <p:nvPr/>
        </p:nvSpPr>
        <p:spPr>
          <a:xfrm>
            <a:off x="6096000" y="3962400"/>
            <a:ext cx="2095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1">
                <a:solidFill>
                  <a:srgbClr val="D66724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D66724"/>
                </a:solidFill>
                <a:latin typeface="Aptos"/>
                <a:ea typeface="Aptos"/>
                <a:cs typeface="Aptos"/>
              </a:rPr>
              <a:t>Preuves visibles sur le site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58AEC56-A2EC-441D-B2B0-ED445A8DFF5F}"/>
              </a:ext>
            </a:extLst>
          </p:cNvPr>
          <p:cNvSpPr>
            <a:spLocks noGrp="1"/>
          </p:cNvSpPr>
          <p:nvPr/>
        </p:nvSpPr>
        <p:spPr>
          <a:xfrm>
            <a:off x="6096000" y="432435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1">
                <a:solidFill>
                  <a:srgbClr val="D66724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D66724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41BE85-EECE-427E-8FFE-2818D45D44C4}"/>
              </a:ext>
            </a:extLst>
          </p:cNvPr>
          <p:cNvSpPr>
            <a:spLocks noGrp="1"/>
          </p:cNvSpPr>
          <p:nvPr/>
        </p:nvSpPr>
        <p:spPr>
          <a:xfrm>
            <a:off x="6286500" y="430530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100% gratuit et sans engagement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924E62C-AAC2-467C-8324-9AC218D71637}"/>
              </a:ext>
            </a:extLst>
          </p:cNvPr>
          <p:cNvSpPr>
            <a:spLocks noGrp="1"/>
          </p:cNvSpPr>
          <p:nvPr/>
        </p:nvSpPr>
        <p:spPr>
          <a:xfrm>
            <a:off x="6096000" y="462915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1">
                <a:solidFill>
                  <a:srgbClr val="D66724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D66724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2055D7A-4862-4526-A681-C75D4130EDBF}"/>
              </a:ext>
            </a:extLst>
          </p:cNvPr>
          <p:cNvSpPr>
            <a:spLocks noGrp="1"/>
          </p:cNvSpPr>
          <p:nvPr/>
        </p:nvSpPr>
        <p:spPr>
          <a:xfrm>
            <a:off x="6286500" y="461010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Pensé pour les entreprises en Côte d'Ivoire et en Afrique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D71AD0-0CBE-4491-B799-6B53D5CDF87E}"/>
              </a:ext>
            </a:extLst>
          </p:cNvPr>
          <p:cNvSpPr>
            <a:spLocks noGrp="1"/>
          </p:cNvSpPr>
          <p:nvPr/>
        </p:nvSpPr>
        <p:spPr>
          <a:xfrm>
            <a:off x="6096000" y="493395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1">
                <a:solidFill>
                  <a:srgbClr val="D66724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D66724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34F7C9D-CE58-42F0-A97A-C3E718CD6A3A}"/>
              </a:ext>
            </a:extLst>
          </p:cNvPr>
          <p:cNvSpPr>
            <a:spLocks noGrp="1"/>
          </p:cNvSpPr>
          <p:nvPr/>
        </p:nvSpPr>
        <p:spPr>
          <a:xfrm>
            <a:off x="6286500" y="491490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Accusé de réception immédiat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08EBB5-EF55-44B5-97DE-C3DC0AD605A0}"/>
              </a:ext>
            </a:extLst>
          </p:cNvPr>
          <p:cNvSpPr>
            <a:spLocks noGrp="1"/>
          </p:cNvSpPr>
          <p:nvPr/>
        </p:nvSpPr>
        <p:spPr>
          <a:xfrm>
            <a:off x="6096000" y="523875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1">
                <a:solidFill>
                  <a:srgbClr val="D66724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D66724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60AB37B-7B7B-4AD0-B8EA-8C98FB83B87E}"/>
              </a:ext>
            </a:extLst>
          </p:cNvPr>
          <p:cNvSpPr>
            <a:spLocks noGrp="1"/>
          </p:cNvSpPr>
          <p:nvPr/>
        </p:nvSpPr>
        <p:spPr>
          <a:xfrm>
            <a:off x="6286500" y="521970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Accès au formulaire d'audit sous environ 30 minutes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06F4A58-3F25-4836-9FE2-E53E01ADC114}"/>
              </a:ext>
            </a:extLst>
          </p:cNvPr>
          <p:cNvSpPr>
            <a:spLocks noGrp="1"/>
          </p:cNvSpPr>
          <p:nvPr/>
        </p:nvSpPr>
        <p:spPr>
          <a:xfrm>
            <a:off x="571500" y="5676900"/>
            <a:ext cx="10668000" cy="40005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9CF5CFD-4C8D-442E-9F4B-6AA83E550219}"/>
              </a:ext>
            </a:extLst>
          </p:cNvPr>
          <p:cNvSpPr>
            <a:spLocks noGrp="1"/>
          </p:cNvSpPr>
          <p:nvPr/>
        </p:nvSpPr>
        <p:spPr>
          <a:xfrm>
            <a:off x="800100" y="5791200"/>
            <a:ext cx="10191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63" b="1">
                <a:solidFill>
                  <a:srgbClr val="10213D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0213D"/>
                </a:solidFill>
                <a:latin typeface="Aptos"/>
                <a:ea typeface="Aptos"/>
                <a:cs typeface="Aptos"/>
              </a:rPr>
              <a:t>Demande rapide  →  Questionnaire d'audit  →  Échange expert  →  Plan d'action proposé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99B8FAD-9F99-4349-9F7E-3BA782424A11}"/>
              </a:ext>
            </a:extLst>
          </p:cNvPr>
          <p:cNvSpPr>
            <a:spLocks noGrp="1"/>
          </p:cNvSpPr>
          <p:nvPr/>
        </p:nvSpPr>
        <p:spPr>
          <a:xfrm>
            <a:off x="571500" y="6477000"/>
            <a:ext cx="11049000" cy="9525"/>
          </a:xfrm>
          <a:prstGeom prst="rect">
            <a:avLst/>
          </a:prstGeom>
          <a:solidFill>
            <a:srgbClr val="D9D3CC"/>
          </a:solidFill>
          <a:ln w="0">
            <a:solidFill>
              <a:srgbClr val="D9D3CC"/>
            </a:solidFill>
            <a:prstDash val="solid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B755BDC-169D-4092-8521-906DAD785DA5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9334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L'audit gratuit sert d'ouverture commerciale, de filtre de qualité et de point de départ pour la bonne suite.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6EC5B28-AB06-4936-BEA0-3EA947FB3F68}"/>
              </a:ext>
            </a:extLst>
          </p:cNvPr>
          <p:cNvSpPr>
            <a:spLocks noGrp="1"/>
          </p:cNvSpPr>
          <p:nvPr/>
        </p:nvSpPr>
        <p:spPr>
          <a:xfrm>
            <a:off x="10858500" y="6534150"/>
            <a:ext cx="571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10213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0213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696373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D6C15BE7-E94A-4055-AB70-D5052EE505E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DFC"/>
          </a:solidFill>
          <a:ln w="0">
            <a:solidFill>
              <a:srgbClr val="FFFDF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628F61E-F384-437E-B201-18A6EACE72BF}"/>
              </a:ext>
            </a:extLst>
          </p:cNvPr>
          <p:cNvSpPr>
            <a:spLocks noGrp="1"/>
          </p:cNvSpPr>
          <p:nvPr/>
        </p:nvSpPr>
        <p:spPr>
          <a:xfrm>
            <a:off x="571500" y="381000"/>
            <a:ext cx="2667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1">
                <a:solidFill>
                  <a:srgbClr val="D66724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D66724"/>
                </a:solidFill>
                <a:latin typeface="Aptos"/>
                <a:ea typeface="Aptos"/>
                <a:cs typeface="Aptos"/>
              </a:rPr>
              <a:t>PARCOURS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FAE06F1-76F6-4898-ACC3-CC4A176BDD12}"/>
              </a:ext>
            </a:extLst>
          </p:cNvPr>
          <p:cNvSpPr>
            <a:spLocks noGrp="1"/>
          </p:cNvSpPr>
          <p:nvPr/>
        </p:nvSpPr>
        <p:spPr>
          <a:xfrm>
            <a:off x="571500" y="742950"/>
            <a:ext cx="6477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Notre séquence d'accompagnement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199E704-CC46-45F7-ABA7-DC57C54506E8}"/>
              </a:ext>
            </a:extLst>
          </p:cNvPr>
          <p:cNvSpPr>
            <a:spLocks noGrp="1"/>
          </p:cNvSpPr>
          <p:nvPr/>
        </p:nvSpPr>
        <p:spPr>
          <a:xfrm>
            <a:off x="571500" y="1333500"/>
            <a:ext cx="6096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Le but n'est pas de vendre tout en même temps. Le but est d'enchaîner les étapes utiles dans le bon ordre.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089D73B-1240-439C-A3D5-44CFA55C44DE}"/>
              </a:ext>
            </a:extLst>
          </p:cNvPr>
          <p:cNvSpPr>
            <a:spLocks noGrp="1"/>
          </p:cNvSpPr>
          <p:nvPr/>
        </p:nvSpPr>
        <p:spPr>
          <a:xfrm>
            <a:off x="571500" y="2038350"/>
            <a:ext cx="2286000" cy="2095500"/>
          </a:xfrm>
          <a:prstGeom prst="rect">
            <a:avLst/>
          </a:prstGeom>
          <a:solidFill>
            <a:srgbClr val="F7F3EE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4E0D1C-9E24-4DDB-BCAB-B6EB71483727}"/>
              </a:ext>
            </a:extLst>
          </p:cNvPr>
          <p:cNvSpPr>
            <a:spLocks noGrp="1"/>
          </p:cNvSpPr>
          <p:nvPr/>
        </p:nvSpPr>
        <p:spPr>
          <a:xfrm>
            <a:off x="800100" y="2247900"/>
            <a:ext cx="4191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2FB67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FB67E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CF7549-1E33-4B6A-B9DD-51F87DFD12B5}"/>
              </a:ext>
            </a:extLst>
          </p:cNvPr>
          <p:cNvSpPr>
            <a:spLocks noGrp="1"/>
          </p:cNvSpPr>
          <p:nvPr/>
        </p:nvSpPr>
        <p:spPr>
          <a:xfrm>
            <a:off x="800100" y="2571750"/>
            <a:ext cx="1809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1. Écoute &amp; audit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ADFF2F2-4072-4021-B8E1-7864490D9564}"/>
              </a:ext>
            </a:extLst>
          </p:cNvPr>
          <p:cNvSpPr>
            <a:spLocks noGrp="1"/>
          </p:cNvSpPr>
          <p:nvPr/>
        </p:nvSpPr>
        <p:spPr>
          <a:xfrm>
            <a:off x="800100" y="3086100"/>
            <a:ext cx="180975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Comprendre le contexte, les irritants, les outils et les objectifs.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009AF9D-BFD1-4A3E-9B58-1CCFC6A76EE3}"/>
              </a:ext>
            </a:extLst>
          </p:cNvPr>
          <p:cNvSpPr>
            <a:spLocks noGrp="1"/>
          </p:cNvSpPr>
          <p:nvPr/>
        </p:nvSpPr>
        <p:spPr>
          <a:xfrm>
            <a:off x="3238500" y="2038350"/>
            <a:ext cx="2286000" cy="2095500"/>
          </a:xfrm>
          <a:prstGeom prst="rect">
            <a:avLst/>
          </a:prstGeom>
          <a:solidFill>
            <a:srgbClr val="FFF7F1"/>
          </a:solidFill>
          <a:ln w="9525">
            <a:solidFill>
              <a:srgbClr val="FFF7F1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178BFF-DFB0-4F38-82BA-1EB7DFDA4E28}"/>
              </a:ext>
            </a:extLst>
          </p:cNvPr>
          <p:cNvSpPr>
            <a:spLocks noGrp="1"/>
          </p:cNvSpPr>
          <p:nvPr/>
        </p:nvSpPr>
        <p:spPr>
          <a:xfrm>
            <a:off x="3467100" y="2247900"/>
            <a:ext cx="4191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D6672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66724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ED6629-A9FF-4EA3-901D-264AC4688217}"/>
              </a:ext>
            </a:extLst>
          </p:cNvPr>
          <p:cNvSpPr>
            <a:spLocks noGrp="1"/>
          </p:cNvSpPr>
          <p:nvPr/>
        </p:nvSpPr>
        <p:spPr>
          <a:xfrm>
            <a:off x="3467100" y="2571750"/>
            <a:ext cx="1809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2. Priorisation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642DAE-8CCC-421C-9E19-D8F3A1B8E20F}"/>
              </a:ext>
            </a:extLst>
          </p:cNvPr>
          <p:cNvSpPr>
            <a:spLocks noGrp="1"/>
          </p:cNvSpPr>
          <p:nvPr/>
        </p:nvSpPr>
        <p:spPr>
          <a:xfrm>
            <a:off x="3467100" y="3086100"/>
            <a:ext cx="180975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Choisir les cas d'usage qui créent un effet visible et réaliste.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67D13A0-8514-413A-8B1F-A3ED0437375F}"/>
              </a:ext>
            </a:extLst>
          </p:cNvPr>
          <p:cNvSpPr>
            <a:spLocks noGrp="1"/>
          </p:cNvSpPr>
          <p:nvPr/>
        </p:nvSpPr>
        <p:spPr>
          <a:xfrm>
            <a:off x="5905500" y="2038350"/>
            <a:ext cx="2286000" cy="2095500"/>
          </a:xfrm>
          <a:prstGeom prst="rect">
            <a:avLst/>
          </a:prstGeom>
          <a:solidFill>
            <a:srgbClr val="F7F3EE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C892390-DAD4-4CF7-91C2-5872EEA2303D}"/>
              </a:ext>
            </a:extLst>
          </p:cNvPr>
          <p:cNvSpPr>
            <a:spLocks noGrp="1"/>
          </p:cNvSpPr>
          <p:nvPr/>
        </p:nvSpPr>
        <p:spPr>
          <a:xfrm>
            <a:off x="6134100" y="2247900"/>
            <a:ext cx="4191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2FB67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FB67E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E858CE-20B0-4C88-ADE0-367D0E0461A8}"/>
              </a:ext>
            </a:extLst>
          </p:cNvPr>
          <p:cNvSpPr>
            <a:spLocks noGrp="1"/>
          </p:cNvSpPr>
          <p:nvPr/>
        </p:nvSpPr>
        <p:spPr>
          <a:xfrm>
            <a:off x="6134100" y="2571750"/>
            <a:ext cx="1809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3. Exécution adaptée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247250-A25D-4F70-A2D5-133BC6B77938}"/>
              </a:ext>
            </a:extLst>
          </p:cNvPr>
          <p:cNvSpPr>
            <a:spLocks noGrp="1"/>
          </p:cNvSpPr>
          <p:nvPr/>
        </p:nvSpPr>
        <p:spPr>
          <a:xfrm>
            <a:off x="6134100" y="3086100"/>
            <a:ext cx="180975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Former, piloter un premier cas d'usage ou déployer une solution selon le besoin.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0953227-86D9-4E0A-AEE7-47F6DD4568AD}"/>
              </a:ext>
            </a:extLst>
          </p:cNvPr>
          <p:cNvSpPr>
            <a:spLocks noGrp="1"/>
          </p:cNvSpPr>
          <p:nvPr/>
        </p:nvSpPr>
        <p:spPr>
          <a:xfrm>
            <a:off x="8572500" y="2038350"/>
            <a:ext cx="2286000" cy="2095500"/>
          </a:xfrm>
          <a:prstGeom prst="rect">
            <a:avLst/>
          </a:prstGeom>
          <a:solidFill>
            <a:srgbClr val="F7F3EE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5F75519-E868-425A-95EF-2E0DE5AAAF00}"/>
              </a:ext>
            </a:extLst>
          </p:cNvPr>
          <p:cNvSpPr>
            <a:spLocks noGrp="1"/>
          </p:cNvSpPr>
          <p:nvPr/>
        </p:nvSpPr>
        <p:spPr>
          <a:xfrm>
            <a:off x="8801100" y="2247900"/>
            <a:ext cx="4191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2FB67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FB67E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9DD90BB-D03F-411A-A1F5-FE8A8CCACD22}"/>
              </a:ext>
            </a:extLst>
          </p:cNvPr>
          <p:cNvSpPr>
            <a:spLocks noGrp="1"/>
          </p:cNvSpPr>
          <p:nvPr/>
        </p:nvSpPr>
        <p:spPr>
          <a:xfrm>
            <a:off x="8801100" y="2571750"/>
            <a:ext cx="1809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4. Suivi &amp; montée en puissance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40ECCB-B0F0-4BCB-9073-2D5CB735B6CA}"/>
              </a:ext>
            </a:extLst>
          </p:cNvPr>
          <p:cNvSpPr>
            <a:spLocks noGrp="1"/>
          </p:cNvSpPr>
          <p:nvPr/>
        </p:nvSpPr>
        <p:spPr>
          <a:xfrm>
            <a:off x="8801100" y="3086100"/>
            <a:ext cx="180975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Mesurer, ajuster et élargir ce qui fonctionne.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879321-064B-4DB8-81B9-F3E6BC183C69}"/>
              </a:ext>
            </a:extLst>
          </p:cNvPr>
          <p:cNvSpPr>
            <a:spLocks noGrp="1"/>
          </p:cNvSpPr>
          <p:nvPr/>
        </p:nvSpPr>
        <p:spPr>
          <a:xfrm>
            <a:off x="571500" y="4686300"/>
            <a:ext cx="10668000" cy="1143000"/>
          </a:xfrm>
          <a:prstGeom prst="rect">
            <a:avLst/>
          </a:prstGeom>
          <a:solidFill>
            <a:srgbClr val="16324F"/>
          </a:solidFill>
          <a:ln w="9525">
            <a:solidFill>
              <a:srgbClr val="16324F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992F7AB-D3C1-4F08-B9E8-5B407439A547}"/>
              </a:ext>
            </a:extLst>
          </p:cNvPr>
          <p:cNvSpPr>
            <a:spLocks noGrp="1"/>
          </p:cNvSpPr>
          <p:nvPr/>
        </p:nvSpPr>
        <p:spPr>
          <a:xfrm>
            <a:off x="838200" y="4914900"/>
            <a:ext cx="1524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1">
                <a:solidFill>
                  <a:srgbClr val="D7E2EE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D7E2EE"/>
                </a:solidFill>
                <a:latin typeface="Aptos"/>
                <a:ea typeface="Aptos"/>
                <a:cs typeface="Aptos"/>
              </a:rPr>
              <a:t>Résultats recherchés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85109F9-DD0C-451E-8E24-C0D2F44EBAA3}"/>
              </a:ext>
            </a:extLst>
          </p:cNvPr>
          <p:cNvSpPr>
            <a:spLocks noGrp="1"/>
          </p:cNvSpPr>
          <p:nvPr/>
        </p:nvSpPr>
        <p:spPr>
          <a:xfrm>
            <a:off x="838200" y="5219700"/>
            <a:ext cx="1333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7D9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7D9C8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4C9B1BF-F53E-4F2C-AC7A-EBD90B6E4C22}"/>
              </a:ext>
            </a:extLst>
          </p:cNvPr>
          <p:cNvSpPr>
            <a:spLocks noGrp="1"/>
          </p:cNvSpPr>
          <p:nvPr/>
        </p:nvSpPr>
        <p:spPr>
          <a:xfrm>
            <a:off x="1009650" y="5200650"/>
            <a:ext cx="4381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Réduction du temps passé sur les tâches répétitives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186270-07D7-488A-875D-32FE0492E612}"/>
              </a:ext>
            </a:extLst>
          </p:cNvPr>
          <p:cNvSpPr>
            <a:spLocks noGrp="1"/>
          </p:cNvSpPr>
          <p:nvPr/>
        </p:nvSpPr>
        <p:spPr>
          <a:xfrm>
            <a:off x="5695950" y="5219700"/>
            <a:ext cx="1333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7D9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7D9C8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342258B-3085-425F-BCC9-912B1D054056}"/>
              </a:ext>
            </a:extLst>
          </p:cNvPr>
          <p:cNvSpPr>
            <a:spLocks noGrp="1"/>
          </p:cNvSpPr>
          <p:nvPr/>
        </p:nvSpPr>
        <p:spPr>
          <a:xfrm>
            <a:off x="5867400" y="5200650"/>
            <a:ext cx="4381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Montée en compétences des équipes et managers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9531E6-0D4A-40BA-951C-7ED94D43D8DF}"/>
              </a:ext>
            </a:extLst>
          </p:cNvPr>
          <p:cNvSpPr>
            <a:spLocks noGrp="1"/>
          </p:cNvSpPr>
          <p:nvPr/>
        </p:nvSpPr>
        <p:spPr>
          <a:xfrm>
            <a:off x="838200" y="5486400"/>
            <a:ext cx="1333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7D9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7D9C8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40AE5CA-9978-4510-B84B-B3B0F34E7692}"/>
              </a:ext>
            </a:extLst>
          </p:cNvPr>
          <p:cNvSpPr>
            <a:spLocks noGrp="1"/>
          </p:cNvSpPr>
          <p:nvPr/>
        </p:nvSpPr>
        <p:spPr>
          <a:xfrm>
            <a:off x="1009650" y="5467350"/>
            <a:ext cx="4381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Décisions mieux structurées et plus rapides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7818733-C6C7-411D-937D-E8BF9DBFE9E3}"/>
              </a:ext>
            </a:extLst>
          </p:cNvPr>
          <p:cNvSpPr>
            <a:spLocks noGrp="1"/>
          </p:cNvSpPr>
          <p:nvPr/>
        </p:nvSpPr>
        <p:spPr>
          <a:xfrm>
            <a:off x="5695950" y="5486400"/>
            <a:ext cx="1333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7D9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7D9C8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95057E8-91BB-44AA-AE33-EFAC0816D416}"/>
              </a:ext>
            </a:extLst>
          </p:cNvPr>
          <p:cNvSpPr>
            <a:spLocks noGrp="1"/>
          </p:cNvSpPr>
          <p:nvPr/>
        </p:nvSpPr>
        <p:spPr>
          <a:xfrm>
            <a:off x="5867400" y="5467350"/>
            <a:ext cx="4381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ROI plus visible grâce à des cas d'usage ciblés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D08902E-95A7-4069-9CF0-8B99A190BC08}"/>
              </a:ext>
            </a:extLst>
          </p:cNvPr>
          <p:cNvSpPr>
            <a:spLocks noGrp="1"/>
          </p:cNvSpPr>
          <p:nvPr/>
        </p:nvSpPr>
        <p:spPr>
          <a:xfrm>
            <a:off x="571500" y="6477000"/>
            <a:ext cx="11049000" cy="9525"/>
          </a:xfrm>
          <a:prstGeom prst="rect">
            <a:avLst/>
          </a:prstGeom>
          <a:solidFill>
            <a:srgbClr val="D9D3CC"/>
          </a:solidFill>
          <a:ln w="0">
            <a:solidFill>
              <a:srgbClr val="D9D3CC"/>
            </a:solidFill>
            <a:prstDash val="solid"/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0FA19ED-7596-4067-B887-A016EE18D03A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9334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Séquence recommandée : audit, priorisation, exécution adaptée, puis montée en puissance si le premier signal est bon.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49DD4A7-1008-4243-A80E-AB856E95A0FF}"/>
              </a:ext>
            </a:extLst>
          </p:cNvPr>
          <p:cNvSpPr>
            <a:spLocks noGrp="1"/>
          </p:cNvSpPr>
          <p:nvPr/>
        </p:nvSpPr>
        <p:spPr>
          <a:xfrm>
            <a:off x="10858500" y="6534150"/>
            <a:ext cx="571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10213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0213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772984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0FB5194F-1BE0-44B6-AF11-3630E1D5155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E"/>
          </a:solidFill>
          <a:ln w="0">
            <a:solidFill>
              <a:srgbClr val="F7F3EE"/>
            </a:solidFill>
            <a:prstDash val="solid"/>
          </a:ln>
        </p:spPr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45127" y="552450"/>
            <a:ext cx="1557746" cy="6858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34F6479-1BCE-4A8D-9080-720B4D22BB5F}"/>
              </a:ext>
            </a:extLst>
          </p:cNvPr>
          <p:cNvSpPr>
            <a:spLocks noGrp="1"/>
          </p:cNvSpPr>
          <p:nvPr/>
        </p:nvSpPr>
        <p:spPr>
          <a:xfrm>
            <a:off x="571500" y="1390650"/>
            <a:ext cx="1714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1">
                <a:solidFill>
                  <a:srgbClr val="D66724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D66724"/>
                </a:solidFill>
                <a:latin typeface="Aptos"/>
                <a:ea typeface="Aptos"/>
                <a:cs typeface="Aptos"/>
              </a:rPr>
              <a:t>PROCHAINE ÉTAPE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23284F7-3201-4947-B605-BAC853D55EDA}"/>
              </a:ext>
            </a:extLst>
          </p:cNvPr>
          <p:cNvSpPr>
            <a:spLocks noGrp="1"/>
          </p:cNvSpPr>
          <p:nvPr/>
        </p:nvSpPr>
        <p:spPr>
          <a:xfrm>
            <a:off x="571500" y="1733550"/>
            <a:ext cx="5905500" cy="742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Présenter TransferAI, puis ouvrir sur une action simple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610630-373E-4FE3-B177-03627A254956}"/>
              </a:ext>
            </a:extLst>
          </p:cNvPr>
          <p:cNvSpPr>
            <a:spLocks noGrp="1"/>
          </p:cNvSpPr>
          <p:nvPr/>
        </p:nvSpPr>
        <p:spPr>
          <a:xfrm>
            <a:off x="571500" y="2647950"/>
            <a:ext cx="5905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Le message commercial le plus facile à faire passer : commençons par un audit IA gratuit et un rendez-vous expert de 30 à 45 minutes.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12CF23-0925-4416-A760-E7B6CC081056}"/>
              </a:ext>
            </a:extLst>
          </p:cNvPr>
          <p:cNvSpPr>
            <a:spLocks noGrp="1"/>
          </p:cNvSpPr>
          <p:nvPr/>
        </p:nvSpPr>
        <p:spPr>
          <a:xfrm>
            <a:off x="571500" y="3524250"/>
            <a:ext cx="5905500" cy="1676400"/>
          </a:xfrm>
          <a:prstGeom prst="rect">
            <a:avLst/>
          </a:prstGeom>
          <a:solidFill>
            <a:srgbClr val="16324F"/>
          </a:solidFill>
          <a:ln w="9525">
            <a:solidFill>
              <a:srgbClr val="16324F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B6DA58-92B3-48E5-AD64-A09E375F2321}"/>
              </a:ext>
            </a:extLst>
          </p:cNvPr>
          <p:cNvSpPr>
            <a:spLocks noGrp="1"/>
          </p:cNvSpPr>
          <p:nvPr/>
        </p:nvSpPr>
        <p:spPr>
          <a:xfrm>
            <a:off x="857250" y="3790950"/>
            <a:ext cx="3048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Appel à l'action recommandé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E38A121-F844-4376-B46D-D2841320CBBE}"/>
              </a:ext>
            </a:extLst>
          </p:cNvPr>
          <p:cNvSpPr>
            <a:spLocks noGrp="1"/>
          </p:cNvSpPr>
          <p:nvPr/>
        </p:nvSpPr>
        <p:spPr>
          <a:xfrm>
            <a:off x="857250" y="4267200"/>
            <a:ext cx="3238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1. Réserver un audit IA gratuit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DCED28-C217-453B-8576-78A285AF344C}"/>
              </a:ext>
            </a:extLst>
          </p:cNvPr>
          <p:cNvSpPr>
            <a:spLocks noGrp="1"/>
          </p:cNvSpPr>
          <p:nvPr/>
        </p:nvSpPr>
        <p:spPr>
          <a:xfrm>
            <a:off x="857250" y="4552950"/>
            <a:ext cx="400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2. Tenir un rendez-vous expert de 30 à 45 minutes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692A148-6A4B-4431-9AE9-4228EA78528B}"/>
              </a:ext>
            </a:extLst>
          </p:cNvPr>
          <p:cNvSpPr>
            <a:spLocks noGrp="1"/>
          </p:cNvSpPr>
          <p:nvPr/>
        </p:nvSpPr>
        <p:spPr>
          <a:xfrm>
            <a:off x="857250" y="4838700"/>
            <a:ext cx="4381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3. Recevoir une première orientation : formation, accompagnement ou solution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EF50D0D-C005-4F5C-B648-AFBDEEC354C7}"/>
              </a:ext>
            </a:extLst>
          </p:cNvPr>
          <p:cNvSpPr>
            <a:spLocks noGrp="1"/>
          </p:cNvSpPr>
          <p:nvPr/>
        </p:nvSpPr>
        <p:spPr>
          <a:xfrm>
            <a:off x="7067550" y="1333500"/>
            <a:ext cx="4171950" cy="4514850"/>
          </a:xfrm>
          <a:prstGeom prst="rect">
            <a:avLst/>
          </a:prstGeom>
          <a:solidFill>
            <a:srgbClr val="FFFDFC"/>
          </a:solidFill>
          <a:ln w="9525">
            <a:solidFill>
              <a:srgbClr val="D9D3CC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C497C7-ABDB-4FE9-A184-35853A7393A8}"/>
              </a:ext>
            </a:extLst>
          </p:cNvPr>
          <p:cNvSpPr>
            <a:spLocks noGrp="1"/>
          </p:cNvSpPr>
          <p:nvPr/>
        </p:nvSpPr>
        <p:spPr>
          <a:xfrm>
            <a:off x="7334250" y="1619250"/>
            <a:ext cx="266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Coordonnées à partager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63B582B-7C74-4BC8-990B-8118DFC72FB7}"/>
              </a:ext>
            </a:extLst>
          </p:cNvPr>
          <p:cNvSpPr>
            <a:spLocks noGrp="1"/>
          </p:cNvSpPr>
          <p:nvPr/>
        </p:nvSpPr>
        <p:spPr>
          <a:xfrm>
            <a:off x="7334250" y="2190750"/>
            <a:ext cx="3048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10213D"/>
                </a:solidFill>
                <a:latin typeface="Aptos Display"/>
                <a:ea typeface="Aptos Display"/>
                <a:cs typeface="Aptos Display"/>
              </a:rPr>
              <a:t>www.transferai.ci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0A5D093-59EA-4E08-A0EA-74F88E4AD0E3}"/>
              </a:ext>
            </a:extLst>
          </p:cNvPr>
          <p:cNvSpPr>
            <a:spLocks noGrp="1"/>
          </p:cNvSpPr>
          <p:nvPr/>
        </p:nvSpPr>
        <p:spPr>
          <a:xfrm>
            <a:off x="7334250" y="2590800"/>
            <a:ext cx="3048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contact@transferai.ci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0521CAF-58A3-4620-A02F-602B2092ABFC}"/>
              </a:ext>
            </a:extLst>
          </p:cNvPr>
          <p:cNvSpPr>
            <a:spLocks noGrp="1"/>
          </p:cNvSpPr>
          <p:nvPr/>
        </p:nvSpPr>
        <p:spPr>
          <a:xfrm>
            <a:off x="7334250" y="2933700"/>
            <a:ext cx="3048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+225 07 16 57 39 90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1D08CDF-CA8B-4192-A2B3-F48DB22DB46D}"/>
              </a:ext>
            </a:extLst>
          </p:cNvPr>
          <p:cNvSpPr>
            <a:spLocks noGrp="1"/>
          </p:cNvSpPr>
          <p:nvPr/>
        </p:nvSpPr>
        <p:spPr>
          <a:xfrm>
            <a:off x="7334250" y="3276600"/>
            <a:ext cx="3048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WhatsApp : +225 07 16 57 39 90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FE0B20B-9A66-4C7D-86EC-BBFA1010A939}"/>
              </a:ext>
            </a:extLst>
          </p:cNvPr>
          <p:cNvSpPr>
            <a:spLocks noGrp="1"/>
          </p:cNvSpPr>
          <p:nvPr/>
        </p:nvSpPr>
        <p:spPr>
          <a:xfrm>
            <a:off x="7334250" y="3619500"/>
            <a:ext cx="3048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linkedin.com/company/transfert-ai-africa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8F08114-C33A-49A4-8722-5A45C4A6EC61}"/>
              </a:ext>
            </a:extLst>
          </p:cNvPr>
          <p:cNvSpPr>
            <a:spLocks noGrp="1"/>
          </p:cNvSpPr>
          <p:nvPr/>
        </p:nvSpPr>
        <p:spPr>
          <a:xfrm>
            <a:off x="7334250" y="4076700"/>
            <a:ext cx="3333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Riviera 3, carrefour Sainte Famille, Abidjan, Côte d'Ivoire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7F89C94-8C1E-4CC2-BEAD-66010951EB7A}"/>
              </a:ext>
            </a:extLst>
          </p:cNvPr>
          <p:cNvSpPr>
            <a:spLocks noGrp="1"/>
          </p:cNvSpPr>
          <p:nvPr/>
        </p:nvSpPr>
        <p:spPr>
          <a:xfrm>
            <a:off x="7334250" y="4762500"/>
            <a:ext cx="3238500" cy="781050"/>
          </a:xfrm>
          <a:prstGeom prst="rect">
            <a:avLst/>
          </a:prstGeom>
          <a:solidFill>
            <a:srgbClr val="FFF7F1"/>
          </a:solidFill>
          <a:ln w="9525">
            <a:solidFill>
              <a:srgbClr val="FFF7F1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83DA1C-2DA1-4CB8-BEB5-245FA077CCF4}"/>
              </a:ext>
            </a:extLst>
          </p:cNvPr>
          <p:cNvSpPr>
            <a:spLocks noGrp="1"/>
          </p:cNvSpPr>
          <p:nvPr/>
        </p:nvSpPr>
        <p:spPr>
          <a:xfrm>
            <a:off x="7543800" y="4953000"/>
            <a:ext cx="1714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1">
                <a:solidFill>
                  <a:srgbClr val="D66724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D66724"/>
                </a:solidFill>
                <a:latin typeface="Aptos"/>
                <a:ea typeface="Aptos"/>
                <a:cs typeface="Aptos"/>
              </a:rPr>
              <a:t>Formule courte à utiliser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EF791F2-8194-4150-AA90-E70704A7099C}"/>
              </a:ext>
            </a:extLst>
          </p:cNvPr>
          <p:cNvSpPr>
            <a:spLocks noGrp="1"/>
          </p:cNvSpPr>
          <p:nvPr/>
        </p:nvSpPr>
        <p:spPr>
          <a:xfrm>
            <a:off x="7543800" y="5200650"/>
            <a:ext cx="2762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63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TransferAI Africa vous aide à identifier les usages IA qui créent un gain visible, à former vos équipes sur des cas concrets, puis à déployer la bonne suite.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5CD7B77-64B5-4D58-B0B5-00FCC3C29B0F}"/>
              </a:ext>
            </a:extLst>
          </p:cNvPr>
          <p:cNvSpPr>
            <a:spLocks noGrp="1"/>
          </p:cNvSpPr>
          <p:nvPr/>
        </p:nvSpPr>
        <p:spPr>
          <a:xfrm>
            <a:off x="571500" y="6477000"/>
            <a:ext cx="11049000" cy="9525"/>
          </a:xfrm>
          <a:prstGeom prst="rect">
            <a:avLst/>
          </a:prstGeom>
          <a:solidFill>
            <a:srgbClr val="D9D3CC"/>
          </a:solidFill>
          <a:ln w="0">
            <a:solidFill>
              <a:srgbClr val="D9D3C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A22E9F6-0751-43DA-96C6-B6005DE21B07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9334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16072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16072"/>
                </a:solidFill>
                <a:latin typeface="Aptos"/>
                <a:ea typeface="Aptos"/>
                <a:cs typeface="Aptos"/>
              </a:rPr>
              <a:t>Sortie recommandée du rendez-vous : un besoin clarifié, une suite simple et un point de contact évident.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5B79A6C-6374-45DF-874C-50250169C687}"/>
              </a:ext>
            </a:extLst>
          </p:cNvPr>
          <p:cNvSpPr>
            <a:spLocks noGrp="1"/>
          </p:cNvSpPr>
          <p:nvPr/>
        </p:nvSpPr>
        <p:spPr>
          <a:xfrm>
            <a:off x="10858500" y="6534150"/>
            <a:ext cx="571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10213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0213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69732688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1385</Words>
  <Application>Microsoft Macintosh PowerPoint</Application>
  <DocSecurity>0</DocSecurity>
  <PresentationFormat>Widescreen</PresentationFormat>
  <Paragraphs>202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vtoc limited</cp:lastModifiedBy>
  <cp:revision>1</cp:revision>
  <dcterms:created xsi:type="dcterms:W3CDTF">2026-05-22T01:21:34Z</dcterms:created>
  <dcterms:modified xsi:type="dcterms:W3CDTF">2026-05-22T10:56:50Z</dcterms:modified>
</cp:coreProperties>
</file>