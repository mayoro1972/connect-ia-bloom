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e4c73428fc046eb" /><Relationship Type="http://schemas.openxmlformats.org/officeDocument/2006/relationships/extended-properties" Target="/docProps/app.xml" Id="Re74be2531a004e9b" /><Relationship Type="http://schemas.openxmlformats.org/officeDocument/2006/relationships/officeDocument" Target="/ppt/presentation.xml" Id="R0f3f444ea2744f7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a6dc2c4595b4602"/>
  </p:sldMasterIdLst>
  <p:notesMasterIdLst>
    <p:notesMasterId xmlns:r="http://schemas.openxmlformats.org/officeDocument/2006/relationships" r:id="Rfddb484caca6432c"/>
  </p:notesMasterIdLst>
  <p:sldIdLst>
    <p:sldId xmlns:r="http://schemas.openxmlformats.org/officeDocument/2006/relationships" id="256" r:id="R3b8c93ad552e4fdb"/>
    <p:sldId xmlns:r="http://schemas.openxmlformats.org/officeDocument/2006/relationships" id="257" r:id="Rc2e2a45d26db4658"/>
    <p:sldId xmlns:r="http://schemas.openxmlformats.org/officeDocument/2006/relationships" id="258" r:id="Rbe2eb1f1c66f4073"/>
    <p:sldId xmlns:r="http://schemas.openxmlformats.org/officeDocument/2006/relationships" id="259" r:id="R2fc64595a0c24802"/>
    <p:sldId xmlns:r="http://schemas.openxmlformats.org/officeDocument/2006/relationships" id="260" r:id="R2ba54f46b0bc4219"/>
    <p:sldId xmlns:r="http://schemas.openxmlformats.org/officeDocument/2006/relationships" id="261" r:id="R380c5bfc722c4ea2"/>
    <p:sldId xmlns:r="http://schemas.openxmlformats.org/officeDocument/2006/relationships" id="262" r:id="Racef4970d96d471d"/>
    <p:sldId xmlns:r="http://schemas.openxmlformats.org/officeDocument/2006/relationships" id="263" r:id="R52eb78e8103d4c0b"/>
    <p:sldId xmlns:r="http://schemas.openxmlformats.org/officeDocument/2006/relationships" id="264" r:id="R93ebc8b13e894bb8"/>
    <p:sldId xmlns:r="http://schemas.openxmlformats.org/officeDocument/2006/relationships" id="265" r:id="Raaf4019cf08e4998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3e9402d0d8747f0" /><Relationship Type="http://schemas.openxmlformats.org/officeDocument/2006/relationships/slideMaster" Target="/ppt/slideMasters/slideMaster1.xml" Id="R5a6dc2c4595b4602" /><Relationship Type="http://schemas.openxmlformats.org/officeDocument/2006/relationships/notesMaster" Target="/ppt/notesMasters/notesMaster1.xml" Id="Rfddb484caca6432c" /><Relationship Type="http://schemas.openxmlformats.org/officeDocument/2006/relationships/presProps" Target="/ppt/presProps.xml" Id="Rc8d854973ceb4907" /><Relationship Type="http://schemas.openxmlformats.org/officeDocument/2006/relationships/viewProps" Target="/ppt/viewProps.xml" Id="R9cb1723cd16444e0" /><Relationship Type="http://schemas.openxmlformats.org/officeDocument/2006/relationships/tableStyles" Target="/ppt/tableStyles.xml" Id="Rbaae9823d8b840e2" /><Relationship Type="http://schemas.openxmlformats.org/officeDocument/2006/relationships/slide" Target="/ppt/slides/slide1.xml" Id="R3b8c93ad552e4fdb" /><Relationship Type="http://schemas.openxmlformats.org/officeDocument/2006/relationships/slide" Target="/ppt/slides/slide2.xml" Id="Rc2e2a45d26db4658" /><Relationship Type="http://schemas.openxmlformats.org/officeDocument/2006/relationships/slide" Target="/ppt/slides/slide3.xml" Id="Rbe2eb1f1c66f4073" /><Relationship Type="http://schemas.openxmlformats.org/officeDocument/2006/relationships/slide" Target="/ppt/slides/slide4.xml" Id="R2fc64595a0c24802" /><Relationship Type="http://schemas.openxmlformats.org/officeDocument/2006/relationships/slide" Target="/ppt/slides/slide5.xml" Id="R2ba54f46b0bc4219" /><Relationship Type="http://schemas.openxmlformats.org/officeDocument/2006/relationships/slide" Target="/ppt/slides/slide6.xml" Id="R380c5bfc722c4ea2" /><Relationship Type="http://schemas.openxmlformats.org/officeDocument/2006/relationships/slide" Target="/ppt/slides/slide7.xml" Id="Racef4970d96d471d" /><Relationship Type="http://schemas.openxmlformats.org/officeDocument/2006/relationships/slide" Target="/ppt/slides/slide8.xml" Id="R52eb78e8103d4c0b" /><Relationship Type="http://schemas.openxmlformats.org/officeDocument/2006/relationships/slide" Target="/ppt/slides/slide9.xml" Id="R93ebc8b13e894bb8" /><Relationship Type="http://schemas.openxmlformats.org/officeDocument/2006/relationships/slide" Target="/ppt/slides/slide10.xml" Id="Raaf4019cf08e499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357e1b9211c4a9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d260a7864a74e3d" /><Relationship Type="http://schemas.openxmlformats.org/officeDocument/2006/relationships/notesMaster" Target="/ppt/notesMasters/notesMaster1.xml" Id="R643a8f4a84334db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29e98204073442d" /><Relationship Type="http://schemas.openxmlformats.org/officeDocument/2006/relationships/notesMaster" Target="/ppt/notesMasters/notesMaster1.xml" Id="Rd48dba7a22d3423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0083bf833df4f65" /><Relationship Type="http://schemas.openxmlformats.org/officeDocument/2006/relationships/notesMaster" Target="/ppt/notesMasters/notesMaster1.xml" Id="Ra79556c295dd407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fe9c737fca54224" /><Relationship Type="http://schemas.openxmlformats.org/officeDocument/2006/relationships/notesMaster" Target="/ppt/notesMasters/notesMaster1.xml" Id="Rcd891ff066134cb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1d7992350584e6c" /><Relationship Type="http://schemas.openxmlformats.org/officeDocument/2006/relationships/notesMaster" Target="/ppt/notesMasters/notesMaster1.xml" Id="R4c3d62cdd81f410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e3505d1cb254b71" /><Relationship Type="http://schemas.openxmlformats.org/officeDocument/2006/relationships/notesMaster" Target="/ppt/notesMasters/notesMaster1.xml" Id="Rff12d7edd6a3400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c91984a720e45a2" /><Relationship Type="http://schemas.openxmlformats.org/officeDocument/2006/relationships/notesMaster" Target="/ppt/notesMasters/notesMaster1.xml" Id="R53a9550bfa7a4af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fc8ae4b0bd94703" /><Relationship Type="http://schemas.openxmlformats.org/officeDocument/2006/relationships/notesMaster" Target="/ppt/notesMasters/notesMaster1.xml" Id="R1f7381f7fd61424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f772ea390a14a7c" /><Relationship Type="http://schemas.openxmlformats.org/officeDocument/2006/relationships/notesMaster" Target="/ppt/notesMasters/notesMaster1.xml" Id="R797c378cde294c4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182aab248484db3" /><Relationship Type="http://schemas.openxmlformats.org/officeDocument/2006/relationships/notesMaster" Target="/ppt/notesMasters/notesMaster1.xml" Id="Rb054a3e9a2d2417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94bf345f6d1426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f7d8c2383aa4943" /><Relationship Type="http://schemas.openxmlformats.org/officeDocument/2006/relationships/slideLayout" Target="/ppt/slideLayouts/slideLayout1.xml" Id="R3a4ea5713a82424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a4ea5713a82424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edd9ac44eb466d" /><Relationship Type="http://schemas.openxmlformats.org/officeDocument/2006/relationships/image" Target="/ppt/media/image.png" Id="R2dc986b4113a4e06" /><Relationship Type="http://schemas.openxmlformats.org/officeDocument/2006/relationships/notesSlide" Target="/ppt/notesSlides/notesSlide1.xml" Id="R437faee0a0714fa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1ec15936db4e4f" /><Relationship Type="http://schemas.openxmlformats.org/officeDocument/2006/relationships/image" Target="/ppt/media/image2.png" Id="R36c789a080cb4935" /><Relationship Type="http://schemas.openxmlformats.org/officeDocument/2006/relationships/notesSlide" Target="/ppt/notesSlides/notesSlide2.xml" Id="R241f88813ea6477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4c8da08cb444a6" /><Relationship Type="http://schemas.openxmlformats.org/officeDocument/2006/relationships/notesSlide" Target="/ppt/notesSlides/notesSlide3.xml" Id="R1249fabe7ca842c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edc83123724b44" /><Relationship Type="http://schemas.openxmlformats.org/officeDocument/2006/relationships/notesSlide" Target="/ppt/notesSlides/notesSlide4.xml" Id="Rf043595355d7478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c027211f6f4615" /><Relationship Type="http://schemas.openxmlformats.org/officeDocument/2006/relationships/notesSlide" Target="/ppt/notesSlides/notesSlide5.xml" Id="R79ee262d0867465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77d8eeac514751" /><Relationship Type="http://schemas.openxmlformats.org/officeDocument/2006/relationships/notesSlide" Target="/ppt/notesSlides/notesSlide6.xml" Id="Rc5476251de5d4ed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db3fc9d5a3430d" /><Relationship Type="http://schemas.openxmlformats.org/officeDocument/2006/relationships/notesSlide" Target="/ppt/notesSlides/notesSlide7.xml" Id="Rab4118b0a0894a2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832205d3484d3b" /><Relationship Type="http://schemas.openxmlformats.org/officeDocument/2006/relationships/notesSlide" Target="/ppt/notesSlides/notesSlide8.xml" Id="Raa68916343b4446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41e9b283fe4812" /><Relationship Type="http://schemas.openxmlformats.org/officeDocument/2006/relationships/notesSlide" Target="/ppt/notesSlides/notesSlide9.xml" Id="Re4c72149b445487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81993ff82b4781" /><Relationship Type="http://schemas.openxmlformats.org/officeDocument/2006/relationships/image" Target="/ppt/media/image3.png" Id="R0590e66f460d406e" /><Relationship Type="http://schemas.openxmlformats.org/officeDocument/2006/relationships/notesSlide" Target="/ppt/notesSlides/notesSlide10.xml" Id="R09c50f823b3c4344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B31939E-32B3-45E3-998B-6B50F607A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7"/>
          </a:solidFill>
          <a:ln xmlns:a="http://schemas.openxmlformats.org/drawingml/2006/main" w="0">
            <a:solidFill>
              <a:srgbClr val="F5EFE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138C17-8EC7-4FB9-88E9-70C30A22C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2EA"/>
          </a:solidFill>
          <a:ln xmlns:a="http://schemas.openxmlformats.org/drawingml/2006/main" w="0">
            <a:solidFill>
              <a:srgbClr val="F8F2E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5C45DB-7DF5-4338-9D20-DAFBBD329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0"/>
            <a:ext cx="4324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556"/>
          </a:solidFill>
          <a:ln xmlns:a="http://schemas.openxmlformats.org/drawingml/2006/main" w="0">
            <a:solidFill>
              <a:srgbClr val="16355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35D0BF-734A-4586-9561-1F7571390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191000"/>
            <a:ext cx="43243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8A78"/>
          </a:solidFill>
          <a:ln xmlns:a="http://schemas.openxmlformats.org/drawingml/2006/main" w="0">
            <a:solidFill>
              <a:srgbClr val="1C8A7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203332-6549-4614-A5E7-0D3409DF9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04850"/>
            <a:ext cx="6705600" cy="4114800"/>
          </a:xfrm>
          <a:prstGeom xmlns:a="http://schemas.openxmlformats.org/drawingml/2006/main" prst="roundRect">
            <a:avLst>
              <a:gd name="adj" fmla="val 1852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c986b4113a4e06"/>
          <a:stretch xmlns:a="http://schemas.openxmlformats.org/drawingml/2006/main"/>
        </p:blipFill>
        <p:spPr>
          <a:xfrm xmlns:a="http://schemas.openxmlformats.org/drawingml/2006/main">
            <a:off x="1268050" y="971550"/>
            <a:ext cx="1254851" cy="5524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462C1F-E5F5-4911-B092-F9FE60C4C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907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DECK SECTORIEL PREMIUM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897ACA-06EE-4CE8-9AE6-5B5A35577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95500"/>
            <a:ext cx="41148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4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204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Éducation &amp; Formation Professionnelle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5BCFE1-B7FE-408E-8378-B27594906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48000"/>
            <a:ext cx="52197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6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76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Produire plus vite des contenus pédagogiques solides et mieux piloter les parcours d’apprentissage.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370D21-67C8-4ED8-A29C-08C82B257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924300"/>
            <a:ext cx="53721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Pour les universités, grandes écoles, centres de formation et académies internes qui veulent transformer l’IA en meilleure conception, meilleure adaptation et meilleur suivi pédagogique.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D37D62-5A29-4A53-BE1C-0F22E4B5E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781050"/>
            <a:ext cx="3143250" cy="2362200"/>
          </a:xfrm>
          <a:prstGeom xmlns:a="http://schemas.openxmlformats.org/drawingml/2006/main" prst="roundRect">
            <a:avLst>
              <a:gd name="adj" fmla="val 3226"/>
            </a:avLst>
          </a:prstGeom>
          <a:solidFill xmlns:a="http://schemas.openxmlformats.org/drawingml/2006/main">
            <a:srgbClr val="214260"/>
          </a:solidFill>
          <a:ln xmlns:a="http://schemas.openxmlformats.org/drawingml/2006/main" w="9525">
            <a:solidFill>
              <a:srgbClr val="21426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CD6FBA-A1AA-4158-B2C8-EF1354873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102870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D8E6F4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D8E6F4"/>
                </a:solidFill>
                <a:latin typeface="Aptos"/>
                <a:ea typeface="Aptos"/>
                <a:cs typeface="Aptos"/>
              </a:rPr>
              <a:t>Contextes d'application proches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C85694-A03C-49A4-A69E-CEA72353C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1314450"/>
            <a:ext cx="25908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Ce deck peut être partagé avec plusieurs organisations du même univers métier.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F89BFB-6894-4D98-8429-FF594B6F5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171700"/>
            <a:ext cx="2590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E6EEF6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E6EEF6"/>
                </a:solidFill>
                <a:latin typeface="Aptos"/>
                <a:ea typeface="Aptos"/>
                <a:cs typeface="Aptos"/>
              </a:rPr>
              <a:t>La proposition met en avant des enjeux récurrents, des cas d’usage crédibles et un parcours d’accompagnement progressif pour des structures aux besoins proches.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0EF517D-7945-4423-9A36-F7601B9BE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486150"/>
            <a:ext cx="280035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C2C6B1D-DB4B-4E95-957F-F1D09C4ED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543300"/>
            <a:ext cx="2609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Éducation / Recherche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7506569-8029-4DD1-8A9C-6DDC64848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829050"/>
            <a:ext cx="280035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153793A-89AB-41AE-BC3D-7CCC2DA7B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886200"/>
            <a:ext cx="2609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Éducation / Management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79CE92A-234F-4222-B59A-A0B7FE0B4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171950"/>
            <a:ext cx="280035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68F4888-D3E3-4CB3-8F7E-056BD79BE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229100"/>
            <a:ext cx="2609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Éducation / Numérique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D3AB2F2-A4DC-4035-9341-7B3F4C9F6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514850"/>
            <a:ext cx="280035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F3C8661-8A3F-4EF9-93EA-0BF1A50AA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572000"/>
            <a:ext cx="2609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Formation professionnelle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1E420BA-67FA-436A-90D3-5D1E03805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81600"/>
            <a:ext cx="15240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34D0981-D35B-490D-895B-CCB36DE65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353050"/>
            <a:ext cx="381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8A78"/>
          </a:solidFill>
          <a:ln xmlns:a="http://schemas.openxmlformats.org/drawingml/2006/main" w="0">
            <a:solidFill>
              <a:srgbClr val="1C8A7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1876500-53E8-46D6-ABE5-F1DACFF12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334000"/>
            <a:ext cx="108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6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4B3F4BF-3A78-4623-A4A4-5228779C5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619750"/>
            <a:ext cx="1085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1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35" b="1">
                <a:solidFill>
                  <a:srgbClr val="617086"/>
                </a:solidFill>
                <a:latin typeface="Aptos"/>
                <a:ea typeface="Aptos"/>
                <a:cs typeface="Aptos"/>
              </a:rPr>
              <a:t>formations activables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1193C8D-BA48-4427-8D9C-B9114FF6C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5181600"/>
            <a:ext cx="15240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B7F5D7A-9824-41CB-B7D6-954F7088B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5353050"/>
            <a:ext cx="381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8A78"/>
          </a:solidFill>
          <a:ln xmlns:a="http://schemas.openxmlformats.org/drawingml/2006/main" w="0">
            <a:solidFill>
              <a:srgbClr val="1C8A7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BCFC133-74E5-4844-9957-C46807A29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5334000"/>
            <a:ext cx="108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4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D9C7C8B-E980-4FB4-B812-C26B8BA63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5619750"/>
            <a:ext cx="1085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1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35" b="1">
                <a:solidFill>
                  <a:srgbClr val="617086"/>
                </a:solidFill>
                <a:latin typeface="Aptos"/>
                <a:ea typeface="Aptos"/>
                <a:cs typeface="Aptos"/>
              </a:rPr>
              <a:t>usages prioritaires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B0C42A4-5D49-4B03-BC16-574A202EF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5181600"/>
            <a:ext cx="15240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A6672D8-2C8A-40CB-9E3C-33853F902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353050"/>
            <a:ext cx="381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556"/>
          </a:solidFill>
          <a:ln xmlns:a="http://schemas.openxmlformats.org/drawingml/2006/main" w="0">
            <a:solidFill>
              <a:srgbClr val="163556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2BB88C8-39CE-4707-9752-C41BAEA61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334000"/>
            <a:ext cx="108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J+90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7EE4718-DBA8-45FB-A9BF-E7DD817BB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619750"/>
            <a:ext cx="1085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1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35" b="1">
                <a:solidFill>
                  <a:srgbClr val="617086"/>
                </a:solidFill>
                <a:latin typeface="Aptos"/>
                <a:ea typeface="Aptos"/>
                <a:cs typeface="Aptos"/>
              </a:rPr>
              <a:t>pilotage d’extension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5A57B40-8A24-4406-AC94-67153AE0F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5181600"/>
            <a:ext cx="16192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EC8CA6A-8781-4E87-9FFB-46D9A5C9D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5353050"/>
            <a:ext cx="381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8C3A"/>
          </a:solidFill>
          <a:ln xmlns:a="http://schemas.openxmlformats.org/drawingml/2006/main" w="0">
            <a:solidFill>
              <a:srgbClr val="C88C3A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EAE3B20-963E-40B9-A3AE-58C6011DE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334000"/>
            <a:ext cx="1181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0 FCFA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C4693BA-2162-4E82-AEED-B1442E6E6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619750"/>
            <a:ext cx="1181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1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35" b="1">
                <a:solidFill>
                  <a:srgbClr val="617086"/>
                </a:solidFill>
                <a:latin typeface="Aptos"/>
                <a:ea typeface="Aptos"/>
                <a:cs typeface="Aptos"/>
              </a:rPr>
              <a:t>audit d’entrée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A4C1B52-8552-4C74-B6D0-DD8932387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5181600"/>
            <a:ext cx="37338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5C70849-48FD-4849-A359-2AEAFF471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334000"/>
            <a:ext cx="1428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0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Promesse centrale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F0CE1D3-601E-4E9E-92BC-9E980CD0C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543550"/>
            <a:ext cx="3219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73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Transformer l’IA en gains visibles de productivité, de coordination, de qualité de service et de lisibilité managériale.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8F666FA-0953-49D7-860B-D1F6873EF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3948FD5-CEE7-4BAD-AE5C-AE3F3E482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904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TransferAI | Éducation &amp; Formation Professionnelle | Deck sectoriel premium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3E17910-FCCE-4AC0-BC7F-E9672BDB4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2111371651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253053D-8331-4A84-A15B-1165A653C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7"/>
          </a:solidFill>
          <a:ln xmlns:a="http://schemas.openxmlformats.org/drawingml/2006/main" w="0">
            <a:solidFill>
              <a:srgbClr val="F5EFE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E7646D-E1C8-4B45-8B2A-249FCBA8B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POURQUOI TRANSFERAI SUR CE TERRAIN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34234E-E86C-45D8-A24C-17E092B5B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8001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0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90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Une proposition conçue pour éducation &amp; formation professionnelle plutôt qu’un catalogue générique.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68C46B-F2FE-4A90-910E-1C41AFB8A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8191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4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94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La promesse n’est pas de produire plus de slides. Elle est de concevoir plus vite des parcours utiles, adaptés et mieux suivis pour des cohortes différentes.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D97E43-A849-4B9E-BED1-0529C2F00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5086350" cy="3371850"/>
          </a:xfrm>
          <a:prstGeom xmlns:a="http://schemas.openxmlformats.org/drawingml/2006/main" prst="roundRect">
            <a:avLst>
              <a:gd name="adj" fmla="val 2260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c789a080cb4935"/>
          <a:stretch xmlns:a="http://schemas.openxmlformats.org/drawingml/2006/main"/>
        </p:blipFill>
        <p:spPr>
          <a:xfrm xmlns:a="http://schemas.openxmlformats.org/drawingml/2006/main">
            <a:off x="1287916" y="2362200"/>
            <a:ext cx="1081768" cy="4762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47F68D-020B-4871-B882-385D3F78F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48000"/>
            <a:ext cx="3429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TransferAI : de la pédagogie à l’exécution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E316AF-5433-48D1-BD76-09D73A682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429000"/>
            <a:ext cx="440055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Audit IA gratuit pour qualifier les priorités avant toute dépense lourde.</a:t>
            </a:r>
          </a:p>
          <a:p xmlns:a="http://schemas.openxmlformats.org/drawingml/2006/main">
            <a:pPr algn="l">
              <a:defRPr sz="90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Formation ciblée des décideurs et des équipes, pensée pour les usages du terrain.</a:t>
            </a:r>
          </a:p>
          <a:p xmlns:a="http://schemas.openxmlformats.org/drawingml/2006/main">
            <a:pPr algn="l">
              <a:defRPr sz="90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Accompagnement de mise en pratique sur 90 jours avec relecture des premiers KPI.</a:t>
            </a:r>
          </a:p>
          <a:p xmlns:a="http://schemas.openxmlformats.org/drawingml/2006/main">
            <a:pPr algn="l">
              <a:defRPr sz="90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Cadre de gouvernance, confidentialité et progression par pilote avant extension.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49A949-C325-4FA8-B68C-0EBE2703D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010150"/>
            <a:ext cx="44005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03" b="1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803" b="1">
                <a:solidFill>
                  <a:srgbClr val="617086"/>
                </a:solidFill>
                <a:latin typeface="Aptos"/>
                <a:ea typeface="Aptos"/>
                <a:cs typeface="Aptos"/>
              </a:rPr>
              <a:t>La différence clé : une structure de formation classique transmet un contenu. TransferAI forme, puis accompagne l’usage réel, les ajustements et les décisions d’extension.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4B0255-BEB6-4896-99D6-EB814A0AF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152650"/>
            <a:ext cx="5467350" cy="3371850"/>
          </a:xfrm>
          <a:prstGeom xmlns:a="http://schemas.openxmlformats.org/drawingml/2006/main" prst="roundRect">
            <a:avLst>
              <a:gd name="adj" fmla="val 2260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474DA1-C7B1-43E7-9C3F-BE666D98A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400300"/>
            <a:ext cx="4095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3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Types d'organisations et contextes proches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C9BAE2-1C27-45D3-A403-57D573A3C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838450"/>
            <a:ext cx="4629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32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832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Les repères ci-dessous montrent des environnements où cette proposition garde la même pertinence métier et la même lisibilité commerciale.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25E936-5D15-4C06-8CE8-D8670A420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352800"/>
            <a:ext cx="238125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38F621-8537-4A52-A9B1-344A08C4C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409950"/>
            <a:ext cx="2190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Éducation / Recherche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F0197FC-C8BA-4763-A126-74ED833B0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352800"/>
            <a:ext cx="238125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E16E9EF-D23A-411F-8C2D-CEE537ABC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409950"/>
            <a:ext cx="2190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Éducation / Management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28B7D2D-1B33-476B-B91D-C99C5BDE6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695700"/>
            <a:ext cx="238125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58CD145-A38D-4028-B980-6192B5C46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752850"/>
            <a:ext cx="2190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Éducation / Numérique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F112DBC-2854-447B-8244-8EBE7FD23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695700"/>
            <a:ext cx="238125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FC6073D-C2AA-4832-9AF0-18ADD0866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752850"/>
            <a:ext cx="2190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Formation professionnelle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F976205-2D4C-410B-9A92-157F59FD1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038600"/>
            <a:ext cx="238125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8BB6209-459A-4345-992B-31C6829D9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095750"/>
            <a:ext cx="2190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Développement / 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1ABC979-2AC5-428D-A8CE-863345FD8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591050"/>
            <a:ext cx="46291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DFFD04A-6D7B-4E3C-9F92-C2A911D47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74345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0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Entrée recommandée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E4DCDC3-DAFE-4AC8-8AD8-9D055EE42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933950"/>
            <a:ext cx="421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8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Audit IA gratuit, puis échange expert de 45 minutes pour confirmer les deux premiers cas d’usage, les équipes à former et le cadre de déploiement.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B8A7E65-DDC1-435A-A8AD-4455863B3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A1E89D8-DFC4-4912-9AC7-2C0C1DC08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904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TransferAI | Éducation &amp; Formation Professionnelle | Positionnement et preuve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4AA80C7-F3DC-4A5F-88F2-B4255E250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651047321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27FE155-4260-4DCD-9FF6-89BC6608D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7"/>
          </a:solidFill>
          <a:ln xmlns:a="http://schemas.openxmlformats.org/drawingml/2006/main" w="0">
            <a:solidFill>
              <a:srgbClr val="F5EFE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252280-231E-4ECC-848D-319AB6D64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CONTEXTE ET IRRITANTS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638B80-8BD7-4E8F-BF58-99F1B5BDF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8191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3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93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Le ROI devient visible quand on traite d’abord les frictions déjà coûteuses.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1C0E1A-5647-43BB-9F3B-D7AC4586D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47800"/>
            <a:ext cx="8477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7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907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La bonne approche n’est pas de vendre l’IA en général. Elle consiste à isoler les flux où le temps perdu, l’hétérogénéité et le défaut de lecture ralentissent déjà l’organisation.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82364B-B416-4239-9A34-B939772D5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5219700" cy="18288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EE3C87-E7BC-4699-9BDE-D6F58DB2B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28850"/>
            <a:ext cx="47625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8A78"/>
          </a:solidFill>
          <a:ln xmlns:a="http://schemas.openxmlformats.org/drawingml/2006/main" w="0">
            <a:solidFill>
              <a:srgbClr val="1C8A7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3BE938-FA7E-41AB-B445-11C047D53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209800"/>
            <a:ext cx="4686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Conception pédagogique lente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D4541A-943B-4ECB-825C-A09D7EF78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71750"/>
            <a:ext cx="571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AVANT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77395D-4380-4561-B2CB-7A5BCF2C4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43200"/>
            <a:ext cx="4686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Créer modules, quiz, cas et supports demande beaucoup de temps expert.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DC7F16-84F5-4046-8EB3-0F14E1BAD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19450"/>
            <a:ext cx="571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APRÈS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DC1614-A1E2-4302-BCF9-ED9B7C6F0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90900"/>
            <a:ext cx="4686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Les plans de cours et séquences se préparent plus vite avec une meilleure base de travail.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F6EA71-E071-4CDE-8D09-CA2F0041B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38350"/>
            <a:ext cx="5219700" cy="18288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ABFC91-9973-40B6-8671-09134343F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228850"/>
            <a:ext cx="47625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8A78"/>
          </a:solidFill>
          <a:ln xmlns:a="http://schemas.openxmlformats.org/drawingml/2006/main" w="0">
            <a:solidFill>
              <a:srgbClr val="1C8A7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78820D8-A9D0-441E-A8C4-F1C286C1A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209800"/>
            <a:ext cx="4686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Parcours peu adaptés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C40D0C4-D82D-4CE9-B298-DBE01F8E3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571750"/>
            <a:ext cx="571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AVANT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C23C0F-77A6-4635-9561-807B2FD71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743200"/>
            <a:ext cx="4686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Les contenus s’adressent à tous de la même façon malgré des besoins différents.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38BBD00-F3B1-41F8-93E1-8F7B3A01C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219450"/>
            <a:ext cx="571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APRÈS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74506B1-C526-4A23-9DA1-1E3F9F77C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390900"/>
            <a:ext cx="4686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Les parcours gagnent en adaptation selon profils, niveaux et objectifs.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EAE2A77-309D-43C2-8DB0-245CA95DC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76700"/>
            <a:ext cx="5219700" cy="18288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714FDEB-6B5E-4A28-816D-5FF14DA97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67200"/>
            <a:ext cx="47625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556"/>
          </a:solidFill>
          <a:ln xmlns:a="http://schemas.openxmlformats.org/drawingml/2006/main" w="0">
            <a:solidFill>
              <a:srgbClr val="16355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023E4A8-8EBE-4D31-9E1C-6E19399FB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48150"/>
            <a:ext cx="4686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Analyse de cohortes fastidieuse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7CCAD8B-F793-4A70-8EB7-0A3D328DB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610100"/>
            <a:ext cx="571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AVANT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D489760-FFC6-4B5F-AD90-1EF90376B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781550"/>
            <a:ext cx="4686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Les résultats existent mais restent longs à relire et à interpréter.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CA81486-113E-472B-89FC-4C23735BA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257800"/>
            <a:ext cx="571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APRÈS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3E6775C-E1F4-4303-8219-AB765945F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429250"/>
            <a:ext cx="4686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Les responsables pédagogiques reçoivent des synthèses plus actionnables.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71B7911-19AE-4D32-972E-352CE4B40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076700"/>
            <a:ext cx="5219700" cy="18288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BAD5392-77C7-418A-8E59-2E1D5637B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267200"/>
            <a:ext cx="47625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8C3A"/>
          </a:solidFill>
          <a:ln xmlns:a="http://schemas.openxmlformats.org/drawingml/2006/main" w="0">
            <a:solidFill>
              <a:srgbClr val="C88C3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A4849B9-19C4-4061-AD1B-8F5B67B4A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248150"/>
            <a:ext cx="4686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Production multimédia morcelée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28BAE0C-6014-4BA2-8A4E-0C9F49737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610100"/>
            <a:ext cx="571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AVANT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4F04949-BDAA-4EEB-8DBD-1B6D9C0E8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781550"/>
            <a:ext cx="4686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Texte, quiz, fiches et vidéos avancent dans des cycles séparés et lents.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B007D27-582D-42CC-8FB6-7CADEEB4D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5257800"/>
            <a:ext cx="571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APRÈS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CEEB228-821D-43C0-BB3A-E9B1D82D0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5429250"/>
            <a:ext cx="4686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Les équipes accélèrent la déclinaison multi-format des contenus.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25975DB-6959-438A-8BEA-EAEAF6D03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91200"/>
            <a:ext cx="108204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169780E-06F9-470F-81F0-DFF0B8381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90550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0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Lecture de fond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6568183-3508-4422-97C0-8D64D8BCF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0287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Chaque irritation retenue doit se traduire en hypothèse de gain, en KPI lisible et en séquence de déploiement mesurable.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C7C3A2E-55D6-4CE7-86CE-30BDC7873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76E7E9A-4789-4A49-B6C8-53084FCF2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904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TransferAI | Éducation &amp; Formation Professionnelle | Priorités métier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855BC82-9EA8-40C8-BEF4-723DE0BD7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99914375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2D42894-9A08-44AF-B48E-C9EB25069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7"/>
          </a:solidFill>
          <a:ln xmlns:a="http://schemas.openxmlformats.org/drawingml/2006/main" w="0">
            <a:solidFill>
              <a:srgbClr val="F5EFE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54D6E3-0D84-4A34-BADB-58AC617C1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ROI DE RÉFÉRENCE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215E0E-520F-4251-87BA-BB694BA49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9239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9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89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Le ROI n’a de valeur que s’il est relié à des KPI simples, lisibles et discutables.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5D440E-AB17-470F-BE40-83D51E9C0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8953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7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907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Les repères ci-dessous sont des hypothèses prudentes ou des benchmarks à confirmer pendant l’audit. TransferAI ne vend pas des chiffres abstraits ; nous proposons une mesure utile du premier terrain.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CAB720-AD4C-4E89-B27A-DDE26DFA2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23812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1C8A78"/>
          </a:solidFill>
          <a:ln xmlns:a="http://schemas.openxmlformats.org/drawingml/2006/main" w="0">
            <a:solidFill>
              <a:srgbClr val="1C8A7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C7B6D3-40AA-4116-9644-4778482E0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43150"/>
            <a:ext cx="20383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40 à 70 %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75EC87-A959-4B62-B64F-4286AD828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05100"/>
            <a:ext cx="20383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sur la conception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25B06D-D893-4601-B85C-7A200A964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24200"/>
            <a:ext cx="20383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07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07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modules, exercices, supports, quiz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E63748-56BC-4C23-BB21-BEA87D086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190750"/>
            <a:ext cx="23812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1C8A78"/>
          </a:solidFill>
          <a:ln xmlns:a="http://schemas.openxmlformats.org/drawingml/2006/main" w="0">
            <a:solidFill>
              <a:srgbClr val="1C8A7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D6D944-2285-4406-AE7E-612566047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343150"/>
            <a:ext cx="20383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Parcours plus adaptés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94BC3A-98DE-4167-8681-2B3D986AA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705100"/>
            <a:ext cx="20383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selon les profils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96A6BE-C3EB-437F-B01E-90A16D13B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124200"/>
            <a:ext cx="20383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07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07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niveaux, fonctions, cohortes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36D83D-658D-4147-900E-754D43FC9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190750"/>
            <a:ext cx="23812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1C8A78"/>
          </a:solidFill>
          <a:ln xmlns:a="http://schemas.openxmlformats.org/drawingml/2006/main" w="0">
            <a:solidFill>
              <a:srgbClr val="1C8A7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ED79A3-EBCD-4C72-AA03-E6C779DA2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343150"/>
            <a:ext cx="20383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Reporting plus rapide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999D80-7DA2-462C-9391-F6CBDD4D1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705100"/>
            <a:ext cx="20383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des cohortes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87A8142-7047-4711-AFA6-39B4E2047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124200"/>
            <a:ext cx="20383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07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07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résultats, points faibles, ajustements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2023370-A805-4A5A-BE31-D04526B97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190750"/>
            <a:ext cx="23812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1C8A78"/>
          </a:solidFill>
          <a:ln xmlns:a="http://schemas.openxmlformats.org/drawingml/2006/main" w="0">
            <a:solidFill>
              <a:srgbClr val="1C8A7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442A110-21CD-4D73-89F2-098A28A81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343150"/>
            <a:ext cx="20383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Production plus fluide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5743817-C03D-4EF6-8D7F-BF02338C4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705100"/>
            <a:ext cx="20383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des formats pédagogiques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B1F577B-3C85-4AF3-B376-B328CD93F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124200"/>
            <a:ext cx="20383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07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07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texte, quiz, fiches, médias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6BF8FCE-38C0-4FB7-909E-6C9E1AA23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90950"/>
            <a:ext cx="10820400" cy="198120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8D15BA0-CD3C-46F8-969E-4902FF37D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19550"/>
            <a:ext cx="4686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6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26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Comment rendre ce ROI crédible dès le premier rendez-vous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D41E44E-FE2F-4D90-AB26-0AD5C37D4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514850"/>
            <a:ext cx="4286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1. Partir d’un flux métier concret et visible.</a:t>
            </a:r>
          </a:p>
          <a:p xmlns:a="http://schemas.openxmlformats.org/drawingml/2006/main">
            <a:pPr algn="l">
              <a:defRPr sz="90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2. Nommer le ou les KPI que la direction lit déjà.</a:t>
            </a:r>
          </a:p>
          <a:p xmlns:a="http://schemas.openxmlformats.org/drawingml/2006/main">
            <a:pPr algn="l">
              <a:defRPr sz="90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3. Limiter le premier pilote à un terrain mesurable.</a:t>
            </a:r>
          </a:p>
          <a:p xmlns:a="http://schemas.openxmlformats.org/drawingml/2006/main">
            <a:pPr algn="l">
              <a:defRPr sz="90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4. Revoir les résultats avec les responsables métier avant toute extension.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66FAA86-BBEB-44E0-AE99-FDE98ABE6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267200"/>
            <a:ext cx="52578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70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870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Exemples de KPI souvent retenus : temps de cycle, délai de réponse, temps de préparation d’un comité, nombre d’étapes manuelles, volume d’anomalies détectées plus tôt, homogénéité des livrables, taux de résolution au premier niveau, vitesse d’onboarding.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D5C6653-329C-49C4-AF85-7C0A5D51F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6448429-E4E4-43BF-8554-5A8C2C7CB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904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TransferAI | Éducation &amp; Formation Professionnelle | ROI et KPI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E932E8B-6DC9-41B2-A405-55A7B4C76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955366081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DA8DCE3-AC5E-4899-B16A-37362C530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7"/>
          </a:solidFill>
          <a:ln xmlns:a="http://schemas.openxmlformats.org/drawingml/2006/main" w="0">
            <a:solidFill>
              <a:srgbClr val="F5EFE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E54BCF-9638-4C2A-8F9F-CF79A5404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CAS D’USAGE PRIORITAIRES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F5C9A1-184A-4B23-815D-99B0298A5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9334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9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Le bon deck rend visibles 3 à 4 usages que le prospect peut immédiatement se représenter.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554095-78DB-4290-9EAB-099982DD4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8858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Chaque cas d’usage ci-dessous a été formulé pour rester crédible, visible et relié à un flux métier réel. Le but n’est pas de tout lancer, mais de prioriser ce qui crée une première valeur lisible.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244A94-408B-406C-82C6-76292164E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57400"/>
            <a:ext cx="5219700" cy="203835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759E0D-6ED0-4091-8FEE-B3651BD78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28850"/>
            <a:ext cx="3619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8A78"/>
          </a:solidFill>
          <a:ln xmlns:a="http://schemas.openxmlformats.org/drawingml/2006/main" w="0">
            <a:solidFill>
              <a:srgbClr val="1C8A7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BC1A4D-A2AA-40F2-A279-C44C1FC12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81250"/>
            <a:ext cx="4876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Conception de modules et cas pratiques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F14BE9-74D4-45CD-B6B3-163D0A6CC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4320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645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AVANT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D5BDC9-FDD1-4702-9F0C-AB11A8999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95600"/>
            <a:ext cx="4876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73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Chaque nouveau parcours repart d’une page presque blanche.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0C59E8-07AB-41C2-8775-42B99B3FE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5755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645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APRÈS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08F9BE-33DE-46C0-BDCD-B798D1D00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09950"/>
            <a:ext cx="4876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73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Les équipes gagnent une base mieux structurée pour construire plus vite.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73E975-E066-4F5C-A950-2F5A6DC5C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95700"/>
            <a:ext cx="4876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5E6C4F-C4FF-44AE-AC90-A036DF36C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71900"/>
            <a:ext cx="4876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98" b="1">
                <a:solidFill>
                  <a:srgbClr val="617086"/>
                </a:solidFill>
                <a:latin typeface="Aptos"/>
                <a:ea typeface="Aptos"/>
                <a:cs typeface="Aptos"/>
              </a:rPr>
              <a:t>KPI à suivre : Temps de création ; délai de mise en cohorte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1385F30-71C5-453D-BEE9-5F703BDA2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57400"/>
            <a:ext cx="5219700" cy="203835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A516B0-820B-4762-82E4-45F91D344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228850"/>
            <a:ext cx="3619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8A78"/>
          </a:solidFill>
          <a:ln xmlns:a="http://schemas.openxmlformats.org/drawingml/2006/main" w="0">
            <a:solidFill>
              <a:srgbClr val="1C8A7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C620409-9088-4A67-9FCE-9F17CC700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381250"/>
            <a:ext cx="4876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Personnalisation des parcours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98BA999-1F04-4E67-AE0D-A21B0929B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74320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645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AVANT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73841E0-54F7-48D6-809E-5DB3BE420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895600"/>
            <a:ext cx="4876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73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Les contenus restent trop génériques pour des publics hétérogènes.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07F0B64-7AAA-4A16-ADD7-3C5275652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25755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645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APRÈS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D418715-6358-4F44-BDA7-43ABF2BDB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409950"/>
            <a:ext cx="4876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73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Les variantes et exercices se déclinent plus finement selon les besoins.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71388D6-620B-464C-A0CA-FD9EE5A3B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695700"/>
            <a:ext cx="4876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399A5F6-6968-4A49-9AE4-A8A2EDF64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771900"/>
            <a:ext cx="4876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98" b="1">
                <a:solidFill>
                  <a:srgbClr val="617086"/>
                </a:solidFill>
                <a:latin typeface="Aptos"/>
                <a:ea typeface="Aptos"/>
                <a:cs typeface="Aptos"/>
              </a:rPr>
              <a:t>KPI à suivre : Taux de complétion ; taux de réussite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975B622-8D2B-4D2C-BA7B-0A208204A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71950"/>
            <a:ext cx="5219700" cy="203835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DE3FF6F-F38E-4D26-A4C3-815B0FEC7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43400"/>
            <a:ext cx="3619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556"/>
          </a:solidFill>
          <a:ln xmlns:a="http://schemas.openxmlformats.org/drawingml/2006/main" w="0">
            <a:solidFill>
              <a:srgbClr val="16355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1A0D043-6CDD-43EE-952F-2CE2CF638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95800"/>
            <a:ext cx="4876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Tutorat virtuel et assistant apprenant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C7B90FA-56E2-433C-99D6-B5BEA8E01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5775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645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AVANT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8FFBE22-4229-49FE-A027-FFAB47370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10150"/>
            <a:ext cx="4876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73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Les questions simples mobilisent beaucoup de temps formateur.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E8D40B7-2AF1-4D0B-8BF6-D77DA5D2F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7210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645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APRÈS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B5A5988-E0FF-46D0-AFBA-6AD9C5C13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24500"/>
            <a:ext cx="4876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73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Un assistant encadré répond au premier niveau et oriente vers les bons supports.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3CC71F1-E48C-4F38-925D-B670BADAE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810250"/>
            <a:ext cx="4876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531D462-1349-4325-BF29-56FC18020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886450"/>
            <a:ext cx="4876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98" b="1">
                <a:solidFill>
                  <a:srgbClr val="617086"/>
                </a:solidFill>
                <a:latin typeface="Aptos"/>
                <a:ea typeface="Aptos"/>
                <a:cs typeface="Aptos"/>
              </a:rPr>
              <a:t>KPI à suivre : Temps de réponse ; satisfaction apprenants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B510ECA-8332-43E8-8D77-74FAF707B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171950"/>
            <a:ext cx="5219700" cy="203835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A9544D2-77F1-4C97-ACAB-5123CD803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343400"/>
            <a:ext cx="3619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8C3A"/>
          </a:solidFill>
          <a:ln xmlns:a="http://schemas.openxmlformats.org/drawingml/2006/main" w="0">
            <a:solidFill>
              <a:srgbClr val="C88C3A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46CC841-DD58-488A-B30D-0740941CC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495800"/>
            <a:ext cx="4876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Reporting pédagogique de cohorte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E3740BD-3B21-4D8F-97F7-99A7A29A3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85775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645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AVANT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AC54E19-4125-4B5B-9B67-5D502A44A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010150"/>
            <a:ext cx="4876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73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La lecture des résultats reste lente et peu homogène.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23D8FDD-603F-4D93-ABF7-A16F48A86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37210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645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APRÈS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E52CC6C-4E30-4F2C-8EA1-4FA10A688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524500"/>
            <a:ext cx="4876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73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Les responsables relisent plus vite les points faibles et actions d’amélioration.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157EFD8-8BA9-4549-BBFA-49B24C8CC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810250"/>
            <a:ext cx="4876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722A670-9951-4A50-8C5F-411A2ED42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886450"/>
            <a:ext cx="4876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98" b="1">
                <a:solidFill>
                  <a:srgbClr val="617086"/>
                </a:solidFill>
                <a:latin typeface="Aptos"/>
                <a:ea typeface="Aptos"/>
                <a:cs typeface="Aptos"/>
              </a:rPr>
              <a:t>KPI à suivre : Temps de reporting ; nombre d’actions correctives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BE9F811-2119-430C-81CF-12EFA94A4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C520968-4B99-4698-9184-EE7C90E47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904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TransferAI | Éducation &amp; Formation Professionnelle | Cas d’usage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746D634-1F6D-4BEA-B434-90F111E58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116945283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CE1694D-D124-45F2-B4DF-58DDCFD06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7"/>
          </a:solidFill>
          <a:ln xmlns:a="http://schemas.openxmlformats.org/drawingml/2006/main" w="0">
            <a:solidFill>
              <a:srgbClr val="F5EFE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16ACD1-2FE4-4D8D-B575-509E5EE6E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PREMIERS TERRAINS À LANCER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F2E64A-9DD2-4387-85C7-A95177102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9715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9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89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Les deux premiers terrains doivent créer une valeur visible pour la direction et les équipes.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AD3730-8DDE-4DCB-BCF2-95CAB3D30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C’est souvent à ce niveau que le prospect décide si la démarche mérite d’aller plus loin. Le choix du premier terrain compte donc plus que la quantité d’idées disponibles.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EDA7C6-F940-401D-846A-CE881DDCB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521970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8D381F-BD20-4D3E-9CE8-07D8BFFA4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81250"/>
            <a:ext cx="1333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05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Terrain prioritaire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346485-2864-4B11-8706-6E5F0CA9D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09850"/>
            <a:ext cx="4800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Conception de modules et cas pratiques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A02E49-8C79-4300-99D6-F426F6BC4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6705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AVANT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811FE8-1E0D-4826-95DE-C05BA46BB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38500"/>
            <a:ext cx="48006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Chaque nouveau parcours repart d’une page presque blanche.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7469E3-3A7B-4E24-B716-F5731961E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90525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APRÈS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35F773-552D-42E2-8A78-28B07196B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76700"/>
            <a:ext cx="48006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Les équipes gagnent une base mieux structurée pour construire plus vite.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F5F2E0-29EB-4BAD-B9F7-7030B2AB0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781550"/>
            <a:ext cx="48006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78648C-D42E-41CA-AF6B-C7DECAB31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876800"/>
            <a:ext cx="45339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6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KPI clé : Temps de création ; délai de mise en cohorte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8404C2A-2C11-4450-944D-48D2D607B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190750"/>
            <a:ext cx="521970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81DB9EB-6354-4362-BC3A-F3139E5BA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381250"/>
            <a:ext cx="1333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05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Terrain prioritaire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E054A33-EF93-4404-AA41-5EC946D68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609850"/>
            <a:ext cx="4800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Personnalisation des parcours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495CDDD-97F9-4DE2-94BD-0A264016A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06705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AVANT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2358D0B-39E0-4E0C-980A-E44594201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238500"/>
            <a:ext cx="48006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Les contenus restent trop génériques pour des publics hétérogènes.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79A70D5-D965-4275-A420-E2AF98030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90525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APRÈS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29AAD9A-EFFB-4EB3-8FFA-BB5D08E08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076700"/>
            <a:ext cx="48006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Les variantes et exercices se déclinent plus finement selon les besoins.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3C294B6-987E-4C8E-AD1E-C2684651E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781550"/>
            <a:ext cx="48006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8233EDA-60A4-47B8-87DA-5C6CE9482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876800"/>
            <a:ext cx="45339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6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KPI clé : Taux de complétion ; taux de réussite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500C47A-67EE-47BB-9CE0-8A8F9BE2A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81650"/>
            <a:ext cx="108204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E68572B-2946-4454-B8B6-573B7E05D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734050"/>
            <a:ext cx="10363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Règle simple : premier terrain = usage visible, responsable identifié, KPI lisible, données accessibles et supervision humaine facile à organiser.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AC10FAC-6848-4AE6-8E7A-9CEB4E2A3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FC57F05-F214-4594-8EA9-2F9876589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904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TransferAI | Éducation &amp; Formation Professionnelle | Deux premiers terrains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68E4BB9-877C-4D6F-9C7E-4ABEF7A7F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501171269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0B4CAA5-D138-4E9B-9D10-8D5665092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7"/>
          </a:solidFill>
          <a:ln xmlns:a="http://schemas.openxmlformats.org/drawingml/2006/main" w="0">
            <a:solidFill>
              <a:srgbClr val="F5EFE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A32EB8-30E0-4033-97A0-343EF5497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FORMATION ET STANDARDISATION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E5F0C4-693A-48AB-B04A-42B89F337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9906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9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89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Le bon catalogue ciblé prépare des gestes métier réels, pas une simple acculturation théorique.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4886E6-C666-43DD-9BC2-549049A0B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8763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Chaque proposition sectorielle TransferAI combine un noyau de formations activables et des usages de standardisation qui rendent l’adoption plus durable dans le temps.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9488EB-A944-4C96-BF73-360F45F09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14550"/>
            <a:ext cx="5467350" cy="3619500"/>
          </a:xfrm>
          <a:prstGeom xmlns:a="http://schemas.openxmlformats.org/drawingml/2006/main" prst="roundRect">
            <a:avLst>
              <a:gd name="adj" fmla="val 2105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A5F735-A470-42F2-AC14-13EBF820B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324100"/>
            <a:ext cx="285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Formations prioritaires à activer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F80C8E-F651-45D6-BC5F-8B61361A1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86050"/>
            <a:ext cx="5467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53C663-FF95-4D82-AF1C-7C0C834F7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62250"/>
            <a:ext cx="3238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1C8A78"/>
          </a:solidFill>
          <a:ln xmlns:a="http://schemas.openxmlformats.org/drawingml/2006/main" w="9525">
            <a:solidFill>
              <a:srgbClr val="1C8A7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91251D-EEBC-4D76-9C85-C4144981D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19400"/>
            <a:ext cx="323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D5EB4C-28F6-43FB-BAC6-52149F34B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800350"/>
            <a:ext cx="4610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Conception Pédagogique Assistée par IA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EC1CF8-2F49-47EB-91E8-C697CE440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62300"/>
            <a:ext cx="5467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C3D879-6989-493B-AD91-BA7E36157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38500"/>
            <a:ext cx="3238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1C8A78"/>
          </a:solidFill>
          <a:ln xmlns:a="http://schemas.openxmlformats.org/drawingml/2006/main" w="9525">
            <a:solidFill>
              <a:srgbClr val="1C8A7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7345CA-F7AE-4D7B-94CE-9BEFE70C9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95650"/>
            <a:ext cx="323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35ECE5-E048-4BDF-BC2A-9F78062C4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276600"/>
            <a:ext cx="4610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Création de Supports de Formation avec l'IA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0DE534F-7AE4-4560-802D-1E4A5FABC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5467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2C44827-55AF-41DC-AD01-C250D9A4F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14750"/>
            <a:ext cx="3238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1C8A78"/>
          </a:solidFill>
          <a:ln xmlns:a="http://schemas.openxmlformats.org/drawingml/2006/main" w="9525">
            <a:solidFill>
              <a:srgbClr val="1C8A7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5398400-3A27-475D-9852-5EE0BCB58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71900"/>
            <a:ext cx="323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A68A9A9-0852-4748-8F9C-2999F4F98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752850"/>
            <a:ext cx="4610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E-learning Adaptatif avec l'IA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98F4965-3DBE-4AF5-8348-49145AEFE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14800"/>
            <a:ext cx="5467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59E4F6D-3892-457D-AC8A-5117ECFC9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91000"/>
            <a:ext cx="3238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1C8A78"/>
          </a:solidFill>
          <a:ln xmlns:a="http://schemas.openxmlformats.org/drawingml/2006/main" w="9525">
            <a:solidFill>
              <a:srgbClr val="1C8A7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0C8F5E9-D147-42CF-9F9C-6EA1E23C3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48150"/>
            <a:ext cx="323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79C2DDC-A66D-4385-A9F1-C0266506D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229100"/>
            <a:ext cx="4610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Tutorat Virtuel et Assistants IA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83613C5-1F31-417C-A3DD-E4AECAEAC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91050"/>
            <a:ext cx="5467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B576E82-EA2D-44B5-807B-E9876F2A0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67250"/>
            <a:ext cx="3238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1C8A78"/>
          </a:solidFill>
          <a:ln xmlns:a="http://schemas.openxmlformats.org/drawingml/2006/main" w="9525">
            <a:solidFill>
              <a:srgbClr val="1C8A7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0ECBA96-D333-4F9C-8085-D9693A96D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24400"/>
            <a:ext cx="323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FD9AA18-647A-4DC3-A6BF-3E0885EBB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705350"/>
            <a:ext cx="4610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LMS et Plateformes de Formation IA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77DA835-F104-4B0F-9E49-E75B73CC6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67300"/>
            <a:ext cx="5467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7B61101-1C95-453B-8E23-8FA455B9A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143500"/>
            <a:ext cx="3238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1C8A78"/>
          </a:solidFill>
          <a:ln xmlns:a="http://schemas.openxmlformats.org/drawingml/2006/main" w="9525">
            <a:solidFill>
              <a:srgbClr val="1C8A7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C984683-4647-40B0-9EB4-AA89D86AB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00650"/>
            <a:ext cx="323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371548D-6733-4502-B148-E1567636F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181600"/>
            <a:ext cx="4610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Accessibilité et Inclusion avec l'IA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C83BE5B-AC30-462B-949A-70CCD52D3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114550"/>
            <a:ext cx="5048250" cy="3619500"/>
          </a:xfrm>
          <a:prstGeom xmlns:a="http://schemas.openxmlformats.org/drawingml/2006/main" prst="roundRect">
            <a:avLst>
              <a:gd name="adj" fmla="val 2105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F5C9894-60FE-4CD6-B5B6-B4AD63CD2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324100"/>
            <a:ext cx="3695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20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Ce que ce dispositif doit standardiser concrètement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2F8A4DD-6E63-4265-B6F5-852BAD6C6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781300"/>
            <a:ext cx="44196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Accélérer la conception sans sacrifier la qualité pédagogique.</a:t>
            </a:r>
          </a:p>
          <a:p xmlns:a="http://schemas.openxmlformats.org/drawingml/2006/main">
            <a:pPr algn="l">
              <a:defRPr sz="90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Rendre les parcours plus adaptables à plusieurs publics.</a:t>
            </a:r>
          </a:p>
          <a:p xmlns:a="http://schemas.openxmlformats.org/drawingml/2006/main">
            <a:pPr algn="l">
              <a:defRPr sz="90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Mieux piloter les cohortes avec des synthèses plus rapides.</a:t>
            </a:r>
          </a:p>
          <a:p xmlns:a="http://schemas.openxmlformats.org/drawingml/2006/main">
            <a:pPr algn="l">
              <a:defRPr sz="90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Structurer la production de supports, quiz et assistants d’apprentissage.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69CDCE6-9BFF-426C-8F09-6E524A8EA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095750"/>
            <a:ext cx="44196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617086"/>
                </a:solidFill>
                <a:latin typeface="Aptos"/>
                <a:ea typeface="Aptos"/>
                <a:cs typeface="Aptos"/>
              </a:rPr>
              <a:t>Après la formation, les équipes formées gardent un accès à la communauté TransferAI pour partager leurs cas, leurs difficultés et obtenir des conseils pratiques orientés exécution.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0A55534-F7F2-4826-BB65-7918A032D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743450"/>
            <a:ext cx="4419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Cette logique augmente la probabilité d’usage réel, sécurise les premiers tests et réduit l’effet “formation oubliée” après quelques semaines.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57D5A1E-DA9B-417B-8B2E-4DFF23925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E09B8E7-850B-4425-8A74-A7D03956E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904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TransferAI | Éducation &amp; Formation Professionnelle | Formation et standardisation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E9666E6-BC18-44F2-A011-CFAC6C715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181408186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51E2F34-4BF5-4174-AD45-99B05E797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7"/>
          </a:solidFill>
          <a:ln xmlns:a="http://schemas.openxmlformats.org/drawingml/2006/main" w="0">
            <a:solidFill>
              <a:srgbClr val="F5EFE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BDE0EA-47A2-44E1-91D6-731F8B56A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PARCOURS 90 JOURS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7244EA-AA37-437D-80A3-CB3985814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9144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La séquence recommandée va du cadrage à la mesure, avec validation à chaque palier.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03F467-929E-46E7-B79F-61E3A9573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47800"/>
            <a:ext cx="8858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L’objectif n’est pas de “déployer de l’IA” d’un bloc, mais de passer par des étapes courtes, visibles et gouvernées, avec un point de décision clair à chaque jalon.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7E0491-8ECF-4AA4-B2BB-B1A5E7F28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2419350" cy="2609850"/>
          </a:xfrm>
          <a:prstGeom xmlns:a="http://schemas.openxmlformats.org/drawingml/2006/main" prst="roundRect">
            <a:avLst>
              <a:gd name="adj" fmla="val 3150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99105C-0188-44C3-923D-44A47CF14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05050"/>
            <a:ext cx="5715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1C8A78"/>
          </a:solidFill>
          <a:ln xmlns:a="http://schemas.openxmlformats.org/drawingml/2006/main" w="0">
            <a:solidFill>
              <a:srgbClr val="1C8A7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BCE0F8-5C0A-4217-80FF-B9EAF8A34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62200"/>
            <a:ext cx="571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J+0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B73CB3-2CDC-44B7-8E96-F75A9AEDA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67000"/>
            <a:ext cx="2076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08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Audit, cadrage et priorisation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38526E-834C-4DFC-846F-385D46F5B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09900"/>
            <a:ext cx="207645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Identifier les flux à plus forte valeur, les risques à encadrer et les équipes à mobiliser.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78F981-9E22-4C87-BB2C-DA9F8D89A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133600"/>
            <a:ext cx="2419350" cy="2609850"/>
          </a:xfrm>
          <a:prstGeom xmlns:a="http://schemas.openxmlformats.org/drawingml/2006/main" prst="roundRect">
            <a:avLst>
              <a:gd name="adj" fmla="val 3150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6C9D4E-DFCE-4D61-A765-884A698E5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305050"/>
            <a:ext cx="5715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1C8A78"/>
          </a:solidFill>
          <a:ln xmlns:a="http://schemas.openxmlformats.org/drawingml/2006/main" w="0">
            <a:solidFill>
              <a:srgbClr val="1C8A7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E68D17-8D56-49FD-8E36-9771FE198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362200"/>
            <a:ext cx="571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J+15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219D7B-E1EF-474B-8B38-358540C5C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667000"/>
            <a:ext cx="2076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08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Premier livrable utile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C287D0E-240E-4D26-AD0F-2E1416AD7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009900"/>
            <a:ext cx="207645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Produire un kit de travail, un assistant pilote ou une première base documentaire prête à l’usage.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D320FE1-B949-4183-B94F-D832A61AD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133600"/>
            <a:ext cx="2419350" cy="2609850"/>
          </a:xfrm>
          <a:prstGeom xmlns:a="http://schemas.openxmlformats.org/drawingml/2006/main" prst="roundRect">
            <a:avLst>
              <a:gd name="adj" fmla="val 3150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23B6DE5-2929-4970-A902-ED0C82B45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305050"/>
            <a:ext cx="5715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163556"/>
          </a:solidFill>
          <a:ln xmlns:a="http://schemas.openxmlformats.org/drawingml/2006/main" w="0">
            <a:solidFill>
              <a:srgbClr val="16355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3E57C44-E2CA-46E7-8818-5CA99E347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362200"/>
            <a:ext cx="571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J+45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4C10444-A927-45AB-BD9F-4B75A0A05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667000"/>
            <a:ext cx="2076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08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Formation ciblée et pilote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E5F217F-A762-4007-8055-AE883C68C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009900"/>
            <a:ext cx="207645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Former les bonnes populations, lancer le premier terrain d’exécution et sécuriser les pratiques.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FEC49B3-9271-4CF2-AC5E-97EEEEC99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133600"/>
            <a:ext cx="2876550" cy="2609850"/>
          </a:xfrm>
          <a:prstGeom xmlns:a="http://schemas.openxmlformats.org/drawingml/2006/main" prst="roundRect">
            <a:avLst>
              <a:gd name="adj" fmla="val 2920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5127736-2B00-4736-9C40-2AA63F314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305050"/>
            <a:ext cx="5715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C88C3A"/>
          </a:solidFill>
          <a:ln xmlns:a="http://schemas.openxmlformats.org/drawingml/2006/main" w="0">
            <a:solidFill>
              <a:srgbClr val="C88C3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FC11BE6-D90A-48C0-BC63-07B70AF99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362200"/>
            <a:ext cx="571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J+90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6DA5B5C-7F09-4D96-A706-117E776EC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667000"/>
            <a:ext cx="25336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08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Mesure, gouvernance et extension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9F967B2-65CE-4BEA-8ECC-1B2050ADA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009900"/>
            <a:ext cx="253365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Relire les premiers KPI, ajuster les usages et décider l’extension, le recentrage ou la montée en charge.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D6878C1-6F2D-4985-89D0-0735CCAF0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81600"/>
            <a:ext cx="108204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1260F0C-EB78-4DF7-832B-CA9778DD4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372100"/>
            <a:ext cx="171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Différentiel TransferAI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B974208-8043-4267-9F40-0E9DB7D73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619750"/>
            <a:ext cx="10172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Une structure de formation classique s’arrête au contenu. TransferAI forme, puis accompagne la mise en pratique, la relecture des premiers KPI, les ajustements et la décision d’extension pendant 90 jours.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18D239E-B6FD-4376-97A1-F4135753B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1A7EBE2-2E8D-48B3-973F-3D3AC8BB1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904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TransferAI | Éducation &amp; Formation Professionnelle | Parcours 90 jours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DE3AE28-9B53-4B24-98A4-F17D04ED3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408223641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9C1702B-8BD8-476F-A7A6-B5F9A2CB2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7"/>
          </a:solidFill>
          <a:ln xmlns:a="http://schemas.openxmlformats.org/drawingml/2006/main" w="0">
            <a:solidFill>
              <a:srgbClr val="F5EFE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51A92F-4624-43DD-980C-DFB07F1DF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OFFRE RECOMMANDÉE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B327DC-0161-40D4-A263-0B5601FDA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9906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9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89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La proposition TransferAI pour éducation &amp; formation professionnelle s’organise en 4 briques simples à activer.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4AEEF1-1FE5-434B-BE4B-18411A6A8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8953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Cette architecture permet de relier audit, formation, accompagnement, gouvernance et premier terrain d’exécution dans une seule logique commerciale compréhensible par le prospect.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37BFE4-67F4-4802-B4A0-800AF4E02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52197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0848A4-3731-45CD-BE66-D8BE7AD99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38400"/>
            <a:ext cx="49530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C8A78"/>
          </a:solidFill>
          <a:ln xmlns:a="http://schemas.openxmlformats.org/drawingml/2006/main" w="0">
            <a:solidFill>
              <a:srgbClr val="1C8A7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6C9E3B-9D64-4331-93B0-2D379A3B8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419350"/>
            <a:ext cx="426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Audit métier ciblé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9C12FB-998F-41FB-8F15-CED10BBF3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43200"/>
            <a:ext cx="4876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Qualifier les flux, documents et points de friction les plus critiques pour Éducation &amp; Formation Professionnelle.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D6B6CE-0162-459A-BC37-BA0AFD024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00400"/>
            <a:ext cx="4876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• Cartographie des irritants</a:t>
            </a:r>
          </a:p>
          <a:p xmlns:a="http://schemas.openxmlformats.org/drawingml/2006/main">
            <a:pPr algn="l">
              <a:defRPr sz="76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• Hypothèses de gains rapides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A59F12-C49B-4A83-91E1-8A528378C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247900"/>
            <a:ext cx="52197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115403-691F-4677-882A-C6F6E94E6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438400"/>
            <a:ext cx="49530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C8A78"/>
          </a:solidFill>
          <a:ln xmlns:a="http://schemas.openxmlformats.org/drawingml/2006/main" w="0">
            <a:solidFill>
              <a:srgbClr val="1C8A7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341CA1-5C83-464C-9E25-002A630D9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419350"/>
            <a:ext cx="426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Formation des décideurs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A91494-005E-4959-942B-50CECDBB9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743200"/>
            <a:ext cx="4876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Aligner la direction, les managers et les sponsors sur les usages, limites et conditions de réussite.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17F2861-0DAF-46D7-B623-C33A6EA21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200400"/>
            <a:ext cx="4876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• Vision, gouvernance et arbitrages</a:t>
            </a:r>
          </a:p>
          <a:p xmlns:a="http://schemas.openxmlformats.org/drawingml/2006/main">
            <a:pPr algn="l">
              <a:defRPr sz="76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• Lecture des premiers KPI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2794E30-1CD3-42A7-BAD8-8B79406CE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62400"/>
            <a:ext cx="52197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702D025-7994-40CD-9523-5246ABAA6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52900"/>
            <a:ext cx="49530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63556"/>
          </a:solidFill>
          <a:ln xmlns:a="http://schemas.openxmlformats.org/drawingml/2006/main" w="0">
            <a:solidFill>
              <a:srgbClr val="16355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DC33D31-5D39-43A0-8F22-CA13B93A0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133850"/>
            <a:ext cx="426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Formation des équipes opérationnelles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335822A-80AB-4F04-9CAA-77E60EEAF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57700"/>
            <a:ext cx="4876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Mettre les bonnes méthodes et les bons assistants dans les mains des équipes qui exécutent.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DD4F1C7-EF92-4D2C-BA7D-4B9B42B02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14900"/>
            <a:ext cx="4876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• Gestes métier augmentés</a:t>
            </a:r>
          </a:p>
          <a:p xmlns:a="http://schemas.openxmlformats.org/drawingml/2006/main">
            <a:pPr algn="l">
              <a:defRPr sz="76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• Standardisation utile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F2BEA6D-E9C6-4885-A5BE-4C220D74E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962400"/>
            <a:ext cx="52197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DF1ECB3-9402-42B5-BF4C-174D1738E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152900"/>
            <a:ext cx="49530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C88C3A"/>
          </a:solidFill>
          <a:ln xmlns:a="http://schemas.openxmlformats.org/drawingml/2006/main" w="0">
            <a:solidFill>
              <a:srgbClr val="C88C3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C3FAE3C-6218-4C2B-B12C-5F10ABBDF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133850"/>
            <a:ext cx="426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Pilote, accompagnement et extension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A666E45-A886-4BFC-AA6C-0C2CFE151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457700"/>
            <a:ext cx="4876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Passer d’une intention IA à un premier terrain visible, mesurable et gouverné.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AF7EFED-9461-41A1-B1D7-18B39ECD4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914900"/>
            <a:ext cx="4876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• Pilotage sur 90 jours</a:t>
            </a:r>
          </a:p>
          <a:p xmlns:a="http://schemas.openxmlformats.org/drawingml/2006/main">
            <a:pPr algn="l">
              <a:defRPr sz="76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• Décision d’extension ou de recentrage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645C892-7CFA-4A23-9B22-4E52A7D44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1953D19-8A7C-4ADE-84F6-781DBE23A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904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TransferAI | Éducation &amp; Formation Professionnelle | Offre recommandée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7E948BE-10CE-4D9F-A21C-6C5AD4D89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461349508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FF532C2-2AE6-4C75-BA47-257968FD6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0E8"/>
          </a:solidFill>
          <a:ln xmlns:a="http://schemas.openxmlformats.org/drawingml/2006/main" w="0">
            <a:solidFill>
              <a:srgbClr val="F6F0E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553F46-E41B-4DE5-85A6-10898B48C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1111"/>
            </a:avLst>
          </a:prstGeom>
          <a:solidFill xmlns:a="http://schemas.openxmlformats.org/drawingml/2006/main">
            <a:srgbClr val="163556"/>
          </a:solidFill>
          <a:ln xmlns:a="http://schemas.openxmlformats.org/drawingml/2006/main" w="9525">
            <a:solidFill>
              <a:srgbClr val="163556"/>
            </a:solidFill>
            <a:prstDash val="solid"/>
          </a:ln>
        </p:spPr>
      </p:sp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90e66f460d406e"/>
          <a:stretch xmlns:a="http://schemas.openxmlformats.org/drawingml/2006/main"/>
        </p:blipFill>
        <p:spPr>
          <a:xfrm xmlns:a="http://schemas.openxmlformats.org/drawingml/2006/main">
            <a:off x="1056731" y="723900"/>
            <a:ext cx="1125039" cy="4953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F80A33-3710-4B56-B1CA-0010E7403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859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D8E6F4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D8E6F4"/>
                </a:solidFill>
                <a:latin typeface="Aptos"/>
                <a:ea typeface="Aptos"/>
                <a:cs typeface="Aptos"/>
              </a:rPr>
              <a:t>CONFIANCE ET PROCHAINE ÉTAPE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B05B58-96B0-4214-9C77-26772ADB1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52600"/>
            <a:ext cx="5905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88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988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Proposer un pilote utile, gouverné et mesurable.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5F981B-6D17-4EF0-8713-F92D93356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57450"/>
            <a:ext cx="5810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45" b="0">
                <a:solidFill>
                  <a:srgbClr val="D7E5F3"/>
                </a:solidFill>
                <a:latin typeface="Aptos"/>
                <a:ea typeface="Aptos"/>
                <a:cs typeface="Aptos"/>
              </a:defRPr>
            </a:pPr>
            <a:r>
              <a:rPr sz="945" b="0">
                <a:solidFill>
                  <a:srgbClr val="D7E5F3"/>
                </a:solidFill>
                <a:latin typeface="Aptos"/>
                <a:ea typeface="Aptos"/>
                <a:cs typeface="Aptos"/>
              </a:rPr>
              <a:t>Le rendez-vous ne sert pas à vendre un outil abstrait. Il sert à confirmer les deux premiers terrains, les équipes à former, les données à protéger et la sortie attendue à 90 jours.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17FFE9-7A95-4F02-BA1D-5D5C73D86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00400"/>
            <a:ext cx="5334000" cy="2343150"/>
          </a:xfrm>
          <a:prstGeom xmlns:a="http://schemas.openxmlformats.org/drawingml/2006/main" prst="roundRect">
            <a:avLst>
              <a:gd name="adj" fmla="val 3252"/>
            </a:avLst>
          </a:prstGeom>
          <a:solidFill xmlns:a="http://schemas.openxmlformats.org/drawingml/2006/main">
            <a:srgbClr val="20405F"/>
          </a:solidFill>
          <a:ln xmlns:a="http://schemas.openxmlformats.org/drawingml/2006/main" w="9525">
            <a:solidFill>
              <a:srgbClr val="2B587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A9C7B9-855E-45BF-A31F-D9A755387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448050"/>
            <a:ext cx="304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Le cadre de confiance à présenter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A7D19B-B796-4E26-94D7-E131E6462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829050"/>
            <a:ext cx="46291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55" b="0">
                <a:solidFill>
                  <a:srgbClr val="E8F1F8"/>
                </a:solidFill>
                <a:latin typeface="Aptos"/>
                <a:ea typeface="Aptos"/>
                <a:cs typeface="Aptos"/>
              </a:defRPr>
            </a:pPr>
            <a:r>
              <a:rPr sz="855" b="0">
                <a:solidFill>
                  <a:srgbClr val="E8F1F8"/>
                </a:solidFill>
                <a:latin typeface="Aptos"/>
                <a:ea typeface="Aptos"/>
                <a:cs typeface="Aptos"/>
              </a:rPr>
              <a:t>• Les usages proposés restent gouvernés, progressifs et validés par des responsables métier identifiés.</a:t>
            </a:r>
          </a:p>
          <a:p xmlns:a="http://schemas.openxmlformats.org/drawingml/2006/main">
            <a:pPr algn="l">
              <a:defRPr sz="855" b="0">
                <a:solidFill>
                  <a:srgbClr val="E8F1F8"/>
                </a:solidFill>
                <a:latin typeface="Aptos"/>
                <a:ea typeface="Aptos"/>
                <a:cs typeface="Aptos"/>
              </a:defRPr>
            </a:pPr>
            <a:r>
              <a:rPr sz="855" b="0">
                <a:solidFill>
                  <a:srgbClr val="E8F1F8"/>
                </a:solidFill>
                <a:latin typeface="Aptos"/>
                <a:ea typeface="Aptos"/>
                <a:cs typeface="Aptos"/>
              </a:rPr>
              <a:t>• Les données sensibles, documents internes et arbitrages critiques restent sous supervision humaine.</a:t>
            </a:r>
          </a:p>
          <a:p xmlns:a="http://schemas.openxmlformats.org/drawingml/2006/main">
            <a:pPr algn="l">
              <a:defRPr sz="855" b="0">
                <a:solidFill>
                  <a:srgbClr val="E8F1F8"/>
                </a:solidFill>
                <a:latin typeface="Aptos"/>
                <a:ea typeface="Aptos"/>
                <a:cs typeface="Aptos"/>
              </a:defRPr>
            </a:pPr>
            <a:r>
              <a:rPr sz="855" b="0">
                <a:solidFill>
                  <a:srgbClr val="E8F1F8"/>
                </a:solidFill>
                <a:latin typeface="Aptos"/>
                <a:ea typeface="Aptos"/>
                <a:cs typeface="Aptos"/>
              </a:rPr>
              <a:t>• TransferAI ne s’arrête pas à la formation : nous accompagnons aussi la mise en pratique, les premiers KPI et la décision d’extension.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4AAD38-58C1-4D35-833D-20A05E6AD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104900"/>
            <a:ext cx="4953000" cy="4438650"/>
          </a:xfrm>
          <a:prstGeom xmlns:a="http://schemas.openxmlformats.org/drawingml/2006/main" prst="roundRect">
            <a:avLst>
              <a:gd name="adj" fmla="val 1717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FFFDF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BD496D-8664-4252-9B25-A7E16E7E5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409700"/>
            <a:ext cx="2857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Sortie attendue du rendez-vous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80E0AE-5454-4851-AE99-B474E6221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790700"/>
            <a:ext cx="40957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7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7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Confirmer les 2 premiers cas d’usage à plus forte valeur visible.</a:t>
            </a:r>
          </a:p>
          <a:p xmlns:a="http://schemas.openxmlformats.org/drawingml/2006/main">
            <a:pPr algn="l">
              <a:defRPr sz="87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7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Valider les populations à former et le niveau d’accompagnement requis.</a:t>
            </a:r>
          </a:p>
          <a:p xmlns:a="http://schemas.openxmlformats.org/drawingml/2006/main">
            <a:pPr algn="l">
              <a:defRPr sz="87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7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Identifier les KPI prioritaires et la forme du premier pilote.</a:t>
            </a:r>
          </a:p>
          <a:p xmlns:a="http://schemas.openxmlformats.org/drawingml/2006/main">
            <a:pPr algn="l">
              <a:defRPr sz="87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7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Décider du bon ordre entre audit détaillé, formation ciblée, pilote et gouvernance.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F59704-1202-4A71-98DB-D7C9E7678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27660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CTA principal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E2DA38-A529-433E-9FD0-8BE28E8E6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524250"/>
            <a:ext cx="4095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355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63556"/>
                </a:solidFill>
                <a:latin typeface="Aptos"/>
                <a:ea typeface="Aptos"/>
                <a:cs typeface="Aptos"/>
              </a:rPr>
              <a:t>Planifier un audit IA gratuit suivi d’un échange expert de 45 minutes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C9C3E4-D467-477F-AEE2-C40BDB328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095750"/>
            <a:ext cx="4095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Pièces jointes recommandées : ce deck sectoriel + mini-catalogue ciblé + formulaire d’audit pré-rendez-vous.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3AF2A05-BE23-4F53-914A-BED3BB2E4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62915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0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Contextes proches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E844428-BA5B-4917-BA71-E1032606B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857750"/>
            <a:ext cx="36195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28BCB13-6136-4DF8-A2E3-7FE0275D9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914900"/>
            <a:ext cx="3429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Éducation / Recherche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7173C47-DB3F-465E-BF7B-63C44C76D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5181600"/>
            <a:ext cx="36195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97D747E-2332-4380-A95B-7AA42DD18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5238750"/>
            <a:ext cx="3429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Éducation / Management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B9489D3-11CD-4CD0-9991-3A74DBFDD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5505450"/>
            <a:ext cx="36195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7C0F505-7B3C-4126-B6B1-2B904CAD2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5562600"/>
            <a:ext cx="3429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Éducation / Numérique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C41D41F-72A4-404A-BB09-4563C5964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A97B7A0-BAF9-47B1-B636-52620605E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904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TransferAI | Éducation &amp; Formation Professionnelle | Confiance et prochaine étape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8337923-D35F-4540-910A-30B7485E3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23671797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2026-06-13T00:10:39.0320000Z</dcterms:created>
  <dcterms:modified xsi:type="dcterms:W3CDTF">2026-06-13T00:10:39.0320000Z</dcterms:modified>
</coreProperties>
</file>