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9ef1f94ef34420b" /><Relationship Type="http://schemas.openxmlformats.org/officeDocument/2006/relationships/extended-properties" Target="/docProps/app.xml" Id="R22cd61d95aeb4d3a" /><Relationship Type="http://schemas.openxmlformats.org/officeDocument/2006/relationships/officeDocument" Target="/ppt/presentation.xml" Id="R5e75f4709817480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78d1608bc114516"/>
  </p:sldMasterIdLst>
  <p:notesMasterIdLst>
    <p:notesMasterId xmlns:r="http://schemas.openxmlformats.org/officeDocument/2006/relationships" r:id="R07df7a357d6948f8"/>
  </p:notesMasterIdLst>
  <p:sldIdLst>
    <p:sldId xmlns:r="http://schemas.openxmlformats.org/officeDocument/2006/relationships" id="256" r:id="Rccf374de2e4d4c4e"/>
    <p:sldId xmlns:r="http://schemas.openxmlformats.org/officeDocument/2006/relationships" id="257" r:id="Rf34c1dde1b3f4cd7"/>
    <p:sldId xmlns:r="http://schemas.openxmlformats.org/officeDocument/2006/relationships" id="258" r:id="Re54c6d2371f246c0"/>
    <p:sldId xmlns:r="http://schemas.openxmlformats.org/officeDocument/2006/relationships" id="259" r:id="Rc0b5dfc090624226"/>
    <p:sldId xmlns:r="http://schemas.openxmlformats.org/officeDocument/2006/relationships" id="260" r:id="R4b5eba83d3924076"/>
    <p:sldId xmlns:r="http://schemas.openxmlformats.org/officeDocument/2006/relationships" id="261" r:id="Rbc4554a28df14675"/>
    <p:sldId xmlns:r="http://schemas.openxmlformats.org/officeDocument/2006/relationships" id="262" r:id="Rf799d9972c754c69"/>
    <p:sldId xmlns:r="http://schemas.openxmlformats.org/officeDocument/2006/relationships" id="263" r:id="R588fae9cc5e54992"/>
    <p:sldId xmlns:r="http://schemas.openxmlformats.org/officeDocument/2006/relationships" id="264" r:id="Ra7bcb455981c4ba8"/>
    <p:sldId xmlns:r="http://schemas.openxmlformats.org/officeDocument/2006/relationships" id="265" r:id="R809a349b80dc411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43715318add4105" /><Relationship Type="http://schemas.openxmlformats.org/officeDocument/2006/relationships/slideMaster" Target="/ppt/slideMasters/slideMaster1.xml" Id="R978d1608bc114516" /><Relationship Type="http://schemas.openxmlformats.org/officeDocument/2006/relationships/notesMaster" Target="/ppt/notesMasters/notesMaster1.xml" Id="R07df7a357d6948f8" /><Relationship Type="http://schemas.openxmlformats.org/officeDocument/2006/relationships/presProps" Target="/ppt/presProps.xml" Id="R1c2418346b7c42d7" /><Relationship Type="http://schemas.openxmlformats.org/officeDocument/2006/relationships/viewProps" Target="/ppt/viewProps.xml" Id="R4fb126d178d34e62" /><Relationship Type="http://schemas.openxmlformats.org/officeDocument/2006/relationships/tableStyles" Target="/ppt/tableStyles.xml" Id="Rd9a4a788ec71437f" /><Relationship Type="http://schemas.openxmlformats.org/officeDocument/2006/relationships/slide" Target="/ppt/slides/slide1.xml" Id="Rccf374de2e4d4c4e" /><Relationship Type="http://schemas.openxmlformats.org/officeDocument/2006/relationships/slide" Target="/ppt/slides/slide2.xml" Id="Rf34c1dde1b3f4cd7" /><Relationship Type="http://schemas.openxmlformats.org/officeDocument/2006/relationships/slide" Target="/ppt/slides/slide3.xml" Id="Re54c6d2371f246c0" /><Relationship Type="http://schemas.openxmlformats.org/officeDocument/2006/relationships/slide" Target="/ppt/slides/slide4.xml" Id="Rc0b5dfc090624226" /><Relationship Type="http://schemas.openxmlformats.org/officeDocument/2006/relationships/slide" Target="/ppt/slides/slide5.xml" Id="R4b5eba83d3924076" /><Relationship Type="http://schemas.openxmlformats.org/officeDocument/2006/relationships/slide" Target="/ppt/slides/slide6.xml" Id="Rbc4554a28df14675" /><Relationship Type="http://schemas.openxmlformats.org/officeDocument/2006/relationships/slide" Target="/ppt/slides/slide7.xml" Id="Rf799d9972c754c69" /><Relationship Type="http://schemas.openxmlformats.org/officeDocument/2006/relationships/slide" Target="/ppt/slides/slide8.xml" Id="R588fae9cc5e54992" /><Relationship Type="http://schemas.openxmlformats.org/officeDocument/2006/relationships/slide" Target="/ppt/slides/slide9.xml" Id="Ra7bcb455981c4ba8" /><Relationship Type="http://schemas.openxmlformats.org/officeDocument/2006/relationships/slide" Target="/ppt/slides/slide10.xml" Id="R809a349b80dc411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fa14b4d3fca45b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b516a1d47814135" /><Relationship Type="http://schemas.openxmlformats.org/officeDocument/2006/relationships/notesMaster" Target="/ppt/notesMasters/notesMaster1.xml" Id="R55fb5bfe3f5e422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7140bdd854e43d4" /><Relationship Type="http://schemas.openxmlformats.org/officeDocument/2006/relationships/notesMaster" Target="/ppt/notesMasters/notesMaster1.xml" Id="R6a5d99df238e4cc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9432c220da14858" /><Relationship Type="http://schemas.openxmlformats.org/officeDocument/2006/relationships/notesMaster" Target="/ppt/notesMasters/notesMaster1.xml" Id="R39df571eee8342a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790d0256b6d45fc" /><Relationship Type="http://schemas.openxmlformats.org/officeDocument/2006/relationships/notesMaster" Target="/ppt/notesMasters/notesMaster1.xml" Id="R6bd7701c532645f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cd496a739694914" /><Relationship Type="http://schemas.openxmlformats.org/officeDocument/2006/relationships/notesMaster" Target="/ppt/notesMasters/notesMaster1.xml" Id="Re737124f5925482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f9a1f20eb274769" /><Relationship Type="http://schemas.openxmlformats.org/officeDocument/2006/relationships/notesMaster" Target="/ppt/notesMasters/notesMaster1.xml" Id="Rec43b518b9714c7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a3cc29a2c5045cf" /><Relationship Type="http://schemas.openxmlformats.org/officeDocument/2006/relationships/notesMaster" Target="/ppt/notesMasters/notesMaster1.xml" Id="Rbd405613baec4dc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723d7f493374e05" /><Relationship Type="http://schemas.openxmlformats.org/officeDocument/2006/relationships/notesMaster" Target="/ppt/notesMasters/notesMaster1.xml" Id="Rd0c81533c8064d4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0c661bc46fc403f" /><Relationship Type="http://schemas.openxmlformats.org/officeDocument/2006/relationships/notesMaster" Target="/ppt/notesMasters/notesMaster1.xml" Id="R711df80b48b0449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9bd6065d5554c9d" /><Relationship Type="http://schemas.openxmlformats.org/officeDocument/2006/relationships/notesMaster" Target="/ppt/notesMasters/notesMaster1.xml" Id="R4dda8e79ecc64ba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603629461eb428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2d07346cc06469c" /><Relationship Type="http://schemas.openxmlformats.org/officeDocument/2006/relationships/slideLayout" Target="/ppt/slideLayouts/slideLayout1.xml" Id="R29788c25f542483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9788c25f542483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0fea9a039d4909" /><Relationship Type="http://schemas.openxmlformats.org/officeDocument/2006/relationships/image" Target="/ppt/media/image.png" Id="R57cff1921b964d13" /><Relationship Type="http://schemas.openxmlformats.org/officeDocument/2006/relationships/notesSlide" Target="/ppt/notesSlides/notesSlide1.xml" Id="R98fe4fd2101d408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357a1d15ac464b" /><Relationship Type="http://schemas.openxmlformats.org/officeDocument/2006/relationships/image" Target="/ppt/media/image2.png" Id="R31cde2db7a344adb" /><Relationship Type="http://schemas.openxmlformats.org/officeDocument/2006/relationships/notesSlide" Target="/ppt/notesSlides/notesSlide2.xml" Id="Rbe5c81a161434e1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a2655250194fec" /><Relationship Type="http://schemas.openxmlformats.org/officeDocument/2006/relationships/notesSlide" Target="/ppt/notesSlides/notesSlide3.xml" Id="R638a79b52a4b4f1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c1e2f3421149e2" /><Relationship Type="http://schemas.openxmlformats.org/officeDocument/2006/relationships/notesSlide" Target="/ppt/notesSlides/notesSlide4.xml" Id="R90c5b840dc5f43e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733f2cef5341e8" /><Relationship Type="http://schemas.openxmlformats.org/officeDocument/2006/relationships/notesSlide" Target="/ppt/notesSlides/notesSlide5.xml" Id="R0720a7c68f7d4d2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5146c334b144f1" /><Relationship Type="http://schemas.openxmlformats.org/officeDocument/2006/relationships/notesSlide" Target="/ppt/notesSlides/notesSlide6.xml" Id="R78117f8421f9443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6df91d300949fd" /><Relationship Type="http://schemas.openxmlformats.org/officeDocument/2006/relationships/notesSlide" Target="/ppt/notesSlides/notesSlide7.xml" Id="R052a5ca0003d405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8b0e17666f4e14" /><Relationship Type="http://schemas.openxmlformats.org/officeDocument/2006/relationships/notesSlide" Target="/ppt/notesSlides/notesSlide8.xml" Id="R70ff9ebd4469439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7034b79dc440be" /><Relationship Type="http://schemas.openxmlformats.org/officeDocument/2006/relationships/notesSlide" Target="/ppt/notesSlides/notesSlide9.xml" Id="R3fb5aa71daeb4d0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6ad7c10b704a4c" /><Relationship Type="http://schemas.openxmlformats.org/officeDocument/2006/relationships/image" Target="/ppt/media/image3.png" Id="R08727565541d402a" /><Relationship Type="http://schemas.openxmlformats.org/officeDocument/2006/relationships/notesSlide" Target="/ppt/notesSlides/notesSlide10.xml" Id="Rd3b15c00c43d49e8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AF4E3DC-3CB2-4A71-A495-5EA21F840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7B0562-C598-41D6-8A6F-820CCA41F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2EA"/>
          </a:solidFill>
          <a:ln xmlns:a="http://schemas.openxmlformats.org/drawingml/2006/main" w="0">
            <a:solidFill>
              <a:srgbClr val="F8F2E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0C67F3-7E37-4FEB-A0C4-C67082C44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0"/>
            <a:ext cx="4324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C7CA9A-92AD-43A3-B4B6-AB3F1E977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191000"/>
            <a:ext cx="43243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1D"/>
          </a:solidFill>
          <a:ln xmlns:a="http://schemas.openxmlformats.org/drawingml/2006/main" w="0">
            <a:solidFill>
              <a:srgbClr val="E76F1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284577-7B12-44D5-86C4-CD99F88EB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04850"/>
            <a:ext cx="6705600" cy="4114800"/>
          </a:xfrm>
          <a:prstGeom xmlns:a="http://schemas.openxmlformats.org/drawingml/2006/main" prst="roundRect">
            <a:avLst>
              <a:gd name="adj" fmla="val 1852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cff1921b964d13"/>
          <a:stretch xmlns:a="http://schemas.openxmlformats.org/drawingml/2006/main"/>
        </p:blipFill>
        <p:spPr>
          <a:xfrm xmlns:a="http://schemas.openxmlformats.org/drawingml/2006/main">
            <a:off x="1268050" y="971550"/>
            <a:ext cx="1254851" cy="5524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981E10-B17C-4C62-B76B-3DE7BDB6A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907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DECK SECTORIEL PREMIUM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63223C-93DA-4B4F-AD55-1EC829E7A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95500"/>
            <a:ext cx="41148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Hôtellerie &amp; Tourisme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1CD9B2-46BD-4A71-B488-8D65D01A7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86050"/>
            <a:ext cx="52197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6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76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Renforcer l’expérience client, la coordination terrain et la qualité de service dans les parcours d’accueil.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AB3B35-BFFD-4123-AF16-5EBDE8A65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24250"/>
            <a:ext cx="53721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Pour les groupes hôteliers, résidences, sites touristiques et fonctions support qui veulent transformer l’IA en réactivité, standard de service et meilleure coordination des équipes.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DC2A63-C97F-404B-A959-D2FD14A02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781050"/>
            <a:ext cx="3143250" cy="236220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214260"/>
          </a:solidFill>
          <a:ln xmlns:a="http://schemas.openxmlformats.org/drawingml/2006/main" w="9525">
            <a:solidFill>
              <a:srgbClr val="21426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6C073A-2C99-405F-8ADD-B36F9F177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02870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D8E6F4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D8E6F4"/>
                </a:solidFill>
                <a:latin typeface="Aptos"/>
                <a:ea typeface="Aptos"/>
                <a:cs typeface="Aptos"/>
              </a:rPr>
              <a:t>Contextes d'application proches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5AAA84-8106-41B3-8FDD-9497BD73F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314450"/>
            <a:ext cx="25908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Ce deck peut être partagé avec plusieurs organisations du même univers métier.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84DDA4-95A0-4762-BBD8-D46CBA8C9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171700"/>
            <a:ext cx="2590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E6EEF6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E6EEF6"/>
                </a:solidFill>
                <a:latin typeface="Aptos"/>
                <a:ea typeface="Aptos"/>
                <a:cs typeface="Aptos"/>
              </a:rPr>
              <a:t>La proposition met en avant des enjeux récurrents, des cas d’usage crédibles et un parcours d’accompagnement progressif pour des structures aux besoins proches.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C57A04-266B-406C-A5E9-ECA261911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486150"/>
            <a:ext cx="28003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79D6AB-AF5D-42D5-9599-819E8928A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543300"/>
            <a:ext cx="2609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Hôtellerie / Tourisme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2312E3-8361-41D8-9EE8-F65886297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829050"/>
            <a:ext cx="28003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189D1D-7F4D-401D-940C-F866C8296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886200"/>
            <a:ext cx="2609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Hôtellerie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89693F-ECA0-43CA-B750-0069967CE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171950"/>
            <a:ext cx="28003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E57149C-B790-4E33-9E97-789F9A77E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229100"/>
            <a:ext cx="2609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Restauration rapide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45725BA-F4C5-48F8-AB00-CBA16C82C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81600"/>
            <a:ext cx="15240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745F44B-0164-434F-9392-43DC23968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53050"/>
            <a:ext cx="38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1D"/>
          </a:solidFill>
          <a:ln xmlns:a="http://schemas.openxmlformats.org/drawingml/2006/main" w="0">
            <a:solidFill>
              <a:srgbClr val="E76F1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B52422D-04CB-4065-833F-1343C00E7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334000"/>
            <a:ext cx="108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B5AE535-2379-42EF-B201-FB855AF53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619750"/>
            <a:ext cx="1085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formations activables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B98365F-608A-4946-909E-F151FE152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181600"/>
            <a:ext cx="15240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5DDE024-026F-4DF8-A4DC-B92CA2FB8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5353050"/>
            <a:ext cx="38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5EB060F-8C7E-4370-87DB-372386DA8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334000"/>
            <a:ext cx="108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595357D-E1B1-439E-A87E-CC1D927CB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619750"/>
            <a:ext cx="1085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usages prioritaires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FD7AFA3-9668-45C4-9A0D-1B6D6F96B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181600"/>
            <a:ext cx="15240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CF59492-F63E-4C91-BDEE-13F2ABE6F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353050"/>
            <a:ext cx="38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461AA86-4F43-4054-BCD5-8D3E1C4A3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334000"/>
            <a:ext cx="108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J+90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D0AA42E-66EA-4AC2-B445-471B2ED6D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619750"/>
            <a:ext cx="1085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pilotage d’extension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6DFA046-A17D-4715-99A8-18975AA88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5181600"/>
            <a:ext cx="16192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B6C743F-15F4-429C-91E1-C3B9603F4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5353050"/>
            <a:ext cx="38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8C3A"/>
          </a:solidFill>
          <a:ln xmlns:a="http://schemas.openxmlformats.org/drawingml/2006/main" w="0">
            <a:solidFill>
              <a:srgbClr val="C88C3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96CB60A-A411-4B82-9CB1-B92836A74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334000"/>
            <a:ext cx="1181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0 FCFA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FF0CCFB-3C0F-4FAD-8F71-4DB8C12D5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619750"/>
            <a:ext cx="1181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audit d’entrée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AF61C63-93DE-4713-86DF-83EF024D5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181600"/>
            <a:ext cx="37338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A559AF0-17EB-4664-826A-7DBBDE7CA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334000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Promesse centrale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107729A-BE40-46D6-9E68-AA174B76F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543550"/>
            <a:ext cx="3219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Transformer l’IA en gains visibles de productivité, de coordination, de qualité de service et de lisibilité managériale.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6D10485-D411-495E-9363-1158CFB6E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66589BD-27B3-4111-BFD2-1AB9A80D6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Hôtellerie &amp; Tourisme | Deck sectoriel premium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1125E23-7D3E-4810-A3E8-E0D40B277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84787949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4121FC0-45FF-4F94-BA69-7C5913BC3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8C75DC-E0F3-445A-ADAF-941A8B840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POURQUOI TRANSFERAI SUR CE TERRAIN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BADBDA-9EDB-46D0-B836-EE9B59302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8001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0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90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Une proposition conçue pour hôtellerie &amp; tourisme plutôt qu’un catalogue générique.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508978-3EE3-4CD2-9C94-4F384A3B4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819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4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4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 secteur attend surtout des gains visibles sur la relation client, la coordination interne, la qualité de réponse et l’exploitation rapide des retours clients.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A24C68-A81C-48D9-8A2B-6A0074127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5086350" cy="3371850"/>
          </a:xfrm>
          <a:prstGeom xmlns:a="http://schemas.openxmlformats.org/drawingml/2006/main" prst="roundRect">
            <a:avLst>
              <a:gd name="adj" fmla="val 2260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cde2db7a344adb"/>
          <a:stretch xmlns:a="http://schemas.openxmlformats.org/drawingml/2006/main"/>
        </p:blipFill>
        <p:spPr>
          <a:xfrm xmlns:a="http://schemas.openxmlformats.org/drawingml/2006/main">
            <a:off x="1287916" y="2362200"/>
            <a:ext cx="1081768" cy="4762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0AA722-818D-41AA-8E60-B20D33B51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4800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TransferAI : de la pédagogie à l’exécution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940A2B-4183-4757-949E-E03F40DA3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29000"/>
            <a:ext cx="44005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Audit IA gratuit pour qualifier les priorités avant toute dépense lourde.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Formation ciblée des décideurs et des équipes, pensée pour les usages du terrain.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Accompagnement de mise en pratique sur 90 jours avec relecture des premiers KPI.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Cadre de gouvernance, confidentialité et progression par pilote avant extension.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D43CE1-CA05-40D7-81B8-45427B8CF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10150"/>
            <a:ext cx="4400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03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03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La différence clé : une structure de formation classique transmet un contenu. TransferAI forme, puis accompagne l’usage réel, les ajustements et les décisions d’extension.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033A5C-F28F-413D-BEE9-CF0773948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152650"/>
            <a:ext cx="5467350" cy="3371850"/>
          </a:xfrm>
          <a:prstGeom xmlns:a="http://schemas.openxmlformats.org/drawingml/2006/main" prst="roundRect">
            <a:avLst>
              <a:gd name="adj" fmla="val 2260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386A44-A58C-4783-B0E4-6B6792DE1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00300"/>
            <a:ext cx="4095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3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Types d'organisations et contextes proches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5DEBC0-80CB-4BAB-A770-E69B08189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38450"/>
            <a:ext cx="4629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32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32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repères ci-dessous montrent des environnements où cette proposition garde la même pertinence métier et la même lisibilité commerciale.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9E8052-70CC-43F3-A739-D6661EB13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52800"/>
            <a:ext cx="23812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BF49C5-FC18-4432-B618-77F109051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409950"/>
            <a:ext cx="2190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Hôtellerie / Tourisme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BA391B-CA2E-4CEE-83B0-14DB87D99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352800"/>
            <a:ext cx="23812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FE1926-FD89-4C96-BA65-C3EABACBE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409950"/>
            <a:ext cx="2190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Hôtellerie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DC3DA7-B82A-4677-A58F-C959D1872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95700"/>
            <a:ext cx="23812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6776CC-F111-483B-A506-B3405EDF6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752850"/>
            <a:ext cx="2190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Restauration rapide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FE81AA-EC4A-4AFD-BC54-F1B5ACA31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591050"/>
            <a:ext cx="46291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DE212A-18A6-4632-9838-F3F6B171E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7434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Entrée recommandée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AA0CDFB-4834-4139-B27D-DB8FFEADD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933950"/>
            <a:ext cx="421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8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Audit IA gratuit, puis échange expert de 45 minutes pour confirmer les deux premiers cas d’usage, les équipes à former et le cadre de déploiement.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1C386EF-C961-459C-AEF9-1748F7E07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BFE6773-EFB5-45FE-B143-52A199722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Hôtellerie &amp; Tourisme | Positionnement et preuve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71C9978-7DAB-497A-B638-C2DAB0AFB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75003563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1AD107B-B3A2-4702-B81B-B0C98FDE5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5FC52C-11B6-4455-8D01-21F951F1E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CONTEXTE ET IRRITANTS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9F4D80-978F-47EF-B324-1876C39DE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8191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3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93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Le ROI devient visible quand on traite d’abord les frictions déjà coûteuses.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BA494C-45F1-4075-87B1-39C12C40E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8477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7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07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La bonne approche n’est pas de vendre l’IA en général. Elle consiste à isoler les flux où le temps perdu, l’hétérogénéité et le défaut de lecture ralentissent déjà l’organisation.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0FE15E-4219-4A84-9F41-7ED35CFF8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5219700" cy="18288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7D778C-7C5A-4CA0-B039-177238A8A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28850"/>
            <a:ext cx="47625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1D"/>
          </a:solidFill>
          <a:ln xmlns:a="http://schemas.openxmlformats.org/drawingml/2006/main" w="0">
            <a:solidFill>
              <a:srgbClr val="E76F1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7340B4-BFA5-4A6E-BF8C-87D46CA51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09800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Qualité de service inégale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75DAD8-3533-4CD5-B1A6-8F314AC04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7175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9EFDBA-0578-47B3-A862-E67E04DDA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43200"/>
            <a:ext cx="4686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réponses et standards varient selon les équipes, les horaires et la pression terrain.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A7CE49-77CD-430B-8816-C3BF8CE47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1945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509A0C-DBFE-43F4-84B7-372E40A8F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90900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Les scripts, bases de réponses et routines rendent le service plus constant.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038C2D-6EBE-4FCA-A166-4CFD521C2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38350"/>
            <a:ext cx="5219700" cy="18288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182857-77BE-4B5D-9230-A8E4F03B0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228850"/>
            <a:ext cx="47625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0B9ECF-4855-4A6C-AE76-BAB96D8A7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209800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Feedback client sous-exploité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CF8BF8-2A23-412C-BB95-6EC54516E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57175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04C371-6EEE-41CF-B192-7CBBCFBF6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743200"/>
            <a:ext cx="4686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avis, réclamations et commentaires remontent sans toujours être transformés en actions.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A7D81F-9D5A-49CC-8E64-71E8C75FC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21945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7D02B1-582E-4B27-98F2-876187B41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390900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Les managers lisent plus vite les irritants et priorisent mieux les corrections.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53F717-79CD-40E3-9CB5-FD496E8B5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76700"/>
            <a:ext cx="5219700" cy="18288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F7CAEE-96EB-4B3A-BA5D-D4486FC8B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67200"/>
            <a:ext cx="47625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DD7847-811C-497A-87C9-298391362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48150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Coordination front / back laborieuse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4CC41FC-8CEF-4FAF-B744-369E1A5DE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1010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E0CDD99-B193-496A-BF9A-9AB7CBB6F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81550"/>
            <a:ext cx="4686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Accueil, réservation, restauration et opérations partagent difficilement la bonne information au bon moment.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59FA639-3E6C-42EE-BAE0-E4D2EB1BC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25780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B17A613-28C6-44E0-AAB1-19CF27B4F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29250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Les briefs et synthèses améliorent la fluidité entre équipes.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37D44F8-240D-42A8-A23F-07AE692FB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76700"/>
            <a:ext cx="5219700" cy="18288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E52025A-C33E-4D35-B813-AB7E442E5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267200"/>
            <a:ext cx="47625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8C3A"/>
          </a:solidFill>
          <a:ln xmlns:a="http://schemas.openxmlformats.org/drawingml/2006/main" w="0">
            <a:solidFill>
              <a:srgbClr val="C88C3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CBAA7AE-5B49-4C8B-A92B-C5439865E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248150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Communication commerciale lente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E247FA9-F50D-45A8-BEC5-6F6DF084A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61010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B6DA4B6-5C27-4404-80DF-8897EC937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781550"/>
            <a:ext cx="4686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contenus promotionnels et messages clients prennent du temps à produire.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41251DA-8E9B-46AC-ACBA-511BB7E82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25780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D800CD9-27A7-4961-A5F0-5B9363461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429250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Les équipes marketing et opérationnelles gagnent en cadence sans diluer la marque.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4F70912-44C4-4A0A-8D06-B8F44525D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91200"/>
            <a:ext cx="108204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8FFB62F-51E0-4133-984F-EAFC01D9A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90550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Lecture de fond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165AF86-D72C-41E9-9EA3-3C8C69AE7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28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Chaque irritation retenue doit se traduire en hypothèse de gain, en KPI lisible et en séquence de déploiement mesurable.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D03299A-5639-49E1-8BB5-A5883968A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D5C2E53-2937-48A7-8C3D-637020BAF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Hôtellerie &amp; Tourisme | Priorités métier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56A849C-9CC3-4B02-A4D9-85100D32B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96436479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EAD01BF-A688-4208-8053-DA9EEFC1E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95A84D-0640-4AF5-8477-2AA434BBF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ROI DE RÉFÉRENCE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E254A3-9E06-4D43-97F6-E034D3BBD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9239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9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89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Le ROI n’a de valeur que s’il est relié à des KPI simples, lisibles et discutables.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4B562F-CA16-4570-A880-AE3443957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8953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7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07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repères ci-dessous sont des hypothèses prudentes ou des benchmarks à confirmer pendant l’audit. TransferAI ne vend pas des chiffres abstraits ; nous proposons une mesure utile du premier terrain.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3B9A7B-9A89-4B4B-9F82-5D7D9C8F6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23812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E76F1D"/>
          </a:solidFill>
          <a:ln xmlns:a="http://schemas.openxmlformats.org/drawingml/2006/main" w="0">
            <a:solidFill>
              <a:srgbClr val="E76F1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7639E5-77A7-4B5B-B05B-A37188A28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43150"/>
            <a:ext cx="2038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Réponse plus rapide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30542D-B822-453C-AF84-947F2D4AF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05100"/>
            <a:ext cx="2038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sur les demandes client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89F53F-0017-4CA2-B288-FFCC2D4F0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24200"/>
            <a:ext cx="2038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7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07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avant séjour, pendant séjour, après séjour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CD610D-F20D-42DF-B702-2441DEEC3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190750"/>
            <a:ext cx="23812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E76F1D"/>
          </a:solidFill>
          <a:ln xmlns:a="http://schemas.openxmlformats.org/drawingml/2006/main" w="0">
            <a:solidFill>
              <a:srgbClr val="E76F1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BC3EC9-BAAA-47FB-B510-E45081B91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343150"/>
            <a:ext cx="2038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Service plus homogène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2D6037-A263-44A4-8D0B-1BA60E16F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705100"/>
            <a:ext cx="2038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entre équipes et sites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B98C1F-50EF-42E2-8EF0-073023528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124200"/>
            <a:ext cx="2038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7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07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scripts, consignes, réponses types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B8C879-D83E-41AA-8BD7-A54AD3BC9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190750"/>
            <a:ext cx="23812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E76F1D"/>
          </a:solidFill>
          <a:ln xmlns:a="http://schemas.openxmlformats.org/drawingml/2006/main" w="0">
            <a:solidFill>
              <a:srgbClr val="E76F1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B66C4D-4E63-425D-846C-AF6832047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343150"/>
            <a:ext cx="2038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Feedback plus utile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03D1AD-7ADA-43C5-BC08-BF9338C73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705100"/>
            <a:ext cx="2038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pour les managers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8BD6B0-C06D-4EFA-AD0B-7C8941DE7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124200"/>
            <a:ext cx="2038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7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07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avis, réclamations, causes récurrentes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B534C3-DBEF-4936-80B0-BA70BBB9E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190750"/>
            <a:ext cx="23812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E76F1D"/>
          </a:solidFill>
          <a:ln xmlns:a="http://schemas.openxmlformats.org/drawingml/2006/main" w="0">
            <a:solidFill>
              <a:srgbClr val="E76F1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DE47F6-C581-4506-A166-7A8F5DEEC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343150"/>
            <a:ext cx="2038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Production plus fluide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36EB07-89AF-40D8-A3DC-1037E45C1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705100"/>
            <a:ext cx="2038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des contenus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291FDC7-51AA-4206-AE48-D2D7A55F2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124200"/>
            <a:ext cx="2038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7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07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messages clients, offres, supports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AE32CC-8322-44E5-B870-F7E1A595D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10820400" cy="19812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1375D68-0820-4404-BDC7-A8F53522B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19550"/>
            <a:ext cx="4686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6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26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Comment rendre ce ROI crédible dès le premier rendez-vous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99FEDFC-CFE1-420F-91EE-C42F3E477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514850"/>
            <a:ext cx="4286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1. Partir d’un flux métier concret et visible.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2. Nommer le ou les KPI que la direction lit déjà.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3. Limiter le premier pilote à un terrain mesurable.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4. Revoir les résultats avec les responsables métier avant toute extension.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9EF5E8D-07E0-4F86-9FC1-2D9DF761B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267200"/>
            <a:ext cx="52578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70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Exemples de KPI souvent retenus : temps de cycle, délai de réponse, temps de préparation d’un comité, nombre d’étapes manuelles, volume d’anomalies détectées plus tôt, homogénéité des livrables, taux de résolution au premier niveau, vitesse d’onboarding.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7F292F3-A168-4E90-A129-44EB1F8C1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E7203EB-365E-49DE-A034-8F01AE884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Hôtellerie &amp; Tourisme | ROI et KPI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BC82F08-CC55-43D1-A9BC-266DCE3E7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8923113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B0354FF-F8B6-4898-8963-C2CBAA218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8CE4F9-D610-4230-9F88-65A9BA1E9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CAS D’USAGE PRIORITAIRES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4CFE2F-F1FE-453F-8A2A-00587D532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334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9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Le bon deck rend visibles 3 à 4 usages que le prospect peut immédiatement se représenter.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C58BEC-1600-4518-A970-43747F261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8858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Chaque cas d’usage ci-dessous a été formulé pour rester crédible, visible et relié à un flux métier réel. Le but n’est pas de tout lancer, mais de prioriser ce qui crée une première valeur lisible.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761771-BB44-4C89-85A7-0C9A3D4AC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521970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82F039-F007-44EC-B569-B4076ED62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28850"/>
            <a:ext cx="361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1D"/>
          </a:solidFill>
          <a:ln xmlns:a="http://schemas.openxmlformats.org/drawingml/2006/main" w="0">
            <a:solidFill>
              <a:srgbClr val="E76F1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FF203B-7E4E-4381-9F71-512F34E35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81250"/>
            <a:ext cx="4876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Assistant de réponse accueil et réservation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15A049-36EB-402A-B91D-C7EB41779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4320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37134F-1C04-4F59-8A16-6F22F6514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9560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équipes réécrivent souvent les mêmes réponses aux mêmes demandes.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617A33-8431-4782-8A9D-D2024B9F5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575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FAC39C-2CBE-40DD-B73D-5847AAC70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0995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Un assistant encadré accélère la réponse avec le bon ton de service.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2B48D1-4E1E-444F-9FC4-1159928D9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95700"/>
            <a:ext cx="487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F450CB-4C2C-4259-AD6A-B464B5BCB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71900"/>
            <a:ext cx="4876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98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KPI à suivre : Temps moyen de réponse ; satisfaction client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8E3AAF-3261-481C-A2BA-9229E7D8D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57400"/>
            <a:ext cx="521970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FACE29-5DD0-4284-A483-4AD1DD2F6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228850"/>
            <a:ext cx="361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AC4C04-D1D1-49DD-9CFA-7506FDE06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381250"/>
            <a:ext cx="4876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Synthèse des avis et réclamations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A71AB2-24C4-4EAF-A198-DF5F9B3E6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74320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F24438-B0C9-4626-8BBE-899C5352E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89560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retours clients sont nombreux mais longs à lire globalement.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1EC00A-7B2B-4155-8E0A-D0B45FB1B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2575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1E258A-84C8-406F-94B5-9E42DFEB2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40995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Les motifs récurrents ressortent plus vite pour action corrective.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A47C620-F5DE-439B-B6CD-62C187DF7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695700"/>
            <a:ext cx="487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720E017-E2B9-44EF-A318-D0953AA84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771900"/>
            <a:ext cx="4876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98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KPI à suivre : Temps d’analyse ; délai de correction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724ECE1-E65D-4366-94AF-09C77077F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521970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99CB7E0-9415-4CAB-8049-BE0FB8CD3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43400"/>
            <a:ext cx="361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36CB1D0-9CFA-416F-934A-521E1EFEF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95800"/>
            <a:ext cx="4876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Briefs d’exploitation et coordination de service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5C2D22F-2201-4B9A-AB8A-EDCE8B698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577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D53495E-AA87-49E1-8CAE-FAC252D13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1015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consignes circulent mal entre équipes et shifts.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4D2432B-D22B-4541-B91E-E39640968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7210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F1EFF77-346E-46F7-9F6D-1060ED955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2450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Les briefs deviennent plus clairs pour l’accueil, l’hébergement et les opérations.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0E28F94-9377-4AB7-AFD6-7C5513392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10250"/>
            <a:ext cx="487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D343283-9D56-407B-8CC8-7146A4CBD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86450"/>
            <a:ext cx="4876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98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KPI à suivre : Temps de transmission ; nombre d’erreurs évitées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EFF44B0-645E-4C80-9315-D1DAD6604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71950"/>
            <a:ext cx="521970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64ABBAF-FE4B-4E1E-BDB0-BBD719AAE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343400"/>
            <a:ext cx="361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8C3A"/>
          </a:solidFill>
          <a:ln xmlns:a="http://schemas.openxmlformats.org/drawingml/2006/main" w="0">
            <a:solidFill>
              <a:srgbClr val="C88C3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92102A7-2B6B-40A5-8F1E-FF7989A0C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495800"/>
            <a:ext cx="4876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Contenus marketing et offres saisonnières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A3D9C5B-8C52-434D-8FA8-09301178B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8577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F4D7C30-C116-4456-A9D4-F0EF99AEA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01015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messages commerciaux prennent du temps à concevoir et à adapter.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ECD3E75-A16D-4879-B5C8-CC8123688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37210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1FD08EE-803F-401E-930C-3FD05100E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52450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Les équipes produisent plus vite des variantes cohérentes avec la marque.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C4ED248-C595-4C43-9DAF-CFB3A6313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810250"/>
            <a:ext cx="487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917B3D4-E039-4F38-9FAA-CAD692E65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886450"/>
            <a:ext cx="4876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98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KPI à suivre : Temps de production ; rythme de campagne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6935BF7-E7D9-4F82-8813-7C80D35D0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AD35CC4-990C-4B27-A9F7-D24C3BEE0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Hôtellerie &amp; Tourisme | Cas d’usage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B81D4D4-0215-43C3-99B4-5182D7139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7448789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C866B32-1703-4C9E-A696-ADC49C5EE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4DEC12-D31B-49BF-AC96-41C2A9430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PREMIERS TERRAINS À LANCER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B92F48-2234-48B2-BD49-0001CBF0E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9715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9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89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Les deux premiers terrains doivent créer une valeur visible pour la direction et les équipes.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1D7E01-12CC-44AC-A674-469404369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C’est souvent à ce niveau que le prospect décide si la démarche mérite d’aller plus loin. Le choix du premier terrain compte donc plus que la quantité d’idées disponibles.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2622C8-E1B0-4262-80BC-3FE2CE112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52197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8427D5-8E72-4788-82DD-E19C3AF5A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81250"/>
            <a:ext cx="1333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Terrain prioritaire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2A89EC-62A3-4133-9336-1756CBE65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09850"/>
            <a:ext cx="4800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Assistant de réponse accueil et réservation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8E58FA-3F66-4AEE-9902-F574B3807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670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6BD6D9-A589-420E-AA47-2A19BF7A4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38500"/>
            <a:ext cx="4800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équipes réécrivent souvent les mêmes réponses aux mêmes demandes.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AC81E2-9375-4330-9F2E-F41C34E28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052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2BEA43-DC84-433C-8D83-31D330F95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76700"/>
            <a:ext cx="48006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Un assistant encadré accélère la réponse avec le bon ton de service.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A5E0E5-CDFE-4FD9-AABC-CB9AF1F91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81550"/>
            <a:ext cx="48006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00EA21-E48C-44ED-8FB1-908C80F8B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76800"/>
            <a:ext cx="4533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6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KPI clé : Temps moyen de réponse ; satisfaction client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E9BEB5-90DC-45CB-B9C1-E37D7CF68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90750"/>
            <a:ext cx="52197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281028-0938-4D8E-BBA7-723B24A9D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381250"/>
            <a:ext cx="1333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Terrain prioritaire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FBD7FA-E2A4-451B-92D2-196729412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609850"/>
            <a:ext cx="4800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Synthèse des avis et réclamations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F978CF-B570-4F27-8F7F-91BA4411E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0670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8DEB1A-2A80-457C-A119-6ECF84D3B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238500"/>
            <a:ext cx="4800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retours clients sont nombreux mais longs à lire globalement.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1532C2-5861-4A78-AE8A-586097E8A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9052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A1EE53-6CA9-4C8A-8029-A9D50D9A6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076700"/>
            <a:ext cx="48006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Les motifs récurrents ressortent plus vite pour action corrective.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E25F1E2-09D0-4D08-80F5-F61409EAB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781550"/>
            <a:ext cx="48006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047295D-71CB-4973-BCD6-5C50C6209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876800"/>
            <a:ext cx="4533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6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KPI clé : Temps d’analyse ; délai de correction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0BB1494-A7D2-4FAE-A970-B1C5917A6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81650"/>
            <a:ext cx="108204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67A4223-C999-4246-81A4-E62DC0B51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34050"/>
            <a:ext cx="10363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Règle simple : premier terrain = usage visible, responsable identifié, KPI lisible, données accessibles et supervision humaine facile à organiser.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345E252-91BA-422D-988B-7C88F5D25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622A2F4-A6C9-4575-A881-491DA8253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Hôtellerie &amp; Tourisme | Deux premiers terrains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587938D-0CF0-43D2-89CB-782C611FE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75596759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E00845C-B1BB-40A8-81F6-3EB7936FC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C7596B-ED7A-47E5-8BED-F2DEE5B75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FORMATION ET STANDARDISATION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8774F4-620E-41CB-B07B-5C3134396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9906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9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89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Le bon catalogue ciblé prépare des gestes métier réels, pas une simple acculturation théorique.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209B02-086E-4E8D-94E3-2E7559375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8763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Chaque proposition sectorielle TransferAI combine un noyau de formations activables et des usages de standardisation qui rendent l’adoption plus durable dans le temps.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B5B0B6-A3C2-4255-9435-7A2627011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5467350" cy="361950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C1BE69-4346-44A2-BD50-DAD8BBE5E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24100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Formations prioritaires à activer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CEBA65-5E69-4AA4-B4C7-7D71528F6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5467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E825B6-3829-49CF-BF48-20506E7C1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62250"/>
            <a:ext cx="3238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E76F1D"/>
          </a:solidFill>
          <a:ln xmlns:a="http://schemas.openxmlformats.org/drawingml/2006/main" w="9525">
            <a:solidFill>
              <a:srgbClr val="E76F1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C9BE51-8C8E-4452-84B4-C5472261D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19400"/>
            <a:ext cx="323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07B14A-0C28-4263-8538-FE08038B7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800350"/>
            <a:ext cx="461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Expérience Client Omnicanale avec l'IA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5D3719-EC78-46B8-A519-6697A1821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62300"/>
            <a:ext cx="5467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B12D02-67A0-4B2B-88D1-78E18BDF0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0"/>
            <a:ext cx="3238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E76F1D"/>
          </a:solidFill>
          <a:ln xmlns:a="http://schemas.openxmlformats.org/drawingml/2006/main" w="9525">
            <a:solidFill>
              <a:srgbClr val="E76F1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AC03F2-F36A-4D47-B4C5-057A758FD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95650"/>
            <a:ext cx="323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5B3AD8-5B6D-4190-9E3C-2129F1326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276600"/>
            <a:ext cx="461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Création de Contenu Marketing avec l'IA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F895BB-1543-4BC9-9395-945ABEEA9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5467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49A9F8-4AE6-4D64-A273-59CDB0927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14750"/>
            <a:ext cx="3238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E76F1D"/>
          </a:solidFill>
          <a:ln xmlns:a="http://schemas.openxmlformats.org/drawingml/2006/main" w="9525">
            <a:solidFill>
              <a:srgbClr val="E76F1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551E2E-5324-4EB4-8FF1-0D9A97496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71900"/>
            <a:ext cx="323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C2C040-8FA9-439B-B27F-BA251CC89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752850"/>
            <a:ext cx="461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Gestion de Projets Augmentée par l'IA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EA49D8-6FE2-4B69-89DA-89B783F7E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14800"/>
            <a:ext cx="5467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4B2EB69-7CA4-466F-A1BE-4E47F0D54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91000"/>
            <a:ext cx="3238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E76F1D"/>
          </a:solidFill>
          <a:ln xmlns:a="http://schemas.openxmlformats.org/drawingml/2006/main" w="9525">
            <a:solidFill>
              <a:srgbClr val="E76F1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825A0D0-A512-4372-8C3B-E27AA889F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48150"/>
            <a:ext cx="323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FECACD0-8671-4CFC-9184-3244C4064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229100"/>
            <a:ext cx="461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Analyse de Sentiment et Feedback Client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5A38929-1769-4A84-9E73-46322F532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91050"/>
            <a:ext cx="5467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1801AD3-CF94-401B-8315-51228BB1A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67250"/>
            <a:ext cx="3238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E76F1D"/>
          </a:solidFill>
          <a:ln xmlns:a="http://schemas.openxmlformats.org/drawingml/2006/main" w="9525">
            <a:solidFill>
              <a:srgbClr val="E76F1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D89019B-FA6E-4F0A-9475-B6533027C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24400"/>
            <a:ext cx="323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4005D98-C6D0-4901-8593-F70F0044E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705350"/>
            <a:ext cx="461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Organisation Digitale et IA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CA4A32C-8DD0-4E1F-B923-9514D9584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67300"/>
            <a:ext cx="5467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515916C-78AE-4C52-91A0-9640B7F4C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43500"/>
            <a:ext cx="3238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E76F1D"/>
          </a:solidFill>
          <a:ln xmlns:a="http://schemas.openxmlformats.org/drawingml/2006/main" w="9525">
            <a:solidFill>
              <a:srgbClr val="E76F1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A7C5AE0-F664-45D7-AA3F-6DCA2FC62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00650"/>
            <a:ext cx="323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0A79F1F-B77B-4AD4-A2F7-C13EF3259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181600"/>
            <a:ext cx="461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Communication Professionnelle &amp; IA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415EF3F-A876-4020-8705-75A7478E3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114550"/>
            <a:ext cx="5048250" cy="361950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2157AE5-B989-4D8E-B977-5CB1A922E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324100"/>
            <a:ext cx="3695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20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Ce que ce dispositif doit standardiser concrètement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11FA7A8-ED83-47D2-951D-78215F2BF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781300"/>
            <a:ext cx="44196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Stabiliser les standards de service sur plusieurs équipes.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Mieux exploiter la voix du client pour corriger rapidement.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Fluidifier la coordination entre accueil, opérations et communication.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Donner aux managers une lecture plus rapide des irritants service.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8EC23DC-F417-433A-AF2D-630FE1443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095750"/>
            <a:ext cx="4419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Après la formation, les équipes formées gardent un accès à la communauté TransferAI pour partager leurs cas, leurs difficultés et obtenir des conseils pratiques orientés exécution.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1541FA5-753A-4AF6-80C6-9BDE5D5D4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743450"/>
            <a:ext cx="4419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Cette logique augmente la probabilité d’usage réel, sécurise les premiers tests et réduit l’effet “formation oubliée” après quelques semaines.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E4324E3-8FFF-41DD-8F75-71A6C4BE2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66FB671-6F6E-4CE4-A960-88664F678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Hôtellerie &amp; Tourisme | Formation et standardisation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8AF2933-6021-45B4-9995-326B0BE41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41928033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5655C6E-C01B-41C3-9C0C-760CF568B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C90E41-53AB-49AF-943D-37782E3D4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PARCOURS 90 JOURS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E70D9A-59D4-47A2-B803-82E131F5D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9144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La séquence recommandée va du cadrage à la mesure, avec validation à chaque palier.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417E5B-DE9E-4DCC-819D-37A7CD1CA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8858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L’objectif n’est pas de “déployer de l’IA” d’un bloc, mais de passer par des étapes courtes, visibles et gouvernées, avec un point de décision clair à chaque jalon.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AD593D-9273-44FC-B9F1-C53BDF5F9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2419350" cy="2609850"/>
          </a:xfrm>
          <a:prstGeom xmlns:a="http://schemas.openxmlformats.org/drawingml/2006/main" prst="roundRect">
            <a:avLst>
              <a:gd name="adj" fmla="val 3150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4E0444-F0A2-45DF-BB55-E7FF2D241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05050"/>
            <a:ext cx="571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76F1D"/>
          </a:solidFill>
          <a:ln xmlns:a="http://schemas.openxmlformats.org/drawingml/2006/main" w="0">
            <a:solidFill>
              <a:srgbClr val="E76F1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950197-12B1-4FC9-8ADF-4E6C6A553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62200"/>
            <a:ext cx="571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J+0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8055BD-5EDA-40F5-BCA7-335FCE5C9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67000"/>
            <a:ext cx="2076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Audit, cadrage et priorisation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EF6149-8875-4747-98FC-5063B672C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9900"/>
            <a:ext cx="20764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Identifier les flux à plus forte valeur, les risques à encadrer et les équipes à mobiliser.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C5CE05-9AE3-4FB2-98D4-088A82723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133600"/>
            <a:ext cx="2419350" cy="2609850"/>
          </a:xfrm>
          <a:prstGeom xmlns:a="http://schemas.openxmlformats.org/drawingml/2006/main" prst="roundRect">
            <a:avLst>
              <a:gd name="adj" fmla="val 3150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BE7378-2ED0-41E0-A9A1-5015AADEB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305050"/>
            <a:ext cx="571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F98A7A-FEF2-46DB-AE5E-1353C043C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362200"/>
            <a:ext cx="571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J+15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79292D-4164-49D9-9761-26B03AEB5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667000"/>
            <a:ext cx="2076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Premier livrable utile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4DE9EF-D824-4B15-85F5-59D3EDF99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009900"/>
            <a:ext cx="20764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Produire un kit de travail, un assistant pilote ou une première base documentaire prête à l’usage.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03AFFC-A1DD-41CF-BB54-BF961999E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133600"/>
            <a:ext cx="2419350" cy="2609850"/>
          </a:xfrm>
          <a:prstGeom xmlns:a="http://schemas.openxmlformats.org/drawingml/2006/main" prst="roundRect">
            <a:avLst>
              <a:gd name="adj" fmla="val 3150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ADB0F8-709A-4A1D-899A-CD55A9BA8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305050"/>
            <a:ext cx="571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1816F4-2A4E-45AF-AA73-68ACD4566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362200"/>
            <a:ext cx="571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J+45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5B670C-9C05-43C8-ABC9-01E6646E5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667000"/>
            <a:ext cx="2076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Formation ciblée et pilote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74397D-0875-4654-857D-A32E9BB29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009900"/>
            <a:ext cx="20764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Former les bonnes populations, lancer le premier terrain d’exécution et sécuriser les pratiques.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2A5CD2-8553-4A92-83D4-D423C4AED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133600"/>
            <a:ext cx="2876550" cy="2609850"/>
          </a:xfrm>
          <a:prstGeom xmlns:a="http://schemas.openxmlformats.org/drawingml/2006/main" prst="roundRect">
            <a:avLst>
              <a:gd name="adj" fmla="val 2920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645C64-A802-4134-A9D0-51BBFF97B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305050"/>
            <a:ext cx="571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C88C3A"/>
          </a:solidFill>
          <a:ln xmlns:a="http://schemas.openxmlformats.org/drawingml/2006/main" w="0">
            <a:solidFill>
              <a:srgbClr val="C88C3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2A2C65F-4091-47CB-BFE8-144B118A7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362200"/>
            <a:ext cx="571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J+90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C027E4-2246-4FE6-AEA3-4A2644AFE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667000"/>
            <a:ext cx="2533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Mesure, gouvernance et extension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6EC4AB6-8ADF-42E6-809A-09952AA86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009900"/>
            <a:ext cx="25336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Relire les premiers KPI, ajuster les usages et décider l’extension, le recentrage ou la montée en charge.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B3E5B44-DBE0-4B79-86DD-6C66F93C9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81600"/>
            <a:ext cx="108204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3C15D9C-E80A-43F5-AE2A-D35D21CBE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372100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Différentiel TransferAI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80E5CD1-E4E3-4C6A-87CD-3824F2E4E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619750"/>
            <a:ext cx="10172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Une structure de formation classique s’arrête au contenu. TransferAI forme, puis accompagne la mise en pratique, la relecture des premiers KPI, les ajustements et la décision d’extension pendant 90 jours.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CA13C56-7BBC-4BD8-8A02-0EE0ED767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092C8A0-1D48-4B45-BE97-86588D277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Hôtellerie &amp; Tourisme | Parcours 90 jours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90D4784-D8E5-482B-82C4-24FE5BEF0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93886235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01E0BE1-5670-4EB7-AB18-72D7B169B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61B53E-D2C5-493F-BA6A-41E29B916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OFFRE RECOMMANDÉE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D5203F-9C71-4019-9AA6-2617BFD2D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9906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9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89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La proposition TransferAI pour hôtellerie &amp; tourisme s’organise en 4 briques simples à activer.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3CDC60-8BD3-4CA4-9092-943B5154D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8953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Cette architecture permet de relier audit, formation, accompagnement, gouvernance et premier terrain d’exécution dans une seule logique commerciale compréhensible par le prospect.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1A0EEB-5C91-4838-B3D8-49881DCB0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52197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E34E55-72CA-4250-918D-67663AB34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38400"/>
            <a:ext cx="4953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E76F1D"/>
          </a:solidFill>
          <a:ln xmlns:a="http://schemas.openxmlformats.org/drawingml/2006/main" w="0">
            <a:solidFill>
              <a:srgbClr val="E76F1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DFB5F3-81F2-46E2-91A8-5C7524279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419350"/>
            <a:ext cx="426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Audit métier ciblé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84AD13-938E-4C05-92CD-3163283E5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432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Qualifier les flux, documents et points de friction les plus critiques pour Hôtellerie &amp; Tourisme.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113045-B368-46B9-860E-6362CC299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004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Cartographie des irritants</a:t>
            </a:r>
          </a:p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Hypothèses de gains rapides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2030D9-95F6-4348-8253-AEE220E38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247900"/>
            <a:ext cx="52197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8A1E4F-ECD3-4301-AE80-C75C6EC1C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438400"/>
            <a:ext cx="4953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F2CC40-B8B7-4117-9A8F-1B1838150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419350"/>
            <a:ext cx="426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Formation des décideurs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0ADDCE-9D4F-4AD6-8CBC-E0F8A18D7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7432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Aligner la direction, les managers et les sponsors sur les usages, limites et conditions de réussite.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40D459-D570-46B8-BA4E-F4908C90E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2004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Vision, gouvernance et arbitrages</a:t>
            </a:r>
          </a:p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Lecture des premiers KPI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384C88-9971-4F7B-805B-AD9DE4154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62400"/>
            <a:ext cx="52197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EBF6AB-2DBF-4697-9365-B868144AE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52900"/>
            <a:ext cx="4953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C57A5D-8BD9-4778-B07B-B2DF43710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133850"/>
            <a:ext cx="426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Formation des équipes opérationnelles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41517E-6E4D-4812-803B-41DA2FF21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577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Mettre les bonnes méthodes et les bons assistants dans les mains des équipes qui exécutent.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767E4F-1065-49EC-A925-0DA8D94A1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149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Gestes métier augmentés</a:t>
            </a:r>
          </a:p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Standardisation utile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BCA980B-6563-4890-827F-6DE7C2FAA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62400"/>
            <a:ext cx="52197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C336CF7-4943-4E22-B61A-EE4018834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152900"/>
            <a:ext cx="4953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C88C3A"/>
          </a:solidFill>
          <a:ln xmlns:a="http://schemas.openxmlformats.org/drawingml/2006/main" w="0">
            <a:solidFill>
              <a:srgbClr val="C88C3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559EF04-F451-4A65-8709-DBAC84D57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133850"/>
            <a:ext cx="426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Pilote, accompagnement et extension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81E9F90-2883-4BA5-9C55-77021C8E9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4577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Passer d’une intention IA à un premier terrain visible, mesurable et gouverné.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C83317C-D21A-472F-A659-9D98CDCBB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9149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Pilotage sur 90 jours</a:t>
            </a:r>
          </a:p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Décision d’extension ou de recentrage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979B51F-E08B-4685-87C5-E6A05F744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3BCD9AF-4EF3-4C07-B245-0322987A4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Hôtellerie &amp; Tourisme | Offre recommandée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6ECC416-A484-4573-BE86-CCB1DCB58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67572826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C6AB8FE-2BD5-46DC-B7B8-648DA767B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8"/>
          </a:solidFill>
          <a:ln xmlns:a="http://schemas.openxmlformats.org/drawingml/2006/main" w="0">
            <a:solidFill>
              <a:srgbClr val="F6F0E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8D3B68-DF66-4EA1-82D5-FFBCCCFF8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1111"/>
            </a:avLst>
          </a:prstGeom>
          <a:solidFill xmlns:a="http://schemas.openxmlformats.org/drawingml/2006/main">
            <a:srgbClr val="163556"/>
          </a:solidFill>
          <a:ln xmlns:a="http://schemas.openxmlformats.org/drawingml/2006/main" w="9525">
            <a:solidFill>
              <a:srgbClr val="163556"/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727565541d402a"/>
          <a:stretch xmlns:a="http://schemas.openxmlformats.org/drawingml/2006/main"/>
        </p:blipFill>
        <p:spPr>
          <a:xfrm xmlns:a="http://schemas.openxmlformats.org/drawingml/2006/main">
            <a:off x="1056731" y="723900"/>
            <a:ext cx="1125039" cy="4953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1B2FE3-4493-4027-A9F0-DFF7F5E6F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859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D8E6F4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D8E6F4"/>
                </a:solidFill>
                <a:latin typeface="Aptos"/>
                <a:ea typeface="Aptos"/>
                <a:cs typeface="Aptos"/>
              </a:rPr>
              <a:t>CONFIANCE ET PROCHAINE ÉTAPE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473CFE-C123-44E5-98ED-68571FB51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52600"/>
            <a:ext cx="5905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88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988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Proposer un pilote utile, gouverné et mesurable.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C64FB6-AF85-4AC6-A576-33EC8D917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57450"/>
            <a:ext cx="5810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45" b="0">
                <a:solidFill>
                  <a:srgbClr val="D7E5F3"/>
                </a:solidFill>
                <a:latin typeface="Aptos"/>
                <a:ea typeface="Aptos"/>
                <a:cs typeface="Aptos"/>
              </a:defRPr>
            </a:pPr>
            <a:r>
              <a:rPr sz="945" b="0">
                <a:solidFill>
                  <a:srgbClr val="D7E5F3"/>
                </a:solidFill>
                <a:latin typeface="Aptos"/>
                <a:ea typeface="Aptos"/>
                <a:cs typeface="Aptos"/>
              </a:rPr>
              <a:t>Le rendez-vous ne sert pas à vendre un outil abstrait. Il sert à confirmer les deux premiers terrains, les équipes à former, les données à protéger et la sortie attendue à 90 jours.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900FAA-8E03-4761-9D6D-164C53EB1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00400"/>
            <a:ext cx="5334000" cy="2343150"/>
          </a:xfrm>
          <a:prstGeom xmlns:a="http://schemas.openxmlformats.org/drawingml/2006/main" prst="roundRect">
            <a:avLst>
              <a:gd name="adj" fmla="val 3252"/>
            </a:avLst>
          </a:prstGeom>
          <a:solidFill xmlns:a="http://schemas.openxmlformats.org/drawingml/2006/main">
            <a:srgbClr val="20405F"/>
          </a:solidFill>
          <a:ln xmlns:a="http://schemas.openxmlformats.org/drawingml/2006/main" w="9525">
            <a:solidFill>
              <a:srgbClr val="2B587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E318C5-85A9-43AD-B586-D973B38D6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48050"/>
            <a:ext cx="304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Le cadre de confiance à présenter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91C89B-4FA9-4E4D-AB20-662C76B91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29050"/>
            <a:ext cx="46291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55" b="0">
                <a:solidFill>
                  <a:srgbClr val="E8F1F8"/>
                </a:solidFill>
                <a:latin typeface="Aptos"/>
                <a:ea typeface="Aptos"/>
                <a:cs typeface="Aptos"/>
              </a:defRPr>
            </a:pPr>
            <a:r>
              <a:rPr sz="855" b="0">
                <a:solidFill>
                  <a:srgbClr val="E8F1F8"/>
                </a:solidFill>
                <a:latin typeface="Aptos"/>
                <a:ea typeface="Aptos"/>
                <a:cs typeface="Aptos"/>
              </a:rPr>
              <a:t>• Les usages proposés restent gouvernés, progressifs et validés par des responsables métier identifiés.</a:t>
            </a:r>
          </a:p>
          <a:p xmlns:a="http://schemas.openxmlformats.org/drawingml/2006/main">
            <a:pPr algn="l">
              <a:defRPr sz="855" b="0">
                <a:solidFill>
                  <a:srgbClr val="E8F1F8"/>
                </a:solidFill>
                <a:latin typeface="Aptos"/>
                <a:ea typeface="Aptos"/>
                <a:cs typeface="Aptos"/>
              </a:defRPr>
            </a:pPr>
            <a:r>
              <a:rPr sz="855" b="0">
                <a:solidFill>
                  <a:srgbClr val="E8F1F8"/>
                </a:solidFill>
                <a:latin typeface="Aptos"/>
                <a:ea typeface="Aptos"/>
                <a:cs typeface="Aptos"/>
              </a:rPr>
              <a:t>• Les données sensibles, documents internes et arbitrages critiques restent sous supervision humaine.</a:t>
            </a:r>
          </a:p>
          <a:p xmlns:a="http://schemas.openxmlformats.org/drawingml/2006/main">
            <a:pPr algn="l">
              <a:defRPr sz="855" b="0">
                <a:solidFill>
                  <a:srgbClr val="E8F1F8"/>
                </a:solidFill>
                <a:latin typeface="Aptos"/>
                <a:ea typeface="Aptos"/>
                <a:cs typeface="Aptos"/>
              </a:defRPr>
            </a:pPr>
            <a:r>
              <a:rPr sz="855" b="0">
                <a:solidFill>
                  <a:srgbClr val="E8F1F8"/>
                </a:solidFill>
                <a:latin typeface="Aptos"/>
                <a:ea typeface="Aptos"/>
                <a:cs typeface="Aptos"/>
              </a:rPr>
              <a:t>• TransferAI ne s’arrête pas à la formation : nous accompagnons aussi la mise en pratique, les premiers KPI et la décision d’extension.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FA4C2A-5F7C-46EC-A794-3C373C3CE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104900"/>
            <a:ext cx="4953000" cy="4438650"/>
          </a:xfrm>
          <a:prstGeom xmlns:a="http://schemas.openxmlformats.org/drawingml/2006/main" prst="roundRect">
            <a:avLst>
              <a:gd name="adj" fmla="val 1717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FFFDF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234351-98B3-45B6-8E1E-4EB4498B2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409700"/>
            <a:ext cx="285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Sortie attendue du rendez-vous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B4EE1F-C01A-4369-8582-FF7E803BB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790700"/>
            <a:ext cx="40957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7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Confirmer les 2 premiers cas d’usage à plus forte valeur visible.</a:t>
            </a:r>
          </a:p>
          <a:p xmlns:a="http://schemas.openxmlformats.org/drawingml/2006/main">
            <a:pPr algn="l">
              <a:defRPr sz="87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7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Valider les populations à former et le niveau d’accompagnement requis.</a:t>
            </a:r>
          </a:p>
          <a:p xmlns:a="http://schemas.openxmlformats.org/drawingml/2006/main">
            <a:pPr algn="l">
              <a:defRPr sz="87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7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Identifier les KPI prioritaires et la forme du premier pilote.</a:t>
            </a:r>
          </a:p>
          <a:p xmlns:a="http://schemas.openxmlformats.org/drawingml/2006/main">
            <a:pPr algn="l">
              <a:defRPr sz="87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7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Décider du bon ordre entre audit détaillé, formation ciblée, pilote et gouvernance.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6CC8E5-3F61-4548-A4B8-AF712DEE0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2766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CTA principal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92460E-B6D4-4635-AE2E-6657D390A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524250"/>
            <a:ext cx="4095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355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63556"/>
                </a:solidFill>
                <a:latin typeface="Aptos"/>
                <a:ea typeface="Aptos"/>
                <a:cs typeface="Aptos"/>
              </a:rPr>
              <a:t>Planifier un audit IA gratuit suivi d’un échange expert de 45 minutes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AD7F0F-42E4-4123-8A9B-6F48AEA70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095750"/>
            <a:ext cx="4095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Pièces jointes recommandées : ce deck sectoriel + mini-catalogue ciblé + formulaire d’audit pré-rendez-vous.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683128-1955-4D55-B3C5-BBCFB0A88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6291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Contextes proches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62B0E4-058A-477C-BA76-E0B029486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857750"/>
            <a:ext cx="3619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5588AD-5A00-4EBB-A32F-D5975DC6A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914900"/>
            <a:ext cx="3429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Hôtellerie / Tourisme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E27A5A-6F16-40CD-AF01-0D118E32A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181600"/>
            <a:ext cx="3619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5CDC15-FE3A-49D2-93ED-CD75E174D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238750"/>
            <a:ext cx="3429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Hôtellerie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5AB9267-95FE-4E2A-BFB3-A716F151A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505450"/>
            <a:ext cx="3619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54DBE5C-9294-4356-93E3-C596F41E8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562600"/>
            <a:ext cx="3429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Restauration rapide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D13E56B-39F7-4964-97C6-0989C62B5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F4D003F-7F52-493B-827B-9748A945F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Hôtellerie &amp; Tourisme | Confiance et prochaine étape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55B8B4B-CF9C-4F2B-A131-AFBE90D0D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14233443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2026-06-13T00:08:34.0620000Z</dcterms:created>
  <dcterms:modified xsi:type="dcterms:W3CDTF">2026-06-13T00:08:34.0620000Z</dcterms:modified>
</coreProperties>
</file>