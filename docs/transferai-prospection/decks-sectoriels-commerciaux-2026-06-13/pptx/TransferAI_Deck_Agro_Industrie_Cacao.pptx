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0d6f3dfd404496" /><Relationship Type="http://schemas.openxmlformats.org/officeDocument/2006/relationships/extended-properties" Target="/docProps/app.xml" Id="Rda2a336324b24b1f" /><Relationship Type="http://schemas.openxmlformats.org/officeDocument/2006/relationships/officeDocument" Target="/ppt/presentation.xml" Id="Refc8e6880cab42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eaa0de8fa9465c"/>
  </p:sldMasterIdLst>
  <p:notesMasterIdLst>
    <p:notesMasterId xmlns:r="http://schemas.openxmlformats.org/officeDocument/2006/relationships" r:id="R120776e619f14ebe"/>
  </p:notesMasterIdLst>
  <p:sldIdLst>
    <p:sldId xmlns:r="http://schemas.openxmlformats.org/officeDocument/2006/relationships" id="256" r:id="R08ddb99fd0274749"/>
    <p:sldId xmlns:r="http://schemas.openxmlformats.org/officeDocument/2006/relationships" id="257" r:id="R03900d0d623e4815"/>
    <p:sldId xmlns:r="http://schemas.openxmlformats.org/officeDocument/2006/relationships" id="258" r:id="R63c2e23be84e4045"/>
    <p:sldId xmlns:r="http://schemas.openxmlformats.org/officeDocument/2006/relationships" id="259" r:id="Rf42e0fb387b14380"/>
    <p:sldId xmlns:r="http://schemas.openxmlformats.org/officeDocument/2006/relationships" id="260" r:id="Rec97c76d1f564225"/>
    <p:sldId xmlns:r="http://schemas.openxmlformats.org/officeDocument/2006/relationships" id="261" r:id="Rb399058cf5274f26"/>
    <p:sldId xmlns:r="http://schemas.openxmlformats.org/officeDocument/2006/relationships" id="262" r:id="Re39d81b6f50246a6"/>
    <p:sldId xmlns:r="http://schemas.openxmlformats.org/officeDocument/2006/relationships" id="263" r:id="R046b60fd80914f05"/>
    <p:sldId xmlns:r="http://schemas.openxmlformats.org/officeDocument/2006/relationships" id="264" r:id="R54bf0badea8a4f65"/>
    <p:sldId xmlns:r="http://schemas.openxmlformats.org/officeDocument/2006/relationships" id="265" r:id="R27fde56b3a75401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67c931eb21453e" /><Relationship Type="http://schemas.openxmlformats.org/officeDocument/2006/relationships/slideMaster" Target="/ppt/slideMasters/slideMaster1.xml" Id="Raeeaa0de8fa9465c" /><Relationship Type="http://schemas.openxmlformats.org/officeDocument/2006/relationships/notesMaster" Target="/ppt/notesMasters/notesMaster1.xml" Id="R120776e619f14ebe" /><Relationship Type="http://schemas.openxmlformats.org/officeDocument/2006/relationships/presProps" Target="/ppt/presProps.xml" Id="R89c251209f6142cd" /><Relationship Type="http://schemas.openxmlformats.org/officeDocument/2006/relationships/viewProps" Target="/ppt/viewProps.xml" Id="Rd0d46e3b378141b9" /><Relationship Type="http://schemas.openxmlformats.org/officeDocument/2006/relationships/tableStyles" Target="/ppt/tableStyles.xml" Id="R0c84646c5c8b46cc" /><Relationship Type="http://schemas.openxmlformats.org/officeDocument/2006/relationships/slide" Target="/ppt/slides/slide1.xml" Id="R08ddb99fd0274749" /><Relationship Type="http://schemas.openxmlformats.org/officeDocument/2006/relationships/slide" Target="/ppt/slides/slide2.xml" Id="R03900d0d623e4815" /><Relationship Type="http://schemas.openxmlformats.org/officeDocument/2006/relationships/slide" Target="/ppt/slides/slide3.xml" Id="R63c2e23be84e4045" /><Relationship Type="http://schemas.openxmlformats.org/officeDocument/2006/relationships/slide" Target="/ppt/slides/slide4.xml" Id="Rf42e0fb387b14380" /><Relationship Type="http://schemas.openxmlformats.org/officeDocument/2006/relationships/slide" Target="/ppt/slides/slide5.xml" Id="Rec97c76d1f564225" /><Relationship Type="http://schemas.openxmlformats.org/officeDocument/2006/relationships/slide" Target="/ppt/slides/slide6.xml" Id="Rb399058cf5274f26" /><Relationship Type="http://schemas.openxmlformats.org/officeDocument/2006/relationships/slide" Target="/ppt/slides/slide7.xml" Id="Re39d81b6f50246a6" /><Relationship Type="http://schemas.openxmlformats.org/officeDocument/2006/relationships/slide" Target="/ppt/slides/slide8.xml" Id="R046b60fd80914f05" /><Relationship Type="http://schemas.openxmlformats.org/officeDocument/2006/relationships/slide" Target="/ppt/slides/slide9.xml" Id="R54bf0badea8a4f65" /><Relationship Type="http://schemas.openxmlformats.org/officeDocument/2006/relationships/slide" Target="/ppt/slides/slide10.xml" Id="R27fde56b3a7540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6c137d5de749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a630e3348b452b" /><Relationship Type="http://schemas.openxmlformats.org/officeDocument/2006/relationships/notesMaster" Target="/ppt/notesMasters/notesMaster1.xml" Id="R035b3f3e0c2c43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f643365044f47f5" /><Relationship Type="http://schemas.openxmlformats.org/officeDocument/2006/relationships/notesMaster" Target="/ppt/notesMasters/notesMaster1.xml" Id="R72df85ca0bb04e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a4f0cc9886d4e9e" /><Relationship Type="http://schemas.openxmlformats.org/officeDocument/2006/relationships/notesMaster" Target="/ppt/notesMasters/notesMaster1.xml" Id="R581b61802b0f42b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55135b89cd4654" /><Relationship Type="http://schemas.openxmlformats.org/officeDocument/2006/relationships/notesMaster" Target="/ppt/notesMasters/notesMaster1.xml" Id="R4ac72003cb9f4e3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ac0af9d462a4751" /><Relationship Type="http://schemas.openxmlformats.org/officeDocument/2006/relationships/notesMaster" Target="/ppt/notesMasters/notesMaster1.xml" Id="Ra6dbfd48e7944a9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d926039dfd0404c" /><Relationship Type="http://schemas.openxmlformats.org/officeDocument/2006/relationships/notesMaster" Target="/ppt/notesMasters/notesMaster1.xml" Id="R465d854cab7b4f4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7869dbe84cc4c9d" /><Relationship Type="http://schemas.openxmlformats.org/officeDocument/2006/relationships/notesMaster" Target="/ppt/notesMasters/notesMaster1.xml" Id="Re959b10bef98459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ff2900ff20046ed" /><Relationship Type="http://schemas.openxmlformats.org/officeDocument/2006/relationships/notesMaster" Target="/ppt/notesMasters/notesMaster1.xml" Id="R55531f5f266c4fa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26cd338da324232" /><Relationship Type="http://schemas.openxmlformats.org/officeDocument/2006/relationships/notesMaster" Target="/ppt/notesMasters/notesMaster1.xml" Id="R911e78bea69b4e0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578d717a81745d4" /><Relationship Type="http://schemas.openxmlformats.org/officeDocument/2006/relationships/notesMaster" Target="/ppt/notesMasters/notesMaster1.xml" Id="R38ff0d2153d34a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8368269e8946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43f09c4be54bd6" /><Relationship Type="http://schemas.openxmlformats.org/officeDocument/2006/relationships/slideLayout" Target="/ppt/slideLayouts/slideLayout1.xml" Id="Rf0e8c74c615d4d2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e8c74c615d4d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d380cc64a74a45" /><Relationship Type="http://schemas.openxmlformats.org/officeDocument/2006/relationships/image" Target="/ppt/media/image.png" Id="Rad0f724f28394383" /><Relationship Type="http://schemas.openxmlformats.org/officeDocument/2006/relationships/notesSlide" Target="/ppt/notesSlides/notesSlide1.xml" Id="R9ba02aa396c548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49c93bb9de4b11" /><Relationship Type="http://schemas.openxmlformats.org/officeDocument/2006/relationships/image" Target="/ppt/media/image2.png" Id="R62ff57cba2694e18" /><Relationship Type="http://schemas.openxmlformats.org/officeDocument/2006/relationships/notesSlide" Target="/ppt/notesSlides/notesSlide2.xml" Id="Rc11d57fab77548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3bca9a101047b6" /><Relationship Type="http://schemas.openxmlformats.org/officeDocument/2006/relationships/notesSlide" Target="/ppt/notesSlides/notesSlide3.xml" Id="R28807ff69b5843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b0a450a7e44e80" /><Relationship Type="http://schemas.openxmlformats.org/officeDocument/2006/relationships/notesSlide" Target="/ppt/notesSlides/notesSlide4.xml" Id="R8c07bbbe37b14b5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9d43b434db4861" /><Relationship Type="http://schemas.openxmlformats.org/officeDocument/2006/relationships/notesSlide" Target="/ppt/notesSlides/notesSlide5.xml" Id="Ra258ce5cb3de4df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9f3a06e4ee414e" /><Relationship Type="http://schemas.openxmlformats.org/officeDocument/2006/relationships/notesSlide" Target="/ppt/notesSlides/notesSlide6.xml" Id="Ra2911ef207654f1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0cbc6a26c949ba" /><Relationship Type="http://schemas.openxmlformats.org/officeDocument/2006/relationships/notesSlide" Target="/ppt/notesSlides/notesSlide7.xml" Id="R23b57cf8b0ff4ec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801ca49b0340f0" /><Relationship Type="http://schemas.openxmlformats.org/officeDocument/2006/relationships/notesSlide" Target="/ppt/notesSlides/notesSlide8.xml" Id="Ra52c59b613ca474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bfc77769a24fc1" /><Relationship Type="http://schemas.openxmlformats.org/officeDocument/2006/relationships/notesSlide" Target="/ppt/notesSlides/notesSlide9.xml" Id="R19fc70fb5cfd451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ce728c616a4acd" /><Relationship Type="http://schemas.openxmlformats.org/officeDocument/2006/relationships/image" Target="/ppt/media/image3.png" Id="Rba884cc173be48dd" /><Relationship Type="http://schemas.openxmlformats.org/officeDocument/2006/relationships/notesSlide" Target="/ppt/notesSlides/notesSlide10.xml" Id="R6d99818bcfc64fb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7CF8BA-4FF3-470C-866B-4C1CA78E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E9FCB7-3021-4304-A16A-25C71CEEC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2EA"/>
          </a:solidFill>
          <a:ln xmlns:a="http://schemas.openxmlformats.org/drawingml/2006/main" w="0">
            <a:solidFill>
              <a:srgbClr val="F8F2E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F2551F-F93A-4A78-9619-564021DA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0"/>
            <a:ext cx="432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4AA751-A590-4552-9253-26F1BB0B1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91000"/>
            <a:ext cx="43243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014F08-E47E-4151-953D-F56DCC38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4850"/>
            <a:ext cx="6705600" cy="411480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0f724f28394383"/>
          <a:stretch xmlns:a="http://schemas.openxmlformats.org/drawingml/2006/main"/>
        </p:blipFill>
        <p:spPr>
          <a:xfrm xmlns:a="http://schemas.openxmlformats.org/drawingml/2006/main">
            <a:off x="1268050" y="971550"/>
            <a:ext cx="1254851" cy="552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901ED8-4597-4E7A-8527-7EE44FBD3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907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DECK SECTORIEL PREMIUM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A6E691-2DBA-44CD-BE23-C39C16998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95500"/>
            <a:ext cx="4114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Agro-industrie &amp; Cacao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E48B69-B3E4-4701-8076-39ABB35E1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5219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7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Mieux piloter les flux, la qualité, les partenaires terrain et la performance dans des chaînes étendues.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7E3513-7F94-4F5B-92F3-CFF488181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5372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Pour les groupes agro-industriels, acteurs cacao et fonctions support qui veulent transformer l’IA en coordination opérationnelle, qualité documentaire et meilleure lecture des données terrain.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D0E37F-86B5-4E95-899A-FF93C642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81050"/>
            <a:ext cx="314325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214260"/>
          </a:solidFill>
          <a:ln xmlns:a="http://schemas.openxmlformats.org/drawingml/2006/main" w="9525">
            <a:solidFill>
              <a:srgbClr val="21426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31774C-8D13-4644-9176-F1C35765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0287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8E6F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8E6F4"/>
                </a:solidFill>
                <a:latin typeface="Aptos"/>
                <a:ea typeface="Aptos"/>
                <a:cs typeface="Aptos"/>
              </a:rPr>
              <a:t>Contextes d'application proches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71D042-6666-4682-BA7E-9DA6525E4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314450"/>
            <a:ext cx="2590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Ce deck peut être partagé avec plusieurs organisations du même univers métier.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67AC0F-BA11-42BD-B888-5FA495776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717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E6EEF6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E6EEF6"/>
                </a:solidFill>
                <a:latin typeface="Aptos"/>
                <a:ea typeface="Aptos"/>
                <a:cs typeface="Aptos"/>
              </a:rPr>
              <a:t>La proposition met en avant des enjeux récurrents, des cas d’usage crédibles et un parcours d’accompagnement progressif pour des structures aux besoins proches.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F4E4C8-054B-4A44-B517-F5A0AFB4B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0DBA92-098E-4D34-A6B2-D6FAEF27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433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Agro-industrie / Cacao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6DF4F9-AC29-42CC-A2BF-44E53F416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290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A92126-7BC9-4ED9-8A28-7B898ACD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862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Agro-industrie / Hévéa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0A3B06-10A9-4F30-B5DE-D023B57A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719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50817D-8810-4482-B673-2F38E9A1C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291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Agro-industrie / Palmier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601918-131C-49FE-B8A1-F99D2FCA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148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277998-42D5-4AF1-9D96-6BDD6123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720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Fédération agro-industrielle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D9FF9C-FC50-4E11-8382-E8F5DC1E2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4D00C6-7E44-4A1B-9D77-58F1D6566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F88E53-40F3-4CBD-924F-41264B70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7DADA3-4FAD-4DCE-B62E-FE191A3C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formations activables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DA9F8A-F816-4B3F-8314-F0477FD26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6D368D-F2CE-4F65-BABC-5B1FDFA6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128B75-B9C2-4DFF-8A8C-41BD9F05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A1736F-592C-4481-A095-814DF586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usages prioritaires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65BF52-3B50-4063-BA37-AE463687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6AFC3D-1A11-4955-8F99-B5D2237D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770500-504D-407F-B931-1554F225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J+90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AB351E-8593-429F-ABFF-59E5D94F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pilotage d’extension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E4D0D4-27F9-4A66-BEC6-5B6F08FA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181600"/>
            <a:ext cx="1619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300852B-8E0A-4277-8125-31C9BB4F8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4E6A83-80E8-4307-B91D-BCB2FCC2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334000"/>
            <a:ext cx="118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0 FCFA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A67C5C3-8106-4D3D-A158-BD254B80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1975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audit d’entrée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F166679-F944-4FD9-ABA2-224A7254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81600"/>
            <a:ext cx="37338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7E8EBE3-7B5F-4E28-BDF3-439B9EA1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3340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Promesse centrale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596E442-D9E1-4809-A4A3-D1D64F096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543550"/>
            <a:ext cx="3219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Transformer l’IA en gains visibles de productivité, de coordination, de qualité de service et de lisibilité managériale.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0AC7480-6BF3-410F-BE64-43B91262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65CE9F8-764C-4699-9533-EB8FB2DC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Agro-industrie &amp; Cacao | Deck sectoriel premium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2A95D84-E0C6-4165-ADD8-38A502FB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7641666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AC9CCD-9003-45FD-8152-1FBEF874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EEDE2A-31EC-4D9C-9FC8-7D4E871C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POURQUOI TRANSFERAI SUR CE TERRAIN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A36BD4-4111-47F4-8493-FDD576FC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001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0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0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Une proposition conçue pour agro-industrie &amp; cacao plutôt qu’un catalogue générique.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369E93-F371-47E6-9D30-D1370D81A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 ROI se lit ici dans la lecture plus rapide des opérations, la meilleure circulation de l’information entre terrain et siège et la standardisation des suivis qualité, achats et logistique.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6B174C-96EF-4D7F-87B8-D3DE44565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50863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ff57cba2694e18"/>
          <a:stretch xmlns:a="http://schemas.openxmlformats.org/drawingml/2006/main"/>
        </p:blipFill>
        <p:spPr>
          <a:xfrm xmlns:a="http://schemas.openxmlformats.org/drawingml/2006/main">
            <a:off x="1287916" y="2362200"/>
            <a:ext cx="1081768" cy="476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E0CD5E-8AF1-41C5-9DC5-5D056906F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TransferAI : de la pédagogie à l’exécution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DB1D0F-641B-4026-8C88-0B4E74484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44005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Audit IA gratuit pour qualifier les priorités avant toute dépense lourde.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Formation ciblée des décideurs et des équipes, pensée pour les usages du terrain.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Accompagnement de mise en pratique sur 90 jours avec relecture des premiers KPI.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Cadre de gouvernance, confidentialité et progression par pilote avant extension.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A013CB-DCC5-4180-8DC1-212CB5AF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0150"/>
            <a:ext cx="4400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La différence clé : une structure de formation classique transmet un contenu. TransferAI forme, puis accompagne l’usage réel, les ajustements et les décisions d’extension.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3D1E85-7027-45D4-A35A-FB3CED7D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52650"/>
            <a:ext cx="54673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4B4008-3AC3-4456-8965-4AD387EF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Types d'organisations et contextes proches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934138-CCDF-4EC5-8F21-B380FC26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38450"/>
            <a:ext cx="462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32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repères ci-dessous montrent des environnements où cette proposition garde la même pertinence métier et la même lisibilité commerciale.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053028-D3C3-4353-8D57-B15D319F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528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065CE7-ACF9-4EFE-BFF1-87029673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099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Agro-industrie / Cacao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986E0A-D4D2-4DFD-A268-AEFAAB29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528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6C7A38-5A3D-4751-83E2-DA0ED335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099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Agro-industrie / Hévéa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2615FE-E461-4BDD-8720-50004D24E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957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28F19B-443A-40E5-9280-C8D7CDAB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528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Agro-industrie / Palmier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2B58DB-B14F-481F-9809-6C427C59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957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4F1A6A-2A19-4EA3-BBB6-AE335189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7528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Fédération agro-industrielle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0C32AA-A66B-4419-89C2-5862DE2B6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91050"/>
            <a:ext cx="46291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DF32DD-9EB4-41C3-BD23-7A34EDDC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434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Entrée recommandée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286852-8612-4E35-9EB9-6E49180A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33950"/>
            <a:ext cx="421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8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Audit IA gratuit, puis échange expert de 45 minutes pour confirmer les deux premiers cas d’usage, les équipes à former et le cadre de déploiement.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279FE7-9C68-426A-BC54-3F874DA6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EFB202-BF69-4505-8C95-CEE953A43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Agro-industrie &amp; Cacao | Positionnement et preuve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ADADF4-F97A-4E13-BC87-7B8BD9508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1108703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788272-97B5-4E9D-A789-9A687900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1DEB6E-F3A5-40C4-B48B-6CE4AEF1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CONTEXTE ET IRRITANTS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D48B20-ADD2-4E6A-9ACB-3870136E6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19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3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3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ROI devient visible quand on traite d’abord les frictions déjà coûteuses.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AF6BE2-A565-44B0-96A7-AAD9AF13E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47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La bonne approche n’est pas de vendre l’IA en général. Elle consiste à isoler les flux où le temps perdu, l’hétérogénéité et le défaut de lecture ralentissent déjà l’organisation.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FD2FDE-2575-43C3-BCEF-55D44929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B3654D-7D9F-4672-83F2-101C38371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C47E0B-994E-4EA6-8AF6-202D6E1E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0980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Flux terrain difficiles à consolider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690EBE-5565-40A0-80FC-AB703BC6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0CD84C-EEB3-4FD1-B85C-2054B3C2E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4320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remontées plantations, usines, achats et qualité restent dispersées.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EA5483-A34E-48E7-9883-62208FF9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194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20151D-0652-47E1-B88E-53FF80402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9090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responsables gagnent des synthèses plus nettes pour arbitrer plus vite.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AC235B-DD7E-4260-91BD-73828792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3835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860F5C-ABB4-4840-8897-05B383E4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477427-5A12-4FAA-88A0-25C932E4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0980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Documents et contrôles hétérogènes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92FB9C-DDE5-4702-852A-75390BE4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717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C2CD93-37AB-4F4F-A331-91EE2E4E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4320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fiches, comptes rendus et suivis changent selon les équipes ou les sites.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4E4155-F742-41A7-955B-5D8B0FBF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194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343A81-3ABD-4959-A2CF-99E843BD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9090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Des formats plus stables améliorent la comparaison et la continuité.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71FA8A-838D-4A02-B52E-6A74D8839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BA5481-48F5-491E-9AC7-A8C612E1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72961C-6D4F-4A3E-81B8-6F262455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Pilotage qualité lent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F8C6D8-1790-45BA-855B-5311F3E2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01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970C64-F1A5-466C-A0FC-79E72B53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8155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incidents, écarts et tendances sont visibles trop tard.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5B732B-E154-4CE0-A5CB-AB51A413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578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2B73C4-B095-40CC-938E-19E6D048E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signaux utiles ressortent plus tôt pour limiter les dérives.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C359B4-5FDA-4C0C-8E38-8491A1534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7670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CF2C67-B9F1-44DC-A5BF-A02F3FFB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672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4EEEC7-7F38-4D27-8838-5BDEB620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4815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Coordination siège / terrain fragile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583235-200E-4CD9-8CF7-9F69D476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101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C0D043-F981-4E24-8DB3-C28B0BE63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78155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équipes opérationnelles et support travaillent avec des rythmes d’information différents.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A91073-2D3F-4C55-8908-CFC3453A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578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7CCB50-5863-4DE3-931F-2831EDEC8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4292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routines de brief et de synthèse améliorent la coordination.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875EB6-149C-4A01-B651-4DC76CCD4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E5D381E-2773-4CDB-8B62-463A20AF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055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Lecture de fond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C055900-D0F5-41FC-B8FC-86F4D5EFA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28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irritation retenue doit se traduire en hypothèse de gain, en KPI lisible et en séquence de déploiement mesurable.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71FF7C7-2CB1-4D23-880E-B892ED4E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E4F2CAB-6FD4-4D80-92EE-9058AFFA4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Agro-industrie &amp; Cacao | Priorités métier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C4A81A0-2CE6-4003-A8DB-56E7BD2B1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9821658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7FC2F8-1EB5-4E58-89D2-B83C31E2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866F3B-AE46-4E25-BDB4-2AF1A08B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ROI DE RÉFÉRENCE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894795-6F18-4E47-A0E4-76EA3449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23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ROI n’a de valeur que s’il est relié à des KPI simples, lisibles et discutables.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F7B16D-9ED9-4367-B0BA-7038916FC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repères ci-dessous sont des hypothèses prudentes ou des benchmarks à confirmer pendant l’audit. TransferAI ne vend pas des chiffres abstraits ; nous proposons une mesure utile du premier terrain.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BA5018-CA91-44CD-9195-23368608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7DECCA-087B-4EB8-93B8-F4ACA4BE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Lecture plus rapide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96B3C2-1B3C-41CB-BCF9-9E93A35E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des opérations terrain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313A05-B676-48A6-87D4-6B564B0C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qualité, achats, flux, incidents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2DA351-5056-46A6-BE9E-9BE87881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59E755-9397-411B-99EC-F32A223B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Contrôles plus homogènes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C9721F-F5E3-4922-AFBD-70CCD8ED4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sur plusieurs sites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5A8CBD-87D0-4503-B706-8D5D5D19B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fiches, audits, reporting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90B4E1-C847-4319-90EF-C51E60ED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1FCB2A-CD48-42E4-B93B-EAB7D26AA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Coordination renforcée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ACD17D-6EBA-41AD-95F8-D9EE46583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entre terrain et siège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5A0808-AAED-4CBB-B1B8-FF3A60EC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briefs, relances, décisions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A15209-3E43-45F6-BC51-FF7E7B75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4A3C24-70F0-4146-A97E-4AC80B84E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Décisions mieux étayées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5C36C8-CAE0-4F08-B1D3-DCE64625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pour les managers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42A0B7-3AF5-4468-A7A7-ACC294EAE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synthèses KPI et alertes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6A7A4A-9909-4998-AE41-57035C21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5EC5C9-4517-41B2-A04A-652C7D780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19550"/>
            <a:ext cx="468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6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6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Comment rendre ce ROI crédible dès le premier rendez-vous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B20B3A-7D07-40A9-A76C-5C00BD40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14850"/>
            <a:ext cx="428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1. Partir d’un flux métier concret et visible.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2. Nommer le ou les KPI que la direction lit déjà.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3. Limiter le premier pilote à un terrain mesurable.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4. Revoir les résultats avec les responsables métier avant toute extension.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8FAA14-E10C-4B72-83F9-9CF5F342A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67200"/>
            <a:ext cx="52578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Exemples de KPI souvent retenus : temps de cycle, délai de réponse, temps de préparation d’un comité, nombre d’étapes manuelles, volume d’anomalies détectées plus tôt, homogénéité des livrables, taux de résolution au premier niveau, vitesse d’onboarding.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7700BB-10D3-48FE-B0AA-C84D23A52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7A9E0B-4051-4CC9-BE6A-665517400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Agro-industrie &amp; Cacao | ROI et KPI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497C6C-5C56-4FC8-B563-C095E9A34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5247602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D7D91B-8816-4648-AF68-6DC574EA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749B85-F0E6-4D63-B6D3-85DF3E6C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CAS D’USAGE PRIORITAIRES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B1A516-C720-4776-BE5D-656FAB61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bon deck rend visibles 3 à 4 usages que le prospect peut immédiatement se représenter.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AE3C00-8AFD-4FB2-BB35-A66DDD24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85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cas d’usage ci-dessous a été formulé pour rester crédible, visible et relié à un flux métier réel. Le but n’est pas de tout lancer, mais de prioriser ce qui crée une première valeur lisible.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2D44E4-CBBC-42CD-BB67-8EE8C3BA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D3E0EC-5BF7-486F-B017-2E7A15FE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E5B4BA-6D0D-4BE6-ADFE-56AB8AE90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Commentaires des KPI industriels et terrain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FCA665-9791-4D85-97A5-70674084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9B1997-73BA-403A-A785-3ACB8FB1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données existent mais demandent un effort important de lecture.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F702DC-FD55-48C7-BA90-DBA939BF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663157-0C01-48C3-B696-328745A55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écarts, tendances et alertes sont mieux expliqués aux responsables.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3717DD-70D4-4B31-9E23-0B091F3D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909A78-A7DC-4BE0-A7FA-6EBCCC729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190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reporting ; délai d’arbitrage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2F9C65-FDA9-4799-AE5D-3E2EB504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3EDFC2-2E75-4DD7-86F1-D1B71303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4BA6F7-BA5B-4BD7-86B4-639E09C4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8125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Suivi qualité et incidents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6F7D1F-97EA-4806-ABE2-42CE7084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2D6C7D-CF3D-4EDA-BB2C-949E4D01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956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non-conformités et signaux faibles se perdent dans des fichiers multiples.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7F87B4-0FF8-4DEF-AC74-6C26CCFA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575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3037E3-E466-413C-9451-5E237D3B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099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points critiques deviennent plus visibles avant impact plus lourd.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80FB2E-A2DC-40FD-96E8-D728B09CB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9570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5ADDD8-9D56-45C5-A349-32E84F3B1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7190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détection ; nombre d’incidents qualifiés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D1C3D6-1360-42C0-A0F2-A4214805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7BB6F5-BBA6-4FA5-8822-D374D500A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4340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38325D-4F06-4884-B11C-1ED2AE36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Achats, approvisionnements et partenaires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1E6A07-ADE4-4923-8CFA-6A38192D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3B4E02-4646-41EB-9474-20F30AF4B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101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suivis fournisseurs et terrain restent manuels et peu harmonisés.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3B9814-C543-430A-8144-460FE55A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721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E81E09-395C-4E9B-9937-2AC8F606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équipes disposent de synthèses plus fiables pour leurs relances et arbitrages.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5A513F-157E-4501-95B6-B4C5F5D4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0828B3-46D6-47CB-8D6E-C8E46015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8645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suivi ; délai de traitement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DD1B94-0CB3-4C32-89E2-C0098CF4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44FE98-9E42-4BEA-8042-3B360B3F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4340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EF657C3-4904-4F56-8B13-487D12892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9580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Base documentaire d’exploitation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92E653-0372-4C75-BF62-A16EB763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577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F83FF0-B90C-4DEF-999F-256C0D46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101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standards et procédures sont difficiles à retrouver ou transmettre.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8901EBD-EA91-4299-96E4-DE84FE1D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3721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3CA38C3-91B7-406F-81FD-75B6F6E0B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5245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Une base simple rend les documents plus accessibles et plus durables.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BD865FB-7898-4A6E-A37D-D38D47ECE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102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092C4D5-F89F-4DA1-BA13-AE76E259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8645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recherche ; homogénéité documentaire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9A926D1-86CD-4C1B-B118-41C441E8B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3E22D91-47E4-4578-9933-841CCDA7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Agro-industrie &amp; Cacao | Cas d’usage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14BD25F-0681-4301-AE53-34270F44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2453454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34B4D8-E738-457D-9511-2AD29435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C63513-8A0F-4F7B-90E6-4A5A8EDE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PREMIERS TERRAINS À LANCER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142EF8-E09E-4D9F-9871-104AB93A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71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Les deux premiers terrains doivent créer une valeur visible pour la direction et les équipes.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464E1F-3503-4605-AE4B-F3937399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C’est souvent à ce niveau que le prospect décide si la démarche mérite d’aller plus loin. Le choix du premier terrain compte donc plus que la quantité d’idées disponibles.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5D9E7C-0D6C-4ED6-819C-99D69D15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219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B4C700-B75A-4DC7-9EAC-11F42F1E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Terrain prioritaire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6C6866-4882-4C10-8CC4-F1413F891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Commentaires des KPI industriels et terrain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B8B0A8-6813-4631-8777-C824347C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92D0C5-6150-450D-A941-E98731357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480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données existent mais demandent un effort important de lecture.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17019B-4272-48FB-BB5E-3B75DEDC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3CCC43-6442-4E24-A535-89BFC945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76700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écarts, tendances et alertes sont mieux expliqués aux responsables.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9358EE-F77F-4695-B28C-97C4CFAF4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81550"/>
            <a:ext cx="480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01EDB8-B7F6-454D-AE92-90413AC7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453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KPI clé : Temps de reporting ; délai d’arbitrage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129985-7F02-424C-A132-CC86BE579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5219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056D20-8001-4BC4-976F-8126EDBC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8125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Terrain prioritaire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580907-46D5-4638-A3CF-B9A8645B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0985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Suivi qualité et incidents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B90773-C0DF-4539-A2DE-E2EB04A1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670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7BDC22-8FD7-4C56-911F-15645674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38500"/>
            <a:ext cx="480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non-conformités et signaux faibles se perdent dans des fichiers multiples.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3C49D5-331F-4532-A8B1-38718C30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052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5032EB-338D-41DC-8E13-AED36AE8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76700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points critiques deviennent plus visibles avant impact plus lourd.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172B75-70CA-4A01-9A4E-50F043F4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81550"/>
            <a:ext cx="480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6CC3C9-9CB1-4F4B-A865-F7C8B530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876800"/>
            <a:ext cx="453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KPI clé : Temps de détection ; nombre d’incidents qualifiés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803E11-3118-4EFF-97FB-DDDF47C72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8204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3D7227-DC1B-43BE-8C62-990A014A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34050"/>
            <a:ext cx="1036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Règle simple : premier terrain = usage visible, responsable identifié, KPI lisible, données accessibles et supervision humaine facile à organiser.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9970F2-13FF-41B3-8DC8-F28524A94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3AC6F9-C0B0-47B6-845C-4A10AFECE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Agro-industrie &amp; Cacao | Deux premiers terrains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91C6D1-0F0F-4E0C-BB7A-B84FEB8B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1612103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22C078-430A-43E7-B939-75AC677C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80BB08-89FB-46D2-AE05-3DCC6430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FORMATION ET STANDARDISATION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27D0EF-8DC0-497F-B634-455358192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bon catalogue ciblé prépare des gestes métier réels, pas une simple acculturation théorique.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F7DA01-9911-45CD-BA07-72F302B8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76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proposition sectorielle TransferAI combine un noyau de formations activables et des usages de standardisation qui rendent l’adoption plus durable dans le temps.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A3B283-D0D4-4B9D-A688-9A880421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54673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4CE6F3-35D5-4750-AC73-8DAAFEDA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241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Formations prioritaires à activer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F2F002-462A-44A1-BDAB-A26799950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A2A88E-A7CE-4F90-BE4B-69AA6B3BF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9525">
            <a:solidFill>
              <a:srgbClr val="1C8A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D79D80-6AA0-4A96-803C-DAA3CBC0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E359F6-01A5-4B3D-BCAC-7A22BA63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003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Optimisation des Processus Métier avec l'IA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50451D-503A-407E-86CC-28B40E704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DC601B-5160-460A-97C6-A31E09915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9525">
            <a:solidFill>
              <a:srgbClr val="1C8A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B8E837-C821-46A4-AEE2-7C23C50E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D624B3-D147-4445-9D77-B1AF90DD8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766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Planification et Suivi des Indicateurs avec l'IA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F3D77A-FC08-4D62-896A-FBDB4D059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D61E83-A527-4919-BAF1-D620AA86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9525">
            <a:solidFill>
              <a:srgbClr val="1C8A7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9A18B8-5A59-4A3A-A90A-103E4B0A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AFF939-7B74-4498-AA75-B94BA73DF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528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Gestion des Achats et Approvisionnement 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546CC1-EBD7-411D-9CDA-4B5B5B52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C7040D-3EA3-4D8F-B418-694A6557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9525">
            <a:solidFill>
              <a:srgbClr val="1C8A7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BD0CE4-3703-45AC-9C4F-B6DE7FA2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8A65EA-0037-4333-97F2-0C0AD74F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291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Business Intelligence et 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A1DF61-7E1D-47B8-8F6D-5C5B60A54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2E58AD-C689-4DCC-B250-B18059E03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9525">
            <a:solidFill>
              <a:srgbClr val="1C8A7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62B51A-1AC7-4C51-9D1F-5E5F9227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43CDB2-4C93-418C-88E8-0278F805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053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Gestion Documentaire Intelligente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669E03-426D-49F5-8EDC-94E740AD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272DEC-86D7-4C62-AEC5-AA96F775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9525">
            <a:solidFill>
              <a:srgbClr val="1C8A7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508523-9EB9-4FF0-B2BF-DA9F861C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006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FEEAE0-970D-41DF-8E1C-91619928B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816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Leadership Data-Driven avec l'IA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866BD7-28A8-46A8-8C5F-6C88E2F5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14550"/>
            <a:ext cx="50482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DC2698-1410-4895-BC8B-8CB802E6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24100"/>
            <a:ext cx="3695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Ce que ce dispositif doit standardiser concrètement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FB6DB8-7EAE-4EFC-BCAB-BF4707B3E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81300"/>
            <a:ext cx="4419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Mieux relier opérations, qualité et fonctions support.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Réduire les délais de lecture des indicateurs terrain.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Rendre les contrôles et documents plus homogènes entre sites.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Créer un pilotage plus lisible des incidents et des priorités.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43629E6-9F18-4D58-BD5D-7F719576E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95750"/>
            <a:ext cx="4419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Après la formation, les équipes formées gardent un accès à la communauté TransferAI pour partager leurs cas, leurs difficultés et obtenir des conseils pratiques orientés exécution.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8ACD59F-ED28-4B6C-A970-D0F6A388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43450"/>
            <a:ext cx="4419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Cette logique augmente la probabilité d’usage réel, sécurise les premiers tests et réduit l’effet “formation oubliée” après quelques semaines.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5EF163-79B2-444E-B091-636E8A19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2BEADA7-E3CD-44D4-A43B-0F4CE29D0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Agro-industrie &amp; Cacao | Formation et standardisation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32C53FB-8951-42EA-A430-5A6C33BA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0643320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44BB7D-ACA3-4E1A-AE9A-3C9735491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2D000A-C0AE-4277-A794-3856DF21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PARCOURS 90 JOURS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6DC02B-F7EE-4FA8-8BFD-4C374AF5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14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La séquence recommandée va du cadrage à la mesure, avec validation à chaque palier.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EDEE8E-BF67-44C6-B5C2-C7834CA27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85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L’objectif n’est pas de “déployer de l’IA” d’un bloc, mais de passer par des étapes courtes, visibles et gouvernées, avec un point de décision clair à chaque jalon.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0FEF7B-1BD8-4F8B-BFD9-614D67FF3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C87D7D-C0DB-403A-AFB1-F5DAD15F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7D2B4A-EEA8-4C0A-978A-B5B06BCE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9A6F8D-FE62-411D-A0C0-C501E279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Audit, cadrage et priorisation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2926A3-8266-4868-B095-767EADDC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Identifier les flux à plus forte valeur, les risques à encadrer et les équipes à mobiliser.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8D614A-3DB4-4322-9583-9744A2F03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0FE362-E0BD-4E47-A50D-C1D52822A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AA3C52-18DA-4D56-B6E2-475FC1386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J+15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CA5103-78E4-42AB-9248-9E1221DE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Premier livrable utile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986090-9652-4074-BBA4-7D370406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Produire un kit de travail, un assistant pilote ou une première base documentaire prête à l’usage.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75B56D-643F-46E5-B94A-EF2F7B53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5D8BDE-CF36-460A-81B3-220616C9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BA537F-22CB-42BE-A195-B0C75F55F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J+45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5A0199-8642-4D5A-9C6E-333449C20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ciblée et pilote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04DF3A-BBC2-46F6-8317-351CAA29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Former les bonnes populations, lancer le premier terrain d’exécution et sécuriser les pratiques.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4F6F56-3BF1-4386-A1A7-D41411BE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33600"/>
            <a:ext cx="287655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BD2415-0E43-451F-B9DA-169A2E12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721839-8D27-42A6-A612-52574A15B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J+90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DB0E87-E918-407A-B1D4-10DAFD39E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67000"/>
            <a:ext cx="2533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Mesure, gouvernance et extension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D6ABD9-54AC-4FC0-AEB7-C45B36AE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09900"/>
            <a:ext cx="25336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Relire les premiers KPI, ajuster les usages et décider l’extension, le recentrage ou la montée en charge.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608F1A-D207-4842-A623-D22180CC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8204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E0A711-2FDA-41A1-BEE4-E6E9108F9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721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Différentiel TransferAI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5BF846-7237-4AC5-AB9B-69CD37907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19750"/>
            <a:ext cx="10172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Une structure de formation classique s’arrête au contenu. TransferAI forme, puis accompagne la mise en pratique, la relecture des premiers KPI, les ajustements et la décision d’extension pendant 90 jours.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5544B9-94DA-498F-9ECD-B01FA0D37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3A11E4-9C3C-4E7A-BB0B-D6CFA815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Agro-industrie &amp; Cacao | Parcours 90 jours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FF0F5C-1328-411D-B57A-DB5DF886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7321484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50D75D-D715-4FED-8D05-F801AC03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CEFC0F-4C2E-4DD8-BE23-3E26C691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OFFRE RECOMMANDÉE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3459A8-B2EF-4233-97B7-FBD3A4A6A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La proposition TransferAI pour agro-industrie &amp; cacao s’organise en 4 briques simples à activer.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38217A-B45D-4445-B70D-5F3E325D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Cette architecture permet de relier audit, formation, accompagnement, gouvernance et premier terrain d’exécution dans une seule logique commerciale compréhensible par le prospect.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780008-BD79-43BF-BE4E-04403D819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B611AE-AC7D-4C7D-84B0-D438190DE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0EAC4E-E75E-4625-B64E-9D56BD6F3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193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Audit métier ciblé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75637E-BEEF-427C-BD53-62C3F60E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Qualifier les flux, documents et points de friction les plus critiques pour Agro-industrie &amp; Cacao.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7DBAE5-C173-4FED-AF42-92ECC60D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Cartographie des irritants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Hypothèses de gains rapides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B689F0-578C-4D04-A41D-55ABD47E7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479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FECE96-5C47-499B-B218-242133EE7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384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448B5E-2A84-46C3-BF41-519E5B0A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193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des décideurs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8120A7-F09F-4845-BC91-C1120C3E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Aligner la direction, les managers et les sponsors sur les usages, limites et conditions de réussite.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4F8D7D-8051-4867-B63D-51B9918C1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004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Vision, gouvernance et arbitrages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Lecture des premiers KPI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89BBF7-02DE-421F-BA93-E1610A1A2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A027CB-011B-4795-BDDA-BB15F49B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29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9A5028-0E00-42C4-84F2-C4281C0B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338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des équipes opérationnelles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27980B-76F1-4B4A-A3EA-8743C7BA5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Mettre les bonnes méthodes et les bons assistants dans les mains des équipes qui exécutent.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9CA27B-1413-4140-8F89-694F74EFA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149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Gestes métier augmentés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Standardisation utile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25B60B-AB93-40D8-B01B-B628D3CE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624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B049E9-3DBE-4312-B2B9-FCDB2488F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529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15A3F8-3AF5-4978-B866-D1CA3F28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338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Pilote, accompagnement et extension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E07A7A-68D4-41E0-85AA-276BA918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577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Passer d’une intention IA à un premier terrain visible, mesurable et gouverné.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680F0A-77C5-4BEF-B827-FFEEEFF7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149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Pilotage sur 90 jours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Décision d’extension ou de recentrage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25356C-1859-46F3-8E12-EDDA7F16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102E5D-BC1B-45B0-966D-ECFF2912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Agro-industrie &amp; Cacao | Offre recommandée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BDA469-F656-42CF-AE90-68C25612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0745710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DC5538-4A6D-434D-A2AE-501C8D1D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8"/>
          </a:solidFill>
          <a:ln xmlns:a="http://schemas.openxmlformats.org/drawingml/2006/main" w="0">
            <a:solidFill>
              <a:srgbClr val="F6F0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B1692C-2B3C-4DDE-B09F-C9AE83043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884cc173be48dd"/>
          <a:stretch xmlns:a="http://schemas.openxmlformats.org/drawingml/2006/main"/>
        </p:blipFill>
        <p:spPr>
          <a:xfrm xmlns:a="http://schemas.openxmlformats.org/drawingml/2006/main">
            <a:off x="1056731" y="723900"/>
            <a:ext cx="1125039" cy="495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1438BD-9764-4824-80AF-90D9FFF3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8E6F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8E6F4"/>
                </a:solidFill>
                <a:latin typeface="Aptos"/>
                <a:ea typeface="Aptos"/>
                <a:cs typeface="Aptos"/>
              </a:rPr>
              <a:t>CONFIANCE ET PROCHAINE ÉTAPE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941450-A76B-44EB-8575-A1E2E278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590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Proposer un pilote utile, gouverné et mesurable.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98062F-1FFB-469C-9259-72125598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581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D7E5F3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D7E5F3"/>
                </a:solidFill>
                <a:latin typeface="Aptos"/>
                <a:ea typeface="Aptos"/>
                <a:cs typeface="Aptos"/>
              </a:rPr>
              <a:t>Le rendez-vous ne sert pas à vendre un outil abstrait. Il sert à confirmer les deux premiers terrains, les équipes à former, les données à protéger et la sortie attendue à 90 jours.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CA938D-6843-4AF9-84AB-505955E2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53340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20405F"/>
          </a:solidFill>
          <a:ln xmlns:a="http://schemas.openxmlformats.org/drawingml/2006/main" w="9525">
            <a:solidFill>
              <a:srgbClr val="2B587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B5365C-A2D5-4226-8FB7-28B25971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480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 cadre de confiance à présenter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BF1447-EF79-4250-BCCD-8E05568F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29050"/>
            <a:ext cx="4629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Les usages proposés restent gouvernés, progressifs et validés par des responsables métier identifiés.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Les données sensibles, documents internes et arbitrages critiques restent sous supervision humaine.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TransferAI ne s’arrête pas à la formation : nous accompagnons aussi la mise en pratique, les premiers KPI et la décision d’extension.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4DF3B0-A4E7-4262-A794-E7287B29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104900"/>
            <a:ext cx="4953000" cy="4438650"/>
          </a:xfrm>
          <a:prstGeom xmlns:a="http://schemas.openxmlformats.org/drawingml/2006/main" prst="roundRect">
            <a:avLst>
              <a:gd name="adj" fmla="val 171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FFFDF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A88139-800D-406F-8433-479FE200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097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Sortie attendue du rendez-vous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0DBDB5-7B39-4439-9D49-FB364500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90700"/>
            <a:ext cx="4095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Confirmer les 2 premiers cas d’usage à plus forte valeur visible.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Valider les populations à former et le niveau d’accompagnement requis.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Identifier les KPI prioritaires et la forme du premier pilote.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Décider du bon ordre entre audit détaillé, formation ciblée, pilote et gouvernance.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3F0E01-037D-4A07-97E4-A0A20CA5B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766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CTA principal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505C51-8046-490B-AFAD-AB7A6499D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24250"/>
            <a:ext cx="4095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Planifier un audit IA gratuit suivi d’un échange expert de 45 minutes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AA852B-082A-4B08-A49E-6BB548636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957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Pièces jointes recommandées : ce deck sectoriel + mini-catalogue ciblé + formulaire d’audit pré-rendez-vous.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598FBF-64ED-48BC-969D-CA14924F9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291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Contextes proches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8D271D-8B80-46BD-934F-2A627E142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85775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BC28BF-B808-4100-AD8D-B1CD6DC5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1490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Agro-industrie / Cacao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359659-F481-429D-B9C9-FFDD91086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18160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483978-68AE-4DB8-913D-1B2A2FC5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23875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Agro-industrie / Hévéa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15DBAC-F956-4AA9-9BA3-E47EB6F4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50545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09A574-96C6-438F-8EDB-E7106D30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56260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Agro-industrie / Palmier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9CEC58-7480-4E15-8069-C5332253A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57A829-689E-4A9A-A7C3-C336641D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Agro-industrie &amp; Cacao | Confiance et prochaine étape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AF091F-06AA-4396-A1FE-488E72FE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218309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2026-06-13T00:08:45.4330000Z</dcterms:created>
  <dcterms:modified xsi:type="dcterms:W3CDTF">2026-06-13T00:08:45.4330000Z</dcterms:modified>
</coreProperties>
</file>