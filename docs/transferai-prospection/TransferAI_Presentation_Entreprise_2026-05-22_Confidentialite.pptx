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1eb8ecab5649ed" /><Relationship Type="http://schemas.openxmlformats.org/officeDocument/2006/relationships/extended-properties" Target="/docProps/app.xml" Id="R3ef5181281524475" /><Relationship Type="http://schemas.openxmlformats.org/officeDocument/2006/relationships/officeDocument" Target="/ppt/presentation.xml" Id="Rdcb1746b95d441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eedffa1984487f"/>
  </p:sldMasterIdLst>
  <p:notesMasterIdLst>
    <p:notesMasterId xmlns:r="http://schemas.openxmlformats.org/officeDocument/2006/relationships" r:id="R3006aedcfef34d26"/>
  </p:notesMasterIdLst>
  <p:sldIdLst>
    <p:sldId xmlns:r="http://schemas.openxmlformats.org/officeDocument/2006/relationships" id="256" r:id="R5a9aacaf4f914815"/>
    <p:sldId xmlns:r="http://schemas.openxmlformats.org/officeDocument/2006/relationships" id="257" r:id="Re40154a38cbb44a8"/>
    <p:sldId xmlns:r="http://schemas.openxmlformats.org/officeDocument/2006/relationships" id="258" r:id="Rab9baa9c3c5144ad"/>
    <p:sldId xmlns:r="http://schemas.openxmlformats.org/officeDocument/2006/relationships" id="259" r:id="Ra6f846cb899242a6"/>
    <p:sldId xmlns:r="http://schemas.openxmlformats.org/officeDocument/2006/relationships" id="260" r:id="R0c03a0a6c23548cc"/>
    <p:sldId xmlns:r="http://schemas.openxmlformats.org/officeDocument/2006/relationships" id="261" r:id="R4c7e7b17ca6f4ed0"/>
    <p:sldId xmlns:r="http://schemas.openxmlformats.org/officeDocument/2006/relationships" id="262" r:id="Rbefd17a47aa84d1d"/>
    <p:sldId xmlns:r="http://schemas.openxmlformats.org/officeDocument/2006/relationships" id="263" r:id="R80843d307c464a95"/>
    <p:sldId xmlns:r="http://schemas.openxmlformats.org/officeDocument/2006/relationships" id="264" r:id="R7dc4b1795b794a3d"/>
    <p:sldId xmlns:r="http://schemas.openxmlformats.org/officeDocument/2006/relationships" id="265" r:id="R7375c23cb2f748b3"/>
    <p:sldId xmlns:r="http://schemas.openxmlformats.org/officeDocument/2006/relationships" id="266" r:id="R6e892e8c2fa74591"/>
    <p:sldId xmlns:r="http://schemas.openxmlformats.org/officeDocument/2006/relationships" id="267" r:id="R6e62b41b4d524fa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eedffa1984487f" /><Relationship Type="http://schemas.openxmlformats.org/officeDocument/2006/relationships/theme" Target="/ppt/theme/theme1.xml" Id="R709705a713ef4b68" /><Relationship Type="http://schemas.openxmlformats.org/officeDocument/2006/relationships/notesMaster" Target="/ppt/notesMasters/notesMaster1.xml" Id="R3006aedcfef34d26" /><Relationship Type="http://schemas.openxmlformats.org/officeDocument/2006/relationships/presProps" Target="/ppt/presProps.xml" Id="R9435fd90995f4a9c" /><Relationship Type="http://schemas.openxmlformats.org/officeDocument/2006/relationships/viewProps" Target="/ppt/viewProps.xml" Id="Rf3237ad0664e4ab8" /><Relationship Type="http://schemas.openxmlformats.org/officeDocument/2006/relationships/tableStyles" Target="/ppt/tableStyles.xml" Id="Rb1532268ea564862" /><Relationship Type="http://schemas.openxmlformats.org/officeDocument/2006/relationships/slide" Target="/ppt/slides/slide1.xml" Id="R5a9aacaf4f914815" /><Relationship Type="http://schemas.openxmlformats.org/officeDocument/2006/relationships/slide" Target="/ppt/slides/slide2.xml" Id="Re40154a38cbb44a8" /><Relationship Type="http://schemas.openxmlformats.org/officeDocument/2006/relationships/slide" Target="/ppt/slides/slide3.xml" Id="Rab9baa9c3c5144ad" /><Relationship Type="http://schemas.openxmlformats.org/officeDocument/2006/relationships/slide" Target="/ppt/slides/slide4.xml" Id="Ra6f846cb899242a6" /><Relationship Type="http://schemas.openxmlformats.org/officeDocument/2006/relationships/slide" Target="/ppt/slides/slide5.xml" Id="R0c03a0a6c23548cc" /><Relationship Type="http://schemas.openxmlformats.org/officeDocument/2006/relationships/slide" Target="/ppt/slides/slide6.xml" Id="R4c7e7b17ca6f4ed0" /><Relationship Type="http://schemas.openxmlformats.org/officeDocument/2006/relationships/slide" Target="/ppt/slides/slide7.xml" Id="Rbefd17a47aa84d1d" /><Relationship Type="http://schemas.openxmlformats.org/officeDocument/2006/relationships/slide" Target="/ppt/slides/slide8.xml" Id="R80843d307c464a95" /><Relationship Type="http://schemas.openxmlformats.org/officeDocument/2006/relationships/slide" Target="/ppt/slides/slide9.xml" Id="R7dc4b1795b794a3d" /><Relationship Type="http://schemas.openxmlformats.org/officeDocument/2006/relationships/slide" Target="/ppt/slides/slide10.xml" Id="R7375c23cb2f748b3" /><Relationship Type="http://schemas.openxmlformats.org/officeDocument/2006/relationships/slide" Target="/ppt/slides/slide11.xml" Id="R6e892e8c2fa74591" /><Relationship Type="http://schemas.openxmlformats.org/officeDocument/2006/relationships/slide" Target="/ppt/slides/slide12.xml" Id="R6e62b41b4d524f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221069cc6184e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1efbd03d9c4927" /><Relationship Type="http://schemas.openxmlformats.org/officeDocument/2006/relationships/notesMaster" Target="/ppt/notesMasters/notesMaster1.xml" Id="Rff4fb47a0b834f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f85fc4ac684723" /><Relationship Type="http://schemas.openxmlformats.org/officeDocument/2006/relationships/notesMaster" Target="/ppt/notesMasters/notesMaster1.xml" Id="Re29a6a41626f4c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5a858be515431e" /><Relationship Type="http://schemas.openxmlformats.org/officeDocument/2006/relationships/notesMaster" Target="/ppt/notesMasters/notesMaster1.xml" Id="R949e16be48704c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f9798a28994a71" /><Relationship Type="http://schemas.openxmlformats.org/officeDocument/2006/relationships/notesMaster" Target="/ppt/notesMasters/notesMaster1.xml" Id="R94d00c795a8944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180e805e47488d" /><Relationship Type="http://schemas.openxmlformats.org/officeDocument/2006/relationships/notesMaster" Target="/ppt/notesMasters/notesMaster1.xml" Id="R047f4b942bc04b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8a4ec0eed84e6c" /><Relationship Type="http://schemas.openxmlformats.org/officeDocument/2006/relationships/notesMaster" Target="/ppt/notesMasters/notesMaster1.xml" Id="R65201687745a4d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2dfbcdbc7e48bd" /><Relationship Type="http://schemas.openxmlformats.org/officeDocument/2006/relationships/notesMaster" Target="/ppt/notesMasters/notesMaster1.xml" Id="R66764a587c594a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2af94f7d98486f" /><Relationship Type="http://schemas.openxmlformats.org/officeDocument/2006/relationships/notesMaster" Target="/ppt/notesMasters/notesMaster1.xml" Id="R6f95ff1066cc49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7eb0d9806f4993" /><Relationship Type="http://schemas.openxmlformats.org/officeDocument/2006/relationships/notesMaster" Target="/ppt/notesMasters/notesMaster1.xml" Id="Rf2c061c0100c4f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31292e9fea4081" /><Relationship Type="http://schemas.openxmlformats.org/officeDocument/2006/relationships/notesMaster" Target="/ppt/notesMasters/notesMaster1.xml" Id="Rfb849fa84c0244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6be900a9404a96" /><Relationship Type="http://schemas.openxmlformats.org/officeDocument/2006/relationships/notesMaster" Target="/ppt/notesMasters/notesMaster1.xml" Id="Rc1cc307c38454fc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1f07d11614b4ac1" /><Relationship Type="http://schemas.openxmlformats.org/officeDocument/2006/relationships/notesMaster" Target="/ppt/notesMasters/notesMaster1.xml" Id="R5965780a6e8944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86601c340941f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71959d0e06b4edd" /><Relationship Type="http://schemas.openxmlformats.org/officeDocument/2006/relationships/slideLayout" Target="/ppt/slideLayouts/slideLayout2.xml" Id="R439a54222d9548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9a54222d9548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960262e1a646d3" /><Relationship Type="http://schemas.openxmlformats.org/officeDocument/2006/relationships/image" Target="/ppt/media/image.jpeg" Id="Re4d94e7860284d4e" /><Relationship Type="http://schemas.openxmlformats.org/officeDocument/2006/relationships/image" Target="/ppt/media/image.png" Id="R060d5897e4b644c7" /><Relationship Type="http://schemas.openxmlformats.org/officeDocument/2006/relationships/notesSlide" Target="/ppt/notesSlides/notesSlide1.xml" Id="R2937f34272ed4b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626ab422684371" /><Relationship Type="http://schemas.openxmlformats.org/officeDocument/2006/relationships/image" Target="/ppt/media/image2.png" Id="R4e210591bf804e37" /><Relationship Type="http://schemas.openxmlformats.org/officeDocument/2006/relationships/image" Target="/ppt/media/image.svg" Id="R4dbe6ab6320a4205" /><Relationship Type="http://schemas.openxmlformats.org/officeDocument/2006/relationships/image" Target="/ppt/media/image3.png" Id="R9a8c74018af14b07" /><Relationship Type="http://schemas.openxmlformats.org/officeDocument/2006/relationships/image" Target="/ppt/media/image2.svg" Id="R5f67c1fdbd604609" /><Relationship Type="http://schemas.openxmlformats.org/officeDocument/2006/relationships/image" Target="/ppt/media/image4.png" Id="R8f92f9abb156449d" /><Relationship Type="http://schemas.openxmlformats.org/officeDocument/2006/relationships/image" Target="/ppt/media/image3.svg" Id="R02dcbecfa4c44c0a" /><Relationship Type="http://schemas.openxmlformats.org/officeDocument/2006/relationships/notesSlide" Target="/ppt/notesSlides/notesSlide2.xml" Id="R5c441770388345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d6921418804591" /><Relationship Type="http://schemas.openxmlformats.org/officeDocument/2006/relationships/image" Target="/ppt/media/image5.png" Id="R285da6380f0e479a" /><Relationship Type="http://schemas.openxmlformats.org/officeDocument/2006/relationships/image" Target="/ppt/media/image6.png" Id="R02ccfac7845f462c" /><Relationship Type="http://schemas.openxmlformats.org/officeDocument/2006/relationships/image" Target="/ppt/media/image7.png" Id="R5d8ce654fde149b1" /><Relationship Type="http://schemas.openxmlformats.org/officeDocument/2006/relationships/image" Target="/ppt/media/image8.png" Id="R833c41113a424101" /><Relationship Type="http://schemas.openxmlformats.org/officeDocument/2006/relationships/image" Target="/ppt/media/image2.jpeg" Id="R491e17b01d04454f" /><Relationship Type="http://schemas.openxmlformats.org/officeDocument/2006/relationships/image" Target="/ppt/media/image9.png" Id="R70c1131908594530" /><Relationship Type="http://schemas.openxmlformats.org/officeDocument/2006/relationships/image" Target="/ppt/media/image10.png" Id="R0e076079a11d4905" /><Relationship Type="http://schemas.openxmlformats.org/officeDocument/2006/relationships/notesSlide" Target="/ppt/notesSlides/notesSlide3.xml" Id="Ref0f0e4e28de40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54b4d8f91141e2" /><Relationship Type="http://schemas.openxmlformats.org/officeDocument/2006/relationships/image" Target="/ppt/media/image11.png" Id="R8786408683854412" /><Relationship Type="http://schemas.openxmlformats.org/officeDocument/2006/relationships/image" Target="/ppt/media/image4.svg" Id="Rf3820be1a1ae483e" /><Relationship Type="http://schemas.openxmlformats.org/officeDocument/2006/relationships/image" Target="/ppt/media/image12.png" Id="R49d3df5d7d7b4775" /><Relationship Type="http://schemas.openxmlformats.org/officeDocument/2006/relationships/image" Target="/ppt/media/image5.svg" Id="R1663343937a24b07" /><Relationship Type="http://schemas.openxmlformats.org/officeDocument/2006/relationships/image" Target="/ppt/media/image13.png" Id="R9b28d8ae9c234acf" /><Relationship Type="http://schemas.openxmlformats.org/officeDocument/2006/relationships/image" Target="/ppt/media/image6.svg" Id="Re5bcfe06af6d439b" /><Relationship Type="http://schemas.openxmlformats.org/officeDocument/2006/relationships/notesSlide" Target="/ppt/notesSlides/notesSlide4.xml" Id="Radda5346ae0345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78ed03cc5c48b6" /><Relationship Type="http://schemas.openxmlformats.org/officeDocument/2006/relationships/notesSlide" Target="/ppt/notesSlides/notesSlide5.xml" Id="R72e1f0d85cfb49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97ee24edb345d0" /><Relationship Type="http://schemas.openxmlformats.org/officeDocument/2006/relationships/notesSlide" Target="/ppt/notesSlides/notesSlide6.xml" Id="R33e301e0f04a44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dd1ebba0014fb1" /><Relationship Type="http://schemas.openxmlformats.org/officeDocument/2006/relationships/notesSlide" Target="/ppt/notesSlides/notesSlide7.xml" Id="R8d3458d28d8d4d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4dbec21c9b47af" /><Relationship Type="http://schemas.openxmlformats.org/officeDocument/2006/relationships/notesSlide" Target="/ppt/notesSlides/notesSlide8.xml" Id="Rd8cfa8fb8b224a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521b01c5b54250" /><Relationship Type="http://schemas.openxmlformats.org/officeDocument/2006/relationships/image" Target="/ppt/media/image14.png" Id="R2136d5749c7f48c2" /><Relationship Type="http://schemas.openxmlformats.org/officeDocument/2006/relationships/notesSlide" Target="/ppt/notesSlides/notesSlide9.xml" Id="Rf2e8f955cf0548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ab79b880e046e0" /><Relationship Type="http://schemas.openxmlformats.org/officeDocument/2006/relationships/image" Target="/ppt/media/image15.png" Id="Rb6344c20498b49b2" /><Relationship Type="http://schemas.openxmlformats.org/officeDocument/2006/relationships/notesSlide" Target="/ppt/notesSlides/notesSlide10.xml" Id="Rad8436867d9347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56a42cdaa74bdc" /><Relationship Type="http://schemas.openxmlformats.org/officeDocument/2006/relationships/image" Target="/ppt/media/image16.png" Id="R4dbb0670e89c4b28" /><Relationship Type="http://schemas.openxmlformats.org/officeDocument/2006/relationships/image" Target="/ppt/media/image7.svg" Id="Rdd7b84224a474e93" /><Relationship Type="http://schemas.openxmlformats.org/officeDocument/2006/relationships/image" Target="/ppt/media/image17.png" Id="R5b4336d2e1664142" /><Relationship Type="http://schemas.openxmlformats.org/officeDocument/2006/relationships/image" Target="/ppt/media/image8.svg" Id="R2f26b1b7f8124b7d" /><Relationship Type="http://schemas.openxmlformats.org/officeDocument/2006/relationships/image" Target="/ppt/media/image18.png" Id="Rdaab7ad433174b0a" /><Relationship Type="http://schemas.openxmlformats.org/officeDocument/2006/relationships/image" Target="/ppt/media/image9.svg" Id="R70e07e8481df4f9e" /><Relationship Type="http://schemas.openxmlformats.org/officeDocument/2006/relationships/image" Target="/ppt/media/image19.png" Id="Ra0d2be6d16984e32" /><Relationship Type="http://schemas.openxmlformats.org/officeDocument/2006/relationships/image" Target="/ppt/media/image10.svg" Id="Rd4c596a5c6ab4eee" /><Relationship Type="http://schemas.openxmlformats.org/officeDocument/2006/relationships/image" Target="/ppt/media/image20.png" Id="R01f9745f85cc4792" /><Relationship Type="http://schemas.openxmlformats.org/officeDocument/2006/relationships/image" Target="/ppt/media/image11.svg" Id="Ra0918b6db4804b5d" /><Relationship Type="http://schemas.openxmlformats.org/officeDocument/2006/relationships/image" Target="/ppt/media/image21.png" Id="R7a476acca44a4d38" /><Relationship Type="http://schemas.openxmlformats.org/officeDocument/2006/relationships/image" Target="/ppt/media/image12.svg" Id="Ra215d9784eef4b54" /><Relationship Type="http://schemas.openxmlformats.org/officeDocument/2006/relationships/notesSlide" Target="/ppt/notesSlides/notesSlide11.xml" Id="R67c006c0b6a440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b4f1cf5e6e4f22" /><Relationship Type="http://schemas.openxmlformats.org/officeDocument/2006/relationships/notesSlide" Target="/ppt/notesSlides/notesSlide12.xml" Id="R4915c37dbe8742d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CD947A-7EA5-4F8D-94DE-326F06CD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0">
            <a:solidFill>
              <a:srgbClr val="F7F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9B36D-B806-4034-A808-FFE12B3C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48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9525">
            <a:solidFill>
              <a:srgbClr val="F7F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46D9F-896B-4C04-B723-91660972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0"/>
            <a:ext cx="5143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E"/>
          </a:solidFill>
          <a:ln xmlns:a="http://schemas.openxmlformats.org/drawingml/2006/main" w="9525">
            <a:solidFill>
              <a:srgbClr val="EEE6DE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94e7860284d4e"/>
          <a:srcRect xmlns:a="http://schemas.openxmlformats.org/drawingml/2006/main" l="4799" t="0" r="47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2686050"/>
            <a:ext cx="5143500" cy="32004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B5366-53DE-4B90-B261-9D11F0BA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d5897e4b644c7"/>
          <a:stretch xmlns:a="http://schemas.openxmlformats.org/drawingml/2006/main"/>
        </p:blipFill>
        <p:spPr>
          <a:xfrm xmlns:a="http://schemas.openxmlformats.org/drawingml/2006/main">
            <a:off x="984069" y="1028700"/>
            <a:ext cx="1384663" cy="609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9C616-5A76-462B-8651-A69A2852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PRÉSENTATION ENTREPRISE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460A2-646A-4B13-89D2-AF09D2EE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TransferAI Africa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0A9FE8-F0A7-4077-A794-9C67364D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4476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Présentation de la structure et de l'offre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C0F43B-FB76-405F-8DEE-CFFE8994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Accompagner les entreprises, les institutions et les talents avec une intelligence artificielle utile, concrète et bien encadrée.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0853B-1C98-45C2-A97B-025FD695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447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Point d'entrée conseillé : audit IA gratuit, puis échange expert de 30 à 45 minutes.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585A5F-066A-4339-B0B4-C6F32163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00650"/>
            <a:ext cx="142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88CA6-93E2-4F81-8A7F-3171D839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724"/>
          </a:solidFill>
          <a:ln xmlns:a="http://schemas.openxmlformats.org/drawingml/2006/main" w="0">
            <a:solidFill>
              <a:srgbClr val="D6672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0036E-3160-45D7-8E1D-1D223B22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53050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130+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E5E1E-67D2-43E4-BB74-0D2142C1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15000"/>
            <a:ext cx="93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16072"/>
                </a:solidFill>
                <a:latin typeface="Aptos"/>
                <a:ea typeface="Aptos"/>
                <a:cs typeface="Aptos"/>
              </a:rPr>
              <a:t>formations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99C64-20B1-4566-A001-11F35ADD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200650"/>
            <a:ext cx="142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B356CC-E824-4C2A-9B79-5660BDA2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721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67E"/>
          </a:solidFill>
          <a:ln xmlns:a="http://schemas.openxmlformats.org/drawingml/2006/main" w="0">
            <a:solidFill>
              <a:srgbClr val="2FB67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94E654-52F8-47C5-BFC0-2B16D208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C71FBA-6907-4AB1-BEE0-8F122261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715000"/>
            <a:ext cx="93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16072"/>
                </a:solidFill>
                <a:latin typeface="Aptos"/>
                <a:ea typeface="Aptos"/>
                <a:cs typeface="Aptos"/>
              </a:rPr>
              <a:t>domaines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9A55BA-A09C-4EF6-B8FE-7BC022F2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200650"/>
            <a:ext cx="142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398B61-D898-48E0-8BB0-E728AEE1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3721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10A56C-B41A-413B-A547-6E8A5E10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353050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20F612-E1ED-4C78-9632-3600EC31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15000"/>
            <a:ext cx="93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16072"/>
                </a:solidFill>
                <a:latin typeface="Aptos"/>
                <a:ea typeface="Aptos"/>
                <a:cs typeface="Aptos"/>
              </a:rPr>
              <a:t>experts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05E296-E1F2-43BD-B299-D7670CEE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200650"/>
            <a:ext cx="142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B687AF-183C-424D-9066-D6E18B0F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3721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D8C"/>
          </a:solidFill>
          <a:ln xmlns:a="http://schemas.openxmlformats.org/drawingml/2006/main" w="0">
            <a:solidFill>
              <a:srgbClr val="6E7D8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2D71BC-611C-4E3A-AEBF-6602B0C8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353050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38A616-BC43-4C64-854A-722660E9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715000"/>
            <a:ext cx="93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16072"/>
                </a:solidFill>
                <a:latin typeface="Aptos"/>
                <a:ea typeface="Aptos"/>
                <a:cs typeface="Aptos"/>
              </a:rPr>
              <a:t>partenaires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10ADFD-9ADD-4773-A9F8-9809D876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04850"/>
            <a:ext cx="3429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555A0D-B9AA-4314-B699-A0AAA6D6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9334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9D8E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9D8E8"/>
                </a:solidFill>
                <a:latin typeface="Aptos"/>
                <a:ea typeface="Aptos"/>
                <a:cs typeface="Aptos"/>
              </a:rPr>
              <a:t>Promesse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0366CE-7B43-4FF2-BFE8-5AF7827D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001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Rendre l'IA utile, claire et facile à mettre en œuvre.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59FB3F-DF52-4713-841F-57CE0245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478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E7EEF6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E7EEF6"/>
                </a:solidFill>
                <a:latin typeface="Aptos"/>
                <a:ea typeface="Aptos"/>
                <a:cs typeface="Aptos"/>
              </a:rPr>
              <a:t>TransferAI Africa relie conseil, formation et mise en œuvre pour transformer l'intérêt pour l'IA en plan d'action concret.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84CA68-ED0B-4A63-BF9A-9607FEB9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D23246-0682-4553-B85C-60106F0F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TransferAI Africa | Présentation de structure et d'offre | Version commerciale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ADB719-332C-4740-8D81-B576C828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162217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411277-BC9E-4273-AACA-6AC219B7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A1A0B-9058-4CE5-96F8-24C9C498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CONSTAT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9410B-F81F-4DD8-9ADF-FE816CFF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Pourquoi les organisations nous sollicitent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43459-5805-4A47-A207-2FA7EB7B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210591bf804e37">
            <a:extLst>
              <a:ext uri="{96DAC541-7B7A-43D3-8B79-37D633B846F1}">
                <asvg:svgBlip xmlns:asvg="http://schemas.microsoft.com/office/drawing/2016/SVG/main" r:embed="R4dbe6ab6320a42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100" y="19431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BBEA7-73F2-496D-8742-64D0ACDA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4310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Clarifier avant d'acheter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383C9-1DC1-41B9-8EB2-71D48EB7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686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Beaucoup d'entreprises veulent avancer sur l'IA, mais n'ont pas encore identifié les usages les plus utiles.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DB4B9-829C-474B-A946-9F921146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335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c74018af14b07">
            <a:extLst>
              <a:ext uri="{96DAC541-7B7A-43D3-8B79-37D633B846F1}">
                <asvg:svgBlip xmlns:asvg="http://schemas.microsoft.com/office/drawing/2016/SVG/main" r:embed="R5f67c1fdbd60460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67225" y="19431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11FBC-F472-4AD9-99ED-ACE72415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94310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Former sans perdre les équipes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C3884-4B48-471F-B7FB-129BF78F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457450"/>
            <a:ext cx="2686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4ED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4EDF7"/>
                </a:solidFill>
                <a:latin typeface="Aptos"/>
                <a:ea typeface="Aptos"/>
                <a:cs typeface="Aptos"/>
              </a:rPr>
              <a:t>Les dirigeants veulent associer les équipes à des usages simples à comprendre et faciles à adopter.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692D9-AC0D-4AC0-A57A-C7B70255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335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2f9abb156449d">
            <a:extLst>
              <a:ext uri="{96DAC541-7B7A-43D3-8B79-37D633B846F1}">
                <asvg:svgBlip xmlns:asvg="http://schemas.microsoft.com/office/drawing/2016/SVG/main" r:embed="R02dcbecfa4c44c0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34350" y="19431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9FFABA-6973-464E-883E-A983D247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4310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Déployer sans dispersion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43FD89-876C-41BC-B3A4-8B10BEE2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57450"/>
            <a:ext cx="2686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Les besoins portent sur des gains concrets, des assistants utiles et des processus mieux organisés, pas sur des effets de mode.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70FB8E-95B5-466F-BB2E-2EECB3C6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10668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1"/>
          </a:solidFill>
          <a:ln xmlns:a="http://schemas.openxmlformats.org/drawingml/2006/main" w="9525">
            <a:solidFill>
              <a:srgbClr val="FFF7F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40C061-AC2E-4FD6-9AC0-695396D2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Réponse TransferAI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43F5EE-A1FB-4B62-B42E-5C1F737D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533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Transformer l'intérêt pour l'IA en plan d'action clair.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B9FE7E-C3B3-4C98-A34B-8343D964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Notre rôle est de faire passer l'organisation d'une envie encore floue à une suite simple : diagnostic, priorités, montée en compétences, premier projet puis déploiement.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4C8A04-3122-4F05-87CC-3AFD5180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91050"/>
            <a:ext cx="35433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BF427A-C516-4F41-8834-D374E30B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006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16072"/>
                </a:solidFill>
                <a:latin typeface="Aptos"/>
                <a:ea typeface="Aptos"/>
                <a:cs typeface="Aptos"/>
              </a:rPr>
              <a:t>Ce que cela change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FD4C6B-D3C7-4F15-9FFE-41983E45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0863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Moins de dispersion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62C775-ABC2-400D-89B4-4E56A3CB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3149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Des cas d'usage plus concrets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1141C9-91BC-4C13-A8E1-997628EF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5435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Une meilleure adhésion des équipes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44B0F8-3E6A-44DB-988A-E11DBE25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851A72-9A49-4730-B89E-8ABE1C92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TransferAI ne vend pas un effet de mode : la promesse repose sur des priorités claires, des usages concrets et un passage à l'action.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62C022-1A22-4EC7-86DC-45DFA1F3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042999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6CFB9A-D601-4E92-BEB5-2A2797C3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0">
            <a:solidFill>
              <a:srgbClr val="F7F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57043-36FA-44DF-8286-1719D680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CRÉDIBILITÉ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B95F0-595F-45AC-B163-39EC2E1F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Une structure ancrée, crédible et mobilisable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da6380f0e479a"/>
          <a:stretch xmlns:a="http://schemas.openxmlformats.org/drawingml/2006/main"/>
        </p:blipFill>
        <p:spPr>
          <a:xfrm xmlns:a="http://schemas.openxmlformats.org/drawingml/2006/main">
            <a:off x="9062221" y="533400"/>
            <a:ext cx="1687558" cy="742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C606C-B2DE-4050-B4B8-CBFC8014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9065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TransferAI Africa est né d'une collaboration avec Nettelecom CI et s'appuie sur une équipe fondatrice renforcée par des experts associés.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728B5-1C8B-4CFC-926D-B3E46E1C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47148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84678-D67C-4CFC-9A11-9F9A5671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Ancrage local, ambition Afrique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CB8ED-1B97-42EA-8E5E-E346BFC6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4114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Structure portée depuis Abidjan, pensée pour la Côte d'Ivoire et les réalités des organisations africaines.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58698E-E393-4D9A-9EA3-24FEECCF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28800"/>
            <a:ext cx="47148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5146C-D1A5-407D-9CCD-E067723A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574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Équipe fondatrice + consultants experts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163386-9997-403D-83C5-A9617D50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495550"/>
            <a:ext cx="4114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Une équipe qui réunit vision stratégique, pédagogie, audit, conformité, organisation et mise en œuvre opérationnelle.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00164-46CA-4601-ADFA-A0849878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48100"/>
            <a:ext cx="47148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41906A-EEDB-48EF-9B58-499D6CD2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Adossée à des partenaires crédibles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78C947-2F2B-4B7D-BE97-3F3D8CD7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4114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Des partenaires académiques, institutionnels et opérationnels renforcent la crédibilité de l'écosystème TransferAI.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FE22FC-FEEE-4E3A-A3D8-A8A6B329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48100"/>
            <a:ext cx="47148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4D446A-E6C5-44BA-B7AE-42CFFE38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767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Du conseil au passage à l'action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4C1F57-E13A-43DC-86C3-93046306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514850"/>
            <a:ext cx="4114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La valeur ne réside pas seulement dans le discours, mais dans la capacité à produire des résultats clairs, utiles et durables.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46144F-E17E-481B-ACB6-6E183C86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483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16072"/>
                </a:solidFill>
                <a:latin typeface="Aptos"/>
                <a:ea typeface="Aptos"/>
                <a:cs typeface="Aptos"/>
              </a:rPr>
              <a:t>Partenaires visibles sur le site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9F106A-C11E-4950-B100-E0EC18FD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76900"/>
            <a:ext cx="1543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cfac7845f462c"/>
          <a:stretch xmlns:a="http://schemas.openxmlformats.org/drawingml/2006/main"/>
        </p:blipFill>
        <p:spPr>
          <a:xfrm xmlns:a="http://schemas.openxmlformats.org/drawingml/2006/main">
            <a:off x="1085850" y="5791200"/>
            <a:ext cx="514350" cy="3429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B1D879-93B1-4635-92A0-56C43F3D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76900"/>
            <a:ext cx="1543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8ce654fde149b1"/>
          <a:stretch xmlns:a="http://schemas.openxmlformats.org/drawingml/2006/main"/>
        </p:blipFill>
        <p:spPr>
          <a:xfrm xmlns:a="http://schemas.openxmlformats.org/drawingml/2006/main">
            <a:off x="2895600" y="5791200"/>
            <a:ext cx="514350" cy="3429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519E3A-C27A-43AF-BC6B-D1D1C21B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676900"/>
            <a:ext cx="1543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3c41113a424101"/>
          <a:stretch xmlns:a="http://schemas.openxmlformats.org/drawingml/2006/main"/>
        </p:blipFill>
        <p:spPr>
          <a:xfrm xmlns:a="http://schemas.openxmlformats.org/drawingml/2006/main">
            <a:off x="4705350" y="5791200"/>
            <a:ext cx="514350" cy="3429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2437AF-8342-44C1-A6EE-3E6FB65E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676900"/>
            <a:ext cx="1543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e17b01d04454f"/>
          <a:stretch xmlns:a="http://schemas.openxmlformats.org/drawingml/2006/main"/>
        </p:blipFill>
        <p:spPr>
          <a:xfrm xmlns:a="http://schemas.openxmlformats.org/drawingml/2006/main">
            <a:off x="6600825" y="57912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6CCAA6-FFFF-44B0-9569-94F841E8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76900"/>
            <a:ext cx="1543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1131908594530"/>
          <a:stretch xmlns:a="http://schemas.openxmlformats.org/drawingml/2006/main"/>
        </p:blipFill>
        <p:spPr>
          <a:xfrm xmlns:a="http://schemas.openxmlformats.org/drawingml/2006/main">
            <a:off x="8410575" y="57912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A8BBA5-6247-4DBC-99BB-7AFF3EB5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676900"/>
            <a:ext cx="1543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076079a11d4905"/>
          <a:stretch xmlns:a="http://schemas.openxmlformats.org/drawingml/2006/main"/>
        </p:blipFill>
        <p:spPr>
          <a:xfrm xmlns:a="http://schemas.openxmlformats.org/drawingml/2006/main">
            <a:off x="10134600" y="5791200"/>
            <a:ext cx="514350" cy="34290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4D0518-4E39-49B5-A3DE-75B7EF4E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682D44-14DD-443E-B2EF-E6341DE9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Repères de confiance visibles : équipe pluridisciplinaire, partenaires académiques et institutionnels, ancrage en Côte d'Ivoire.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0363A3-3BD8-4781-B6B5-E4C3AB4D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467783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CE4151-EE6F-439F-A178-860E27CB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05343-0A87-46DF-9357-7F2027CD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OFFRE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E4AC5-EF56-45FA-92C3-6A9B5946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647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Ce que nous faisons concrètement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0377B-B0CD-4C29-9795-875B4D3E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Trois portes d'entrée simples pour préparer, déployer et faire vivre une démarche IA utile dans l'organisation.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2BAE4-9692-4021-9B14-6117F7E4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3143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6408683854412">
            <a:extLst>
              <a:ext uri="{96DAC541-7B7A-43D3-8B79-37D633B846F1}">
                <asvg:svgBlip xmlns:asvg="http://schemas.microsoft.com/office/drawing/2016/SVG/main" r:embed="Rf3820be1a1ae483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100" y="21145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395F7-9BB0-49B4-80A6-6555E3C0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Conseil et adoption de l'IA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8F724-5E19-4AB7-93E6-46247575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2686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Clarifier les priorités, choisir les bons usages et préparer les équipes avant de lancer un projet.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40DC0-FE39-4AF6-91E2-AEAF7572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7487C-AE55-47F9-BEF9-52A7FAA8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2495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Évaluation de la maturité face à l'IA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5965D-E43C-4AA4-AE79-D38FAECF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80A48-155A-4060-BCAD-56237DF4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2495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Cartographie des besoins et des freins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9A8E8-E303-45D7-9A5E-C28E59F6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C63932-E3B6-4CBD-B27F-CCD2BFAA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2495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Plan d'action à 30, 60 et 90 jours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4CBBB8-929F-4F60-9A6F-8BA09876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CE639A-49B6-4486-8BB5-33AE4E2C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2495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Gouvernance et accompagnement du changement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2C860C-2E1C-4D8F-8643-653104A0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85950"/>
            <a:ext cx="3143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724"/>
          </a:solidFill>
          <a:ln xmlns:a="http://schemas.openxmlformats.org/drawingml/2006/main" w="9525">
            <a:solidFill>
              <a:srgbClr val="D6672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3df5d7d7b4775">
            <a:extLst>
              <a:ext uri="{96DAC541-7B7A-43D3-8B79-37D633B846F1}">
                <asvg:svgBlip xmlns:asvg="http://schemas.microsoft.com/office/drawing/2016/SVG/main" r:embed="R1663343937a24b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67225" y="21145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9524F4-6A19-4569-B35F-E1EB59AE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0955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Automatisation et solutions d'IA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AA7079-6D69-4307-A57F-23E79402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590800"/>
            <a:ext cx="2686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EDF3F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EDF3FA"/>
                </a:solidFill>
                <a:latin typeface="Aptos"/>
                <a:ea typeface="Aptos"/>
                <a:cs typeface="Aptos"/>
              </a:rPr>
              <a:t>Mettre en place des assistants, des automatisations et des outils utiles sur des besoins déjà identifiés.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065C10-6B27-481A-9F7E-019959D6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5433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E4D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E4D2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2A8924-9AC7-4DC6-AFCE-AE5A6B2B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524250"/>
            <a:ext cx="2495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Automatisation de tâches répétitives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702C38-3C11-4B58-8E69-37719262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8671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E4D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E4D2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100133-346F-4208-A5CC-36FF138E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848100"/>
            <a:ext cx="2495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Assistants numériques et réponses guidées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8CDAC1-0D7F-4D14-BA8F-3C42BF6B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1910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E4D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E4D2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74D228-CD4D-4599-B32E-96313D82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171950"/>
            <a:ext cx="2495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Suivi d'activité et tableaux de bord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C84015-6FD9-49EF-BCD4-08A0FC6B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5148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E4D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E4D2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373262-616F-4A50-9EC1-B7DAE972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95800"/>
            <a:ext cx="2495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Production de contenus et de documents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4D999F-BED3-4A7D-98D5-B3ED65F5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85950"/>
            <a:ext cx="3143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8d8ae9c234acf">
            <a:extLst>
              <a:ext uri="{96DAC541-7B7A-43D3-8B79-37D633B846F1}">
                <asvg:svgBlip xmlns:asvg="http://schemas.microsoft.com/office/drawing/2016/SVG/main" r:embed="Re5bcfe06af6d43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34350" y="21145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EBB079-AC60-4C0A-819F-682A3035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955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Veille, contenus et opportunités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971FC5-EDF9-46DB-8371-E2CFAD32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90800"/>
            <a:ext cx="2686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Faire vivre la dynamique dans la durée avec des contenus utiles, des signaux de marché et des formats d'activation.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50DB1E-FDA0-4CDA-8DC4-1F74591D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433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6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027E7B-0849-4D51-8213-5C13B5DD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24250"/>
            <a:ext cx="2495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Newsletter et veille de direction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B7D6AC-2426-4B39-A103-31F37928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671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6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14B4AE-B07D-4966-9988-4ED046C5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48100"/>
            <a:ext cx="2495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Guides pratiques et contenus courts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D249AC-28B7-4789-8BFA-43F6A62D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910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6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AD3E02-44A6-4855-BB48-924DC9A0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71950"/>
            <a:ext cx="2495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Webinaires et capsules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85758F-AD1C-4E9E-B423-281E1ACF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148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6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B17230-ECA7-4874-8234-F409CC5D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95800"/>
            <a:ext cx="2495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Opportunités et mises en relation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3B530C-D6E1-4DD8-B334-39B0D43E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0F801C-CB3F-4A41-85F0-9D81BE04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43575"/>
            <a:ext cx="1000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TransferAI peut intervenir sur une mission courte de diagnostic, un plan de formation, un premier projet ou un déploiement plus opérationnel selon le besoin.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035A43-83E7-4C9E-8342-19BDF146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295875-EDA2-47CD-9C57-E63C5A2F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Lecture recommandée : commencer par le bon levier, puis avancer avec un plan simple et progressif.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1EE9EC9-92BF-4715-ADB5-B1AB8644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770603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391811-4F0F-4F72-8FD5-E41C1C5B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0">
            <a:solidFill>
              <a:srgbClr val="F7F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410F9-2612-45D1-AE59-0DA7BC33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CAS D'USAGE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BB7CB-6BD2-4B85-92BE-100C3265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Des usages concrets, métier par métier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54E1B-4D61-4741-AD2A-84FA0758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L'objectif n'est pas d'ajouter de l'IA partout, mais de l'utiliser là où le bénéfice devient visible, crédible et utile pour les équipes.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480D3-3136-467D-A18C-2CC3C630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3143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8B6DE-10CD-4175-82A0-740EED59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Soutien administratif et coordination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8B73C-0C56-4961-A7F3-D1B46746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2686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Courriels, comptes rendus, agendas, notes, coordination et circulation des documents.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3A130-8773-4D82-9FAE-7BB35045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962150"/>
            <a:ext cx="3143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BFF19-B916-4D5F-9AD2-3978D1ED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Ressources humaines et formation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D364C2-76F7-422E-B9A3-305E1EF9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90800"/>
            <a:ext cx="2686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Recrutement, intégration, communication interne, plans de formation et usages responsables de l'IA.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13AA6-3A88-424A-B75D-7069B726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62150"/>
            <a:ext cx="3143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563A97-740C-44B1-B68B-6BCFE4BE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526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Marketing &amp; communication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0C7669-7895-4E49-A7E6-D048C483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90800"/>
            <a:ext cx="2686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Création de contenus, adaptation de formats, segmentation et suivi de campagnes.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084BB-21C1-4C6B-AE4C-ED87FA22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3143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63920A-B9D2-4E40-A84E-6034E37F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Service client &amp; relation commerciale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49EF31-B410-4D22-8BC6-CF818957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2686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Questions fréquentes, qualification des prospects, prise de rendez-vous et réponses plus rapides.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5362EA-4311-42EC-A37A-20E974E8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600450"/>
            <a:ext cx="3143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CBFC58-DD2B-466E-A30C-E52BBDED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909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Données, pilotage et finance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8B2636-FB1E-4B4F-B9BF-A84BF9A7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229100"/>
            <a:ext cx="2686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Synthèses, tableaux de bord, suivi régulier, gain de temps et aide à la décision.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F63E3D-8AF9-4B76-8FDF-54ECB2CC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00450"/>
            <a:ext cx="3143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74963-3FE8-4143-8548-D62DC0E9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909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Juridique, conformité, direction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B48A50-87C6-49F8-96D1-6C8437F6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2686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Documents sensibles, veille, notes d'aide à la décision, gouvernance et cadre d'usage.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D2E109-98F0-4873-89E6-E48CDA87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34000"/>
            <a:ext cx="4095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1"/>
          </a:solidFill>
          <a:ln xmlns:a="http://schemas.openxmlformats.org/drawingml/2006/main" w="9525">
            <a:solidFill>
              <a:srgbClr val="FFF7F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BD3CD0-1ACF-47D1-81F0-A2510DE1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5054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Ce que cela permet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629881-50ED-4FAC-833C-9C045CE7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695950"/>
            <a:ext cx="3371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Réduire les tâches répétitives, mieux organiser l'information, accélérer les décisions et préparer des projets plus crédibles.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370DF1-7E32-42A7-8BD8-67E9BA96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8FFD4E-286C-435D-BBB1-B59AA526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Le site et le catalogue montrent une logique métier claire : support, croissance, pilotage, conformité, numérique et secteurs ciblés.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4211E1-5376-47D4-AE24-50BF8B7B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7060392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EF7BC3-7685-467C-A286-22126120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3EAB5-6633-4960-941D-8C1C362B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CATALOGUE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76B79-D243-4D23-8086-6969191A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Un catalogue structuré pour accompagner la montée en compétences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70969-BED1-48D0-BEB1-E65A61B8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00100"/>
            <a:ext cx="133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4B686-38D9-4D80-97AE-F92EB614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9715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724"/>
          </a:solidFill>
          <a:ln xmlns:a="http://schemas.openxmlformats.org/drawingml/2006/main" w="0">
            <a:solidFill>
              <a:srgbClr val="D6672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D71A7-6A46-4BC0-9577-58C640A0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952500"/>
            <a:ext cx="838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130+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91C6A-96E3-4CAD-B4C9-AF33AA98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3144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16072"/>
                </a:solidFill>
                <a:latin typeface="Aptos"/>
                <a:ea typeface="Aptos"/>
                <a:cs typeface="Aptos"/>
              </a:rPr>
              <a:t>formations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C25EC-4972-4445-AC2D-0F89DD2A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00100"/>
            <a:ext cx="133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5665E-5F57-4DC0-95B3-B9C86525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9715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67E"/>
          </a:solidFill>
          <a:ln xmlns:a="http://schemas.openxmlformats.org/drawingml/2006/main" w="0">
            <a:solidFill>
              <a:srgbClr val="2FB67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D21F3-8AB2-4D0B-9967-CA941CB9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952500"/>
            <a:ext cx="838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FDD98-396F-42BA-AA9A-4487AFA3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144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16072"/>
                </a:solidFill>
                <a:latin typeface="Aptos"/>
                <a:ea typeface="Aptos"/>
                <a:cs typeface="Aptos"/>
              </a:rPr>
              <a:t>domaines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C384A-1E8F-4720-85C7-28DE8BD3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238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DE276-65E7-484C-92CF-82DD2D8B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EDB72B-67B2-4D38-BF63-0CE75413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Fonctions support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7EAEC-D3C8-4457-A00E-F29F89CC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E70804-C324-44C5-986A-B1285426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Assistanat &amp; Secrétariat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60817B-CB53-4C4C-8B96-71054217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CE323A-AA3E-49BF-9076-F32D49F7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Administration &amp; Gestion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2C66E5-36FD-4C74-ABD0-1EC31263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2EC494-58AE-430B-B70C-0B78194A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Ressources Humaines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4DD7A9-2EA6-4A59-AB40-77D21B56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834395-55F9-4B6D-B621-4A706B17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Finance &amp; Comptabilité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DDFCE5-9E69-4744-9FAB-9257EC56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790700"/>
            <a:ext cx="238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8E0373-51BA-4DBF-A985-9098E96B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7907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724"/>
          </a:solidFill>
          <a:ln xmlns:a="http://schemas.openxmlformats.org/drawingml/2006/main" w="9525">
            <a:solidFill>
              <a:srgbClr val="D6672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DD7A38-BA91-457D-985B-185E692F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2405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Croissance &amp; relation client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ABE5FA-DE02-43A0-84B4-28CC19DA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3840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ADBC77-441D-45AB-82D6-1295F1DD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717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Marketing &amp; Communication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DBB2D2-BB45-4040-A852-811765DB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0515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F39A16-BE13-4CB2-8260-DF51A334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385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Service client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5A72B4-0718-4253-B9A8-E1A74FA8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7190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9ECFB6-2BBB-4332-9EBE-76E56C7D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9052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Formation &amp; Pédagogie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458D96-3037-4A06-9C2F-BD099052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90700"/>
            <a:ext cx="238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CB587D-D060-4B27-A90D-64ACC4EC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907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6A"/>
          </a:solidFill>
          <a:ln xmlns:a="http://schemas.openxmlformats.org/drawingml/2006/main" w="9525">
            <a:solidFill>
              <a:srgbClr val="2F6F6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6DEE24-89A4-4A6A-8245-7D322A23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2405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Pilotage &amp; expertise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98CB4D-9477-4786-9C7E-62397497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3840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160A36-92AD-4707-B9E7-FD93E1FB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Données &amp; Analyse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2D50FC-7677-47F3-BBF1-B0AA5A21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0515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E5D605-67C8-425A-8113-289F0DD8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Management &amp; Leadership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B59CED-E9EC-4A9F-A3FB-DF92F708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7190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4694AB-85D4-41AD-8236-E2662101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Juridique &amp; Conformité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DBC76D-8DD3-410E-B189-A39B820A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790700"/>
            <a:ext cx="238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CCADF4-F1DF-4984-8173-E45318E2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7907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D8C"/>
          </a:solidFill>
          <a:ln xmlns:a="http://schemas.openxmlformats.org/drawingml/2006/main" w="9525">
            <a:solidFill>
              <a:srgbClr val="6E7D8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F6C53E-5E71-46E9-B97C-4C05727E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92405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Tech &amp; secteurs ciblés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88AB856-0C52-42C2-84BF-B78AC09A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43840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43E897-1BDB-4C90-A4E3-05647621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5717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IT &amp; Transformation digitale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FA3AE5-92AF-4806-AC1C-886E7C57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10515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B28594-4845-4968-B86B-B96A17E4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2385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Santé &amp; Bien-être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F93B66-7BCF-4F97-BD00-4F2044EC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77190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9C4F9E-4E7B-47ED-B672-F1A3F9FA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9052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Diplomatie &amp; Affaires Internationales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89C7828-BB63-4EAC-B83A-290915E2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1066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6BDB8C2-F52F-4527-B608-27124A33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3125"/>
            <a:ext cx="1021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Formats disponibles sur le site : présentiel, hybride et en ligne, avec des parcours par métier et, selon les offres, des possibilités de certification.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99B3ED-8649-43AE-B9E1-A62FC023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3F021D9-1F11-4B32-887F-C48545B4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Le catalogue renforce la crédibilité commerciale : il montre que TransferAI peut accompagner les équipes dans la durée après la phase de diagnostic.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A7F0C32-BC5D-4F55-BACA-E471F554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380184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86A779-E36B-4F5C-AEE0-7C16556A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0">
            <a:solidFill>
              <a:srgbClr val="F7F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053A0A-92A4-4FF4-BA99-347481B4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AUDIT GRATUIT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DFF4F-8185-44F5-A1D7-A9960FFA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23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L'entrée idéale pour démarrer : l'audit IA gratuit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7A25C-90DF-4EC8-A2CB-F54B9EEE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4762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BEB27-7550-4C0B-8774-1654D5DB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Ce que l'entreprise obtient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0489D-BBDA-4C66-B308-08CD7E86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52EC6-F1FD-4A8D-ADB3-2F3A6130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12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Diagnostic synthétique des priorités liées à l'IA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98BA5-E23B-47CB-993E-6F7373F1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60F00-02CC-4135-8386-BCF46EA0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Points de blocage et opportunités les plus utiles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9DC18-54F0-4C38-9C85-6B6D5264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21540C-74EF-4F69-A20D-9574EDF9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Usages concrets par équipe ou par métier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07DA5-6A2F-4822-BB87-7EBC63FF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872F4A-79BB-46B1-94E6-6FBDB600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Première feuille de route à 30, 60 et 90 jours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B463CA-7E16-4022-9651-103C55DD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D1D996-0079-4E18-9949-B11EBB39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148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Orientation vers la bonne suite : formation, accompagnement ou solution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DCCC57-1C07-4DCA-87DD-C8454C58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90700"/>
            <a:ext cx="5429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92057D-E753-4214-A366-0C026997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7E2E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7E2EE"/>
                </a:solidFill>
                <a:latin typeface="Aptos"/>
                <a:ea typeface="Aptos"/>
                <a:cs typeface="Aptos"/>
              </a:rPr>
              <a:t>Message fort à faire ressortir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8662AB-0DEE-429E-8E4F-79ECF1DA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457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Échange expert gratuit de 30 à 45 minutes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E59BDD-EC85-4A5D-AF75-46DFA5C4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90850"/>
            <a:ext cx="447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EDF3F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EDF3FA"/>
                </a:solidFill>
                <a:latin typeface="Aptos"/>
                <a:ea typeface="Aptos"/>
                <a:cs typeface="Aptos"/>
              </a:rPr>
              <a:t>Un échange pour clarifier le besoin, repérer les gains rapides et choisir la meilleure suite sans perdre de temps.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23D11D-B865-4291-B87D-D10D3E73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54292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1"/>
          </a:solidFill>
          <a:ln xmlns:a="http://schemas.openxmlformats.org/drawingml/2006/main" w="9525">
            <a:solidFill>
              <a:srgbClr val="FFF7F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5618F1-4BCD-420C-A9D2-17F06FF1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Preuves visibles sur le site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52A477-B4ED-4920-AD2E-D6CAE91B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243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3D0CE4-6056-4BDA-8069-15F54B7F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053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100% gratuit et sans engagement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712581-E90F-4876-8EFD-A9DA9C05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291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F91EE6-DE71-46A6-823C-C7E85FE0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01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Pensé pour les entreprises en Côte d'Ivoire et en Afrique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3FB3A9-AB26-48E4-A379-138AC6B4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339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3273BA-A04A-4315-9EFB-4EF641FE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149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Accusé de réception immédiat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60D1CE-C3DF-40E3-A48F-C20756B3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387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6AB826-A2C8-44D5-AD7E-F044FF7A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Accès au formulaire d'audit sous environ 30 minutes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0F14CF-FF48-477C-A464-D988D062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7690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B67D3F-F993-4D33-864D-8BBE4177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91200"/>
            <a:ext cx="1019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Demande rapide  →  Questionnaire d'audit  →  Échange expert  →  Plan d'action proposé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4F4478-A3A0-407D-AE26-4A94D6F2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D11CC7-195D-40D5-923F-D0F56EF4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L'audit gratuit sert d'ouverture commerciale, de filtre de qualité et de point de départ pour la suite la plus adaptée.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18DAB2-AFBC-4753-B27F-2ECEF44B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042295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9CD5D2-5D91-448B-935D-6E8E16EB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0B796-506B-4F49-ACAF-98502878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PARCOURS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1C187-3DB2-4D42-B637-6BF12D3B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647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Notre séquence d'accompagnement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4B6BC-77C1-456C-A5AD-3D72CF91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609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L'objectif n'est pas de tout vendre en même temps, mais d'enchaîner les étapes utiles dans le bon ordre.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7AA22-E1FB-4AC5-9FF4-00D2EB73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2286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A39BC-C0BF-439F-9DDB-1BAA1952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B67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FB67E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BFBF6-CA6C-4E2C-9DE3-28211C4E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1. Écoute &amp; audit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A19B9-50A1-459E-8157-339557C0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Comprendre le contexte, les difficultés rencontrées, les outils déjà en place et les objectifs.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6B12D-9412-4D55-A6D3-C8D7195D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38350"/>
            <a:ext cx="2286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1"/>
          </a:solidFill>
          <a:ln xmlns:a="http://schemas.openxmlformats.org/drawingml/2006/main" w="9525">
            <a:solidFill>
              <a:srgbClr val="FFF7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EE18F-918C-48EF-8A7B-BECDD08D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47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672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66724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1B2E1-AE22-42CF-9DE7-C0A2A9A6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717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2. Priorisation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A5C240-2EDE-4EA3-85A9-1081B3FB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86100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Choisir les usages qui peuvent apporter un résultat visible, réaliste et rapide à tester.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7073DA-98C2-4835-A680-2ECC7209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38350"/>
            <a:ext cx="2286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A2504-CCF4-41D0-B808-7C4225F7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47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B67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FB67E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1FEA24-647F-4C8A-BBA6-47529612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3. Exécution adaptée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88BDF-2E67-4B6D-BE79-0B3C6B1E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86100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Former les équipes, lancer un premier cas concret ou déployer une solution selon le besoin.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3662EA-7936-487E-A2FB-55F0720F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38350"/>
            <a:ext cx="2286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42E16F-190F-4088-B129-757A20C1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47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B67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FB67E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18EA22-85B3-4AA9-B033-266E5DC9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717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4. Suivi &amp; montée en puissance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5CD8AB-0BC6-4FED-B885-4B3F3B98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86100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Mesurer les résultats, ajuster l'approche et étendre ce qui fonctionne.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93EE1A-9F78-4EA9-9706-3DEC4FE8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1066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6A592E-3191-48B3-908B-5A18F8E8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7E2E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7E2EE"/>
                </a:solidFill>
                <a:latin typeface="Aptos"/>
                <a:ea typeface="Aptos"/>
                <a:cs typeface="Aptos"/>
              </a:rPr>
              <a:t>Résultats recherchés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A4076A-EE72-4818-95D1-9028EC66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D9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D9C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5F1E2D-794F-4E8D-A171-1126C23A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006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Réduction du temps passé sur les tâches répétitives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FFE21E-AFD4-4645-8B89-3DCAB71B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21970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D9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D9C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B77671-35DA-4E95-9BA4-106B0602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2006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Montée en compétences des équipes et des managers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8A7461-155F-4DA1-BBD6-85863EDD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8640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D9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D9C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B91277-8282-4011-8A74-CBF63A95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673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Décisions mieux structurées et plus rapides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91A68D-A0F0-4396-9D4B-25D028CD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48640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D9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D9C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B69946-AA60-4D67-A81D-2D835766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4673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Résultats plus visibles grâce à des usages bien ciblés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551C55-A67B-418B-A0C6-D7171627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20B536-ACA3-4486-BD53-5E6D1A3F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Séquence recommandée : diagnostic, priorisation, mise en œuvre adaptée, puis montée en puissance si les premiers résultats sont convaincants.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F3CF95-0F5C-43E2-80A5-403D60F5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13482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E8079C-0A8D-4C30-BB2B-6E46F828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0">
            <a:solidFill>
              <a:srgbClr val="F7F3EE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6d5749c7f48c2"/>
          <a:stretch xmlns:a="http://schemas.openxmlformats.org/drawingml/2006/main"/>
        </p:blipFill>
        <p:spPr>
          <a:xfrm xmlns:a="http://schemas.openxmlformats.org/drawingml/2006/main">
            <a:off x="745127" y="552450"/>
            <a:ext cx="1557746" cy="6858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2D02E-0438-450A-B5AA-ADC3A2DA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PROCHAINE ÉTAPE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E43BA-6474-4190-873F-05D25384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590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Présenter TransferAI, puis ouvrir sur une action simple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21300-EC5B-4CF2-96F7-6D954B5E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Le message commercial le plus simple à faire passer : commençons par un audit IA gratuit et un échange expert de 30 à 45 minutes.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CDCF8-B037-4360-9D20-FC812F6A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59055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50413-A0E9-4EBE-B26D-A2A377D3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304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Appel à l'action recommandé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FE854-6E34-4FF2-9496-40BF2D44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Réserver un audit IA gratuit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CD785F-15A3-4FE7-94FD-841F626A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Tenir un échange expert de 30 à 45 minutes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E30C33-B2E5-46F8-856A-D736055E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447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Recevoir une première orientation : formation, accompagnement ou solution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3E1975-FDFE-47BA-A980-E6620337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333500"/>
            <a:ext cx="417195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5DE511-2415-4B16-99A8-B18BB8F1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Coordonnées à partager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9B4A7C-73D9-4F6B-912D-FC07AF52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www.transferai.ci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AA9453-508F-4E94-91E2-7F13B60D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908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contact@transferai.ci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BA12ED-1FA5-497F-A372-7CBDC0D2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337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+225 07 16 57 39 90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00DA70-4EAE-4EAD-BB3E-81A5163A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766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WhatsApp : +225 07 16 57 39 90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96B81E-028B-46A6-8F53-54E4E3B1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195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linkedin.com/company/transfert-ai-africa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214F54-629B-4100-9D22-A9D00909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767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Riviera 3, carrefour Sainte Famille, Abidjan, Côte d'Ivoire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C49BF7-1D5F-44D4-B492-BE732F01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62500"/>
            <a:ext cx="3238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1"/>
          </a:solidFill>
          <a:ln xmlns:a="http://schemas.openxmlformats.org/drawingml/2006/main" w="9525">
            <a:solidFill>
              <a:srgbClr val="FFF7F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87BEA2-76AD-4B99-9DE0-F5894819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530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Formule courte à utiliser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2E7197-D8A2-447F-B408-BFB698BB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8160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TransferAI Africa vous aide à identifier les usages de l'IA les plus utiles, à former vos équipes sur des cas concrets, puis à choisir la bonne suite.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6935B3-FD81-4DC2-8471-F246DEA4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45F6F5-DEF6-400C-A02A-46EA0BFA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Sortie recommandée du rendez-vous : un besoin clarifié, une suite simple et un point de contact évident.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101E62-6F00-4807-A840-FC922AAE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3057338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CD976B-50F6-418E-8515-B4FE07D1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0">
            <a:solidFill>
              <a:srgbClr val="F7F3EE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44c20498b49b2"/>
          <a:stretch xmlns:a="http://schemas.openxmlformats.org/drawingml/2006/main"/>
        </p:blipFill>
        <p:spPr>
          <a:xfrm xmlns:a="http://schemas.openxmlformats.org/drawingml/2006/main">
            <a:off x="745127" y="552450"/>
            <a:ext cx="1557746" cy="6858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555A3-BB03-40A0-8F4F-ACC829F3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CONFIANCE ET CONFIDENTIALITÉ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87641-7EFD-4837-B139-18BF9BFB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590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Pourquoi nos clients peuvent nous confier des sujets sensibles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8422F-FC81-4F72-A025-B58913C5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590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Notre position est simple : nous ne traitons pas les données sensibles comme une matière à envoyer automatiquement vers un outil d'intelligence artificielle. Nous définissons d'abord ce qui doit rester protégé, puis seulement les usages autorisés.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3ADFD-A2A4-4E3F-826C-D8D0AD19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1790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F6394-23C8-410F-9061-62DE08E1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E74C0-FA89-40DD-9608-11291C35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FF50C-31C2-4616-B158-4451A38B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005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16072"/>
                </a:solidFill>
                <a:latin typeface="Aptos"/>
                <a:ea typeface="Aptos"/>
                <a:cs typeface="Aptos"/>
              </a:rPr>
              <a:t>protection par défaut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676986-FDB8-417B-A4C6-A2D8CB13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86200"/>
            <a:ext cx="1790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CEDF8-4074-4113-8FA1-F099C0E0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5765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724"/>
          </a:solidFill>
          <a:ln xmlns:a="http://schemas.openxmlformats.org/drawingml/2006/main" w="0">
            <a:solidFill>
              <a:srgbClr val="D6672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9D32ED-0DF8-4AFE-A95E-796ED6F3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386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2ECDBE-5B2E-4661-A0CD-01A14723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4005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16072"/>
                </a:solidFill>
                <a:latin typeface="Aptos"/>
                <a:ea typeface="Aptos"/>
                <a:cs typeface="Aptos"/>
              </a:rPr>
              <a:t>données limitées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99B300-8634-456B-A4C8-39AF4389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86200"/>
            <a:ext cx="1790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4962B6-CAA2-4BAA-8B66-86F8C07B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05765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67E"/>
          </a:solidFill>
          <a:ln xmlns:a="http://schemas.openxmlformats.org/drawingml/2006/main" w="0">
            <a:solidFill>
              <a:srgbClr val="2FB67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A73101-3075-42D4-9100-766138BC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386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278529-DE1D-40D1-9BF1-459F114F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4005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16072"/>
                </a:solidFill>
                <a:latin typeface="Aptos"/>
                <a:ea typeface="Aptos"/>
                <a:cs typeface="Aptos"/>
              </a:rPr>
              <a:t>solution sur mesure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AAF980-1462-4B2A-B363-1D2526AF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86350"/>
            <a:ext cx="590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3AF676-5042-4C09-9DBF-8FB3BBED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Message à retenir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89F4B2-E240-4451-9243-FD14EE29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00700"/>
            <a:ext cx="525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02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Vos données sensibles ne sont pas exposées à un modèle d'IA sans règles claires, filtrage préalable et cadre de gouvernance explicite.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91E8FA-3972-4A0C-B93A-A316952C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333500"/>
            <a:ext cx="41719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0DCD34-D3C9-49EC-BF5C-0847909D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192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9D8E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9D8E8"/>
                </a:solidFill>
                <a:latin typeface="Aptos"/>
                <a:ea typeface="Aptos"/>
                <a:cs typeface="Aptos"/>
              </a:rPr>
              <a:t>Ce que nous mettons en place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AA826A-A587-4FDF-A20F-6E0B9E8D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2405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Une IA utile sans banaliser la confidentialité.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5BEBDA-117F-44D4-8F0D-5FBADB9B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8610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7EEF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7EEF6"/>
                </a:solidFill>
                <a:latin typeface="Aptos"/>
                <a:ea typeface="Aptos"/>
                <a:cs typeface="Aptos"/>
              </a:rPr>
              <a:t>Nous filtrons les données, nous écartons les informations nominatives et nous adaptons les usages au niveau de sensibilité du client.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0DA37A-4E9C-4104-85B8-03981F2F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100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6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Limitation des données au strict nécessaire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EB618A-9354-48E1-B32A-8A93A09F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148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6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Masquage des identités avant traitement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7A6876-FBDA-43BA-8647-D3D4B266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196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6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Accès contrôlés et suivi des usages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F2804F-0CB3-43D4-BC2C-F49B887E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1244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Revue humaine sur les cas critiques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D4E06A-5014-498F-8DDB-E5B9EED7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0CD2BE-C8E4-44F0-8F5F-65E1A644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TransferAI Africa | Confidentialité, gouvernance et IA utile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5A687B-3124-47E1-9F90-056B24A6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8198868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7C9EDF-8AC7-4C50-AC04-281B83A3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495F3-2AA0-4B6F-8C9B-59DE604B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GOUVERNANCE DES DONNÉES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EB0F0-25E8-4031-9BBC-E892BA22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Les garde-fous que nous défendons avant tout usage d'un modèle d'IA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67587-D74E-485B-AD46-53B26779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876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Nous cherchons d'abord à réduire le risque. Chaque usage est encadré par des règles claires sur les données, les accès et les contrôles de supervision.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014D2C-E460-458D-A5DE-59AA64C9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31623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D49A2-5D55-4BA7-ACB5-F49B3E26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>
              <a:alpha val="9412"/>
            </a:srgbClr>
          </a:solidFill>
          <a:ln xmlns:a="http://schemas.openxmlformats.org/drawingml/2006/main" w="0">
            <a:solidFill>
              <a:srgbClr val="16324F">
                <a:alpha val="9412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b0670e89c4b28">
            <a:extLst>
              <a:ext uri="{96DAC541-7B7A-43D3-8B79-37D633B846F1}">
                <asvg:svgBlip xmlns:asvg="http://schemas.microsoft.com/office/drawing/2016/SVG/main" r:embed="Rdd7b84224a474e9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66775" y="24098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28DF8-DEF4-4C5C-A33D-4FD9A91B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431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Protection par défaut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C87CB-0A74-4166-9185-C1B3430E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266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Aucune donnée sensible ne part vers un outil d'IA sans autorisation explicite.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399FA-41BB-4E20-9FAD-FB238160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14550"/>
            <a:ext cx="31623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4FA23-4B6C-4C0A-9834-345C7BD8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24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724">
              <a:alpha val="9412"/>
            </a:srgbClr>
          </a:solidFill>
          <a:ln xmlns:a="http://schemas.openxmlformats.org/drawingml/2006/main" w="0">
            <a:solidFill>
              <a:srgbClr val="D66724">
                <a:alpha val="9412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4336d2e1664142">
            <a:extLst>
              <a:ext uri="{96DAC541-7B7A-43D3-8B79-37D633B846F1}">
                <asvg:svgBlip xmlns:asvg="http://schemas.microsoft.com/office/drawing/2016/SVG/main" r:embed="R2f26b1b7f8124b7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67225" y="24098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38ED31-8DB4-42B0-AB0F-A66E2EF4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431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Limitation des données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00BF50-B05E-4419-809D-AE0C9F14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76550"/>
            <a:ext cx="266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Seules les informations strictement utiles au besoin traité sont autorisées.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272134-F950-4147-9FEC-300052B7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14550"/>
            <a:ext cx="31623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5D90A9-9482-4F71-80AA-842F8694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24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6A">
              <a:alpha val="9412"/>
            </a:srgbClr>
          </a:solidFill>
          <a:ln xmlns:a="http://schemas.openxmlformats.org/drawingml/2006/main" w="0">
            <a:solidFill>
              <a:srgbClr val="2F6F6A">
                <a:alpha val="9412"/>
              </a:srgbClr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b7ad433174b0a">
            <a:extLst>
              <a:ext uri="{96DAC541-7B7A-43D3-8B79-37D633B846F1}">
                <asvg:svgBlip xmlns:asvg="http://schemas.microsoft.com/office/drawing/2016/SVG/main" r:embed="R70e07e8481df4f9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67675" y="24098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366092-36AE-425B-BC84-9863F38E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431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Masquage des identités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BEB9F5-A783-4766-A622-8C5FF2D3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76550"/>
            <a:ext cx="266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Les informations qui permettent d'identifier une personne sont retirées avant traitement.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12E0D8-0C5B-4611-9C26-9BA004F4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31623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184D82-628B-460C-A93B-4D74A3D8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D8C">
              <a:alpha val="9412"/>
            </a:srgbClr>
          </a:solidFill>
          <a:ln xmlns:a="http://schemas.openxmlformats.org/drawingml/2006/main" w="0">
            <a:solidFill>
              <a:srgbClr val="6E7D8C">
                <a:alpha val="9412"/>
              </a:srgbClr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d2be6d16984e32">
            <a:extLst>
              <a:ext uri="{96DAC541-7B7A-43D3-8B79-37D633B846F1}">
                <asvg:svgBlip xmlns:asvg="http://schemas.microsoft.com/office/drawing/2016/SVG/main" r:embed="Rd4c596a5c6ab4e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66775" y="41814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6006A0-0F18-49B1-99E9-09CE23BD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148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Accès contrôlés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83F78B-C3B1-49A5-82EF-0049124C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266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Les droits sont organisés selon les équipes, les rôles et le niveau de sensibilité.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84D727-A9BD-485D-A65C-F91BE47E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86200"/>
            <a:ext cx="31623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674F9D-67D7-4BEC-B898-AF416FF2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>
              <a:alpha val="9412"/>
            </a:srgbClr>
          </a:solidFill>
          <a:ln xmlns:a="http://schemas.openxmlformats.org/drawingml/2006/main" w="0">
            <a:solidFill>
              <a:srgbClr val="16324F">
                <a:alpha val="9412"/>
              </a:srgbClr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9745f85cc4792">
            <a:extLst>
              <a:ext uri="{96DAC541-7B7A-43D3-8B79-37D633B846F1}">
                <asvg:svgBlip xmlns:asvg="http://schemas.microsoft.com/office/drawing/2016/SVG/main" r:embed="Ra0918b6db4804b5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67225" y="41814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6E19D5-9A25-41EB-9C90-C0577020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148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Traçabilité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DC5DDA-E062-4271-9805-FDFE1C8B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48200"/>
            <a:ext cx="266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Les données utilisées et les réponses produites doivent pouvoir être retracées.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D7596D-128B-4A32-BC21-55BC3584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86200"/>
            <a:ext cx="31623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5F356A-B8E1-4A1B-B1E5-DEBF0B98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95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724">
              <a:alpha val="9412"/>
            </a:srgbClr>
          </a:solidFill>
          <a:ln xmlns:a="http://schemas.openxmlformats.org/drawingml/2006/main" w="0">
            <a:solidFill>
              <a:srgbClr val="D66724">
                <a:alpha val="9412"/>
              </a:srgbClr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76acca44a4d38">
            <a:extLst>
              <a:ext uri="{96DAC541-7B7A-43D3-8B79-37D633B846F1}">
                <asvg:svgBlip xmlns:asvg="http://schemas.microsoft.com/office/drawing/2016/SVG/main" r:embed="Ra215d9784eef4b5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67675" y="41814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C792E4-AA3C-4A5F-A1B7-DF977C86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148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Revue humaine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C15059-7529-431F-BF25-39C02CEA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48200"/>
            <a:ext cx="266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Les cas les plus sensibles gardent une validation humaine et des contrôles renforcés.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B5C4C4-4D87-4306-AD90-37A84015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1104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E"/>
          </a:solidFill>
          <a:ln xmlns:a="http://schemas.openxmlformats.org/drawingml/2006/main" w="9525">
            <a:solidFill>
              <a:srgbClr val="FFF5E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83C81A-EA0E-4045-95D4-C879BD52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62650"/>
            <a:ext cx="1047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Notre promesse n'est pas seulement une IA performante, mais une IA gouvernée, maîtrisable et compatible avec la confidentialité.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EED277-E67B-49EB-B29F-64DD1E13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337E87-66E7-42E2-AA55-F1F4FDB4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TransferAI Africa | Filtrage, masquage des identités, contrôle d'accès, traçabilité, revue humaine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00E25A-0508-46C0-A9B5-795F7F40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8695198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717050-2A19-4FCE-861D-67438DA4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0">
            <a:solidFill>
              <a:srgbClr val="F7F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354E0-D768-4F69-8980-C4AB7672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IA SUR MESURE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AB71E-086E-4CED-B5E5-FCCD2B44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Comment nous concevons une solution d'IA adaptée aux contraintes du client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2365D-8510-4B5A-BBEE-50BD241F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723900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62FCA-4905-4612-8F1B-2633ADA6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85900"/>
            <a:ext cx="352425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EE8"/>
          </a:solidFill>
          <a:ln xmlns:a="http://schemas.openxmlformats.org/drawingml/2006/main" w="9525">
            <a:solidFill>
              <a:srgbClr val="F4E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8324C-0AB3-4B04-AE5A-60A57982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647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7F2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07F7E-9C89-41F5-AF65-1E6815D9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574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C6"/>
          </a:solidFill>
          <a:ln xmlns:a="http://schemas.openxmlformats.org/drawingml/2006/main" w="9525">
            <a:solidFill>
              <a:srgbClr val="F4D8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AA5EC5-F5DC-43D1-8125-0BC85D28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145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18F1A-F8D5-4E63-8C01-C4FC1A7F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000250"/>
            <a:ext cx="241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Clarification du besoin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E31AA-D8B7-4739-8D6E-2B8A9D48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2479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Identifier l'objectif métier, le niveau de sensibilité et les limites à ne pas dépasser.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BBDAE-5336-4EE1-A2E1-4B17459C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647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FF28A-AAA7-42C0-A51A-8DF109BF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670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C6"/>
          </a:solidFill>
          <a:ln xmlns:a="http://schemas.openxmlformats.org/drawingml/2006/main" w="9525">
            <a:solidFill>
              <a:srgbClr val="F4D8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928D51-7F2A-4A1D-8CD3-D7FCFD2C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C3C814-2A43-4D1B-88BF-EDF3DC0A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09900"/>
            <a:ext cx="241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Règles sur les données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985589-8646-4EFA-8203-220F8EDC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2575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Définir ce qui est bloqué, ce qui doit être masqué et ce qui peut être utilisé avec contrôle.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A1240B-A672-49C4-AC26-C2F4B505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647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7F2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E5B276-A516-4D00-B1B5-BCC1E043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C6"/>
          </a:solidFill>
          <a:ln xmlns:a="http://schemas.openxmlformats.org/drawingml/2006/main" w="9525">
            <a:solidFill>
              <a:srgbClr val="F4D8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14FB53-DAD0-4581-BE3B-546AC48A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338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C92152-E7B1-4546-B479-719B172A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019550"/>
            <a:ext cx="241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Configuration sur mesure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CFBB4F-D1D9-418C-AF8B-D9176267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267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Adapter la solution, l'hébergement, les accès et les connexions au contexte du client.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6DE4AE-68E5-422E-8E8D-D3470232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647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5337A4-29C3-4019-B052-DAB9B66E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863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C6"/>
          </a:solidFill>
          <a:ln xmlns:a="http://schemas.openxmlformats.org/drawingml/2006/main" w="9525">
            <a:solidFill>
              <a:srgbClr val="F4D8C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EA7523-1824-4A58-9F30-F328C55A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776F42-9401-49C2-8E09-EB6D3376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29200"/>
            <a:ext cx="241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Suivi dans la durée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9062F9-DF9C-4354-AF9C-8FDEE8F7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276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Contrôler les usages, corriger si nécessaire et garder une revue humaine sur les cas sensibles.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295A15-3ACB-4DEB-BAF5-4DFF8DFA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71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Ce que le client retient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2EA6CF-7488-449A-B863-962003ED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574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Une IA gouvernée, pas improvisée.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B8C2A2-5F16-4BF2-8F08-90F9BE64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38450"/>
            <a:ext cx="2705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Nous concevons une IA utile, maintenable et compatible avec les exigences de confidentialité de l'organisation.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E12EA4-CB26-49DE-A3BB-2C200464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14750"/>
            <a:ext cx="2724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0E558C-6D77-4F1B-92CC-D62C5176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90950"/>
            <a:ext cx="2419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Nous définissons d'abord ce qui doit rester en dehors du modèle.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DBA05B-F327-4540-A9FC-92F0C065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67200"/>
            <a:ext cx="2724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A36773-ACCB-4639-91E2-A22FC334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43400"/>
            <a:ext cx="2419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Nous adaptons la solution d'IA à votre gouvernance, pas l'inverse.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BA244C-4AF4-4577-B5DF-9A3CA19C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19650"/>
            <a:ext cx="2724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D256D4-0E7B-4F74-B281-3D883331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95850"/>
            <a:ext cx="2419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Nous privilégions filtrage, masquage des identités et supervision avant automatisation.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FC56B3-91AE-421A-B8AA-4F50ED2E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10B28E-8C35-4E31-A239-F9FAB22F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TransferAI Africa | Le bon message : une IA utile, maîtrisable et compatible avec la confidentialité du client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BF581C-0C8B-4640-ADD8-BE96EFA4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581825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2026-05-22T13:27:22.7810000Z</dcterms:created>
  <dcterms:modified xsi:type="dcterms:W3CDTF">2026-05-22T13:27:22.7810000Z</dcterms:modified>
</coreProperties>
</file>