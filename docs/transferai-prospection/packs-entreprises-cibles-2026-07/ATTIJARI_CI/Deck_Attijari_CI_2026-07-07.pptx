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6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2011680"/>
            <a:ext cx="5486400" cy="5486400"/>
          </a:xfrm>
          <a:prstGeom prst="ellipse">
            <a:avLst/>
          </a:prstGeom>
          <a:solidFill>
            <a:srgbClr val="16324F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840480"/>
            <a:ext cx="3108960" cy="3108960"/>
          </a:xfrm>
          <a:prstGeom prst="ellipse">
            <a:avLst/>
          </a:prstGeom>
          <a:solidFill>
            <a:srgbClr val="D6672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400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PROPOSITION CIBLÉE — ATTIJARI CI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051560"/>
            <a:ext cx="7863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Faire de l'IA un levier de maîtrise du risque et de qualité de service pour Attijari CI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278892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interne, conformité et performance bancaire — TransferAI Africa, hub IA de Nettelecom CI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37033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42245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formations activables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514600" y="37033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514600" y="42245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usages prioritaires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480560" y="37033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J+90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480560" y="42245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pilotage d'extension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46520" y="37033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FCFA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446520" y="42245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d'entrée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5074920"/>
            <a:ext cx="6126480" cy="566928"/>
          </a:xfrm>
          <a:prstGeom prst="roundRect">
            <a:avLst>
              <a:gd name="adj" fmla="val 50000"/>
            </a:avLst>
          </a:prstGeom>
          <a:solidFill>
            <a:srgbClr val="16324F"/>
          </a:solidFill>
          <a:ln/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188720" y="5074920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Entrée recommandée : audit IA gratuit + échange expert de 45 minutes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48640" y="594360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indicateurs ci-dessus sont des repères de référence, formulés comme hypothèses à confirmer pendant l'audit — pas des engagements de résultat.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Attijari CI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 EST TRANSFERAI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TransferAI, hub IA opérationnel de Nettelecom CI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interlocuteur structuré, pas un simple catalogue de formations.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2514600" cy="288036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33172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478024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04672" y="30632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experts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04672" y="361188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Basés en Côte d'Ivoire, au Royaume-Uni, aux États-Unis et en Inde.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291840" y="2057400"/>
            <a:ext cx="2514600" cy="288036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547872" y="233172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4176" y="2478024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47872" y="30632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Cadre d'exécution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3547872" y="361188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Audit, cadrage, formation, gouvernance et premier pilote métier reliés.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035040" y="2057400"/>
            <a:ext cx="2514600" cy="288036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291072" y="233172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2478024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291072" y="30632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Secteur régulé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6291072" y="361188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Expérience banque, finance et institutions soumises à supervision.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8778240" y="2057400"/>
            <a:ext cx="2514600" cy="288036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034272" y="233172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0576" y="2478024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034272" y="30632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Accompagnement 90 jours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9034272" y="361188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L'engagement continue après la formation, pas seulement pendant.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548640" y="525780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10263F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486400"/>
            <a:ext cx="457200" cy="45720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371600" y="5257800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structure de formation classique transmet un contenu. TransferAI forme, puis accompagne l'usage réel, les ajustements et les décisions d'extension.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Attijari CI</a:t>
            </a:r>
            <a:endParaRPr lang="en-US" sz="900" dirty="0"/>
          </a:p>
        </p:txBody>
      </p:sp>
      <p:sp>
        <p:nvSpPr>
          <p:cNvPr id="29" name="Text 22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CONTEXTE ET ENJEUX DE SERVICE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Pourquoi cette proposition est adaptée au contexte d'Attijari CI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Partir des flux qui pèsent déjà sur l'audit interne, la conformité et le pilotage.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514600" cy="420624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214884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68096" y="2606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Veille réglementaire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68096" y="3127248"/>
            <a:ext cx="2057400" cy="292608"/>
          </a:xfrm>
          <a:prstGeom prst="roundRect">
            <a:avLst>
              <a:gd name="adj" fmla="val 50000"/>
            </a:avLst>
          </a:prstGeom>
          <a:solidFill>
            <a:srgbClr val="D6672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3127248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déjà conçu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68096" y="3529584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Suivi manuel de 10+ sources (BCEAO, GIABA, FATF, COBAC, CREPMF).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68096" y="4764024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Digest exécutif quotidien priorisé par urgence et par thème.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291840" y="1920240"/>
            <a:ext cx="2514600" cy="420624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214884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511296" y="2606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Reporting &amp; comités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3511296" y="32004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Temps élevé de reformulation et de consolidation des chiffres.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3511296" y="44348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Synthèses et notes de comité produites plus vite, mieux lisibles.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035040" y="1920240"/>
            <a:ext cx="2514600" cy="420624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496" y="2148840"/>
            <a:ext cx="365760" cy="36576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254496" y="2606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Contrôles &amp; KYC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254496" y="32004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Revues documentaires et signalements chronophages.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6254496" y="44348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Écarts et pièces manquantes repérés plus tôt.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8778240" y="1920240"/>
            <a:ext cx="2514600" cy="420624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7696" y="2148840"/>
            <a:ext cx="365760" cy="36576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8997696" y="2606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Relation client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8997696" y="32004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Réponses hétérogènes selon les canaux et les équipes.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8997696" y="44348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de réponses homogène, sans perdre la supervision humaine.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Attijari CI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RÉSULTATS ATTENDUS ET INDICATEURS DE PREUVE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ROI n'a de valeur que relié à des KPI lisibles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Repères prudents à confirmer pendant l'audit — pas des chiffres abstraits.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21488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à 45 %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49808" y="29718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 le temps de reporting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9808" y="34747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commentaires, consolidations, notes de comité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91840" y="196596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493008" y="21488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Détection plus précoce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493008" y="29718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textes réglementaires critiques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493008" y="34747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veille BCEAO, GIABA, FATF, COBAC, CREPMF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035040" y="196596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36208" y="21488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Contrôles plus homogènes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236208" y="29718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 plusieurs équipes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236208" y="34747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finance, conformité, audit, opérations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778240" y="196596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979408" y="21488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Décision plus rapide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979408" y="29718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 les comités et managers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979408" y="34747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écarts, risques, arbitrages, priorités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4572000"/>
            <a:ext cx="11064240" cy="1600200"/>
          </a:xfrm>
          <a:prstGeom prst="roundRect">
            <a:avLst>
              <a:gd name="adj" fmla="val 4571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473659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 rendre ce ROI crédible dès le premier rendez-vous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22960" y="512064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Partir d'un flux concret et visible. 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Nommer le ou les KPI déjà lus par la direction. 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Limiter le premier pilote à un terrain mesurable. 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Revoir les résultats avec les responsables métier avant extension.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Attijari CI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D'USAGE PRIORITAIRES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usages à mettre au centre de la proposition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514600" cy="4572000"/>
          </a:xfrm>
          <a:prstGeom prst="roundRect">
            <a:avLst>
              <a:gd name="adj" fmla="val 2909"/>
            </a:avLst>
          </a:prstGeom>
          <a:solidFill>
            <a:srgbClr val="FCEFE3"/>
          </a:solidFill>
          <a:ln w="19050">
            <a:solidFill>
              <a:srgbClr val="D66724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182880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8096" y="22860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Veille réglementaire &amp; audit interne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768096" y="2944368"/>
            <a:ext cx="2057400" cy="274320"/>
          </a:xfrm>
          <a:prstGeom prst="roundRect">
            <a:avLst>
              <a:gd name="adj" fmla="val 50000"/>
            </a:avLst>
          </a:prstGeom>
          <a:solidFill>
            <a:srgbClr val="D6672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294436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d'usage phare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68096" y="3364992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Suivi dispersé de 10+ sources, risque de retard sur un texte critique.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68096" y="4370832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Digest exécutif quotidien, priorisé par urgence, thème et impact LCB-FT.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68096" y="537667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 </a:t>
            </a:r>
            <a:pPr indent="0" marL="0">
              <a:buNone/>
            </a:pPr>
            <a:r>
              <a:rPr lang="en-US" sz="9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Délai de détection ; temps de veille hebdo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291840" y="1600200"/>
            <a:ext cx="2514600" cy="45720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182880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511296" y="22860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Conformité, KYC &amp; vigilance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3511296" y="306324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Contrôles documentaires et signalements chronophages.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3511296" y="406908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Écarts et pièces manquantes repérés plus tôt.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3511296" y="50749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 </a:t>
            </a:r>
            <a:pPr indent="0" marL="0">
              <a:buNone/>
            </a:pPr>
            <a:r>
              <a:rPr lang="en-US" sz="9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Temps de revue ; anomalies détectées tôt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6035040" y="1600200"/>
            <a:ext cx="2514600" cy="45720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496" y="1828800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54496" y="22860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Reporting financier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6254496" y="306324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Tableaux existants, longs à commenter et consolider.</a:t>
            </a:r>
            <a:endParaRPr lang="en-US" sz="1050" dirty="0"/>
          </a:p>
        </p:txBody>
      </p:sp>
      <p:sp>
        <p:nvSpPr>
          <p:cNvPr id="22" name="Text 17"/>
          <p:cNvSpPr/>
          <p:nvPr/>
        </p:nvSpPr>
        <p:spPr>
          <a:xfrm>
            <a:off x="6254496" y="406908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Synthèses de comité accélérées et mieux lisibles.</a:t>
            </a:r>
            <a:endParaRPr lang="en-US" sz="1050" dirty="0"/>
          </a:p>
        </p:txBody>
      </p:sp>
      <p:sp>
        <p:nvSpPr>
          <p:cNvPr id="23" name="Text 18"/>
          <p:cNvSpPr/>
          <p:nvPr/>
        </p:nvSpPr>
        <p:spPr>
          <a:xfrm>
            <a:off x="6254496" y="50749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 </a:t>
            </a:r>
            <a:pPr indent="0" marL="0">
              <a:buNone/>
            </a:pPr>
            <a:r>
              <a:rPr lang="en-US" sz="9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Temps de production ; délai de diffusion</a:t>
            </a:r>
            <a:endParaRPr lang="en-US" sz="950" dirty="0"/>
          </a:p>
        </p:txBody>
      </p:sp>
      <p:sp>
        <p:nvSpPr>
          <p:cNvPr id="24" name="Shape 19"/>
          <p:cNvSpPr/>
          <p:nvPr/>
        </p:nvSpPr>
        <p:spPr>
          <a:xfrm>
            <a:off x="8778240" y="1600200"/>
            <a:ext cx="2514600" cy="45720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7696" y="1828800"/>
            <a:ext cx="365760" cy="36576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8997696" y="22860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Relation client bancaire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8997696" y="306324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Demandes récurrentes saturant les équipes.</a:t>
            </a:r>
            <a:endParaRPr lang="en-US" sz="1050" dirty="0"/>
          </a:p>
        </p:txBody>
      </p:sp>
      <p:sp>
        <p:nvSpPr>
          <p:cNvPr id="28" name="Text 22"/>
          <p:cNvSpPr/>
          <p:nvPr/>
        </p:nvSpPr>
        <p:spPr>
          <a:xfrm>
            <a:off x="8997696" y="406908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Assistant de réponse encadré pour les cas récurrents.</a:t>
            </a:r>
            <a:endParaRPr lang="en-US" sz="1050" dirty="0"/>
          </a:p>
        </p:txBody>
      </p:sp>
      <p:sp>
        <p:nvSpPr>
          <p:cNvPr id="29" name="Text 23"/>
          <p:cNvSpPr/>
          <p:nvPr/>
        </p:nvSpPr>
        <p:spPr>
          <a:xfrm>
            <a:off x="8997696" y="50749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 </a:t>
            </a:r>
            <a:pPr indent="0" marL="0">
              <a:buNone/>
            </a:pPr>
            <a:r>
              <a:rPr lang="en-US" sz="9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Temps moyen de réponse ; résolution 1er niveau</a:t>
            </a:r>
            <a:endParaRPr lang="en-US" sz="950" dirty="0"/>
          </a:p>
        </p:txBody>
      </p:sp>
      <p:sp>
        <p:nvSpPr>
          <p:cNvPr id="30" name="Text 24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Attijari CI</a:t>
            </a:r>
            <a:endParaRPr lang="en-US" sz="900" dirty="0"/>
          </a:p>
        </p:txBody>
      </p:sp>
      <p:sp>
        <p:nvSpPr>
          <p:cNvPr id="31" name="Text 25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GOUVERNANCE, CONFIDENTIALITÉ ET SUPERVISION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cadre compatible avec les exigences d'un établissement régulé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49240" cy="1737360"/>
          </a:xfrm>
          <a:prstGeom prst="roundRect">
            <a:avLst>
              <a:gd name="adj" fmla="val 4211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176272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322576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212140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Données sous supervision humaine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554480" y="2578608"/>
            <a:ext cx="4160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Données bancaires, clients et documents internes restent sous contrôle humain systématique.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126480" y="1920240"/>
            <a:ext cx="5349240" cy="1737360"/>
          </a:xfrm>
          <a:prstGeom prst="roundRect">
            <a:avLst>
              <a:gd name="adj" fmla="val 4211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382512" y="2176272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8816" y="2322576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32320" y="212140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Revue avant toute action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7132320" y="2578608"/>
            <a:ext cx="4160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Tout signalement réglementaire ou de conformité généré par l'IA est revu avant décision.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48640" y="3886200"/>
            <a:ext cx="5349240" cy="1737360"/>
          </a:xfrm>
          <a:prstGeom prst="roundRect">
            <a:avLst>
              <a:gd name="adj" fmla="val 4211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04672" y="4142232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" y="4288536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554480" y="408736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Progression par pilote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1554480" y="4544568"/>
            <a:ext cx="4160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Aucune extension avant validation d'un premier pilote encadré et mesuré.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126480" y="3886200"/>
            <a:ext cx="5349240" cy="1737360"/>
          </a:xfrm>
          <a:prstGeom prst="roundRect">
            <a:avLst>
              <a:gd name="adj" fmla="val 4211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382512" y="4142232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8816" y="4288536"/>
            <a:ext cx="256032" cy="25603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132320" y="408736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Cadre documenté et validé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7132320" y="4544568"/>
            <a:ext cx="4160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Règles d'usage validées par les responsables métier — Audit Interne et Conformité.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Attijari CI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RENFORCEMENT DES CAPACITÉS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formations qui préparent des gestes métier réels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formations prioritaires, regroupées en trois familles.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3474720" cy="3200400"/>
          </a:xfrm>
          <a:prstGeom prst="roundRect">
            <a:avLst>
              <a:gd name="adj" fmla="val 2286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2219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368296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04672" y="292608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Audit, conformité &amp; gouvernance</a:t>
            </a:r>
            <a:endParaRPr lang="en-US" sz="14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3657600"/>
            <a:ext cx="256032" cy="2560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52144" y="35661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Interne Augmenté par l'IA</a:t>
            </a:r>
            <a:endParaRPr lang="en-US" sz="12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4343400"/>
            <a:ext cx="256032" cy="25603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152144" y="42519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Conformité Anti-Blanchiment et IA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4251960" y="1965960"/>
            <a:ext cx="3474720" cy="3200400"/>
          </a:xfrm>
          <a:prstGeom prst="roundRect">
            <a:avLst>
              <a:gd name="adj" fmla="val 2286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4507992" y="22219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4296" y="2368296"/>
            <a:ext cx="274320" cy="27432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4507992" y="292608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 &amp; pilotage</a:t>
            </a:r>
            <a:endParaRPr lang="en-US" sz="1400" dirty="0"/>
          </a:p>
        </p:txBody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7992" y="3657600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4855464" y="35661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Reporting Financier Automatisé</a:t>
            </a:r>
            <a:endParaRPr lang="en-US" sz="1200" dirty="0"/>
          </a:p>
        </p:txBody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7992" y="4343400"/>
            <a:ext cx="256032" cy="256032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4855464" y="42519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Analyse de Contrats avec l'IA</a:t>
            </a:r>
            <a:endParaRPr lang="en-US" sz="1200" dirty="0"/>
          </a:p>
        </p:txBody>
      </p:sp>
      <p:sp>
        <p:nvSpPr>
          <p:cNvPr id="21" name="Shape 13"/>
          <p:cNvSpPr/>
          <p:nvPr/>
        </p:nvSpPr>
        <p:spPr>
          <a:xfrm>
            <a:off x="7955280" y="1965960"/>
            <a:ext cx="3474720" cy="3200400"/>
          </a:xfrm>
          <a:prstGeom prst="roundRect">
            <a:avLst>
              <a:gd name="adj" fmla="val 2286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22" name="Shape 14"/>
          <p:cNvSpPr/>
          <p:nvPr/>
        </p:nvSpPr>
        <p:spPr>
          <a:xfrm>
            <a:off x="8211312" y="22219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57616" y="2368296"/>
            <a:ext cx="274320" cy="274320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8211312" y="292608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Relation client &amp; leadership</a:t>
            </a:r>
            <a:endParaRPr lang="en-US" sz="1400" dirty="0"/>
          </a:p>
        </p:txBody>
      </p:sp>
      <p:pic>
        <p:nvPicPr>
          <p:cNvPr id="2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11312" y="3657600"/>
            <a:ext cx="256032" cy="256032"/>
          </a:xfrm>
          <a:prstGeom prst="rect">
            <a:avLst/>
          </a:prstGeom>
        </p:spPr>
      </p:pic>
      <p:sp>
        <p:nvSpPr>
          <p:cNvPr id="26" name="Text 16"/>
          <p:cNvSpPr/>
          <p:nvPr/>
        </p:nvSpPr>
        <p:spPr>
          <a:xfrm>
            <a:off x="8558784" y="35661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Relation Client Augmentée par l'IA</a:t>
            </a:r>
            <a:endParaRPr lang="en-US" sz="1200" dirty="0"/>
          </a:p>
        </p:txBody>
      </p:sp>
      <p:pic>
        <p:nvPicPr>
          <p:cNvPr id="2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11312" y="4343400"/>
            <a:ext cx="256032" cy="256032"/>
          </a:xfrm>
          <a:prstGeom prst="rect">
            <a:avLst/>
          </a:prstGeom>
        </p:spPr>
      </p:pic>
      <p:sp>
        <p:nvSpPr>
          <p:cNvPr id="28" name="Text 17"/>
          <p:cNvSpPr/>
          <p:nvPr/>
        </p:nvSpPr>
        <p:spPr>
          <a:xfrm>
            <a:off x="8558784" y="42519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pour Dirigeants : Vision et Stratégie</a:t>
            </a:r>
            <a:endParaRPr lang="en-US" sz="1200" dirty="0"/>
          </a:p>
        </p:txBody>
      </p:sp>
      <p:sp>
        <p:nvSpPr>
          <p:cNvPr id="29" name="Shape 18"/>
          <p:cNvSpPr/>
          <p:nvPr/>
        </p:nvSpPr>
        <p:spPr>
          <a:xfrm>
            <a:off x="548640" y="5440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10263F"/>
          </a:solidFill>
          <a:ln/>
        </p:spPr>
      </p:sp>
      <p:pic>
        <p:nvPicPr>
          <p:cNvPr id="30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605272"/>
            <a:ext cx="438912" cy="438912"/>
          </a:xfrm>
          <a:prstGeom prst="rect">
            <a:avLst/>
          </a:prstGeom>
        </p:spPr>
      </p:pic>
      <p:sp>
        <p:nvSpPr>
          <p:cNvPr id="31" name="Text 19"/>
          <p:cNvSpPr/>
          <p:nvPr/>
        </p:nvSpPr>
        <p:spPr>
          <a:xfrm>
            <a:off x="1371600" y="544068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la formation, accès gratuit à la communauté TransferAI pour partager cas réels et obtenir des conseils pratiques d'exécution.</a:t>
            </a:r>
            <a:endParaRPr lang="en-US" sz="1200" dirty="0"/>
          </a:p>
        </p:txBody>
      </p:sp>
      <p:sp>
        <p:nvSpPr>
          <p:cNvPr id="32" name="Text 2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Attijari CI</a:t>
            </a:r>
            <a:endParaRPr lang="en-US" sz="900" dirty="0"/>
          </a:p>
        </p:txBody>
      </p:sp>
      <p:sp>
        <p:nvSpPr>
          <p:cNvPr id="33" name="Text 21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FEUILLE DE ROUTE 90 JOURS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 cadrage à la mesure, avec validation à chaque palier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188720" y="3246120"/>
            <a:ext cx="9784080" cy="0"/>
          </a:xfrm>
          <a:prstGeom prst="line">
            <a:avLst/>
          </a:prstGeom>
          <a:noFill/>
          <a:ln w="25400">
            <a:solidFill>
              <a:srgbClr val="E3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80160" y="3044952"/>
            <a:ext cx="402336" cy="402336"/>
          </a:xfrm>
          <a:prstGeom prst="ellipse">
            <a:avLst/>
          </a:prstGeom>
          <a:solidFill>
            <a:srgbClr val="D66724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1965960"/>
            <a:ext cx="2423160" cy="1097280"/>
          </a:xfrm>
          <a:prstGeom prst="roundRect">
            <a:avLst>
              <a:gd name="adj" fmla="val 6667"/>
            </a:avLst>
          </a:prstGeom>
          <a:solidFill>
            <a:srgbClr val="10263F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96596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J+0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777240" y="3703320"/>
            <a:ext cx="2423160" cy="2331720"/>
          </a:xfrm>
          <a:prstGeom prst="roundRect">
            <a:avLst>
              <a:gd name="adj" fmla="val 3137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3913632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" y="4315968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Audit, cadrage et priorisation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978408" y="498348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Identifier les flux prioritaires (audit, conformité, reporting) et démontrer le prototype de veille réglementaire.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977640" y="3044952"/>
            <a:ext cx="402336" cy="402336"/>
          </a:xfrm>
          <a:prstGeom prst="ellipse">
            <a:avLst/>
          </a:prstGeom>
          <a:solidFill>
            <a:srgbClr val="D66724"/>
          </a:solidFill>
          <a:ln/>
        </p:spPr>
      </p:sp>
      <p:sp>
        <p:nvSpPr>
          <p:cNvPr id="13" name="Shape 10"/>
          <p:cNvSpPr/>
          <p:nvPr/>
        </p:nvSpPr>
        <p:spPr>
          <a:xfrm>
            <a:off x="3474720" y="1965960"/>
            <a:ext cx="2423160" cy="1097280"/>
          </a:xfrm>
          <a:prstGeom prst="roundRect">
            <a:avLst>
              <a:gd name="adj" fmla="val 6667"/>
            </a:avLst>
          </a:prstGeom>
          <a:solidFill>
            <a:srgbClr val="10263F"/>
          </a:solidFill>
          <a:ln/>
        </p:spPr>
      </p:sp>
      <p:sp>
        <p:nvSpPr>
          <p:cNvPr id="14" name="Text 11"/>
          <p:cNvSpPr/>
          <p:nvPr/>
        </p:nvSpPr>
        <p:spPr>
          <a:xfrm>
            <a:off x="3474720" y="196596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J+15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3474720" y="3703320"/>
            <a:ext cx="2423160" cy="2331720"/>
          </a:xfrm>
          <a:prstGeom prst="roundRect">
            <a:avLst>
              <a:gd name="adj" fmla="val 3137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5888" y="3913632"/>
            <a:ext cx="320040" cy="32004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675888" y="4315968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Premier livrable utile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3675888" y="498348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Calibrer le prototype sur les sources et le vocabulaire d'Attijari CI, ou produire un premier kit de travail.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6675120" y="3044952"/>
            <a:ext cx="402336" cy="402336"/>
          </a:xfrm>
          <a:prstGeom prst="ellipse">
            <a:avLst/>
          </a:prstGeom>
          <a:solidFill>
            <a:srgbClr val="D66724"/>
          </a:solidFill>
          <a:ln/>
        </p:spPr>
      </p:sp>
      <p:sp>
        <p:nvSpPr>
          <p:cNvPr id="20" name="Shape 16"/>
          <p:cNvSpPr/>
          <p:nvPr/>
        </p:nvSpPr>
        <p:spPr>
          <a:xfrm>
            <a:off x="6172200" y="1965960"/>
            <a:ext cx="2423160" cy="1097280"/>
          </a:xfrm>
          <a:prstGeom prst="roundRect">
            <a:avLst>
              <a:gd name="adj" fmla="val 6667"/>
            </a:avLst>
          </a:prstGeom>
          <a:solidFill>
            <a:srgbClr val="10263F"/>
          </a:solidFill>
          <a:ln/>
        </p:spPr>
      </p:sp>
      <p:sp>
        <p:nvSpPr>
          <p:cNvPr id="21" name="Text 17"/>
          <p:cNvSpPr/>
          <p:nvPr/>
        </p:nvSpPr>
        <p:spPr>
          <a:xfrm>
            <a:off x="6172200" y="196596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J+45</a:t>
            </a:r>
            <a:endParaRPr lang="en-US" sz="2200" dirty="0"/>
          </a:p>
        </p:txBody>
      </p:sp>
      <p:sp>
        <p:nvSpPr>
          <p:cNvPr id="22" name="Shape 18"/>
          <p:cNvSpPr/>
          <p:nvPr/>
        </p:nvSpPr>
        <p:spPr>
          <a:xfrm>
            <a:off x="6172200" y="3703320"/>
            <a:ext cx="2423160" cy="2331720"/>
          </a:xfrm>
          <a:prstGeom prst="roundRect">
            <a:avLst>
              <a:gd name="adj" fmla="val 3137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3913632"/>
            <a:ext cx="320040" cy="32004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6373368" y="4315968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Formation ciblée et pilote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6373368" y="498348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Former les populations retenues et lancer le premier terrain d'exécution, sous supervision humaine.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9372600" y="3044952"/>
            <a:ext cx="402336" cy="402336"/>
          </a:xfrm>
          <a:prstGeom prst="ellipse">
            <a:avLst/>
          </a:prstGeom>
          <a:solidFill>
            <a:srgbClr val="D66724"/>
          </a:solidFill>
          <a:ln/>
        </p:spPr>
      </p:sp>
      <p:sp>
        <p:nvSpPr>
          <p:cNvPr id="27" name="Shape 22"/>
          <p:cNvSpPr/>
          <p:nvPr/>
        </p:nvSpPr>
        <p:spPr>
          <a:xfrm>
            <a:off x="8869680" y="1965960"/>
            <a:ext cx="2423160" cy="1097280"/>
          </a:xfrm>
          <a:prstGeom prst="roundRect">
            <a:avLst>
              <a:gd name="adj" fmla="val 6667"/>
            </a:avLst>
          </a:prstGeom>
          <a:solidFill>
            <a:srgbClr val="10263F"/>
          </a:solidFill>
          <a:ln/>
        </p:spPr>
      </p:sp>
      <p:sp>
        <p:nvSpPr>
          <p:cNvPr id="28" name="Text 23"/>
          <p:cNvSpPr/>
          <p:nvPr/>
        </p:nvSpPr>
        <p:spPr>
          <a:xfrm>
            <a:off x="8869680" y="196596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J+90</a:t>
            </a:r>
            <a:endParaRPr lang="en-US" sz="2200" dirty="0"/>
          </a:p>
        </p:txBody>
      </p:sp>
      <p:sp>
        <p:nvSpPr>
          <p:cNvPr id="29" name="Shape 24"/>
          <p:cNvSpPr/>
          <p:nvPr/>
        </p:nvSpPr>
        <p:spPr>
          <a:xfrm>
            <a:off x="8869680" y="3703320"/>
            <a:ext cx="2423160" cy="2331720"/>
          </a:xfrm>
          <a:prstGeom prst="roundRect">
            <a:avLst>
              <a:gd name="adj" fmla="val 3137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0848" y="3913632"/>
            <a:ext cx="320040" cy="32004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9070848" y="4315968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Mesure, gouvernance et extension</a:t>
            </a:r>
            <a:endParaRPr lang="en-US" sz="1250" dirty="0"/>
          </a:p>
        </p:txBody>
      </p:sp>
      <p:sp>
        <p:nvSpPr>
          <p:cNvPr id="32" name="Text 26"/>
          <p:cNvSpPr/>
          <p:nvPr/>
        </p:nvSpPr>
        <p:spPr>
          <a:xfrm>
            <a:off x="9070848" y="498348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Relire les premiers KPI, ajuster les usages, décider extension, recentrage ou montée en charge.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Différentiel TransferAI : une formation classique s'arrête au contenu. TransferAI accompagne la mise en pratique et la décision d'extension pendant 90 jours.</a:t>
            </a:r>
            <a:endParaRPr lang="en-US" sz="1050" dirty="0"/>
          </a:p>
        </p:txBody>
      </p:sp>
      <p:sp>
        <p:nvSpPr>
          <p:cNvPr id="34" name="Text 28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Attijari CI</a:t>
            </a:r>
            <a:endParaRPr lang="en-US" sz="900" dirty="0"/>
          </a:p>
        </p:txBody>
      </p:sp>
      <p:sp>
        <p:nvSpPr>
          <p:cNvPr id="35" name="Text 29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DISPOSITIF D'ACCOMPAGNEMENT RECOMMANDÉ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architecture en 4 briques, simple à activer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2514600" cy="41148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2121408"/>
            <a:ext cx="530352" cy="530352"/>
          </a:xfrm>
          <a:prstGeom prst="ellipse">
            <a:avLst/>
          </a:prstGeom>
          <a:solidFill>
            <a:srgbClr val="10263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2249424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68096" y="278892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métier ciblé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68096" y="333756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Qualifier les flux, documents et frictions les plus critiques pour Attijari CI.</a:t>
            </a:r>
            <a:endParaRPr lang="en-US" sz="10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4526280"/>
            <a:ext cx="201168" cy="2011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51560" y="44622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Cartographie des irritants</a:t>
            </a:r>
            <a:endParaRPr lang="en-US" sz="10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4983480"/>
            <a:ext cx="201168" cy="20116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051560" y="4919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Hypothèses de gains rapides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3291840" y="1920240"/>
            <a:ext cx="2514600" cy="41148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3511296" y="2121408"/>
            <a:ext cx="530352" cy="530352"/>
          </a:xfrm>
          <a:prstGeom prst="ellipse">
            <a:avLst/>
          </a:prstGeom>
          <a:solidFill>
            <a:srgbClr val="D66724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9312" y="2249424"/>
            <a:ext cx="274320" cy="27432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3511296" y="278892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Formation des décideurs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3511296" y="333756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Aligner la direction et les managers sur usages, limites et conditions de réussite.</a:t>
            </a:r>
            <a:endParaRPr lang="en-US" sz="105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11296" y="4526280"/>
            <a:ext cx="201168" cy="201168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794760" y="44622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Vision, gouvernance, arbitrages</a:t>
            </a:r>
            <a:endParaRPr lang="en-US" sz="100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11296" y="4983480"/>
            <a:ext cx="201168" cy="201168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3794760" y="4919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des premiers KPI</a:t>
            </a:r>
            <a:endParaRPr lang="en-US" sz="1000" dirty="0"/>
          </a:p>
        </p:txBody>
      </p:sp>
      <p:sp>
        <p:nvSpPr>
          <p:cNvPr id="22" name="Shape 14"/>
          <p:cNvSpPr/>
          <p:nvPr/>
        </p:nvSpPr>
        <p:spPr>
          <a:xfrm>
            <a:off x="6035040" y="1920240"/>
            <a:ext cx="2514600" cy="41148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23" name="Shape 15"/>
          <p:cNvSpPr/>
          <p:nvPr/>
        </p:nvSpPr>
        <p:spPr>
          <a:xfrm>
            <a:off x="6254496" y="2121408"/>
            <a:ext cx="530352" cy="530352"/>
          </a:xfrm>
          <a:prstGeom prst="ellipse">
            <a:avLst/>
          </a:prstGeom>
          <a:solidFill>
            <a:srgbClr val="2F6F6A"/>
          </a:solidFill>
          <a:ln/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82512" y="2249424"/>
            <a:ext cx="274320" cy="274320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6254496" y="278892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Formation des équipes</a:t>
            </a:r>
            <a:endParaRPr lang="en-US" sz="1300" dirty="0"/>
          </a:p>
        </p:txBody>
      </p:sp>
      <p:sp>
        <p:nvSpPr>
          <p:cNvPr id="26" name="Text 17"/>
          <p:cNvSpPr/>
          <p:nvPr/>
        </p:nvSpPr>
        <p:spPr>
          <a:xfrm>
            <a:off x="6254496" y="333756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Mettre les bonnes méthodes et assistants dans les mains des équipes qui exécutent.</a:t>
            </a:r>
            <a:endParaRPr lang="en-US" sz="1050" dirty="0"/>
          </a:p>
        </p:txBody>
      </p:sp>
      <p:pic>
        <p:nvPicPr>
          <p:cNvPr id="2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54496" y="4526280"/>
            <a:ext cx="201168" cy="201168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6537960" y="44622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Gestes métier augmentés</a:t>
            </a:r>
            <a:endParaRPr lang="en-US" sz="1000" dirty="0"/>
          </a:p>
        </p:txBody>
      </p:sp>
      <p:pic>
        <p:nvPicPr>
          <p:cNvPr id="29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54496" y="4983480"/>
            <a:ext cx="201168" cy="201168"/>
          </a:xfrm>
          <a:prstGeom prst="rect">
            <a:avLst/>
          </a:prstGeom>
        </p:spPr>
      </p:pic>
      <p:sp>
        <p:nvSpPr>
          <p:cNvPr id="30" name="Text 19"/>
          <p:cNvSpPr/>
          <p:nvPr/>
        </p:nvSpPr>
        <p:spPr>
          <a:xfrm>
            <a:off x="6537960" y="4919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Standardisation utile</a:t>
            </a:r>
            <a:endParaRPr lang="en-US" sz="1000" dirty="0"/>
          </a:p>
        </p:txBody>
      </p:sp>
      <p:sp>
        <p:nvSpPr>
          <p:cNvPr id="31" name="Shape 20"/>
          <p:cNvSpPr/>
          <p:nvPr/>
        </p:nvSpPr>
        <p:spPr>
          <a:xfrm>
            <a:off x="8778240" y="1920240"/>
            <a:ext cx="2514600" cy="41148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32" name="Shape 21"/>
          <p:cNvSpPr/>
          <p:nvPr/>
        </p:nvSpPr>
        <p:spPr>
          <a:xfrm>
            <a:off x="8997696" y="2121408"/>
            <a:ext cx="530352" cy="530352"/>
          </a:xfrm>
          <a:prstGeom prst="ellipse">
            <a:avLst/>
          </a:prstGeom>
          <a:solidFill>
            <a:srgbClr val="6E7D8C"/>
          </a:solidFill>
          <a:ln/>
        </p:spPr>
      </p:sp>
      <p:pic>
        <p:nvPicPr>
          <p:cNvPr id="3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5712" y="2249424"/>
            <a:ext cx="274320" cy="274320"/>
          </a:xfrm>
          <a:prstGeom prst="rect">
            <a:avLst/>
          </a:prstGeom>
        </p:spPr>
      </p:pic>
      <p:sp>
        <p:nvSpPr>
          <p:cNvPr id="34" name="Text 22"/>
          <p:cNvSpPr/>
          <p:nvPr/>
        </p:nvSpPr>
        <p:spPr>
          <a:xfrm>
            <a:off x="8997696" y="278892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Pilote &amp; accompagnement</a:t>
            </a:r>
            <a:endParaRPr lang="en-US" sz="1300" dirty="0"/>
          </a:p>
        </p:txBody>
      </p:sp>
      <p:sp>
        <p:nvSpPr>
          <p:cNvPr id="35" name="Text 23"/>
          <p:cNvSpPr/>
          <p:nvPr/>
        </p:nvSpPr>
        <p:spPr>
          <a:xfrm>
            <a:off x="8997696" y="333756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Passer d'une intention IA à un premier terrain visible, mesurable et gouverné.</a:t>
            </a:r>
            <a:endParaRPr lang="en-US" sz="1050" dirty="0"/>
          </a:p>
        </p:txBody>
      </p:sp>
      <p:pic>
        <p:nvPicPr>
          <p:cNvPr id="3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97696" y="4526280"/>
            <a:ext cx="201168" cy="201168"/>
          </a:xfrm>
          <a:prstGeom prst="rect">
            <a:avLst/>
          </a:prstGeom>
        </p:spPr>
      </p:pic>
      <p:sp>
        <p:nvSpPr>
          <p:cNvPr id="37" name="Text 24"/>
          <p:cNvSpPr/>
          <p:nvPr/>
        </p:nvSpPr>
        <p:spPr>
          <a:xfrm>
            <a:off x="9281160" y="44622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Pilotage sur 90 jours</a:t>
            </a:r>
            <a:endParaRPr lang="en-US" sz="1000" dirty="0"/>
          </a:p>
        </p:txBody>
      </p:sp>
      <p:pic>
        <p:nvPicPr>
          <p:cNvPr id="38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97696" y="4983480"/>
            <a:ext cx="201168" cy="201168"/>
          </a:xfrm>
          <a:prstGeom prst="rect">
            <a:avLst/>
          </a:prstGeom>
        </p:spPr>
      </p:pic>
      <p:sp>
        <p:nvSpPr>
          <p:cNvPr id="39" name="Text 25"/>
          <p:cNvSpPr/>
          <p:nvPr/>
        </p:nvSpPr>
        <p:spPr>
          <a:xfrm>
            <a:off x="9281160" y="4919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Décision d'extension</a:t>
            </a:r>
            <a:endParaRPr lang="en-US" sz="1000" dirty="0"/>
          </a:p>
        </p:txBody>
      </p:sp>
      <p:sp>
        <p:nvSpPr>
          <p:cNvPr id="40" name="Text 26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Attijari CI</a:t>
            </a:r>
            <a:endParaRPr lang="en-US" sz="900" dirty="0"/>
          </a:p>
        </p:txBody>
      </p:sp>
      <p:sp>
        <p:nvSpPr>
          <p:cNvPr id="41" name="Text 27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26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3657600"/>
            <a:ext cx="5486400" cy="5486400"/>
          </a:xfrm>
          <a:prstGeom prst="ellipse">
            <a:avLst/>
          </a:prstGeom>
          <a:solidFill>
            <a:srgbClr val="16324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486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CONFIANCE ET PROCHAINE ÉTAPE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Proposer un pilote utile, gouverné et mesurable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rendez-vous confirme les deux premiers terrains, les équipes à former, les données à protéger et la sortie attendue à 90 jours.</a:t>
            </a:r>
            <a:endParaRPr lang="en-US" sz="135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606040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2542032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Usages gouvernés, progressifs, validés par des responsables métier identifiés.</a:t>
            </a:r>
            <a:endParaRPr lang="en-US" sz="12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172968"/>
            <a:ext cx="256032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60120" y="3108960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Données sensibles et arbitrages critiques sous supervision humaine.</a:t>
            </a:r>
            <a:endParaRPr lang="en-US" sz="12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739896"/>
            <a:ext cx="256032" cy="25603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60120" y="3675888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accompagne aussi la mise en pratique et les premiers KPI, au-delà de la formation.</a:t>
            </a:r>
            <a:endParaRPr lang="en-US" sz="12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306824"/>
            <a:ext cx="256032" cy="25603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960120" y="4242816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Usages sensibles encadrés par validation humaine et règles de conformité.</a:t>
            </a:r>
            <a:endParaRPr lang="en-US" sz="1200" dirty="0"/>
          </a:p>
        </p:txBody>
      </p:sp>
      <p:sp>
        <p:nvSpPr>
          <p:cNvPr id="14" name="Shape 8"/>
          <p:cNvSpPr/>
          <p:nvPr/>
        </p:nvSpPr>
        <p:spPr>
          <a:xfrm>
            <a:off x="8229600" y="2606040"/>
            <a:ext cx="3383280" cy="3566160"/>
          </a:xfrm>
          <a:prstGeom prst="roundRect">
            <a:avLst>
              <a:gd name="adj" fmla="val 2703"/>
            </a:avLst>
          </a:prstGeom>
          <a:solidFill>
            <a:srgbClr val="16324F"/>
          </a:solidFill>
          <a:ln/>
        </p:spPr>
      </p:sp>
      <p:sp>
        <p:nvSpPr>
          <p:cNvPr id="15" name="Text 9"/>
          <p:cNvSpPr/>
          <p:nvPr/>
        </p:nvSpPr>
        <p:spPr>
          <a:xfrm>
            <a:off x="8503920" y="27889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SORTIE ATTENDUE DU RENDEZ-VOUS</a:t>
            </a:r>
            <a:endParaRPr lang="en-US" sz="105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3246120"/>
            <a:ext cx="219456" cy="219456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8833104" y="3200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Confirmer les 2 premiers cas d'usage</a:t>
            </a:r>
            <a:endParaRPr lang="en-US" sz="105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20" y="3813048"/>
            <a:ext cx="219456" cy="219456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8833104" y="37673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Valider les populations à former</a:t>
            </a:r>
            <a:endParaRPr lang="en-US" sz="1050" dirty="0"/>
          </a:p>
        </p:txBody>
      </p:sp>
      <p:pic>
        <p:nvPicPr>
          <p:cNvPr id="2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3920" y="4379976"/>
            <a:ext cx="219456" cy="219456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8833104" y="4334256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Identifier les KPI prioritaires</a:t>
            </a:r>
            <a:endParaRPr lang="en-US" sz="1050" dirty="0"/>
          </a:p>
        </p:txBody>
      </p:sp>
      <p:pic>
        <p:nvPicPr>
          <p:cNvPr id="2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03920" y="4946904"/>
            <a:ext cx="219456" cy="219456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8833104" y="4901184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Décider de l'ordre audit / formation / pilote</a:t>
            </a:r>
            <a:endParaRPr lang="en-US" sz="1050" dirty="0"/>
          </a:p>
        </p:txBody>
      </p:sp>
      <p:sp>
        <p:nvSpPr>
          <p:cNvPr id="24" name="Shape 14"/>
          <p:cNvSpPr/>
          <p:nvPr/>
        </p:nvSpPr>
        <p:spPr>
          <a:xfrm>
            <a:off x="8503920" y="5532120"/>
            <a:ext cx="2834640" cy="502920"/>
          </a:xfrm>
          <a:prstGeom prst="roundRect">
            <a:avLst>
              <a:gd name="adj" fmla="val 49091"/>
            </a:avLst>
          </a:prstGeom>
          <a:solidFill>
            <a:srgbClr val="D66724"/>
          </a:solidFill>
          <a:ln/>
        </p:spPr>
      </p:sp>
      <p:sp>
        <p:nvSpPr>
          <p:cNvPr id="25" name="Text 15"/>
          <p:cNvSpPr/>
          <p:nvPr/>
        </p:nvSpPr>
        <p:spPr>
          <a:xfrm>
            <a:off x="8503920" y="553212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gratuit + 45 min</a:t>
            </a:r>
            <a:endParaRPr lang="en-US" sz="1200" dirty="0"/>
          </a:p>
        </p:txBody>
      </p:sp>
      <p:sp>
        <p:nvSpPr>
          <p:cNvPr id="26" name="Text 16"/>
          <p:cNvSpPr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contact@transferai.ci   ·   www.transferai.ci   ·   +225 07 16 57 39 90</a:t>
            </a:r>
            <a:endParaRPr lang="en-US" sz="1050" dirty="0"/>
          </a:p>
        </p:txBody>
      </p:sp>
      <p:sp>
        <p:nvSpPr>
          <p:cNvPr id="27" name="Text 17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Attijari CI</a:t>
            </a:r>
            <a:endParaRPr lang="en-US" sz="900" dirty="0"/>
          </a:p>
        </p:txBody>
      </p:sp>
      <p:sp>
        <p:nvSpPr>
          <p:cNvPr id="28" name="Text 18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TransferAI x Attijari CI</dc:title>
  <dc:subject>PptxGenJS Presentation</dc:subject>
  <dc:creator>TransferAI Africa</dc:creator>
  <cp:lastModifiedBy>TransferAI Africa</cp:lastModifiedBy>
  <cp:revision>1</cp:revision>
  <dcterms:created xsi:type="dcterms:W3CDTF">2026-07-07T13:55:55Z</dcterms:created>
  <dcterms:modified xsi:type="dcterms:W3CDTF">2026-07-07T13:55:55Z</dcterms:modified>
</cp:coreProperties>
</file>