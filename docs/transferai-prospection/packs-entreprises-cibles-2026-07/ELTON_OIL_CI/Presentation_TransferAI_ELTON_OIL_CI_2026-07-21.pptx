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image" Target="../media/image-12-1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2.png"/><Relationship Id="rId5" Type="http://schemas.openxmlformats.org/officeDocument/2006/relationships/image" Target="../media/image-17-5.png"/><Relationship Id="rId6" Type="http://schemas.openxmlformats.org/officeDocument/2006/relationships/image" Target="../media/image-17-2.png"/><Relationship Id="rId7" Type="http://schemas.openxmlformats.org/officeDocument/2006/relationships/image" Target="../media/image-17-7.png"/><Relationship Id="rId8" Type="http://schemas.openxmlformats.org/officeDocument/2006/relationships/image" Target="../media/image-17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X NETTELECOM CI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&amp; Accompagnement 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de service pour ELTON OIL Côte d'Ivoire 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formation ciblée et accompagnement de mise en pratique sur 90 jours.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 de cadrage — TransferAI Africa x ELTON OIL 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X NETTELECOM 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sommes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5" name="Image 0" descr="icons/glob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367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Hub IA de NettelecomCI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178308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organisme de formation parmi d'autres : le 1er Hub TransferAI implanté en Côte d'Ivoire.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9" name="Image 1" descr="icons/awar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694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4144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Dirigé par M. Casimir Kassi Béda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271576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tête de NettelecomCI depuis plus de 15 ans — une gouvernance stable pour un partenariat long terme.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13" name="Image 2" descr="icons/us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021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74136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experts internationaux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36484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Répartis sur 4 continents, mobilisés selon le secteur et le cas d'usage traité.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17" name="Image 3" descr="icons/lay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4348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30682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de service, pas une session isolée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458114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pour qualifier les priorités → formation ciblée → accompagnement de mise en pratique sur 90 jours.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26694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1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36752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239512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cas d'usage réels, pas des slides théoriques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325880" y="551383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démonstrations s'appuient sur des workflows IA testés ou déjà en production — pas des concepts abstraits.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parcours en 4 temps, pas une session isolée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3896" y="228600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502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cadrage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flux prioritaires (comptes, flotte, service) et les équipes à mobiliser.</a:t>
            </a:r>
            <a:endParaRPr lang="en-US" sz="1100" dirty="0"/>
          </a:p>
        </p:txBody>
      </p:sp>
      <p:pic>
        <p:nvPicPr>
          <p:cNvPr id="10" name="Image 1" descr="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611880"/>
            <a:ext cx="237744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46704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51960" y="228600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13" name="Image 2" descr="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68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3864" y="31546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J+15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83864" y="3502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livrable utile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29584" y="406908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premier kit de suivi de comptes ou un cockpit flotte sur des données réelles d'ELTON.</a:t>
            </a:r>
            <a:endParaRPr lang="en-US" sz="1100" dirty="0"/>
          </a:p>
        </p:txBody>
      </p:sp>
      <p:pic>
        <p:nvPicPr>
          <p:cNvPr id="17" name="Image 3" descr="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611880"/>
            <a:ext cx="237744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44768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50024" y="228600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20" name="Image 4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4688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81928" y="31546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J+45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281928" y="3502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pilote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327648" y="406908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équipes retenues et lancer le premier terrain d'exécution, sous supervision humaine.</a:t>
            </a:r>
            <a:endParaRPr lang="en-US" sz="1100" dirty="0"/>
          </a:p>
        </p:txBody>
      </p:sp>
      <p:pic>
        <p:nvPicPr>
          <p:cNvPr id="24" name="Image 5" descr="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611880"/>
            <a:ext cx="237744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42832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848088" y="2286000"/>
            <a:ext cx="731520" cy="731520"/>
          </a:xfrm>
          <a:prstGeom prst="ellipse">
            <a:avLst/>
          </a:prstGeom>
          <a:solidFill>
            <a:srgbClr val="E8A020"/>
          </a:solidFill>
          <a:ln/>
        </p:spPr>
      </p:sp>
      <p:pic>
        <p:nvPicPr>
          <p:cNvPr id="27" name="Image 6" descr="icons/barCha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968" y="246888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079992" y="315468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J+90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9079992" y="3502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&amp; extension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9125712" y="406908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les premiers KPI, ajuster les usages, décider de l'extension ou de la montée en charge.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irritants identifiés chez ELTON Oil CI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de travail construites à partir des activités visibles sur les canaux publics d'ELTON — à confirmer et prioriser lors de l'audit.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7" name="Image 0" descr="icons/doll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43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professionnels &amp; recouvrement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2004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manuel des comptes, relances et échéances consommateur de temps.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167128"/>
            <a:ext cx="457200" cy="4572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2" name="Image 1" descr="icons/tru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860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743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&amp; cartes carburant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98848" y="32004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Consommations et anomalies difficiles à suivre à l'échelle de la flotte.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47888" y="2167128"/>
            <a:ext cx="457200" cy="4572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7" name="Image 2" descr="icons/too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2743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Auto &amp; maintenance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47888" y="3200400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d'entretien et échéances dispersés entre stations et espaces auto.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879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389120"/>
            <a:ext cx="457200" cy="4572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2" name="Image 3" descr="icons/messa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0799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9651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client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542239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récurrentes (carte, paiement, service) traitées de façon hétérogène.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41879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8848" y="4389120"/>
            <a:ext cx="457200" cy="4572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7" name="Image 4" descr="icons/mapPi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50799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98848" y="49651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multi-sites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98848" y="5422392"/>
            <a:ext cx="3118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et bonnes pratiques difficiles à diffuser de façon homogène.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PROPOSÉ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formations, regroupées en 4 familles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3F6E"/>
          </a:solidFill>
          <a:ln/>
        </p:spPr>
      </p:sp>
      <p:pic>
        <p:nvPicPr>
          <p:cNvPr id="6" name="Image 0" descr="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et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IA pour Dirigeants : Vision et Stratégie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Prise de Décision Stratégique avec l'IA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36208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7D6B"/>
          </a:solidFill>
          <a:ln/>
        </p:spPr>
      </p:sp>
      <p:pic>
        <p:nvPicPr>
          <p:cNvPr id="11" name="Image 1" descr="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8013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et Pilotage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9360" y="2377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Reporting Financier Automatisé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Comptabilité Automatisée avec l'IA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22192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023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3F6E"/>
          </a:solidFill>
          <a:ln/>
        </p:spPr>
      </p:sp>
      <p:pic>
        <p:nvPicPr>
          <p:cNvPr id="16" name="Image 2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422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23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et Relation Client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599432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Gestion de Flotte et Logistique IA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CRM Intelligent et IA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0" y="3822192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36208" y="4023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D7D6B"/>
          </a:solidFill>
          <a:ln/>
        </p:spPr>
      </p:sp>
      <p:pic>
        <p:nvPicPr>
          <p:cNvPr id="21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1422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4023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et Conformité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9360" y="4599432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Optimisation des Processus Métier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RGPD et Protection des Données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PROPOSÉ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 — Direction et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B3F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pour Dirigeants : Vision et Stratégie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générale, comité de direction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des solutions IA déjà en production (relation client, audit digital, recherche documentaire, CR de réunion) ; diriger l'adoption de l'IA est un acte de leadership, pas seulement une décision technique.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 automatisé (transcription + synthèse IA + validation humaine)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— webinaire du 18/07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1B3F6E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Décision Stratégique avec l'IA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générale, managers de pôle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des notes de décision et synthèses exécutives plus rapides ; intégrer le réflexe données sensibles/gouvernance à toute décision, pas seulement le déléguer.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pipeline CR de Réunion, angle extraction d'actions et de priorités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— même workflow que F1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98017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S'appuie aussi sur le contenu de la formation IA pour Décideurs du 10 août — tout ce qui relève du Management est aussi une question de leadership.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PROPOSÉ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 — Finance et Pilotage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D7D6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Financier Automatisé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comptables chargés de comptes clients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la préparation des synthèses de comptes et des revues de portefeuille.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Pré-clôture bancaire : détection d'écarts + synthèse IA + validation humaine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— démo web protégée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0D7D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Automatisée avec l'IA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comptabilité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Fluidifier le suivi des encaissements, échéances et balances clients.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pipeline Pré-clôture bancaire, angle suivi des échéances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— même workflow que F3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PROPOSÉ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 — Opérations et Relation 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B3F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Flotte et Logistique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Flotte, opérations terrain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exploiter les données de flotte et de cartes carburant pour anticiper les anomalies.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d'écarts carburant + synthèse IA + validation humaine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end-to-end le 21/07 (nouveau)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1B3F6E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Intelligent et 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client, réseau, espace auto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Homogénéiser les réponses clients et le suivi des rappels d'entretien.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WhatsApp 24/7, pipeline Twilio → Chatwoot → n8n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réelle depuis le 05/07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PROPOSÉ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 — Transformation et Conformité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D7D6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Processus Métier avec l'IA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support, transformation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 plus simplement procédures et standards sur une organisation multi-sites.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 confidentiel (PII Guard) + Recherche documentaire (RAG)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Testés — 2 démos web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0D7D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et Protection des Données avec l'IA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juridique, transformation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la gouvernance des données clients avant toute exposition à un outil 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17720"/>
            <a:ext cx="4709160" cy="960120"/>
          </a:xfrm>
          <a:prstGeom prst="roundRect">
            <a:avLst>
              <a:gd name="adj" fmla="val 4762"/>
            </a:avLst>
          </a:prstGeom>
          <a:solidFill>
            <a:srgbClr val="EEF3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6817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 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Guard, angle gouvernance et conformité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sur 4 secteurs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NON NÉGOCIABLE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sensibles : nos garde-fous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donnée envoyée à une IA générative publique (ChatGPT, etc.) peut être mémorisée, journalisée ou exposée — voici comment nous l'évitons.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7889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331720"/>
            <a:ext cx="640080" cy="64008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7" name="Image 0" descr="icons/eyeOf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4963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09067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locale des données sensibles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794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par expressions régulières détecte identité, IBAN, téléphone, référence, adresse... 100% local, aucun appel externe.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55848" y="2103120"/>
            <a:ext cx="2606040" cy="27889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2331720"/>
            <a:ext cx="640080" cy="64008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13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4963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309067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/ Pseudonymisation avant l'IA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38728" y="3794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remplacées par des jetons neutres avant tout envoi au modèle IA. Le modèle ne voit jamais la donnée réelle.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2103120"/>
            <a:ext cx="2606040" cy="27889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46036" y="2331720"/>
            <a:ext cx="640080" cy="64008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19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49631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11896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27648" y="309067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Dé-anonymisation en mémoire uniquement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345936" y="3794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jetons sont restaurés uniquement pour la personne habilitée, jamais stockés, jamais persistés en base.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970264" y="2103120"/>
            <a:ext cx="2606040" cy="27889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53244" y="2331720"/>
            <a:ext cx="640080" cy="64008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25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836" y="249631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119104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34856" y="309067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avant diffusion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53144" y="3794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action (envoi, recouvrement, alerte) n'est déclenchée sans validation d'un responsable identifié.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1206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AF3F0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51206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déjà construite et testée : </a:t>
            </a:r>
            <a:pPr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Guard — validée sur 4 secteurs (Diplomatie / RH / Finance / Marketing), 0 donnée réelle transmise à un modèle IA externe.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FRÉQUENTE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Hébergement et localisation des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légitime dès qu'on parle de données clients/financières/flotte sensibles — voici notre architecture actuelle et ce qui est adaptable.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6" name="Image 0" descr="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sont hébergées les données aujourd'hui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3591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 Supabase (base de données + traitement), actuellement en Europe (Irlande) — architecture historique de TransferAI, pas une contrainte définitive.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0" name="Image 1" descr="icons/refreshC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0815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opérationnels déjà régionaux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4107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échanges WhatsApp/email transitent par des services déjà utilisés en Afrique de l'Ouest (Twilio, Chatwoot) ; l'anonymisation PII Guard s'exécute avant tout envoi, local ou externe.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4" name="Image 2" descr="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330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dédié ou régional envisageable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44622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adaptée aux exigences de conformité d'ELTON peut être étudiée et cadrée avant tout déploiement en production réelle.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8" name="Image 3" descr="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92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84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d'accès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17320" y="55138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restreint, chiffrement en transit, aucune donnée réelle transmise à l'IA générative externe (voir garde-fous PII Guard, slide précédente).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 VOS ÉQUIPES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Charte IA — remise à chaque participant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livret de référence, pas une simple slide de rappel : chaque participant formé repart avec ce document, et s'engage à le respecter.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579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6" name="Image 0" descr="icons/f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21992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1031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Préambule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21579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9" name="Image 1" descr="icons/f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2199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1031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Cadre légal (loi ivoirienne n°2013-450, ARTCI)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6151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2" name="Image 2" descr="icons/fi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67919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5603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Principes fondamentaux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26480" y="26151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5" name="Image 3" descr="icons/fi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67919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7960" y="25603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Classification des données sensibles par secteur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30723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8" name="Image 4" descr="icons/fi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3639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0175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 qu'on peut / ne peut jamais copier-coller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26480" y="30723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1" name="Image 5" descr="icons/fi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13639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37960" y="30175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Rôle de PII Guard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48640" y="35295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4" name="Image 6" descr="icons/fi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593592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0120" y="34747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Gouvernance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126480" y="35295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7" name="Image 7" descr="icons/fi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593592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34747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Procédure en cas de doute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548640" y="3986784"/>
            <a:ext cx="292608" cy="29260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30" name="Image 8" descr="icons/fil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" y="4050792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0120" y="39319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Manquements et révision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6126480" y="3986784"/>
            <a:ext cx="292608" cy="292608"/>
          </a:xfrm>
          <a:prstGeom prst="ellipse">
            <a:avLst/>
          </a:prstGeom>
          <a:solidFill>
            <a:srgbClr val="E8A020"/>
          </a:solidFill>
          <a:ln/>
        </p:spPr>
      </p:sp>
      <p:pic>
        <p:nvPicPr>
          <p:cNvPr id="33" name="Image 9" descr="icons/edi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0488" y="4050792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537960" y="39319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Engagement signé par le participant</a:t>
            </a:r>
            <a:endParaRPr lang="en-US" sz="1250" dirty="0"/>
          </a:p>
        </p:txBody>
      </p:sp>
      <p:sp>
        <p:nvSpPr>
          <p:cNvPr id="35" name="Shape 23"/>
          <p:cNvSpPr/>
          <p:nvPr/>
        </p:nvSpPr>
        <p:spPr>
          <a:xfrm>
            <a:off x="548640" y="46177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AF3F0"/>
          </a:solidFill>
          <a:ln/>
        </p:spPr>
      </p:sp>
      <p:sp>
        <p:nvSpPr>
          <p:cNvPr id="36" name="Text 24"/>
          <p:cNvSpPr/>
          <p:nvPr/>
        </p:nvSpPr>
        <p:spPr>
          <a:xfrm>
            <a:off x="777240" y="46177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déployée : </a:t>
            </a:r>
            <a:pPr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utilisé en formation, adaptable à la classification des données sensibles propre à ELTON (comptes, flotte OASIS, RH).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CRÉDIBILITÉ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workflows réellement testés, pas des slides théoriques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320040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Workflow n8n mobilisé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Formations 1 &amp; 2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CR_Reunion_Automatique_V3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Testé — présenté au webinaire du 18/07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Formations 3 &amp; 4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Demo_Pre_Cloture_Bancaire_Validation_Humaine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Testé — démo web protégée, webinaire du 18/07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 5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Demo_Gestion_Flotte_Detection_Ecarts_Validation_Humaine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Testé end-to-end le 21/07 (données simulées)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 6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Chatwoot Auto Reply V6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En production réelle depuis le 05/07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Formations 7 &amp; 8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Courrier_Automatique_v2_PII + PII_Guard_Anonymisation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Testé sur 4 secteurs — démo web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6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Formation 7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CFE0D9"/>
                          </a:solidFill>
                        </a:rPr>
                        <a:t>Ingestion_Documents_Drive_Recursif + RAG_v4_complet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7D4EA"/>
                          </a:solidFill>
                        </a:rPr>
                        <a:t>Démo web — recherche documentaire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6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DANS LA DURÉE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avec KPI — pas une formation qu'on oublie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de suivi s'appuie sur le même parcours J+0 → J+90 présenté plus tôt — voici comment il fonctionne concrètement.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6" name="Image 0" descr="icons/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75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KPI définis dès la formation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4048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fixe ses propres indicateurs (délai de relance, anomalies détectées, temps de réponse...) — pas un chiffre générique plaqué après coup.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0" name="Image 1" descr="icons/bar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272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tableaux de bord mis en place pendant les ateliers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4564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flotte, suivi de comptes, tableau de résolution client : construits avec les équipes, pas livrés clé en main sans appropriation.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4" name="Image 2" descr="icons/refreshC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788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cadence de revue régulière sur 90 jours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4507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suivi, permanence questions/réponses, ajustement des trames et prompts au fil de l'usage réel.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8" name="Image 3" descr="icons/calend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94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230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d'extension appuyée sur des données réelles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17320" y="55595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J+90 : lecture des KPI, arbitrage entre pilote, extension ou réajustement — jamais une reconduction automatique.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EXPERTS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pédagogique de 5 experts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16052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96596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6" name="Image 0" descr="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GOUHO Bi Néantien Jean Baptiste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Automatisation &amp; Systèmes d'Entreprise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438912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Docteur-Ingénieur en Informatique · +15 ans en cybersécurité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16352" y="1691640"/>
            <a:ext cx="2121408" cy="416052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1296" y="196596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12" name="Image 1" descr="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512" y="28803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N'Guessan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5351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IT, Transformation Digitale &amp; Audit des Systèmes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953512" y="438912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 — présenté au webinaire du 18/07 (volet RAG)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84064" y="1691640"/>
            <a:ext cx="2121408" cy="416052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196596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18" name="Image 2" descr="icons/briefc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21224" y="28803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Marius Ayoro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21224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Solutions IA &amp; Automatisation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221224" y="438912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TransferAI Africa · +15 ans en infrastructures IT critiques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351776" y="1691640"/>
            <a:ext cx="2121408" cy="416052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0" y="196596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24" name="Image 3" descr="icons/bar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488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88936" y="28803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Serge Anon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88936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Formateur-Coach Multipotentiel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488936" y="438912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 d'expérience · Vice-Président IIA-CI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619488" y="1691640"/>
            <a:ext cx="2121408" cy="416052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14432" y="1965960"/>
            <a:ext cx="731520" cy="731520"/>
          </a:xfrm>
          <a:prstGeom prst="ellipse">
            <a:avLst/>
          </a:prstGeom>
          <a:solidFill>
            <a:srgbClr val="1B3F6E"/>
          </a:solidFill>
          <a:ln/>
        </p:spPr>
      </p:sp>
      <p:pic>
        <p:nvPicPr>
          <p:cNvPr id="30" name="Image 4" descr="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12" y="21488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56648" y="28803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Sery Medard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6648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 Cloud &amp; Plateformes IA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6648" y="4389120"/>
            <a:ext cx="1847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ans GCP/AWS/Azure · expert LLMs/RAG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LA 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Modalités pratiques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5" name="Image 0" descr="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55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0848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20 participants par session ; plusieurs cohortes possibles pour un même module si vos équipes sont plus nombreuses.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9" name="Image 1" descr="icons/mapP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98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2278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 dans vos locaux ou à Riviera 3 (TransferAI) ; format hybride envisageable sur demande.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3" name="Image 2" descr="icons/aw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41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3708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formation TransferAI &amp; NettelecomCI remise à chaque participant, avec kit de prompts et supports réutilisables.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7" name="Image 3" descr="icons/too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92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1846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vos outils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55138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construits à partir de vos données et procédures réelles (carte OASIS, espace auto, comptes clients) dès qu'elles sont partagées.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chaque irritant devient, avec des KPI mesurés à J+90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38528"/>
            <a:ext cx="438912" cy="43891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6" name="Image 0" descr="icons/doll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482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6479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manuel des comptes, relances et échéances consommateur de temps</a:t>
            </a:r>
            <a:endParaRPr lang="en-US" sz="1050" dirty="0"/>
          </a:p>
        </p:txBody>
      </p:sp>
      <p:pic>
        <p:nvPicPr>
          <p:cNvPr id="8" name="Image 1" descr="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391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1764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Synthèses automatiques, assistant de recouvrement, comités crédit préparés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829800" y="176479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relance · Taux de recouvrement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48640" y="276148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13232" y="3008376"/>
            <a:ext cx="438912" cy="43891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3" name="Image 2" descr="icons/tru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1810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8346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Consommations et anomalies difficiles à suivre à l'échelle de la flotte</a:t>
            </a:r>
            <a:endParaRPr lang="en-US" sz="1050" dirty="0"/>
          </a:p>
        </p:txBody>
      </p:sp>
      <p:pic>
        <p:nvPicPr>
          <p:cNvPr id="15" name="Image 3" descr="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310896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2834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 pilotage flotte avec alertes intelligentes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9829800" y="28346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détectées tôt · Consommation mieux pilotée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48640" y="383133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3232" y="4078224"/>
            <a:ext cx="438912" cy="43891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0" name="Image 4" descr="icons/too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879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90448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d'entretien et échéances dispersés entre stations</a:t>
            </a:r>
            <a:endParaRPr lang="en-US" sz="1050" dirty="0"/>
          </a:p>
        </p:txBody>
      </p:sp>
      <p:pic>
        <p:nvPicPr>
          <p:cNvPr id="22" name="Image 5" descr="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417880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989320" y="390448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rappels automatisé et tableaux de bord services auto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9829800" y="390448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reprise de rendez-vous · Délai de rappel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48640" y="490118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13232" y="5148072"/>
            <a:ext cx="438912" cy="43891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7" name="Image 6" descr="icons/messag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257800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371600" y="497433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récurrentes saturant les équipes de service client</a:t>
            </a:r>
            <a:endParaRPr lang="en-US" sz="1050" dirty="0"/>
          </a:p>
        </p:txBody>
      </p:sp>
      <p:pic>
        <p:nvPicPr>
          <p:cNvPr id="29" name="Image 7" descr="icons/arrowRight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5248656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989320" y="497433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de réponse encadré et base de connaissance homogène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9829800" y="4974336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1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· Taux de résolution 1er niveau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sur investissement se mesure sur des KPI réels au fil du parcours (J+90) — pas promis à l'avance sur un chiffre générique.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NON NÉGOCIABLE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Gouvernance, confidentialité et conduite du changement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tenu des données clients, commerciales et financières manipulées par ELTON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6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385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humaine systématique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2677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clients, commerciales et financières restent sous supervision humaine systématique.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0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821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0175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avant toute action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417320" y="3346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recommandation de recouvrement ou d'alerte flotte générée par l'IA fait l'objet d'une revue humaine avant action.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123944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4" name="Image 2" descr="icons/targ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6110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9651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par pilote encadré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417320" y="44256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 se fait par pilote encadré avant toute extension à d'autres périmètres.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202936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F6E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pic>
        <p:nvPicPr>
          <p:cNvPr id="18" name="Image 3" descr="icons/fi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75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documenté et validé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417320" y="55046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d'usage est documenté et validé par les responsables métier identifiés (comptes, flotte, service client).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façons de démarrer avec ELTON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B3F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Recommandée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gratuit puis priorisation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IA gratuit centré sur les comptes professionnels, la flotte et la performance commerciale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expert de 45 minutes avec le DG ou son représentant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conjointe des formations à lancer en premier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0D7D6B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37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D7D6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Pour aller plus vite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359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resserré sur 2-3 formations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Financier + Comptabilité Automatisée (comptes pro / recouvrement)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Flotte et Logistique IA (cartes carburant OASIS)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Intelligent (relation client / espace auto)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·  ELTON OIL CI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x Nettelecom CI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14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www.transferai.ci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+225 07 16 57 39 90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3, carrefour Sainte Famille, Abidjan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2026-07-24T09:11:21Z</dcterms:created>
  <dcterms:modified xsi:type="dcterms:W3CDTF">2026-07-24T09:11:21Z</dcterms:modified>
</cp:coreProperties>
</file>