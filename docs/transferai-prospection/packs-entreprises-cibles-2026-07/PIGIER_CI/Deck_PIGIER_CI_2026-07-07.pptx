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6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2011680"/>
            <a:ext cx="5486400" cy="5486400"/>
          </a:xfrm>
          <a:prstGeom prst="ellipse">
            <a:avLst/>
          </a:prstGeom>
          <a:solidFill>
            <a:srgbClr val="16324F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840480"/>
            <a:ext cx="3108960" cy="3108960"/>
          </a:xfrm>
          <a:prstGeom prst="ellipse">
            <a:avLst/>
          </a:prstGeom>
          <a:solidFill>
            <a:srgbClr val="D6672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640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EXTENSION DE PARTENARIAT — PIGIER CÔTE D'IVOIRE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051560"/>
            <a:ext cx="7863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Faire de l'IA un levier pédagogique et opérationnel pour Pigier Côte d'Ivoire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278892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FE0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proposition construite sur un partenariat déjà existant avec TransferAI Africa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37033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42245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0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formations activables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514600" y="37033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514600" y="42245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0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usages prioritaires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480560" y="37033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J+90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4480560" y="42245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0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pilotage d'extension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46520" y="37033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FCFA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446520" y="42245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0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d'entrée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5074920"/>
            <a:ext cx="6309360" cy="566928"/>
          </a:xfrm>
          <a:prstGeom prst="roundRect">
            <a:avLst>
              <a:gd name="adj" fmla="val 50000"/>
            </a:avLst>
          </a:prstGeom>
          <a:solidFill>
            <a:srgbClr val="16324F"/>
          </a:solidFill>
          <a:ln/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188720" y="5074920"/>
            <a:ext cx="5577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Entrée recommandée : audit IA gratuit + échange expert de 45 minutes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48640" y="594360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indicateurs ci-dessus sont des repères de référence, formulés comme hypothèses à confirmer pendant l'audit — pas des engagements de résultat.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Pigier CI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PARTENARIAT À APPROFONDIR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et Pigier Côte d'Ivoire, déjà partenaires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Cette proposition prolonge une relation existante, elle ne part pas de zéro.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2514600" cy="288036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331720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2478024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04672" y="306324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Partenariat existant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804672" y="365760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Pigier Côte d'Ivoire figure déjà parmi les partenaires affichés de TransferAI Africa.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291840" y="2057400"/>
            <a:ext cx="2514600" cy="288036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547872" y="2331720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4176" y="2478024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547872" y="306324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Cadre d'exécution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3547872" y="365760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Audit, cadrage, formation, gouvernance et premier pilote métier reliés.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035040" y="2057400"/>
            <a:ext cx="2514600" cy="288036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291072" y="2331720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2478024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291072" y="306324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Expérience pédagogique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6291072" y="365760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Approche déjà pensée pour les établissements d'enseignement et de formation professionnelle.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778240" y="2057400"/>
            <a:ext cx="2514600" cy="288036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034272" y="2331720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0576" y="2478024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034272" y="306324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experts</a:t>
            </a:r>
            <a:endParaRPr lang="en-US" sz="1450" dirty="0"/>
          </a:p>
        </p:txBody>
      </p:sp>
      <p:sp>
        <p:nvSpPr>
          <p:cNvPr id="24" name="Text 18"/>
          <p:cNvSpPr/>
          <p:nvPr/>
        </p:nvSpPr>
        <p:spPr>
          <a:xfrm>
            <a:off x="9034272" y="365760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Basés en Côte d'Ivoire, au Royaume-Uni, aux États-Unis et en Inde.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548640" y="525780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10263F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486400"/>
            <a:ext cx="457200" cy="45720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371600" y="5257800"/>
            <a:ext cx="9966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L'objectif n'est pas de démarcher Pigier comme un prospect froid, mais d'explorer comment approfondir un partenariat déjà engagé.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Pigier CI</a:t>
            </a:r>
            <a:endParaRPr lang="en-US" sz="900" dirty="0"/>
          </a:p>
        </p:txBody>
      </p:sp>
      <p:sp>
        <p:nvSpPr>
          <p:cNvPr id="29" name="Text 22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PRIORITÉS MÉTIER DE PIGIER CI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Deux angles à explorer avec Pigier Côte d'Ivoire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volet interne (efficacité pédagogique et administrative) et un volet partenarial (offre conjointe).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2514600" cy="420624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214884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68096" y="2606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Conception pédagogique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68096" y="32004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Créer modules, cas et supports demande beaucoup de temps expert.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68096" y="44348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Plans de cours et séquences préparés plus vite, avec une meilleure base de travail.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291840" y="1920240"/>
            <a:ext cx="2514600" cy="420624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296" y="214884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11296" y="2606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Suivi des cohortes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3511296" y="32004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Résultats d'apprenants longs à relire et à interpréter.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3511296" y="44348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Synthèses plus actionnables pour les responsables pédagogiques.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035040" y="1920240"/>
            <a:ext cx="2514600" cy="420624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496" y="2148840"/>
            <a:ext cx="365760" cy="36576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254496" y="2606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Admissions et suivi étudiant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6254496" y="32004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Demandes récurrentes des candidats et étudiants traitées de façon hétérogène.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6254496" y="44348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Assistant de réponse encadré pour homogénéiser le suivi.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778240" y="1920240"/>
            <a:ext cx="2514600" cy="420624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7696" y="2148840"/>
            <a:ext cx="365760" cy="36576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997696" y="2606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Offre conjointe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8997696" y="3127248"/>
            <a:ext cx="2057400" cy="292608"/>
          </a:xfrm>
          <a:prstGeom prst="roundRect">
            <a:avLst>
              <a:gd name="adj" fmla="val 50000"/>
            </a:avLst>
          </a:prstGeom>
          <a:solidFill>
            <a:srgbClr val="D66724"/>
          </a:solidFill>
          <a:ln/>
        </p:spPr>
      </p:sp>
      <p:sp>
        <p:nvSpPr>
          <p:cNvPr id="24" name="Text 18"/>
          <p:cNvSpPr/>
          <p:nvPr/>
        </p:nvSpPr>
        <p:spPr>
          <a:xfrm>
            <a:off x="8997696" y="3127248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Piste de partenariat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8997696" y="3529584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partenariat existant reste aujourd'hui limité à une visibilité de marque.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8997696" y="4764024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module IA co-brandé pourrait enrichir l'offre de formation de Pigier CI.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Pigier CI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RÉSULTATS ATTENDUS ET INDICATEURS DE PREUVE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ROI n'a de valeur que relié à des KPI lisibles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Repères prudents à confirmer pendant l'audit — pas des chiffres abstraits.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251460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21488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Conception plus rapide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49808" y="29718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supports pédagogiques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9808" y="34747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modules, cas, quiz, fiches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91840" y="1965960"/>
            <a:ext cx="251460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493008" y="21488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Suivi plus actionnable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493008" y="29718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cohortes et résultats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493008" y="34747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synthèses pédagogiques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035040" y="1965960"/>
            <a:ext cx="251460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236208" y="21488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Réponse plus cohérente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236208" y="29718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aux candidats et étudiants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236208" y="34747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admissions, suivi, réclamations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778240" y="1965960"/>
            <a:ext cx="251460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979408" y="21488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Offre enrichie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979408" y="29718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 les apprenants de Pigier CI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979408" y="34747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IA à co-construire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4572000"/>
            <a:ext cx="11064240" cy="1600200"/>
          </a:xfrm>
          <a:prstGeom prst="roundRect">
            <a:avLst>
              <a:gd name="adj" fmla="val 4571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473659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Comment avancer concrètement dès le premier rendez-vous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22960" y="512064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Clarifier ce qui relève de l'usage interne et ce qui relève du partenariat. 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Nommer un premier terrain interne mesurable. 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Explorer en parallèle un module ou une offre conjointe. 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Avancer par étapes, sans bousculer les programmes existants.   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Pigier CI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D'USAGE PRIORITAIRES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usages à mettre au centre de la proposition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514600" cy="4572000"/>
          </a:xfrm>
          <a:prstGeom prst="roundRect">
            <a:avLst>
              <a:gd name="adj" fmla="val 2909"/>
            </a:avLst>
          </a:prstGeom>
          <a:solidFill>
            <a:srgbClr val="FCEFE3"/>
          </a:solidFill>
          <a:ln w="19050">
            <a:solidFill>
              <a:srgbClr val="D66724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182880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68096" y="22860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Conception pédagogique augmentée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768096" y="2944368"/>
            <a:ext cx="2057400" cy="274320"/>
          </a:xfrm>
          <a:prstGeom prst="roundRect">
            <a:avLst>
              <a:gd name="adj" fmla="val 50000"/>
            </a:avLst>
          </a:prstGeom>
          <a:solidFill>
            <a:srgbClr val="D6672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294436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d'usage phare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68096" y="3364992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Modules et supports longs à concevoir pour des cohortes différentes.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68096" y="4370832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Plans de cours et déclinaisons multi-format accélérés par l'IA.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68096" y="537667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 </a:t>
            </a:r>
            <a:pPr indent="0" marL="0">
              <a:buNone/>
            </a:pPr>
            <a:r>
              <a:rPr lang="en-US" sz="9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Temps de conception ; nombre de formats produits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291840" y="1600200"/>
            <a:ext cx="2514600" cy="45720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296" y="182880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511296" y="22860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Suivi de cohortes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3511296" y="306324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Résultats d'apprenants longs à interpréter par les responsables pédagogiques.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3511296" y="406908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Synthèses actionnables sur les acquis et les difficultés.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3511296" y="50749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 </a:t>
            </a:r>
            <a:pPr indent="0" marL="0">
              <a:buNone/>
            </a:pPr>
            <a:r>
              <a:rPr lang="en-US" sz="9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Délai de synthèse ; actions correctives engagées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6035040" y="1600200"/>
            <a:ext cx="2514600" cy="45720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496" y="1828800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54496" y="22860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Admissions et vie étudiante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6254496" y="306324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Demandes candidats/étudiants traitées de façon hétérogène.</a:t>
            </a:r>
            <a:endParaRPr lang="en-US" sz="1050" dirty="0"/>
          </a:p>
        </p:txBody>
      </p:sp>
      <p:sp>
        <p:nvSpPr>
          <p:cNvPr id="22" name="Text 17"/>
          <p:cNvSpPr/>
          <p:nvPr/>
        </p:nvSpPr>
        <p:spPr>
          <a:xfrm>
            <a:off x="6254496" y="406908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Assistant de réponse encadré pour homogénéiser le suivi.</a:t>
            </a:r>
            <a:endParaRPr lang="en-US" sz="1050" dirty="0"/>
          </a:p>
        </p:txBody>
      </p:sp>
      <p:sp>
        <p:nvSpPr>
          <p:cNvPr id="23" name="Text 18"/>
          <p:cNvSpPr/>
          <p:nvPr/>
        </p:nvSpPr>
        <p:spPr>
          <a:xfrm>
            <a:off x="6254496" y="50749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 </a:t>
            </a:r>
            <a:pPr indent="0" marL="0">
              <a:buNone/>
            </a:pPr>
            <a:r>
              <a:rPr lang="en-US" sz="9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Temps de réponse ; taux de résolution 1er niveau</a:t>
            </a:r>
            <a:endParaRPr lang="en-US" sz="950" dirty="0"/>
          </a:p>
        </p:txBody>
      </p:sp>
      <p:sp>
        <p:nvSpPr>
          <p:cNvPr id="24" name="Shape 19"/>
          <p:cNvSpPr/>
          <p:nvPr/>
        </p:nvSpPr>
        <p:spPr>
          <a:xfrm>
            <a:off x="8778240" y="1600200"/>
            <a:ext cx="2514600" cy="45720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7696" y="1828800"/>
            <a:ext cx="365760" cy="36576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8997696" y="22860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IA co-brandé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8997696" y="306324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partenariat reste aujourd'hui limité à une visibilité de marque.</a:t>
            </a:r>
            <a:endParaRPr lang="en-US" sz="1050" dirty="0"/>
          </a:p>
        </p:txBody>
      </p:sp>
      <p:sp>
        <p:nvSpPr>
          <p:cNvPr id="28" name="Text 22"/>
          <p:cNvSpPr/>
          <p:nvPr/>
        </p:nvSpPr>
        <p:spPr>
          <a:xfrm>
            <a:off x="8997696" y="406908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module ou une certification IA co-construite avec TransferAI enrichit l'offre de Pigier CI.</a:t>
            </a:r>
            <a:endParaRPr lang="en-US" sz="1050" dirty="0"/>
          </a:p>
        </p:txBody>
      </p:sp>
      <p:sp>
        <p:nvSpPr>
          <p:cNvPr id="29" name="Text 23"/>
          <p:cNvSpPr/>
          <p:nvPr/>
        </p:nvSpPr>
        <p:spPr>
          <a:xfrm>
            <a:off x="8997696" y="50749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 </a:t>
            </a:r>
            <a:pPr indent="0" marL="0">
              <a:buNone/>
            </a:pPr>
            <a:r>
              <a:rPr lang="en-US" sz="9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Nombre d'apprenants formés ; satisfaction pédagogique</a:t>
            </a:r>
            <a:endParaRPr lang="en-US" sz="950" dirty="0"/>
          </a:p>
        </p:txBody>
      </p:sp>
      <p:sp>
        <p:nvSpPr>
          <p:cNvPr id="30" name="Text 24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Pigier CI</a:t>
            </a:r>
            <a:endParaRPr lang="en-US" sz="900" dirty="0"/>
          </a:p>
        </p:txBody>
      </p:sp>
      <p:sp>
        <p:nvSpPr>
          <p:cNvPr id="31" name="Text 25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DÉTAIL DES DEUX PREMIERS TERRAINS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deux premiers terrains à explorer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terrain interne et une piste de partenariat, à avancer en parallèle.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5349240" cy="4160520"/>
          </a:xfrm>
          <a:prstGeom prst="roundRect">
            <a:avLst>
              <a:gd name="adj" fmla="val 1758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212848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10263F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21284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TERRAIN 1</a:t>
            </a:r>
            <a:endParaRPr lang="en-US" sz="11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2212848"/>
            <a:ext cx="384048" cy="38404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22960" y="269748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Conception pédagogique augmentée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2960" y="333756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2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Modules, cas et supports longs à concevoir et décliner en plusieurs formats.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2960" y="434340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2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Plans de cours accélérés, déclinaison multi-format facilitée pour les équipes pédagogiques.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2960" y="5349240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clé  </a:t>
            </a:r>
            <a:pPr indent="0" marL="0">
              <a:buNone/>
            </a:pPr>
            <a:r>
              <a:rPr lang="en-US" sz="110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Temps de conception ; nombre de formats produits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126480" y="1965960"/>
            <a:ext cx="5349240" cy="4160520"/>
          </a:xfrm>
          <a:prstGeom prst="roundRect">
            <a:avLst>
              <a:gd name="adj" fmla="val 1758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400800" y="2212848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10263F"/>
          </a:solidFill>
          <a:ln/>
        </p:spPr>
      </p:sp>
      <p:sp>
        <p:nvSpPr>
          <p:cNvPr id="15" name="Text 12"/>
          <p:cNvSpPr/>
          <p:nvPr/>
        </p:nvSpPr>
        <p:spPr>
          <a:xfrm>
            <a:off x="6400800" y="221284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TERRAIN 2</a:t>
            </a:r>
            <a:endParaRPr lang="en-US" sz="11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212848"/>
            <a:ext cx="384048" cy="384048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400800" y="269748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IA co-brandé</a:t>
            </a:r>
            <a:endParaRPr lang="en-US" sz="1500" dirty="0"/>
          </a:p>
        </p:txBody>
      </p:sp>
      <p:sp>
        <p:nvSpPr>
          <p:cNvPr id="18" name="Text 14"/>
          <p:cNvSpPr/>
          <p:nvPr/>
        </p:nvSpPr>
        <p:spPr>
          <a:xfrm>
            <a:off x="6400800" y="333756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2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partenariat existant reste aujourd'hui essentiellement une visibilité de marque.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6400800" y="434340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2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module ou une certification IA co-construite, intégrée à l'offre de formation de Pigier CI.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6400800" y="5349240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clé  </a:t>
            </a:r>
            <a:pPr indent="0" marL="0">
              <a:buNone/>
            </a:pPr>
            <a:r>
              <a:rPr lang="en-US" sz="110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Nombre d'apprenants formés ; satisfaction pédagogique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Pigier CI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STANDARDISATION ET QUALITÉ DE SERVICE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usages qui renforcent le suivi pédagogique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Deux cas d'usage secondaires qui consolident le suivi des cohortes et des candidats.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5349240" cy="3657600"/>
          </a:xfrm>
          <a:prstGeom prst="roundRect">
            <a:avLst>
              <a:gd name="adj" fmla="val 2000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12848"/>
            <a:ext cx="384048" cy="3840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35024" y="2212848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Suivi de cohortes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880360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2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Résultats d'apprenants longs à interpréter par les responsables pédagogiques.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22960" y="3840480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2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Synthèses actionnables sur les acquis et difficultés par cohorte.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22960" y="480060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 </a:t>
            </a:r>
            <a:pPr indent="0" marL="0">
              <a:buNone/>
            </a:pPr>
            <a:r>
              <a:rPr lang="en-US" sz="110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Délai de synthèse ; actions correctives engagées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126480" y="1965960"/>
            <a:ext cx="5349240" cy="3657600"/>
          </a:xfrm>
          <a:prstGeom prst="roundRect">
            <a:avLst>
              <a:gd name="adj" fmla="val 2000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212848"/>
            <a:ext cx="384048" cy="38404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12864" y="2212848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Admissions et vie étudiante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6400800" y="2880360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2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Demandes candidats/étudiants traitées de façon hétérogène selon les canaux.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6400800" y="3840480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2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Assistant de réponse encadré, base homogène pour le suivi étudiant.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6400800" y="480060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 </a:t>
            </a:r>
            <a:pPr indent="0" marL="0">
              <a:buNone/>
            </a:pPr>
            <a:r>
              <a:rPr lang="en-US" sz="110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Temps de réponse ; taux de résolution 1er niveau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48640" y="5806440"/>
            <a:ext cx="11064240" cy="685800"/>
          </a:xfrm>
          <a:prstGeom prst="roundRect">
            <a:avLst>
              <a:gd name="adj" fmla="val 10667"/>
            </a:avLst>
          </a:prstGeom>
          <a:solidFill>
            <a:srgbClr val="10263F"/>
          </a:solidFill>
          <a:ln/>
        </p:spPr>
      </p:sp>
      <p:sp>
        <p:nvSpPr>
          <p:cNvPr id="18" name="Text 14"/>
          <p:cNvSpPr/>
          <p:nvPr/>
        </p:nvSpPr>
        <p:spPr>
          <a:xfrm>
            <a:off x="822960" y="580644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Ces usages consolident le terrain pédagogique une fois la conception de contenu et le partenariat lancés.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Pigier CI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FEUILLE DE ROUTE 90 JOURS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 cadrage à la mesure, avec validation à chaque palier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188720" y="3246120"/>
            <a:ext cx="9784080" cy="0"/>
          </a:xfrm>
          <a:prstGeom prst="line">
            <a:avLst/>
          </a:prstGeom>
          <a:noFill/>
          <a:ln w="25400">
            <a:solidFill>
              <a:srgbClr val="E3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80160" y="3044952"/>
            <a:ext cx="402336" cy="402336"/>
          </a:xfrm>
          <a:prstGeom prst="ellipse">
            <a:avLst/>
          </a:prstGeom>
          <a:solidFill>
            <a:srgbClr val="D66724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1965960"/>
            <a:ext cx="2423160" cy="1097280"/>
          </a:xfrm>
          <a:prstGeom prst="roundRect">
            <a:avLst>
              <a:gd name="adj" fmla="val 6667"/>
            </a:avLst>
          </a:prstGeom>
          <a:solidFill>
            <a:srgbClr val="10263F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96596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J+0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777240" y="3703320"/>
            <a:ext cx="2423160" cy="2331720"/>
          </a:xfrm>
          <a:prstGeom prst="roundRect">
            <a:avLst>
              <a:gd name="adj" fmla="val 3137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3913632"/>
            <a:ext cx="320040" cy="3200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" y="4315968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Audit, cadrage et priorisation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978408" y="498348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Identifier les flux prioritaires et les équipes à mobiliser.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977640" y="3044952"/>
            <a:ext cx="402336" cy="402336"/>
          </a:xfrm>
          <a:prstGeom prst="ellipse">
            <a:avLst/>
          </a:prstGeom>
          <a:solidFill>
            <a:srgbClr val="D66724"/>
          </a:solidFill>
          <a:ln/>
        </p:spPr>
      </p:sp>
      <p:sp>
        <p:nvSpPr>
          <p:cNvPr id="13" name="Shape 10"/>
          <p:cNvSpPr/>
          <p:nvPr/>
        </p:nvSpPr>
        <p:spPr>
          <a:xfrm>
            <a:off x="3474720" y="1965960"/>
            <a:ext cx="2423160" cy="1097280"/>
          </a:xfrm>
          <a:prstGeom prst="roundRect">
            <a:avLst>
              <a:gd name="adj" fmla="val 6667"/>
            </a:avLst>
          </a:prstGeom>
          <a:solidFill>
            <a:srgbClr val="10263F"/>
          </a:solidFill>
          <a:ln/>
        </p:spPr>
      </p:sp>
      <p:sp>
        <p:nvSpPr>
          <p:cNvPr id="14" name="Text 11"/>
          <p:cNvSpPr/>
          <p:nvPr/>
        </p:nvSpPr>
        <p:spPr>
          <a:xfrm>
            <a:off x="3474720" y="196596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J+15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3474720" y="3703320"/>
            <a:ext cx="2423160" cy="2331720"/>
          </a:xfrm>
          <a:prstGeom prst="roundRect">
            <a:avLst>
              <a:gd name="adj" fmla="val 3137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5888" y="3913632"/>
            <a:ext cx="320040" cy="32004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675888" y="4315968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Premier livrable utile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3675888" y="498348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Calibrer un premier module pédagogique augmenté ou une première maquette de module co-brandé.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6675120" y="3044952"/>
            <a:ext cx="402336" cy="402336"/>
          </a:xfrm>
          <a:prstGeom prst="ellipse">
            <a:avLst/>
          </a:prstGeom>
          <a:solidFill>
            <a:srgbClr val="D66724"/>
          </a:solidFill>
          <a:ln/>
        </p:spPr>
      </p:sp>
      <p:sp>
        <p:nvSpPr>
          <p:cNvPr id="20" name="Shape 16"/>
          <p:cNvSpPr/>
          <p:nvPr/>
        </p:nvSpPr>
        <p:spPr>
          <a:xfrm>
            <a:off x="6172200" y="1965960"/>
            <a:ext cx="2423160" cy="1097280"/>
          </a:xfrm>
          <a:prstGeom prst="roundRect">
            <a:avLst>
              <a:gd name="adj" fmla="val 6667"/>
            </a:avLst>
          </a:prstGeom>
          <a:solidFill>
            <a:srgbClr val="10263F"/>
          </a:solidFill>
          <a:ln/>
        </p:spPr>
      </p:sp>
      <p:sp>
        <p:nvSpPr>
          <p:cNvPr id="21" name="Text 17"/>
          <p:cNvSpPr/>
          <p:nvPr/>
        </p:nvSpPr>
        <p:spPr>
          <a:xfrm>
            <a:off x="6172200" y="196596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J+45</a:t>
            </a:r>
            <a:endParaRPr lang="en-US" sz="2200" dirty="0"/>
          </a:p>
        </p:txBody>
      </p:sp>
      <p:sp>
        <p:nvSpPr>
          <p:cNvPr id="22" name="Shape 18"/>
          <p:cNvSpPr/>
          <p:nvPr/>
        </p:nvSpPr>
        <p:spPr>
          <a:xfrm>
            <a:off x="6172200" y="3703320"/>
            <a:ext cx="2423160" cy="2331720"/>
          </a:xfrm>
          <a:prstGeom prst="roundRect">
            <a:avLst>
              <a:gd name="adj" fmla="val 3137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3913632"/>
            <a:ext cx="320040" cy="32004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6373368" y="4315968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Formation ciblée et pilote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6373368" y="498348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Former les équipes retenues et lancer le premier terrain d'exécution, sous supervision humaine.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9372600" y="3044952"/>
            <a:ext cx="402336" cy="402336"/>
          </a:xfrm>
          <a:prstGeom prst="ellipse">
            <a:avLst/>
          </a:prstGeom>
          <a:solidFill>
            <a:srgbClr val="D66724"/>
          </a:solidFill>
          <a:ln/>
        </p:spPr>
      </p:sp>
      <p:sp>
        <p:nvSpPr>
          <p:cNvPr id="27" name="Shape 22"/>
          <p:cNvSpPr/>
          <p:nvPr/>
        </p:nvSpPr>
        <p:spPr>
          <a:xfrm>
            <a:off x="8869680" y="1965960"/>
            <a:ext cx="2423160" cy="1097280"/>
          </a:xfrm>
          <a:prstGeom prst="roundRect">
            <a:avLst>
              <a:gd name="adj" fmla="val 6667"/>
            </a:avLst>
          </a:prstGeom>
          <a:solidFill>
            <a:srgbClr val="10263F"/>
          </a:solidFill>
          <a:ln/>
        </p:spPr>
      </p:sp>
      <p:sp>
        <p:nvSpPr>
          <p:cNvPr id="28" name="Text 23"/>
          <p:cNvSpPr/>
          <p:nvPr/>
        </p:nvSpPr>
        <p:spPr>
          <a:xfrm>
            <a:off x="8869680" y="196596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J+90</a:t>
            </a:r>
            <a:endParaRPr lang="en-US" sz="2200" dirty="0"/>
          </a:p>
        </p:txBody>
      </p:sp>
      <p:sp>
        <p:nvSpPr>
          <p:cNvPr id="29" name="Shape 24"/>
          <p:cNvSpPr/>
          <p:nvPr/>
        </p:nvSpPr>
        <p:spPr>
          <a:xfrm>
            <a:off x="8869680" y="3703320"/>
            <a:ext cx="2423160" cy="2331720"/>
          </a:xfrm>
          <a:prstGeom prst="roundRect">
            <a:avLst>
              <a:gd name="adj" fmla="val 3137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0848" y="3913632"/>
            <a:ext cx="320040" cy="32004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9070848" y="4315968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Mesure, gouvernance et extension</a:t>
            </a:r>
            <a:endParaRPr lang="en-US" sz="1250" dirty="0"/>
          </a:p>
        </p:txBody>
      </p:sp>
      <p:sp>
        <p:nvSpPr>
          <p:cNvPr id="32" name="Text 26"/>
          <p:cNvSpPr/>
          <p:nvPr/>
        </p:nvSpPr>
        <p:spPr>
          <a:xfrm>
            <a:off x="9070848" y="498348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Relire les premiers KPI, ajuster les usages, décider extension, recentrage ou montée en charge.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Différentiel TransferAI : une formation classique s'arrête au contenu. TransferAI accompagne la mise en pratique et la décision d'extension pendant 90 jours.</a:t>
            </a:r>
            <a:endParaRPr lang="en-US" sz="1050" dirty="0"/>
          </a:p>
        </p:txBody>
      </p:sp>
      <p:sp>
        <p:nvSpPr>
          <p:cNvPr id="34" name="Text 28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Pigier CI</a:t>
            </a:r>
            <a:endParaRPr lang="en-US" sz="900" dirty="0"/>
          </a:p>
        </p:txBody>
      </p:sp>
      <p:sp>
        <p:nvSpPr>
          <p:cNvPr id="35" name="Text 29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DISPOSITIF D'ACCOMPAGNEMENT RECOMMANDÉ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architecture en 4 briques, simple à activer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2514600" cy="41148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2121408"/>
            <a:ext cx="530352" cy="530352"/>
          </a:xfrm>
          <a:prstGeom prst="ellipse">
            <a:avLst/>
          </a:prstGeom>
          <a:solidFill>
            <a:srgbClr val="10263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2249424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68096" y="278892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métier ciblé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68096" y="333756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Qualifier les flux, documents et frictions les plus critiques pour Pigier Côte d'Ivoire.</a:t>
            </a:r>
            <a:endParaRPr lang="en-US" sz="105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4526280"/>
            <a:ext cx="201168" cy="20116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051560" y="44622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Cartographie des irritants</a:t>
            </a:r>
            <a:endParaRPr lang="en-US" sz="10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4983480"/>
            <a:ext cx="201168" cy="20116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051560" y="4919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Hypothèses de gains rapides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3291840" y="1920240"/>
            <a:ext cx="2514600" cy="41148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3511296" y="2121408"/>
            <a:ext cx="530352" cy="530352"/>
          </a:xfrm>
          <a:prstGeom prst="ellipse">
            <a:avLst/>
          </a:prstGeom>
          <a:solidFill>
            <a:srgbClr val="D66724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9312" y="2249424"/>
            <a:ext cx="274320" cy="27432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3511296" y="278892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Formation des décideurs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3511296" y="333756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Aligner la direction et les managers sur usages, limites et conditions de réussite.</a:t>
            </a:r>
            <a:endParaRPr lang="en-US" sz="105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11296" y="4526280"/>
            <a:ext cx="201168" cy="201168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794760" y="44622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Vision, gouvernance, arbitrages</a:t>
            </a:r>
            <a:endParaRPr lang="en-US" sz="1000" dirty="0"/>
          </a:p>
        </p:txBody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11296" y="4983480"/>
            <a:ext cx="201168" cy="201168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3794760" y="4919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des premiers KPI</a:t>
            </a:r>
            <a:endParaRPr lang="en-US" sz="1000" dirty="0"/>
          </a:p>
        </p:txBody>
      </p:sp>
      <p:sp>
        <p:nvSpPr>
          <p:cNvPr id="22" name="Shape 14"/>
          <p:cNvSpPr/>
          <p:nvPr/>
        </p:nvSpPr>
        <p:spPr>
          <a:xfrm>
            <a:off x="6035040" y="1920240"/>
            <a:ext cx="2514600" cy="41148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23" name="Shape 15"/>
          <p:cNvSpPr/>
          <p:nvPr/>
        </p:nvSpPr>
        <p:spPr>
          <a:xfrm>
            <a:off x="6254496" y="2121408"/>
            <a:ext cx="530352" cy="530352"/>
          </a:xfrm>
          <a:prstGeom prst="ellipse">
            <a:avLst/>
          </a:prstGeom>
          <a:solidFill>
            <a:srgbClr val="2F6F6A"/>
          </a:solidFill>
          <a:ln/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82512" y="2249424"/>
            <a:ext cx="274320" cy="274320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6254496" y="278892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Formation des équipes</a:t>
            </a:r>
            <a:endParaRPr lang="en-US" sz="1300" dirty="0"/>
          </a:p>
        </p:txBody>
      </p:sp>
      <p:sp>
        <p:nvSpPr>
          <p:cNvPr id="26" name="Text 17"/>
          <p:cNvSpPr/>
          <p:nvPr/>
        </p:nvSpPr>
        <p:spPr>
          <a:xfrm>
            <a:off x="6254496" y="333756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Mettre les bonnes méthodes et assistants dans les mains des équipes pédagogiques et administratives.</a:t>
            </a:r>
            <a:endParaRPr lang="en-US" sz="1050" dirty="0"/>
          </a:p>
        </p:txBody>
      </p:sp>
      <p:pic>
        <p:nvPicPr>
          <p:cNvPr id="2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54496" y="4526280"/>
            <a:ext cx="201168" cy="201168"/>
          </a:xfrm>
          <a:prstGeom prst="rect">
            <a:avLst/>
          </a:prstGeom>
        </p:spPr>
      </p:pic>
      <p:sp>
        <p:nvSpPr>
          <p:cNvPr id="28" name="Text 18"/>
          <p:cNvSpPr/>
          <p:nvPr/>
        </p:nvSpPr>
        <p:spPr>
          <a:xfrm>
            <a:off x="6537960" y="44622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Gestes métier augmentés</a:t>
            </a:r>
            <a:endParaRPr lang="en-US" sz="1000" dirty="0"/>
          </a:p>
        </p:txBody>
      </p:sp>
      <p:pic>
        <p:nvPicPr>
          <p:cNvPr id="29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54496" y="4983480"/>
            <a:ext cx="201168" cy="201168"/>
          </a:xfrm>
          <a:prstGeom prst="rect">
            <a:avLst/>
          </a:prstGeom>
        </p:spPr>
      </p:pic>
      <p:sp>
        <p:nvSpPr>
          <p:cNvPr id="30" name="Text 19"/>
          <p:cNvSpPr/>
          <p:nvPr/>
        </p:nvSpPr>
        <p:spPr>
          <a:xfrm>
            <a:off x="6537960" y="4919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Standardisation utile</a:t>
            </a:r>
            <a:endParaRPr lang="en-US" sz="1000" dirty="0"/>
          </a:p>
        </p:txBody>
      </p:sp>
      <p:sp>
        <p:nvSpPr>
          <p:cNvPr id="31" name="Shape 20"/>
          <p:cNvSpPr/>
          <p:nvPr/>
        </p:nvSpPr>
        <p:spPr>
          <a:xfrm>
            <a:off x="8778240" y="1920240"/>
            <a:ext cx="2514600" cy="41148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32" name="Shape 21"/>
          <p:cNvSpPr/>
          <p:nvPr/>
        </p:nvSpPr>
        <p:spPr>
          <a:xfrm>
            <a:off x="8997696" y="2121408"/>
            <a:ext cx="530352" cy="530352"/>
          </a:xfrm>
          <a:prstGeom prst="ellipse">
            <a:avLst/>
          </a:prstGeom>
          <a:solidFill>
            <a:srgbClr val="6E7D8C"/>
          </a:solidFill>
          <a:ln/>
        </p:spPr>
      </p:sp>
      <p:pic>
        <p:nvPicPr>
          <p:cNvPr id="3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25712" y="2249424"/>
            <a:ext cx="274320" cy="274320"/>
          </a:xfrm>
          <a:prstGeom prst="rect">
            <a:avLst/>
          </a:prstGeom>
        </p:spPr>
      </p:pic>
      <p:sp>
        <p:nvSpPr>
          <p:cNvPr id="34" name="Text 22"/>
          <p:cNvSpPr/>
          <p:nvPr/>
        </p:nvSpPr>
        <p:spPr>
          <a:xfrm>
            <a:off x="8997696" y="278892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Pilote &amp; accompagnement</a:t>
            </a:r>
            <a:endParaRPr lang="en-US" sz="1300" dirty="0"/>
          </a:p>
        </p:txBody>
      </p:sp>
      <p:sp>
        <p:nvSpPr>
          <p:cNvPr id="35" name="Text 23"/>
          <p:cNvSpPr/>
          <p:nvPr/>
        </p:nvSpPr>
        <p:spPr>
          <a:xfrm>
            <a:off x="8997696" y="333756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Passer d'une intention IA à un premier terrain visible, mesurable et gouverné.</a:t>
            </a:r>
            <a:endParaRPr lang="en-US" sz="1050" dirty="0"/>
          </a:p>
        </p:txBody>
      </p:sp>
      <p:pic>
        <p:nvPicPr>
          <p:cNvPr id="3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997696" y="4526280"/>
            <a:ext cx="201168" cy="201168"/>
          </a:xfrm>
          <a:prstGeom prst="rect">
            <a:avLst/>
          </a:prstGeom>
        </p:spPr>
      </p:pic>
      <p:sp>
        <p:nvSpPr>
          <p:cNvPr id="37" name="Text 24"/>
          <p:cNvSpPr/>
          <p:nvPr/>
        </p:nvSpPr>
        <p:spPr>
          <a:xfrm>
            <a:off x="9281160" y="44622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Pilotage sur 90 jours</a:t>
            </a:r>
            <a:endParaRPr lang="en-US" sz="1000" dirty="0"/>
          </a:p>
        </p:txBody>
      </p:sp>
      <p:pic>
        <p:nvPicPr>
          <p:cNvPr id="38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97696" y="4983480"/>
            <a:ext cx="201168" cy="201168"/>
          </a:xfrm>
          <a:prstGeom prst="rect">
            <a:avLst/>
          </a:prstGeom>
        </p:spPr>
      </p:pic>
      <p:sp>
        <p:nvSpPr>
          <p:cNvPr id="39" name="Text 25"/>
          <p:cNvSpPr/>
          <p:nvPr/>
        </p:nvSpPr>
        <p:spPr>
          <a:xfrm>
            <a:off x="9281160" y="4919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Décision d'extension</a:t>
            </a:r>
            <a:endParaRPr lang="en-US" sz="1000" dirty="0"/>
          </a:p>
        </p:txBody>
      </p:sp>
      <p:sp>
        <p:nvSpPr>
          <p:cNvPr id="40" name="Text 26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Pigier CI</a:t>
            </a:r>
            <a:endParaRPr lang="en-US" sz="900" dirty="0"/>
          </a:p>
        </p:txBody>
      </p:sp>
      <p:sp>
        <p:nvSpPr>
          <p:cNvPr id="41" name="Text 27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26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3657600"/>
            <a:ext cx="5486400" cy="5486400"/>
          </a:xfrm>
          <a:prstGeom prst="ellipse">
            <a:avLst/>
          </a:prstGeom>
          <a:solidFill>
            <a:srgbClr val="16324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486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CONFIANCE ET PROCHAINE ÉTAPE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Proposer un pilote utile, gouverné et mesurable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CFE0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rendez-vous confirme les deux premiers terrains, les équipes à former et la sortie attendue à 90 jours.</a:t>
            </a:r>
            <a:endParaRPr lang="en-US" sz="135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606040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2542032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Usages gouvernés, progressifs, validés par des responsables métier identifiés.</a:t>
            </a:r>
            <a:endParaRPr lang="en-US" sz="12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172968"/>
            <a:ext cx="256032" cy="2560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60120" y="3108960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Programmes et données étudiantes sous supervision humaine.</a:t>
            </a:r>
            <a:endParaRPr lang="en-US" sz="12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739896"/>
            <a:ext cx="256032" cy="25603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60120" y="3675888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accompagne aussi la mise en pratique et les premiers KPI, au-delà de la formation.</a:t>
            </a:r>
            <a:endParaRPr lang="en-US" sz="12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306824"/>
            <a:ext cx="256032" cy="25603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960120" y="4242816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Progression par pilote avant toute extension à d'autres périmètres.</a:t>
            </a:r>
            <a:endParaRPr lang="en-US" sz="1200" dirty="0"/>
          </a:p>
        </p:txBody>
      </p:sp>
      <p:sp>
        <p:nvSpPr>
          <p:cNvPr id="14" name="Shape 8"/>
          <p:cNvSpPr/>
          <p:nvPr/>
        </p:nvSpPr>
        <p:spPr>
          <a:xfrm>
            <a:off x="8229600" y="2606040"/>
            <a:ext cx="3383280" cy="3566160"/>
          </a:xfrm>
          <a:prstGeom prst="roundRect">
            <a:avLst>
              <a:gd name="adj" fmla="val 2703"/>
            </a:avLst>
          </a:prstGeom>
          <a:solidFill>
            <a:srgbClr val="16324F"/>
          </a:solidFill>
          <a:ln/>
        </p:spPr>
      </p:sp>
      <p:sp>
        <p:nvSpPr>
          <p:cNvPr id="15" name="Text 9"/>
          <p:cNvSpPr/>
          <p:nvPr/>
        </p:nvSpPr>
        <p:spPr>
          <a:xfrm>
            <a:off x="8503920" y="27889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SORTIE ATTENDUE DU RENDEZ-VOUS</a:t>
            </a:r>
            <a:endParaRPr lang="en-US" sz="105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3246120"/>
            <a:ext cx="219456" cy="219456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8833104" y="3200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Clarifier le terrain interne prioritaire</a:t>
            </a:r>
            <a:endParaRPr lang="en-US" sz="1050" dirty="0"/>
          </a:p>
        </p:txBody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3920" y="3813048"/>
            <a:ext cx="219456" cy="219456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8833104" y="376732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Explorer la piste de module co-brandé</a:t>
            </a:r>
            <a:endParaRPr lang="en-US" sz="1050" dirty="0"/>
          </a:p>
        </p:txBody>
      </p:sp>
      <p:pic>
        <p:nvPicPr>
          <p:cNvPr id="2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3920" y="4379976"/>
            <a:ext cx="219456" cy="219456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8833104" y="4334256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Identifier les KPI pédagogiques prioritaires</a:t>
            </a:r>
            <a:endParaRPr lang="en-US" sz="1050" dirty="0"/>
          </a:p>
        </p:txBody>
      </p:sp>
      <p:pic>
        <p:nvPicPr>
          <p:cNvPr id="2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03920" y="4946904"/>
            <a:ext cx="219456" cy="219456"/>
          </a:xfrm>
          <a:prstGeom prst="rect">
            <a:avLst/>
          </a:prstGeom>
        </p:spPr>
      </p:pic>
      <p:sp>
        <p:nvSpPr>
          <p:cNvPr id="23" name="Text 13"/>
          <p:cNvSpPr/>
          <p:nvPr/>
        </p:nvSpPr>
        <p:spPr>
          <a:xfrm>
            <a:off x="8833104" y="4901184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Décider de l'ordre audit / pilote / partenariat</a:t>
            </a:r>
            <a:endParaRPr lang="en-US" sz="1050" dirty="0"/>
          </a:p>
        </p:txBody>
      </p:sp>
      <p:sp>
        <p:nvSpPr>
          <p:cNvPr id="24" name="Shape 14"/>
          <p:cNvSpPr/>
          <p:nvPr/>
        </p:nvSpPr>
        <p:spPr>
          <a:xfrm>
            <a:off x="8503920" y="5532120"/>
            <a:ext cx="2834640" cy="502920"/>
          </a:xfrm>
          <a:prstGeom prst="roundRect">
            <a:avLst>
              <a:gd name="adj" fmla="val 49091"/>
            </a:avLst>
          </a:prstGeom>
          <a:solidFill>
            <a:srgbClr val="D66724"/>
          </a:solidFill>
          <a:ln/>
        </p:spPr>
      </p:sp>
      <p:sp>
        <p:nvSpPr>
          <p:cNvPr id="25" name="Text 15"/>
          <p:cNvSpPr/>
          <p:nvPr/>
        </p:nvSpPr>
        <p:spPr>
          <a:xfrm>
            <a:off x="8503920" y="553212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gratuit + 45 min</a:t>
            </a:r>
            <a:endParaRPr lang="en-US" sz="1200" dirty="0"/>
          </a:p>
        </p:txBody>
      </p:sp>
      <p:sp>
        <p:nvSpPr>
          <p:cNvPr id="26" name="Text 16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contact@transferai.ci   ·   www.transferai.ci   ·   +225 07 16 57 39 90</a:t>
            </a:r>
            <a:endParaRPr lang="en-US" sz="1050" dirty="0"/>
          </a:p>
        </p:txBody>
      </p:sp>
      <p:sp>
        <p:nvSpPr>
          <p:cNvPr id="27" name="Text 17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Pigier CI</a:t>
            </a:r>
            <a:endParaRPr lang="en-US" sz="900" dirty="0"/>
          </a:p>
        </p:txBody>
      </p:sp>
      <p:sp>
        <p:nvSpPr>
          <p:cNvPr id="28" name="Text 18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TransferAI x Pigier CI</dc:title>
  <dc:subject>PptxGenJS Presentation</dc:subject>
  <dc:creator>TransferAI Africa</dc:creator>
  <cp:lastModifiedBy>TransferAI Africa</cp:lastModifiedBy>
  <cp:revision>1</cp:revision>
  <dcterms:created xsi:type="dcterms:W3CDTF">2026-07-07T20:31:57Z</dcterms:created>
  <dcterms:modified xsi:type="dcterms:W3CDTF">2026-07-07T20:31:57Z</dcterms:modified>
</cp:coreProperties>
</file>