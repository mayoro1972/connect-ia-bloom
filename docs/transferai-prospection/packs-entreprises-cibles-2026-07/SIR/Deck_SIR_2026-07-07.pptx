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840480"/>
            <a:ext cx="3108960" cy="3108960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PROPOSITION CIBLÉE — SIR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Faire de l'IA un levier de performance et de continuité opérationnelle pour la SIR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Générale, Direction des Systèmes d'Information et opérations — TransferAI Africa, hub IA de Nettelecom CI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4224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formations activables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1460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514600" y="4224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usages prioritaires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J+90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480560" y="4224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pilotage d'extension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FCFA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46520" y="4224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d'entrée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6309360" cy="566928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212080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88720" y="507492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Entrée recommandée : audit IA gratuit + échange expert de 45 minutes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5943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indicateurs ci-dessus sont des repères de référence, formulés comme hypothèses à confirmer pendant l'audit — pas des engagements de résultat.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SIR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EST TRANSFERAI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TransferAI, hub IA opérationnel de Nettelecom CI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interlocuteur structuré, pas un simple catalogue de formations.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3317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47802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063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experts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04672" y="36576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Basés en Côte d'Ivoire, au Royaume-Uni, aux États-Unis et en Inde.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20574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47872" y="23317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247802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7872" y="3063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Cadre d'exécution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547872" y="36576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Audit, cadrage, formation, gouvernance et premier pilote métier reliés.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20574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91072" y="23317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47802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91072" y="3063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Expérience industrielle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291072" y="36576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 déjà pensée pour les environnements énergie, opérations et systèmes sensibles.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778240" y="20574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034272" y="23317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0576" y="2478024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34272" y="3063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Accompagnement 90 jours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034272" y="36576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L'engagement continue après la formation, pas seulement pendant.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0263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48640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525780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structure de formation classique transmet un contenu. TransferAI forme, puis accompagne l'usage réel, les ajustements et les décisions d'extension.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SIR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PRIORITÉS MÉTIER DE LA SIR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cette proposition est adaptée au contexte de la SIR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Partir des flux qui pèsent déjà sur la Direction Générale, la DSI et les opérations.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1488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IT &amp; Helpdesk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68096" y="3127248"/>
            <a:ext cx="2057400" cy="292608"/>
          </a:xfrm>
          <a:prstGeom prst="roundRect">
            <a:avLst>
              <a:gd name="adj" fmla="val 50000"/>
            </a:avLst>
          </a:prstGeom>
          <a:solidFill>
            <a:srgbClr val="D66724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312724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Déjà modélisé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68096" y="3529584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à 70 % des tickets Direction Informatique sont répétitifs et non automatisés.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68096" y="4764024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IT de niveau 1 disponible en continu, avec escalade intelligente vers le bon technicien.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19202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21488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11296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et anomalies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11296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Incidents et signaux faibles pas toujours visibles à temps.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511296" y="4434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Historiques et alertes mieux exploités avant arbitrage humain.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35040" y="19202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14884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54496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HSE et conformité documentaire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254496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Vitesse d'exécution, qualité documentaire et exigences de sécurité à concilier.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254496" y="4434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Traçabilité, standardisation et discipline documentaire renforcées.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778240" y="19202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696" y="214884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997696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Pilotage des comptes et opérations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8997696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Responsables assemblent eux-mêmes les éléments utiles au suivi.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8997696" y="4434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Synthèses et alertes plus rapides et lisibles pour la direction.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SIR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ATTENDUS ET INDICATEURS DE PREUVE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ROI n'a de valeur que relié à des KPI lisibles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Repères prudents à confirmer pendant l'audit — pas des chiffres abstraits.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Traitement plus rapide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tickets IT de niveau 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hypothèse à confirmer pendant l'audit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93008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Réactivité accrue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93008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anomalies et maintenance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93008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signaux mieux consolidés avant arbitrage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36208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technique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36208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produite plus vite, mieux diffusée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36208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procédures, runbooks, base de connaissance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778240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79408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 plus rapide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979408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la direction et l'exploitation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979408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synthèses, alertes, portefeuille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7365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rendre ce ROI crédible dès le premier rendez-vous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5120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Partir d'un flux concret et visible. 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Nommer le ou les KPI déjà lus par la direction. 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Limiter le premier pilote à un terrain mesurable. 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Revoir les résultats avec les responsables métier avant extension.   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SIR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D'USAGE PRIORITAIRES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usages à mettre au centre de la proposition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FCEFE3"/>
          </a:solidFill>
          <a:ln w="19050">
            <a:solidFill>
              <a:srgbClr val="D66724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Helpdesk IT augmenté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68096" y="2944368"/>
            <a:ext cx="2057400" cy="274320"/>
          </a:xfrm>
          <a:prstGeom prst="roundRect">
            <a:avLst>
              <a:gd name="adj" fmla="val 50000"/>
            </a:avLst>
          </a:prstGeom>
          <a:solidFill>
            <a:srgbClr val="D66724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29443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d'usage phare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68096" y="336499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 répétitifs saturant le support de niveau 1.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8096" y="437083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IT résout les cas courants, escalade intelligente vers le bon technicien.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8096" y="537667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9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de résolution ; tickets automatisés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91840" y="160020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18288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11296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DSI automatisé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11296" y="30632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manuelle des tableaux SLA, incidents et disponibilité.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511296" y="40690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temps réel et rapport hebdomadaire générés automatiquement.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511296" y="5074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9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de production ; délai de diffusion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035040" y="160020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8288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54496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et anomalies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54496" y="30632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Historiques et alertes longs à relire avant décision.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254496" y="40690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d'attention mieux structurés pour accélérer la réaction humaine.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254496" y="5074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9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Délai de détection ; anomalies traitées tôt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8778240" y="160020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696" y="182880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997696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Pilotage des comptes et opérations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997696" y="30632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Éléments utiles assemblés manuellement par les responsables.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8997696" y="40690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Synthèses et alertes consolidées pour la direction et l'exploitation.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8997696" y="5074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9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Délai de consolidation ; lisibilité managériale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SIR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DÉTAIL DES DEUX PREMIERS TERRAINS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deux premiers terrains à lancer rapidement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Rendre la première valeur visible pour la Direction Générale et la DSI.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1284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10263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128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TERRAIN 1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21284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6974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Helpdesk IT augmenté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33375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2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de niveau 1 saturé par des demandes répétitives, traitées au même rythme que les cas complexes.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43434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2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IT disponible en continu, résolution automatique des cas courants et escalade intelligente vers le bon technicien.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534924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clé  </a:t>
            </a:r>
            <a:pPr indent="0" marL="0">
              <a:buNone/>
            </a:pPr>
            <a:r>
              <a:rPr lang="en-US" sz="110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de résolution niveau 1 ; taux d'automatisation des tickets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26480" y="196596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0" y="221284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10263F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0" y="22128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TERRAIN 2</a:t>
            </a:r>
            <a:endParaRPr lang="en-US" sz="1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12848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00800" y="26974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DSI automatisé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400800" y="33375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2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Tableaux de bord SLA et rapports d'incidents préparés manuellement chaque semaine.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400800" y="43434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2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temps réel et rapport hebdomadaire générés et diffusés automatiquement à la direction.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400800" y="534924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clé  </a:t>
            </a:r>
            <a:pPr indent="0" marL="0">
              <a:buNone/>
            </a:pPr>
            <a:r>
              <a:rPr lang="en-US" sz="110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de production du rapport ; délai de diffusion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SIR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STANDARDISATION ET QUALITÉ DE SERVICE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usages qui renforcent la qualité de service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cas d'usage secondaires qui consolident la maîtrise technique et documentaire.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1284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35024" y="221284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technique augmentée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8803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2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Procédures et runbooks pas toujours à jour ni centralisés, savoir-faire fragile lors des départs.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38404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2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Génération assistée de procédures depuis les tickets et le code existant, recherche sémantique dans la base documentaire.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48006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110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Couverture documentaire ; délai de mise à jour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196596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1284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12864" y="221284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prédictive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00800" y="28803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2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Alertes de sécurité traitées après incident, corrélation manuelle des journaux systèmes.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400800" y="38404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2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d'anomalies avant l'incident, corrélation automatique des journaux, conformité facilitée.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400800" y="48006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110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Délai de détection ; incidents anticipés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0263F"/>
          </a:solidFill>
          <a:ln/>
        </p:spPr>
      </p:sp>
      <p:sp>
        <p:nvSpPr>
          <p:cNvPr id="18" name="Text 14"/>
          <p:cNvSpPr/>
          <p:nvPr/>
        </p:nvSpPr>
        <p:spPr>
          <a:xfrm>
            <a:off x="822960" y="58064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 usages gagnent en pertinence une fois le Helpdesk et le Reporting DSI stabilisés — ils ne sont pas la première priorité.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SIR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FEUILLE DE ROUTE 90 JOURS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cadrage à la mesure, avec validation à chaque palier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88720" y="3246120"/>
            <a:ext cx="9784080" cy="0"/>
          </a:xfrm>
          <a:prstGeom prst="line">
            <a:avLst/>
          </a:prstGeom>
          <a:noFill/>
          <a:ln w="25400">
            <a:solidFill>
              <a:srgbClr val="E3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3044952"/>
            <a:ext cx="402336" cy="402336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659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10263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3703320"/>
            <a:ext cx="242316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3913632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Audit, cadrage et priorisation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78408" y="4983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les flux prioritaires (support IT, reporting, maintenance) et les équipes à mobiliser.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977640" y="3044952"/>
            <a:ext cx="402336" cy="402336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13" name="Shape 10"/>
          <p:cNvSpPr/>
          <p:nvPr/>
        </p:nvSpPr>
        <p:spPr>
          <a:xfrm>
            <a:off x="3474720" y="19659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10263F"/>
          </a:solidFill>
          <a:ln/>
        </p:spPr>
      </p:sp>
      <p:sp>
        <p:nvSpPr>
          <p:cNvPr id="14" name="Text 11"/>
          <p:cNvSpPr/>
          <p:nvPr/>
        </p:nvSpPr>
        <p:spPr>
          <a:xfrm>
            <a:off x="347472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J+15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3474720" y="3703320"/>
            <a:ext cx="242316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3913632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75888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 livrable utile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3675888" y="4983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Calibrer un premier assistant Helpdesk ou un kit de reporting sur les tickets et données réelles de la SIR.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675120" y="3044952"/>
            <a:ext cx="402336" cy="402336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20" name="Shape 16"/>
          <p:cNvSpPr/>
          <p:nvPr/>
        </p:nvSpPr>
        <p:spPr>
          <a:xfrm>
            <a:off x="6172200" y="19659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10263F"/>
          </a:solidFill>
          <a:ln/>
        </p:spPr>
      </p:sp>
      <p:sp>
        <p:nvSpPr>
          <p:cNvPr id="21" name="Text 17"/>
          <p:cNvSpPr/>
          <p:nvPr/>
        </p:nvSpPr>
        <p:spPr>
          <a:xfrm>
            <a:off x="617220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J+45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6172200" y="3703320"/>
            <a:ext cx="242316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3913632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73368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ciblée et pilote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6373368" y="4983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 les équipes retenues et lancer le premier terrain d'exécution, sous supervision humaine.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9372600" y="3044952"/>
            <a:ext cx="402336" cy="402336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27" name="Shape 22"/>
          <p:cNvSpPr/>
          <p:nvPr/>
        </p:nvSpPr>
        <p:spPr>
          <a:xfrm>
            <a:off x="8869680" y="19659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10263F"/>
          </a:solidFill>
          <a:ln/>
        </p:spPr>
      </p:sp>
      <p:sp>
        <p:nvSpPr>
          <p:cNvPr id="28" name="Text 23"/>
          <p:cNvSpPr/>
          <p:nvPr/>
        </p:nvSpPr>
        <p:spPr>
          <a:xfrm>
            <a:off x="886968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J+90</a:t>
            </a:r>
            <a:endParaRPr lang="en-US" sz="2200" dirty="0"/>
          </a:p>
        </p:txBody>
      </p:sp>
      <p:sp>
        <p:nvSpPr>
          <p:cNvPr id="29" name="Shape 24"/>
          <p:cNvSpPr/>
          <p:nvPr/>
        </p:nvSpPr>
        <p:spPr>
          <a:xfrm>
            <a:off x="8869680" y="3703320"/>
            <a:ext cx="242316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848" y="3913632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070848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Mesure, gouvernance et extension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9070848" y="4983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Relire les premiers KPI, ajuster les usages, décider extension, recentrage ou montée en charge.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Différentiel TransferAI : une formation classique s'arrête au contenu. TransferAI accompagne la mise en pratique et la décision d'extension pendant 90 jours.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SIR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OFFRE RECOMMANDÉE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proposition TransferAI pour la SIR, en 4 briques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2121408"/>
            <a:ext cx="530352" cy="530352"/>
          </a:xfrm>
          <a:prstGeom prst="ellipse">
            <a:avLst/>
          </a:prstGeom>
          <a:solidFill>
            <a:srgbClr val="1026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24942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métier ciblé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8096" y="3337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Qualifier les flux IT, opérationnels et documentaires les plus critiques pour la SIR.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452628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Cartographie des irritants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98348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4919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Hypothèses de gains rapides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329184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3511296" y="2121408"/>
            <a:ext cx="530352" cy="530352"/>
          </a:xfrm>
          <a:prstGeom prst="ellipse">
            <a:avLst/>
          </a:prstGeom>
          <a:solidFill>
            <a:srgbClr val="D66724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2249424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511296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des décideurs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3511296" y="3337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Aligner la Direction Générale et la DSI sur usages, limites et conditions de réussite.</a:t>
            </a:r>
            <a:endParaRPr lang="en-US" sz="10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296" y="4526280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79476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Vision, gouvernance, arbitrages</a:t>
            </a:r>
            <a:endParaRPr lang="en-US" sz="10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1296" y="4983480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794760" y="4919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des premiers KPI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603504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6254496" y="2121408"/>
            <a:ext cx="530352" cy="530352"/>
          </a:xfrm>
          <a:prstGeom prst="ellipse">
            <a:avLst/>
          </a:prstGeom>
          <a:solidFill>
            <a:srgbClr val="2F6F6A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2249424"/>
            <a:ext cx="274320" cy="27432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254496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des équipes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6254496" y="3337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Mettre les bonnes méthodes et assistants dans les mains des équipes IT et opérationnelles.</a:t>
            </a:r>
            <a:endParaRPr lang="en-US" sz="10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4496" y="4526280"/>
            <a:ext cx="201168" cy="20116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53796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Gestes métier augmentés</a:t>
            </a:r>
            <a:endParaRPr lang="en-US" sz="10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4496" y="4983480"/>
            <a:ext cx="201168" cy="20116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537960" y="4919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Standardisation utile</a:t>
            </a:r>
            <a:endParaRPr lang="en-US" sz="1000" dirty="0"/>
          </a:p>
        </p:txBody>
      </p:sp>
      <p:sp>
        <p:nvSpPr>
          <p:cNvPr id="31" name="Shape 20"/>
          <p:cNvSpPr/>
          <p:nvPr/>
        </p:nvSpPr>
        <p:spPr>
          <a:xfrm>
            <a:off x="877824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32" name="Shape 21"/>
          <p:cNvSpPr/>
          <p:nvPr/>
        </p:nvSpPr>
        <p:spPr>
          <a:xfrm>
            <a:off x="8997696" y="2121408"/>
            <a:ext cx="530352" cy="530352"/>
          </a:xfrm>
          <a:prstGeom prst="ellipse">
            <a:avLst/>
          </a:prstGeom>
          <a:solidFill>
            <a:srgbClr val="6E7D8C"/>
          </a:solidFill>
          <a:ln/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5712" y="2249424"/>
            <a:ext cx="274320" cy="27432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8997696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Pilote &amp; accompagnement</a:t>
            </a:r>
            <a:endParaRPr lang="en-US" sz="1300" dirty="0"/>
          </a:p>
        </p:txBody>
      </p:sp>
      <p:sp>
        <p:nvSpPr>
          <p:cNvPr id="35" name="Text 23"/>
          <p:cNvSpPr/>
          <p:nvPr/>
        </p:nvSpPr>
        <p:spPr>
          <a:xfrm>
            <a:off x="8997696" y="3337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Passer d'une intention IA à un premier terrain visible, mesurable et gouverné.</a:t>
            </a:r>
            <a:endParaRPr lang="en-US" sz="105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97696" y="4526280"/>
            <a:ext cx="201168" cy="201168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928116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Pilotage sur 90 jours</a:t>
            </a:r>
            <a:endParaRPr lang="en-US" sz="100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97696" y="4983480"/>
            <a:ext cx="201168" cy="201168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9281160" y="4919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 d'extension</a:t>
            </a:r>
            <a:endParaRPr lang="en-US" sz="1000" dirty="0"/>
          </a:p>
        </p:txBody>
      </p:sp>
      <p:sp>
        <p:nvSpPr>
          <p:cNvPr id="40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SIR</a:t>
            </a:r>
            <a:endParaRPr lang="en-US" sz="900" dirty="0"/>
          </a:p>
        </p:txBody>
      </p:sp>
      <p:sp>
        <p:nvSpPr>
          <p:cNvPr id="41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CONFIANCE ET PROCHAINE ÉTAPE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Proposer un pilote utile, gouverné et mesurable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rendez-vous confirme les deux premiers terrains, les équipes à former et la sortie attendue à 90 jours.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0604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54203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Usages gouvernés, progressifs, validés par des responsables identifiés (DSI, opérations).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72968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310896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techniques et opérationnelles sous supervision humaine.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39896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367588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accompagne aussi la mise en pratique et les premiers KPI, au-delà de la formation.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06824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120" y="4242816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Progression par pilote avant toute extension à d'autres périmètres.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8229600" y="2606040"/>
            <a:ext cx="3383280" cy="3566160"/>
          </a:xfrm>
          <a:prstGeom prst="roundRect">
            <a:avLst>
              <a:gd name="adj" fmla="val 2703"/>
            </a:avLst>
          </a:prstGeom>
          <a:solidFill>
            <a:srgbClr val="16324F"/>
          </a:solidFill>
          <a:ln/>
        </p:spPr>
      </p:sp>
      <p:sp>
        <p:nvSpPr>
          <p:cNvPr id="15" name="Text 9"/>
          <p:cNvSpPr/>
          <p:nvPr/>
        </p:nvSpPr>
        <p:spPr>
          <a:xfrm>
            <a:off x="8503920" y="2788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SORTIE ATTENDUE DU RENDEZ-VOUS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3246120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833104" y="3200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Confirmer les 2 premiers cas d'usage (Helpdesk, Reporting)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3813048"/>
            <a:ext cx="219456" cy="21945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833104" y="37673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Valider les équipes IT et opérationnelles à former</a:t>
            </a:r>
            <a:endParaRPr lang="en-US" sz="10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0" y="4379976"/>
            <a:ext cx="219456" cy="219456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8833104" y="433425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les KPI prioritaires</a:t>
            </a:r>
            <a:endParaRPr lang="en-US" sz="10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4946904"/>
            <a:ext cx="219456" cy="219456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8833104" y="490118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Décider de l'ordre audit / formation / pilote</a:t>
            </a:r>
            <a:endParaRPr lang="en-US" sz="1050" dirty="0"/>
          </a:p>
        </p:txBody>
      </p:sp>
      <p:sp>
        <p:nvSpPr>
          <p:cNvPr id="24" name="Shape 14"/>
          <p:cNvSpPr/>
          <p:nvPr/>
        </p:nvSpPr>
        <p:spPr>
          <a:xfrm>
            <a:off x="8503920" y="5532120"/>
            <a:ext cx="2834640" cy="502920"/>
          </a:xfrm>
          <a:prstGeom prst="roundRect">
            <a:avLst>
              <a:gd name="adj" fmla="val 49091"/>
            </a:avLst>
          </a:prstGeom>
          <a:solidFill>
            <a:srgbClr val="D66724"/>
          </a:solidFill>
          <a:ln/>
        </p:spPr>
      </p:sp>
      <p:sp>
        <p:nvSpPr>
          <p:cNvPr id="25" name="Text 15"/>
          <p:cNvSpPr/>
          <p:nvPr/>
        </p:nvSpPr>
        <p:spPr>
          <a:xfrm>
            <a:off x="8503920" y="55321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gratuit + 45 min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54864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contact@transferai.ci   ·   www.transferai.ci   ·   +225 07 16 57 39 90</a:t>
            </a:r>
            <a:endParaRPr lang="en-US" sz="1050" dirty="0"/>
          </a:p>
        </p:txBody>
      </p:sp>
      <p:sp>
        <p:nvSpPr>
          <p:cNvPr id="27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SIR</a:t>
            </a:r>
            <a:endParaRPr lang="en-US" sz="900" dirty="0"/>
          </a:p>
        </p:txBody>
      </p:sp>
      <p:sp>
        <p:nvSpPr>
          <p:cNvPr id="28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TransferAI x SIR</dc:title>
  <dc:subject>PptxGenJS Presentation</dc:subject>
  <dc:creator>TransferAI Africa</dc:creator>
  <cp:lastModifiedBy>TransferAI Africa</cp:lastModifiedBy>
  <cp:revision>1</cp:revision>
  <dcterms:created xsi:type="dcterms:W3CDTF">2026-07-08T00:21:04Z</dcterms:created>
  <dcterms:modified xsi:type="dcterms:W3CDTF">2026-07-08T00:21:04Z</dcterms:modified>
</cp:coreProperties>
</file>