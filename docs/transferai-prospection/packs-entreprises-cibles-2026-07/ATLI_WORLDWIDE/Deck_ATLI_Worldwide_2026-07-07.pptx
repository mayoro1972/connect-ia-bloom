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840480"/>
            <a:ext cx="3108960" cy="3108960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CIBLÉE — ATLI WORLDWIDE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de l'IA un levier de fluidité documentaire et de coordination pour ATLI Worldwide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 Trans-Logistics International — TransferAI Africa, hub IA de Nettelecom CI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formations activables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51460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prioritaires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056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8056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d'extension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FCFA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4652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d'entrée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6309360" cy="56692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88720" y="50749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 recommandée : audit IA gratuit + échange expert de 45 minutes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594360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indicateurs ci-dessus sont des repères de référence, formulés comme hypothèses à confirmer pendant l'audit — pas des engagements de résultat.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ATLI Worldwide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EST TRANSFERAI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TransferAI, hub IA opérationnel de Nettelecom CI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interlocuteur structuré, pas un simple catalogue de formations.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4780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experts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046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Basés en Côte d'Ivoire, au Royaume-Uni, aux États-Unis et en Inde.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478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24780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478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d'exécution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5478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cadrage, formation, gouvernance et premier pilote métier reliés.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910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47802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Expérience logistique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910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Approche pensée pour les transitaires, opérateurs fret et acteurs portuaires.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0342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76" y="247802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342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90 jours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0342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L'engagement continue après la formation, pas seulement pendant.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0263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5257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structure de formation classique transmet un contenu. TransferAI forme, puis accompagne l'usage réel, les ajustements et les décisions d'extension.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ATLI Worldwide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PRIORITÉS MÉTIER D'ATLI WORLDWIDE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cette proposition est adaptée au contexte d'ATLI Worldwide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des flux qui pèsent déjà sur le transit et la coordination documentaire, entre Abidjan et San Pedro.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dense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680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Dossiers de transit, douane et transport circulant dans des séquences lourdes.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80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Pièces et synthèses plus faciles à relire, retrouver et partager.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14884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112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multi-acteurs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112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Clients, transporteurs, douane et ports avancent à des rythmes différents.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5112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Briefs et synthèses qui améliorent l'alignement opérationnel.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14884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544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Anomalies peu visibles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2544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Retards et écarts remontant sans hiérarchisation claire.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2544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Responsables lisant mieux les exceptions pour prioriser plus vite.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14884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976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client dispersé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89976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Statuts de dossiers communiqués de façon hétérogène selon les clients.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89976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plus homogène et plus réactif pour les clients importateurs/exportateurs.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ATLI Worldwide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ATTENDUS ET INDICATEURS DE PREUVE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ROI n'a de valeur que relié à des KPI lisibles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Repères prudents à confirmer pendant l'audit — pas des chiffres abstraits.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plus rapide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dossiers de transit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douane, transport, documentation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930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Meilleur alignement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930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clients, transporteurs et douane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930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briefs et synthèses partagés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362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plus précoce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362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retards et anomalies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362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hiérarchisation des exceptions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782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794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plus homogène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9794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les clients importateurs/exportateurs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794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statuts de dossier communiqués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7365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rendre ce ROI crédible dès le premier rendez-vous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Partir d'un flux concret et visible.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Nommer le ou les KPI déjà lus par la direction.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Limiter le premier pilote à un terrain mesurable.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Revoir les résultats avec les responsables métier avant extension.   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ATLI Worldwide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PRIORITAIRES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à mettre au centre de la proposition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CEFE3"/>
          </a:solidFill>
          <a:ln w="19050">
            <a:solidFill>
              <a:srgbClr val="D66724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de transit augmentée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" y="294436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94436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phare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336499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Dossiers de transit et douane circulant dans des séquences lourdes.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" y="437083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Pièces et synthèses plus faciles à relire, retrouver et partager entre équipes.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" y="5376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traitement documentaire ; délai de recherche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28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client automatisé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112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Statuts de dossiers communiqués de façon hétérogène selon les clients.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5112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 et synthèses de statut homogènes pour les clients.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5112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réponse client ; satisfaction déclarée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350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8288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544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de retards et anomalies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544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Écarts et retards remontant sans hiérarchisation claire.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2544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Exceptions mieux lisibles et priorisées pour les équipes opérationnelles.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2544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détection ; dossiers traités à temps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87782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82880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9976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multi-acteurs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9976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Clients, transporteurs, douane et ports avancent à des rythmes différents.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9976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Briefs et synthèses partagés qui améliorent l'alignement opérationnel.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89976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circulation de l'information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ATLI Worldwide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DÉTAIL DES DEUX PREMIERS TERRAINS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deux premiers terrains à lancer rapidement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Rendre la première valeur visible pour la direction et les équipes opérationnelles.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128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128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1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12848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26974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de transit augmentée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Dossiers de transit et douane longs à traiter et à retrouver en cas de besoin.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343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et recherche facilitées dans la base documentaire, partage simplifié entre équipes.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clé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traitement documentaire ; délai de recherche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26480" y="19659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22128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0263F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22128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2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12848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400800" y="26974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client automatisé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0080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Statuts de dossiers communiqués de façon hétérogène selon les clients et les canaux.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400800" y="4343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 et synthèses de statut homogènes, envoyées automatiquement aux clients.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400800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clé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réponse client ; satisfaction déclarée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ATLI Worldwide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ET QUALITÉ DE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qui renforcent la qualité de service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cas d'usage secondaires qui consolident la réactivité opérationnelle.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35024" y="2212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de retards et anomalies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8803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Écarts et retards remontant sans hiérarchisation claire.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38404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Exceptions mieux lisibles et priorisées pour les équipes opérationnelles.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48006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détection ; dossiers traités à temps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26480" y="196596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1284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12864" y="2212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multi-acteurs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400800" y="28803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Clients, transporteurs, douane et ports avancent à des rythmes différents.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400800" y="38404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Briefs et synthèses partagés qui améliorent l'alignement opérationnel.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00800" y="48006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circulation de l'information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10263F"/>
          </a:solidFill>
          <a:ln/>
        </p:spPr>
      </p:sp>
      <p:sp>
        <p:nvSpPr>
          <p:cNvPr id="18" name="Text 14"/>
          <p:cNvSpPr/>
          <p:nvPr/>
        </p:nvSpPr>
        <p:spPr>
          <a:xfrm>
            <a:off x="822960" y="58064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 usages gagnent en pertinence une fois la documentation et le suivi client stabilisés — ils ne sont pas la première priorité.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ATLI Worldwide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FEUILLE DE ROUTE 90 JOURS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cadrage à la mesure, avec validation à chaque palier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88720" y="3246120"/>
            <a:ext cx="9784080" cy="0"/>
          </a:xfrm>
          <a:prstGeom prst="line">
            <a:avLst/>
          </a:prstGeom>
          <a:noFill/>
          <a:ln w="25400">
            <a:solidFill>
              <a:srgbClr val="E3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J+0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91363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 et priorisation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7840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flux prioritaires et les équipes à mobiliser.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14" name="Text 11"/>
          <p:cNvSpPr/>
          <p:nvPr/>
        </p:nvSpPr>
        <p:spPr>
          <a:xfrm>
            <a:off x="347472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J+15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347472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913632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7588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livrable utile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67588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Calibrer un premier kit de suivi documentaire ou de notification client sur des dossiers réels.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67512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0" name="Shape 16"/>
          <p:cNvSpPr/>
          <p:nvPr/>
        </p:nvSpPr>
        <p:spPr>
          <a:xfrm>
            <a:off x="617220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1" name="Text 17"/>
          <p:cNvSpPr/>
          <p:nvPr/>
        </p:nvSpPr>
        <p:spPr>
          <a:xfrm>
            <a:off x="617220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J+45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617220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913632"/>
            <a:ext cx="320040" cy="32004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37336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ciblée et pilote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637336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Former les équipes retenues et lancer le premier terrain d'exécution, sous supervision humaine.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37260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7" name="Shape 22"/>
          <p:cNvSpPr/>
          <p:nvPr/>
        </p:nvSpPr>
        <p:spPr>
          <a:xfrm>
            <a:off x="886968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8" name="Text 23"/>
          <p:cNvSpPr/>
          <p:nvPr/>
        </p:nvSpPr>
        <p:spPr>
          <a:xfrm>
            <a:off x="886968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886968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48" y="3913632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07084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gouvernance et extension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07084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Relire les premiers KPI, ajuster les usages, décider extension, recentrage ou montée en charge.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Différentiel TransferAI : une formation classique s'arrête au contenu. TransferAI accompagne la mise en pratique et la décision d'extension pendant 90 jours.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ATLI Worldwide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DISPOSITIF D'ACCOMPAGNEMENT RECOMMANDÉ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architecture en 4 briques, simple à activer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121408"/>
            <a:ext cx="530352" cy="530352"/>
          </a:xfrm>
          <a:prstGeom prst="ellipse">
            <a:avLst/>
          </a:prstGeom>
          <a:solidFill>
            <a:srgbClr val="10263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métier ciblé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Qualifier les flux, documents et frictions les plus critiques pour ATLI Worldwide.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452628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des irritants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498348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Hypothèses de gains rapides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32918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3511296" y="2121408"/>
            <a:ext cx="530352" cy="530352"/>
          </a:xfrm>
          <a:prstGeom prst="ellipse">
            <a:avLst/>
          </a:prstGeom>
          <a:solidFill>
            <a:srgbClr val="D6672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224942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5112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décideurs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35112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Aligner la direction et les managers sur usages, limites et conditions de réussite.</a:t>
            </a:r>
            <a:endParaRPr lang="en-US" sz="10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1296" y="452628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947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Vision, gouvernance, arbitrages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1296" y="498348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947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des premiers KPI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60350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54496" y="2121408"/>
            <a:ext cx="530352" cy="530352"/>
          </a:xfrm>
          <a:prstGeom prst="ellipse">
            <a:avLst/>
          </a:prstGeom>
          <a:solidFill>
            <a:srgbClr val="2F6F6A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2249424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544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équipes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62544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Mettre les bonnes méthodes et assistants dans les mains des équipes transit, douane et relation client.</a:t>
            </a:r>
            <a:endParaRPr lang="en-US" sz="10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4496" y="4526280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5379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Gestes métier augmentés</a:t>
            </a:r>
            <a:endParaRPr lang="en-US" sz="10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4496" y="4983480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5379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utile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87782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32" name="Shape 21"/>
          <p:cNvSpPr/>
          <p:nvPr/>
        </p:nvSpPr>
        <p:spPr>
          <a:xfrm>
            <a:off x="8997696" y="2121408"/>
            <a:ext cx="530352" cy="530352"/>
          </a:xfrm>
          <a:prstGeom prst="ellipse">
            <a:avLst/>
          </a:prstGeom>
          <a:solidFill>
            <a:srgbClr val="6E7D8C"/>
          </a:solidFill>
          <a:ln/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2" y="2249424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89976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 &amp; accompagnement</a:t>
            </a:r>
            <a:endParaRPr lang="en-US" sz="1300" dirty="0"/>
          </a:p>
        </p:txBody>
      </p:sp>
      <p:sp>
        <p:nvSpPr>
          <p:cNvPr id="35" name="Text 23"/>
          <p:cNvSpPr/>
          <p:nvPr/>
        </p:nvSpPr>
        <p:spPr>
          <a:xfrm>
            <a:off x="89976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d'une intention IA à un premier terrain visible, mesurable et gouverné.</a:t>
            </a:r>
            <a:endParaRPr lang="en-US" sz="105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7696" y="4526280"/>
            <a:ext cx="201168" cy="20116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92811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sur 90 jours</a:t>
            </a:r>
            <a:endParaRPr lang="en-US" sz="10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97696" y="4983480"/>
            <a:ext cx="201168" cy="20116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92811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d'extension</a:t>
            </a:r>
            <a:endParaRPr lang="en-US" sz="1000" dirty="0"/>
          </a:p>
        </p:txBody>
      </p:sp>
      <p:sp>
        <p:nvSpPr>
          <p:cNvPr id="40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ATLI Worldwide</a:t>
            </a:r>
            <a:endParaRPr lang="en-US" sz="900" dirty="0"/>
          </a:p>
        </p:txBody>
      </p:sp>
      <p:sp>
        <p:nvSpPr>
          <p:cNvPr id="41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CONFIANCE ET PROCHAINE ÉTAPE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un pilote utile, gouverné et mesurable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rendez-vous confirme les deux premiers terrains, les équipes à former et la sortie attendue à 90 jours.</a:t>
            </a:r>
            <a:endParaRPr lang="en-US" sz="13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604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54203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gouvernés, progressifs, validés par des responsables métier identifiés.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7296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31089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clients et documents de transit sous supervision humaine.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3989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367588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accompagne aussi la mise en pratique et les premiers KPI, au-delà de la formation.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0682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424281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 avant toute extension à d'autres périmètres.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8229600" y="260604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16324F"/>
          </a:solidFill>
          <a:ln/>
        </p:spPr>
      </p:sp>
      <p:sp>
        <p:nvSpPr>
          <p:cNvPr id="15" name="Text 9"/>
          <p:cNvSpPr/>
          <p:nvPr/>
        </p:nvSpPr>
        <p:spPr>
          <a:xfrm>
            <a:off x="8503920" y="2788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ATTENDUE DU RENDEZ-VOUS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24612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833104" y="3200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Confirmer les 2 premiers cas d'usage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3813048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833104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 les équipes à former</a:t>
            </a:r>
            <a:endParaRPr lang="en-US" sz="10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4379976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8833104" y="43342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KPI prioritaires</a:t>
            </a:r>
            <a:endParaRPr lang="en-US" sz="105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946904"/>
            <a:ext cx="219456" cy="219456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8833104" y="49011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de l'ordre audit / formation / pilote</a:t>
            </a:r>
            <a:endParaRPr lang="en-US" sz="1050" dirty="0"/>
          </a:p>
        </p:txBody>
      </p:sp>
      <p:sp>
        <p:nvSpPr>
          <p:cNvPr id="24" name="Shape 14"/>
          <p:cNvSpPr/>
          <p:nvPr/>
        </p:nvSpPr>
        <p:spPr>
          <a:xfrm>
            <a:off x="8503920" y="55321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D66724"/>
          </a:solidFill>
          <a:ln/>
        </p:spPr>
      </p:sp>
      <p:sp>
        <p:nvSpPr>
          <p:cNvPr id="25" name="Text 15"/>
          <p:cNvSpPr/>
          <p:nvPr/>
        </p:nvSpPr>
        <p:spPr>
          <a:xfrm>
            <a:off x="8503920" y="5532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gratuit + 45 min</a:t>
            </a:r>
            <a:endParaRPr lang="en-US" sz="1200" dirty="0"/>
          </a:p>
        </p:txBody>
      </p:sp>
      <p:sp>
        <p:nvSpPr>
          <p:cNvPr id="26" name="Text 16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contact@transferai.ci   ·   www.transferai.ci   ·   +225 07 16 57 39 90</a:t>
            </a:r>
            <a:endParaRPr lang="en-US" sz="1050" dirty="0"/>
          </a:p>
        </p:txBody>
      </p:sp>
      <p:sp>
        <p:nvSpPr>
          <p:cNvPr id="27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ATLI Worldwide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TransferAI x ATLI Worldwide</dc:title>
  <dc:subject>PptxGenJS Presentation</dc:subject>
  <dc:creator>TransferAI Africa</dc:creator>
  <cp:lastModifiedBy>TransferAI Africa</cp:lastModifiedBy>
  <cp:revision>1</cp:revision>
  <dcterms:created xsi:type="dcterms:W3CDTF">2026-07-07T20:31:57Z</dcterms:created>
  <dcterms:modified xsi:type="dcterms:W3CDTF">2026-07-07T20:31:57Z</dcterms:modified>
</cp:coreProperties>
</file>