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PROPOSITION CIBLÉE — SMB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Faire de l'IA un levier de continuité industrielle et de performance régionale pour la SMB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 Générale, Direction des Systèmes d'Information et production — Société Multinationale de Bitumes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formations activables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1460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51460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prioritaires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8056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d'extension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4652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FCFA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46520" y="42245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d'entrée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6309360" cy="566928"/>
          </a:xfrm>
          <a:prstGeom prst="roundRect">
            <a:avLst>
              <a:gd name="adj" fmla="val 50000"/>
            </a:avLst>
          </a:prstGeom>
          <a:solidFill>
            <a:srgbClr val="16324F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88720" y="5074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Entrée recommandée : audit IA gratuit + échange expert de 45 minutes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594360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indicateurs ci-dessus sont des repères de référence, formulés comme hypothèses à confirmer pendant l'audit — pas des engagements de résultat.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EST TRANSFERAI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TransferAI, hub IA opérationnel de Nettelecom CI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interlocuteur structuré, pas un simple catalogue de formations.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4780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experts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Basés en Côte d'Ivoire, au Royaume-Uni, aux États-Unis et en Inde.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478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247802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d'exécution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5478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cadrage, formation, gouvernance et premier pilote métier reliés.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910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478024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Expérience industrielle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910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Approche déjà pensée pour les environnements de raffinage, de production continue et de systèmes d'information industriels.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778240" y="2057400"/>
            <a:ext cx="2514600" cy="288036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34272" y="23317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76" y="247802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34272" y="306324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90 jours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9034272" y="3657600"/>
            <a:ext cx="2057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L'engagement continue après la formation, pas seulement pendant.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0263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48640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525780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structure de formation classique transmet un contenu. TransferAI forme, puis accompagne l'usage réel, les ajustements et les décisions d'extension.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PRIORITÉS MÉTIER DE LA SMB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proposition est adaptée au contexte de la SMB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des flux qui pèsent déjà sur la Direction Générale, la DSI, la production et les marchés régionaux.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IT &amp; Helpdesk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68096" y="3127248"/>
            <a:ext cx="2057400" cy="292608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31272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Déjà modélisé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8096" y="352958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à 70 % des tickets Direction Informatique sont répétitifs et non automatisés.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476402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de niveau 1 disponible en continu, avec escalade intelligente vers le bon technicien.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148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 et production du bitume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112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 qualité des lots et suivi de la distillation reposant sur des relevés dispersés.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112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de production et de qualité consolidés plus tôt pour anticiper les écarts.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350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1488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logistique régionale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544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vers la Côte d'Ivoire, le Mali, le Burkina Faso et le Niger multipliant les documents de transport et de douane.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544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documentaire et logistique plus lisible sur l'ensemble des marchés régionaux.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778240" y="1920240"/>
            <a:ext cx="2514600" cy="420624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1488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997696" y="2606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financière (société cotée)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8997696" y="32004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tant que société cotée à la BRVM, la SMB doit produire des communications financières régulières et rigoureuses.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997696" y="44348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1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financières et notes aux actionnaires préparées plus vite et de façon plus homogène.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ATTENDUS ET INDICATEURS DE PREUVE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ROI n'a de valeur que relié à des KPI lisibles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Repères prudents à confirmer pendant l'audit — pas des chiffres abstraits.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Traitement plus rapide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tickets IT de niveau 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 à confirmer pendant l'audit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930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plus précoce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930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écarts de production et de qualité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930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distillation, contrôle qualité du bitume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62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plus fluide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362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les marchés régionaux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362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Côte d'Ivoire, Mali, Burkina Faso, Niger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778240" y="196596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79408" y="21488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plus rapide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979408" y="29718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actionnaires et la BRVM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79408" y="34747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et synthèses financières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7365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rendre ce ROI crédible dès le premier rendez-vous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Partir d'un flux concret et visible.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Nommer le ou les KPI déjà lus par la direction.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Limiter le premier pilote à un terrain mesurable.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Revoir les résultats avec les responsables métier avant extension.   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PRIORITAIRES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à mettre au centre de la proposition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CEFE3"/>
          </a:solidFill>
          <a:ln w="19050">
            <a:solidFill>
              <a:srgbClr val="D66724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68096" y="2944368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D6672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94436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 d'usage phare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Tickets répétitifs saturant le support de niveau 1.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" y="437083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résout les cas courants, escalade intelligente vers le bon technicien.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8096" y="537667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; tickets automatisés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918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112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qualité et production du bitume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112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 qualité et suivi de distillation reposant sur des relevés dispersés.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5112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de production et de qualité consolidés plus tôt pour anticiper les écarts.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112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écarts qualité traités tôt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350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8288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544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logistique régionale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544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vers 4 pays multipliant les documents de transport et de douane.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2544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documentaire et logistique plus lisible sur l'ensemble des marchés régionaux.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2544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traitement documentaire ; visibilité multi-pays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8778240" y="1600200"/>
            <a:ext cx="2514600" cy="45720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2880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97696" y="2286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financier et communication BRVM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997696" y="30632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Communications financières réglementaires préparées manuellement.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8997696" y="406908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financières et notes aux actionnaires plus rapides et homogènes.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8997696" y="50749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9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préparation ; homogénéité des communications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DÉTAIL DES DEUX PREMIERS TERRAINS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deux premiers terrains à lancer rapidement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Rendre la première valeur visible pour la Direction Générale et la DSI.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1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2212848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Helpdesk IT augmenté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niveau 1 saturé par des demandes répétitives, traitées au même rythme que les cas complexes.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IT disponible en continu, résolution automatique des cas courants et escalade intelligente vers le bon technicien.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Temps de résolution niveau 1 ; taux d'automatisation des tickets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26480" y="196596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00800" y="22128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0263F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0" y="2212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2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12848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00800" y="26974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qualité et production du bitume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0080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 qualité des lots et suivi de la distillation reposant sur des relevés dispersés entre équipes.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400800" y="4343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Signaux de production et de qualité consolidés plus tôt, pour anticiper les écarts avant arbitrage humain.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400800" y="534924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clé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détection ; écarts qualité traités tôt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ET QUALITÉ DE SERVICE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usages qui renforcent la coordination régionale et financière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cas d'usage secondaires qui consolident la coordination multi-pays et la communication financière.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3502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logistique régionale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vers la Côte d'Ivoire, le Mali, le Burkina Faso et le Niger multipliant les documents de transport et de douane.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documentaire et logistique plus lisible sur l'ensemble des marchés régionaux.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traitement documentaire ; visibilité multi-pays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1965960"/>
            <a:ext cx="5349240" cy="36576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12848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12864" y="221284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financier et communication BRVM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8803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Communications financières réglementaires préparées manuellement, société étant cotée à la BRVM.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00800" y="384048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B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Après  </a:t>
            </a:r>
            <a:pPr indent="0" marL="0">
              <a:buNone/>
            </a:pPr>
            <a:r>
              <a:rPr lang="en-US" sz="12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Synthèses financières et notes aux actionnaires plus rapides et homogènes.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0" y="48006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6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 </a:t>
            </a:r>
            <a:pPr indent="0" marL="0">
              <a:buNone/>
            </a:pPr>
            <a:r>
              <a:rPr lang="en-US" sz="110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Délai de préparation ; homogénéité des communications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10263F"/>
          </a:solidFill>
          <a:ln/>
        </p:spPr>
      </p:sp>
      <p:sp>
        <p:nvSpPr>
          <p:cNvPr id="18" name="Text 14"/>
          <p:cNvSpPr/>
          <p:nvPr/>
        </p:nvSpPr>
        <p:spPr>
          <a:xfrm>
            <a:off x="822960" y="58064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 usages gagnent en pertinence une fois le Helpdesk et le suivi qualité stabilisés — ils ne sont pas la première priorité.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FEUILLE DE ROUTE 90 JOURS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cadrage à la mesure, avec validation à chaque palier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88720" y="3246120"/>
            <a:ext cx="9784080" cy="0"/>
          </a:xfrm>
          <a:prstGeom prst="line">
            <a:avLst/>
          </a:prstGeom>
          <a:noFill/>
          <a:ln w="25400">
            <a:solidFill>
              <a:srgbClr val="E3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J+0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913632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Audit, cadrage et priorisation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7840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flux prioritaires (support IT, qualité du bitume, coordination régionale) et les équipes à mobiliser.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7764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13" name="Shape 10"/>
          <p:cNvSpPr/>
          <p:nvPr/>
        </p:nvSpPr>
        <p:spPr>
          <a:xfrm>
            <a:off x="347472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14" name="Text 11"/>
          <p:cNvSpPr/>
          <p:nvPr/>
        </p:nvSpPr>
        <p:spPr>
          <a:xfrm>
            <a:off x="347472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J+15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347472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913632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7588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 livrable utile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67588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Calibrer un premier assistant Helpdesk ou un kit de suivi qualité sur les données réelles de la SMB.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67512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0" name="Shape 16"/>
          <p:cNvSpPr/>
          <p:nvPr/>
        </p:nvSpPr>
        <p:spPr>
          <a:xfrm>
            <a:off x="617220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1" name="Text 17"/>
          <p:cNvSpPr/>
          <p:nvPr/>
        </p:nvSpPr>
        <p:spPr>
          <a:xfrm>
            <a:off x="617220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J+45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617220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913632"/>
            <a:ext cx="320040" cy="3200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37336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ciblée et pilote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637336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Former les équipes retenues et lancer le premier terrain d'exécution, sous supervision humaine.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372600" y="3044952"/>
            <a:ext cx="402336" cy="402336"/>
          </a:xfrm>
          <a:prstGeom prst="ellipse">
            <a:avLst/>
          </a:prstGeom>
          <a:solidFill>
            <a:srgbClr val="D66724"/>
          </a:solidFill>
          <a:ln/>
        </p:spPr>
      </p:sp>
      <p:sp>
        <p:nvSpPr>
          <p:cNvPr id="27" name="Shape 22"/>
          <p:cNvSpPr/>
          <p:nvPr/>
        </p:nvSpPr>
        <p:spPr>
          <a:xfrm>
            <a:off x="8869680" y="1965960"/>
            <a:ext cx="2423160" cy="1097280"/>
          </a:xfrm>
          <a:prstGeom prst="roundRect">
            <a:avLst>
              <a:gd name="adj" fmla="val 6667"/>
            </a:avLst>
          </a:prstGeom>
          <a:solidFill>
            <a:srgbClr val="10263F"/>
          </a:solidFill>
          <a:ln/>
        </p:spPr>
      </p:sp>
      <p:sp>
        <p:nvSpPr>
          <p:cNvPr id="28" name="Text 23"/>
          <p:cNvSpPr/>
          <p:nvPr/>
        </p:nvSpPr>
        <p:spPr>
          <a:xfrm>
            <a:off x="8869680" y="19659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J+90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>
            <a:off x="8869680" y="3703320"/>
            <a:ext cx="2423160" cy="233172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848" y="3913632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070848" y="4315968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Mesure, gouvernance et extension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070848" y="498348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Relire les premiers KPI, ajuster les usages, décider extension, recentrage ou montée en charge.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Différentiel TransferAI : une formation classique s'arrête au contenu. TransferAI accompagne la mise en pratique et la décision d'extension pendant 90 jours.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OFFRE RECOMMANDÉE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proposition TransferAI pour la SMB, en 4 briques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121408"/>
            <a:ext cx="530352" cy="530352"/>
          </a:xfrm>
          <a:prstGeom prst="ellipse">
            <a:avLst/>
          </a:prstGeom>
          <a:solidFill>
            <a:srgbClr val="10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494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métier ciblé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80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Qualifier les flux IT, production et régionaux les plus critiques pour la SMB.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452628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515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Cartographie des irritants</a:t>
            </a:r>
            <a:endParaRPr lang="en-US" sz="10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983480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Hypothèses de gains rapides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2918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3511296" y="2121408"/>
            <a:ext cx="530352" cy="530352"/>
          </a:xfrm>
          <a:prstGeom prst="ellipse">
            <a:avLst/>
          </a:prstGeom>
          <a:solidFill>
            <a:srgbClr val="D66724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312" y="2249424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112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décideurs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35112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Aligner la Direction Générale et la DSI sur usages, limites et conditions de réussite.</a:t>
            </a:r>
            <a:endParaRPr lang="en-US" sz="105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1296" y="452628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Vision, gouvernance, arbitrages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98348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7947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Lecture des premiers KPI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0350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54496" y="2121408"/>
            <a:ext cx="530352" cy="530352"/>
          </a:xfrm>
          <a:prstGeom prst="ellipse">
            <a:avLst/>
          </a:prstGeom>
          <a:solidFill>
            <a:srgbClr val="2F6F6A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2249424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544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des équipes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62544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Mettre les bonnes méthodes et assistants dans les mains des équipes IT, production et logistique.</a:t>
            </a:r>
            <a:endParaRPr lang="en-US" sz="105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4526280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65379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Gestes métier augmentés</a:t>
            </a:r>
            <a:endParaRPr lang="en-US" sz="10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4496" y="4983480"/>
            <a:ext cx="201168" cy="20116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5379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Standardisation utile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8778240" y="1920240"/>
            <a:ext cx="2514600" cy="41148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0263F">
                <a:alpha val="8000"/>
              </a:srgbClr>
            </a:outerShdw>
          </a:effectLst>
        </p:spPr>
      </p:sp>
      <p:sp>
        <p:nvSpPr>
          <p:cNvPr id="32" name="Shape 21"/>
          <p:cNvSpPr/>
          <p:nvPr/>
        </p:nvSpPr>
        <p:spPr>
          <a:xfrm>
            <a:off x="8997696" y="2121408"/>
            <a:ext cx="530352" cy="530352"/>
          </a:xfrm>
          <a:prstGeom prst="ellipse">
            <a:avLst/>
          </a:prstGeom>
          <a:solidFill>
            <a:srgbClr val="6E7D8C"/>
          </a:solidFill>
          <a:ln/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2" y="2249424"/>
            <a:ext cx="274320" cy="27432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997696" y="27889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&amp; accompagnement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8997696" y="333756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Passer d'une intention IA à un premier terrain visible, mesurable et gouverné.</a:t>
            </a:r>
            <a:endParaRPr lang="en-US" sz="105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97696" y="4526280"/>
            <a:ext cx="201168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281160" y="4462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Pilotage sur 90 jours</a:t>
            </a:r>
            <a:endParaRPr lang="en-US" sz="10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97696" y="4983480"/>
            <a:ext cx="201168" cy="201168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9281160" y="49194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Décision d'extension</a:t>
            </a:r>
            <a:endParaRPr lang="en-US" sz="1000" dirty="0"/>
          </a:p>
        </p:txBody>
      </p:sp>
      <p:sp>
        <p:nvSpPr>
          <p:cNvPr id="40" name="Text 2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41" name="Text 2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16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1632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CONFIANCE ET PROCHAINE ÉTAPE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Proposer un pilote utile, gouverné et mesurable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0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rendez-vous confirme les deux premiers terrains, les équipes à former et la sortie attendue à 90 jours.</a:t>
            </a:r>
            <a:endParaRPr lang="en-US" sz="13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604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542032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 gouvernés, progressifs, validés par des responsables identifiés (DSI, production, finance).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7296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31089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Données techniques, opérationnelles et financières sous supervision humaine.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3989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3675888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accompagne aussi la mise en pratique et les premiers KPI, au-delà de la formation.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4242816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Progression par pilote avant toute extension à d'autres périmètres.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8229600" y="2606040"/>
            <a:ext cx="3383280" cy="3566160"/>
          </a:xfrm>
          <a:prstGeom prst="roundRect">
            <a:avLst>
              <a:gd name="adj" fmla="val 2703"/>
            </a:avLst>
          </a:prstGeom>
          <a:solidFill>
            <a:srgbClr val="16324F"/>
          </a:solidFill>
          <a:ln/>
        </p:spPr>
      </p:sp>
      <p:sp>
        <p:nvSpPr>
          <p:cNvPr id="15" name="Text 9"/>
          <p:cNvSpPr/>
          <p:nvPr/>
        </p:nvSpPr>
        <p:spPr>
          <a:xfrm>
            <a:off x="8503920" y="2788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667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 ATTENDUE DU RENDEZ-VOUS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246120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833104" y="3200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Confirmer les 2 premiers cas d'usage (Helpdesk, qualité)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813048"/>
            <a:ext cx="219456" cy="21945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833104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Valider les équipes IT et production à former</a:t>
            </a:r>
            <a:endParaRPr lang="en-US" sz="105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4379976"/>
            <a:ext cx="219456" cy="219456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8833104" y="43342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les KPI prioritaires</a:t>
            </a:r>
            <a:endParaRPr lang="en-US" sz="105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946904"/>
            <a:ext cx="219456" cy="219456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8833104" y="490118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Décider de l'ordre audit / formation / pilote</a:t>
            </a:r>
            <a:endParaRPr lang="en-US" sz="1050" dirty="0"/>
          </a:p>
        </p:txBody>
      </p:sp>
      <p:sp>
        <p:nvSpPr>
          <p:cNvPr id="24" name="Shape 14"/>
          <p:cNvSpPr/>
          <p:nvPr/>
        </p:nvSpPr>
        <p:spPr>
          <a:xfrm>
            <a:off x="8503920" y="55321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D66724"/>
          </a:solidFill>
          <a:ln/>
        </p:spPr>
      </p:sp>
      <p:sp>
        <p:nvSpPr>
          <p:cNvPr id="25" name="Text 15"/>
          <p:cNvSpPr/>
          <p:nvPr/>
        </p:nvSpPr>
        <p:spPr>
          <a:xfrm>
            <a:off x="8503920" y="5532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gratuit + 45 min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contact@transferai.ci   ·   www.transferai.ci   ·   +225 07 16 57 39 90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TransferAI | Hub IA de Nettelecom CI | SMB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TransferAI x SMB</dc:title>
  <dc:subject>PptxGenJS Presentation</dc:subject>
  <dc:creator>TransferAI Africa</dc:creator>
  <cp:lastModifiedBy>TransferAI Africa</cp:lastModifiedBy>
  <cp:revision>1</cp:revision>
  <dcterms:created xsi:type="dcterms:W3CDTF">2026-07-08T03:41:34Z</dcterms:created>
  <dcterms:modified xsi:type="dcterms:W3CDTF">2026-07-08T03:41:34Z</dcterms:modified>
</cp:coreProperties>
</file>