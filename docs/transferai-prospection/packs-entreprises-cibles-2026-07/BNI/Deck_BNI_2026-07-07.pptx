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486400" cy="5486400"/>
          </a:xfrm>
          <a:prstGeom prst="ellipse">
            <a:avLst/>
          </a:prstGeom>
          <a:solidFill>
            <a:srgbClr val="16324F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840480"/>
            <a:ext cx="3108960" cy="3108960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PROPOSITION CIBLÉE — BNI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de l'IA un levier d'instruction et de pilotage des financements pour la BNI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78892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Banque Nationale d'Investissement — TransferAI Africa, hub IA de Nettelecom CI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formations activables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1460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51460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 prioritaires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8056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J+90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48056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d'extension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4652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FCFA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4652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d'entrée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6309360" cy="566928"/>
          </a:xfrm>
          <a:prstGeom prst="roundRect">
            <a:avLst>
              <a:gd name="adj" fmla="val 50000"/>
            </a:avLst>
          </a:prstGeom>
          <a:solidFill>
            <a:srgbClr val="16324F"/>
          </a:solidFill>
          <a:ln/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188720" y="507492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Entrée recommandée : audit IA gratuit + échange expert de 45 minutes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594360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indicateurs ci-dessus sont des repères de référence, formulés comme hypothèses à confirmer pendant l'audit — pas des engagements de résultat.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BNI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 EST TRANSFERAI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TransferAI, hub IA opérationnel de Nettelecom CI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interlocuteur structuré, pas un simple catalogue de formations.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4780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experts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046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Basés en Côte d'Ivoire, au Royaume-Uni, aux États-Unis et en Inde.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918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478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247802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478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Cadre d'exécution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5478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Audit, cadrage, formation, gouvernance et premier pilote métier reliés.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2910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478024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910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Secteur régulé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910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Expérience banque, finance et institutions soumises à supervision.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7782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0342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0576" y="2478024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0342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Accompagnement 90 jours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90342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L'engagement continue après la formation, pas seulement pendant.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0263F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486400"/>
            <a:ext cx="457200" cy="4572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71600" y="525780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structure de formation classique transmet un contenu. TransferAI forme, puis accompagne l'usage réel, les ajustements et les décisions d'extension.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BNI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 INSTITUTIONNEL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cette proposition est adaptée au contexte de la BNI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Partir des flux qui pèsent déjà sur l'instruction des dossiers et le pilotage du portefeuille.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1488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 des dossiers de financement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68096" y="3127248"/>
            <a:ext cx="2057400" cy="292608"/>
          </a:xfrm>
          <a:prstGeom prst="roundRect">
            <a:avLst>
              <a:gd name="adj" fmla="val 50000"/>
            </a:avLst>
          </a:prstGeom>
          <a:solidFill>
            <a:srgbClr val="D6672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312724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Approche déjà éprouvée sur des dossiers similaires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68096" y="3529584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 longue des dossiers avant comité d'investissement.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68096" y="4764024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Éléments de synthèse mieux préparés pour accélérer l'arbitrage humain.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918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214884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112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et comités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5112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élevé de reformulation et de consolidation des chiffres de portefeuille.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35112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Synthèses et notes de comité produites plus vite, mieux lisibles.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0350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214884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544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Conformité et KYC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2544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Contrôles documentaires et signalements chronophages.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62544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Écarts et pièces manquantes repérés plus tôt.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7782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214884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9976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 avec les porteurs de projets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89976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Réponses hétérogènes selon les canaux et les équipes.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89976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de réponses homogène, sans perdre la supervision humaine.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BNI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ATTENDUS ET INDICATEURS DE PREUVE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ROI n'a de valeur que relié à des KPI lisibles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Repères prudents à confirmer pendant l'audit — pas des chiffres abstraits.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Préparation plus rapide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dossiers de financement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préparation ; délai d'arbitrage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930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à 45 %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4930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le temps de reporting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930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commentaires, consolidations, notes de comité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362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Contrôles plus homogènes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2362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plusieurs équipes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2362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instruction, conformité, portefeuille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7782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9794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Décision plus rapide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9794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les comités d'investissement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9794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écarts, risques, arbitrages, priorités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73659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 rendre ce ROI crédible dès le premier rendez-vous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51206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Partir d'un flux concret et visible.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Nommer le ou les KPI déjà lus par la direction.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Limiter le premier pilote à un terrain mesurable.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Revoir les résultats avec les responsables métier avant extension.   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BNI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D'USAGE PRIORITAIRES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usages à mettre au centre de la proposition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CEFE3"/>
          </a:solidFill>
          <a:ln w="19050">
            <a:solidFill>
              <a:srgbClr val="D66724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 de dossiers de financement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68096" y="2944368"/>
            <a:ext cx="2057400" cy="274320"/>
          </a:xfrm>
          <a:prstGeom prst="roundRect">
            <a:avLst>
              <a:gd name="adj" fmla="val 50000"/>
            </a:avLst>
          </a:prstGeom>
          <a:solidFill>
            <a:srgbClr val="D6672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294436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d'usage phare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336499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Dossiers longs à instruire avant comité d'investissement.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68096" y="437083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Éléments de synthèse et points de vigilance mis en avant pour préparer la décision.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8096" y="537667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préparation dossier ; délai d'arbitrage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2918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288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112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de portefeuille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112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Tableaux existants longs à commenter avant chaque comité.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5112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Synthèses et commentaires de performance accélérés et mieux lisibles.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35112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production ; délai de diffusion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0350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182880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544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Conformité et KYC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2544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Contrôles documentaires et signalements chronophages.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62544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Écarts et pièces manquantes repérés plus tôt.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62544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revue ; anomalies détectées tôt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87782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182880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9976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 porteurs de projets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89976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Demandes récurrentes saturant les équipes.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89976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 de réponse encadré pour les cas récurrents.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89976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moyen de réponse ; taux de résolution 1er niveau</a:t>
            </a:r>
            <a:endParaRPr lang="en-US" sz="950" dirty="0"/>
          </a:p>
        </p:txBody>
      </p:sp>
      <p:sp>
        <p:nvSpPr>
          <p:cNvPr id="30" name="Text 2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BNI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GOUVERNANCE, CONFIDENTIALITÉ ET SUPERVISION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cadre compatible avec les exigences d'une banque d'État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17627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32257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1214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sous supervision humaine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54480" y="2578608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Dossiers de financement, données clients et documents internes sous contrôle humain systématique.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126480" y="192024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82512" y="217627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32257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32320" y="21214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Revue avant toute action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132320" y="2578608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Toute recommandation d'instruction ou de conformité générée par l'IA est revue avant décision.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388620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04672" y="414223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4288536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54480" y="40873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Progression par pilote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554480" y="4544568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Aucune extension avant validation d'un premier pilote encadré et mesuré.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126480" y="388620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82512" y="414223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288536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32320" y="40873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Cadre documenté et validé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132320" y="4544568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Règles d'usage validées par les responsables métier — instruction et conformité.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BNI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RENFORCEMENT DES CAPACITÉS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formations qui préparent des gestes métier réels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formations prioritaires, regroupées en trois familles.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2219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36829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29260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 &amp; financement</a:t>
            </a:r>
            <a:endParaRPr lang="en-US" sz="14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657600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52144" y="3566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 de Dossiers de Financement avec l'IA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4343400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52144" y="4251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de Portefeuille Automatisé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4251960" y="196596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4507992" y="22219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96" y="2368296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507992" y="29260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Conformité &amp; gouvernance</a:t>
            </a:r>
            <a:endParaRPr lang="en-US" sz="14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7992" y="3657600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855464" y="3566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Conformité et KYC Augmentés par l'IA</a:t>
            </a:r>
            <a:endParaRPr lang="en-US" sz="12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992" y="4343400"/>
            <a:ext cx="256032" cy="256032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4855464" y="4251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Interne Augmenté par l'IA</a:t>
            </a:r>
            <a:endParaRPr lang="en-US" sz="1200" dirty="0"/>
          </a:p>
        </p:txBody>
      </p:sp>
      <p:sp>
        <p:nvSpPr>
          <p:cNvPr id="21" name="Shape 13"/>
          <p:cNvSpPr/>
          <p:nvPr/>
        </p:nvSpPr>
        <p:spPr>
          <a:xfrm>
            <a:off x="7955280" y="196596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2" name="Shape 14"/>
          <p:cNvSpPr/>
          <p:nvPr/>
        </p:nvSpPr>
        <p:spPr>
          <a:xfrm>
            <a:off x="8211312" y="22219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7616" y="236829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8211312" y="29260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 &amp; leadership</a:t>
            </a:r>
            <a:endParaRPr lang="en-US" sz="140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11312" y="3657600"/>
            <a:ext cx="256032" cy="256032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8558784" y="3566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 Porteurs de Projets Augmentée</a:t>
            </a:r>
            <a:endParaRPr lang="en-US" sz="1200" dirty="0"/>
          </a:p>
        </p:txBody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11312" y="4343400"/>
            <a:ext cx="256032" cy="256032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8558784" y="4251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pour Dirigeants : Vision et Stratégie</a:t>
            </a:r>
            <a:endParaRPr lang="en-US" sz="1200" dirty="0"/>
          </a:p>
        </p:txBody>
      </p:sp>
      <p:sp>
        <p:nvSpPr>
          <p:cNvPr id="29" name="Shape 18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10263F"/>
          </a:solidFill>
          <a:ln/>
        </p:spPr>
      </p:sp>
      <p:pic>
        <p:nvPicPr>
          <p:cNvPr id="3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605272"/>
            <a:ext cx="438912" cy="438912"/>
          </a:xfrm>
          <a:prstGeom prst="rect">
            <a:avLst/>
          </a:prstGeom>
        </p:spPr>
      </p:pic>
      <p:sp>
        <p:nvSpPr>
          <p:cNvPr id="31" name="Text 19"/>
          <p:cNvSpPr/>
          <p:nvPr/>
        </p:nvSpPr>
        <p:spPr>
          <a:xfrm>
            <a:off x="1371600" y="544068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la formation, accès gratuit à la communauté TransferAI pour partager cas réels et obtenir des conseils pratiques d'exécution.</a:t>
            </a:r>
            <a:endParaRPr lang="en-US" sz="1200" dirty="0"/>
          </a:p>
        </p:txBody>
      </p:sp>
      <p:sp>
        <p:nvSpPr>
          <p:cNvPr id="32" name="Text 2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BNI</a:t>
            </a:r>
            <a:endParaRPr lang="en-US" sz="900" dirty="0"/>
          </a:p>
        </p:txBody>
      </p:sp>
      <p:sp>
        <p:nvSpPr>
          <p:cNvPr id="33" name="Text 21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FEUILLE DE ROUTE 90 JOURS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cadrage à la mesure, avec validation à chaque palier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188720" y="3246120"/>
            <a:ext cx="9784080" cy="0"/>
          </a:xfrm>
          <a:prstGeom prst="line">
            <a:avLst/>
          </a:prstGeom>
          <a:noFill/>
          <a:ln w="25400">
            <a:solidFill>
              <a:srgbClr val="E3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J+0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3913632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Audit, cadrage et priorisation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7840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les flux prioritaires et les équipes à mobiliser.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97764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13" name="Shape 10"/>
          <p:cNvSpPr/>
          <p:nvPr/>
        </p:nvSpPr>
        <p:spPr>
          <a:xfrm>
            <a:off x="347472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14" name="Text 11"/>
          <p:cNvSpPr/>
          <p:nvPr/>
        </p:nvSpPr>
        <p:spPr>
          <a:xfrm>
            <a:off x="347472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J+15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347472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3913632"/>
            <a:ext cx="320040" cy="3200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67588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livrable utile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67588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Calibrer un premier kit de synthèse de dossiers ou de reporting sur des données réelles de la BNI.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667512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20" name="Shape 16"/>
          <p:cNvSpPr/>
          <p:nvPr/>
        </p:nvSpPr>
        <p:spPr>
          <a:xfrm>
            <a:off x="617220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21" name="Text 17"/>
          <p:cNvSpPr/>
          <p:nvPr/>
        </p:nvSpPr>
        <p:spPr>
          <a:xfrm>
            <a:off x="617220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J+45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617220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3913632"/>
            <a:ext cx="320040" cy="32004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37336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ciblée et pilote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637336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Former les équipes retenues et lancer le premier terrain d'exécution, sous supervision humaine.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37260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27" name="Shape 22"/>
          <p:cNvSpPr/>
          <p:nvPr/>
        </p:nvSpPr>
        <p:spPr>
          <a:xfrm>
            <a:off x="886968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28" name="Text 23"/>
          <p:cNvSpPr/>
          <p:nvPr/>
        </p:nvSpPr>
        <p:spPr>
          <a:xfrm>
            <a:off x="886968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J+90</a:t>
            </a:r>
            <a:endParaRPr lang="en-US" sz="2200" dirty="0"/>
          </a:p>
        </p:txBody>
      </p:sp>
      <p:sp>
        <p:nvSpPr>
          <p:cNvPr id="29" name="Shape 24"/>
          <p:cNvSpPr/>
          <p:nvPr/>
        </p:nvSpPr>
        <p:spPr>
          <a:xfrm>
            <a:off x="886968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848" y="3913632"/>
            <a:ext cx="320040" cy="320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07084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Mesure, gouvernance et extension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07084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Relire les premiers KPI, ajuster les usages, décider extension, recentrage ou montée en charge.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Différentiel TransferAI : une formation classique s'arrête au contenu. TransferAI accompagne la mise en pratique et la décision d'extension pendant 90 jours.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BNI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DISPOSITIF D'ACCOMPAGNEMENT RECOMMANDÉ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architecture en 4 briques, simple à activer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2121408"/>
            <a:ext cx="530352" cy="530352"/>
          </a:xfrm>
          <a:prstGeom prst="ellipse">
            <a:avLst/>
          </a:prstGeom>
          <a:solidFill>
            <a:srgbClr val="10263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24942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métier ciblé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680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Qualifier les flux, documents et frictions les plus critiques pour la BNI.</a:t>
            </a:r>
            <a:endParaRPr lang="en-US" sz="10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4526280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515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Cartographie des irritants</a:t>
            </a:r>
            <a:endParaRPr lang="en-US" sz="10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4983480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515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Hypothèses de gains rapides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32918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3511296" y="2121408"/>
            <a:ext cx="530352" cy="530352"/>
          </a:xfrm>
          <a:prstGeom prst="ellipse">
            <a:avLst/>
          </a:prstGeom>
          <a:solidFill>
            <a:srgbClr val="D66724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9312" y="2249424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5112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des décideurs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35112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Aligner la direction et les managers sur usages, limites et conditions de réussite.</a:t>
            </a:r>
            <a:endParaRPr lang="en-US" sz="105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1296" y="4526280"/>
            <a:ext cx="201168" cy="20116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7947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Vision, gouvernance, arbitrages</a:t>
            </a:r>
            <a:endParaRPr lang="en-US" sz="10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1296" y="4983480"/>
            <a:ext cx="201168" cy="20116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37947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des premiers KPI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60350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6254496" y="2121408"/>
            <a:ext cx="530352" cy="530352"/>
          </a:xfrm>
          <a:prstGeom prst="ellipse">
            <a:avLst/>
          </a:prstGeom>
          <a:solidFill>
            <a:srgbClr val="2F6F6A"/>
          </a:solidFill>
          <a:ln/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2512" y="2249424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2544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des équipes</a:t>
            </a:r>
            <a:endParaRPr lang="en-US" sz="1300" dirty="0"/>
          </a:p>
        </p:txBody>
      </p:sp>
      <p:sp>
        <p:nvSpPr>
          <p:cNvPr id="26" name="Text 17"/>
          <p:cNvSpPr/>
          <p:nvPr/>
        </p:nvSpPr>
        <p:spPr>
          <a:xfrm>
            <a:off x="62544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Mettre les bonnes méthodes et assistants dans les mains de l'instruction, de la conformité et du portefeuille.</a:t>
            </a:r>
            <a:endParaRPr lang="en-US" sz="105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54496" y="4526280"/>
            <a:ext cx="201168" cy="201168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65379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Gestes métier augmentés</a:t>
            </a:r>
            <a:endParaRPr lang="en-US" sz="1000" dirty="0"/>
          </a:p>
        </p:txBody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54496" y="4983480"/>
            <a:ext cx="201168" cy="201168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65379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Standardisation utile</a:t>
            </a:r>
            <a:endParaRPr lang="en-US" sz="1000" dirty="0"/>
          </a:p>
        </p:txBody>
      </p:sp>
      <p:sp>
        <p:nvSpPr>
          <p:cNvPr id="31" name="Shape 20"/>
          <p:cNvSpPr/>
          <p:nvPr/>
        </p:nvSpPr>
        <p:spPr>
          <a:xfrm>
            <a:off x="87782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32" name="Shape 21"/>
          <p:cNvSpPr/>
          <p:nvPr/>
        </p:nvSpPr>
        <p:spPr>
          <a:xfrm>
            <a:off x="8997696" y="2121408"/>
            <a:ext cx="530352" cy="530352"/>
          </a:xfrm>
          <a:prstGeom prst="ellipse">
            <a:avLst/>
          </a:prstGeom>
          <a:solidFill>
            <a:srgbClr val="6E7D8C"/>
          </a:solidFill>
          <a:ln/>
        </p:spPr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5712" y="2249424"/>
            <a:ext cx="274320" cy="274320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89976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Pilote &amp; accompagnement</a:t>
            </a:r>
            <a:endParaRPr lang="en-US" sz="1300" dirty="0"/>
          </a:p>
        </p:txBody>
      </p:sp>
      <p:sp>
        <p:nvSpPr>
          <p:cNvPr id="35" name="Text 23"/>
          <p:cNvSpPr/>
          <p:nvPr/>
        </p:nvSpPr>
        <p:spPr>
          <a:xfrm>
            <a:off x="89976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Passer d'une intention IA à un premier terrain visible, mesurable et gouverné.</a:t>
            </a:r>
            <a:endParaRPr lang="en-US" sz="105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97696" y="4526280"/>
            <a:ext cx="201168" cy="201168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92811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sur 90 jours</a:t>
            </a:r>
            <a:endParaRPr lang="en-US" sz="1000" dirty="0"/>
          </a:p>
        </p:txBody>
      </p:sp>
      <p:pic>
        <p:nvPicPr>
          <p:cNvPr id="3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97696" y="4983480"/>
            <a:ext cx="201168" cy="201168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92811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Décision d'extension</a:t>
            </a:r>
            <a:endParaRPr lang="en-US" sz="1000" dirty="0"/>
          </a:p>
        </p:txBody>
      </p:sp>
      <p:sp>
        <p:nvSpPr>
          <p:cNvPr id="40" name="Text 2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BNI</a:t>
            </a:r>
            <a:endParaRPr lang="en-US" sz="900" dirty="0"/>
          </a:p>
        </p:txBody>
      </p:sp>
      <p:sp>
        <p:nvSpPr>
          <p:cNvPr id="41" name="Text 2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657600"/>
            <a:ext cx="5486400" cy="5486400"/>
          </a:xfrm>
          <a:prstGeom prst="ellipse">
            <a:avLst/>
          </a:prstGeom>
          <a:solidFill>
            <a:srgbClr val="16324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48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CONFIANCE ET PROCHAINE ÉTAPE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Proposer un pilote utile, gouverné et mesurable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rendez-vous confirme les deux premiers terrains, les équipes à former et la sortie attendue à 90 jours.</a:t>
            </a:r>
            <a:endParaRPr lang="en-US" sz="13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0604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2542032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 gouvernés, progressifs, validés par des responsables métier identifiés.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72968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0120" y="310896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Dossiers de financement et données clients sous supervision humaine.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3989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60120" y="3675888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accompagne aussi la mise en pratique et les premiers KPI, au-delà de la formation.</a:t>
            </a:r>
            <a:endParaRPr lang="en-US" sz="12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306824"/>
            <a:ext cx="256032" cy="25603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60120" y="4242816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Progression par pilote avant toute extension à d'autres périmètres.</a:t>
            </a:r>
            <a:endParaRPr lang="en-US" sz="1200" dirty="0"/>
          </a:p>
        </p:txBody>
      </p:sp>
      <p:sp>
        <p:nvSpPr>
          <p:cNvPr id="14" name="Shape 8"/>
          <p:cNvSpPr/>
          <p:nvPr/>
        </p:nvSpPr>
        <p:spPr>
          <a:xfrm>
            <a:off x="8229600" y="2606040"/>
            <a:ext cx="3383280" cy="3566160"/>
          </a:xfrm>
          <a:prstGeom prst="roundRect">
            <a:avLst>
              <a:gd name="adj" fmla="val 2703"/>
            </a:avLst>
          </a:prstGeom>
          <a:solidFill>
            <a:srgbClr val="16324F"/>
          </a:solidFill>
          <a:ln/>
        </p:spPr>
      </p:sp>
      <p:sp>
        <p:nvSpPr>
          <p:cNvPr id="15" name="Text 9"/>
          <p:cNvSpPr/>
          <p:nvPr/>
        </p:nvSpPr>
        <p:spPr>
          <a:xfrm>
            <a:off x="8503920" y="27889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 ATTENDUE DU RENDEZ-VOUS</a:t>
            </a:r>
            <a:endParaRPr lang="en-US" sz="10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246120"/>
            <a:ext cx="219456" cy="21945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8833104" y="3200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Confirmer les 2 premiers cas d'usage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3813048"/>
            <a:ext cx="219456" cy="219456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8833104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Valider les équipes à former</a:t>
            </a:r>
            <a:endParaRPr lang="en-US" sz="105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3920" y="4379976"/>
            <a:ext cx="219456" cy="219456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8833104" y="43342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les KPI prioritaires</a:t>
            </a:r>
            <a:endParaRPr lang="en-US" sz="105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3920" y="4946904"/>
            <a:ext cx="219456" cy="219456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8833104" y="490118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Décider de l'ordre audit / formation / pilote</a:t>
            </a:r>
            <a:endParaRPr lang="en-US" sz="1050" dirty="0"/>
          </a:p>
        </p:txBody>
      </p:sp>
      <p:sp>
        <p:nvSpPr>
          <p:cNvPr id="24" name="Shape 14"/>
          <p:cNvSpPr/>
          <p:nvPr/>
        </p:nvSpPr>
        <p:spPr>
          <a:xfrm>
            <a:off x="8503920" y="55321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D66724"/>
          </a:solidFill>
          <a:ln/>
        </p:spPr>
      </p:sp>
      <p:sp>
        <p:nvSpPr>
          <p:cNvPr id="25" name="Text 15"/>
          <p:cNvSpPr/>
          <p:nvPr/>
        </p:nvSpPr>
        <p:spPr>
          <a:xfrm>
            <a:off x="8503920" y="55321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gratuit + 45 min</a:t>
            </a:r>
            <a:endParaRPr lang="en-US" sz="1200" dirty="0"/>
          </a:p>
        </p:txBody>
      </p:sp>
      <p:sp>
        <p:nvSpPr>
          <p:cNvPr id="26" name="Text 16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contact@transferai.ci   ·   www.transferai.ci   ·   +225 07 16 57 39 90</a:t>
            </a:r>
            <a:endParaRPr lang="en-US" sz="1050" dirty="0"/>
          </a:p>
        </p:txBody>
      </p:sp>
      <p:sp>
        <p:nvSpPr>
          <p:cNvPr id="27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BNI</a:t>
            </a:r>
            <a:endParaRPr lang="en-US" sz="900" dirty="0"/>
          </a:p>
        </p:txBody>
      </p:sp>
      <p:sp>
        <p:nvSpPr>
          <p:cNvPr id="28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TransferAI x BNI</dc:title>
  <dc:subject>PptxGenJS Presentation</dc:subject>
  <dc:creator>TransferAI Africa</dc:creator>
  <cp:lastModifiedBy>TransferAI Africa</cp:lastModifiedBy>
  <cp:revision>1</cp:revision>
  <dcterms:created xsi:type="dcterms:W3CDTF">2026-07-07T20:31:57Z</dcterms:created>
  <dcterms:modified xsi:type="dcterms:W3CDTF">2026-07-07T20:31:57Z</dcterms:modified>
</cp:coreProperties>
</file>