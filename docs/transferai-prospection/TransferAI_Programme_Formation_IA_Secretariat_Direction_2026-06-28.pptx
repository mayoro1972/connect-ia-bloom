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307a6fb7854fc9" /><Relationship Type="http://schemas.openxmlformats.org/officeDocument/2006/relationships/extended-properties" Target="/docProps/app.xml" Id="R1df7ea02f1714a42" /><Relationship Type="http://schemas.openxmlformats.org/officeDocument/2006/relationships/officeDocument" Target="/ppt/presentation.xml" Id="R82ec5e9ed0314b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8bc7e996574094"/>
  </p:sldMasterIdLst>
  <p:notesMasterIdLst>
    <p:notesMasterId xmlns:r="http://schemas.openxmlformats.org/officeDocument/2006/relationships" r:id="R11a38aa2fbfb4620"/>
  </p:notesMasterIdLst>
  <p:sldIdLst>
    <p:sldId xmlns:r="http://schemas.openxmlformats.org/officeDocument/2006/relationships" id="256" r:id="R148a0ab8112f4bcc"/>
    <p:sldId xmlns:r="http://schemas.openxmlformats.org/officeDocument/2006/relationships" id="257" r:id="R204f9d0c2fda4a63"/>
    <p:sldId xmlns:r="http://schemas.openxmlformats.org/officeDocument/2006/relationships" id="258" r:id="R941f4e696dcf42f4"/>
    <p:sldId xmlns:r="http://schemas.openxmlformats.org/officeDocument/2006/relationships" id="259" r:id="R7c02b8fc2d5e4f3e"/>
    <p:sldId xmlns:r="http://schemas.openxmlformats.org/officeDocument/2006/relationships" id="260" r:id="R378d7c7ad3cd4faf"/>
    <p:sldId xmlns:r="http://schemas.openxmlformats.org/officeDocument/2006/relationships" id="261" r:id="Ra5823f87d3e94983"/>
    <p:sldId xmlns:r="http://schemas.openxmlformats.org/officeDocument/2006/relationships" id="262" r:id="R20a7810df67d4c13"/>
    <p:sldId xmlns:r="http://schemas.openxmlformats.org/officeDocument/2006/relationships" id="263" r:id="R9dcf594cdb8d4891"/>
    <p:sldId xmlns:r="http://schemas.openxmlformats.org/officeDocument/2006/relationships" id="264" r:id="R5ad9168f49de4651"/>
    <p:sldId xmlns:r="http://schemas.openxmlformats.org/officeDocument/2006/relationships" id="265" r:id="R4d92c57028d146e1"/>
    <p:sldId xmlns:r="http://schemas.openxmlformats.org/officeDocument/2006/relationships" id="266" r:id="Rf2ae5848d4934d41"/>
    <p:sldId xmlns:r="http://schemas.openxmlformats.org/officeDocument/2006/relationships" id="267" r:id="R05092275291449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365ef0215c4b7f" /><Relationship Type="http://schemas.openxmlformats.org/officeDocument/2006/relationships/slideMaster" Target="/ppt/slideMasters/slideMaster1.xml" Id="R128bc7e996574094" /><Relationship Type="http://schemas.openxmlformats.org/officeDocument/2006/relationships/notesMaster" Target="/ppt/notesMasters/notesMaster1.xml" Id="R11a38aa2fbfb4620" /><Relationship Type="http://schemas.openxmlformats.org/officeDocument/2006/relationships/presProps" Target="/ppt/presProps.xml" Id="R285cb3a3c1f54f81" /><Relationship Type="http://schemas.openxmlformats.org/officeDocument/2006/relationships/tableStyles" Target="/ppt/tableStyles.xml" Id="Reb8a319140634907" /><Relationship Type="http://schemas.openxmlformats.org/officeDocument/2006/relationships/slide" Target="/ppt/slides/slide1.xml" Id="R148a0ab8112f4bcc" /><Relationship Type="http://schemas.openxmlformats.org/officeDocument/2006/relationships/slide" Target="/ppt/slides/slide2.xml" Id="R204f9d0c2fda4a63" /><Relationship Type="http://schemas.openxmlformats.org/officeDocument/2006/relationships/slide" Target="/ppt/slides/slide3.xml" Id="R941f4e696dcf42f4" /><Relationship Type="http://schemas.openxmlformats.org/officeDocument/2006/relationships/slide" Target="/ppt/slides/slide4.xml" Id="R7c02b8fc2d5e4f3e" /><Relationship Type="http://schemas.openxmlformats.org/officeDocument/2006/relationships/slide" Target="/ppt/slides/slide5.xml" Id="R378d7c7ad3cd4faf" /><Relationship Type="http://schemas.openxmlformats.org/officeDocument/2006/relationships/slide" Target="/ppt/slides/slide6.xml" Id="Ra5823f87d3e94983" /><Relationship Type="http://schemas.openxmlformats.org/officeDocument/2006/relationships/slide" Target="/ppt/slides/slide7.xml" Id="R20a7810df67d4c13" /><Relationship Type="http://schemas.openxmlformats.org/officeDocument/2006/relationships/slide" Target="/ppt/slides/slide8.xml" Id="R9dcf594cdb8d4891" /><Relationship Type="http://schemas.openxmlformats.org/officeDocument/2006/relationships/slide" Target="/ppt/slides/slide9.xml" Id="R5ad9168f49de4651" /><Relationship Type="http://schemas.openxmlformats.org/officeDocument/2006/relationships/slide" Target="/ppt/slides/slide10.xml" Id="R4d92c57028d146e1" /><Relationship Type="http://schemas.openxmlformats.org/officeDocument/2006/relationships/slide" Target="/ppt/slides/slide11.xml" Id="Rf2ae5848d4934d41" /><Relationship Type="http://schemas.openxmlformats.org/officeDocument/2006/relationships/slide" Target="/ppt/slides/slide12.xml" Id="R05092275291449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af125f3dcb4a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73863c06fa4cca" /><Relationship Type="http://schemas.openxmlformats.org/officeDocument/2006/relationships/notesMaster" Target="/ppt/notesMasters/notesMaster1.xml" Id="Rcbab30aeca304b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bc38cbd1c749eb" /><Relationship Type="http://schemas.openxmlformats.org/officeDocument/2006/relationships/notesMaster" Target="/ppt/notesMasters/notesMaster1.xml" Id="R36d24474933941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54825abd9946f3" /><Relationship Type="http://schemas.openxmlformats.org/officeDocument/2006/relationships/notesMaster" Target="/ppt/notesMasters/notesMaster1.xml" Id="R07bf627451dd41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3340fcb04f4fcd" /><Relationship Type="http://schemas.openxmlformats.org/officeDocument/2006/relationships/notesMaster" Target="/ppt/notesMasters/notesMaster1.xml" Id="Rb87c4753e51e49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18cd9dfe574fd8" /><Relationship Type="http://schemas.openxmlformats.org/officeDocument/2006/relationships/notesMaster" Target="/ppt/notesMasters/notesMaster1.xml" Id="Raf8f5a8b540445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de5dc5104f4e45" /><Relationship Type="http://schemas.openxmlformats.org/officeDocument/2006/relationships/notesMaster" Target="/ppt/notesMasters/notesMaster1.xml" Id="Rab947c7b726342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ac2a75ba054fd1" /><Relationship Type="http://schemas.openxmlformats.org/officeDocument/2006/relationships/notesMaster" Target="/ppt/notesMasters/notesMaster1.xml" Id="R2ec8304693d741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8348c7158b474e" /><Relationship Type="http://schemas.openxmlformats.org/officeDocument/2006/relationships/notesMaster" Target="/ppt/notesMasters/notesMaster1.xml" Id="Rbad7d52af04344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c87cb37dff45fc" /><Relationship Type="http://schemas.openxmlformats.org/officeDocument/2006/relationships/notesMaster" Target="/ppt/notesMasters/notesMaster1.xml" Id="Rfbd36028550242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1f9bd1096a4cdf" /><Relationship Type="http://schemas.openxmlformats.org/officeDocument/2006/relationships/notesMaster" Target="/ppt/notesMasters/notesMaster1.xml" Id="Re24af74d9f2d4c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f573d28b0d419c" /><Relationship Type="http://schemas.openxmlformats.org/officeDocument/2006/relationships/notesMaster" Target="/ppt/notesMasters/notesMaster1.xml" Id="Rb960fc284dc240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4dc15fcd31452e" /><Relationship Type="http://schemas.openxmlformats.org/officeDocument/2006/relationships/notesMaster" Target="/ppt/notesMasters/notesMaster1.xml" Id="R4e556a4b574647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2566078924d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3bd08672314991" /><Relationship Type="http://schemas.openxmlformats.org/officeDocument/2006/relationships/slideLayout" Target="/ppt/slideLayouts/slideLayout1.xml" Id="R2d965d85aa1344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965d85aa1344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35a095f2940b1" /><Relationship Type="http://schemas.openxmlformats.org/officeDocument/2006/relationships/image" Target="/ppt/media/image.jpeg" Id="R18d15422d37e4f63" /><Relationship Type="http://schemas.openxmlformats.org/officeDocument/2006/relationships/image" Target="/ppt/media/image.png" Id="R6b599b0b014d4402" /><Relationship Type="http://schemas.openxmlformats.org/officeDocument/2006/relationships/notesSlide" Target="/ppt/notesSlides/notesSlide1.xml" Id="R9b40bce0330442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a4b8336b449e7" /><Relationship Type="http://schemas.openxmlformats.org/officeDocument/2006/relationships/notesSlide" Target="/ppt/notesSlides/notesSlide2.xml" Id="Rec95d1002228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5933a66464e71" /><Relationship Type="http://schemas.openxmlformats.org/officeDocument/2006/relationships/notesSlide" Target="/ppt/notesSlides/notesSlide3.xml" Id="R9eb95847d01046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c3e47b8834773" /><Relationship Type="http://schemas.openxmlformats.org/officeDocument/2006/relationships/notesSlide" Target="/ppt/notesSlides/notesSlide4.xml" Id="Rb4888c6e885140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3b660c5334be3" /><Relationship Type="http://schemas.openxmlformats.org/officeDocument/2006/relationships/image" Target="/ppt/media/image2.jpeg" Id="R7969fb02bccb439d" /><Relationship Type="http://schemas.openxmlformats.org/officeDocument/2006/relationships/notesSlide" Target="/ppt/notesSlides/notesSlide5.xml" Id="R0e99355775ea43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deaf3ac284b8e" /><Relationship Type="http://schemas.openxmlformats.org/officeDocument/2006/relationships/notesSlide" Target="/ppt/notesSlides/notesSlide6.xml" Id="Re9bea6971edc46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f7e2b1ca54be7" /><Relationship Type="http://schemas.openxmlformats.org/officeDocument/2006/relationships/notesSlide" Target="/ppt/notesSlides/notesSlide7.xml" Id="R08028be1978949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23a34d433445c" /><Relationship Type="http://schemas.openxmlformats.org/officeDocument/2006/relationships/notesSlide" Target="/ppt/notesSlides/notesSlide8.xml" Id="Rf60822c3824f4f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37ba8c52d4a2f" /><Relationship Type="http://schemas.openxmlformats.org/officeDocument/2006/relationships/notesSlide" Target="/ppt/notesSlides/notesSlide9.xml" Id="R2ff8d335bcdf46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790250da714aaf" /><Relationship Type="http://schemas.openxmlformats.org/officeDocument/2006/relationships/notesSlide" Target="/ppt/notesSlides/notesSlide10.xml" Id="Re762b46907ac4d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c664d58a24864" /><Relationship Type="http://schemas.openxmlformats.org/officeDocument/2006/relationships/image" Target="/ppt/media/image3.jpeg" Id="R97a6ff6b030e48e2" /><Relationship Type="http://schemas.openxmlformats.org/officeDocument/2006/relationships/notesSlide" Target="/ppt/notesSlides/notesSlide11.xml" Id="R2dfd340d02294a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a6569f2964fc2" /><Relationship Type="http://schemas.openxmlformats.org/officeDocument/2006/relationships/notesSlide" Target="/ppt/notesSlides/notesSlide12.xml" Id="Ra810c0ce5f5047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9DBD3E-4502-4AB9-8867-176B1DAB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953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A"/>
          </a:solidFill>
          <a:ln xmlns:a="http://schemas.openxmlformats.org/drawingml/2006/main" w="0">
            <a:solidFill>
              <a:srgbClr val="F6F1E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47D19-47E7-4484-A034-10A3F9A5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B"/>
          </a:solidFill>
          <a:ln xmlns:a="http://schemas.openxmlformats.org/drawingml/2006/main" w="0">
            <a:solidFill>
              <a:srgbClr val="F3E8D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15422d37e4f63"/>
          <a:srcRect xmlns:a="http://schemas.openxmlformats.org/drawingml/2006/main" l="21012" t="0" r="210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257300"/>
            <a:ext cx="4476750" cy="4343400"/>
          </a:xfrm>
          <a:prstGeom xmlns:a="http://schemas.openxmlformats.org/drawingml/2006/main" prst="roundRect">
            <a:avLst>
              <a:gd name="adj" fmla="val 3509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1D11C-3D29-46E7-A0BE-57D0AE57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1050"/>
            <a:ext cx="552450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99b0b014d4402"/>
          <a:stretch xmlns:a="http://schemas.openxmlformats.org/drawingml/2006/main"/>
        </p:blipFill>
        <p:spPr>
          <a:xfrm xmlns:a="http://schemas.openxmlformats.org/drawingml/2006/main">
            <a:off x="986654" y="1028700"/>
            <a:ext cx="1341392" cy="590550"/>
          </a:xfrm>
          <a:prstGeom xmlns:a="http://schemas.openxmlformats.org/drawingml/2006/main" prst="roundRect">
            <a:avLst>
              <a:gd name="adj" fmla="val 2580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F6465-9B43-4BE8-B3F2-0BAA608F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FORMATION PROFESSIONNELLE 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DC7D0D-3FDF-40D1-83B0-D9031A75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13263C"/>
                </a:solidFill>
              </a:defRPr>
            </a:pPr>
            <a:r>
              <a:rPr sz="2250" b="1" i="0">
                <a:solidFill>
                  <a:srgbClr val="13263C"/>
                </a:solidFill>
              </a:rPr>
              <a:t>Programme de formation IA pour secrétariats de direction et fonctions institutionnelles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29B1AD-19DB-4365-BAA6-E1C0E3C6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466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3263C"/>
                </a:solidFill>
              </a:defRPr>
            </a:pPr>
            <a:r>
              <a:rPr sz="1275" b="0" i="0">
                <a:solidFill>
                  <a:srgbClr val="13263C"/>
                </a:solidFill>
              </a:rPr>
              <a:t>Secrétaires de direction, assistants de direction, diplomates, secrétaires particuliers de ministre, administrateurs civils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11FD9-E29D-487D-9B6C-2785DA67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466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 i="0">
                <a:solidFill>
                  <a:srgbClr val="68798B"/>
                </a:solidFill>
              </a:defRPr>
            </a:pPr>
            <a:r>
              <a:rPr sz="1163" b="0" i="0">
                <a:solidFill>
                  <a:srgbClr val="68798B"/>
                </a:solidFill>
              </a:rPr>
              <a:t>Deux journées intensives pour gagner du temps, améliorer la qualité rédactionnelle et utiliser l'IA de façon sûre face aux données sensibles.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9A420-FBD5-4E14-BF9E-48338DD0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019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solidFill>
              <a:srgbClr val="E6F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4E065-6F88-46DB-BDCD-1EF053DC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29175"/>
            <a:ext cx="1828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2E9B76"/>
                </a:solidFill>
              </a:defRPr>
            </a:pPr>
            <a:r>
              <a:rPr sz="788" b="1" i="0">
                <a:solidFill>
                  <a:srgbClr val="2E9B76"/>
                </a:solidFill>
              </a:rPr>
              <a:t>Webinaire gratuit en prélude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5AF1AD-AE81-4812-B5B2-13CE05AA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209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0D0"/>
          </a:solidFill>
          <a:ln xmlns:a="http://schemas.openxmlformats.org/drawingml/2006/main" w="0">
            <a:solidFill>
              <a:srgbClr val="F8E0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BB5F5-EC2A-409B-9F96-3471C206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29175"/>
            <a:ext cx="1905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Programme détaillé sur 2 jours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4FD35-58DB-4EBE-88E0-D8181124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50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0D810-1104-45E2-9CAF-822E0336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27"/>
          </a:solidFill>
          <a:ln xmlns:a="http://schemas.openxmlformats.org/drawingml/2006/main" w="0">
            <a:solidFill>
              <a:srgbClr val="D96B2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88A33C-2C88-43A6-A930-188ACED6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3263C"/>
                </a:solidFill>
              </a:defRPr>
            </a:pPr>
            <a:r>
              <a:rPr sz="1800" b="1" i="0">
                <a:solidFill>
                  <a:srgbClr val="13263C"/>
                </a:solidFill>
              </a:rPr>
              <a:t>2 jours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7EAC6-D3CE-4FE6-A654-85CBC453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436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 i="0">
                <a:solidFill>
                  <a:srgbClr val="68798B"/>
                </a:solidFill>
              </a:defRPr>
            </a:pPr>
            <a:r>
              <a:rPr sz="765" b="1" i="0">
                <a:solidFill>
                  <a:srgbClr val="68798B"/>
                </a:solidFill>
              </a:rPr>
              <a:t>formation intensive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8857F-0E36-408A-B830-F6568E1D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67350"/>
            <a:ext cx="150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46041-82D0-4A5E-AEEE-10954AC6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6"/>
          </a:solidFill>
          <a:ln xmlns:a="http://schemas.openxmlformats.org/drawingml/2006/main" w="0">
            <a:solidFill>
              <a:srgbClr val="2E9B7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8374A7-B41D-48EE-8183-83492B64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619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3263C"/>
                </a:solidFill>
              </a:defRPr>
            </a:pPr>
            <a:r>
              <a:rPr sz="1800" b="1" i="0">
                <a:solidFill>
                  <a:srgbClr val="13263C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FD94A-D8AE-4148-B8D0-05A1A13B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9436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 i="0">
                <a:solidFill>
                  <a:srgbClr val="68798B"/>
                </a:solidFill>
              </a:defRPr>
            </a:pPr>
            <a:r>
              <a:rPr sz="765" b="1" i="0">
                <a:solidFill>
                  <a:srgbClr val="68798B"/>
                </a:solidFill>
              </a:rPr>
              <a:t>thématiques vendables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6E189-EF1D-43A5-A654-07604028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67350"/>
            <a:ext cx="15049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9E59A-F87B-44E0-AE51-90CB5CEB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197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E8A"/>
          </a:solidFill>
          <a:ln xmlns:a="http://schemas.openxmlformats.org/drawingml/2006/main" w="0">
            <a:solidFill>
              <a:srgbClr val="335E8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42633-FAE6-4ABB-A3CE-FCE60022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1975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3263C"/>
                </a:solidFill>
              </a:defRPr>
            </a:pPr>
            <a:r>
              <a:rPr sz="1800" b="1" i="0">
                <a:solidFill>
                  <a:srgbClr val="13263C"/>
                </a:solidFill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AD3AE6-4EF8-4FD4-ABB1-B17A42A2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43600"/>
            <a:ext cx="102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65" b="1" i="0">
                <a:solidFill>
                  <a:srgbClr val="68798B"/>
                </a:solidFill>
              </a:defRPr>
            </a:pPr>
            <a:r>
              <a:rPr sz="765" b="1" i="0">
                <a:solidFill>
                  <a:srgbClr val="68798B"/>
                </a:solidFill>
              </a:rPr>
              <a:t>cas d'usage concrets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4BE39-E0C2-4CB9-A4D1-510A6414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704850"/>
            <a:ext cx="3352800" cy="1924050"/>
          </a:xfrm>
          <a:prstGeom xmlns:a="http://schemas.openxmlformats.org/drawingml/2006/main" prst="roundRect">
            <a:avLst>
              <a:gd name="adj" fmla="val 7921"/>
            </a:avLst>
          </a:prstGeom>
          <a:solidFill xmlns:a="http://schemas.openxmlformats.org/drawingml/2006/main">
            <a:srgbClr val="142C46"/>
          </a:solidFill>
          <a:ln xmlns:a="http://schemas.openxmlformats.org/drawingml/2006/main" w="9525">
            <a:solidFill>
              <a:srgbClr val="142C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A2C1D-7661-47B8-A8AB-1AFFE061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3345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E5D2BE"/>
                </a:solidFill>
              </a:defRPr>
            </a:pPr>
            <a:r>
              <a:rPr sz="750" b="1" i="0">
                <a:solidFill>
                  <a:srgbClr val="E5D2BE"/>
                </a:solidFill>
              </a:rPr>
              <a:t>Promesse commerciale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79DF2D-10FF-4B18-B2C8-BF381E2C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0015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Productivité administrative sécurisée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FB265B-8F87-468D-8497-70EA9122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70" b="0" i="0">
                <a:solidFill>
                  <a:srgbClr val="FFFFFF"/>
                </a:solidFill>
              </a:defRPr>
            </a:pPr>
            <a:r>
              <a:rPr sz="870" b="0" i="0">
                <a:solidFill>
                  <a:srgbClr val="FFFFFF"/>
                </a:solidFill>
              </a:rPr>
              <a:t>Vendre l'offre non comme une simple initiation ChatGPT, mais comme une montée en compétences IA adaptée aux environnements sensibles.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58946E-82F0-4AF5-8629-7A6AC68D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CC48BB-085F-4BF9-9480-5FB1AD6B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62D376-D40F-48CC-9F66-7BB36433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51257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26D26D-4F6A-43A0-A8D7-5DFA069D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CONTEXTE ET OPPORTUNITÉ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E449D-8F31-4463-B456-020B2DA6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3263C"/>
                </a:solidFill>
              </a:defRPr>
            </a:pPr>
            <a:r>
              <a:rPr sz="2175" b="1" i="0">
                <a:solidFill>
                  <a:srgbClr val="13263C"/>
                </a:solidFill>
              </a:rPr>
              <a:t>Pourquoi cette formation répond à un besoin immédiat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8D5A7-C5BB-47A1-A004-83AB5CD9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048250" cy="3981450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F2197-EF67-4EB2-8DF5-0D5D7B62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Les attentes métier remontées sur le terrain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F9E50-334B-4B70-A980-17445155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35" b="0" i="0">
                <a:solidFill>
                  <a:srgbClr val="68798B"/>
                </a:solidFill>
              </a:defRPr>
            </a:pPr>
            <a:r>
              <a:rPr sz="1035" b="0" i="0">
                <a:solidFill>
                  <a:srgbClr val="68798B"/>
                </a:solidFill>
              </a:rPr>
              <a:t>• Rédaction de courriers et e-mails plus rapide, sans perte de qualité formelle.</a:t>
            </a:r>
          </a:p>
          <a:p xmlns:a="http://schemas.openxmlformats.org/drawingml/2006/main">
            <a:pPr>
              <a:defRPr sz="1035" b="0" i="0">
                <a:solidFill>
                  <a:srgbClr val="68798B"/>
                </a:solidFill>
              </a:defRPr>
            </a:pPr>
            <a:r>
              <a:rPr sz="1035" b="0" i="0">
                <a:solidFill>
                  <a:srgbClr val="68798B"/>
                </a:solidFill>
              </a:rPr>
              <a:t>• Production de comptes rendus, procès-verbaux et notes de synthèse plus fiable.</a:t>
            </a:r>
          </a:p>
          <a:p xmlns:a="http://schemas.openxmlformats.org/drawingml/2006/main">
            <a:pPr>
              <a:defRPr sz="1035" b="0" i="0">
                <a:solidFill>
                  <a:srgbClr val="68798B"/>
                </a:solidFill>
              </a:defRPr>
            </a:pPr>
            <a:r>
              <a:rPr sz="1035" b="0" i="0">
                <a:solidFill>
                  <a:srgbClr val="68798B"/>
                </a:solidFill>
              </a:rPr>
              <a:t>• Organisation d'agendas, préparation de réunions et suivi administratif allégés.</a:t>
            </a:r>
          </a:p>
          <a:p xmlns:a="http://schemas.openxmlformats.org/drawingml/2006/main">
            <a:pPr>
              <a:defRPr sz="1035" b="0" i="0">
                <a:solidFill>
                  <a:srgbClr val="68798B"/>
                </a:solidFill>
              </a:defRPr>
            </a:pPr>
            <a:r>
              <a:rPr sz="1035" b="0" i="0">
                <a:solidFill>
                  <a:srgbClr val="68798B"/>
                </a:solidFill>
              </a:rPr>
              <a:t>• Recherche d'informations, classement documentaire et préparation de présentations accélérés.</a:t>
            </a:r>
          </a:p>
          <a:p xmlns:a="http://schemas.openxmlformats.org/drawingml/2006/main">
            <a:pPr>
              <a:defRPr sz="1035" b="0" i="0">
                <a:solidFill>
                  <a:srgbClr val="68798B"/>
                </a:solidFill>
              </a:defRPr>
            </a:pPr>
            <a:r>
              <a:rPr sz="1035" b="0" i="0">
                <a:solidFill>
                  <a:srgbClr val="68798B"/>
                </a:solidFill>
              </a:rPr>
              <a:t>• Traduction, reformulation et amélioration du ton institutionnel ou diplomatique.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4668E-ADC7-48E2-8DFB-ACC41777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62100"/>
            <a:ext cx="54673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E8F0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AF212-BAE2-4808-8BC9-BBD8D94B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Ce que la formation doit démontrer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D3500-02AC-4F86-B720-CB07E2F0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764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3263C"/>
                </a:solidFill>
              </a:defRPr>
            </a:pPr>
            <a:r>
              <a:rPr sz="1800" b="1" i="0">
                <a:solidFill>
                  <a:srgbClr val="13263C"/>
                </a:solidFill>
              </a:rPr>
              <a:t>Des gains concrets sans exposer les données sensibles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88261-8BD9-41A0-B829-0EF6ED6D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86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5" b="0" i="0">
                <a:solidFill>
                  <a:srgbClr val="13263C"/>
                </a:solidFill>
              </a:defRPr>
            </a:pPr>
            <a:r>
              <a:rPr sz="1005" b="0" i="0">
                <a:solidFill>
                  <a:srgbClr val="13263C"/>
                </a:solidFill>
              </a:rPr>
              <a:t>Le différenciateur clé sur ce public n'est pas l'outil. C'est la capacité à montrer des usages utiles, cadrés et compatibles avec les exigences de confidentialité.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6A731-646F-4F7F-868C-3F28E490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86150"/>
            <a:ext cx="5467350" cy="20574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E8DB"/>
          </a:solidFill>
          <a:ln xmlns:a="http://schemas.openxmlformats.org/drawingml/2006/main" w="9525">
            <a:solidFill>
              <a:srgbClr val="F3E8D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C2EB0-CF7A-4C6C-8056-079486F7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Publics prioritaires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A47E6-1B78-4AD7-8474-91AD433FC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195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35" b="0" i="0">
                <a:solidFill>
                  <a:srgbClr val="13263C"/>
                </a:solidFill>
              </a:defRPr>
            </a:pPr>
            <a:r>
              <a:rPr sz="1035" b="0" i="0">
                <a:solidFill>
                  <a:srgbClr val="13263C"/>
                </a:solidFill>
              </a:rPr>
              <a:t>• Secrétaires de direction et assistants de direction</a:t>
            </a:r>
          </a:p>
          <a:p xmlns:a="http://schemas.openxmlformats.org/drawingml/2006/main">
            <a:pPr>
              <a:defRPr sz="1035" b="0" i="0">
                <a:solidFill>
                  <a:srgbClr val="13263C"/>
                </a:solidFill>
              </a:defRPr>
            </a:pPr>
            <a:r>
              <a:rPr sz="1035" b="0" i="0">
                <a:solidFill>
                  <a:srgbClr val="13263C"/>
                </a:solidFill>
              </a:rPr>
              <a:t>• Cabinets ministériels et secrétariats particuliers</a:t>
            </a:r>
          </a:p>
          <a:p xmlns:a="http://schemas.openxmlformats.org/drawingml/2006/main">
            <a:pPr>
              <a:defRPr sz="1035" b="0" i="0">
                <a:solidFill>
                  <a:srgbClr val="13263C"/>
                </a:solidFill>
              </a:defRPr>
            </a:pPr>
            <a:r>
              <a:rPr sz="1035" b="0" i="0">
                <a:solidFill>
                  <a:srgbClr val="13263C"/>
                </a:solidFill>
              </a:rPr>
              <a:t>• Diplomates, cellules protocole et relations institutionnelles</a:t>
            </a:r>
          </a:p>
          <a:p xmlns:a="http://schemas.openxmlformats.org/drawingml/2006/main">
            <a:pPr>
              <a:defRPr sz="1035" b="0" i="0">
                <a:solidFill>
                  <a:srgbClr val="13263C"/>
                </a:solidFill>
              </a:defRPr>
            </a:pPr>
            <a:r>
              <a:rPr sz="1035" b="0" i="0">
                <a:solidFill>
                  <a:srgbClr val="13263C"/>
                </a:solidFill>
              </a:rPr>
              <a:t>• Administrateurs civils et fonctions support à forte confidentialité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B2F651-6F60-4FA5-9099-5FDCCE89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193CB7-FCB8-4AE7-8878-5993EC25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5DCFD-8310-4F39-A79D-C931EB28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01452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ABBB23-CAEB-4FF5-8D55-B7B1865D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OFFRE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C0805-7CE4-4E2C-9698-7AD9D169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3263C"/>
                </a:solidFill>
              </a:defRPr>
            </a:pPr>
            <a:r>
              <a:rPr sz="2175" b="1" i="0">
                <a:solidFill>
                  <a:srgbClr val="13263C"/>
                </a:solidFill>
              </a:rPr>
              <a:t>Les 4 thématiques que nous pouvons commercialiser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80FA5-397C-4FAD-B57D-AA077D41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2197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B12AF-D617-4D1B-9711-E6A27ADA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21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B27"/>
          </a:solidFill>
          <a:ln xmlns:a="http://schemas.openxmlformats.org/drawingml/2006/main" w="0">
            <a:solidFill>
              <a:srgbClr val="D96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90333-A787-4A6A-9092-DB6AAC98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Correspondance institutionnelle augmentée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88E177-6B77-4602-B7E6-372AFB4F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83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20" b="0" i="0">
                <a:solidFill>
                  <a:srgbClr val="68798B"/>
                </a:solidFill>
              </a:defRPr>
            </a:pPr>
            <a:r>
              <a:rPr sz="1020" b="0" i="0">
                <a:solidFill>
                  <a:srgbClr val="68798B"/>
                </a:solidFill>
              </a:rPr>
              <a:t>Courriers officiels, e-mails sensibles, notes de transmission, réponses protocolaires, reformulation et traduction.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214EB-EACB-43FE-90D8-A299EA2D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52197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E0F6B2-1D01-4145-8836-F5469C45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521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B76"/>
          </a:solidFill>
          <a:ln xmlns:a="http://schemas.openxmlformats.org/drawingml/2006/main" w="0">
            <a:solidFill>
              <a:srgbClr val="2E9B7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77ED2-05F1-44AC-8FD6-220E5E31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78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Réunions, PV, comptes rendus et agendas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0A2AB7-55EA-4BDE-862B-CBF0131A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3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20" b="0" i="0">
                <a:solidFill>
                  <a:srgbClr val="68798B"/>
                </a:solidFill>
              </a:defRPr>
            </a:pPr>
            <a:r>
              <a:rPr sz="1020" b="0" i="0">
                <a:solidFill>
                  <a:srgbClr val="68798B"/>
                </a:solidFill>
              </a:rPr>
              <a:t>Ordres du jour, comptes rendus exploitables, plans d'action, notes de briefing et suivi des décisions.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9E3B3-98B6-4146-B2E4-CCC1D059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2197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37D58F-DD3A-4283-B424-8D26C71D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521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5E8A"/>
          </a:solidFill>
          <a:ln xmlns:a="http://schemas.openxmlformats.org/drawingml/2006/main" w="0">
            <a:solidFill>
              <a:srgbClr val="335E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B0220-983C-48AF-B44A-C69C5529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Gestion documentaire, veille et synthèse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1BF15-3E4C-4D21-9630-26A08792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483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20" b="0" i="0">
                <a:solidFill>
                  <a:srgbClr val="68798B"/>
                </a:solidFill>
              </a:defRPr>
            </a:pPr>
            <a:r>
              <a:rPr sz="1020" b="0" i="0">
                <a:solidFill>
                  <a:srgbClr val="68798B"/>
                </a:solidFill>
              </a:rPr>
              <a:t>Classement intelligent, recherche d'information, notes de synthèse, résumés exécutifs et préparation de présentations.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B3F051-C893-46E8-A424-C2A0476E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52197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163E1-A81A-4F24-A361-E5CB3CBD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52197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D5B93"/>
          </a:solidFill>
          <a:ln xmlns:a="http://schemas.openxmlformats.org/drawingml/2006/main" w="0">
            <a:solidFill>
              <a:srgbClr val="6D5B9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B7630-37B0-40D7-8F70-8DBCBF21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81450"/>
            <a:ext cx="4838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IA responsable et données sensibles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D6BA9-059A-42EF-94A7-0B8F9799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838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20" b="0" i="0">
                <a:solidFill>
                  <a:srgbClr val="68798B"/>
                </a:solidFill>
              </a:defRPr>
            </a:pPr>
            <a:r>
              <a:rPr sz="1020" b="0" i="0">
                <a:solidFill>
                  <a:srgbClr val="68798B"/>
                </a:solidFill>
              </a:rPr>
              <a:t>Anonymisation, validation humaine, règles de confidentialité, bonnes pratiques de prompts et charte interne d'usage.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DA9CA-6ACA-47D6-9345-52C67B03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EDE811-FEDC-4A90-B863-FA8D77BF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86450"/>
            <a:ext cx="1040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1" i="0">
                <a:solidFill>
                  <a:srgbClr val="13263C"/>
                </a:solidFill>
              </a:defRPr>
            </a:pPr>
            <a:r>
              <a:rPr sz="885" b="1" i="0">
                <a:solidFill>
                  <a:srgbClr val="13263C"/>
                </a:solidFill>
              </a:rPr>
              <a:t>Positionnement recommandé : une offre premium de productivité administrative sécurisée et de maîtrise professionnelle de l'IA en environnement sensible.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3F34A-218F-4E2D-A88D-B5AC3D6B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2C2DD-9FAD-49CA-B497-75843E3A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D0D9C3-4894-4933-9A4E-4AC3716E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11206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620AF1-C64F-445C-A69C-3E38E526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CAS PRATIQUES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C1AE8-D6B8-4CF9-8E86-A6BE5865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3263C"/>
                </a:solidFill>
              </a:defRPr>
            </a:pPr>
            <a:r>
              <a:rPr sz="2175" b="1" i="0">
                <a:solidFill>
                  <a:srgbClr val="13263C"/>
                </a:solidFill>
              </a:rPr>
              <a:t>Les 4 usages concrets à démontrer pendant la 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69792A-D650-473C-A1B8-8D283C04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2197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78910A-D4DF-4CBC-9FB8-3B5497A6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0D0"/>
          </a:solidFill>
          <a:ln xmlns:a="http://schemas.openxmlformats.org/drawingml/2006/main" w="0">
            <a:solidFill>
              <a:srgbClr val="F8E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91A1DA-6DED-41A3-80CA-8BAE889A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02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CAS D'USAGE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80AC61-194F-410C-A3BE-5F745CD1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3263C"/>
                </a:solidFill>
              </a:defRPr>
            </a:pPr>
            <a:r>
              <a:rPr sz="1200" b="1" i="0">
                <a:solidFill>
                  <a:srgbClr val="13263C"/>
                </a:solidFill>
              </a:rPr>
              <a:t>Rédiger un courrier officiel délicat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470C1-6AE3-460C-96FE-8CA8A50C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Avant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7B59AA-D2DA-4122-8217-29C0AD7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8798B"/>
                </a:solidFill>
              </a:defRPr>
            </a:pPr>
            <a:r>
              <a:rPr sz="938" b="0" i="0">
                <a:solidFill>
                  <a:srgbClr val="68798B"/>
                </a:solidFill>
              </a:rPr>
              <a:t>Notes brutes, ton hésitant, risque d'oubli ou de maladresse formelle.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9268D-FE1A-4BF2-9480-B13B2663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9A3F0-21E9-4BFA-B6DF-925AF686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E9B76"/>
                </a:solidFill>
              </a:defRPr>
            </a:pPr>
            <a:r>
              <a:rPr sz="750" b="1" i="0">
                <a:solidFill>
                  <a:srgbClr val="2E9B76"/>
                </a:solidFill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E1FAD-A9D5-4DD5-B30F-8CBF4AF0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876800" cy="-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13263C"/>
                </a:solidFill>
              </a:defRPr>
            </a:pPr>
            <a:r>
              <a:rPr sz="938" b="0" i="0">
                <a:solidFill>
                  <a:srgbClr val="13263C"/>
                </a:solidFill>
              </a:rPr>
              <a:t>Projet de courrier institutionnel structuré, ton diplomatique, points sensibles signalés et validation finale facilitée.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469C1-3259-4BE5-ACC6-0EB24262F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62100"/>
            <a:ext cx="52197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9CC7D-8DA5-4564-8999-757DF94D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3355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0D0"/>
          </a:solidFill>
          <a:ln xmlns:a="http://schemas.openxmlformats.org/drawingml/2006/main" w="0">
            <a:solidFill>
              <a:srgbClr val="F8E0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0F6FB-5E40-4CC4-B98D-A3A03D66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022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CAS D'USAGE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A0032-9A97-4F9A-AD00-8E33DFBE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3263C"/>
                </a:solidFill>
              </a:defRPr>
            </a:pPr>
            <a:r>
              <a:rPr sz="1200" b="1" i="0">
                <a:solidFill>
                  <a:srgbClr val="13263C"/>
                </a:solidFill>
              </a:rPr>
              <a:t>Transformer une réunion en PV exploitable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85D12-D1F1-440D-A2FE-A8F87159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Avant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4AE2DD-8B11-4912-B8E4-181D4165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57500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8798B"/>
                </a:solidFill>
              </a:defRPr>
            </a:pPr>
            <a:r>
              <a:rPr sz="938" b="0" i="0">
                <a:solidFill>
                  <a:srgbClr val="68798B"/>
                </a:solidFill>
              </a:rPr>
              <a:t>Notes dispersées, décisions mal tracées, responsabilités peu claires.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42D5E-04EC-4613-A674-EEE0EB64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480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14C2E2-AA5B-4A22-90E0-878826C2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814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335E8A"/>
                </a:solidFill>
              </a:defRPr>
            </a:pPr>
            <a:r>
              <a:rPr sz="750" b="1" i="0">
                <a:solidFill>
                  <a:srgbClr val="335E8A"/>
                </a:solidFill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51AFA2-C917-49C4-A02C-23FF412F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4876800" cy="-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13263C"/>
                </a:solidFill>
              </a:defRPr>
            </a:pPr>
            <a:r>
              <a:rPr sz="938" b="0" i="0">
                <a:solidFill>
                  <a:srgbClr val="13263C"/>
                </a:solidFill>
              </a:rPr>
              <a:t>Compte rendu net avec décisions, actions, responsables, échéances et points à suivre.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1EA90-446A-41A6-9EB8-5B48B158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2197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1E90B2-21AE-4EB7-9035-EFE97F12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0D0"/>
          </a:solidFill>
          <a:ln xmlns:a="http://schemas.openxmlformats.org/drawingml/2006/main" w="0">
            <a:solidFill>
              <a:srgbClr val="F8E0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2BD91B-C19C-4DA7-ABBE-D4B3D987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6717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CAS D'USAGE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A4107-C7E4-4FE3-A419-36C333D1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3263C"/>
                </a:solidFill>
              </a:defRPr>
            </a:pPr>
            <a:r>
              <a:rPr sz="1200" b="1" i="0">
                <a:solidFill>
                  <a:srgbClr val="13263C"/>
                </a:solidFill>
              </a:rPr>
              <a:t>Préparer l'agenda et le briefing d'une audience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3E2EC-EAC3-446B-833E-B174B446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Avant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14545-AFF0-4166-A2E9-456A8FFD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8798B"/>
                </a:solidFill>
              </a:defRPr>
            </a:pPr>
            <a:r>
              <a:rPr sz="938" b="0" i="0">
                <a:solidFill>
                  <a:srgbClr val="68798B"/>
                </a:solidFill>
              </a:rPr>
              <a:t>Informations éparses dans plusieurs e-mails et dossiers.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C0AB1-2A30-4D07-861F-63356885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A4FC04-C084-4164-9953-0271AE21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483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E9B76"/>
                </a:solidFill>
              </a:defRPr>
            </a:pPr>
            <a:r>
              <a:rPr sz="750" b="1" i="0">
                <a:solidFill>
                  <a:srgbClr val="2E9B76"/>
                </a:solidFill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EB67A2-D49C-4086-A39D-FE5D58A3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76950"/>
            <a:ext cx="4876800" cy="-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13263C"/>
                </a:solidFill>
              </a:defRPr>
            </a:pPr>
            <a:r>
              <a:rPr sz="938" b="0" i="0">
                <a:solidFill>
                  <a:srgbClr val="13263C"/>
                </a:solidFill>
              </a:rPr>
              <a:t>Briefing synthétique : contexte, participants, enjeux, questions à poser, vigilance protocolaire.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BF12BB-2D65-4630-91E3-BD7BEC2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52197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E08E1F-9008-4DD6-A5B5-75FBF1C0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1104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0D0"/>
          </a:solidFill>
          <a:ln xmlns:a="http://schemas.openxmlformats.org/drawingml/2006/main" w="0">
            <a:solidFill>
              <a:srgbClr val="F8E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574F2D-B526-411D-BEFF-DE14DA52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67175"/>
            <a:ext cx="914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CAS D'USAGE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B30F89-2386-4457-9C88-67787114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3263C"/>
                </a:solidFill>
              </a:defRPr>
            </a:pPr>
            <a:r>
              <a:rPr sz="1200" b="1" i="0">
                <a:solidFill>
                  <a:srgbClr val="13263C"/>
                </a:solidFill>
              </a:rPr>
              <a:t>Synthétiser un dossier volumineux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000D03-A178-4EDB-8878-A6E019C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Avant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E26C3B-5C3B-4AFE-BC18-164AF3E0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24450"/>
            <a:ext cx="4876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68798B"/>
                </a:solidFill>
              </a:defRPr>
            </a:pPr>
            <a:r>
              <a:rPr sz="938" b="0" i="0">
                <a:solidFill>
                  <a:srgbClr val="68798B"/>
                </a:solidFill>
              </a:rPr>
              <a:t>Lecture chronophage, messages clés noyés dans les annexes.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1FEED8-674F-48DB-86D5-14BE4AD9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7150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A4F9F1-BA0C-4AD1-88B5-1647A9FA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483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335E8A"/>
                </a:solidFill>
              </a:defRPr>
            </a:pPr>
            <a:r>
              <a:rPr sz="750" b="1" i="0">
                <a:solidFill>
                  <a:srgbClr val="335E8A"/>
                </a:solidFill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F30C21-2EA7-47DD-A175-01D994D8A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076950"/>
            <a:ext cx="4876800" cy="-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13263C"/>
                </a:solidFill>
              </a:defRPr>
            </a:pPr>
            <a:r>
              <a:rPr sz="938" b="0" i="0">
                <a:solidFill>
                  <a:srgbClr val="13263C"/>
                </a:solidFill>
              </a:rPr>
              <a:t>Note de synthèse décisionnelle avec contexte, enjeux, risques, options et recommandation.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3895CC-CAC5-4170-8D26-678CF2F9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75D5C1-69D4-47B1-9146-497C8AAD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AD58E8-9043-4F19-81B9-0EBC1BFB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90238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E332F7-709C-48A6-84F3-CC41870C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C46"/>
          </a:solidFill>
          <a:ln xmlns:a="http://schemas.openxmlformats.org/drawingml/2006/main" w="0">
            <a:solidFill>
              <a:srgbClr val="142C4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9fb02bccb439d"/>
          <a:srcRect xmlns:a="http://schemas.openxmlformats.org/drawingml/2006/main" l="25309" t="0" r="2530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800100"/>
            <a:ext cx="4762500" cy="2571750"/>
          </a:xfrm>
          <a:prstGeom xmlns:a="http://schemas.openxmlformats.org/drawingml/2006/main" prst="roundRect">
            <a:avLst>
              <a:gd name="adj" fmla="val 592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B41AD-B9AA-46AA-897D-C09371E8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F8E0D0"/>
                </a:solidFill>
              </a:defRPr>
            </a:pPr>
            <a:r>
              <a:rPr sz="788" b="1" i="0">
                <a:solidFill>
                  <a:srgbClr val="F8E0D0"/>
                </a:solidFill>
              </a:rPr>
              <a:t>PROTECTION DES DONNÉES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FF260-6E49-462F-AC6F-1C95A155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Ce qu'il faut absolument cadrer avant tout usage de l'IA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9C973-3C03-4A3A-A462-B45E20D0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DCE7F2"/>
                </a:solidFill>
              </a:defRPr>
            </a:pPr>
            <a:r>
              <a:rPr sz="1200" b="0" i="0">
                <a:solidFill>
                  <a:srgbClr val="DCE7F2"/>
                </a:solidFill>
              </a:rPr>
              <a:t>Cette séquence fait la différence sur des profils exposés à des informations sensibles : ministère, diplomatie, direction générale, RH, marchés, dossiers administratifs.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6FFE9-159F-416A-A291-78C43B43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5334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21415F"/>
          </a:solidFill>
          <a:ln xmlns:a="http://schemas.openxmlformats.org/drawingml/2006/main" w="9525">
            <a:solidFill>
              <a:srgbClr val="21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B241B-ADF9-4CE1-BD87-1366E2C8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4876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20" b="0" i="0">
                <a:solidFill>
                  <a:srgbClr val="FFFFFF"/>
                </a:solidFill>
              </a:defRPr>
            </a:pPr>
            <a:r>
              <a:rPr sz="1020" b="0" i="0">
                <a:solidFill>
                  <a:srgbClr val="FFFFFF"/>
                </a:solidFill>
              </a:rPr>
              <a:t>• Ne jamais copier dans une IA ouverte : pièces d'identité, données RH, dossiers disciplinaires, marchés non publics, notes confidentielles, agendas sensibles, données de santé, informations diplomatiques ou de cabinet.</a:t>
            </a:r>
          </a:p>
          <a:p xmlns:a="http://schemas.openxmlformats.org/drawingml/2006/main">
            <a:pPr>
              <a:defRPr sz="1020" b="0" i="0">
                <a:solidFill>
                  <a:srgbClr val="FFFFFF"/>
                </a:solidFill>
              </a:defRPr>
            </a:pPr>
            <a:r>
              <a:rPr sz="1020" b="0" i="0">
                <a:solidFill>
                  <a:srgbClr val="FFFFFF"/>
                </a:solidFill>
              </a:rPr>
              <a:t>• Toujours anonymiser les noms, numéros, montants critiques, références de dossiers et tout élément permettant d'identifier une personne ou une affaire.</a:t>
            </a:r>
          </a:p>
          <a:p xmlns:a="http://schemas.openxmlformats.org/drawingml/2006/main">
            <a:pPr>
              <a:defRPr sz="1020" b="0" i="0">
                <a:solidFill>
                  <a:srgbClr val="FFFFFF"/>
                </a:solidFill>
              </a:defRPr>
            </a:pPr>
            <a:r>
              <a:rPr sz="1020" b="0" i="0">
                <a:solidFill>
                  <a:srgbClr val="FFFFFF"/>
                </a:solidFill>
              </a:rPr>
              <a:t>• Utiliser des prompts cadrés : contexte, objectif, format, ton, interdictions, niveau de prudence et validation humaine attendue.</a:t>
            </a:r>
          </a:p>
          <a:p xmlns:a="http://schemas.openxmlformats.org/drawingml/2006/main">
            <a:pPr>
              <a:defRPr sz="1020" b="0" i="0">
                <a:solidFill>
                  <a:srgbClr val="FFFFFF"/>
                </a:solidFill>
              </a:defRPr>
            </a:pPr>
            <a:r>
              <a:rPr sz="1020" b="0" i="0">
                <a:solidFill>
                  <a:srgbClr val="FFFFFF"/>
                </a:solidFill>
              </a:rPr>
              <a:t>• Relire systématiquement avant envoi ou diffusion : l'IA assiste, mais ne décide ni ne valide seule.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E8122-8E00-46AF-AE35-D79CCD6E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57600"/>
            <a:ext cx="4762500" cy="2171700"/>
          </a:xfrm>
          <a:prstGeom xmlns:a="http://schemas.openxmlformats.org/drawingml/2006/main" prst="roundRect">
            <a:avLst>
              <a:gd name="adj" fmla="val 701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B3F839-24C8-409B-828B-691FBAF8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Message pédagogique à marteler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74401-AAA1-4815-8BF1-AC06C644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719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3263C"/>
                </a:solidFill>
              </a:defRPr>
            </a:pPr>
            <a:r>
              <a:rPr sz="1650" b="1" i="0">
                <a:solidFill>
                  <a:srgbClr val="13263C"/>
                </a:solidFill>
              </a:rPr>
              <a:t>L'IA assiste, mais ne remplace ni le secret professionnel, ni la validation humaine.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677C19-C55A-4CCF-9B81-5145F6CE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720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20" b="0" i="0">
                <a:solidFill>
                  <a:srgbClr val="68798B"/>
                </a:solidFill>
              </a:defRPr>
            </a:pPr>
            <a:r>
              <a:rPr sz="1020" b="0" i="0">
                <a:solidFill>
                  <a:srgbClr val="68798B"/>
                </a:solidFill>
              </a:rPr>
              <a:t>Chaque démonstration doit montrer une version risquée, puis une version sécurisée et anonymisée du même prompt.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2360EE-6839-47DE-890D-A80765A9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6E678B-D573-49E9-8F38-FC7C1E24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Séquence essentielle : usages utiles, mais cadre de confidentialité non négociable.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7C4B6-2F13-410D-A8A9-5DE414BE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49293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372C43-653A-4E24-9FBB-95482189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PROMPTS PROFESSIONNELS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B1504-8682-4797-837B-3C92E76D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3263C"/>
                </a:solidFill>
              </a:defRPr>
            </a:pPr>
            <a:r>
              <a:rPr sz="2175" b="1" i="0">
                <a:solidFill>
                  <a:srgbClr val="13263C"/>
                </a:solidFill>
              </a:rPr>
              <a:t>La méthode de prompt à enseigner aux participants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26C35-6422-408D-A07F-83191438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9149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F77BD-FF04-49D0-BA21-22D15841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09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Structure simple à mémoriser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3209F-AB63-47FE-A185-12A5EFD3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4400550" cy="308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65" b="0" i="0">
                <a:solidFill>
                  <a:srgbClr val="13263C"/>
                </a:solidFill>
              </a:defRPr>
            </a:pPr>
            <a:r>
              <a:rPr sz="1065" b="0" i="0">
                <a:solidFill>
                  <a:srgbClr val="13263C"/>
                </a:solidFill>
              </a:rPr>
              <a:t>• 1. Rôle : “Agis comme un assistant de direction en environnement institutionnel.”</a:t>
            </a:r>
          </a:p>
          <a:p xmlns:a="http://schemas.openxmlformats.org/drawingml/2006/main">
            <a:pPr>
              <a:defRPr sz="1065" b="0" i="0">
                <a:solidFill>
                  <a:srgbClr val="13263C"/>
                </a:solidFill>
              </a:defRPr>
            </a:pPr>
            <a:r>
              <a:rPr sz="1065" b="0" i="0">
                <a:solidFill>
                  <a:srgbClr val="13263C"/>
                </a:solidFill>
              </a:rPr>
              <a:t>• 2. Contexte : “Voici une situation anonymisée et le niveau de sensibilité.”</a:t>
            </a:r>
          </a:p>
          <a:p xmlns:a="http://schemas.openxmlformats.org/drawingml/2006/main">
            <a:pPr>
              <a:defRPr sz="1065" b="0" i="0">
                <a:solidFill>
                  <a:srgbClr val="13263C"/>
                </a:solidFill>
              </a:defRPr>
            </a:pPr>
            <a:r>
              <a:rPr sz="1065" b="0" i="0">
                <a:solidFill>
                  <a:srgbClr val="13263C"/>
                </a:solidFill>
              </a:rPr>
              <a:t>• 3. Tâche : “Rédige / résume / structure / reformule sans inventer.”</a:t>
            </a:r>
          </a:p>
          <a:p xmlns:a="http://schemas.openxmlformats.org/drawingml/2006/main">
            <a:pPr>
              <a:defRPr sz="1065" b="0" i="0">
                <a:solidFill>
                  <a:srgbClr val="13263C"/>
                </a:solidFill>
              </a:defRPr>
            </a:pPr>
            <a:r>
              <a:rPr sz="1065" b="0" i="0">
                <a:solidFill>
                  <a:srgbClr val="13263C"/>
                </a:solidFill>
              </a:rPr>
              <a:t>• 4. Contraintes : ton, longueur, niveau hiérarchique, éléments interdits.</a:t>
            </a:r>
          </a:p>
          <a:p xmlns:a="http://schemas.openxmlformats.org/drawingml/2006/main">
            <a:pPr>
              <a:defRPr sz="1065" b="0" i="0">
                <a:solidFill>
                  <a:srgbClr val="13263C"/>
                </a:solidFill>
              </a:defRPr>
            </a:pPr>
            <a:r>
              <a:rPr sz="1065" b="0" i="0">
                <a:solidFill>
                  <a:srgbClr val="13263C"/>
                </a:solidFill>
              </a:rPr>
              <a:t>• 5. Format : courrier, note, tableau d'actions, briefing, mail, PV.</a:t>
            </a:r>
          </a:p>
          <a:p xmlns:a="http://schemas.openxmlformats.org/drawingml/2006/main">
            <a:pPr>
              <a:defRPr sz="1065" b="0" i="0">
                <a:solidFill>
                  <a:srgbClr val="13263C"/>
                </a:solidFill>
              </a:defRPr>
            </a:pPr>
            <a:r>
              <a:rPr sz="1065" b="0" i="0">
                <a:solidFill>
                  <a:srgbClr val="13263C"/>
                </a:solidFill>
              </a:rPr>
              <a:t>• 6. Sécurité : signaler les données à masquer et les informations manquantes.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7D295-4F78-4379-B465-7F0AF299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562100"/>
            <a:ext cx="558165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E8F0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60AC54-7131-4DCF-89C9-2ADCCC48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09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Exemples de prompts à remettre dans le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FDF2B-712A-4D93-96D0-658573B6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098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20" b="0" i="0">
                <a:solidFill>
                  <a:srgbClr val="13263C"/>
                </a:solidFill>
              </a:defRPr>
            </a:pPr>
            <a:r>
              <a:rPr sz="1020" b="0" i="0">
                <a:solidFill>
                  <a:srgbClr val="13263C"/>
                </a:solidFill>
              </a:rPr>
              <a:t>• Courrier : “Rédige un courrier officiel à partir de ces éléments. Ton sobre, institutionnel, sans invention. Signale les informations manquantes.”</a:t>
            </a:r>
          </a:p>
          <a:p xmlns:a="http://schemas.openxmlformats.org/drawingml/2006/main">
            <a:pPr>
              <a:defRPr sz="1020" b="0" i="0">
                <a:solidFill>
                  <a:srgbClr val="13263C"/>
                </a:solidFill>
              </a:defRPr>
            </a:pPr>
            <a:r>
              <a:rPr sz="1020" b="0" i="0">
                <a:solidFill>
                  <a:srgbClr val="13263C"/>
                </a:solidFill>
              </a:rPr>
              <a:t>• PV : “À partir de ces notes anonymisées, produis un compte rendu avec décisions, actions, responsables, délais et points sensibles.”</a:t>
            </a:r>
          </a:p>
          <a:p xmlns:a="http://schemas.openxmlformats.org/drawingml/2006/main">
            <a:pPr>
              <a:defRPr sz="1020" b="0" i="0">
                <a:solidFill>
                  <a:srgbClr val="13263C"/>
                </a:solidFill>
              </a:defRPr>
            </a:pPr>
            <a:r>
              <a:rPr sz="1020" b="0" i="0">
                <a:solidFill>
                  <a:srgbClr val="13263C"/>
                </a:solidFill>
              </a:rPr>
              <a:t>• Synthèse : “Analyse ces documents anonymisés et produis une note d'une page : contexte, enjeux, risques, points à arbitrer, recommandation.”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0E931-CB37-4452-BC5E-EDB1BB20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62500"/>
            <a:ext cx="49530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5F947F-5595-40E2-9540-AFA1EB7C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3950"/>
            <a:ext cx="449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45" b="0" i="0">
                <a:solidFill>
                  <a:srgbClr val="68798B"/>
                </a:solidFill>
              </a:defRPr>
            </a:pPr>
            <a:r>
              <a:rPr sz="945" b="0" i="0">
                <a:solidFill>
                  <a:srgbClr val="68798B"/>
                </a:solidFill>
              </a:rPr>
              <a:t>Réflexe à transmettre : demander à l'IA d'indiquer ce qui manque, ce qui est ambigu et ce qui doit être validé avant envoi.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0E13A-9A4D-449C-988C-D548FF92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C2EF8-94BB-45E5-ACAA-6E4BC30F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C9AEED-93A8-4528-8028-F0046593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048270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434C57-8D94-4EF1-BD6C-01CDE225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JOUR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1804A-27DB-40F8-8C16-23B50211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3263C"/>
                </a:solidFill>
              </a:defRPr>
            </a:pPr>
            <a:r>
              <a:rPr sz="2175" b="1" i="0">
                <a:solidFill>
                  <a:srgbClr val="13263C"/>
                </a:solidFill>
              </a:rPr>
              <a:t>Programme détaillé | matinée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C1DB1-848A-4555-BB61-0F240D9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A6144-1817-4828-AB10-F4281014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B27"/>
          </a:solidFill>
          <a:ln xmlns:a="http://schemas.openxmlformats.org/drawingml/2006/main" w="0">
            <a:solidFill>
              <a:srgbClr val="D96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D9F88-C073-4219-8117-EF8C5E9F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Jour 1 - Matin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7FF9A-255D-4ABE-A664-D80CDE1D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08h30 - 09h00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5E7AF-25EF-4769-B707-58A40C60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0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Accueil, cadrage et attentes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083A2B-1DFB-4542-BC47-BEFFAFB6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Positionnement de la session, recueil des besoins, diagnostic rapide des usages actuels.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40BAE-F41B-40F7-8878-C57C8609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09h00 - 10h00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848FB-A0EA-4D18-B50B-DC8C0C40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098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Panorama des outils IA utiles à l'assistanat de direction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0E5D1A-6087-4595-84F4-D6235931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Ce que l'IA sait faire aujourd'hui, limites, erreurs fréquentes, points de vigilance.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4FD0F-B741-4C91-A4CD-191975F9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10h15 - 11h15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1919B-A61B-43CD-A014-E7EBADA6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19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Principes de confidentialité et données sensibles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1D53F-73C1-40CE-85C9-98F7F378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Typologie des données à risque, anonymisation, validation humaine, réflexes à adopter.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00030-2D24-4585-8550-523849D8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11h15 - 12h30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B2BD8-8D1A-4664-82FD-2AB6E234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290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Atelier 1 : courriers, e-mails, reformulation et traduction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C051C-0709-4C3E-B540-415BE94F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00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Démonstrations guidées, prompts sûrs, ton institutionnel et cas sensibles.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75675F-D058-46E3-B7DD-450B2394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038850"/>
            <a:ext cx="7696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0D0"/>
          </a:solidFill>
          <a:ln xmlns:a="http://schemas.openxmlformats.org/drawingml/2006/main" w="0">
            <a:solidFill>
              <a:srgbClr val="F8E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3ED85-3E34-4715-975E-4C27461B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105525"/>
            <a:ext cx="750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Objectif pédagogique : sécuriser les fondamentaux dès le premier demi-jour.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DBF9AA-AFC1-4458-932F-F69AEB65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8A5AE4-CA92-418D-9231-CF308183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F842BE-44E8-405A-AD45-0D7478DF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7658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145BEE-C38C-4F49-B0D0-21951ED9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JOUR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889DE-D782-4134-B010-9DCB4208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3263C"/>
                </a:solidFill>
              </a:defRPr>
            </a:pPr>
            <a:r>
              <a:rPr sz="2175" b="1" i="0">
                <a:solidFill>
                  <a:srgbClr val="13263C"/>
                </a:solidFill>
              </a:rPr>
              <a:t>Programme détaillé | après-midi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E7432D-C636-4606-A0A2-824DC41B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DCDED-E09C-4DFF-833E-23B3D487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B76"/>
          </a:solidFill>
          <a:ln xmlns:a="http://schemas.openxmlformats.org/drawingml/2006/main" w="0">
            <a:solidFill>
              <a:srgbClr val="2E9B7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25248-1C1C-4C86-9885-3C5D02EE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Jour 1 - Après-midi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0524B-8788-4950-8DD8-0168FA30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E9B76"/>
                </a:solidFill>
              </a:defRPr>
            </a:pPr>
            <a:r>
              <a:rPr sz="750" b="1" i="0">
                <a:solidFill>
                  <a:srgbClr val="2E9B76"/>
                </a:solidFill>
              </a:rPr>
              <a:t>13h30 - 14h30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F0BBC8-F3FA-4314-B59C-4A4AD20C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0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Atelier 2 : réunions, agendas, ordres du jour et briefings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64E84-6010-4E1E-8B7F-D3D3D86C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Préparer une audience, structurer un agenda, bâtir une note de préparation.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C9FC5E-8CCE-49E9-920B-C0B7187B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E9B76"/>
                </a:solidFill>
              </a:defRPr>
            </a:pPr>
            <a:r>
              <a:rPr sz="750" b="1" i="0">
                <a:solidFill>
                  <a:srgbClr val="2E9B76"/>
                </a:solidFill>
              </a:rPr>
              <a:t>14h30 - 15h45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6C857-F1D7-48F8-AE5F-C9B5D3EC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098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Atelier 3 : comptes rendus et procès-verbaux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89A58F-CCB2-4614-85F7-138E9C80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Passer de notes brutes à un document exploitable avec décisions, actions et échéances.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16B6D-309B-4054-8CBB-2F7797E1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E9B76"/>
                </a:solidFill>
              </a:defRPr>
            </a:pPr>
            <a:r>
              <a:rPr sz="750" b="1" i="0">
                <a:solidFill>
                  <a:srgbClr val="2E9B76"/>
                </a:solidFill>
              </a:rPr>
              <a:t>16h00 - 17h00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B141F-CFF8-491D-947A-AABF2CD4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19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Mise en situation encadrée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F0784-797E-4F3E-80FA-EACF7D357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Exercice fil rouge à partir d'une réunion fictive de direction ou d'un cabinet.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7399AC-B66C-4CCF-8578-06D4776B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2E9B76"/>
                </a:solidFill>
              </a:defRPr>
            </a:pPr>
            <a:r>
              <a:rPr sz="750" b="1" i="0">
                <a:solidFill>
                  <a:srgbClr val="2E9B76"/>
                </a:solidFill>
              </a:rPr>
              <a:t>17h00 - 17h30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72A08-9BB6-4767-A8A7-4AAE911D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290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Debrief et capitalisation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2B7373-D2B5-4176-A6F3-E6348E2D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100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Erreurs observées, bonnes formulations, check-list de relecture avant validation.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C6459-B575-49D1-A807-62B45CF3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6038850"/>
            <a:ext cx="8343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0">
            <a:solidFill>
              <a:srgbClr val="E6F5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495CE1-4B28-4430-A0D5-68606EB6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6105525"/>
            <a:ext cx="815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2E9B76"/>
                </a:solidFill>
              </a:defRPr>
            </a:pPr>
            <a:r>
              <a:rPr sz="788" b="1" i="0">
                <a:solidFill>
                  <a:srgbClr val="2E9B76"/>
                </a:solidFill>
              </a:rPr>
              <a:t>Objectif pédagogique : produire des livrables administratifs immédiatement réutilisables.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D1BF6-0393-4839-B0D7-D9CC60BF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F0DFC2-9797-43CF-824A-0CE4A1D9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C957F7-4CF6-4240-9BE4-D1325F17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387406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D92D0F-BBAE-4E58-9B1F-C9F817F1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JOUR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38883-7416-410A-BC88-CDFEDEB0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3263C"/>
                </a:solidFill>
              </a:defRPr>
            </a:pPr>
            <a:r>
              <a:rPr sz="2175" b="1" i="0">
                <a:solidFill>
                  <a:srgbClr val="13263C"/>
                </a:solidFill>
              </a:rPr>
              <a:t>Programme détaillé | matinée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756E6-1C35-4943-8459-A0EDA193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0EF9B-30F2-4867-B298-716B68BF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108204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35E8A"/>
          </a:solidFill>
          <a:ln xmlns:a="http://schemas.openxmlformats.org/drawingml/2006/main" w="0">
            <a:solidFill>
              <a:srgbClr val="335E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690E7-A0E0-4E08-8852-E2161A0B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Jour 2 - Matin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4B8B1-788F-498A-A1BD-DA56BEB0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335E8A"/>
                </a:solidFill>
              </a:defRPr>
            </a:pPr>
            <a:r>
              <a:rPr sz="750" b="1" i="0">
                <a:solidFill>
                  <a:srgbClr val="335E8A"/>
                </a:solidFill>
              </a:rPr>
              <a:t>08h30 - 09h30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040D6-F66C-497E-9F72-CC643D38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0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Atelier 4 : classement, gestion documentaire et recherche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BFEF9-CF5B-489E-9C23-C63D04E9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Structurer les dossiers, résumer des documents longs, retrouver l'information utile.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41F24-67EC-4ED9-8F91-966285AA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335E8A"/>
                </a:solidFill>
              </a:defRPr>
            </a:pPr>
            <a:r>
              <a:rPr sz="750" b="1" i="0">
                <a:solidFill>
                  <a:srgbClr val="335E8A"/>
                </a:solidFill>
              </a:rPr>
              <a:t>09h30 - 10h45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1B1E9-5CC0-4F12-9067-9BA36524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098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Atelier 5 : notes de synthèse et supports de présentation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41E93-40FE-48D7-8226-B83B548E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Produire une note d'aide à la décision et un plan de présentation à partir d'un dossier.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2E03D-21E0-46DA-879E-7FB16359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335E8A"/>
                </a:solidFill>
              </a:defRPr>
            </a:pPr>
            <a:r>
              <a:rPr sz="750" b="1" i="0">
                <a:solidFill>
                  <a:srgbClr val="335E8A"/>
                </a:solidFill>
              </a:rPr>
              <a:t>11h00 - 12h30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E409B-9CF7-4071-8124-5ECFBC74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19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Travaux pratiques croisés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4811A-5CF1-4517-AAF6-F0CE9CB5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Courrier + synthèse + briefing + présentation sur un même cas institutionnel.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D162F-917E-45E9-8C80-09608D4F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038850"/>
            <a:ext cx="78867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0">
            <a:solidFill>
              <a:srgbClr val="E8F0F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82E86B-8CF2-4281-B8E7-CC2DA41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105525"/>
            <a:ext cx="7696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335E8A"/>
                </a:solidFill>
              </a:defRPr>
            </a:pPr>
            <a:r>
              <a:rPr sz="788" b="1" i="0">
                <a:solidFill>
                  <a:srgbClr val="335E8A"/>
                </a:solidFill>
              </a:rPr>
              <a:t>Objectif pédagogique : apprendre à faire parler les documents sans noyer la décision.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7D7162-CC7C-47DC-8E68-B7912F47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95958-87CF-45CB-9B77-B7B770E2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F1943-F51F-41C4-B759-CCB00C8F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24862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8C93F-0A19-4E8A-BB57-89209E1F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JOUR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EA0EB-C8F6-48C4-8E6E-B9FA165A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714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3263C"/>
                </a:solidFill>
              </a:defRPr>
            </a:pPr>
            <a:r>
              <a:rPr sz="2175" b="1" i="0">
                <a:solidFill>
                  <a:srgbClr val="13263C"/>
                </a:solidFill>
              </a:rPr>
              <a:t>Programme détaillé | après-midi et clôture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C206A-5F3F-498A-B305-6B217466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89610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3E8DB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1B76E-0B55-468D-8EA3-EB70F52B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68961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6B27"/>
          </a:solidFill>
          <a:ln xmlns:a="http://schemas.openxmlformats.org/drawingml/2006/main" w="0">
            <a:solidFill>
              <a:srgbClr val="D96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C75DC-08FA-47D5-8480-D03187ED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3263C"/>
                </a:solidFill>
              </a:defRPr>
            </a:pPr>
            <a:r>
              <a:rPr sz="1350" b="1" i="0">
                <a:solidFill>
                  <a:srgbClr val="13263C"/>
                </a:solidFill>
              </a:rPr>
              <a:t>Jour 2 - Après-midi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B70B7-6654-472E-B4B8-12FFA25A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13h30 - 14h30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4DE81-7AD5-4971-9435-AB8A56D6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0275"/>
            <a:ext cx="560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Bibliothèque de prompts métier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6F5B0-D53C-4C4F-BA6B-D78D78C1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Construire les prompts types par situation : courrier, PV, note, briefing, synthèse.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68DB4E-4569-43BA-8800-B1BCFC84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14h30 - 15h45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EE058-40B3-42E7-9D73-2D1B7F8C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09875"/>
            <a:ext cx="560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Charte interne et protocole de validation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F50C9-7C42-4B85-A2E4-BA56E4C4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Règles minimales d'usage, rôles, niveaux de sensibilité, étapes de contrôle.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D57B96-56F9-463D-A6D5-4889C358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D96B27"/>
                </a:solidFill>
              </a:defRPr>
            </a:pPr>
            <a:r>
              <a:rPr sz="750" b="1" i="0">
                <a:solidFill>
                  <a:srgbClr val="D96B27"/>
                </a:solidFill>
              </a:rPr>
              <a:t>16h00 - 17h00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79B60-5826-47B4-AC09-E7987D48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19475"/>
            <a:ext cx="560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1" i="0">
                <a:solidFill>
                  <a:srgbClr val="13263C"/>
                </a:solidFill>
              </a:defRPr>
            </a:pPr>
            <a:r>
              <a:rPr sz="1013" b="1" i="0">
                <a:solidFill>
                  <a:srgbClr val="13263C"/>
                </a:solidFill>
              </a:rPr>
              <a:t>Évaluation finale et restitution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C6526-3B23-462A-80F5-DC773168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68798B"/>
                </a:solidFill>
              </a:defRPr>
            </a:pPr>
            <a:r>
              <a:rPr sz="863" b="0" i="0">
                <a:solidFill>
                  <a:srgbClr val="68798B"/>
                </a:solidFill>
              </a:rPr>
              <a:t>Cas pratique final, corrections, engagements d'application dans le poste.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B0762A-F889-4E42-9F65-8769736E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36004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9CF5E-F074-4D91-A50D-9256669D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3263C"/>
                </a:solidFill>
              </a:defRPr>
            </a:pPr>
            <a:r>
              <a:rPr sz="1425" b="1" i="0">
                <a:solidFill>
                  <a:srgbClr val="13263C"/>
                </a:solidFill>
              </a:rPr>
              <a:t>Livrables remis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CAEFC4-BBD9-496A-84A8-6E165755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3257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Support PowerPoint et version PDF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Bibliothèque de prompts métier prête à l'emploi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Check-list de protection des données sensibles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Mini-charte interne d'usage de l'IA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Études de cas corrigées et attestation de participation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6590C-CD63-43E2-81F3-CB57DE03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5260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6"/>
          </a:solidFill>
          <a:ln xmlns:a="http://schemas.openxmlformats.org/drawingml/2006/main" w="0">
            <a:solidFill>
              <a:srgbClr val="2E9B7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C8EE20-935E-4027-B4B0-947851DD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90950"/>
            <a:ext cx="3600450" cy="2076450"/>
          </a:xfrm>
          <a:prstGeom xmlns:a="http://schemas.openxmlformats.org/drawingml/2006/main" prst="roundRect">
            <a:avLst>
              <a:gd name="adj" fmla="val 7339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9525">
            <a:solidFill>
              <a:srgbClr val="E6F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50383-C42E-4963-AC84-0FF0194E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8145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3263C"/>
                </a:solidFill>
              </a:defRPr>
            </a:pPr>
            <a:r>
              <a:rPr sz="1425" b="1" i="0">
                <a:solidFill>
                  <a:srgbClr val="13263C"/>
                </a:solidFill>
              </a:rPr>
              <a:t>Résultat attendu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6FF4F8-96CB-4A1B-9B12-7DC528D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3257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Des participants capables d'utiliser l'IA sans mettre l'organisation en risque.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Des gains de temps visibles dès les premiers usages.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Une base commune de prompts et de réflexes de confidentialité.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4ADF8A-1BF0-46F3-8974-00C87E50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8145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27"/>
          </a:solidFill>
          <a:ln xmlns:a="http://schemas.openxmlformats.org/drawingml/2006/main" w="0">
            <a:solidFill>
              <a:srgbClr val="D96B2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F9CF6C-42C5-46E6-A3FB-049C57BC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37E03E-C477-43C8-82A0-A7DF166B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D5784-112A-4819-BD91-0DF815AD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25872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F8F70F-E78A-4186-962B-7B032423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DB"/>
          </a:solidFill>
          <a:ln xmlns:a="http://schemas.openxmlformats.org/drawingml/2006/main" w="0">
            <a:solidFill>
              <a:srgbClr val="F3E8D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B2DF0-E77F-43EC-A048-3F42E5C3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5962650" cy="5486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0C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C5F182-AD73-47D1-92AB-5281446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334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PRÉLUDE COMMERCIAL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374845-BA37-488C-BC43-5F59D67C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38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3263C"/>
                </a:solidFill>
              </a:defRPr>
            </a:pPr>
            <a:r>
              <a:rPr sz="2100" b="1" i="0">
                <a:solidFill>
                  <a:srgbClr val="13263C"/>
                </a:solidFill>
              </a:rPr>
              <a:t>Le webinaire gratuit qui prépare la vente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A7E9BE-7936-4008-9132-25B27554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 b="0" i="0">
                <a:solidFill>
                  <a:srgbClr val="13263C"/>
                </a:solidFill>
              </a:defRPr>
            </a:pPr>
            <a:r>
              <a:rPr sz="1140" b="0" i="0">
                <a:solidFill>
                  <a:srgbClr val="13263C"/>
                </a:solidFill>
              </a:rPr>
              <a:t>Titre conseillé : “IA au service des secrétariats de direction : gains rapides, limites et protection des données sensibles”.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7C8E7-C7A7-45BF-BEF5-A962AE53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953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68798B"/>
                </a:solidFill>
              </a:defRPr>
            </a:pPr>
            <a:r>
              <a:rPr sz="1050" b="0" i="0">
                <a:solidFill>
                  <a:srgbClr val="68798B"/>
                </a:solidFill>
              </a:rPr>
              <a:t>• Format conseillé : 45 à 60 minutes</a:t>
            </a:r>
          </a:p>
          <a:p xmlns:a="http://schemas.openxmlformats.org/drawingml/2006/main">
            <a:pPr>
              <a:defRPr sz="1050" b="0" i="0">
                <a:solidFill>
                  <a:srgbClr val="68798B"/>
                </a:solidFill>
              </a:defRPr>
            </a:pPr>
            <a:r>
              <a:rPr sz="1050" b="0" i="0">
                <a:solidFill>
                  <a:srgbClr val="68798B"/>
                </a:solidFill>
              </a:rPr>
              <a:t>• Objectif : rassurer, sensibiliser et convertir vers la formation complète</a:t>
            </a:r>
          </a:p>
          <a:p xmlns:a="http://schemas.openxmlformats.org/drawingml/2006/main">
            <a:pPr>
              <a:defRPr sz="1050" b="0" i="0">
                <a:solidFill>
                  <a:srgbClr val="68798B"/>
                </a:solidFill>
              </a:defRPr>
            </a:pPr>
            <a:r>
              <a:rPr sz="1050" b="0" i="0">
                <a:solidFill>
                  <a:srgbClr val="68798B"/>
                </a:solidFill>
              </a:rPr>
              <a:t>• Contenu : ce que l'IA peut faire, limites, 5 erreurs à éviter, données sensibles, 2 démonstrations métier</a:t>
            </a:r>
          </a:p>
          <a:p xmlns:a="http://schemas.openxmlformats.org/drawingml/2006/main">
            <a:pPr>
              <a:defRPr sz="1050" b="0" i="0">
                <a:solidFill>
                  <a:srgbClr val="68798B"/>
                </a:solidFill>
              </a:defRPr>
            </a:pPr>
            <a:r>
              <a:rPr sz="1050" b="0" i="0">
                <a:solidFill>
                  <a:srgbClr val="68798B"/>
                </a:solidFill>
              </a:rPr>
              <a:t>• CTA final : inscription à la formation de 2 jours ou demande de session intra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6831C-6215-42A6-89A9-06289986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54292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E8F0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57309-9737-4A92-B6D6-C0407BE7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720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Objectif commercial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F01B3-1833-4B18-B8F3-3481665B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5" b="0" i="0">
                <a:solidFill>
                  <a:srgbClr val="13263C"/>
                </a:solidFill>
              </a:defRPr>
            </a:pPr>
            <a:r>
              <a:rPr sz="1005" b="0" i="0">
                <a:solidFill>
                  <a:srgbClr val="13263C"/>
                </a:solidFill>
              </a:rPr>
              <a:t>Rassurer, éveiller le besoin, faire sentir le risque sur les données et convertir vers la session complète de 2 jours.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6ff6b030e48e2"/>
          <a:srcRect xmlns:a="http://schemas.openxmlformats.org/drawingml/2006/main" l="25000" t="0" r="25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19150"/>
            <a:ext cx="4572000" cy="2438400"/>
          </a:xfrm>
          <a:prstGeom xmlns:a="http://schemas.openxmlformats.org/drawingml/2006/main" prst="roundRect">
            <a:avLst>
              <a:gd name="adj" fmla="val 625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04405-4A5E-49B4-B4D8-1529516B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4572000" cy="23241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F8ACE-E262-4792-9569-6A331BAA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52850"/>
            <a:ext cx="422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3263C"/>
                </a:solidFill>
              </a:defRPr>
            </a:pPr>
            <a:r>
              <a:rPr sz="1425" b="1" i="0">
                <a:solidFill>
                  <a:srgbClr val="13263C"/>
                </a:solidFill>
              </a:rPr>
              <a:t>Script simple du webinaire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486D6A-380C-4E03-8D20-357DFE28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52900"/>
            <a:ext cx="42291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1. Ce que l'IA peut faire pour ces métiers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2. Ce que l'IA ne doit jamais recevoir comme données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3. Deux démonstrations métier sécurisées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4. Questions-réponses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5. Invitation à la formation complète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65944-D072-41DA-802B-B0370450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5285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6"/>
          </a:solidFill>
          <a:ln xmlns:a="http://schemas.openxmlformats.org/drawingml/2006/main" w="0">
            <a:solidFill>
              <a:srgbClr val="2E9B7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A3951D-C369-475C-A416-62537095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5A4D31-56BC-4FF1-A9E5-8E6DD0BC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8C61C4-0B90-4537-A10D-D456043C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324968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AA1EF5-7E75-4FEA-BD0D-9A522B31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 i="0">
                <a:solidFill>
                  <a:srgbClr val="D96B27"/>
                </a:solidFill>
              </a:defRPr>
            </a:pPr>
            <a:r>
              <a:rPr sz="788" b="1" i="0">
                <a:solidFill>
                  <a:srgbClr val="D96B27"/>
                </a:solidFill>
              </a:rPr>
              <a:t>COMMERCIALISATION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A58B3-9AB5-4106-936B-CB859A85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13263C"/>
                </a:solidFill>
              </a:defRPr>
            </a:pPr>
            <a:r>
              <a:rPr sz="2175" b="1" i="0">
                <a:solidFill>
                  <a:srgbClr val="13263C"/>
                </a:solidFill>
              </a:rPr>
              <a:t>Prix conseillé et formats de vente sur le marché ivoirien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336D9-1F0F-43E9-8456-B7DFB729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33528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E0D0"/>
          </a:solidFill>
          <a:ln xmlns:a="http://schemas.openxmlformats.org/drawingml/2006/main" w="9525">
            <a:solidFill>
              <a:srgbClr val="F8E0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5F98D-8D55-4D55-9DE2-636AE1B0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3263C"/>
                </a:solidFill>
              </a:defRPr>
            </a:pPr>
            <a:r>
              <a:rPr sz="1425" b="1" i="0">
                <a:solidFill>
                  <a:srgbClr val="13263C"/>
                </a:solidFill>
              </a:rPr>
              <a:t>Fourchette inter-entreprises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CEAEE-7CF4-4427-9245-EC252BF2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009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Inter-entreprises : 175 000 à 275 000 FCFA par participant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4B9F6-A665-45F1-9D6B-A10F29F4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5260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27"/>
          </a:solidFill>
          <a:ln xmlns:a="http://schemas.openxmlformats.org/drawingml/2006/main" w="0">
            <a:solidFill>
              <a:srgbClr val="D96B2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0A1BB-8148-49BB-9839-E415591A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62100"/>
            <a:ext cx="33528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6F5EF"/>
          </a:solidFill>
          <a:ln xmlns:a="http://schemas.openxmlformats.org/drawingml/2006/main" w="9525">
            <a:solidFill>
              <a:srgbClr val="E6F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B68F3-4828-42EB-8B0A-51049E92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5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3263C"/>
                </a:solidFill>
              </a:defRPr>
            </a:pPr>
            <a:r>
              <a:rPr sz="1425" b="1" i="0">
                <a:solidFill>
                  <a:srgbClr val="13263C"/>
                </a:solidFill>
              </a:rPr>
              <a:t>Fourchette intra standard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123CE5-A5EA-4E5B-B906-B20B6249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3009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Intra standard 12 à 20 participants : 3,5 à 5,5 millions FCFA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D9FD4-8158-4E7A-92EB-C2A59C7C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5260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6"/>
          </a:solidFill>
          <a:ln xmlns:a="http://schemas.openxmlformats.org/drawingml/2006/main" w="0">
            <a:solidFill>
              <a:srgbClr val="2E9B7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C74FE-E005-45C0-BDCB-ED538743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62100"/>
            <a:ext cx="3352800" cy="21336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8F0F8"/>
          </a:solidFill>
          <a:ln xmlns:a="http://schemas.openxmlformats.org/drawingml/2006/main" w="9525">
            <a:solidFill>
              <a:srgbClr val="E8F0F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386A0-91AE-49E4-9330-3CFC1937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3263C"/>
                </a:solidFill>
              </a:defRPr>
            </a:pPr>
            <a:r>
              <a:rPr sz="1425" b="1" i="0">
                <a:solidFill>
                  <a:srgbClr val="13263C"/>
                </a:solidFill>
              </a:rPr>
              <a:t>Offre premium sensible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8B7D7-FC81-4C0F-9EF9-683A9604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30099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Version premium administration, cabinet, diplomatie : 6 à 8,5 millions FCFA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5D76B4-BBD9-4B98-AAEA-B304374E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E8A"/>
          </a:solidFill>
          <a:ln xmlns:a="http://schemas.openxmlformats.org/drawingml/2006/main" w="0">
            <a:solidFill>
              <a:srgbClr val="335E8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F473F-61DE-4E8A-8D42-86B79470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49530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18064-D38D-40A9-AE8A-3FEF04AB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610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3263C"/>
                </a:solidFill>
              </a:defRPr>
            </a:pPr>
            <a:r>
              <a:rPr sz="1425" b="1" i="0">
                <a:solidFill>
                  <a:srgbClr val="13263C"/>
                </a:solidFill>
              </a:rPr>
              <a:t>Lancement recommandé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60AA6-3ED2-4180-95DF-3DB65421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610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Pilote de lancement recommandé : 3,2 à 3,8 millions FCFA pour la première cohorte vitrine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A3D388-03A3-41D9-AC18-342F9FBF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27"/>
          </a:solidFill>
          <a:ln xmlns:a="http://schemas.openxmlformats.org/drawingml/2006/main" w="0">
            <a:solidFill>
              <a:srgbClr val="D96B2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FB4F5-6C34-4E6D-A0F8-A39BCB45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62400"/>
            <a:ext cx="55626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82731-97A4-4267-ADFE-336E56D6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52900"/>
            <a:ext cx="521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3263C"/>
                </a:solidFill>
              </a:defRPr>
            </a:pPr>
            <a:r>
              <a:rPr sz="1425" b="1" i="0">
                <a:solidFill>
                  <a:srgbClr val="13263C"/>
                </a:solidFill>
              </a:rPr>
              <a:t>Conseil de vente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9BEB9-AA1A-44F1-B843-D963C31A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52950"/>
            <a:ext cx="5219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Ne pas vendre “une formation ChatGPT”.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Vendre une montée en compétence IA adaptée à l'administration, au cabinet et aux environnements sensibles.</a:t>
            </a:r>
          </a:p>
          <a:p xmlns:a="http://schemas.openxmlformats.org/drawingml/2006/main">
            <a:pPr>
              <a:defRPr sz="945" b="0" i="0">
                <a:solidFill>
                  <a:srgbClr val="13263C"/>
                </a:solidFill>
              </a:defRPr>
            </a:pPr>
            <a:r>
              <a:rPr sz="945" b="0" i="0">
                <a:solidFill>
                  <a:srgbClr val="13263C"/>
                </a:solidFill>
              </a:rPr>
              <a:t>• Mettre en avant : productivité, qualité rédactionnelle, sécurité des données, bibliothèque de prompts et cas métier.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25DAD4-D9D5-4512-BE36-9FE93D41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52900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76"/>
          </a:solidFill>
          <a:ln xmlns:a="http://schemas.openxmlformats.org/drawingml/2006/main" w="0">
            <a:solidFill>
              <a:srgbClr val="2E9B7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20CEF-4778-4B92-9E77-0ADDD5DE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142C46"/>
          </a:solidFill>
          <a:ln xmlns:a="http://schemas.openxmlformats.org/drawingml/2006/main" w="9525">
            <a:solidFill>
              <a:srgbClr val="142C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DB5F1A-718B-4564-AF9C-FB66AF6F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19800"/>
            <a:ext cx="10401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85" b="1" i="0">
                <a:solidFill>
                  <a:srgbClr val="FFFFFF"/>
                </a:solidFill>
              </a:defRPr>
            </a:pPr>
            <a:r>
              <a:rPr sz="885" b="1" i="0">
                <a:solidFill>
                  <a:srgbClr val="FFFFFF"/>
                </a:solidFill>
              </a:rPr>
              <a:t>Sortie recommandée : proposer un webinaire gratuit, puis une session pilote intra avant déploiement plus large.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7E4A4B-9C86-414C-98D2-9A2B576D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1102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0C6"/>
          </a:solidFill>
          <a:ln xmlns:a="http://schemas.openxmlformats.org/drawingml/2006/main" w="0">
            <a:solidFill>
              <a:srgbClr val="D9D0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703B5-1C83-4416-96B1-857A7D0D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885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38" b="0" i="0">
                <a:solidFill>
                  <a:srgbClr val="68798B"/>
                </a:solidFill>
              </a:defRPr>
            </a:pPr>
            <a:r>
              <a:rPr sz="638" b="0" i="0">
                <a:solidFill>
                  <a:srgbClr val="68798B"/>
                </a:solidFill>
              </a:rPr>
              <a:t>TransferAI Africa | Formation IA pour secrétariats de direction et fonctions institutionnelles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23A8C-942C-489C-8923-3B154D5E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54367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 i="0">
                <a:solidFill>
                  <a:srgbClr val="13263C"/>
                </a:solidFill>
              </a:defRPr>
            </a:pPr>
            <a:r>
              <a:rPr sz="750" b="1" i="0">
                <a:solidFill>
                  <a:srgbClr val="13263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63324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2026-06-28T17:53:49.1340000Z</dcterms:created>
  <dcterms:modified xsi:type="dcterms:W3CDTF">2026-06-28T17:53:49.1350000Z</dcterms:modified>
</coreProperties>
</file>