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38"/>
  </p:normalViewPr>
  <p:slideViewPr>
    <p:cSldViewPr snapToGrid="0">
      <p:cViewPr varScale="1">
        <p:scale>
          <a:sx n="133" d="100"/>
          <a:sy n="133" d="100"/>
        </p:scale>
        <p:origin x="3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68424E5E-33E2-43B3-9775-7FE324B8EFE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E"/>
          </a:solidFill>
          <a:ln w="0">
            <a:solidFill>
              <a:srgbClr val="F7F3EE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2B31134-700D-4E1D-B357-5ABD66BCEB4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048500" cy="6858000"/>
          </a:xfrm>
          <a:prstGeom prst="rect">
            <a:avLst/>
          </a:prstGeom>
          <a:solidFill>
            <a:srgbClr val="F7F3EE"/>
          </a:solidFill>
          <a:ln w="9525">
            <a:solidFill>
              <a:srgbClr val="F7F3EE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988D0E-8E81-409D-B844-096D88F92409}"/>
              </a:ext>
            </a:extLst>
          </p:cNvPr>
          <p:cNvSpPr>
            <a:spLocks noGrp="1"/>
          </p:cNvSpPr>
          <p:nvPr/>
        </p:nvSpPr>
        <p:spPr>
          <a:xfrm>
            <a:off x="7048500" y="0"/>
            <a:ext cx="5143500" cy="6858000"/>
          </a:xfrm>
          <a:prstGeom prst="rect">
            <a:avLst/>
          </a:prstGeom>
          <a:solidFill>
            <a:srgbClr val="EEE6DE"/>
          </a:solidFill>
          <a:ln w="9525">
            <a:solidFill>
              <a:srgbClr val="EEE6DE"/>
            </a:solidFill>
            <a:prstDash val="solid"/>
          </a:ln>
        </p:spPr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rcRect l="5067" r="5067"/>
          <a:stretch>
            <a:fillRect/>
          </a:stretch>
        </p:blipFill>
        <p:spPr>
          <a:xfrm>
            <a:off x="7048500" y="2667000"/>
            <a:ext cx="5143500" cy="321945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2FD8F3A-2154-4206-9EC6-FF0400EDE739}"/>
              </a:ext>
            </a:extLst>
          </p:cNvPr>
          <p:cNvSpPr>
            <a:spLocks noGrp="1"/>
          </p:cNvSpPr>
          <p:nvPr/>
        </p:nvSpPr>
        <p:spPr>
          <a:xfrm>
            <a:off x="571500" y="781050"/>
            <a:ext cx="5334000" cy="4114800"/>
          </a:xfrm>
          <a:prstGeom prst="rect">
            <a:avLst/>
          </a:prstGeom>
          <a:solidFill>
            <a:srgbClr val="FFFDFC"/>
          </a:solidFill>
          <a:ln w="9525">
            <a:solidFill>
              <a:srgbClr val="D9D3CC"/>
            </a:solidFill>
            <a:prstDash val="solid"/>
          </a:ln>
        </p:spPr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84069" y="1028700"/>
            <a:ext cx="1384663" cy="6096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EE09154-75F1-4170-B227-E90592677BE4}"/>
              </a:ext>
            </a:extLst>
          </p:cNvPr>
          <p:cNvSpPr>
            <a:spLocks noGrp="1"/>
          </p:cNvSpPr>
          <p:nvPr/>
        </p:nvSpPr>
        <p:spPr>
          <a:xfrm>
            <a:off x="819150" y="1809750"/>
            <a:ext cx="2286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OFFRE ENTREPRISE CIBLÉE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6D6278B-E940-4E40-8687-0F7BFECE3513}"/>
              </a:ext>
            </a:extLst>
          </p:cNvPr>
          <p:cNvSpPr>
            <a:spLocks noGrp="1"/>
          </p:cNvSpPr>
          <p:nvPr/>
        </p:nvSpPr>
        <p:spPr>
          <a:xfrm>
            <a:off x="819150" y="2114550"/>
            <a:ext cx="40957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TransferAI Africa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DF9D9EB-2BF0-48BB-9658-202D068C4843}"/>
              </a:ext>
            </a:extLst>
          </p:cNvPr>
          <p:cNvSpPr>
            <a:spLocks noGrp="1"/>
          </p:cNvSpPr>
          <p:nvPr/>
        </p:nvSpPr>
        <p:spPr>
          <a:xfrm>
            <a:off x="819150" y="2647950"/>
            <a:ext cx="44767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Offre entreprise ciblée : formation, accompagnement et cas d'usage utiles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A0F100-5462-4955-B28F-B91E3766CCD3}"/>
              </a:ext>
            </a:extLst>
          </p:cNvPr>
          <p:cNvSpPr>
            <a:spLocks noGrp="1"/>
          </p:cNvSpPr>
          <p:nvPr/>
        </p:nvSpPr>
        <p:spPr>
          <a:xfrm>
            <a:off x="819150" y="3638550"/>
            <a:ext cx="44767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Pour une structure comme Elton Oil CI, nous mettons en avant le service derrière l'IA : audit, formation, cadrage, gouvernance et mise en œuvre progressive.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1A764D-B4CC-42E1-A5A0-1CC302C1B3BE}"/>
              </a:ext>
            </a:extLst>
          </p:cNvPr>
          <p:cNvSpPr>
            <a:spLocks noGrp="1"/>
          </p:cNvSpPr>
          <p:nvPr/>
        </p:nvSpPr>
        <p:spPr>
          <a:xfrm>
            <a:off x="819150" y="4362450"/>
            <a:ext cx="4476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Point d'entrée recommandé : audit IA gratuit, puis échange expert de 45 minutes.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840AFB-C60C-4F84-8AE7-EA80AF37D95A}"/>
              </a:ext>
            </a:extLst>
          </p:cNvPr>
          <p:cNvSpPr>
            <a:spLocks noGrp="1"/>
          </p:cNvSpPr>
          <p:nvPr/>
        </p:nvSpPr>
        <p:spPr>
          <a:xfrm>
            <a:off x="571500" y="5200650"/>
            <a:ext cx="1428750" cy="895350"/>
          </a:xfrm>
          <a:prstGeom prst="rect">
            <a:avLst/>
          </a:prstGeom>
          <a:solidFill>
            <a:srgbClr val="FFFDFC"/>
          </a:solidFill>
          <a:ln w="9525">
            <a:solidFill>
              <a:srgbClr val="D9D3CC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9C4EE35-302D-4DF7-B829-89D59D4A922E}"/>
              </a:ext>
            </a:extLst>
          </p:cNvPr>
          <p:cNvSpPr>
            <a:spLocks noGrp="1"/>
          </p:cNvSpPr>
          <p:nvPr/>
        </p:nvSpPr>
        <p:spPr>
          <a:xfrm>
            <a:off x="742950" y="5372100"/>
            <a:ext cx="38100" cy="552450"/>
          </a:xfrm>
          <a:prstGeom prst="rect">
            <a:avLst/>
          </a:prstGeom>
          <a:solidFill>
            <a:srgbClr val="D66724"/>
          </a:solidFill>
          <a:ln w="0">
            <a:solidFill>
              <a:srgbClr val="D66724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B613F8-F3A6-42F7-952D-F0439214E92B}"/>
              </a:ext>
            </a:extLst>
          </p:cNvPr>
          <p:cNvSpPr>
            <a:spLocks noGrp="1"/>
          </p:cNvSpPr>
          <p:nvPr/>
        </p:nvSpPr>
        <p:spPr>
          <a:xfrm>
            <a:off x="933450" y="5353050"/>
            <a:ext cx="933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8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F53778C-CE72-4B53-B320-CB01387A4F46}"/>
              </a:ext>
            </a:extLst>
          </p:cNvPr>
          <p:cNvSpPr>
            <a:spLocks noGrp="1"/>
          </p:cNvSpPr>
          <p:nvPr/>
        </p:nvSpPr>
        <p:spPr>
          <a:xfrm>
            <a:off x="933450" y="5715000"/>
            <a:ext cx="933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16072"/>
                </a:solidFill>
                <a:latin typeface="Aptos"/>
                <a:ea typeface="Aptos"/>
                <a:cs typeface="Aptos"/>
              </a:rPr>
              <a:t>formations prioritaires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9EF4624-3D16-495E-A7AF-2B39BB44E881}"/>
              </a:ext>
            </a:extLst>
          </p:cNvPr>
          <p:cNvSpPr>
            <a:spLocks noGrp="1"/>
          </p:cNvSpPr>
          <p:nvPr/>
        </p:nvSpPr>
        <p:spPr>
          <a:xfrm>
            <a:off x="2171700" y="5200650"/>
            <a:ext cx="1428750" cy="895350"/>
          </a:xfrm>
          <a:prstGeom prst="rect">
            <a:avLst/>
          </a:prstGeom>
          <a:solidFill>
            <a:srgbClr val="FFFDFC"/>
          </a:solidFill>
          <a:ln w="9525">
            <a:solidFill>
              <a:srgbClr val="D9D3CC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ECA73C0-64D6-4E5D-B61A-360C459F9FF4}"/>
              </a:ext>
            </a:extLst>
          </p:cNvPr>
          <p:cNvSpPr>
            <a:spLocks noGrp="1"/>
          </p:cNvSpPr>
          <p:nvPr/>
        </p:nvSpPr>
        <p:spPr>
          <a:xfrm>
            <a:off x="2343150" y="5372100"/>
            <a:ext cx="38100" cy="552450"/>
          </a:xfrm>
          <a:prstGeom prst="rect">
            <a:avLst/>
          </a:prstGeom>
          <a:solidFill>
            <a:srgbClr val="2FB67E"/>
          </a:solidFill>
          <a:ln w="0">
            <a:solidFill>
              <a:srgbClr val="2FB67E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4B1F6B8-9DF1-495C-A2F5-C998DBB89878}"/>
              </a:ext>
            </a:extLst>
          </p:cNvPr>
          <p:cNvSpPr>
            <a:spLocks noGrp="1"/>
          </p:cNvSpPr>
          <p:nvPr/>
        </p:nvSpPr>
        <p:spPr>
          <a:xfrm>
            <a:off x="2533650" y="5353050"/>
            <a:ext cx="933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520426D-D654-4342-8BBC-AFC39914D893}"/>
              </a:ext>
            </a:extLst>
          </p:cNvPr>
          <p:cNvSpPr>
            <a:spLocks noGrp="1"/>
          </p:cNvSpPr>
          <p:nvPr/>
        </p:nvSpPr>
        <p:spPr>
          <a:xfrm>
            <a:off x="2533650" y="5715000"/>
            <a:ext cx="933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16072"/>
                </a:solidFill>
                <a:latin typeface="Aptos"/>
                <a:ea typeface="Aptos"/>
                <a:cs typeface="Aptos"/>
              </a:rPr>
              <a:t>blocs d'offre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4CC9DDE-2FCB-49AB-876B-8FDF457F7530}"/>
              </a:ext>
            </a:extLst>
          </p:cNvPr>
          <p:cNvSpPr>
            <a:spLocks noGrp="1"/>
          </p:cNvSpPr>
          <p:nvPr/>
        </p:nvSpPr>
        <p:spPr>
          <a:xfrm>
            <a:off x="3771900" y="5200650"/>
            <a:ext cx="1428750" cy="895350"/>
          </a:xfrm>
          <a:prstGeom prst="rect">
            <a:avLst/>
          </a:prstGeom>
          <a:solidFill>
            <a:srgbClr val="FFFDFC"/>
          </a:solidFill>
          <a:ln w="9525">
            <a:solidFill>
              <a:srgbClr val="D9D3CC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7C4AFA0-7EA5-43BE-B9F7-8974477F48DB}"/>
              </a:ext>
            </a:extLst>
          </p:cNvPr>
          <p:cNvSpPr>
            <a:spLocks noGrp="1"/>
          </p:cNvSpPr>
          <p:nvPr/>
        </p:nvSpPr>
        <p:spPr>
          <a:xfrm>
            <a:off x="3943350" y="5372100"/>
            <a:ext cx="38100" cy="552450"/>
          </a:xfrm>
          <a:prstGeom prst="rect">
            <a:avLst/>
          </a:prstGeom>
          <a:solidFill>
            <a:srgbClr val="16324F"/>
          </a:solidFill>
          <a:ln w="0">
            <a:solidFill>
              <a:srgbClr val="16324F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4F0BFEE-7058-47FE-8C95-BCF715107335}"/>
              </a:ext>
            </a:extLst>
          </p:cNvPr>
          <p:cNvSpPr>
            <a:spLocks noGrp="1"/>
          </p:cNvSpPr>
          <p:nvPr/>
        </p:nvSpPr>
        <p:spPr>
          <a:xfrm>
            <a:off x="4133850" y="5353050"/>
            <a:ext cx="933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45 min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FE62707-3035-43D0-9043-DD3FFA3A3E71}"/>
              </a:ext>
            </a:extLst>
          </p:cNvPr>
          <p:cNvSpPr>
            <a:spLocks noGrp="1"/>
          </p:cNvSpPr>
          <p:nvPr/>
        </p:nvSpPr>
        <p:spPr>
          <a:xfrm>
            <a:off x="4133850" y="5715000"/>
            <a:ext cx="933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16072"/>
                </a:solidFill>
                <a:latin typeface="Aptos"/>
                <a:ea typeface="Aptos"/>
                <a:cs typeface="Aptos"/>
              </a:rPr>
              <a:t>échange gratuit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5E48358-474D-4C5F-BD6C-12686329A40E}"/>
              </a:ext>
            </a:extLst>
          </p:cNvPr>
          <p:cNvSpPr>
            <a:spLocks noGrp="1"/>
          </p:cNvSpPr>
          <p:nvPr/>
        </p:nvSpPr>
        <p:spPr>
          <a:xfrm>
            <a:off x="5372100" y="5200650"/>
            <a:ext cx="1428750" cy="895350"/>
          </a:xfrm>
          <a:prstGeom prst="rect">
            <a:avLst/>
          </a:prstGeom>
          <a:solidFill>
            <a:srgbClr val="FFFDFC"/>
          </a:solidFill>
          <a:ln w="9525">
            <a:solidFill>
              <a:srgbClr val="D9D3CC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69F1DBE-1243-4EC8-8684-1002CAE9CB8B}"/>
              </a:ext>
            </a:extLst>
          </p:cNvPr>
          <p:cNvSpPr>
            <a:spLocks noGrp="1"/>
          </p:cNvSpPr>
          <p:nvPr/>
        </p:nvSpPr>
        <p:spPr>
          <a:xfrm>
            <a:off x="5543550" y="5372100"/>
            <a:ext cx="38100" cy="552450"/>
          </a:xfrm>
          <a:prstGeom prst="rect">
            <a:avLst/>
          </a:prstGeom>
          <a:solidFill>
            <a:srgbClr val="6E7D8C"/>
          </a:solidFill>
          <a:ln w="0">
            <a:solidFill>
              <a:srgbClr val="6E7D8C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5C4A39C-9967-4B12-8EEC-80EAD9A02D6D}"/>
              </a:ext>
            </a:extLst>
          </p:cNvPr>
          <p:cNvSpPr>
            <a:spLocks noGrp="1"/>
          </p:cNvSpPr>
          <p:nvPr/>
        </p:nvSpPr>
        <p:spPr>
          <a:xfrm>
            <a:off x="5734050" y="5353050"/>
            <a:ext cx="933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0 FCFA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D2CC657-DF73-4E03-AD91-06C288AB3435}"/>
              </a:ext>
            </a:extLst>
          </p:cNvPr>
          <p:cNvSpPr>
            <a:spLocks noGrp="1"/>
          </p:cNvSpPr>
          <p:nvPr/>
        </p:nvSpPr>
        <p:spPr>
          <a:xfrm>
            <a:off x="5734050" y="5715000"/>
            <a:ext cx="933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16072"/>
                </a:solidFill>
                <a:latin typeface="Aptos"/>
                <a:ea typeface="Aptos"/>
                <a:cs typeface="Aptos"/>
              </a:rPr>
              <a:t>audit d'entrée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677FFD3-79E9-4E18-B9C7-D4CB11667AEC}"/>
              </a:ext>
            </a:extLst>
          </p:cNvPr>
          <p:cNvSpPr>
            <a:spLocks noGrp="1"/>
          </p:cNvSpPr>
          <p:nvPr/>
        </p:nvSpPr>
        <p:spPr>
          <a:xfrm>
            <a:off x="7810500" y="704850"/>
            <a:ext cx="3429000" cy="1866900"/>
          </a:xfrm>
          <a:prstGeom prst="rect">
            <a:avLst/>
          </a:prstGeom>
          <a:solidFill>
            <a:srgbClr val="16324F"/>
          </a:solidFill>
          <a:ln w="9525">
            <a:solidFill>
              <a:srgbClr val="16324F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BB9760D-F8F0-4509-8259-88BD10A1055F}"/>
              </a:ext>
            </a:extLst>
          </p:cNvPr>
          <p:cNvSpPr>
            <a:spLocks noGrp="1"/>
          </p:cNvSpPr>
          <p:nvPr/>
        </p:nvSpPr>
        <p:spPr>
          <a:xfrm>
            <a:off x="8667750" y="933450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C9D8E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9D8E8"/>
                </a:solidFill>
                <a:latin typeface="Aptos"/>
                <a:ea typeface="Aptos"/>
                <a:cs typeface="Aptos"/>
              </a:rPr>
              <a:t>Promesse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1026C34-75C0-439E-AD1A-5690E4DF5CAB}"/>
              </a:ext>
            </a:extLst>
          </p:cNvPr>
          <p:cNvSpPr>
            <a:spLocks noGrp="1"/>
          </p:cNvSpPr>
          <p:nvPr/>
        </p:nvSpPr>
        <p:spPr>
          <a:xfrm>
            <a:off x="8096250" y="1219200"/>
            <a:ext cx="2857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Faire de l'IA un levier concret de performance, de montée en compétences et de qualité de service.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93962CC-31E2-49EF-8EA1-0049B7373310}"/>
              </a:ext>
            </a:extLst>
          </p:cNvPr>
          <p:cNvSpPr>
            <a:spLocks noGrp="1"/>
          </p:cNvSpPr>
          <p:nvPr/>
        </p:nvSpPr>
        <p:spPr>
          <a:xfrm>
            <a:off x="8096250" y="2095500"/>
            <a:ext cx="2857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55" b="0">
                <a:solidFill>
                  <a:srgbClr val="E7EEF6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7EEF6"/>
                </a:solidFill>
                <a:latin typeface="Aptos"/>
                <a:ea typeface="Aptos"/>
                <a:cs typeface="Aptos"/>
              </a:rPr>
              <a:t>Une approche pensée pour transformer un besoin encore flou en plan d'action simple, formation ciblée et premier cas d'usage utile.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533373B-EE4C-4623-809A-B4B06ABBCEC5}"/>
              </a:ext>
            </a:extLst>
          </p:cNvPr>
          <p:cNvSpPr>
            <a:spLocks noGrp="1"/>
          </p:cNvSpPr>
          <p:nvPr/>
        </p:nvSpPr>
        <p:spPr>
          <a:xfrm>
            <a:off x="571500" y="6477000"/>
            <a:ext cx="11049000" cy="9525"/>
          </a:xfrm>
          <a:prstGeom prst="rect">
            <a:avLst/>
          </a:prstGeom>
          <a:solidFill>
            <a:srgbClr val="D9D3CC"/>
          </a:solidFill>
          <a:ln w="0">
            <a:solidFill>
              <a:srgbClr val="D9D3CC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267EE49-2465-4F15-928A-51BE57146494}"/>
              </a:ext>
            </a:extLst>
          </p:cNvPr>
          <p:cNvSpPr>
            <a:spLocks noGrp="1"/>
          </p:cNvSpPr>
          <p:nvPr/>
        </p:nvSpPr>
        <p:spPr>
          <a:xfrm>
            <a:off x="571500" y="6553200"/>
            <a:ext cx="933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TransferAI Africa | Offre entreprise ciblée | Formation, accompagnement et cas d'usage utiles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AAD9EB1-D878-42D5-9136-2ABB803E1599}"/>
              </a:ext>
            </a:extLst>
          </p:cNvPr>
          <p:cNvSpPr>
            <a:spLocks noGrp="1"/>
          </p:cNvSpPr>
          <p:nvPr/>
        </p:nvSpPr>
        <p:spPr>
          <a:xfrm>
            <a:off x="10858500" y="653415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213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831838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10326FAD-C42B-4085-AD6C-8A7A34A0CA3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DFC"/>
          </a:solidFill>
          <a:ln w="0">
            <a:solidFill>
              <a:srgbClr val="FFFDF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2212E38-61EC-4BD9-AE30-5118446A4100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266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CONTEXTE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62EE99-5114-4E38-BE8F-867618A880E2}"/>
              </a:ext>
            </a:extLst>
          </p:cNvPr>
          <p:cNvSpPr>
            <a:spLocks noGrp="1"/>
          </p:cNvSpPr>
          <p:nvPr/>
        </p:nvSpPr>
        <p:spPr>
          <a:xfrm>
            <a:off x="571500" y="742950"/>
            <a:ext cx="7239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Pourquoi cette offre est plus pertinente qu'un catalogue générique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1557CB-F6D1-4BDE-BE5C-8CE499419BF6}"/>
              </a:ext>
            </a:extLst>
          </p:cNvPr>
          <p:cNvSpPr>
            <a:spLocks noGrp="1"/>
          </p:cNvSpPr>
          <p:nvPr/>
        </p:nvSpPr>
        <p:spPr>
          <a:xfrm>
            <a:off x="571500" y="1733550"/>
            <a:ext cx="3143250" cy="2209800"/>
          </a:xfrm>
          <a:prstGeom prst="rect">
            <a:avLst/>
          </a:prstGeom>
          <a:solidFill>
            <a:srgbClr val="FFFDFC"/>
          </a:solidFill>
          <a:ln w="9525">
            <a:solidFill>
              <a:srgbClr val="D9D3CC"/>
            </a:solidFill>
            <a:prstDash val="solid"/>
          </a:ln>
        </p:spPr>
      </p:sp>
      <p:pic>
        <p:nvPicPr>
          <p:cNvPr id="5" name="Graphic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00100" y="1962150"/>
            <a:ext cx="285750" cy="2857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B9F8C57-B754-45DE-8FD7-121BB6142C0B}"/>
              </a:ext>
            </a:extLst>
          </p:cNvPr>
          <p:cNvSpPr>
            <a:spLocks noGrp="1"/>
          </p:cNvSpPr>
          <p:nvPr/>
        </p:nvSpPr>
        <p:spPr>
          <a:xfrm>
            <a:off x="1200150" y="1943100"/>
            <a:ext cx="2190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Mieux piloter les comptes et les opérations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846D4FA-6EE6-45EB-B111-3C3C41B399CB}"/>
              </a:ext>
            </a:extLst>
          </p:cNvPr>
          <p:cNvSpPr>
            <a:spLocks noGrp="1"/>
          </p:cNvSpPr>
          <p:nvPr/>
        </p:nvSpPr>
        <p:spPr>
          <a:xfrm>
            <a:off x="800100" y="2571750"/>
            <a:ext cx="268605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Aider la direction et les équipes à mieux exploiter les informations utiles au suivi commercial, administratif et décisionnel.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12D1C4-ADA3-4C93-A164-76CEBD774630}"/>
              </a:ext>
            </a:extLst>
          </p:cNvPr>
          <p:cNvSpPr>
            <a:spLocks noGrp="1"/>
          </p:cNvSpPr>
          <p:nvPr/>
        </p:nvSpPr>
        <p:spPr>
          <a:xfrm>
            <a:off x="4238625" y="1733550"/>
            <a:ext cx="3143250" cy="2209800"/>
          </a:xfrm>
          <a:prstGeom prst="rect">
            <a:avLst/>
          </a:prstGeom>
          <a:solidFill>
            <a:srgbClr val="16324F"/>
          </a:solidFill>
          <a:ln w="9525">
            <a:solidFill>
              <a:srgbClr val="16324F"/>
            </a:solidFill>
            <a:prstDash val="solid"/>
          </a:ln>
        </p:spPr>
      </p:sp>
      <p:pic>
        <p:nvPicPr>
          <p:cNvPr id="9" name="Graphic 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4467225" y="1962150"/>
            <a:ext cx="285750" cy="28575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583958F-E711-4F01-B304-8D774CE38331}"/>
              </a:ext>
            </a:extLst>
          </p:cNvPr>
          <p:cNvSpPr>
            <a:spLocks noGrp="1"/>
          </p:cNvSpPr>
          <p:nvPr/>
        </p:nvSpPr>
        <p:spPr>
          <a:xfrm>
            <a:off x="4867275" y="1943100"/>
            <a:ext cx="2190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Former sans perturber l'exploitation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A5BBE5-111B-45FA-A555-098ACE119399}"/>
              </a:ext>
            </a:extLst>
          </p:cNvPr>
          <p:cNvSpPr>
            <a:spLocks noGrp="1"/>
          </p:cNvSpPr>
          <p:nvPr/>
        </p:nvSpPr>
        <p:spPr>
          <a:xfrm>
            <a:off x="4467225" y="2571750"/>
            <a:ext cx="268605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E4EDF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4EDF7"/>
                </a:solidFill>
                <a:latin typeface="Aptos"/>
                <a:ea typeface="Aptos"/>
                <a:cs typeface="Aptos"/>
              </a:rPr>
              <a:t>Structurer une montée en compétences concrète pour les dirigeants, managers, équipes métier et fonctions support.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B1297D4-C449-4ED6-A689-6026A7A066FD}"/>
              </a:ext>
            </a:extLst>
          </p:cNvPr>
          <p:cNvSpPr>
            <a:spLocks noGrp="1"/>
          </p:cNvSpPr>
          <p:nvPr/>
        </p:nvSpPr>
        <p:spPr>
          <a:xfrm>
            <a:off x="7905750" y="1733550"/>
            <a:ext cx="3143250" cy="2209800"/>
          </a:xfrm>
          <a:prstGeom prst="rect">
            <a:avLst/>
          </a:prstGeom>
          <a:solidFill>
            <a:srgbClr val="FFFDFC"/>
          </a:solidFill>
          <a:ln w="9525">
            <a:solidFill>
              <a:srgbClr val="D9D3CC"/>
            </a:solidFill>
            <a:prstDash val="solid"/>
          </a:ln>
        </p:spPr>
      </p:sp>
      <p:pic>
        <p:nvPicPr>
          <p:cNvPr id="13" name="Graphic 1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8134350" y="1962150"/>
            <a:ext cx="285750" cy="28575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030061F4-0CEF-4E44-80B5-3A050CF266E7}"/>
              </a:ext>
            </a:extLst>
          </p:cNvPr>
          <p:cNvSpPr>
            <a:spLocks noGrp="1"/>
          </p:cNvSpPr>
          <p:nvPr/>
        </p:nvSpPr>
        <p:spPr>
          <a:xfrm>
            <a:off x="8534400" y="1943100"/>
            <a:ext cx="2190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Déployer avec méthode et confidentialité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E5A6A8E-42A5-4841-B532-9E163754FC55}"/>
              </a:ext>
            </a:extLst>
          </p:cNvPr>
          <p:cNvSpPr>
            <a:spLocks noGrp="1"/>
          </p:cNvSpPr>
          <p:nvPr/>
        </p:nvSpPr>
        <p:spPr>
          <a:xfrm>
            <a:off x="8134350" y="2571750"/>
            <a:ext cx="268605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Prioriser les usages utiles, protéger les données sensibles et avancer avec une feuille de route progressive.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C7DA305-DAC7-4B68-B3D9-8D98B441AC3D}"/>
              </a:ext>
            </a:extLst>
          </p:cNvPr>
          <p:cNvSpPr>
            <a:spLocks noGrp="1"/>
          </p:cNvSpPr>
          <p:nvPr/>
        </p:nvSpPr>
        <p:spPr>
          <a:xfrm>
            <a:off x="571500" y="4362450"/>
            <a:ext cx="10668000" cy="1504950"/>
          </a:xfrm>
          <a:prstGeom prst="rect">
            <a:avLst/>
          </a:prstGeom>
          <a:solidFill>
            <a:srgbClr val="FFF7F1"/>
          </a:solidFill>
          <a:ln w="9525">
            <a:solidFill>
              <a:srgbClr val="FFF7F1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F431C8D-00CE-43CC-8000-C8262B0FDB05}"/>
              </a:ext>
            </a:extLst>
          </p:cNvPr>
          <p:cNvSpPr>
            <a:spLocks noGrp="1"/>
          </p:cNvSpPr>
          <p:nvPr/>
        </p:nvSpPr>
        <p:spPr>
          <a:xfrm>
            <a:off x="838200" y="4629150"/>
            <a:ext cx="2095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Lecture commerciale recommandée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3386AA7-A31A-4493-ABAA-302A43A1D878}"/>
              </a:ext>
            </a:extLst>
          </p:cNvPr>
          <p:cNvSpPr>
            <a:spLocks noGrp="1"/>
          </p:cNvSpPr>
          <p:nvPr/>
        </p:nvSpPr>
        <p:spPr>
          <a:xfrm>
            <a:off x="838200" y="4914900"/>
            <a:ext cx="5334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Mettre en avant le service derrière l'IA.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BDB8FF5-2E82-412A-867C-75F9061BC11D}"/>
              </a:ext>
            </a:extLst>
          </p:cNvPr>
          <p:cNvSpPr>
            <a:spLocks noGrp="1"/>
          </p:cNvSpPr>
          <p:nvPr/>
        </p:nvSpPr>
        <p:spPr>
          <a:xfrm>
            <a:off x="838200" y="5314950"/>
            <a:ext cx="6096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L'entrée ne doit pas être “nous avons 130 formations”. Elle doit être “nous vous aidons à identifier vos priorités, à former les bonnes équipes et à déployer les bons usages au bon rythme”.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56D6219-FA00-4A1D-BC2B-E7B9FB457CC3}"/>
              </a:ext>
            </a:extLst>
          </p:cNvPr>
          <p:cNvSpPr>
            <a:spLocks noGrp="1"/>
          </p:cNvSpPr>
          <p:nvPr/>
        </p:nvSpPr>
        <p:spPr>
          <a:xfrm>
            <a:off x="7429500" y="4610100"/>
            <a:ext cx="3352800" cy="1219200"/>
          </a:xfrm>
          <a:prstGeom prst="rect">
            <a:avLst/>
          </a:prstGeom>
          <a:solidFill>
            <a:srgbClr val="FFFDFC"/>
          </a:solidFill>
          <a:ln w="9525">
            <a:solidFill>
              <a:srgbClr val="D9D3CC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9F8C6A5-6F94-41EB-A429-E5139DFA1D6B}"/>
              </a:ext>
            </a:extLst>
          </p:cNvPr>
          <p:cNvSpPr>
            <a:spLocks noGrp="1"/>
          </p:cNvSpPr>
          <p:nvPr/>
        </p:nvSpPr>
        <p:spPr>
          <a:xfrm>
            <a:off x="7696200" y="4819650"/>
            <a:ext cx="1143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516072"/>
                </a:solidFill>
                <a:latin typeface="Aptos"/>
                <a:ea typeface="Aptos"/>
                <a:cs typeface="Aptos"/>
              </a:rPr>
              <a:t>À retenir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905E95F-12B3-4204-AD12-468876ADF5A0}"/>
              </a:ext>
            </a:extLst>
          </p:cNvPr>
          <p:cNvSpPr>
            <a:spLocks noGrp="1"/>
          </p:cNvSpPr>
          <p:nvPr/>
        </p:nvSpPr>
        <p:spPr>
          <a:xfrm>
            <a:off x="7696200" y="5105400"/>
            <a:ext cx="2095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Moins de générique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A300C03-C6C4-4388-87D6-14F4B6991F28}"/>
              </a:ext>
            </a:extLst>
          </p:cNvPr>
          <p:cNvSpPr>
            <a:spLocks noGrp="1"/>
          </p:cNvSpPr>
          <p:nvPr/>
        </p:nvSpPr>
        <p:spPr>
          <a:xfrm>
            <a:off x="7696200" y="5334000"/>
            <a:ext cx="2286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Plus d'offres métier ciblées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0E29346-DC5D-4589-A69D-FD065131F5A1}"/>
              </a:ext>
            </a:extLst>
          </p:cNvPr>
          <p:cNvSpPr>
            <a:spLocks noGrp="1"/>
          </p:cNvSpPr>
          <p:nvPr/>
        </p:nvSpPr>
        <p:spPr>
          <a:xfrm>
            <a:off x="7696200" y="5505450"/>
            <a:ext cx="2286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Et une porte d'entrée claire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F139632-D3EC-448F-BB6D-BB41EC0145B2}"/>
              </a:ext>
            </a:extLst>
          </p:cNvPr>
          <p:cNvSpPr>
            <a:spLocks noGrp="1"/>
          </p:cNvSpPr>
          <p:nvPr/>
        </p:nvSpPr>
        <p:spPr>
          <a:xfrm>
            <a:off x="571500" y="6477000"/>
            <a:ext cx="11049000" cy="9525"/>
          </a:xfrm>
          <a:prstGeom prst="rect">
            <a:avLst/>
          </a:prstGeom>
          <a:solidFill>
            <a:srgbClr val="D9D3CC"/>
          </a:solidFill>
          <a:ln w="0">
            <a:solidFill>
              <a:srgbClr val="D9D3CC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9EB9BD0-1E8B-4876-808B-FF16258D90DB}"/>
              </a:ext>
            </a:extLst>
          </p:cNvPr>
          <p:cNvSpPr>
            <a:spLocks noGrp="1"/>
          </p:cNvSpPr>
          <p:nvPr/>
        </p:nvSpPr>
        <p:spPr>
          <a:xfrm>
            <a:off x="571500" y="6553200"/>
            <a:ext cx="933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Le bon angle n'est pas la quantité de formations, mais la capacité à relier diagnostic, formation, gouvernance et mise en œuvre.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2CE87DD-6B90-4298-B2B9-452341ECAE26}"/>
              </a:ext>
            </a:extLst>
          </p:cNvPr>
          <p:cNvSpPr>
            <a:spLocks noGrp="1"/>
          </p:cNvSpPr>
          <p:nvPr/>
        </p:nvSpPr>
        <p:spPr>
          <a:xfrm>
            <a:off x="10858500" y="653415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213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961973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F4EA428C-322E-4BAF-81ED-E59CA7C7C5D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E"/>
          </a:solidFill>
          <a:ln w="0">
            <a:solidFill>
              <a:srgbClr val="F7F3EE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7F5C3F3-C586-4B4E-9E45-8CD4266355C1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266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OBJECTIFS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79C27EF-77BD-47E7-BA8D-C635178BC07D}"/>
              </a:ext>
            </a:extLst>
          </p:cNvPr>
          <p:cNvSpPr>
            <a:spLocks noGrp="1"/>
          </p:cNvSpPr>
          <p:nvPr/>
        </p:nvSpPr>
        <p:spPr>
          <a:xfrm>
            <a:off x="571500" y="742950"/>
            <a:ext cx="6477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Ce que cette approche cherche à améliorer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904CB4-B2A8-47BA-9F6B-914EA08F4AEA}"/>
              </a:ext>
            </a:extLst>
          </p:cNvPr>
          <p:cNvSpPr>
            <a:spLocks noGrp="1"/>
          </p:cNvSpPr>
          <p:nvPr/>
        </p:nvSpPr>
        <p:spPr>
          <a:xfrm>
            <a:off x="571500" y="1333500"/>
            <a:ext cx="6667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Pour une entreprise comme Elton CI, l'enjeu n'est pas d'ajouter un outil de plus, mais de mieux organiser la décision, la formation et l'exécution.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F95D5C-9925-4726-80DE-E7FB0997A245}"/>
              </a:ext>
            </a:extLst>
          </p:cNvPr>
          <p:cNvSpPr>
            <a:spLocks noGrp="1"/>
          </p:cNvSpPr>
          <p:nvPr/>
        </p:nvSpPr>
        <p:spPr>
          <a:xfrm>
            <a:off x="571500" y="1962150"/>
            <a:ext cx="5334000" cy="3467100"/>
          </a:xfrm>
          <a:prstGeom prst="rect">
            <a:avLst/>
          </a:prstGeom>
          <a:solidFill>
            <a:srgbClr val="FFFDFC"/>
          </a:solidFill>
          <a:ln w="9525">
            <a:solidFill>
              <a:srgbClr val="D9D3CC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7340B8-E447-4D2D-9E7F-157A569CFAEB}"/>
              </a:ext>
            </a:extLst>
          </p:cNvPr>
          <p:cNvSpPr>
            <a:spLocks noGrp="1"/>
          </p:cNvSpPr>
          <p:nvPr/>
        </p:nvSpPr>
        <p:spPr>
          <a:xfrm>
            <a:off x="838200" y="2209800"/>
            <a:ext cx="2095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Objectifs prioritaires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63EE8C8-C34E-4DED-9FF0-7EE8980DCD83}"/>
              </a:ext>
            </a:extLst>
          </p:cNvPr>
          <p:cNvSpPr>
            <a:spLocks noGrp="1"/>
          </p:cNvSpPr>
          <p:nvPr/>
        </p:nvSpPr>
        <p:spPr>
          <a:xfrm>
            <a:off x="838200" y="2590800"/>
            <a:ext cx="152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2EEA2F7-0B09-424B-A673-5F0A752B39E6}"/>
              </a:ext>
            </a:extLst>
          </p:cNvPr>
          <p:cNvSpPr>
            <a:spLocks noGrp="1"/>
          </p:cNvSpPr>
          <p:nvPr/>
        </p:nvSpPr>
        <p:spPr>
          <a:xfrm>
            <a:off x="1028700" y="2571750"/>
            <a:ext cx="4572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13D"/>
                </a:solidFill>
                <a:latin typeface="Aptos"/>
                <a:ea typeface="Aptos"/>
                <a:cs typeface="Aptos"/>
              </a:rPr>
              <a:t>Identifier les priorités réellement utiles pour l'entreprise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1574089-A49D-4565-AAC0-84B54DA4B316}"/>
              </a:ext>
            </a:extLst>
          </p:cNvPr>
          <p:cNvSpPr>
            <a:spLocks noGrp="1"/>
          </p:cNvSpPr>
          <p:nvPr/>
        </p:nvSpPr>
        <p:spPr>
          <a:xfrm>
            <a:off x="838200" y="3143250"/>
            <a:ext cx="152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49DADC-6100-4A5E-BA85-6FC4F8616F7F}"/>
              </a:ext>
            </a:extLst>
          </p:cNvPr>
          <p:cNvSpPr>
            <a:spLocks noGrp="1"/>
          </p:cNvSpPr>
          <p:nvPr/>
        </p:nvSpPr>
        <p:spPr>
          <a:xfrm>
            <a:off x="1028700" y="3124200"/>
            <a:ext cx="4572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13D"/>
                </a:solidFill>
                <a:latin typeface="Aptos"/>
                <a:ea typeface="Aptos"/>
                <a:cs typeface="Aptos"/>
              </a:rPr>
              <a:t>Fluidifier les processus qui consomment du temps et de la coordination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A3FC44B-377D-4678-B74D-921E396BAC12}"/>
              </a:ext>
            </a:extLst>
          </p:cNvPr>
          <p:cNvSpPr>
            <a:spLocks noGrp="1"/>
          </p:cNvSpPr>
          <p:nvPr/>
        </p:nvSpPr>
        <p:spPr>
          <a:xfrm>
            <a:off x="838200" y="3695700"/>
            <a:ext cx="152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80EB127-5314-4832-86D1-AE8BC8A6DF0E}"/>
              </a:ext>
            </a:extLst>
          </p:cNvPr>
          <p:cNvSpPr>
            <a:spLocks noGrp="1"/>
          </p:cNvSpPr>
          <p:nvPr/>
        </p:nvSpPr>
        <p:spPr>
          <a:xfrm>
            <a:off x="1028700" y="3676650"/>
            <a:ext cx="4572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13D"/>
                </a:solidFill>
                <a:latin typeface="Aptos"/>
                <a:ea typeface="Aptos"/>
                <a:cs typeface="Aptos"/>
              </a:rPr>
              <a:t>Renforcer la qualité de service et le suivi client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3ADB37-F80A-4FDA-9FA4-77568365007D}"/>
              </a:ext>
            </a:extLst>
          </p:cNvPr>
          <p:cNvSpPr>
            <a:spLocks noGrp="1"/>
          </p:cNvSpPr>
          <p:nvPr/>
        </p:nvSpPr>
        <p:spPr>
          <a:xfrm>
            <a:off x="838200" y="4248150"/>
            <a:ext cx="152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78328A-9B0D-4093-859B-DBAC0FE95B8C}"/>
              </a:ext>
            </a:extLst>
          </p:cNvPr>
          <p:cNvSpPr>
            <a:spLocks noGrp="1"/>
          </p:cNvSpPr>
          <p:nvPr/>
        </p:nvSpPr>
        <p:spPr>
          <a:xfrm>
            <a:off x="1028700" y="4229100"/>
            <a:ext cx="4572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13D"/>
                </a:solidFill>
                <a:latin typeface="Aptos"/>
                <a:ea typeface="Aptos"/>
                <a:cs typeface="Aptos"/>
              </a:rPr>
              <a:t>Faire monter les équipes en compétences sur des usages concrets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0EFBD1C-E8F5-458E-A090-DA646317680F}"/>
              </a:ext>
            </a:extLst>
          </p:cNvPr>
          <p:cNvSpPr>
            <a:spLocks noGrp="1"/>
          </p:cNvSpPr>
          <p:nvPr/>
        </p:nvSpPr>
        <p:spPr>
          <a:xfrm>
            <a:off x="6477000" y="1962150"/>
            <a:ext cx="4762500" cy="1600200"/>
          </a:xfrm>
          <a:prstGeom prst="rect">
            <a:avLst/>
          </a:prstGeom>
          <a:solidFill>
            <a:srgbClr val="16324F"/>
          </a:solidFill>
          <a:ln w="9525">
            <a:solidFill>
              <a:srgbClr val="16324F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A0222E-E55B-4940-87B1-ED89B05E2016}"/>
              </a:ext>
            </a:extLst>
          </p:cNvPr>
          <p:cNvSpPr>
            <a:spLocks noGrp="1"/>
          </p:cNvSpPr>
          <p:nvPr/>
        </p:nvSpPr>
        <p:spPr>
          <a:xfrm>
            <a:off x="6762750" y="2209800"/>
            <a:ext cx="171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D7E2EE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7E2EE"/>
                </a:solidFill>
                <a:latin typeface="Aptos"/>
                <a:ea typeface="Aptos"/>
                <a:cs typeface="Aptos"/>
              </a:rPr>
              <a:t>Résultat attendu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A388F55-48DE-41B6-A803-FD1AE8143277}"/>
              </a:ext>
            </a:extLst>
          </p:cNvPr>
          <p:cNvSpPr>
            <a:spLocks noGrp="1"/>
          </p:cNvSpPr>
          <p:nvPr/>
        </p:nvSpPr>
        <p:spPr>
          <a:xfrm>
            <a:off x="6762750" y="2495550"/>
            <a:ext cx="4000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Des équipes mieux préparées et des priorités mieux choisies.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2ABD5B9-C19F-4CFF-8C18-D349D73D3854}"/>
              </a:ext>
            </a:extLst>
          </p:cNvPr>
          <p:cNvSpPr>
            <a:spLocks noGrp="1"/>
          </p:cNvSpPr>
          <p:nvPr/>
        </p:nvSpPr>
        <p:spPr>
          <a:xfrm>
            <a:off x="6762750" y="3086100"/>
            <a:ext cx="4000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5" b="0">
                <a:solidFill>
                  <a:srgbClr val="EDF3FA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EDF3FA"/>
                </a:solidFill>
                <a:latin typeface="Aptos"/>
                <a:ea typeface="Aptos"/>
                <a:cs typeface="Aptos"/>
              </a:rPr>
              <a:t>L'offre formation n'est crédible que si elle est connectée à des besoins réels et à une suite opérationnelle.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F201266-FCC9-4B35-AB86-30E119C1D623}"/>
              </a:ext>
            </a:extLst>
          </p:cNvPr>
          <p:cNvSpPr>
            <a:spLocks noGrp="1"/>
          </p:cNvSpPr>
          <p:nvPr/>
        </p:nvSpPr>
        <p:spPr>
          <a:xfrm>
            <a:off x="6477000" y="3829050"/>
            <a:ext cx="4762500" cy="1600200"/>
          </a:xfrm>
          <a:prstGeom prst="rect">
            <a:avLst/>
          </a:prstGeom>
          <a:solidFill>
            <a:srgbClr val="FFF7F1"/>
          </a:solidFill>
          <a:ln w="9525">
            <a:solidFill>
              <a:srgbClr val="FFF7F1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1DDFB7F-EF17-424E-BB6B-8A76C01F6719}"/>
              </a:ext>
            </a:extLst>
          </p:cNvPr>
          <p:cNvSpPr>
            <a:spLocks noGrp="1"/>
          </p:cNvSpPr>
          <p:nvPr/>
        </p:nvSpPr>
        <p:spPr>
          <a:xfrm>
            <a:off x="6762750" y="4076700"/>
            <a:ext cx="171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Populations à adresser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42FB118-98EB-46E0-9849-9DD161729D09}"/>
              </a:ext>
            </a:extLst>
          </p:cNvPr>
          <p:cNvSpPr>
            <a:spLocks noGrp="1"/>
          </p:cNvSpPr>
          <p:nvPr/>
        </p:nvSpPr>
        <p:spPr>
          <a:xfrm>
            <a:off x="6762750" y="4381500"/>
            <a:ext cx="171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Direction générale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18C3C06-7A89-40BD-B731-9AF6889669A1}"/>
              </a:ext>
            </a:extLst>
          </p:cNvPr>
          <p:cNvSpPr>
            <a:spLocks noGrp="1"/>
          </p:cNvSpPr>
          <p:nvPr/>
        </p:nvSpPr>
        <p:spPr>
          <a:xfrm>
            <a:off x="6762750" y="4648200"/>
            <a:ext cx="2286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Managers et responsables de pôle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DF457B3-D058-4533-A203-4F5944AB7BD7}"/>
              </a:ext>
            </a:extLst>
          </p:cNvPr>
          <p:cNvSpPr>
            <a:spLocks noGrp="1"/>
          </p:cNvSpPr>
          <p:nvPr/>
        </p:nvSpPr>
        <p:spPr>
          <a:xfrm>
            <a:off x="6762750" y="4914900"/>
            <a:ext cx="3048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Équipes finance, opérations, relation client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7BD2D36-F823-44BE-BFD0-6A6E6CA52E78}"/>
              </a:ext>
            </a:extLst>
          </p:cNvPr>
          <p:cNvSpPr>
            <a:spLocks noGrp="1"/>
          </p:cNvSpPr>
          <p:nvPr/>
        </p:nvSpPr>
        <p:spPr>
          <a:xfrm>
            <a:off x="571500" y="6477000"/>
            <a:ext cx="11049000" cy="9525"/>
          </a:xfrm>
          <a:prstGeom prst="rect">
            <a:avLst/>
          </a:prstGeom>
          <a:solidFill>
            <a:srgbClr val="D9D3CC"/>
          </a:solidFill>
          <a:ln w="0">
            <a:solidFill>
              <a:srgbClr val="D9D3CC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1E6AFD0-0594-4EA5-9378-24F0AD300DC4}"/>
              </a:ext>
            </a:extLst>
          </p:cNvPr>
          <p:cNvSpPr>
            <a:spLocks noGrp="1"/>
          </p:cNvSpPr>
          <p:nvPr/>
        </p:nvSpPr>
        <p:spPr>
          <a:xfrm>
            <a:off x="571500" y="6553200"/>
            <a:ext cx="933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La formation doit être présentée comme un levier d'exécution et de performance, pas comme un catalogue isolé.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4154564-D2B1-4763-8DFB-E0A68DD55DA8}"/>
              </a:ext>
            </a:extLst>
          </p:cNvPr>
          <p:cNvSpPr>
            <a:spLocks noGrp="1"/>
          </p:cNvSpPr>
          <p:nvPr/>
        </p:nvSpPr>
        <p:spPr>
          <a:xfrm>
            <a:off x="10858500" y="653415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213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46697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39736DA3-33FD-48A2-8B00-41B16A2A0DE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DFC"/>
          </a:solidFill>
          <a:ln w="0">
            <a:solidFill>
              <a:srgbClr val="FFFDF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6784C82-D554-46E3-BB8A-FA2BF759D82A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266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PORTE D'ENTRÉE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2C51134-2DA2-455A-A829-B15897FD7793}"/>
              </a:ext>
            </a:extLst>
          </p:cNvPr>
          <p:cNvSpPr>
            <a:spLocks noGrp="1"/>
          </p:cNvSpPr>
          <p:nvPr/>
        </p:nvSpPr>
        <p:spPr>
          <a:xfrm>
            <a:off x="571500" y="742950"/>
            <a:ext cx="7239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Notre porte d'entrée recommandée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817691-07C2-4C6A-B0E9-086EB3464808}"/>
              </a:ext>
            </a:extLst>
          </p:cNvPr>
          <p:cNvSpPr>
            <a:spLocks noGrp="1"/>
          </p:cNvSpPr>
          <p:nvPr/>
        </p:nvSpPr>
        <p:spPr>
          <a:xfrm>
            <a:off x="571500" y="1790700"/>
            <a:ext cx="4762500" cy="3733800"/>
          </a:xfrm>
          <a:prstGeom prst="rect">
            <a:avLst/>
          </a:prstGeom>
          <a:solidFill>
            <a:srgbClr val="FFFDFC"/>
          </a:solidFill>
          <a:ln w="9525">
            <a:solidFill>
              <a:srgbClr val="D9D3CC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AF81A1-B2AD-438A-8D26-00BCD0BA31BA}"/>
              </a:ext>
            </a:extLst>
          </p:cNvPr>
          <p:cNvSpPr>
            <a:spLocks noGrp="1"/>
          </p:cNvSpPr>
          <p:nvPr/>
        </p:nvSpPr>
        <p:spPr>
          <a:xfrm>
            <a:off x="819150" y="2038350"/>
            <a:ext cx="171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Offre recommandée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F44F80-0E1A-4C1B-9D46-99FFC44971E9}"/>
              </a:ext>
            </a:extLst>
          </p:cNvPr>
          <p:cNvSpPr>
            <a:spLocks noGrp="1"/>
          </p:cNvSpPr>
          <p:nvPr/>
        </p:nvSpPr>
        <p:spPr>
          <a:xfrm>
            <a:off x="819150" y="2324100"/>
            <a:ext cx="409575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Audit IA gratuit - Comptes professionnels, flotte et performance commerciale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95E49A2-303D-42A0-86E1-0CE459ABF1EA}"/>
              </a:ext>
            </a:extLst>
          </p:cNvPr>
          <p:cNvSpPr>
            <a:spLocks noGrp="1"/>
          </p:cNvSpPr>
          <p:nvPr/>
        </p:nvSpPr>
        <p:spPr>
          <a:xfrm>
            <a:off x="819150" y="3352800"/>
            <a:ext cx="152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617404-8BAC-49A0-B5C9-A03F2F806579}"/>
              </a:ext>
            </a:extLst>
          </p:cNvPr>
          <p:cNvSpPr>
            <a:spLocks noGrp="1"/>
          </p:cNvSpPr>
          <p:nvPr/>
        </p:nvSpPr>
        <p:spPr>
          <a:xfrm>
            <a:off x="1009650" y="3333750"/>
            <a:ext cx="3905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Repérer les points de friction les plus coûteux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9443A74-93A9-47FD-8808-3E34D8B56B18}"/>
              </a:ext>
            </a:extLst>
          </p:cNvPr>
          <p:cNvSpPr>
            <a:spLocks noGrp="1"/>
          </p:cNvSpPr>
          <p:nvPr/>
        </p:nvSpPr>
        <p:spPr>
          <a:xfrm>
            <a:off x="819150" y="3829050"/>
            <a:ext cx="152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192961-58E6-4470-ADCC-224EA5BA5363}"/>
              </a:ext>
            </a:extLst>
          </p:cNvPr>
          <p:cNvSpPr>
            <a:spLocks noGrp="1"/>
          </p:cNvSpPr>
          <p:nvPr/>
        </p:nvSpPr>
        <p:spPr>
          <a:xfrm>
            <a:off x="1009650" y="3810000"/>
            <a:ext cx="3905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Prioriser les gains rapides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93F00ED-D35E-47CE-A10F-97F06D5C821A}"/>
              </a:ext>
            </a:extLst>
          </p:cNvPr>
          <p:cNvSpPr>
            <a:spLocks noGrp="1"/>
          </p:cNvSpPr>
          <p:nvPr/>
        </p:nvSpPr>
        <p:spPr>
          <a:xfrm>
            <a:off x="819150" y="4305300"/>
            <a:ext cx="152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10FDD6B-DCA0-4FA5-8D37-1AD4B261511B}"/>
              </a:ext>
            </a:extLst>
          </p:cNvPr>
          <p:cNvSpPr>
            <a:spLocks noGrp="1"/>
          </p:cNvSpPr>
          <p:nvPr/>
        </p:nvSpPr>
        <p:spPr>
          <a:xfrm>
            <a:off x="1009650" y="4286250"/>
            <a:ext cx="3905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Choisir le bon équilibre entre formation, accompagnement et solution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3F5CAB-DBDF-4D6B-93C0-067FB0FB3170}"/>
              </a:ext>
            </a:extLst>
          </p:cNvPr>
          <p:cNvSpPr>
            <a:spLocks noGrp="1"/>
          </p:cNvSpPr>
          <p:nvPr/>
        </p:nvSpPr>
        <p:spPr>
          <a:xfrm>
            <a:off x="819150" y="4781550"/>
            <a:ext cx="152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DDA1C1C-69DD-405E-9709-124174BC0E40}"/>
              </a:ext>
            </a:extLst>
          </p:cNvPr>
          <p:cNvSpPr>
            <a:spLocks noGrp="1"/>
          </p:cNvSpPr>
          <p:nvPr/>
        </p:nvSpPr>
        <p:spPr>
          <a:xfrm>
            <a:off x="1009650" y="4762500"/>
            <a:ext cx="3905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Préparer un premier plan d'action crédible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56A9A70-73CA-458C-9617-6E239B52058E}"/>
              </a:ext>
            </a:extLst>
          </p:cNvPr>
          <p:cNvSpPr>
            <a:spLocks noGrp="1"/>
          </p:cNvSpPr>
          <p:nvPr/>
        </p:nvSpPr>
        <p:spPr>
          <a:xfrm>
            <a:off x="5810250" y="1790700"/>
            <a:ext cx="5429250" cy="1695450"/>
          </a:xfrm>
          <a:prstGeom prst="rect">
            <a:avLst/>
          </a:prstGeom>
          <a:solidFill>
            <a:srgbClr val="16324F"/>
          </a:solidFill>
          <a:ln w="9525">
            <a:solidFill>
              <a:srgbClr val="16324F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67B93BF-4243-40D5-BC7E-A0D70138FEE3}"/>
              </a:ext>
            </a:extLst>
          </p:cNvPr>
          <p:cNvSpPr>
            <a:spLocks noGrp="1"/>
          </p:cNvSpPr>
          <p:nvPr/>
        </p:nvSpPr>
        <p:spPr>
          <a:xfrm>
            <a:off x="6096000" y="2038350"/>
            <a:ext cx="2095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D7E2EE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7E2EE"/>
                </a:solidFill>
                <a:latin typeface="Aptos"/>
                <a:ea typeface="Aptos"/>
                <a:cs typeface="Aptos"/>
              </a:rPr>
              <a:t>Pourquoi c'est la bonne entrée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022E77A-6402-4AE6-9F99-AE701CF66ADE}"/>
              </a:ext>
            </a:extLst>
          </p:cNvPr>
          <p:cNvSpPr>
            <a:spLocks noGrp="1"/>
          </p:cNvSpPr>
          <p:nvPr/>
        </p:nvSpPr>
        <p:spPr>
          <a:xfrm>
            <a:off x="6096000" y="2324100"/>
            <a:ext cx="45720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Commencer par comprendre avant de former ou de déployer.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82CB6F8-A488-40AF-93A5-C65E325F27D8}"/>
              </a:ext>
            </a:extLst>
          </p:cNvPr>
          <p:cNvSpPr>
            <a:spLocks noGrp="1"/>
          </p:cNvSpPr>
          <p:nvPr/>
        </p:nvSpPr>
        <p:spPr>
          <a:xfrm>
            <a:off x="6096000" y="2990850"/>
            <a:ext cx="4476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EDF3FA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EDF3FA"/>
                </a:solidFill>
                <a:latin typeface="Aptos"/>
                <a:ea typeface="Aptos"/>
                <a:cs typeface="Aptos"/>
              </a:rPr>
              <a:t>L'audit gratuit rend l'offre plus crédible, évite la dispersion et aide à choisir les bonnes priorités.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F6ADC1B-1BFE-40BF-BECE-C3D636BF4184}"/>
              </a:ext>
            </a:extLst>
          </p:cNvPr>
          <p:cNvSpPr>
            <a:spLocks noGrp="1"/>
          </p:cNvSpPr>
          <p:nvPr/>
        </p:nvSpPr>
        <p:spPr>
          <a:xfrm>
            <a:off x="5810250" y="3714750"/>
            <a:ext cx="5429250" cy="1866900"/>
          </a:xfrm>
          <a:prstGeom prst="rect">
            <a:avLst/>
          </a:prstGeom>
          <a:solidFill>
            <a:srgbClr val="FFF7F1"/>
          </a:solidFill>
          <a:ln w="9525">
            <a:solidFill>
              <a:srgbClr val="FFF7F1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32496B3-93F8-4DD0-B202-EB8FE00F3E02}"/>
              </a:ext>
            </a:extLst>
          </p:cNvPr>
          <p:cNvSpPr>
            <a:spLocks noGrp="1"/>
          </p:cNvSpPr>
          <p:nvPr/>
        </p:nvSpPr>
        <p:spPr>
          <a:xfrm>
            <a:off x="6096000" y="3962400"/>
            <a:ext cx="2095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Ce que l'entreprise obtient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9CF49D7-7AC6-477F-A57E-DBEE8B22C4F7}"/>
              </a:ext>
            </a:extLst>
          </p:cNvPr>
          <p:cNvSpPr>
            <a:spLocks noGrp="1"/>
          </p:cNvSpPr>
          <p:nvPr/>
        </p:nvSpPr>
        <p:spPr>
          <a:xfrm>
            <a:off x="6096000" y="4324350"/>
            <a:ext cx="152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CBE177B-FFE9-462E-A91B-031DD9FA345A}"/>
              </a:ext>
            </a:extLst>
          </p:cNvPr>
          <p:cNvSpPr>
            <a:spLocks noGrp="1"/>
          </p:cNvSpPr>
          <p:nvPr/>
        </p:nvSpPr>
        <p:spPr>
          <a:xfrm>
            <a:off x="6286500" y="4305300"/>
            <a:ext cx="457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0213D"/>
                </a:solidFill>
                <a:latin typeface="Aptos"/>
                <a:ea typeface="Aptos"/>
                <a:cs typeface="Aptos"/>
              </a:rPr>
              <a:t>Lecture claire des priorités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988B271-B9FD-41E8-B07F-120D0AECDE38}"/>
              </a:ext>
            </a:extLst>
          </p:cNvPr>
          <p:cNvSpPr>
            <a:spLocks noGrp="1"/>
          </p:cNvSpPr>
          <p:nvPr/>
        </p:nvSpPr>
        <p:spPr>
          <a:xfrm>
            <a:off x="6096000" y="4629150"/>
            <a:ext cx="152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22E5E1F-0470-47FE-ACBF-8C967AE5305B}"/>
              </a:ext>
            </a:extLst>
          </p:cNvPr>
          <p:cNvSpPr>
            <a:spLocks noGrp="1"/>
          </p:cNvSpPr>
          <p:nvPr/>
        </p:nvSpPr>
        <p:spPr>
          <a:xfrm>
            <a:off x="6286500" y="4610100"/>
            <a:ext cx="457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0213D"/>
                </a:solidFill>
                <a:latin typeface="Aptos"/>
                <a:ea typeface="Aptos"/>
                <a:cs typeface="Aptos"/>
              </a:rPr>
              <a:t>Cas d'usage utiles à tester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5A68706-E606-413B-AB22-98AC3B6EDF98}"/>
              </a:ext>
            </a:extLst>
          </p:cNvPr>
          <p:cNvSpPr>
            <a:spLocks noGrp="1"/>
          </p:cNvSpPr>
          <p:nvPr/>
        </p:nvSpPr>
        <p:spPr>
          <a:xfrm>
            <a:off x="6096000" y="4933950"/>
            <a:ext cx="152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8DFF3A6-A756-412C-850B-C1799233C35F}"/>
              </a:ext>
            </a:extLst>
          </p:cNvPr>
          <p:cNvSpPr>
            <a:spLocks noGrp="1"/>
          </p:cNvSpPr>
          <p:nvPr/>
        </p:nvSpPr>
        <p:spPr>
          <a:xfrm>
            <a:off x="6286500" y="4914900"/>
            <a:ext cx="457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0213D"/>
                </a:solidFill>
                <a:latin typeface="Aptos"/>
                <a:ea typeface="Aptos"/>
                <a:cs typeface="Aptos"/>
              </a:rPr>
              <a:t>Besoins de formation par population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B84777E-F675-42C3-8E47-C440BBF7C07C}"/>
              </a:ext>
            </a:extLst>
          </p:cNvPr>
          <p:cNvSpPr>
            <a:spLocks noGrp="1"/>
          </p:cNvSpPr>
          <p:nvPr/>
        </p:nvSpPr>
        <p:spPr>
          <a:xfrm>
            <a:off x="6096000" y="5238750"/>
            <a:ext cx="152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56F258F-7A0A-445E-96E2-5945F35203F5}"/>
              </a:ext>
            </a:extLst>
          </p:cNvPr>
          <p:cNvSpPr>
            <a:spLocks noGrp="1"/>
          </p:cNvSpPr>
          <p:nvPr/>
        </p:nvSpPr>
        <p:spPr>
          <a:xfrm>
            <a:off x="6286500" y="5219700"/>
            <a:ext cx="457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0213D"/>
                </a:solidFill>
                <a:latin typeface="Aptos"/>
                <a:ea typeface="Aptos"/>
                <a:cs typeface="Aptos"/>
              </a:rPr>
              <a:t>Première trajectoire de mise en œuvre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07258D8-7BEC-4B36-BBFF-C6BD60BF6BE6}"/>
              </a:ext>
            </a:extLst>
          </p:cNvPr>
          <p:cNvSpPr>
            <a:spLocks noGrp="1"/>
          </p:cNvSpPr>
          <p:nvPr/>
        </p:nvSpPr>
        <p:spPr>
          <a:xfrm>
            <a:off x="571500" y="5772150"/>
            <a:ext cx="10668000" cy="323850"/>
          </a:xfrm>
          <a:prstGeom prst="rect">
            <a:avLst/>
          </a:prstGeom>
          <a:solidFill>
            <a:srgbClr val="FFFDFC"/>
          </a:solidFill>
          <a:ln w="9525">
            <a:solidFill>
              <a:srgbClr val="D9D3CC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B3EEC2F-A1DD-445A-A13E-B9AB110F95E0}"/>
              </a:ext>
            </a:extLst>
          </p:cNvPr>
          <p:cNvSpPr>
            <a:spLocks noGrp="1"/>
          </p:cNvSpPr>
          <p:nvPr/>
        </p:nvSpPr>
        <p:spPr>
          <a:xfrm>
            <a:off x="800100" y="5848350"/>
            <a:ext cx="10191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1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0213D"/>
                </a:solidFill>
                <a:latin typeface="Aptos"/>
                <a:ea typeface="Aptos"/>
                <a:cs typeface="Aptos"/>
              </a:rPr>
              <a:t>Rendez-vous de 45 minutes  →  Audit gratuit  →  Recommandations  →  Formation ciblée ou pilote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3C2756B-6ED0-4D83-A2E8-7B04D60209FA}"/>
              </a:ext>
            </a:extLst>
          </p:cNvPr>
          <p:cNvSpPr>
            <a:spLocks noGrp="1"/>
          </p:cNvSpPr>
          <p:nvPr/>
        </p:nvSpPr>
        <p:spPr>
          <a:xfrm>
            <a:off x="571500" y="6477000"/>
            <a:ext cx="11049000" cy="9525"/>
          </a:xfrm>
          <a:prstGeom prst="rect">
            <a:avLst/>
          </a:prstGeom>
          <a:solidFill>
            <a:srgbClr val="D9D3CC"/>
          </a:solidFill>
          <a:ln w="0">
            <a:solidFill>
              <a:srgbClr val="D9D3CC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7EFD757-3FA0-47C1-9E8F-21F3B3AFAA22}"/>
              </a:ext>
            </a:extLst>
          </p:cNvPr>
          <p:cNvSpPr>
            <a:spLocks noGrp="1"/>
          </p:cNvSpPr>
          <p:nvPr/>
        </p:nvSpPr>
        <p:spPr>
          <a:xfrm>
            <a:off x="571500" y="6553200"/>
            <a:ext cx="933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L'audit gratuit sert d'ouverture commerciale, de filtre de qualité et de point de départ pour la suite la plus adaptée.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1763728-E9BF-44AD-9F0D-52A497C4091B}"/>
              </a:ext>
            </a:extLst>
          </p:cNvPr>
          <p:cNvSpPr>
            <a:spLocks noGrp="1"/>
          </p:cNvSpPr>
          <p:nvPr/>
        </p:nvSpPr>
        <p:spPr>
          <a:xfrm>
            <a:off x="10858500" y="653415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213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56304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AFAACC4F-B10E-4A1B-A1A5-A1D64652886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E"/>
          </a:solidFill>
          <a:ln w="0">
            <a:solidFill>
              <a:srgbClr val="F7F3EE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22AE79-86B7-49AB-B1DC-3E55B43DEEEF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266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OFFRE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B963A7-A637-4445-84CB-2709464FA77F}"/>
              </a:ext>
            </a:extLst>
          </p:cNvPr>
          <p:cNvSpPr>
            <a:spLocks noGrp="1"/>
          </p:cNvSpPr>
          <p:nvPr/>
        </p:nvSpPr>
        <p:spPr>
          <a:xfrm>
            <a:off x="571500" y="742950"/>
            <a:ext cx="6477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Les 4 briques de l'offre entreprise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8A1166-7DA6-4EED-BA07-4373C74D54BE}"/>
              </a:ext>
            </a:extLst>
          </p:cNvPr>
          <p:cNvSpPr>
            <a:spLocks noGrp="1"/>
          </p:cNvSpPr>
          <p:nvPr/>
        </p:nvSpPr>
        <p:spPr>
          <a:xfrm>
            <a:off x="571500" y="1314450"/>
            <a:ext cx="6667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Notre valeur vient de la combinaison entre diagnostic, formation et mise en œuvre, et non d'un seul outil.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A2FE44-A045-4A89-966F-FA643B828D32}"/>
              </a:ext>
            </a:extLst>
          </p:cNvPr>
          <p:cNvSpPr>
            <a:spLocks noGrp="1"/>
          </p:cNvSpPr>
          <p:nvPr/>
        </p:nvSpPr>
        <p:spPr>
          <a:xfrm>
            <a:off x="571500" y="1885950"/>
            <a:ext cx="4953000" cy="1562100"/>
          </a:xfrm>
          <a:prstGeom prst="rect">
            <a:avLst/>
          </a:prstGeom>
          <a:solidFill>
            <a:srgbClr val="FFFDFC"/>
          </a:solidFill>
          <a:ln w="9525">
            <a:solidFill>
              <a:srgbClr val="D9D3CC"/>
            </a:solidFill>
            <a:prstDash val="solid"/>
          </a:ln>
        </p:spPr>
      </p:sp>
      <p:pic>
        <p:nvPicPr>
          <p:cNvPr id="6" name="Graphic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81050" y="2095500"/>
            <a:ext cx="247650" cy="2476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139F97C-864F-4AEE-A170-C22F07275BDC}"/>
              </a:ext>
            </a:extLst>
          </p:cNvPr>
          <p:cNvSpPr>
            <a:spLocks noGrp="1"/>
          </p:cNvSpPr>
          <p:nvPr/>
        </p:nvSpPr>
        <p:spPr>
          <a:xfrm>
            <a:off x="1143000" y="2076450"/>
            <a:ext cx="2381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Audit, cadrage et feuille de route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756161-093D-41EF-99C3-5F0247D6F4C1}"/>
              </a:ext>
            </a:extLst>
          </p:cNvPr>
          <p:cNvSpPr>
            <a:spLocks noGrp="1"/>
          </p:cNvSpPr>
          <p:nvPr/>
        </p:nvSpPr>
        <p:spPr>
          <a:xfrm>
            <a:off x="781050" y="2438400"/>
            <a:ext cx="4476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Clarifier les priorités avant toute dépense importante.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6321189-21C5-47B8-94D4-2C6BD29CE8D9}"/>
              </a:ext>
            </a:extLst>
          </p:cNvPr>
          <p:cNvSpPr>
            <a:spLocks noGrp="1"/>
          </p:cNvSpPr>
          <p:nvPr/>
        </p:nvSpPr>
        <p:spPr>
          <a:xfrm>
            <a:off x="781050" y="2857500"/>
            <a:ext cx="152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8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88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C05CED-C8E8-4581-B2BD-140BC092EC63}"/>
              </a:ext>
            </a:extLst>
          </p:cNvPr>
          <p:cNvSpPr>
            <a:spLocks noGrp="1"/>
          </p:cNvSpPr>
          <p:nvPr/>
        </p:nvSpPr>
        <p:spPr>
          <a:xfrm>
            <a:off x="971550" y="2838450"/>
            <a:ext cx="4286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85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Diagnostic des processus critiques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F75F68-F04E-4624-9565-0CAC877773CF}"/>
              </a:ext>
            </a:extLst>
          </p:cNvPr>
          <p:cNvSpPr>
            <a:spLocks noGrp="1"/>
          </p:cNvSpPr>
          <p:nvPr/>
        </p:nvSpPr>
        <p:spPr>
          <a:xfrm>
            <a:off x="781050" y="3067050"/>
            <a:ext cx="152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8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88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381797-2FA4-4EB7-8ED6-DBEBA5FC3F77}"/>
              </a:ext>
            </a:extLst>
          </p:cNvPr>
          <p:cNvSpPr>
            <a:spLocks noGrp="1"/>
          </p:cNvSpPr>
          <p:nvPr/>
        </p:nvSpPr>
        <p:spPr>
          <a:xfrm>
            <a:off x="971550" y="3048000"/>
            <a:ext cx="4286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85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Feuille de route simple et progressive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FD677A4-043A-403E-9536-37EC0DF3256F}"/>
              </a:ext>
            </a:extLst>
          </p:cNvPr>
          <p:cNvSpPr>
            <a:spLocks noGrp="1"/>
          </p:cNvSpPr>
          <p:nvPr/>
        </p:nvSpPr>
        <p:spPr>
          <a:xfrm>
            <a:off x="5905500" y="1885950"/>
            <a:ext cx="4953000" cy="1562100"/>
          </a:xfrm>
          <a:prstGeom prst="rect">
            <a:avLst/>
          </a:prstGeom>
          <a:solidFill>
            <a:srgbClr val="D66724"/>
          </a:solidFill>
          <a:ln w="9525">
            <a:solidFill>
              <a:srgbClr val="D66724"/>
            </a:solidFill>
            <a:prstDash val="solid"/>
          </a:ln>
        </p:spPr>
      </p:sp>
      <p:pic>
        <p:nvPicPr>
          <p:cNvPr id="14" name="Graphic 1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6115050" y="2095500"/>
            <a:ext cx="247650" cy="24765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87EFF21-A502-4BF4-B46C-862D414BEDF5}"/>
              </a:ext>
            </a:extLst>
          </p:cNvPr>
          <p:cNvSpPr>
            <a:spLocks noGrp="1"/>
          </p:cNvSpPr>
          <p:nvPr/>
        </p:nvSpPr>
        <p:spPr>
          <a:xfrm>
            <a:off x="6477000" y="2076450"/>
            <a:ext cx="2381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Formation dirigeants et managers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7E0973D-CF27-4307-9300-B886F75D95D5}"/>
              </a:ext>
            </a:extLst>
          </p:cNvPr>
          <p:cNvSpPr>
            <a:spLocks noGrp="1"/>
          </p:cNvSpPr>
          <p:nvPr/>
        </p:nvSpPr>
        <p:spPr>
          <a:xfrm>
            <a:off x="6115050" y="2514598"/>
            <a:ext cx="4476750" cy="24765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EDF3FA"/>
                </a:solidFill>
                <a:latin typeface="Aptos"/>
                <a:ea typeface="Aptos"/>
                <a:cs typeface="Aptos"/>
              </a:defRPr>
            </a:pPr>
            <a:r>
              <a:rPr sz="1013" b="0" dirty="0">
                <a:solidFill>
                  <a:srgbClr val="EDF3FA"/>
                </a:solidFill>
                <a:latin typeface="Aptos"/>
                <a:ea typeface="Aptos"/>
                <a:cs typeface="Aptos"/>
              </a:rPr>
              <a:t>Donner aux </a:t>
            </a:r>
            <a:r>
              <a:rPr sz="1013" b="0" dirty="0" err="1">
                <a:solidFill>
                  <a:srgbClr val="EDF3FA"/>
                </a:solidFill>
                <a:latin typeface="Aptos"/>
                <a:ea typeface="Aptos"/>
                <a:cs typeface="Aptos"/>
              </a:rPr>
              <a:t>décideurs</a:t>
            </a:r>
            <a:r>
              <a:rPr sz="1013" b="0" dirty="0">
                <a:solidFill>
                  <a:srgbClr val="EDF3FA"/>
                </a:solidFill>
                <a:latin typeface="Aptos"/>
                <a:ea typeface="Aptos"/>
                <a:cs typeface="Aptos"/>
              </a:rPr>
              <a:t> </a:t>
            </a:r>
            <a:r>
              <a:rPr sz="1013" b="0" dirty="0" err="1">
                <a:solidFill>
                  <a:srgbClr val="EDF3FA"/>
                </a:solidFill>
                <a:latin typeface="Aptos"/>
                <a:ea typeface="Aptos"/>
                <a:cs typeface="Aptos"/>
              </a:rPr>
              <a:t>une</a:t>
            </a:r>
            <a:r>
              <a:rPr sz="1013" b="0" dirty="0">
                <a:solidFill>
                  <a:srgbClr val="EDF3FA"/>
                </a:solidFill>
                <a:latin typeface="Aptos"/>
                <a:ea typeface="Aptos"/>
                <a:cs typeface="Aptos"/>
              </a:rPr>
              <a:t> lecture </a:t>
            </a:r>
            <a:r>
              <a:rPr sz="1013" b="0" dirty="0" err="1">
                <a:solidFill>
                  <a:srgbClr val="EDF3FA"/>
                </a:solidFill>
                <a:latin typeface="Aptos"/>
                <a:ea typeface="Aptos"/>
                <a:cs typeface="Aptos"/>
              </a:rPr>
              <a:t>claire</a:t>
            </a:r>
            <a:r>
              <a:rPr sz="1013" b="0" dirty="0">
                <a:solidFill>
                  <a:srgbClr val="EDF3FA"/>
                </a:solidFill>
                <a:latin typeface="Aptos"/>
                <a:ea typeface="Aptos"/>
                <a:cs typeface="Aptos"/>
              </a:rPr>
              <a:t> des usages, des </a:t>
            </a:r>
            <a:r>
              <a:rPr sz="1013" b="0" dirty="0" err="1">
                <a:solidFill>
                  <a:srgbClr val="EDF3FA"/>
                </a:solidFill>
                <a:latin typeface="Aptos"/>
                <a:ea typeface="Aptos"/>
                <a:cs typeface="Aptos"/>
              </a:rPr>
              <a:t>limites</a:t>
            </a:r>
            <a:r>
              <a:rPr sz="1013" b="0" dirty="0">
                <a:solidFill>
                  <a:srgbClr val="EDF3FA"/>
                </a:solidFill>
                <a:latin typeface="Aptos"/>
                <a:ea typeface="Aptos"/>
                <a:cs typeface="Aptos"/>
              </a:rPr>
              <a:t> et des choix à faire.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FC4E2B2-AF33-4A0E-A5CB-E5C2718C1A7C}"/>
              </a:ext>
            </a:extLst>
          </p:cNvPr>
          <p:cNvSpPr>
            <a:spLocks noGrp="1"/>
          </p:cNvSpPr>
          <p:nvPr/>
        </p:nvSpPr>
        <p:spPr>
          <a:xfrm>
            <a:off x="6115050" y="2857500"/>
            <a:ext cx="152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85" b="1">
                <a:solidFill>
                  <a:srgbClr val="FFE4D2"/>
                </a:solidFill>
                <a:latin typeface="Aptos"/>
                <a:ea typeface="Aptos"/>
                <a:cs typeface="Aptos"/>
              </a:defRPr>
            </a:pPr>
            <a:r>
              <a:rPr sz="885" b="1">
                <a:solidFill>
                  <a:srgbClr val="FFE4D2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F3ECA3E-2A8E-4AC2-9F50-4E55D562AA7E}"/>
              </a:ext>
            </a:extLst>
          </p:cNvPr>
          <p:cNvSpPr>
            <a:spLocks noGrp="1"/>
          </p:cNvSpPr>
          <p:nvPr/>
        </p:nvSpPr>
        <p:spPr>
          <a:xfrm>
            <a:off x="6305550" y="2838450"/>
            <a:ext cx="4286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8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Vision et stratégie IA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31ABEE0-DF62-46AF-926F-8E57DCCCC9CC}"/>
              </a:ext>
            </a:extLst>
          </p:cNvPr>
          <p:cNvSpPr>
            <a:spLocks noGrp="1"/>
          </p:cNvSpPr>
          <p:nvPr/>
        </p:nvSpPr>
        <p:spPr>
          <a:xfrm>
            <a:off x="6115050" y="3067050"/>
            <a:ext cx="152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85" b="1">
                <a:solidFill>
                  <a:srgbClr val="FFE4D2"/>
                </a:solidFill>
                <a:latin typeface="Aptos"/>
                <a:ea typeface="Aptos"/>
                <a:cs typeface="Aptos"/>
              </a:defRPr>
            </a:pPr>
            <a:r>
              <a:rPr sz="885" b="1">
                <a:solidFill>
                  <a:srgbClr val="FFE4D2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0BFC510-7EAF-4649-9E53-F30F1F25D6A0}"/>
              </a:ext>
            </a:extLst>
          </p:cNvPr>
          <p:cNvSpPr>
            <a:spLocks noGrp="1"/>
          </p:cNvSpPr>
          <p:nvPr/>
        </p:nvSpPr>
        <p:spPr>
          <a:xfrm>
            <a:off x="6305550" y="3067050"/>
            <a:ext cx="4286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8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85" b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Conduite</a:t>
            </a:r>
            <a:r>
              <a:rPr sz="885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du changement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BF3B373-6106-47E7-BF9F-837C3E14B04A}"/>
              </a:ext>
            </a:extLst>
          </p:cNvPr>
          <p:cNvSpPr>
            <a:spLocks noGrp="1"/>
          </p:cNvSpPr>
          <p:nvPr/>
        </p:nvSpPr>
        <p:spPr>
          <a:xfrm>
            <a:off x="571500" y="3771900"/>
            <a:ext cx="4953000" cy="1562100"/>
          </a:xfrm>
          <a:prstGeom prst="rect">
            <a:avLst/>
          </a:prstGeom>
          <a:solidFill>
            <a:srgbClr val="FFFDFC"/>
          </a:solidFill>
          <a:ln w="9525">
            <a:solidFill>
              <a:srgbClr val="D9D3CC"/>
            </a:solidFill>
            <a:prstDash val="solid"/>
          </a:ln>
        </p:spPr>
      </p:sp>
      <p:pic>
        <p:nvPicPr>
          <p:cNvPr id="22" name="Graphic 2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781050" y="3981450"/>
            <a:ext cx="247650" cy="24765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D0E3177A-5609-4F3B-B3D7-4B0A006C4E47}"/>
              </a:ext>
            </a:extLst>
          </p:cNvPr>
          <p:cNvSpPr>
            <a:spLocks noGrp="1"/>
          </p:cNvSpPr>
          <p:nvPr/>
        </p:nvSpPr>
        <p:spPr>
          <a:xfrm>
            <a:off x="1143000" y="3962400"/>
            <a:ext cx="2381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Formation équipes métier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147FB20-BA8D-44EA-9075-85139EFAF1CC}"/>
              </a:ext>
            </a:extLst>
          </p:cNvPr>
          <p:cNvSpPr>
            <a:spLocks noGrp="1"/>
          </p:cNvSpPr>
          <p:nvPr/>
        </p:nvSpPr>
        <p:spPr>
          <a:xfrm>
            <a:off x="781050" y="4324350"/>
            <a:ext cx="4476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Faire gagner du temps, de la rigueur et de la fluidité aux équipes au quotidien.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22AD9FA-3C23-4099-B460-D30A0063E248}"/>
              </a:ext>
            </a:extLst>
          </p:cNvPr>
          <p:cNvSpPr>
            <a:spLocks noGrp="1"/>
          </p:cNvSpPr>
          <p:nvPr/>
        </p:nvSpPr>
        <p:spPr>
          <a:xfrm>
            <a:off x="781050" y="4743450"/>
            <a:ext cx="152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85" b="1">
                <a:solidFill>
                  <a:srgbClr val="2F6F6A"/>
                </a:solidFill>
                <a:latin typeface="Aptos"/>
                <a:ea typeface="Aptos"/>
                <a:cs typeface="Aptos"/>
              </a:defRPr>
            </a:pPr>
            <a:r>
              <a:rPr sz="885" b="1">
                <a:solidFill>
                  <a:srgbClr val="2F6F6A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AE9627D-EABE-4B6E-818F-DE74CDBE5487}"/>
              </a:ext>
            </a:extLst>
          </p:cNvPr>
          <p:cNvSpPr>
            <a:spLocks noGrp="1"/>
          </p:cNvSpPr>
          <p:nvPr/>
        </p:nvSpPr>
        <p:spPr>
          <a:xfrm>
            <a:off x="971550" y="4724400"/>
            <a:ext cx="4286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85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Finance et reporting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49EBC45-EC24-44A1-B1F3-2BFA511685B2}"/>
              </a:ext>
            </a:extLst>
          </p:cNvPr>
          <p:cNvSpPr>
            <a:spLocks noGrp="1"/>
          </p:cNvSpPr>
          <p:nvPr/>
        </p:nvSpPr>
        <p:spPr>
          <a:xfrm>
            <a:off x="781050" y="4953000"/>
            <a:ext cx="152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85" b="1">
                <a:solidFill>
                  <a:srgbClr val="2F6F6A"/>
                </a:solidFill>
                <a:latin typeface="Aptos"/>
                <a:ea typeface="Aptos"/>
                <a:cs typeface="Aptos"/>
              </a:defRPr>
            </a:pPr>
            <a:r>
              <a:rPr sz="885" b="1">
                <a:solidFill>
                  <a:srgbClr val="2F6F6A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FB33E15-2F97-4094-B211-CC214D2CC302}"/>
              </a:ext>
            </a:extLst>
          </p:cNvPr>
          <p:cNvSpPr>
            <a:spLocks noGrp="1"/>
          </p:cNvSpPr>
          <p:nvPr/>
        </p:nvSpPr>
        <p:spPr>
          <a:xfrm>
            <a:off x="971550" y="4933950"/>
            <a:ext cx="4286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85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Service client, flotte et opérations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D0767C-4F9B-4B59-9857-BE077F45A3D7}"/>
              </a:ext>
            </a:extLst>
          </p:cNvPr>
          <p:cNvSpPr>
            <a:spLocks noGrp="1"/>
          </p:cNvSpPr>
          <p:nvPr/>
        </p:nvSpPr>
        <p:spPr>
          <a:xfrm>
            <a:off x="5905500" y="3771900"/>
            <a:ext cx="4953000" cy="1562100"/>
          </a:xfrm>
          <a:prstGeom prst="rect">
            <a:avLst/>
          </a:prstGeom>
          <a:solidFill>
            <a:srgbClr val="FFFDFC"/>
          </a:solidFill>
          <a:ln w="9525">
            <a:solidFill>
              <a:srgbClr val="D9D3CC"/>
            </a:solidFill>
            <a:prstDash val="solid"/>
          </a:ln>
        </p:spPr>
      </p:sp>
      <p:pic>
        <p:nvPicPr>
          <p:cNvPr id="30" name="Graphic 2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6115050" y="3981450"/>
            <a:ext cx="247650" cy="247650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E0B11F65-B0DF-49EF-914E-1EFE6C5B244B}"/>
              </a:ext>
            </a:extLst>
          </p:cNvPr>
          <p:cNvSpPr>
            <a:spLocks noGrp="1"/>
          </p:cNvSpPr>
          <p:nvPr/>
        </p:nvSpPr>
        <p:spPr>
          <a:xfrm>
            <a:off x="6477000" y="3962400"/>
            <a:ext cx="2381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Pilote et mise en œuvre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0936432-4A51-4CAC-97C3-A6DF1E795B82}"/>
              </a:ext>
            </a:extLst>
          </p:cNvPr>
          <p:cNvSpPr>
            <a:spLocks noGrp="1"/>
          </p:cNvSpPr>
          <p:nvPr/>
        </p:nvSpPr>
        <p:spPr>
          <a:xfrm>
            <a:off x="6115050" y="4324350"/>
            <a:ext cx="4476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Passer d'un besoin identifié à un premier cas d'usage visible et mesurable.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071EB75-A4C2-47D4-9418-622FA8F5E052}"/>
              </a:ext>
            </a:extLst>
          </p:cNvPr>
          <p:cNvSpPr>
            <a:spLocks noGrp="1"/>
          </p:cNvSpPr>
          <p:nvPr/>
        </p:nvSpPr>
        <p:spPr>
          <a:xfrm>
            <a:off x="6115050" y="4743450"/>
            <a:ext cx="152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85" b="1">
                <a:solidFill>
                  <a:srgbClr val="6E7D8C"/>
                </a:solidFill>
                <a:latin typeface="Aptos"/>
                <a:ea typeface="Aptos"/>
                <a:cs typeface="Aptos"/>
              </a:defRPr>
            </a:pPr>
            <a:r>
              <a:rPr sz="885" b="1">
                <a:solidFill>
                  <a:srgbClr val="6E7D8C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76C9A96-EBB6-413E-AE41-ECCB24E76A70}"/>
              </a:ext>
            </a:extLst>
          </p:cNvPr>
          <p:cNvSpPr>
            <a:spLocks noGrp="1"/>
          </p:cNvSpPr>
          <p:nvPr/>
        </p:nvSpPr>
        <p:spPr>
          <a:xfrm>
            <a:off x="6305550" y="4724400"/>
            <a:ext cx="4286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85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Assistant métier ciblé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3CBE929-763E-4265-BE3B-F15E6ED1BA6D}"/>
              </a:ext>
            </a:extLst>
          </p:cNvPr>
          <p:cNvSpPr>
            <a:spLocks noGrp="1"/>
          </p:cNvSpPr>
          <p:nvPr/>
        </p:nvSpPr>
        <p:spPr>
          <a:xfrm>
            <a:off x="6115050" y="4953000"/>
            <a:ext cx="152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85" b="1">
                <a:solidFill>
                  <a:srgbClr val="6E7D8C"/>
                </a:solidFill>
                <a:latin typeface="Aptos"/>
                <a:ea typeface="Aptos"/>
                <a:cs typeface="Aptos"/>
              </a:defRPr>
            </a:pPr>
            <a:r>
              <a:rPr sz="885" b="1">
                <a:solidFill>
                  <a:srgbClr val="6E7D8C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DE7D39E-3D3C-4C21-AC48-83DAD002DAC6}"/>
              </a:ext>
            </a:extLst>
          </p:cNvPr>
          <p:cNvSpPr>
            <a:spLocks noGrp="1"/>
          </p:cNvSpPr>
          <p:nvPr/>
        </p:nvSpPr>
        <p:spPr>
          <a:xfrm>
            <a:off x="6305550" y="4933950"/>
            <a:ext cx="4286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85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Tableau de bord, base interne et gouvernance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F1D2713-160A-444F-B893-87CF1653BB19}"/>
              </a:ext>
            </a:extLst>
          </p:cNvPr>
          <p:cNvSpPr>
            <a:spLocks noGrp="1"/>
          </p:cNvSpPr>
          <p:nvPr/>
        </p:nvSpPr>
        <p:spPr>
          <a:xfrm>
            <a:off x="571500" y="6477000"/>
            <a:ext cx="11049000" cy="9525"/>
          </a:xfrm>
          <a:prstGeom prst="rect">
            <a:avLst/>
          </a:prstGeom>
          <a:solidFill>
            <a:srgbClr val="D9D3CC"/>
          </a:solidFill>
          <a:ln w="0">
            <a:solidFill>
              <a:srgbClr val="D9D3CC"/>
            </a:solidFill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B2B8FEF-E97D-4BF7-9F78-F3FB5B0262C6}"/>
              </a:ext>
            </a:extLst>
          </p:cNvPr>
          <p:cNvSpPr>
            <a:spLocks noGrp="1"/>
          </p:cNvSpPr>
          <p:nvPr/>
        </p:nvSpPr>
        <p:spPr>
          <a:xfrm>
            <a:off x="571500" y="6553200"/>
            <a:ext cx="933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Une offre entreprise crédible articule clairement l'audit, la formation, l'accompagnement et un premier terrain d'exécution.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D3FE764-FC0D-4799-B86F-54F887C7F14E}"/>
              </a:ext>
            </a:extLst>
          </p:cNvPr>
          <p:cNvSpPr>
            <a:spLocks noGrp="1"/>
          </p:cNvSpPr>
          <p:nvPr/>
        </p:nvSpPr>
        <p:spPr>
          <a:xfrm>
            <a:off x="10858500" y="653415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213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63774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338D040C-C771-4745-8AF9-EB7BF6C2B3C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DFC"/>
          </a:solidFill>
          <a:ln w="0">
            <a:solidFill>
              <a:srgbClr val="FFFDF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C9E0437-47D0-4BD0-B1BB-B65993C06030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266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FORMATION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E3E1B1-4B0A-4F94-83AC-A3FED7A4D157}"/>
              </a:ext>
            </a:extLst>
          </p:cNvPr>
          <p:cNvSpPr>
            <a:spLocks noGrp="1"/>
          </p:cNvSpPr>
          <p:nvPr/>
        </p:nvSpPr>
        <p:spPr>
          <a:xfrm>
            <a:off x="571500" y="742950"/>
            <a:ext cx="7239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Un mini-catalogue de formation beaucoup plus ciblé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CAF985-FE2D-4289-92BC-F6D40DEE6096}"/>
              </a:ext>
            </a:extLst>
          </p:cNvPr>
          <p:cNvSpPr>
            <a:spLocks noGrp="1"/>
          </p:cNvSpPr>
          <p:nvPr/>
        </p:nvSpPr>
        <p:spPr>
          <a:xfrm>
            <a:off x="571500" y="1314450"/>
            <a:ext cx="7239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Au lieu de présenter 13 domaines génériques, nous recommandons de mettre en avant quelques familles directement utiles pour l'entreprise.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B6EFAB-E1BD-4948-B7C7-63C84FF37B53}"/>
              </a:ext>
            </a:extLst>
          </p:cNvPr>
          <p:cNvSpPr>
            <a:spLocks noGrp="1"/>
          </p:cNvSpPr>
          <p:nvPr/>
        </p:nvSpPr>
        <p:spPr>
          <a:xfrm>
            <a:off x="571500" y="1885950"/>
            <a:ext cx="2381250" cy="3295650"/>
          </a:xfrm>
          <a:prstGeom prst="rect">
            <a:avLst/>
          </a:prstGeom>
          <a:solidFill>
            <a:srgbClr val="F7F3EE"/>
          </a:solidFill>
          <a:ln w="9525">
            <a:solidFill>
              <a:srgbClr val="D9D3CC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DB7FE3-4615-48BB-A423-3C51136F7D08}"/>
              </a:ext>
            </a:extLst>
          </p:cNvPr>
          <p:cNvSpPr>
            <a:spLocks noGrp="1"/>
          </p:cNvSpPr>
          <p:nvPr/>
        </p:nvSpPr>
        <p:spPr>
          <a:xfrm>
            <a:off x="571500" y="1885950"/>
            <a:ext cx="2381250" cy="457200"/>
          </a:xfrm>
          <a:prstGeom prst="rect">
            <a:avLst/>
          </a:prstGeom>
          <a:solidFill>
            <a:srgbClr val="16324F"/>
          </a:solidFill>
          <a:ln w="9525">
            <a:solidFill>
              <a:srgbClr val="16324F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1C4444-FAA6-4EE4-803E-C2D620FB9F03}"/>
              </a:ext>
            </a:extLst>
          </p:cNvPr>
          <p:cNvSpPr>
            <a:spLocks noGrp="1"/>
          </p:cNvSpPr>
          <p:nvPr/>
        </p:nvSpPr>
        <p:spPr>
          <a:xfrm>
            <a:off x="742950" y="2000250"/>
            <a:ext cx="2038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Direction et management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7CC84C-03D2-4523-9CE0-E47C688CC9BC}"/>
              </a:ext>
            </a:extLst>
          </p:cNvPr>
          <p:cNvSpPr>
            <a:spLocks noGrp="1"/>
          </p:cNvSpPr>
          <p:nvPr/>
        </p:nvSpPr>
        <p:spPr>
          <a:xfrm>
            <a:off x="742950" y="2628900"/>
            <a:ext cx="2038350" cy="876300"/>
          </a:xfrm>
          <a:prstGeom prst="rect">
            <a:avLst/>
          </a:prstGeom>
          <a:solidFill>
            <a:srgbClr val="FFFDFC"/>
          </a:solidFill>
          <a:ln w="9525">
            <a:solidFill>
              <a:srgbClr val="D9D3CC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281460-70A9-40E1-9F13-21E1917D44F9}"/>
              </a:ext>
            </a:extLst>
          </p:cNvPr>
          <p:cNvSpPr>
            <a:spLocks noGrp="1"/>
          </p:cNvSpPr>
          <p:nvPr/>
        </p:nvSpPr>
        <p:spPr>
          <a:xfrm>
            <a:off x="857250" y="2781300"/>
            <a:ext cx="18097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1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0213D"/>
                </a:solidFill>
                <a:latin typeface="Aptos"/>
                <a:ea typeface="Aptos"/>
                <a:cs typeface="Aptos"/>
              </a:rPr>
              <a:t>IA pour Dirigeants : Vision et Stratégie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6756BE6-B98C-457E-8C91-FC0A1A9A0E7B}"/>
              </a:ext>
            </a:extLst>
          </p:cNvPr>
          <p:cNvSpPr>
            <a:spLocks noGrp="1"/>
          </p:cNvSpPr>
          <p:nvPr/>
        </p:nvSpPr>
        <p:spPr>
          <a:xfrm>
            <a:off x="742950" y="3733800"/>
            <a:ext cx="2038350" cy="876300"/>
          </a:xfrm>
          <a:prstGeom prst="rect">
            <a:avLst/>
          </a:prstGeom>
          <a:solidFill>
            <a:srgbClr val="FFFDFC"/>
          </a:solidFill>
          <a:ln w="9525">
            <a:solidFill>
              <a:srgbClr val="D9D3CC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697049-2C79-477C-B54A-F2CF678B1799}"/>
              </a:ext>
            </a:extLst>
          </p:cNvPr>
          <p:cNvSpPr>
            <a:spLocks noGrp="1"/>
          </p:cNvSpPr>
          <p:nvPr/>
        </p:nvSpPr>
        <p:spPr>
          <a:xfrm>
            <a:off x="857250" y="3886200"/>
            <a:ext cx="18097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1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0213D"/>
                </a:solidFill>
                <a:latin typeface="Aptos"/>
                <a:ea typeface="Aptos"/>
                <a:cs typeface="Aptos"/>
              </a:rPr>
              <a:t>Prise de Décision Stratégique avec l'IA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82DD60-23CE-4F1C-8FA6-F1885898851C}"/>
              </a:ext>
            </a:extLst>
          </p:cNvPr>
          <p:cNvSpPr>
            <a:spLocks noGrp="1"/>
          </p:cNvSpPr>
          <p:nvPr/>
        </p:nvSpPr>
        <p:spPr>
          <a:xfrm>
            <a:off x="3305175" y="1885950"/>
            <a:ext cx="2381250" cy="3295650"/>
          </a:xfrm>
          <a:prstGeom prst="rect">
            <a:avLst/>
          </a:prstGeom>
          <a:solidFill>
            <a:srgbClr val="F7F3EE"/>
          </a:solidFill>
          <a:ln w="9525">
            <a:solidFill>
              <a:srgbClr val="D9D3CC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00FA72B-F415-490B-AFFE-9413FB413338}"/>
              </a:ext>
            </a:extLst>
          </p:cNvPr>
          <p:cNvSpPr>
            <a:spLocks noGrp="1"/>
          </p:cNvSpPr>
          <p:nvPr/>
        </p:nvSpPr>
        <p:spPr>
          <a:xfrm>
            <a:off x="3305175" y="1885950"/>
            <a:ext cx="2381250" cy="457200"/>
          </a:xfrm>
          <a:prstGeom prst="rect">
            <a:avLst/>
          </a:prstGeom>
          <a:solidFill>
            <a:srgbClr val="D66724"/>
          </a:solidFill>
          <a:ln w="9525">
            <a:solidFill>
              <a:srgbClr val="D66724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824AEF-50F2-45ED-8BA1-5E08C0CC403A}"/>
              </a:ext>
            </a:extLst>
          </p:cNvPr>
          <p:cNvSpPr>
            <a:spLocks noGrp="1"/>
          </p:cNvSpPr>
          <p:nvPr/>
        </p:nvSpPr>
        <p:spPr>
          <a:xfrm>
            <a:off x="3476625" y="2000250"/>
            <a:ext cx="2038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Finance et pilotage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2ECB5F-F12A-49A6-90E4-07CA900C1502}"/>
              </a:ext>
            </a:extLst>
          </p:cNvPr>
          <p:cNvSpPr>
            <a:spLocks noGrp="1"/>
          </p:cNvSpPr>
          <p:nvPr/>
        </p:nvSpPr>
        <p:spPr>
          <a:xfrm>
            <a:off x="3476625" y="2628900"/>
            <a:ext cx="2038350" cy="876300"/>
          </a:xfrm>
          <a:prstGeom prst="rect">
            <a:avLst/>
          </a:prstGeom>
          <a:solidFill>
            <a:srgbClr val="FFFDFC"/>
          </a:solidFill>
          <a:ln w="9525">
            <a:solidFill>
              <a:srgbClr val="D9D3CC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70D4998-7C03-4D44-9D7E-C89842AED55B}"/>
              </a:ext>
            </a:extLst>
          </p:cNvPr>
          <p:cNvSpPr>
            <a:spLocks noGrp="1"/>
          </p:cNvSpPr>
          <p:nvPr/>
        </p:nvSpPr>
        <p:spPr>
          <a:xfrm>
            <a:off x="3590925" y="2781300"/>
            <a:ext cx="18097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1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0213D"/>
                </a:solidFill>
                <a:latin typeface="Aptos"/>
                <a:ea typeface="Aptos"/>
                <a:cs typeface="Aptos"/>
              </a:rPr>
              <a:t>Reporting Financier Automatisé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69357C4-5DEE-45C1-B770-88C6BA562AA8}"/>
              </a:ext>
            </a:extLst>
          </p:cNvPr>
          <p:cNvSpPr>
            <a:spLocks noGrp="1"/>
          </p:cNvSpPr>
          <p:nvPr/>
        </p:nvSpPr>
        <p:spPr>
          <a:xfrm>
            <a:off x="3476625" y="3733800"/>
            <a:ext cx="2038350" cy="876300"/>
          </a:xfrm>
          <a:prstGeom prst="rect">
            <a:avLst/>
          </a:prstGeom>
          <a:solidFill>
            <a:srgbClr val="FFFDFC"/>
          </a:solidFill>
          <a:ln w="9525">
            <a:solidFill>
              <a:srgbClr val="D9D3CC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67C2B7E-5DF3-4635-8B18-74197A64ADE8}"/>
              </a:ext>
            </a:extLst>
          </p:cNvPr>
          <p:cNvSpPr>
            <a:spLocks noGrp="1"/>
          </p:cNvSpPr>
          <p:nvPr/>
        </p:nvSpPr>
        <p:spPr>
          <a:xfrm>
            <a:off x="3590925" y="3886200"/>
            <a:ext cx="18097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1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0213D"/>
                </a:solidFill>
                <a:latin typeface="Aptos"/>
                <a:ea typeface="Aptos"/>
                <a:cs typeface="Aptos"/>
              </a:rPr>
              <a:t>Comptabilité Automatisée avec l'IA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B069C55-3C20-441B-94AC-EA80A9DC1F44}"/>
              </a:ext>
            </a:extLst>
          </p:cNvPr>
          <p:cNvSpPr>
            <a:spLocks noGrp="1"/>
          </p:cNvSpPr>
          <p:nvPr/>
        </p:nvSpPr>
        <p:spPr>
          <a:xfrm>
            <a:off x="6038850" y="1885950"/>
            <a:ext cx="2381250" cy="3295650"/>
          </a:xfrm>
          <a:prstGeom prst="rect">
            <a:avLst/>
          </a:prstGeom>
          <a:solidFill>
            <a:srgbClr val="F7F3EE"/>
          </a:solidFill>
          <a:ln w="9525">
            <a:solidFill>
              <a:srgbClr val="D9D3CC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99FF0B2-2F86-40A9-8291-3CBA8E73E0C2}"/>
              </a:ext>
            </a:extLst>
          </p:cNvPr>
          <p:cNvSpPr>
            <a:spLocks noGrp="1"/>
          </p:cNvSpPr>
          <p:nvPr/>
        </p:nvSpPr>
        <p:spPr>
          <a:xfrm>
            <a:off x="6038850" y="1885950"/>
            <a:ext cx="2381250" cy="457200"/>
          </a:xfrm>
          <a:prstGeom prst="rect">
            <a:avLst/>
          </a:prstGeom>
          <a:solidFill>
            <a:srgbClr val="2F6F6A"/>
          </a:solidFill>
          <a:ln w="9525">
            <a:solidFill>
              <a:srgbClr val="2F6F6A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AFC68E7-7943-4CB7-9406-C7C3C29B13A6}"/>
              </a:ext>
            </a:extLst>
          </p:cNvPr>
          <p:cNvSpPr>
            <a:spLocks noGrp="1"/>
          </p:cNvSpPr>
          <p:nvPr/>
        </p:nvSpPr>
        <p:spPr>
          <a:xfrm>
            <a:off x="6210300" y="2000250"/>
            <a:ext cx="2038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Opérations et relation client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41B8063-1C37-48A3-AA70-0BCD7E75D6D4}"/>
              </a:ext>
            </a:extLst>
          </p:cNvPr>
          <p:cNvSpPr>
            <a:spLocks noGrp="1"/>
          </p:cNvSpPr>
          <p:nvPr/>
        </p:nvSpPr>
        <p:spPr>
          <a:xfrm>
            <a:off x="6210300" y="2628900"/>
            <a:ext cx="2038350" cy="876300"/>
          </a:xfrm>
          <a:prstGeom prst="rect">
            <a:avLst/>
          </a:prstGeom>
          <a:solidFill>
            <a:srgbClr val="FFFDFC"/>
          </a:solidFill>
          <a:ln w="9525">
            <a:solidFill>
              <a:srgbClr val="D9D3CC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1E903FF-3E7D-40E7-B4C2-931E3E71B2E9}"/>
              </a:ext>
            </a:extLst>
          </p:cNvPr>
          <p:cNvSpPr>
            <a:spLocks noGrp="1"/>
          </p:cNvSpPr>
          <p:nvPr/>
        </p:nvSpPr>
        <p:spPr>
          <a:xfrm>
            <a:off x="6324600" y="2781300"/>
            <a:ext cx="18097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1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0213D"/>
                </a:solidFill>
                <a:latin typeface="Aptos"/>
                <a:ea typeface="Aptos"/>
                <a:cs typeface="Aptos"/>
              </a:rPr>
              <a:t>Gestion de Flotte et Logistique IA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BA6A829-7C96-4CC3-8DB2-CA97490906EC}"/>
              </a:ext>
            </a:extLst>
          </p:cNvPr>
          <p:cNvSpPr>
            <a:spLocks noGrp="1"/>
          </p:cNvSpPr>
          <p:nvPr/>
        </p:nvSpPr>
        <p:spPr>
          <a:xfrm>
            <a:off x="6210300" y="3733800"/>
            <a:ext cx="2038350" cy="876300"/>
          </a:xfrm>
          <a:prstGeom prst="rect">
            <a:avLst/>
          </a:prstGeom>
          <a:solidFill>
            <a:srgbClr val="FFFDFC"/>
          </a:solidFill>
          <a:ln w="9525">
            <a:solidFill>
              <a:srgbClr val="D9D3CC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19ABA36-2B1F-4C14-BF04-416801F3FA8C}"/>
              </a:ext>
            </a:extLst>
          </p:cNvPr>
          <p:cNvSpPr>
            <a:spLocks noGrp="1"/>
          </p:cNvSpPr>
          <p:nvPr/>
        </p:nvSpPr>
        <p:spPr>
          <a:xfrm>
            <a:off x="6324600" y="3886200"/>
            <a:ext cx="18097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1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0213D"/>
                </a:solidFill>
                <a:latin typeface="Aptos"/>
                <a:ea typeface="Aptos"/>
                <a:cs typeface="Aptos"/>
              </a:rPr>
              <a:t>CRM Intelligent et IA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87662AD-2FC3-45B3-A3DD-ED24A094C91D}"/>
              </a:ext>
            </a:extLst>
          </p:cNvPr>
          <p:cNvSpPr>
            <a:spLocks noGrp="1"/>
          </p:cNvSpPr>
          <p:nvPr/>
        </p:nvSpPr>
        <p:spPr>
          <a:xfrm>
            <a:off x="8772525" y="1885950"/>
            <a:ext cx="2381250" cy="3295650"/>
          </a:xfrm>
          <a:prstGeom prst="rect">
            <a:avLst/>
          </a:prstGeom>
          <a:solidFill>
            <a:srgbClr val="F7F3EE"/>
          </a:solidFill>
          <a:ln w="9525">
            <a:solidFill>
              <a:srgbClr val="D9D3CC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B556919-05F4-4CA7-82A2-DFC533CD82C4}"/>
              </a:ext>
            </a:extLst>
          </p:cNvPr>
          <p:cNvSpPr>
            <a:spLocks noGrp="1"/>
          </p:cNvSpPr>
          <p:nvPr/>
        </p:nvSpPr>
        <p:spPr>
          <a:xfrm>
            <a:off x="8772525" y="1885950"/>
            <a:ext cx="2381250" cy="457200"/>
          </a:xfrm>
          <a:prstGeom prst="rect">
            <a:avLst/>
          </a:prstGeom>
          <a:solidFill>
            <a:srgbClr val="6E7D8C"/>
          </a:solidFill>
          <a:ln w="9525">
            <a:solidFill>
              <a:srgbClr val="6E7D8C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57B700F-41CF-401D-B26A-BD1BD76F1059}"/>
              </a:ext>
            </a:extLst>
          </p:cNvPr>
          <p:cNvSpPr>
            <a:spLocks noGrp="1"/>
          </p:cNvSpPr>
          <p:nvPr/>
        </p:nvSpPr>
        <p:spPr>
          <a:xfrm>
            <a:off x="8943975" y="2000250"/>
            <a:ext cx="2038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Transformation et conformité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D5F41EF-AED4-4F0A-BEC4-75803E5B9E3C}"/>
              </a:ext>
            </a:extLst>
          </p:cNvPr>
          <p:cNvSpPr>
            <a:spLocks noGrp="1"/>
          </p:cNvSpPr>
          <p:nvPr/>
        </p:nvSpPr>
        <p:spPr>
          <a:xfrm>
            <a:off x="8943975" y="2628900"/>
            <a:ext cx="2038350" cy="876300"/>
          </a:xfrm>
          <a:prstGeom prst="rect">
            <a:avLst/>
          </a:prstGeom>
          <a:solidFill>
            <a:srgbClr val="FFFDFC"/>
          </a:solidFill>
          <a:ln w="9525">
            <a:solidFill>
              <a:srgbClr val="D9D3CC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FB1F2B3-EC17-45B2-B50A-87817DCE7056}"/>
              </a:ext>
            </a:extLst>
          </p:cNvPr>
          <p:cNvSpPr>
            <a:spLocks noGrp="1"/>
          </p:cNvSpPr>
          <p:nvPr/>
        </p:nvSpPr>
        <p:spPr>
          <a:xfrm>
            <a:off x="9058275" y="2781300"/>
            <a:ext cx="18097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1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0213D"/>
                </a:solidFill>
                <a:latin typeface="Aptos"/>
                <a:ea typeface="Aptos"/>
                <a:cs typeface="Aptos"/>
              </a:rPr>
              <a:t>Optimisation des Processus Métier avec l'IA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07CBCDF-F312-4302-BD8B-33181521A941}"/>
              </a:ext>
            </a:extLst>
          </p:cNvPr>
          <p:cNvSpPr>
            <a:spLocks noGrp="1"/>
          </p:cNvSpPr>
          <p:nvPr/>
        </p:nvSpPr>
        <p:spPr>
          <a:xfrm>
            <a:off x="8943975" y="3733800"/>
            <a:ext cx="2038350" cy="876300"/>
          </a:xfrm>
          <a:prstGeom prst="rect">
            <a:avLst/>
          </a:prstGeom>
          <a:solidFill>
            <a:srgbClr val="FFFDFC"/>
          </a:solidFill>
          <a:ln w="9525">
            <a:solidFill>
              <a:srgbClr val="D9D3CC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2806BC3-A968-4221-B2CD-CCCEB113C1D5}"/>
              </a:ext>
            </a:extLst>
          </p:cNvPr>
          <p:cNvSpPr>
            <a:spLocks noGrp="1"/>
          </p:cNvSpPr>
          <p:nvPr/>
        </p:nvSpPr>
        <p:spPr>
          <a:xfrm>
            <a:off x="9058275" y="3886200"/>
            <a:ext cx="18097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1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0213D"/>
                </a:solidFill>
                <a:latin typeface="Aptos"/>
                <a:ea typeface="Aptos"/>
                <a:cs typeface="Aptos"/>
              </a:rPr>
              <a:t>RGPD et Protection des Données avec l'IA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BCD838E-31DC-4DEC-9847-08A3F3AC5C83}"/>
              </a:ext>
            </a:extLst>
          </p:cNvPr>
          <p:cNvSpPr>
            <a:spLocks noGrp="1"/>
          </p:cNvSpPr>
          <p:nvPr/>
        </p:nvSpPr>
        <p:spPr>
          <a:xfrm>
            <a:off x="571500" y="5581650"/>
            <a:ext cx="10668000" cy="514350"/>
          </a:xfrm>
          <a:prstGeom prst="rect">
            <a:avLst/>
          </a:prstGeom>
          <a:solidFill>
            <a:srgbClr val="16324F"/>
          </a:solidFill>
          <a:ln w="9525">
            <a:solidFill>
              <a:srgbClr val="16324F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5F2B9FF-106D-47BD-8705-DCCC308E2FCA}"/>
              </a:ext>
            </a:extLst>
          </p:cNvPr>
          <p:cNvSpPr>
            <a:spLocks noGrp="1"/>
          </p:cNvSpPr>
          <p:nvPr/>
        </p:nvSpPr>
        <p:spPr>
          <a:xfrm>
            <a:off x="800100" y="5743575"/>
            <a:ext cx="10001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Message à faire passer : la formation n'est pas un catalogue séparé, mais une réponse ciblée aux priorités métier révélées par l'audit.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042C6F4-61CC-4DBD-A489-C0CF74C0690F}"/>
              </a:ext>
            </a:extLst>
          </p:cNvPr>
          <p:cNvSpPr>
            <a:spLocks noGrp="1"/>
          </p:cNvSpPr>
          <p:nvPr/>
        </p:nvSpPr>
        <p:spPr>
          <a:xfrm>
            <a:off x="571500" y="6477000"/>
            <a:ext cx="11049000" cy="9525"/>
          </a:xfrm>
          <a:prstGeom prst="rect">
            <a:avLst/>
          </a:prstGeom>
          <a:solidFill>
            <a:srgbClr val="D9D3CC"/>
          </a:solidFill>
          <a:ln w="0">
            <a:solidFill>
              <a:srgbClr val="D9D3CC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7EC4DE4-D046-406B-B23C-F2F139D4555A}"/>
              </a:ext>
            </a:extLst>
          </p:cNvPr>
          <p:cNvSpPr>
            <a:spLocks noGrp="1"/>
          </p:cNvSpPr>
          <p:nvPr/>
        </p:nvSpPr>
        <p:spPr>
          <a:xfrm>
            <a:off x="571500" y="6553200"/>
            <a:ext cx="933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Le catalogue doit devenir un outil de ciblage commercial et non une liste trop large à présenter d'un bloc.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2808E5C-EE9B-40FA-8AA5-0E2CD74E22C8}"/>
              </a:ext>
            </a:extLst>
          </p:cNvPr>
          <p:cNvSpPr>
            <a:spLocks noGrp="1"/>
          </p:cNvSpPr>
          <p:nvPr/>
        </p:nvSpPr>
        <p:spPr>
          <a:xfrm>
            <a:off x="10858500" y="653415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213D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12787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9AE39B2C-2EE2-4CEC-916A-6F6897E4065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E"/>
          </a:solidFill>
          <a:ln w="0">
            <a:solidFill>
              <a:srgbClr val="F7F3EE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79929D9-9F92-4B9E-A9C5-9043A114138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266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CAS D'USAGE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116779-8731-48F9-B3CE-C93C565DC21D}"/>
              </a:ext>
            </a:extLst>
          </p:cNvPr>
          <p:cNvSpPr>
            <a:spLocks noGrp="1"/>
          </p:cNvSpPr>
          <p:nvPr/>
        </p:nvSpPr>
        <p:spPr>
          <a:xfrm>
            <a:off x="571500" y="742950"/>
            <a:ext cx="7239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Ce que cette offre peut adresser concrètement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90B17A-A832-4F5E-991A-F21021FE2899}"/>
              </a:ext>
            </a:extLst>
          </p:cNvPr>
          <p:cNvSpPr>
            <a:spLocks noGrp="1"/>
          </p:cNvSpPr>
          <p:nvPr/>
        </p:nvSpPr>
        <p:spPr>
          <a:xfrm>
            <a:off x="571500" y="1333500"/>
            <a:ext cx="7429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Pour une entreprise comme Elton CI, l'offre formation prend de la valeur si elle prépare des usages utiles sur des terrains bien identifiés.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D1D515-E61B-4C52-86AE-499929402C75}"/>
              </a:ext>
            </a:extLst>
          </p:cNvPr>
          <p:cNvSpPr>
            <a:spLocks noGrp="1"/>
          </p:cNvSpPr>
          <p:nvPr/>
        </p:nvSpPr>
        <p:spPr>
          <a:xfrm>
            <a:off x="571500" y="2000250"/>
            <a:ext cx="4953000" cy="1295400"/>
          </a:xfrm>
          <a:prstGeom prst="rect">
            <a:avLst/>
          </a:prstGeom>
          <a:solidFill>
            <a:srgbClr val="FFFDFC"/>
          </a:solidFill>
          <a:ln w="9525">
            <a:solidFill>
              <a:srgbClr val="D9D3CC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04656E-4780-402B-95F0-84B67E1EEF5D}"/>
              </a:ext>
            </a:extLst>
          </p:cNvPr>
          <p:cNvSpPr>
            <a:spLocks noGrp="1"/>
          </p:cNvSpPr>
          <p:nvPr/>
        </p:nvSpPr>
        <p:spPr>
          <a:xfrm>
            <a:off x="781050" y="2190750"/>
            <a:ext cx="2857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Comptes professionnels et recouvrement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7438C5-1913-4476-B280-CF7108F59214}"/>
              </a:ext>
            </a:extLst>
          </p:cNvPr>
          <p:cNvSpPr>
            <a:spLocks noGrp="1"/>
          </p:cNvSpPr>
          <p:nvPr/>
        </p:nvSpPr>
        <p:spPr>
          <a:xfrm>
            <a:off x="781050" y="2628900"/>
            <a:ext cx="4476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Mieux suivre les comptes clients, les échéances, les relances et les revues de portefeuille.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EE72F6C-1DF1-427E-8966-79F9DFEEBE33}"/>
              </a:ext>
            </a:extLst>
          </p:cNvPr>
          <p:cNvSpPr>
            <a:spLocks noGrp="1"/>
          </p:cNvSpPr>
          <p:nvPr/>
        </p:nvSpPr>
        <p:spPr>
          <a:xfrm>
            <a:off x="5905500" y="2000250"/>
            <a:ext cx="4953000" cy="1295400"/>
          </a:xfrm>
          <a:prstGeom prst="rect">
            <a:avLst/>
          </a:prstGeom>
          <a:solidFill>
            <a:srgbClr val="FFFDFC"/>
          </a:solidFill>
          <a:ln w="9525">
            <a:solidFill>
              <a:srgbClr val="D9D3CC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CDE97A4-41EC-428B-9F67-D962319963D6}"/>
              </a:ext>
            </a:extLst>
          </p:cNvPr>
          <p:cNvSpPr>
            <a:spLocks noGrp="1"/>
          </p:cNvSpPr>
          <p:nvPr/>
        </p:nvSpPr>
        <p:spPr>
          <a:xfrm>
            <a:off x="6115050" y="2190750"/>
            <a:ext cx="2857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Flotte, carte carburant et pilotage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26A4E3-7032-4588-B6E9-6D24C5020757}"/>
              </a:ext>
            </a:extLst>
          </p:cNvPr>
          <p:cNvSpPr>
            <a:spLocks noGrp="1"/>
          </p:cNvSpPr>
          <p:nvPr/>
        </p:nvSpPr>
        <p:spPr>
          <a:xfrm>
            <a:off x="6115050" y="2628900"/>
            <a:ext cx="4476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Mieux exploiter les données de consommation, les cartes et les tableaux de bord de suivi.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A041A6A-6E16-4784-AF83-91ABA546122F}"/>
              </a:ext>
            </a:extLst>
          </p:cNvPr>
          <p:cNvSpPr>
            <a:spLocks noGrp="1"/>
          </p:cNvSpPr>
          <p:nvPr/>
        </p:nvSpPr>
        <p:spPr>
          <a:xfrm>
            <a:off x="571500" y="3638550"/>
            <a:ext cx="4953000" cy="1295400"/>
          </a:xfrm>
          <a:prstGeom prst="rect">
            <a:avLst/>
          </a:prstGeom>
          <a:solidFill>
            <a:srgbClr val="FFFDFC"/>
          </a:solidFill>
          <a:ln w="9525">
            <a:solidFill>
              <a:srgbClr val="D9D3CC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7B65F3-E8C1-4033-AFA1-7606FFABFB61}"/>
              </a:ext>
            </a:extLst>
          </p:cNvPr>
          <p:cNvSpPr>
            <a:spLocks noGrp="1"/>
          </p:cNvSpPr>
          <p:nvPr/>
        </p:nvSpPr>
        <p:spPr>
          <a:xfrm>
            <a:off x="781050" y="3829050"/>
            <a:ext cx="2857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Service auto et relation client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CEEB85-B773-45DD-979D-ADB771414BBF}"/>
              </a:ext>
            </a:extLst>
          </p:cNvPr>
          <p:cNvSpPr>
            <a:spLocks noGrp="1"/>
          </p:cNvSpPr>
          <p:nvPr/>
        </p:nvSpPr>
        <p:spPr>
          <a:xfrm>
            <a:off x="781050" y="4267200"/>
            <a:ext cx="4476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Renforcer les rappels, la qualité de service, la réactivité et le suivi des interactions clients.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50F2C2C-E5F7-4C43-A9C2-21E0D62A118E}"/>
              </a:ext>
            </a:extLst>
          </p:cNvPr>
          <p:cNvSpPr>
            <a:spLocks noGrp="1"/>
          </p:cNvSpPr>
          <p:nvPr/>
        </p:nvSpPr>
        <p:spPr>
          <a:xfrm>
            <a:off x="5905500" y="3638550"/>
            <a:ext cx="4953000" cy="1295400"/>
          </a:xfrm>
          <a:prstGeom prst="rect">
            <a:avLst/>
          </a:prstGeom>
          <a:solidFill>
            <a:srgbClr val="FFFDFC"/>
          </a:solidFill>
          <a:ln w="9525">
            <a:solidFill>
              <a:srgbClr val="D9D3CC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9C59FDF-75C6-4B6C-8E38-FD1D02484DD3}"/>
              </a:ext>
            </a:extLst>
          </p:cNvPr>
          <p:cNvSpPr>
            <a:spLocks noGrp="1"/>
          </p:cNvSpPr>
          <p:nvPr/>
        </p:nvSpPr>
        <p:spPr>
          <a:xfrm>
            <a:off x="6115050" y="3829050"/>
            <a:ext cx="2857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Procédures, standards et diffusion interne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9BDB33B-6257-4682-B4B4-D7489FD75204}"/>
              </a:ext>
            </a:extLst>
          </p:cNvPr>
          <p:cNvSpPr>
            <a:spLocks noGrp="1"/>
          </p:cNvSpPr>
          <p:nvPr/>
        </p:nvSpPr>
        <p:spPr>
          <a:xfrm>
            <a:off x="6115050" y="4267200"/>
            <a:ext cx="4476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Aider les équipes à accéder plus vite aux bonnes pratiques, réponses et informations utiles.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4953F9A-753B-47DB-B34B-98EE75D64500}"/>
              </a:ext>
            </a:extLst>
          </p:cNvPr>
          <p:cNvSpPr>
            <a:spLocks noGrp="1"/>
          </p:cNvSpPr>
          <p:nvPr/>
        </p:nvSpPr>
        <p:spPr>
          <a:xfrm>
            <a:off x="571500" y="5657850"/>
            <a:ext cx="10668000" cy="419100"/>
          </a:xfrm>
          <a:prstGeom prst="rect">
            <a:avLst/>
          </a:prstGeom>
          <a:solidFill>
            <a:srgbClr val="FFF7F1"/>
          </a:solidFill>
          <a:ln w="9525">
            <a:solidFill>
              <a:srgbClr val="FFF7F1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5D2BB83-6B9C-48D9-8981-765893917630}"/>
              </a:ext>
            </a:extLst>
          </p:cNvPr>
          <p:cNvSpPr>
            <a:spLocks noGrp="1"/>
          </p:cNvSpPr>
          <p:nvPr/>
        </p:nvSpPr>
        <p:spPr>
          <a:xfrm>
            <a:off x="800100" y="5781675"/>
            <a:ext cx="10191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85" b="1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885" b="1">
                <a:solidFill>
                  <a:srgbClr val="10213D"/>
                </a:solidFill>
                <a:latin typeface="Aptos"/>
                <a:ea typeface="Aptos"/>
                <a:cs typeface="Aptos"/>
              </a:rPr>
              <a:t>La formation prépare ici des usages métier précis : elle rend les équipes plus prêtes, plus rapides et plus cohérentes avant le déploiement d'un pilote.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DFCE77-4CA6-4CF7-B0A8-F2F82FA267B1}"/>
              </a:ext>
            </a:extLst>
          </p:cNvPr>
          <p:cNvSpPr>
            <a:spLocks noGrp="1"/>
          </p:cNvSpPr>
          <p:nvPr/>
        </p:nvSpPr>
        <p:spPr>
          <a:xfrm>
            <a:off x="571500" y="6477000"/>
            <a:ext cx="11049000" cy="9525"/>
          </a:xfrm>
          <a:prstGeom prst="rect">
            <a:avLst/>
          </a:prstGeom>
          <a:solidFill>
            <a:srgbClr val="D9D3CC"/>
          </a:solidFill>
          <a:ln w="0">
            <a:solidFill>
              <a:srgbClr val="D9D3CC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756EA4F-CF10-4472-B68A-218013947A96}"/>
              </a:ext>
            </a:extLst>
          </p:cNvPr>
          <p:cNvSpPr>
            <a:spLocks noGrp="1"/>
          </p:cNvSpPr>
          <p:nvPr/>
        </p:nvSpPr>
        <p:spPr>
          <a:xfrm>
            <a:off x="571500" y="6553200"/>
            <a:ext cx="933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L'objectif n'est pas d'ajouter de l'IA partout, mais de relier la formation à des cas d'usage visibles et crédibles.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6845097-FC24-464E-81BC-B74B2A9CCF6C}"/>
              </a:ext>
            </a:extLst>
          </p:cNvPr>
          <p:cNvSpPr>
            <a:spLocks noGrp="1"/>
          </p:cNvSpPr>
          <p:nvPr/>
        </p:nvSpPr>
        <p:spPr>
          <a:xfrm>
            <a:off x="10858500" y="653415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213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493380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E990B9D2-EBD4-4F1A-B1FB-76B60792CB1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DFC"/>
          </a:solidFill>
          <a:ln w="0">
            <a:solidFill>
              <a:srgbClr val="FFFDF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B22F5DD-D800-4143-8366-2669D324D172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266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PARCOURS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2AD2CF-6CA3-4B5D-B48A-8A271DF715DD}"/>
              </a:ext>
            </a:extLst>
          </p:cNvPr>
          <p:cNvSpPr>
            <a:spLocks noGrp="1"/>
          </p:cNvSpPr>
          <p:nvPr/>
        </p:nvSpPr>
        <p:spPr>
          <a:xfrm>
            <a:off x="571500" y="742950"/>
            <a:ext cx="6477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La séquence recommandée pour l'entreprise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9521DEA-01E5-47D4-BD0B-8E5133C6A377}"/>
              </a:ext>
            </a:extLst>
          </p:cNvPr>
          <p:cNvSpPr>
            <a:spLocks noGrp="1"/>
          </p:cNvSpPr>
          <p:nvPr/>
        </p:nvSpPr>
        <p:spPr>
          <a:xfrm>
            <a:off x="571500" y="1333500"/>
            <a:ext cx="6096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Le bon scénario n'est pas de tout vendre d'un bloc, mais d'enchaîner les étapes utiles dans le bon ordre.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71FC36-9CEC-467F-8A8E-A2260F7377C0}"/>
              </a:ext>
            </a:extLst>
          </p:cNvPr>
          <p:cNvSpPr>
            <a:spLocks noGrp="1"/>
          </p:cNvSpPr>
          <p:nvPr/>
        </p:nvSpPr>
        <p:spPr>
          <a:xfrm>
            <a:off x="571500" y="2038350"/>
            <a:ext cx="2286000" cy="2095500"/>
          </a:xfrm>
          <a:prstGeom prst="rect">
            <a:avLst/>
          </a:prstGeom>
          <a:solidFill>
            <a:srgbClr val="F7F3EE"/>
          </a:solidFill>
          <a:ln w="9525">
            <a:solidFill>
              <a:srgbClr val="D9D3CC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48C25B-DDD9-4020-ADD3-D6A3FD0621A1}"/>
              </a:ext>
            </a:extLst>
          </p:cNvPr>
          <p:cNvSpPr>
            <a:spLocks noGrp="1"/>
          </p:cNvSpPr>
          <p:nvPr/>
        </p:nvSpPr>
        <p:spPr>
          <a:xfrm>
            <a:off x="800100" y="2247900"/>
            <a:ext cx="419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FB67E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2FB67E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2877E9-51DF-41C0-85AA-65B8BF5C60B0}"/>
              </a:ext>
            </a:extLst>
          </p:cNvPr>
          <p:cNvSpPr>
            <a:spLocks noGrp="1"/>
          </p:cNvSpPr>
          <p:nvPr/>
        </p:nvSpPr>
        <p:spPr>
          <a:xfrm>
            <a:off x="800100" y="25717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1. Rendez-vous de cadrage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70BC97-1E76-41D4-8B18-1195A078EA92}"/>
              </a:ext>
            </a:extLst>
          </p:cNvPr>
          <p:cNvSpPr>
            <a:spLocks noGrp="1"/>
          </p:cNvSpPr>
          <p:nvPr/>
        </p:nvSpPr>
        <p:spPr>
          <a:xfrm>
            <a:off x="800100" y="3086100"/>
            <a:ext cx="18097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Comprendre les priorités, le contexte et les points de friction les plus sensibles.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057E74-75F5-456D-A971-A0941F0E405D}"/>
              </a:ext>
            </a:extLst>
          </p:cNvPr>
          <p:cNvSpPr>
            <a:spLocks noGrp="1"/>
          </p:cNvSpPr>
          <p:nvPr/>
        </p:nvSpPr>
        <p:spPr>
          <a:xfrm>
            <a:off x="3238500" y="2038350"/>
            <a:ext cx="2286000" cy="2095500"/>
          </a:xfrm>
          <a:prstGeom prst="rect">
            <a:avLst/>
          </a:prstGeom>
          <a:solidFill>
            <a:srgbClr val="FFF7F1"/>
          </a:solidFill>
          <a:ln w="9525">
            <a:solidFill>
              <a:srgbClr val="FFF7F1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E11005-1E66-4C19-842C-E90CBE9D5B91}"/>
              </a:ext>
            </a:extLst>
          </p:cNvPr>
          <p:cNvSpPr>
            <a:spLocks noGrp="1"/>
          </p:cNvSpPr>
          <p:nvPr/>
        </p:nvSpPr>
        <p:spPr>
          <a:xfrm>
            <a:off x="3467100" y="2247900"/>
            <a:ext cx="419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D6672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D66724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EC03B2A-1083-4F4F-AD0F-A58C5CA34898}"/>
              </a:ext>
            </a:extLst>
          </p:cNvPr>
          <p:cNvSpPr>
            <a:spLocks noGrp="1"/>
          </p:cNvSpPr>
          <p:nvPr/>
        </p:nvSpPr>
        <p:spPr>
          <a:xfrm>
            <a:off x="3467100" y="25717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2. Audit gratuit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C123EB-EF23-4836-A690-524E0D42D740}"/>
              </a:ext>
            </a:extLst>
          </p:cNvPr>
          <p:cNvSpPr>
            <a:spLocks noGrp="1"/>
          </p:cNvSpPr>
          <p:nvPr/>
        </p:nvSpPr>
        <p:spPr>
          <a:xfrm>
            <a:off x="3467100" y="3086100"/>
            <a:ext cx="18097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Identifier les quick wins, les besoins de formation et les premiers cas d'usage utiles.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A1C8B8-E496-408E-930F-AACF20D9B9B9}"/>
              </a:ext>
            </a:extLst>
          </p:cNvPr>
          <p:cNvSpPr>
            <a:spLocks noGrp="1"/>
          </p:cNvSpPr>
          <p:nvPr/>
        </p:nvSpPr>
        <p:spPr>
          <a:xfrm>
            <a:off x="5905500" y="2038350"/>
            <a:ext cx="2286000" cy="2095500"/>
          </a:xfrm>
          <a:prstGeom prst="rect">
            <a:avLst/>
          </a:prstGeom>
          <a:solidFill>
            <a:srgbClr val="F7F3EE"/>
          </a:solidFill>
          <a:ln w="9525">
            <a:solidFill>
              <a:srgbClr val="D9D3CC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65FBDBA-B0CB-4C7F-8BBB-359BBD4238D4}"/>
              </a:ext>
            </a:extLst>
          </p:cNvPr>
          <p:cNvSpPr>
            <a:spLocks noGrp="1"/>
          </p:cNvSpPr>
          <p:nvPr/>
        </p:nvSpPr>
        <p:spPr>
          <a:xfrm>
            <a:off x="6134100" y="2247900"/>
            <a:ext cx="419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FB67E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2FB67E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B5E449-ABC5-4ADA-B6C5-A8FFE886FCDF}"/>
              </a:ext>
            </a:extLst>
          </p:cNvPr>
          <p:cNvSpPr>
            <a:spLocks noGrp="1"/>
          </p:cNvSpPr>
          <p:nvPr/>
        </p:nvSpPr>
        <p:spPr>
          <a:xfrm>
            <a:off x="6134100" y="25717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3. Formation ciblée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0B337AF-7E12-4E48-BC3C-89D9BF43366B}"/>
              </a:ext>
            </a:extLst>
          </p:cNvPr>
          <p:cNvSpPr>
            <a:spLocks noGrp="1"/>
          </p:cNvSpPr>
          <p:nvPr/>
        </p:nvSpPr>
        <p:spPr>
          <a:xfrm>
            <a:off x="6134100" y="3086100"/>
            <a:ext cx="18097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Former la bonne population au bon niveau : direction, managers, équipes métier ou support.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3E98E2B-4792-4B7A-8F68-FE6B898B3532}"/>
              </a:ext>
            </a:extLst>
          </p:cNvPr>
          <p:cNvSpPr>
            <a:spLocks noGrp="1"/>
          </p:cNvSpPr>
          <p:nvPr/>
        </p:nvSpPr>
        <p:spPr>
          <a:xfrm>
            <a:off x="8572500" y="2038350"/>
            <a:ext cx="2286000" cy="2095500"/>
          </a:xfrm>
          <a:prstGeom prst="rect">
            <a:avLst/>
          </a:prstGeom>
          <a:solidFill>
            <a:srgbClr val="F7F3EE"/>
          </a:solidFill>
          <a:ln w="9525">
            <a:solidFill>
              <a:srgbClr val="D9D3CC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3711AA8-B228-4EC9-93CD-D4C3F56543BB}"/>
              </a:ext>
            </a:extLst>
          </p:cNvPr>
          <p:cNvSpPr>
            <a:spLocks noGrp="1"/>
          </p:cNvSpPr>
          <p:nvPr/>
        </p:nvSpPr>
        <p:spPr>
          <a:xfrm>
            <a:off x="8801100" y="2247900"/>
            <a:ext cx="419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FB67E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2FB67E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F647C97-2099-4236-9F75-97D6888942AA}"/>
              </a:ext>
            </a:extLst>
          </p:cNvPr>
          <p:cNvSpPr>
            <a:spLocks noGrp="1"/>
          </p:cNvSpPr>
          <p:nvPr/>
        </p:nvSpPr>
        <p:spPr>
          <a:xfrm>
            <a:off x="8801100" y="25717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4. Pilote puis extension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62D17A9-6B73-460C-9682-086B72ACC2B4}"/>
              </a:ext>
            </a:extLst>
          </p:cNvPr>
          <p:cNvSpPr>
            <a:spLocks noGrp="1"/>
          </p:cNvSpPr>
          <p:nvPr/>
        </p:nvSpPr>
        <p:spPr>
          <a:xfrm>
            <a:off x="8801100" y="3086100"/>
            <a:ext cx="18097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Lancer un premier usage mesurable, puis élargir seulement ce qui fonctionne réellement.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FAF46DE-C220-4847-B1D0-081046523E09}"/>
              </a:ext>
            </a:extLst>
          </p:cNvPr>
          <p:cNvSpPr>
            <a:spLocks noGrp="1"/>
          </p:cNvSpPr>
          <p:nvPr/>
        </p:nvSpPr>
        <p:spPr>
          <a:xfrm>
            <a:off x="571500" y="4686300"/>
            <a:ext cx="10668000" cy="1143000"/>
          </a:xfrm>
          <a:prstGeom prst="rect">
            <a:avLst/>
          </a:prstGeom>
          <a:solidFill>
            <a:srgbClr val="16324F"/>
          </a:solidFill>
          <a:ln w="9525">
            <a:solidFill>
              <a:srgbClr val="16324F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A55669E-03E3-4447-8CE0-7C51A6BA816A}"/>
              </a:ext>
            </a:extLst>
          </p:cNvPr>
          <p:cNvSpPr>
            <a:spLocks noGrp="1"/>
          </p:cNvSpPr>
          <p:nvPr/>
        </p:nvSpPr>
        <p:spPr>
          <a:xfrm>
            <a:off x="838200" y="4914900"/>
            <a:ext cx="152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D7E2EE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7E2EE"/>
                </a:solidFill>
                <a:latin typeface="Aptos"/>
                <a:ea typeface="Aptos"/>
                <a:cs typeface="Aptos"/>
              </a:rPr>
              <a:t>Ce que cela sécurise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9C13C29-E915-4BF2-BA70-F4B02D8422E8}"/>
              </a:ext>
            </a:extLst>
          </p:cNvPr>
          <p:cNvSpPr>
            <a:spLocks noGrp="1"/>
          </p:cNvSpPr>
          <p:nvPr/>
        </p:nvSpPr>
        <p:spPr>
          <a:xfrm>
            <a:off x="838200" y="5219700"/>
            <a:ext cx="4095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• Des priorités mieux choisies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5CA8953-CE75-42BA-AFDC-E0F5065D435B}"/>
              </a:ext>
            </a:extLst>
          </p:cNvPr>
          <p:cNvSpPr>
            <a:spLocks noGrp="1"/>
          </p:cNvSpPr>
          <p:nvPr/>
        </p:nvSpPr>
        <p:spPr>
          <a:xfrm>
            <a:off x="838200" y="5486400"/>
            <a:ext cx="4095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• Une formation mieux ciblée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2E297B3-CFD9-4115-BCAE-AE835CEAA773}"/>
              </a:ext>
            </a:extLst>
          </p:cNvPr>
          <p:cNvSpPr>
            <a:spLocks noGrp="1"/>
          </p:cNvSpPr>
          <p:nvPr/>
        </p:nvSpPr>
        <p:spPr>
          <a:xfrm>
            <a:off x="5905500" y="5219700"/>
            <a:ext cx="4095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• Un premier pilote plus crédible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409A42A-ECFA-475C-A85F-1B5DB8BC759B}"/>
              </a:ext>
            </a:extLst>
          </p:cNvPr>
          <p:cNvSpPr>
            <a:spLocks noGrp="1"/>
          </p:cNvSpPr>
          <p:nvPr/>
        </p:nvSpPr>
        <p:spPr>
          <a:xfrm>
            <a:off x="5905500" y="5486400"/>
            <a:ext cx="4095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• Une montée en puissance plus maîtrisée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D082823-38D2-43DC-8836-8F319CF5BA26}"/>
              </a:ext>
            </a:extLst>
          </p:cNvPr>
          <p:cNvSpPr>
            <a:spLocks noGrp="1"/>
          </p:cNvSpPr>
          <p:nvPr/>
        </p:nvSpPr>
        <p:spPr>
          <a:xfrm>
            <a:off x="571500" y="6477000"/>
            <a:ext cx="11049000" cy="9525"/>
          </a:xfrm>
          <a:prstGeom prst="rect">
            <a:avLst/>
          </a:prstGeom>
          <a:solidFill>
            <a:srgbClr val="D9D3CC"/>
          </a:solidFill>
          <a:ln w="0">
            <a:solidFill>
              <a:srgbClr val="D9D3CC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1F8A0B9-0281-42B4-B620-D11FE1F54BD6}"/>
              </a:ext>
            </a:extLst>
          </p:cNvPr>
          <p:cNvSpPr>
            <a:spLocks noGrp="1"/>
          </p:cNvSpPr>
          <p:nvPr/>
        </p:nvSpPr>
        <p:spPr>
          <a:xfrm>
            <a:off x="571500" y="6553200"/>
            <a:ext cx="933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Séquence recommandée : diagnostic, audit, formation ciblée, puis pilote et extension si les premiers résultats sont convaincants.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B2A271D-097F-4A0F-B706-E4893167C8AD}"/>
              </a:ext>
            </a:extLst>
          </p:cNvPr>
          <p:cNvSpPr>
            <a:spLocks noGrp="1"/>
          </p:cNvSpPr>
          <p:nvPr/>
        </p:nvSpPr>
        <p:spPr>
          <a:xfrm>
            <a:off x="10858500" y="653415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213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174668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0263841C-E018-4268-A623-8AC6DA06ED0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E"/>
          </a:solidFill>
          <a:ln w="0">
            <a:solidFill>
              <a:srgbClr val="F7F3EE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37A6A4A-FD30-4BDF-B9B5-7EB0C621BBE9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266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CONFIANCE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E9B437-C27E-474A-8B17-8B2C1D6272AA}"/>
              </a:ext>
            </a:extLst>
          </p:cNvPr>
          <p:cNvSpPr>
            <a:spLocks noGrp="1"/>
          </p:cNvSpPr>
          <p:nvPr/>
        </p:nvSpPr>
        <p:spPr>
          <a:xfrm>
            <a:off x="571500" y="742950"/>
            <a:ext cx="7239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Former et déployer avec un cadre de confiance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86D800-9750-4E36-8E6D-7AD8F1F7329B}"/>
              </a:ext>
            </a:extLst>
          </p:cNvPr>
          <p:cNvSpPr>
            <a:spLocks noGrp="1"/>
          </p:cNvSpPr>
          <p:nvPr/>
        </p:nvSpPr>
        <p:spPr>
          <a:xfrm>
            <a:off x="571500" y="1790700"/>
            <a:ext cx="4953000" cy="3543300"/>
          </a:xfrm>
          <a:prstGeom prst="rect">
            <a:avLst/>
          </a:prstGeom>
          <a:solidFill>
            <a:srgbClr val="FFFDFC"/>
          </a:solidFill>
          <a:ln w="9525">
            <a:solidFill>
              <a:srgbClr val="D9D3CC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6BE923-F569-46C2-BAAC-77FCDC1A4C7B}"/>
              </a:ext>
            </a:extLst>
          </p:cNvPr>
          <p:cNvSpPr>
            <a:spLocks noGrp="1"/>
          </p:cNvSpPr>
          <p:nvPr/>
        </p:nvSpPr>
        <p:spPr>
          <a:xfrm>
            <a:off x="819150" y="2038350"/>
            <a:ext cx="171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Ce que nous défendons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522F79-F778-4A47-BE28-7C94C7D425D2}"/>
              </a:ext>
            </a:extLst>
          </p:cNvPr>
          <p:cNvSpPr>
            <a:spLocks noGrp="1"/>
          </p:cNvSpPr>
          <p:nvPr/>
        </p:nvSpPr>
        <p:spPr>
          <a:xfrm>
            <a:off x="819150" y="2419350"/>
            <a:ext cx="152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F714EA-F70E-42DD-9B9C-60F24076BF21}"/>
              </a:ext>
            </a:extLst>
          </p:cNvPr>
          <p:cNvSpPr>
            <a:spLocks noGrp="1"/>
          </p:cNvSpPr>
          <p:nvPr/>
        </p:nvSpPr>
        <p:spPr>
          <a:xfrm>
            <a:off x="1009650" y="2400300"/>
            <a:ext cx="41529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213D"/>
                </a:solidFill>
                <a:latin typeface="Aptos"/>
                <a:ea typeface="Aptos"/>
                <a:cs typeface="Aptos"/>
              </a:rPr>
              <a:t>Aucune donnée sensible n'est exposée à un modèle sans règles claires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15713C-2E78-4DB2-A83F-4B2341EA61B2}"/>
              </a:ext>
            </a:extLst>
          </p:cNvPr>
          <p:cNvSpPr>
            <a:spLocks noGrp="1"/>
          </p:cNvSpPr>
          <p:nvPr/>
        </p:nvSpPr>
        <p:spPr>
          <a:xfrm>
            <a:off x="819150" y="3105150"/>
            <a:ext cx="152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0F46036-EAAE-4116-909B-2B0D278B7A22}"/>
              </a:ext>
            </a:extLst>
          </p:cNvPr>
          <p:cNvSpPr>
            <a:spLocks noGrp="1"/>
          </p:cNvSpPr>
          <p:nvPr/>
        </p:nvSpPr>
        <p:spPr>
          <a:xfrm>
            <a:off x="1009650" y="3086100"/>
            <a:ext cx="41529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213D"/>
                </a:solidFill>
                <a:latin typeface="Aptos"/>
                <a:ea typeface="Aptos"/>
                <a:cs typeface="Aptos"/>
              </a:rPr>
              <a:t>Les usages sont cadrés par les rôles, les accès et le niveau de sensibilité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FBA608-34C2-4921-9DFE-326D4582F8B6}"/>
              </a:ext>
            </a:extLst>
          </p:cNvPr>
          <p:cNvSpPr>
            <a:spLocks noGrp="1"/>
          </p:cNvSpPr>
          <p:nvPr/>
        </p:nvSpPr>
        <p:spPr>
          <a:xfrm>
            <a:off x="819150" y="3790950"/>
            <a:ext cx="152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667377-8806-44B3-BC71-1B5A2CC520D2}"/>
              </a:ext>
            </a:extLst>
          </p:cNvPr>
          <p:cNvSpPr>
            <a:spLocks noGrp="1"/>
          </p:cNvSpPr>
          <p:nvPr/>
        </p:nvSpPr>
        <p:spPr>
          <a:xfrm>
            <a:off x="1009650" y="3771900"/>
            <a:ext cx="41529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213D"/>
                </a:solidFill>
                <a:latin typeface="Aptos"/>
                <a:ea typeface="Aptos"/>
                <a:cs typeface="Aptos"/>
              </a:rPr>
              <a:t>Le filtrage et la revue humaine précèdent toute automatisation critique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432F94-FE28-4813-8CF9-8D72407A0E6B}"/>
              </a:ext>
            </a:extLst>
          </p:cNvPr>
          <p:cNvSpPr>
            <a:spLocks noGrp="1"/>
          </p:cNvSpPr>
          <p:nvPr/>
        </p:nvSpPr>
        <p:spPr>
          <a:xfrm>
            <a:off x="6000750" y="1790700"/>
            <a:ext cx="5238750" cy="1562100"/>
          </a:xfrm>
          <a:prstGeom prst="rect">
            <a:avLst/>
          </a:prstGeom>
          <a:solidFill>
            <a:srgbClr val="16324F"/>
          </a:solidFill>
          <a:ln w="9525">
            <a:solidFill>
              <a:srgbClr val="16324F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A3F2EF1-2F4D-467D-9DC4-046DAF80E7C6}"/>
              </a:ext>
            </a:extLst>
          </p:cNvPr>
          <p:cNvSpPr>
            <a:spLocks noGrp="1"/>
          </p:cNvSpPr>
          <p:nvPr/>
        </p:nvSpPr>
        <p:spPr>
          <a:xfrm>
            <a:off x="6286500" y="2038350"/>
            <a:ext cx="152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D7E2EE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7E2EE"/>
                </a:solidFill>
                <a:latin typeface="Aptos"/>
                <a:ea typeface="Aptos"/>
                <a:cs typeface="Aptos"/>
              </a:rPr>
              <a:t>Message fort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564359B-F309-4C2E-894F-A2FDEBE95D17}"/>
              </a:ext>
            </a:extLst>
          </p:cNvPr>
          <p:cNvSpPr>
            <a:spLocks noGrp="1"/>
          </p:cNvSpPr>
          <p:nvPr/>
        </p:nvSpPr>
        <p:spPr>
          <a:xfrm>
            <a:off x="6286500" y="2324100"/>
            <a:ext cx="44767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Une IA utile, gouvernée et maîtrisable.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5AFD62F-33D4-4624-AD3E-2E646C440AC4}"/>
              </a:ext>
            </a:extLst>
          </p:cNvPr>
          <p:cNvSpPr>
            <a:spLocks noGrp="1"/>
          </p:cNvSpPr>
          <p:nvPr/>
        </p:nvSpPr>
        <p:spPr>
          <a:xfrm>
            <a:off x="6286500" y="2857500"/>
            <a:ext cx="4476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0" b="0">
                <a:solidFill>
                  <a:srgbClr val="EDF3FA"/>
                </a:solidFill>
                <a:latin typeface="Aptos"/>
                <a:ea typeface="Aptos"/>
                <a:cs typeface="Aptos"/>
              </a:defRPr>
            </a:pPr>
            <a:r>
              <a:rPr sz="930" b="0">
                <a:solidFill>
                  <a:srgbClr val="EDF3FA"/>
                </a:solidFill>
                <a:latin typeface="Aptos"/>
                <a:ea typeface="Aptos"/>
                <a:cs typeface="Aptos"/>
              </a:rPr>
              <a:t>La formation gagne en crédibilité quand elle intègre confidentialité, règles d'usage et supervision.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2C8EED-F720-44B3-A414-2B1198F493E1}"/>
              </a:ext>
            </a:extLst>
          </p:cNvPr>
          <p:cNvSpPr>
            <a:spLocks noGrp="1"/>
          </p:cNvSpPr>
          <p:nvPr/>
        </p:nvSpPr>
        <p:spPr>
          <a:xfrm>
            <a:off x="6000750" y="3733800"/>
            <a:ext cx="5238750" cy="1600200"/>
          </a:xfrm>
          <a:prstGeom prst="rect">
            <a:avLst/>
          </a:prstGeom>
          <a:solidFill>
            <a:srgbClr val="FFF7F1"/>
          </a:solidFill>
          <a:ln w="9525">
            <a:solidFill>
              <a:srgbClr val="FFF7F1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A417459-F1CF-4DF2-AC58-97478E3C5F6E}"/>
              </a:ext>
            </a:extLst>
          </p:cNvPr>
          <p:cNvSpPr>
            <a:spLocks noGrp="1"/>
          </p:cNvSpPr>
          <p:nvPr/>
        </p:nvSpPr>
        <p:spPr>
          <a:xfrm>
            <a:off x="6286500" y="3981450"/>
            <a:ext cx="2095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Pourquoi cette slide compte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2B58BD1-9683-4698-BE6F-03AFC2AB5195}"/>
              </a:ext>
            </a:extLst>
          </p:cNvPr>
          <p:cNvSpPr>
            <a:spLocks noGrp="1"/>
          </p:cNvSpPr>
          <p:nvPr/>
        </p:nvSpPr>
        <p:spPr>
          <a:xfrm>
            <a:off x="6286500" y="4305300"/>
            <a:ext cx="44767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0213D"/>
                </a:solidFill>
                <a:latin typeface="Aptos"/>
                <a:ea typeface="Aptos"/>
                <a:cs typeface="Aptos"/>
              </a:rPr>
              <a:t>Elle montre que TransferAI ne vend pas uniquement des usages attractifs, mais une démarche compatible avec les exigences de l'entreprise.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6E41F68-7FCD-42A0-8EDC-1DB8EDACF3C7}"/>
              </a:ext>
            </a:extLst>
          </p:cNvPr>
          <p:cNvSpPr>
            <a:spLocks noGrp="1"/>
          </p:cNvSpPr>
          <p:nvPr/>
        </p:nvSpPr>
        <p:spPr>
          <a:xfrm>
            <a:off x="571500" y="6477000"/>
            <a:ext cx="11049000" cy="9525"/>
          </a:xfrm>
          <a:prstGeom prst="rect">
            <a:avLst/>
          </a:prstGeom>
          <a:solidFill>
            <a:srgbClr val="D9D3CC"/>
          </a:solidFill>
          <a:ln w="0">
            <a:solidFill>
              <a:srgbClr val="D9D3CC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CFA28D1-89DB-4BE2-A6BA-21DD6FF17DA7}"/>
              </a:ext>
            </a:extLst>
          </p:cNvPr>
          <p:cNvSpPr>
            <a:spLocks noGrp="1"/>
          </p:cNvSpPr>
          <p:nvPr/>
        </p:nvSpPr>
        <p:spPr>
          <a:xfrm>
            <a:off x="571500" y="6553200"/>
            <a:ext cx="933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Le bon message : une offre formation et IA utile, encadrée et compatible avec la confidentialité de l'organisation.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6C5D6CA-02DC-4F28-AED6-1A8C0D997A73}"/>
              </a:ext>
            </a:extLst>
          </p:cNvPr>
          <p:cNvSpPr>
            <a:spLocks noGrp="1"/>
          </p:cNvSpPr>
          <p:nvPr/>
        </p:nvSpPr>
        <p:spPr>
          <a:xfrm>
            <a:off x="10858500" y="653415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213D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227993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F424EAF8-71E0-4655-B897-5ED55B80A5E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E"/>
          </a:solidFill>
          <a:ln w="0">
            <a:solidFill>
              <a:srgbClr val="F7F3EE"/>
            </a:solidFill>
            <a:prstDash val="solid"/>
          </a:ln>
        </p:spPr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5127" y="552450"/>
            <a:ext cx="1557746" cy="685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3F2E729-3A94-42D8-A400-B49B9D2654AB}"/>
              </a:ext>
            </a:extLst>
          </p:cNvPr>
          <p:cNvSpPr>
            <a:spLocks noGrp="1"/>
          </p:cNvSpPr>
          <p:nvPr/>
        </p:nvSpPr>
        <p:spPr>
          <a:xfrm>
            <a:off x="571500" y="1390650"/>
            <a:ext cx="171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PROCHAINE ÉTAPE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39870A-CBA4-4824-8FCC-D8BB01AE04F4}"/>
              </a:ext>
            </a:extLst>
          </p:cNvPr>
          <p:cNvSpPr>
            <a:spLocks noGrp="1"/>
          </p:cNvSpPr>
          <p:nvPr/>
        </p:nvSpPr>
        <p:spPr>
          <a:xfrm>
            <a:off x="571500" y="1733550"/>
            <a:ext cx="5905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Ouvrir sur une action simple, crédible et utile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C926AB-D675-4AE4-BB20-CAC4DAF57A9E}"/>
              </a:ext>
            </a:extLst>
          </p:cNvPr>
          <p:cNvSpPr>
            <a:spLocks noGrp="1"/>
          </p:cNvSpPr>
          <p:nvPr/>
        </p:nvSpPr>
        <p:spPr>
          <a:xfrm>
            <a:off x="571500" y="2647950"/>
            <a:ext cx="59055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Le message le plus simple à faire passer : commençons par un échange de 45 minutes et un audit gratuit pour identifier la bonne combinaison entre formation, accompagnement et cas d'usage.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31D2E2-836C-4A77-9A98-D4E06E0E15FF}"/>
              </a:ext>
            </a:extLst>
          </p:cNvPr>
          <p:cNvSpPr>
            <a:spLocks noGrp="1"/>
          </p:cNvSpPr>
          <p:nvPr/>
        </p:nvSpPr>
        <p:spPr>
          <a:xfrm>
            <a:off x="571500" y="3524250"/>
            <a:ext cx="5905500" cy="1924050"/>
          </a:xfrm>
          <a:prstGeom prst="rect">
            <a:avLst/>
          </a:prstGeom>
          <a:solidFill>
            <a:srgbClr val="16324F"/>
          </a:solidFill>
          <a:ln w="9525">
            <a:solidFill>
              <a:srgbClr val="16324F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052DB6-6C28-47E8-A98A-2D5F62A1E060}"/>
              </a:ext>
            </a:extLst>
          </p:cNvPr>
          <p:cNvSpPr>
            <a:spLocks noGrp="1"/>
          </p:cNvSpPr>
          <p:nvPr/>
        </p:nvSpPr>
        <p:spPr>
          <a:xfrm>
            <a:off x="857250" y="3790950"/>
            <a:ext cx="3048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Appel à l'action recommandé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3E6847-075D-4822-A47A-5BF98CB3E474}"/>
              </a:ext>
            </a:extLst>
          </p:cNvPr>
          <p:cNvSpPr>
            <a:spLocks noGrp="1"/>
          </p:cNvSpPr>
          <p:nvPr/>
        </p:nvSpPr>
        <p:spPr>
          <a:xfrm>
            <a:off x="857250" y="4267200"/>
            <a:ext cx="3810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1. Tenir un échange expert de 45 minutes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6BD214-995A-4391-890E-C8C3D49247AE}"/>
              </a:ext>
            </a:extLst>
          </p:cNvPr>
          <p:cNvSpPr>
            <a:spLocks noGrp="1"/>
          </p:cNvSpPr>
          <p:nvPr/>
        </p:nvSpPr>
        <p:spPr>
          <a:xfrm>
            <a:off x="857250" y="4552950"/>
            <a:ext cx="3810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2. Lancer un audit IA gratuit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6315A14-7F26-4CF6-B177-CA7D07F9484E}"/>
              </a:ext>
            </a:extLst>
          </p:cNvPr>
          <p:cNvSpPr>
            <a:spLocks noGrp="1"/>
          </p:cNvSpPr>
          <p:nvPr/>
        </p:nvSpPr>
        <p:spPr>
          <a:xfrm>
            <a:off x="857250" y="4838700"/>
            <a:ext cx="4476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3. Recevoir une orientation ciblée : formation, accompagnement ou pilote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596B1C9-4E94-4B78-B53A-0D1377F3013B}"/>
              </a:ext>
            </a:extLst>
          </p:cNvPr>
          <p:cNvSpPr>
            <a:spLocks noGrp="1"/>
          </p:cNvSpPr>
          <p:nvPr/>
        </p:nvSpPr>
        <p:spPr>
          <a:xfrm>
            <a:off x="7067550" y="1333500"/>
            <a:ext cx="4171950" cy="4514850"/>
          </a:xfrm>
          <a:prstGeom prst="rect">
            <a:avLst/>
          </a:prstGeom>
          <a:solidFill>
            <a:srgbClr val="FFFDFC"/>
          </a:solidFill>
          <a:ln w="9525">
            <a:solidFill>
              <a:srgbClr val="D9D3CC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EA60F0F-C4AD-43BB-9EFF-17500350EBBF}"/>
              </a:ext>
            </a:extLst>
          </p:cNvPr>
          <p:cNvSpPr>
            <a:spLocks noGrp="1"/>
          </p:cNvSpPr>
          <p:nvPr/>
        </p:nvSpPr>
        <p:spPr>
          <a:xfrm>
            <a:off x="7334250" y="1619250"/>
            <a:ext cx="2667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Coordonnées à partager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4EF33AE-8A3A-4D4D-99CD-7058DCA7D0DF}"/>
              </a:ext>
            </a:extLst>
          </p:cNvPr>
          <p:cNvSpPr>
            <a:spLocks noGrp="1"/>
          </p:cNvSpPr>
          <p:nvPr/>
        </p:nvSpPr>
        <p:spPr>
          <a:xfrm>
            <a:off x="7334250" y="219075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www.transferai.ci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718C4C3-5D51-4154-B4D9-24E1C11AA39E}"/>
              </a:ext>
            </a:extLst>
          </p:cNvPr>
          <p:cNvSpPr>
            <a:spLocks noGrp="1"/>
          </p:cNvSpPr>
          <p:nvPr/>
        </p:nvSpPr>
        <p:spPr>
          <a:xfrm>
            <a:off x="7334250" y="259080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contact@transferai.ci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DAC6A94-D189-4F3A-95BE-47E625B9DD0F}"/>
              </a:ext>
            </a:extLst>
          </p:cNvPr>
          <p:cNvSpPr>
            <a:spLocks noGrp="1"/>
          </p:cNvSpPr>
          <p:nvPr/>
        </p:nvSpPr>
        <p:spPr>
          <a:xfrm>
            <a:off x="7334250" y="293370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+225 07 16 57 39 90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329492D-1826-48B8-90D8-89F88212E301}"/>
              </a:ext>
            </a:extLst>
          </p:cNvPr>
          <p:cNvSpPr>
            <a:spLocks noGrp="1"/>
          </p:cNvSpPr>
          <p:nvPr/>
        </p:nvSpPr>
        <p:spPr>
          <a:xfrm>
            <a:off x="7334250" y="327660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WhatsApp : +225 07 16 57 39 90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BC9175E-92D0-46F4-A19F-506D652B9B2A}"/>
              </a:ext>
            </a:extLst>
          </p:cNvPr>
          <p:cNvSpPr>
            <a:spLocks noGrp="1"/>
          </p:cNvSpPr>
          <p:nvPr/>
        </p:nvSpPr>
        <p:spPr>
          <a:xfrm>
            <a:off x="7334250" y="361950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linkedin.com/company/transfert-ai-africa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4E67E88-D6BC-43C9-A2AF-C2D474CC5820}"/>
              </a:ext>
            </a:extLst>
          </p:cNvPr>
          <p:cNvSpPr>
            <a:spLocks noGrp="1"/>
          </p:cNvSpPr>
          <p:nvPr/>
        </p:nvSpPr>
        <p:spPr>
          <a:xfrm>
            <a:off x="7334250" y="4076700"/>
            <a:ext cx="3333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Riviera 3, carrefour Sainte Famille, Abidjan, Côte d'Ivoire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6A6154-86B4-48AC-83DF-ADD7AD81154C}"/>
              </a:ext>
            </a:extLst>
          </p:cNvPr>
          <p:cNvSpPr>
            <a:spLocks noGrp="1"/>
          </p:cNvSpPr>
          <p:nvPr/>
        </p:nvSpPr>
        <p:spPr>
          <a:xfrm>
            <a:off x="7334250" y="4762500"/>
            <a:ext cx="3238500" cy="933450"/>
          </a:xfrm>
          <a:prstGeom prst="rect">
            <a:avLst/>
          </a:prstGeom>
          <a:solidFill>
            <a:srgbClr val="FFF7F1"/>
          </a:solidFill>
          <a:ln w="9525">
            <a:solidFill>
              <a:srgbClr val="FFF7F1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7B5BE66-BA97-4295-9EEE-275D75B7393E}"/>
              </a:ext>
            </a:extLst>
          </p:cNvPr>
          <p:cNvSpPr>
            <a:spLocks noGrp="1"/>
          </p:cNvSpPr>
          <p:nvPr/>
        </p:nvSpPr>
        <p:spPr>
          <a:xfrm>
            <a:off x="7543800" y="4953000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Formule courte à utiliser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C915552-EA31-4FAD-94C0-1293C21A88D2}"/>
              </a:ext>
            </a:extLst>
          </p:cNvPr>
          <p:cNvSpPr>
            <a:spLocks noGrp="1"/>
          </p:cNvSpPr>
          <p:nvPr/>
        </p:nvSpPr>
        <p:spPr>
          <a:xfrm>
            <a:off x="7543800" y="5181600"/>
            <a:ext cx="2762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TransferAI Africa vous aide à identifier les usages les plus utiles, à former les bonnes équipes et à choisir la bonne suite pour l'entreprise.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4A9BBF3-BE7C-4197-BC1A-CE7EF076B2B0}"/>
              </a:ext>
            </a:extLst>
          </p:cNvPr>
          <p:cNvSpPr>
            <a:spLocks noGrp="1"/>
          </p:cNvSpPr>
          <p:nvPr/>
        </p:nvSpPr>
        <p:spPr>
          <a:xfrm>
            <a:off x="571500" y="6477000"/>
            <a:ext cx="11049000" cy="9525"/>
          </a:xfrm>
          <a:prstGeom prst="rect">
            <a:avLst/>
          </a:prstGeom>
          <a:solidFill>
            <a:srgbClr val="D9D3CC"/>
          </a:solidFill>
          <a:ln w="0">
            <a:solidFill>
              <a:srgbClr val="D9D3CC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923CED7-227B-4291-B397-78AE8DF190D7}"/>
              </a:ext>
            </a:extLst>
          </p:cNvPr>
          <p:cNvSpPr>
            <a:spLocks noGrp="1"/>
          </p:cNvSpPr>
          <p:nvPr/>
        </p:nvSpPr>
        <p:spPr>
          <a:xfrm>
            <a:off x="571500" y="6553200"/>
            <a:ext cx="933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Sortie recommandée du rendez-vous : un besoin clarifié, une proposition de formation ciblée et un premier terrain d'action.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57486E0-DD59-436A-869F-5ED2902E9673}"/>
              </a:ext>
            </a:extLst>
          </p:cNvPr>
          <p:cNvSpPr>
            <a:spLocks noGrp="1"/>
          </p:cNvSpPr>
          <p:nvPr/>
        </p:nvSpPr>
        <p:spPr>
          <a:xfrm>
            <a:off x="10858500" y="653415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213D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11164373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1525</Words>
  <Application>Microsoft Macintosh PowerPoint</Application>
  <DocSecurity>0</DocSecurity>
  <PresentationFormat>Widescreen</PresentationFormat>
  <Paragraphs>200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vtoc limited</cp:lastModifiedBy>
  <cp:revision>1</cp:revision>
  <dcterms:created xsi:type="dcterms:W3CDTF">2026-05-22T16:11:47Z</dcterms:created>
  <dcterms:modified xsi:type="dcterms:W3CDTF">2026-05-22T16:27:05Z</dcterms:modified>
</cp:coreProperties>
</file>