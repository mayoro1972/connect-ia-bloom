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b156c334f744d9" /><Relationship Type="http://schemas.openxmlformats.org/officeDocument/2006/relationships/extended-properties" Target="/docProps/app.xml" Id="R3aa4bde7fc6544c0" /><Relationship Type="http://schemas.openxmlformats.org/officeDocument/2006/relationships/officeDocument" Target="/ppt/presentation.xml" Id="R41d5224ed396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4d86bc8d7e441f"/>
  </p:sldMasterIdLst>
  <p:notesMasterIdLst>
    <p:notesMasterId xmlns:r="http://schemas.openxmlformats.org/officeDocument/2006/relationships" r:id="R7bd890686602497d"/>
  </p:notesMasterIdLst>
  <p:sldIdLst>
    <p:sldId xmlns:r="http://schemas.openxmlformats.org/officeDocument/2006/relationships" id="256" r:id="Rf4e4e25a3b464937"/>
    <p:sldId xmlns:r="http://schemas.openxmlformats.org/officeDocument/2006/relationships" id="257" r:id="R4e1001f9283645f5"/>
    <p:sldId xmlns:r="http://schemas.openxmlformats.org/officeDocument/2006/relationships" id="258" r:id="R07072ff4c00e457a"/>
    <p:sldId xmlns:r="http://schemas.openxmlformats.org/officeDocument/2006/relationships" id="259" r:id="Rc4696eadec4a4bfa"/>
    <p:sldId xmlns:r="http://schemas.openxmlformats.org/officeDocument/2006/relationships" id="260" r:id="R4bb915bbe5a84b17"/>
    <p:sldId xmlns:r="http://schemas.openxmlformats.org/officeDocument/2006/relationships" id="261" r:id="R408c9c336a2b49d4"/>
    <p:sldId xmlns:r="http://schemas.openxmlformats.org/officeDocument/2006/relationships" id="262" r:id="Ra74ae3b543bd43d0"/>
    <p:sldId xmlns:r="http://schemas.openxmlformats.org/officeDocument/2006/relationships" id="263" r:id="Rb72a873acb0648e5"/>
    <p:sldId xmlns:r="http://schemas.openxmlformats.org/officeDocument/2006/relationships" id="264" r:id="R6dea26b678614c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d86bc8d7e441f" /><Relationship Type="http://schemas.openxmlformats.org/officeDocument/2006/relationships/theme" Target="/ppt/theme/theme1.xml" Id="R57a6fb3b8b8f46f9" /><Relationship Type="http://schemas.openxmlformats.org/officeDocument/2006/relationships/notesMaster" Target="/ppt/notesMasters/notesMaster1.xml" Id="R7bd890686602497d" /><Relationship Type="http://schemas.openxmlformats.org/officeDocument/2006/relationships/presProps" Target="/ppt/presProps.xml" Id="Rad1e03f35f134f8d" /><Relationship Type="http://schemas.openxmlformats.org/officeDocument/2006/relationships/viewProps" Target="/ppt/viewProps.xml" Id="R0196b67c40034b41" /><Relationship Type="http://schemas.openxmlformats.org/officeDocument/2006/relationships/tableStyles" Target="/ppt/tableStyles.xml" Id="R9dae4a88cb334b71" /><Relationship Type="http://schemas.openxmlformats.org/officeDocument/2006/relationships/slide" Target="/ppt/slides/slide1.xml" Id="Rf4e4e25a3b464937" /><Relationship Type="http://schemas.openxmlformats.org/officeDocument/2006/relationships/slide" Target="/ppt/slides/slide2.xml" Id="R4e1001f9283645f5" /><Relationship Type="http://schemas.openxmlformats.org/officeDocument/2006/relationships/slide" Target="/ppt/slides/slide3.xml" Id="R07072ff4c00e457a" /><Relationship Type="http://schemas.openxmlformats.org/officeDocument/2006/relationships/slide" Target="/ppt/slides/slide4.xml" Id="Rc4696eadec4a4bfa" /><Relationship Type="http://schemas.openxmlformats.org/officeDocument/2006/relationships/slide" Target="/ppt/slides/slide5.xml" Id="R4bb915bbe5a84b17" /><Relationship Type="http://schemas.openxmlformats.org/officeDocument/2006/relationships/slide" Target="/ppt/slides/slide6.xml" Id="R408c9c336a2b49d4" /><Relationship Type="http://schemas.openxmlformats.org/officeDocument/2006/relationships/slide" Target="/ppt/slides/slide7.xml" Id="Ra74ae3b543bd43d0" /><Relationship Type="http://schemas.openxmlformats.org/officeDocument/2006/relationships/slide" Target="/ppt/slides/slide8.xml" Id="Rb72a873acb0648e5" /><Relationship Type="http://schemas.openxmlformats.org/officeDocument/2006/relationships/slide" Target="/ppt/slides/slide9.xml" Id="R6dea26b678614c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14b823cd79042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52977e51634edc" /><Relationship Type="http://schemas.openxmlformats.org/officeDocument/2006/relationships/notesMaster" Target="/ppt/notesMasters/notesMaster1.xml" Id="Re28f932100e748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386854bb214caf" /><Relationship Type="http://schemas.openxmlformats.org/officeDocument/2006/relationships/notesMaster" Target="/ppt/notesMasters/notesMaster1.xml" Id="R0410914cfac446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20b1503972458c" /><Relationship Type="http://schemas.openxmlformats.org/officeDocument/2006/relationships/notesMaster" Target="/ppt/notesMasters/notesMaster1.xml" Id="R3654d162baef4a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38b7f41f794a52" /><Relationship Type="http://schemas.openxmlformats.org/officeDocument/2006/relationships/notesMaster" Target="/ppt/notesMasters/notesMaster1.xml" Id="R351888cc1f9b44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8134c42aa6472b" /><Relationship Type="http://schemas.openxmlformats.org/officeDocument/2006/relationships/notesMaster" Target="/ppt/notesMasters/notesMaster1.xml" Id="R0685af22c31240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b9b075ba584be1" /><Relationship Type="http://schemas.openxmlformats.org/officeDocument/2006/relationships/notesMaster" Target="/ppt/notesMasters/notesMaster1.xml" Id="Rced1f79a647545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a1b2b2082b4df1" /><Relationship Type="http://schemas.openxmlformats.org/officeDocument/2006/relationships/notesMaster" Target="/ppt/notesMasters/notesMaster1.xml" Id="R58c3d969b60940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6b6e1fba474a82" /><Relationship Type="http://schemas.openxmlformats.org/officeDocument/2006/relationships/notesMaster" Target="/ppt/notesMasters/notesMaster1.xml" Id="R1493e066c84d48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f2ac3a3f04205" /><Relationship Type="http://schemas.openxmlformats.org/officeDocument/2006/relationships/notesMaster" Target="/ppt/notesMasters/notesMaster1.xml" Id="R9dd0296b5ba3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65280f59c404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166e71a88b4c04" /><Relationship Type="http://schemas.openxmlformats.org/officeDocument/2006/relationships/slideLayout" Target="/ppt/slideLayouts/slideLayout2.xml" Id="Ra43e8489659043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3e8489659043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60a74dd933422b" /><Relationship Type="http://schemas.openxmlformats.org/officeDocument/2006/relationships/notesSlide" Target="/ppt/notesSlides/notesSlide1.xml" Id="Rd5d7693e550642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57fc9c83a540d2" /><Relationship Type="http://schemas.openxmlformats.org/officeDocument/2006/relationships/notesSlide" Target="/ppt/notesSlides/notesSlide2.xml" Id="R94ac9dbfd1ff4a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f1d38722794807" /><Relationship Type="http://schemas.openxmlformats.org/officeDocument/2006/relationships/notesSlide" Target="/ppt/notesSlides/notesSlide3.xml" Id="R6960060fdb594c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b8b5b78a343dc" /><Relationship Type="http://schemas.openxmlformats.org/officeDocument/2006/relationships/notesSlide" Target="/ppt/notesSlides/notesSlide4.xml" Id="R17e0f7406a234e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9063130ded4bde" /><Relationship Type="http://schemas.openxmlformats.org/officeDocument/2006/relationships/notesSlide" Target="/ppt/notesSlides/notesSlide5.xml" Id="Red125558217545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e7dce85c744f40" /><Relationship Type="http://schemas.openxmlformats.org/officeDocument/2006/relationships/notesSlide" Target="/ppt/notesSlides/notesSlide6.xml" Id="R814c3b5d8b5647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08a69c0cf4d3f" /><Relationship Type="http://schemas.openxmlformats.org/officeDocument/2006/relationships/notesSlide" Target="/ppt/notesSlides/notesSlide7.xml" Id="R83b4bb875a8b46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da9cf5f1234715" /><Relationship Type="http://schemas.openxmlformats.org/officeDocument/2006/relationships/notesSlide" Target="/ppt/notesSlides/notesSlide8.xml" Id="R7a0cc6b4e74346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67843178ea45ef" /><Relationship Type="http://schemas.openxmlformats.org/officeDocument/2006/relationships/notesSlide" Target="/ppt/notesSlides/notesSlide9.xml" Id="R4ef7495a785e47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598AE-C99A-4D02-AEC5-2309AA24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DA244-1D74-42F0-B718-3B132DE2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F0639-01F3-4A7D-913A-002F830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RÉUNION STRATÉGIQUE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373BB-3F23-4EAE-94DF-E379B8A4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TransferAI Africa - Réunion des cofondateurs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98E09-BB59-44E3-B532-BE18535C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Domaines d'expertise, cas d'usage et stratégie de prospection Côte d'Ivoire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7EE58-64A9-4145-A643-51DE7A1F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Date : 16 mai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51980-51C3-46F9-BBE1-B10EA861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876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Objet de la séance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378A1-04FC-4935-819D-5D138485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763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5EF"/>
                </a:solidFill>
                <a:latin typeface="Aptos"/>
                <a:ea typeface="Aptos"/>
                <a:cs typeface="Aptos"/>
              </a:rPr>
              <a:t>Aligner les cofondateurs sur les domaines les plus porteurs, les cas d'usage les plus vendeurs et les priorités commerciales à 90 jours.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703F8-88B9-4B33-8B94-1CD2789B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4384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Question centrale : sur quels domaines concentrer la prospection et quelles offres pousser en priorité 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D7B49-54BA-4831-85E8-EFE3E798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5C310-A77E-4BF7-8119-F18EA341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0">
            <a:solidFill>
              <a:srgbClr val="D667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04FAE-EAFB-4A6C-9B69-371CA872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5C4AC-A49E-4CA2-B7A9-003A7FE6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domaines structurés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5AAE1-59BB-49E5-8F67-AEDC0CBB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base déjà présente sur le site et dans le catalogue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93D0B-AA98-4227-BD66-065099E3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2B4CB-9FB9-4622-8B51-06FF6A9F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101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78"/>
          </a:solidFill>
          <a:ln xmlns:a="http://schemas.openxmlformats.org/drawingml/2006/main" w="0">
            <a:solidFill>
              <a:srgbClr val="3E7C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A7EF2-FE2F-4753-B2FF-4A6B2871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720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5BC44-3C7C-4AFC-9E74-6B0D74F1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1495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priorités court terme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6203C-FF9E-4259-A16C-42BA1E2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50545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domaines à pousser sans attendre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48BDE-AEE5-427A-9CFC-8E3230F9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D5CE5-3063-49A3-94CE-299F561D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101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99"/>
          </a:solidFill>
          <a:ln xmlns:a="http://schemas.openxmlformats.org/drawingml/2006/main" w="0">
            <a:solidFill>
              <a:srgbClr val="7E8B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586C5-62D2-4A04-AE77-8EA72E9E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720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90j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5E851-7322-4B33-9194-92CAA92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1495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fenêtre d'exécution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14B89-E3E3-4E25-A7E0-E9001855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0545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pour convertir l'offre en pipeline concret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53AA3-9E96-494C-AA7B-76630A11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555FC-86C8-43AE-9963-196F7E1E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TransferAI Africa | Réunion des cofondateurs | Synthèse stratégique Côte d'Ivoire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E93B5-13A0-4359-8BB0-51DCE5B1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66679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0EF976-BBD7-4004-9B70-8A4A3C65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02D2A-29E1-448D-8807-4E2CE22B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VUE D'ENSEMBLE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2DA87-4D69-4741-B274-B2CDEE0E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Ce que les cofondateurs doivent retenir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DA175-74E7-427B-AC8A-A11906F1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09484-236E-4CC3-88AE-8AC63918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2364F-5873-4C3F-A3B0-60FF6344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542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 site et le catalogue TransferAI Africa structurent déjà 13 domaines d'expertise distincts.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DE490-4969-45A7-8A50-E535C0A0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DA0F6-BE22-4590-9D4C-8550AE2F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542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Tous les domaines ne se vendent pas avec la même vitesse : 5 domaines doivent porter l'effort commercial court terme.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93CCD-E05F-4F5D-80D0-46C2A1C4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E3DDC-BA9D-4646-BDBA-B8311FDD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542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Les cas d'usage les plus faciles à vendre en Côte d'Ivoire sont ceux qui réduisent le temps administratif, améliorent la réactivité commerciale ou fluidifient les workflows internes.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72A3D-254B-45C5-B674-9405BB2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E3827-4462-4A18-9D6A-C89A4CFE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542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 meilleur angle de vente n'est pas la technologie, mais le ROI métier visible en moins de 90 jours.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87F54-2994-4697-9BB3-F08D11BE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926F3-EB7C-4352-9E32-ECF2DAD7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542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La prospection doit s'organiser autour d'offres simples : audit, formation métier, pilote de workflow, puis déploiement.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4F011-7D7D-4ED9-8CE7-7C363F93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4095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D960C-4F61-41EC-9AFA-4ECDE916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66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E9D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E9DB"/>
                </a:solidFill>
                <a:latin typeface="Aptos"/>
                <a:ea typeface="Aptos"/>
                <a:cs typeface="Aptos"/>
              </a:rPr>
              <a:t>Pourquoi agir maintenant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CE5E0-0086-4C99-B985-B0CDADF2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52650"/>
            <a:ext cx="3238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5 domaines peuvent porter l'effort commercial des 90 prochains jours.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752DA-0252-4E75-83EF-C53ECDE3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5E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5EE"/>
                </a:solidFill>
                <a:latin typeface="Aptos"/>
                <a:ea typeface="Aptos"/>
                <a:cs typeface="Aptos"/>
              </a:rPr>
              <a:t>Le but n'est pas d'élargir le catalogue. Le but est de concentrer la vente sur ce qui est démontrable, répétable et transformable en mission.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47636-6E33-44B9-B6D7-B45D9B7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6"/>
          </a:solidFill>
          <a:ln xmlns:a="http://schemas.openxmlformats.org/drawingml/2006/main" w="9525">
            <a:solidFill>
              <a:srgbClr val="F4D8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D3471-577B-4170-9A7C-49CE04D6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Demande marché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C11F2-0091-4038-BFFD-E2600ADB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86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8"/>
          </a:solidFill>
          <a:ln xmlns:a="http://schemas.openxmlformats.org/drawingml/2006/main" w="9525">
            <a:solidFill>
              <a:srgbClr val="DCEA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8FD7C-8785-446E-8363-E57F90BC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43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Vitesse de ROI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72F42-4F8F-4221-9EB1-D1CE6B6B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86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ED5D9-8663-445A-A99F-ED1F27D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43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Facilité de démonstration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294B8-773A-4F99-B09C-4633C14D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86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F"/>
          </a:solidFill>
          <a:ln xmlns:a="http://schemas.openxmlformats.org/drawingml/2006/main" w="9525">
            <a:solidFill>
              <a:srgbClr val="F0E9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59A5B-F2AD-444B-8F54-0381A7F7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43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Réplicabilité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5507E-E9A4-40FD-8215-215EAA42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Fréquence potentielle des besoins dans les entreprises ivoiriennes privées, publiques et parapubliques.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F0353-909B-4C31-88DC-CEF3180A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48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Capacité à démontrer un gain visible rapidement, sans projet SI lourd.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C67E1C-4389-4668-9499-1BA6F64D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48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Possibilité de montrer un avant/après concret en rendez-vous.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D7D7B-2E72-42BD-BC4A-CCF80C29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48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Capacité à réutiliser la même offre dans plusieurs secteurs et clients.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223B40-6ABE-4E72-980C-46FD6FAD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4ECFC-8400-4CA1-8491-445F941D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Thèse : la prochaine croissance commerciale viendra des domaines à ROI court terme, pas d'un discours IA générique.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7EF43D-3D4A-4111-BC5F-DBE2877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49796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56DA9-2943-409C-B34D-58800F59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EC07E-2D2F-4498-9537-0A8ACAD5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PORTEFEUILLE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2F00E-8539-4CB0-8A27-60C78CA7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Les 13 domaines peuvent être lus en 4 familles commerciales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B924F-4FDB-43FD-9FFF-D2AACE8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2381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99ED0-7DBF-4AC8-A255-3F001D98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Back-office &amp; fonctions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CDB33-74D3-4DCC-8C16-F2DFE47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614F1-9ED3-41A3-AAB2-4E1E129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Assistanat &amp; Secrétariat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08BD7-6FE6-4B6D-ACC9-FC1614F4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1370A-F980-4C97-9ED7-0B9348B0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Administration &amp; Gestion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9C6EF-FDF8-4F01-B383-460D9D99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678B2-FCDA-406E-A73C-A672B456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Ressources Humaines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8E554-A3F3-499F-A484-C90F6B01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356CD-60FD-4B41-95B7-8BED452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Finance &amp; Comptabilité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1A6C2-1BCC-46E4-8D27-4F3AD8FF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381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F72AC-3850-4D18-A611-BA36047D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43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Revenu &amp; relation 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5D827-3365-4047-BD04-1521C06E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A8EBD-8A9C-4C40-A19D-C56C7239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Marketing &amp; Communication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1BEF0-1BCE-4A26-B07D-1901D7C0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CC235-344C-4766-887B-B8E0B844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242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Client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23A24-1B26-48C9-BC09-B2AB819B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623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E85C3-6F65-4F99-AEEC-98CAE43E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195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Formation &amp; Pédagogie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44B2C-7FD8-4F29-8EB8-F986FFB7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2381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8CF73-1C4A-49A2-908A-20184BF3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Pilotage &amp; expertise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F2000F-BDBF-4BDB-AADD-601718D6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78"/>
          </a:solidFill>
          <a:ln xmlns:a="http://schemas.openxmlformats.org/drawingml/2006/main" w="9525">
            <a:solidFill>
              <a:srgbClr val="3E7C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454BBA-DDE4-431F-820C-22AA52FB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&amp; Analyse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156BA1-32F8-45E9-90FA-319CC47E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78"/>
          </a:solidFill>
          <a:ln xmlns:a="http://schemas.openxmlformats.org/drawingml/2006/main" w="9525">
            <a:solidFill>
              <a:srgbClr val="3E7C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7C6029-9CAD-444F-B51D-C01EAC07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&amp; Leadership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47F42A-F038-4A71-8C6D-B994F29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78"/>
          </a:solidFill>
          <a:ln xmlns:a="http://schemas.openxmlformats.org/drawingml/2006/main" w="9525">
            <a:solidFill>
              <a:srgbClr val="3E7C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AA6D1-CD6F-48DE-838A-D065DCA5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Juridique &amp; Conformité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08D60B-9E28-449A-A782-D8F94D9F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381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E8091D-C5E8-4D4F-9546-1CFE5481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Tech &amp; secteurs ciblés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9AC460-1EE7-46A7-8E43-F13E677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99"/>
          </a:solidFill>
          <a:ln xmlns:a="http://schemas.openxmlformats.org/drawingml/2006/main" w="9525">
            <a:solidFill>
              <a:srgbClr val="7E8B9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23D770-0DCB-44FF-A58F-BB9BC7F8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289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 &amp; Transformation Digitale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230C70-352C-4B61-82D0-4BC3F0DC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99"/>
          </a:solidFill>
          <a:ln xmlns:a="http://schemas.openxmlformats.org/drawingml/2006/main" w="9525">
            <a:solidFill>
              <a:srgbClr val="7E8B9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C20612-7FEF-47CC-8E84-187A3D7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Santé &amp; Bien-être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41CD31-7A11-4C76-A433-0AF7D727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99"/>
          </a:solidFill>
          <a:ln xmlns:a="http://schemas.openxmlformats.org/drawingml/2006/main" w="9525">
            <a:solidFill>
              <a:srgbClr val="7E8B9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9965A1-B17D-4CC0-8E44-3379C09F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Diplomatie &amp; Affaires Internationales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4533C5-43CC-4729-B9B4-10B8BC4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Lecture recommandée : les familles revenue et support donnent les victoires rapides ; la famille tech donne les projets structurants ; les secteurs ciblés se vendent mieux avec un point d'entrée métier déjà gagné.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039651-D049-4F34-9F58-AAA1689A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204CAB-44B2-4BD9-8929-B7149E12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 catalogue est large ; la stratégie commerciale doit le rendre lisible et séquencé.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D4CA10-02A1-4D10-A36B-047BDCA6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2607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62BCDF-416F-41AA-8C31-D2A7FED8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CB42C-E1AE-4CF4-B1AB-55AB0AC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MATRICE DE PRIORITÉ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F0C56-FD33-4A09-A150-24174D88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La priorité doit croiser facilité de vente et vitesse de ROI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31F1B-2836-4ECB-B59B-08C67487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ROI rapide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4C1D8-C88F-4BE9-A95F-DEA0595E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8B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E8B99"/>
                </a:solidFill>
                <a:latin typeface="Aptos"/>
                <a:ea typeface="Aptos"/>
                <a:cs typeface="Aptos"/>
              </a:rPr>
              <a:t>ROI plus lent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DB20B-7A58-4509-99BE-237CAAF6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38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8B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E8B99"/>
                </a:solidFill>
                <a:latin typeface="Aptos"/>
                <a:ea typeface="Aptos"/>
                <a:cs typeface="Aptos"/>
              </a:rPr>
              <a:t>Vente plus difficile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D1BBF-D118-4691-81E9-B815D48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38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Vente plus facile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3E7B3-66A9-42F2-A516-1B772D7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666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A4542-B497-407F-85E3-50B3F0D7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4765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3D619-BDA0-4EB5-B137-5A1DA5F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4335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5BC2B-653E-4FD9-B797-3A996151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28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8B7ED-8DAF-4C39-B8BC-F93F15E4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0987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IT &amp; Transfo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96FC7-0A5D-47D0-8FF5-6025BB28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09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AD305-C12C-45B7-92C7-F1D138EE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9087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Service 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F768C-AEB1-4F84-9659-3526F1E5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43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1AF4C-3620-459D-8166-55D0DAD4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5242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D1F38-A1EC-4AA7-92FD-900981DF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71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99DC5-E6F2-440D-A4CB-A4D003F0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5287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1EEC1-4812-4D90-B239-6F2E9FE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64B9B-8AEC-43B2-9C0A-E889FCB4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815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Assistanat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454AA-138B-444E-856E-7EE6A95B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78"/>
          </a:solidFill>
          <a:ln xmlns:a="http://schemas.openxmlformats.org/drawingml/2006/main" w="9525">
            <a:solidFill>
              <a:srgbClr val="3E7C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DED80-0686-4E23-BC20-6B9D345D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195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ED88A-5118-40D2-AA16-813FF46B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78"/>
          </a:solidFill>
          <a:ln xmlns:a="http://schemas.openxmlformats.org/drawingml/2006/main" w="9525">
            <a:solidFill>
              <a:srgbClr val="3E7C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C032C-0D83-4188-BEC5-EDC2B101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815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E339C6-4C36-413E-9A1A-D43AA1BF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671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78"/>
          </a:solidFill>
          <a:ln xmlns:a="http://schemas.openxmlformats.org/drawingml/2006/main" w="9525">
            <a:solidFill>
              <a:srgbClr val="3E7C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E26B7F-0A3C-4B6A-BF4D-0C6F59DB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4812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1AF02-598C-448D-B173-DA2A3FEC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78"/>
          </a:solidFill>
          <a:ln xmlns:a="http://schemas.openxmlformats.org/drawingml/2006/main" w="9525">
            <a:solidFill>
              <a:srgbClr val="3E7C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5BFC7-AE8D-481E-8C9C-2A9297F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339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Formation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CADDB-2955-47E5-B8BC-BCA2F3AB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386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99"/>
          </a:solidFill>
          <a:ln xmlns:a="http://schemas.openxmlformats.org/drawingml/2006/main" w="9525">
            <a:solidFill>
              <a:srgbClr val="7E8B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04750-9726-447F-9B32-EA314F0E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1962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Juridique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5ACC7B-B7C5-4D13-BD47-09F3C927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05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99"/>
          </a:solidFill>
          <a:ln xmlns:a="http://schemas.openxmlformats.org/drawingml/2006/main" w="9525">
            <a:solidFill>
              <a:srgbClr val="7E8B9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027B6A-4E5C-4AF6-89E7-608A1A7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863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Management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4F3DC2-D7E6-4EBE-ADD6-0371D998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29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99"/>
          </a:solidFill>
          <a:ln xmlns:a="http://schemas.openxmlformats.org/drawingml/2006/main" w="9525">
            <a:solidFill>
              <a:srgbClr val="7E8B9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7CD09E-1039-4044-9DB3-6E424436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01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Santé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666788-68BF-4DE4-8495-7B9BEB9D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14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99"/>
          </a:solidFill>
          <a:ln xmlns:a="http://schemas.openxmlformats.org/drawingml/2006/main" w="9525">
            <a:solidFill>
              <a:srgbClr val="7E8B9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F9D195-FCE0-4433-AD7B-58EB6C58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9587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Diplomatie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5641AA-100C-492E-A6CD-3BCE6638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00250"/>
            <a:ext cx="2428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8C7A55-CFE6-4EA0-BD01-A8A8F604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47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E0EA"/>
                </a:solidFill>
                <a:latin typeface="Aptos"/>
                <a:ea typeface="Aptos"/>
                <a:cs typeface="Aptos"/>
              </a:rPr>
              <a:t>Lecture stratégique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3588FF-2B58-4F1F-B417-49C0F8B2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3365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quadrant en haut à droite doit absorber l'essentiel du temps commercial.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9E1B5B-C9EB-42E4-B22D-ED6E01C6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767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Top 5 retenus : IT &amp; Transformation Digitale, Service Client, Marketing &amp; Communication, Administration &amp; Gestion, Assistanat &amp; Secrétariat.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A96755-D2A7-4ACE-8AC0-2EE40D28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578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6E0EA"/>
                </a:solidFill>
                <a:latin typeface="Aptos"/>
                <a:ea typeface="Aptos"/>
                <a:cs typeface="Aptos"/>
              </a:rPr>
              <a:t>Les autres domaines restent utiles, mais plutôt comme extension ou réponse à une demande entrante qualifiée.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104ADA-2A89-4B7D-9AA5-5032A41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5C2F66-C5AB-45B4-BD22-7F8E469D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Priorité commerciale : là où la démonstration est simple et la valeur visible rapidement.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711384-C572-4B3F-97C2-9166BCC5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21393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D54E9E-6CEF-4511-A0A7-B7E4EB58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E4F5B-299A-4DBE-BD8C-AE2AF54C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TOP DOMAINES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6941C-E6CD-4D3C-B0F3-C610DDF4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Les 5 domaines à pousser immédiatement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36A6E-BB00-401A-B7E9-FE65A7E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79627-6872-4683-80A7-766F1105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6F0C2-4F9E-4E3B-9D5E-0FD8949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3C9B3-7101-4C6A-B4A3-4AF0E298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990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IT &amp; Transformation Digitale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8648B-50E8-4E35-A927-BE904E75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Automatiser un workflow interne de bout en bout avec validation humaine.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6F78A-58BE-4059-945A-C09A8CDF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Réduction des tâches manuelles, baisse du temps de cycle, meilleure traçabilité, déploiement plus rapide qu'un projet applicatif classique.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B3F55-AAD0-4911-9EA6-A8840269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1925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18FC0-47A5-48F8-A5CC-B7B58263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716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16FC0-897E-48D0-B2DA-3D45C8B0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288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1E87C-CD32-4C5E-8D5D-99A5B2E9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14550"/>
            <a:ext cx="2990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Service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E8DD4-1AFA-4CFE-B897-BF59F80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28900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Assistant de réponses multicanales et qualification automatique des demandes.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AE3A6-43C3-4336-AB3F-A4FF929B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040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20% à 50% de réduction du temps de traitement, hausse de satisfaction, plus grand volume traité sans recruter.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54C12-4A0F-4A4E-96AD-F0D3FDD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0D975-B0E4-4A3A-A812-2107D80D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9068F-2763-43EE-A9BB-8ED9CEDE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288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26CBC-47B6-44AA-8A8A-66B9582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14550"/>
            <a:ext cx="2990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Marketing &amp; Communication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0FCEE-58BD-4819-BD0D-0DBF8A12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Machine à contenu multiformat pour campagnes, WhatsApp, email, scripts vidéo et fiches commerciales.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D986E-14EC-411A-AA86-1D5E7223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040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3 à 5 fois plus de contenus avec la même équipe, baisse du coût de production, meilleure vitesse de relance.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29DF9-A6AF-47AF-AF6D-6DD7BCDB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719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7741B-5CDD-4A0A-923A-66D60988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9243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A00A1-3C86-464D-A800-9D8AD69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9814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CCBD06-DA18-4FDC-B1E2-4F617C33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67200"/>
            <a:ext cx="2990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Administration &amp; Gestion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0DD79-72DF-467D-9B99-7EFE38B7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81550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Standardiser procédures, notes de service, suivis et dossiers administratifs.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DEB7D4-82F1-41EF-8B79-E348C05E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35305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Moins de dispersion, moins de relectures, meilleure standardisation, meilleure exécution.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EF2E9-B607-4439-87B6-8EDBDA24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719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6BC9F6-867C-4CAB-AB2E-2E8C3021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C7EFA2-ECFE-4B92-BDBB-0C6158B7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814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8C7C3A-9DE7-4D37-843D-2C1E908D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67200"/>
            <a:ext cx="2990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Assistanat &amp; Secrétariat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0423A7-6DDB-44B9-9D94-C4F62B25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81550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Production accélérée des comptes rendus, notes, relances et dossiers de réunion.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3F034-C69A-48AC-A1CF-797DD9EA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5305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40% à 70% de temps gagné sur la production documentaire et meilleure réactivité de direction.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BA5122-2974-4684-A3C2-8D35FB5E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B86622-B7F9-41C0-821D-2E314AC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Ces 5 domaines combinent transversalité, facilité de démonstration et potentiel de conversion rapide.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27BE29-4051-4892-BDA7-F318C98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9450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204D7E-CB2C-4F99-BD74-9C53323B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CC8CC-899C-42B0-866E-8BCC94C9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NARRATIF 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56B2D-7322-43A8-AB35-48A8A6D5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Comment vendre le ROI en rendez-vous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81A9B-551F-4ECE-9E3E-9A261EAC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9458C-75C0-4787-94AF-19370C76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0">
            <a:solidFill>
              <a:srgbClr val="D667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F3BE1-8564-480D-9046-E3A670D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Temps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05FB7-AB75-4A09-BEAE-12A36327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réduction du délai de traitement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EF6B4-7C66-49C5-86C9-17B7FEE7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ex. comptes rendus, reporting, réponses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ECD97-E194-44A0-97B1-9C6FE213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32B6C-144A-4E64-A7E6-CD394DD4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78"/>
          </a:solidFill>
          <a:ln xmlns:a="http://schemas.openxmlformats.org/drawingml/2006/main" w="0">
            <a:solidFill>
              <a:srgbClr val="3E7C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F2C14-9D37-423D-9318-6AE2BE5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Volume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74346-A2FC-456B-BE3A-96FC6FA7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plus de dossiers sans recruter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9F612-CB9A-4BAC-980E-998439E9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ex. contenus, tickets, relances, analyses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19AF3-A2BE-4404-B65E-3ED6F6D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D17E3-3EB2-430D-B754-CE04DE05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669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99"/>
          </a:solidFill>
          <a:ln xmlns:a="http://schemas.openxmlformats.org/drawingml/2006/main" w="0">
            <a:solidFill>
              <a:srgbClr val="7E8B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FDF1E-A879-4016-BE6A-E97C05F4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288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639E2-CD47-45F7-944D-E206E022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meilleure conversion ou moins d'erreurs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E3D6F-4A8E-43A1-B0EB-F5DCA5CC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6220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ex. campagnes, encaissement, conformité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6B128-C6BC-4687-8D62-B5359BA8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4857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ABDB0-5A85-4293-BAF4-85ADEEAA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Formule simple à utiliser face au prospect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63FCB-341A-4C39-BC76-54900C0E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Gain mensuel = personnes concernées x heures gagnées par semaine x 4,3 x coût horaire moyen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045CC-B00B-4C88-9FA5-685BB3AF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Payback = coût du projet / gain mensuel estimé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E9642-85B4-4251-9597-6C4E4848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 rôle commercial n'est pas de promettre un chiffre parfait. Il est de cadrer un ordre de grandeur crédible à partir des volumes du client.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E79E2-C355-495B-B9D9-B43B9774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33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65C70-4850-4C96-B113-14F75C02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E0EA"/>
                </a:solidFill>
                <a:latin typeface="Aptos"/>
                <a:ea typeface="Aptos"/>
                <a:cs typeface="Aptos"/>
              </a:rPr>
              <a:t>Phrases à porter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4EF013-E6A4-4D9A-8536-C0E8BB18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8145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“Nous ne vendons pas l'IA en général. Nous ciblons 2 ou 3 tâches où vous perdez du temps ou de la marge.”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328BDD-5C99-4932-9845-7FCD6572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672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6E0EA"/>
                </a:solidFill>
                <a:latin typeface="Aptos"/>
                <a:ea typeface="Aptos"/>
                <a:cs typeface="Aptos"/>
              </a:rPr>
              <a:t>“Notre promesse est un usage métier mesurable, pas une démonstration gadget.”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C99EB-DCC3-4D16-BF50-ED5FCC15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A"/>
                </a:solidFill>
                <a:latin typeface="Aptos"/>
                <a:ea typeface="Aptos"/>
                <a:cs typeface="Aptos"/>
              </a:rPr>
              <a:t>“Si le gain n'est pas visible en moins de 90 jours, ce n'est pas le bon premier cas d'usage.”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667AA-93B9-4EB1-BFE9-B6822392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C2FBE5-AEA5-4523-BF65-A509ACB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 meilleur closing repose sur un problème métier simple, un cas d'usage précis et un ROI lisible.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CF681-7D6E-4EA5-A6A5-DEFD3E49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21321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BDDD42-4751-4051-AB62-A5E41852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9CEF-3D4B-43F5-9FDA-6DB8FB71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OFFRES COMMERCIALES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EB561-A408-4D70-943C-ACEF5F7F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La séquence commerciale recommandée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E47E8-1A3A-4947-ACED-BE0B8C90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DB040-4A26-48CC-9158-67BA1039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E7DF6-F4C0-49EE-A1EC-492EA404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Audit Express IA Métier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3314D-D67C-422B-972E-34CD3775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647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Identifier en 5 à 10 jours les tâches à plus fort ROI et les cas d'usage prioritaires.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14F37-3626-40B0-A198-BCF2AA58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647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Porte d'entrée simple, rassurante et vendable à presque tous les prospects.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5A42C-FD67-4EB1-9589-A2C84D49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050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AAC3E-48F0-47CF-A03E-A84B4D8E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145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BB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CBB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DE0E2-04F8-4352-A9A7-A2E41B7C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Bootcamp Métier 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51ACE-946E-4E4A-88CF-5AD284A6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48000"/>
            <a:ext cx="2647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Former une équipe métier sur ses usages concrets, ses prompts, ses workflows et ses garde-fous.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84BC1-A0C2-484D-9627-745C039D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90950"/>
            <a:ext cx="2647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6E0EA"/>
                </a:solidFill>
                <a:latin typeface="Aptos"/>
                <a:ea typeface="Aptos"/>
                <a:cs typeface="Aptos"/>
              </a:rPr>
              <a:t>Permet d'encaisser rapidement tout en préparant l'adoption.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295DE-C844-4AC7-8364-E318E0C1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104E3-5C0A-40A7-B883-387271D1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BAA23-C572-4C27-B598-68473190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Pilote Workflow ou 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6007E-E606-47C3-A194-EF55C39D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2647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Déployer un premier workflow ou assistant IA sur un périmètre précis et mesurable.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AB7A3-A98C-4795-A3D1-C642BEB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2647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Transforme la formation en preuve d'impact et ouvre les déploiements plus larges.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B31A0-D904-45E8-9DAE-1ED90638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47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7B845-D109-4A29-9DAE-DBE65BB1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Logique de conversion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3F32D-ECF9-47EE-855A-023485BF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Audit pour ouvrir la porte, bootcamp pour créer l'adoption, pilote pour matérialiser le ROI et déclencher un déploiement plus large.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A1BBA-D952-45D7-B125-8688A4B2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72609-03B7-432B-B10B-C683714D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Les offres doivent être simples à comprendre, simples à signer et faciles à convertir en mission plus profonde.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E51F1-652F-4A7F-B749-4B41DA0A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65686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182A4C-F057-4F48-AE57-7410E661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49BCA-B6F3-4EC3-AA0D-5534205B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PLAN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D2F25-0DF6-4CA5-B109-08B040E2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Ce que nous devons exécuter dans les 90 prochains jours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D674A-0EA1-4527-8178-B550B864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A9560-8F27-42AC-9B16-A496B8E9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Jours 1 à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EA520-312C-4F1B-BB86-AAB0A547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905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Finaliser les argumentaires par domaine et les fiches ROI.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81AB5-071B-4C7B-BE95-A77AD070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Direction commerciale + contenu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8F961-549D-44A3-8309-0ECFFB22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28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FA8C2-FC34-413A-8FF1-4520E11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Jours 16 à 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8DF43-E363-41FD-B55A-D7FF2733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24150"/>
            <a:ext cx="1905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Construire 3 démonstrations fortes : service client, marketing, workflow administratif.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47087-A35A-4B6C-828F-17D416C7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924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Produit +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49977-5DE3-434B-83B3-EF8B2493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28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1957F-82BA-4CC6-B9FE-671C5FFE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Jours 31 à 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0C5F8-36D9-4A6C-BCE3-281ED243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1905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Lancer une prospection ciblée sur 5 domaines prioritaires et mesurer les retours.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220D0-FDD4-42F8-B4D6-FA98B60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Founders + commerciaux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B4382-2965-4F3E-A0E3-74A28C5D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28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66FEA-01BC-45E1-9C5D-1FAA552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00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Jours 61 à 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19156-D3F7-41D1-A096-6ACF057F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24150"/>
            <a:ext cx="1905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Convertir les premiers audits en pilotes et formaliser les cas clients internes.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BC251-FDEF-4AE2-A21C-C110A8A1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924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Sales + consulting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97748-3FC5-48C0-BA54-7A4D4D5B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16B3B-4198-4E11-9769-A9C297BC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Livrable attendu à la fin du trimestre : un argumentaire stabilisé, trois démos fortes, une prospection ciblée et les premiers audits convertis en pilotes.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07627-94B6-4DA8-A6A5-8EB8CD2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6F974-2D55-4E4D-8CA2-D24AF7D1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 point clé n'est pas d'avoir plus d'idées. C'est d'avoir plus de répétabilité commerciale.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1F003-4B19-4B98-8EA2-C34599A3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79442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573965-D569-4997-A184-B07B2DA5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111D3-A3B7-47AF-AFE2-1873EF0D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DÉCISIONS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2194F-DD4F-4F75-BC78-9CEFA299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Ce que la réunion doit valider aujourd'hui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3EA41-220D-4E7F-9441-0A66AD3A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9525">
            <a:solidFill>
              <a:srgbClr val="FFF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7B866-55E1-46A3-B1DE-C919BA0A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BD771-5AB4-49E3-8374-B8C21B2B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383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Valider les 5 domaines à pousser en priorité sur les 90 prochains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3126F-619B-40D1-926E-9B25DA64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107F2-D84D-4CD5-905A-86D477D4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7D805-9E61-413B-9A23-57FFCAF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Valider les 3 offres d'entrée commerciales : audit, bootcamp, pilote.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C0986-D21F-4A9F-A1DC-56DF41C6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F64F7-3B7C-4125-8468-A9A10A55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884E0-DDAF-4870-A06B-79132FA9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671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Valider les 3 démonstrations à construire en priorité pour la prospection.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864F1-86F4-46EC-B780-60E00CB5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9B7B7-7426-49C6-A8B5-079EB382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36E2A-387E-4AB3-8992-BFBB385B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Valider la répartition des rôles entre cofondateurs sur la vente, la démo et la delivery.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6693D-BC90-4C27-8B5F-1996D08B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485F3-80FA-4159-B6C6-7587E80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Décision recommandée : concentrer l'effort commercial sur 5 domaines, outiller 3 offres d'entrée et industrialiser 3 démonstrations fortes avant d'élargir.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EDFB4-CBB4-4F7A-A59A-11C3EA51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C4228-267E-4D73-A66E-BAAF496D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Clôture : priorité, séquence commerciale et discipline d'exécution.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23FC7-0C19-413D-9415-4FBEF651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8672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2026-05-16T20:33:43.0330000Z</dcterms:created>
  <dcterms:modified xsi:type="dcterms:W3CDTF">2026-05-16T20:33:43.0330000Z</dcterms:modified>
</coreProperties>
</file>