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8e40ff51a24f9c" /><Relationship Type="http://schemas.openxmlformats.org/officeDocument/2006/relationships/extended-properties" Target="/docProps/app.xml" Id="R54117de5e04c416e" /><Relationship Type="http://schemas.openxmlformats.org/officeDocument/2006/relationships/officeDocument" Target="/ppt/presentation.xml" Id="R51eec53bb6684c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cf6ab46fae4ae3"/>
  </p:sldMasterIdLst>
  <p:notesMasterIdLst>
    <p:notesMasterId xmlns:r="http://schemas.openxmlformats.org/officeDocument/2006/relationships" r:id="Rf772f266d00e4b38"/>
  </p:notesMasterIdLst>
  <p:sldIdLst>
    <p:sldId xmlns:r="http://schemas.openxmlformats.org/officeDocument/2006/relationships" id="256" r:id="Rfb960fd7c3f34acb"/>
    <p:sldId xmlns:r="http://schemas.openxmlformats.org/officeDocument/2006/relationships" id="257" r:id="Rbd3a28679beb4c39"/>
    <p:sldId xmlns:r="http://schemas.openxmlformats.org/officeDocument/2006/relationships" id="258" r:id="Rc1cdba936f9b4fff"/>
    <p:sldId xmlns:r="http://schemas.openxmlformats.org/officeDocument/2006/relationships" id="259" r:id="R4f098f50f9514bb9"/>
    <p:sldId xmlns:r="http://schemas.openxmlformats.org/officeDocument/2006/relationships" id="260" r:id="R102e99d3fd7c42ca"/>
    <p:sldId xmlns:r="http://schemas.openxmlformats.org/officeDocument/2006/relationships" id="261" r:id="R5d492a24a3214d9c"/>
    <p:sldId xmlns:r="http://schemas.openxmlformats.org/officeDocument/2006/relationships" id="262" r:id="R29da291d5a084dd8"/>
    <p:sldId xmlns:r="http://schemas.openxmlformats.org/officeDocument/2006/relationships" id="263" r:id="R0b974d62fc174b4b"/>
    <p:sldId xmlns:r="http://schemas.openxmlformats.org/officeDocument/2006/relationships" id="264" r:id="Re335ea4a278f4b3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c0782aefa644a8" /><Relationship Type="http://schemas.openxmlformats.org/officeDocument/2006/relationships/slideMaster" Target="/ppt/slideMasters/slideMaster1.xml" Id="R9ccf6ab46fae4ae3" /><Relationship Type="http://schemas.openxmlformats.org/officeDocument/2006/relationships/notesMaster" Target="/ppt/notesMasters/notesMaster1.xml" Id="Rf772f266d00e4b38" /><Relationship Type="http://schemas.openxmlformats.org/officeDocument/2006/relationships/presProps" Target="/ppt/presProps.xml" Id="R7c75686c6bb74f45" /><Relationship Type="http://schemas.openxmlformats.org/officeDocument/2006/relationships/tableStyles" Target="/ppt/tableStyles.xml" Id="R94edac49adb54c58" /><Relationship Type="http://schemas.openxmlformats.org/officeDocument/2006/relationships/slide" Target="/ppt/slides/slide1.xml" Id="Rfb960fd7c3f34acb" /><Relationship Type="http://schemas.openxmlformats.org/officeDocument/2006/relationships/slide" Target="/ppt/slides/slide2.xml" Id="Rbd3a28679beb4c39" /><Relationship Type="http://schemas.openxmlformats.org/officeDocument/2006/relationships/slide" Target="/ppt/slides/slide3.xml" Id="Rc1cdba936f9b4fff" /><Relationship Type="http://schemas.openxmlformats.org/officeDocument/2006/relationships/slide" Target="/ppt/slides/slide4.xml" Id="R4f098f50f9514bb9" /><Relationship Type="http://schemas.openxmlformats.org/officeDocument/2006/relationships/slide" Target="/ppt/slides/slide5.xml" Id="R102e99d3fd7c42ca" /><Relationship Type="http://schemas.openxmlformats.org/officeDocument/2006/relationships/slide" Target="/ppt/slides/slide6.xml" Id="R5d492a24a3214d9c" /><Relationship Type="http://schemas.openxmlformats.org/officeDocument/2006/relationships/slide" Target="/ppt/slides/slide7.xml" Id="R29da291d5a084dd8" /><Relationship Type="http://schemas.openxmlformats.org/officeDocument/2006/relationships/slide" Target="/ppt/slides/slide8.xml" Id="R0b974d62fc174b4b" /><Relationship Type="http://schemas.openxmlformats.org/officeDocument/2006/relationships/slide" Target="/ppt/slides/slide9.xml" Id="Re335ea4a278f4b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ff1bb484c742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32e35558cc4bf5" /><Relationship Type="http://schemas.openxmlformats.org/officeDocument/2006/relationships/notesMaster" Target="/ppt/notesMasters/notesMaster1.xml" Id="R2ce39780be8541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141470d1dc45a7" /><Relationship Type="http://schemas.openxmlformats.org/officeDocument/2006/relationships/notesMaster" Target="/ppt/notesMasters/notesMaster1.xml" Id="Rea17ea8bfded42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8c1f02a2fb4a4f" /><Relationship Type="http://schemas.openxmlformats.org/officeDocument/2006/relationships/notesMaster" Target="/ppt/notesMasters/notesMaster1.xml" Id="R49228e5c4bdb4b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7503e1160b4a66" /><Relationship Type="http://schemas.openxmlformats.org/officeDocument/2006/relationships/notesMaster" Target="/ppt/notesMasters/notesMaster1.xml" Id="Rdec9a963248243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6c3bc90f55497c" /><Relationship Type="http://schemas.openxmlformats.org/officeDocument/2006/relationships/notesMaster" Target="/ppt/notesMasters/notesMaster1.xml" Id="R395f80e8cee14b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c8ccaf6e5c4e23" /><Relationship Type="http://schemas.openxmlformats.org/officeDocument/2006/relationships/notesMaster" Target="/ppt/notesMasters/notesMaster1.xml" Id="Ra5ca9196845247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67830f6b1d40e1" /><Relationship Type="http://schemas.openxmlformats.org/officeDocument/2006/relationships/notesMaster" Target="/ppt/notesMasters/notesMaster1.xml" Id="R20ffa597386b4e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82345e62b74ede" /><Relationship Type="http://schemas.openxmlformats.org/officeDocument/2006/relationships/notesMaster" Target="/ppt/notesMasters/notesMaster1.xml" Id="Rb33a29e5a34e4d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66ac2403fe4f62" /><Relationship Type="http://schemas.openxmlformats.org/officeDocument/2006/relationships/notesMaster" Target="/ppt/notesMasters/notesMaster1.xml" Id="Rbae7372792804a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1c8addc69249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b1e51181ab4eb6" /><Relationship Type="http://schemas.openxmlformats.org/officeDocument/2006/relationships/slideLayout" Target="/ppt/slideLayouts/slideLayout1.xml" Id="R42474f019d0841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474f019d0841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f63f5cd4849cb" /><Relationship Type="http://schemas.openxmlformats.org/officeDocument/2006/relationships/image" Target="/ppt/media/image.png" Id="R04b7ae40f2cf4589" /><Relationship Type="http://schemas.openxmlformats.org/officeDocument/2006/relationships/image" Target="/ppt/media/image.jpeg" Id="R3e41d5de3c104218" /><Relationship Type="http://schemas.openxmlformats.org/officeDocument/2006/relationships/notesSlide" Target="/ppt/notesSlides/notesSlide1.xml" Id="Rc2090cf36a3143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a1dd395cd4442" /><Relationship Type="http://schemas.openxmlformats.org/officeDocument/2006/relationships/notesSlide" Target="/ppt/notesSlides/notesSlide2.xml" Id="Re652eaca866645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f81227fae4fd7" /><Relationship Type="http://schemas.openxmlformats.org/officeDocument/2006/relationships/notesSlide" Target="/ppt/notesSlides/notesSlide3.xml" Id="Rc3cfae8f7d6d4c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a461450a74387" /><Relationship Type="http://schemas.openxmlformats.org/officeDocument/2006/relationships/notesSlide" Target="/ppt/notesSlides/notesSlide4.xml" Id="Rc7155dabcb4141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0a10d9d474cb7" /><Relationship Type="http://schemas.openxmlformats.org/officeDocument/2006/relationships/notesSlide" Target="/ppt/notesSlides/notesSlide5.xml" Id="R90cc2cef7e1244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6596a49034b34" /><Relationship Type="http://schemas.openxmlformats.org/officeDocument/2006/relationships/image" Target="/ppt/media/image2.jpeg" Id="Reac4e3a4ef25469c" /><Relationship Type="http://schemas.openxmlformats.org/officeDocument/2006/relationships/notesSlide" Target="/ppt/notesSlides/notesSlide6.xml" Id="Re64e90fc77d541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13baed1b944a4" /><Relationship Type="http://schemas.openxmlformats.org/officeDocument/2006/relationships/notesSlide" Target="/ppt/notesSlides/notesSlide7.xml" Id="R89f84653f0b041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7413c1d4b4c15" /><Relationship Type="http://schemas.openxmlformats.org/officeDocument/2006/relationships/notesSlide" Target="/ppt/notesSlides/notesSlide8.xml" Id="Rab9b6aaa5cdf49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c2508caf345af" /><Relationship Type="http://schemas.openxmlformats.org/officeDocument/2006/relationships/notesSlide" Target="/ppt/notesSlides/notesSlide9.xml" Id="R36a0e4ec2ace4a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AEAACF-156F-449C-9BE0-C90F797B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A"/>
          </a:solidFill>
          <a:ln xmlns:a="http://schemas.openxmlformats.org/drawingml/2006/main" w="0">
            <a:solidFill>
              <a:srgbClr val="F6F1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03BD1-9F3D-4C59-94AC-CB8213B9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5D8"/>
          </a:solidFill>
          <a:ln xmlns:a="http://schemas.openxmlformats.org/drawingml/2006/main" w="0">
            <a:solidFill>
              <a:srgbClr val="F1E5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A634F-95C5-4731-9C5F-4C833176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5810250" cy="4972050"/>
          </a:xfrm>
          <a:prstGeom xmlns:a="http://schemas.openxmlformats.org/drawingml/2006/main" prst="roundRect">
            <a:avLst>
              <a:gd name="adj" fmla="val 306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DD2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b7ae40f2cf4589"/>
          <a:stretch xmlns:a="http://schemas.openxmlformats.org/drawingml/2006/main"/>
        </p:blipFill>
        <p:spPr>
          <a:xfrm xmlns:a="http://schemas.openxmlformats.org/drawingml/2006/main">
            <a:off x="1034279" y="1066800"/>
            <a:ext cx="1341392" cy="590550"/>
          </a:xfrm>
          <a:prstGeom xmlns:a="http://schemas.openxmlformats.org/drawingml/2006/main" prst="roundRect">
            <a:avLst>
              <a:gd name="adj" fmla="val 2580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28017-5451-4945-BC07-4BBF90D3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D86A24"/>
                </a:solidFill>
              </a:defRPr>
            </a:pPr>
            <a:r>
              <a:rPr sz="788" b="1">
                <a:solidFill>
                  <a:srgbClr val="D86A24"/>
                </a:solidFill>
              </a:rPr>
              <a:t>DECK DE PRÉSENTATION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11409A-E24C-411D-99C9-C49D0FCD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4273D"/>
                </a:solidFill>
              </a:defRPr>
            </a:pPr>
            <a:r>
              <a:rPr sz="2475" b="1">
                <a:solidFill>
                  <a:srgbClr val="14273D"/>
                </a:solidFill>
              </a:rPr>
              <a:t>Positionnement marché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615B0-FA31-40C5-BCD2-BAE92E05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73D"/>
                </a:solidFill>
              </a:defRPr>
            </a:pPr>
            <a:r>
              <a:rPr sz="1950" b="1">
                <a:solidFill>
                  <a:srgbClr val="14273D"/>
                </a:solidFill>
              </a:rPr>
              <a:t>Formation IA pour secrétariats de direction, cabinets, diplomatie et administration en Côte d'Ivoire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E20CC8-0519-4AD1-95C7-90AE156D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 b="0">
                <a:solidFill>
                  <a:srgbClr val="6A7A8B"/>
                </a:solidFill>
              </a:defRPr>
            </a:pPr>
            <a:r>
              <a:rPr sz="1163" b="0">
                <a:solidFill>
                  <a:srgbClr val="6A7A8B"/>
                </a:solidFill>
              </a:rPr>
              <a:t>Un deck de vente pour montrer ce qui se vend déjà, où se situe le vide du marché et pourquoi votre offre est plus premium.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5F29A5-E830-4D9E-9C51-162791BD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4762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7324E"/>
          </a:solidFill>
          <a:ln xmlns:a="http://schemas.openxmlformats.org/drawingml/2006/main" w="9525">
            <a:solidFill>
              <a:srgbClr val="17324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5DE925-54CD-46E1-B9B2-B4457D10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4825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0" b="1">
                <a:solidFill>
                  <a:srgbClr val="FFFFFF"/>
                </a:solidFill>
              </a:defRPr>
            </a:pPr>
            <a:r>
              <a:rPr sz="930" b="1">
                <a:solidFill>
                  <a:srgbClr val="FFFFFF"/>
                </a:solidFill>
              </a:rPr>
              <a:t>Objectif : aider le prospect à voir le vide du marché et pourquoi votre offre est plus premium.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41d5de3c104218"/>
          <a:srcRect xmlns:a="http://schemas.openxmlformats.org/drawingml/2006/main" l="25925" t="0" r="259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2850" y="1066800"/>
            <a:ext cx="4076700" cy="4762500"/>
          </a:xfrm>
          <a:prstGeom xmlns:a="http://schemas.openxmlformats.org/drawingml/2006/main" prst="roundRect">
            <a:avLst>
              <a:gd name="adj" fmla="val 3738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69367-E2F3-44C9-B86F-4BC84FD7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2C6"/>
          </a:solidFill>
          <a:ln xmlns:a="http://schemas.openxmlformats.org/drawingml/2006/main" w="0">
            <a:solidFill>
              <a:srgbClr val="DDD2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4AF0C8-DBB6-43DC-AEFA-B375E9E8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933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6A7A8B"/>
                </a:solidFill>
              </a:defRPr>
            </a:pPr>
            <a:r>
              <a:rPr sz="638" b="0">
                <a:solidFill>
                  <a:srgbClr val="6A7A8B"/>
                </a:solidFill>
              </a:rPr>
              <a:t>TransferAI Africa | Deck de présentation marché | Formation IA pour secrétariat de direction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35920F-15B2-40FD-9A86-7EBFDD0A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4273D"/>
                </a:solidFill>
              </a:defRPr>
            </a:pPr>
            <a:r>
              <a:rPr sz="750" b="1">
                <a:solidFill>
                  <a:srgbClr val="14273D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70474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33D585-7A8A-407B-A053-2E99B1A6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D86A24"/>
                </a:solidFill>
              </a:defRPr>
            </a:pPr>
            <a:r>
              <a:rPr sz="788" b="1">
                <a:solidFill>
                  <a:srgbClr val="D86A24"/>
                </a:solidFill>
              </a:rPr>
              <a:t>LECTURE DU MARCHÉ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4E2BA-7555-4B07-8710-4A722940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73D"/>
                </a:solidFill>
              </a:defRPr>
            </a:pPr>
            <a:r>
              <a:rPr sz="2250" b="1">
                <a:solidFill>
                  <a:srgbClr val="14273D"/>
                </a:solidFill>
              </a:rPr>
              <a:t>Ce qui est déjà visible aujourd'hui en Côte d'Ivoire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21084-8F0E-43E9-915C-A185AA9C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219700" cy="1771650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DD2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E323D-16D8-43A4-AF30-96603CD1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57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A24"/>
          </a:solidFill>
          <a:ln xmlns:a="http://schemas.openxmlformats.org/drawingml/2006/main" w="0">
            <a:solidFill>
              <a:srgbClr val="D86A2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B05E6-B23D-4BAD-9A0D-156309AF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33550"/>
            <a:ext cx="4705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 b="1">
                <a:solidFill>
                  <a:srgbClr val="14273D"/>
                </a:solidFill>
              </a:defRPr>
            </a:pPr>
            <a:r>
              <a:rPr sz="1238" b="1">
                <a:solidFill>
                  <a:srgbClr val="14273D"/>
                </a:solidFill>
              </a:rPr>
              <a:t>Secrétariat, assistanat, protocole, diplomatie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BF575-2931-4FC7-9717-A07D9A8F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52650"/>
            <a:ext cx="470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D86A24"/>
                </a:solidFill>
              </a:defRPr>
            </a:pPr>
            <a:r>
              <a:rPr sz="750" b="1">
                <a:solidFill>
                  <a:srgbClr val="D86A24"/>
                </a:solidFill>
              </a:rPr>
              <a:t>Visible chez : CAMPC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D5F6C-01E4-4137-9010-3EB22266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876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0">
                <a:solidFill>
                  <a:srgbClr val="6A7A8B"/>
                </a:solidFill>
              </a:defRPr>
            </a:pPr>
            <a:r>
              <a:rPr sz="960" b="0">
                <a:solidFill>
                  <a:srgbClr val="6A7A8B"/>
                </a:solidFill>
              </a:rPr>
              <a:t>Le marché vend déjà des séminaires classiques en secrétariat-assistance de direction, protocole, diplomatie, archivage et GED.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17157F-950D-49F4-BBC1-D3A56942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62100"/>
            <a:ext cx="5219700" cy="1771650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DD2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F8AD4E-98C9-4C72-B944-B63400EA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52600"/>
            <a:ext cx="57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C6A"/>
          </a:solidFill>
          <a:ln xmlns:a="http://schemas.openxmlformats.org/drawingml/2006/main" w="0">
            <a:solidFill>
              <a:srgbClr val="238C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CE2F19-B129-4D47-8E40-2AF3DE20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33550"/>
            <a:ext cx="4705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 b="1">
                <a:solidFill>
                  <a:srgbClr val="14273D"/>
                </a:solidFill>
              </a:defRPr>
            </a:pPr>
            <a:r>
              <a:rPr sz="1238" b="1">
                <a:solidFill>
                  <a:srgbClr val="14273D"/>
                </a:solidFill>
              </a:rPr>
              <a:t>IA d'initiation et acculturation générale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FD533E-A365-4B80-A96D-53DF2DB1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52650"/>
            <a:ext cx="470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38C6A"/>
                </a:solidFill>
              </a:defRPr>
            </a:pPr>
            <a:r>
              <a:rPr sz="750" b="1">
                <a:solidFill>
                  <a:srgbClr val="238C6A"/>
                </a:solidFill>
              </a:rPr>
              <a:t>Visible chez : UVCI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BDB201-2679-4A90-8A20-1D6D537F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876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0">
                <a:solidFill>
                  <a:srgbClr val="6A7A8B"/>
                </a:solidFill>
              </a:defRPr>
            </a:pPr>
            <a:r>
              <a:rPr sz="960" b="0">
                <a:solidFill>
                  <a:srgbClr val="6A7A8B"/>
                </a:solidFill>
              </a:rPr>
              <a:t>Des modules comme “L'Intelligence Artificielle pour tous - Niveau 1” montrent que le besoin d'entrée en matière existe déjà.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BBDB93-E59B-49E3-A16D-4C848E1C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5219700" cy="1771650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DD2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3D0AAD-1E62-45AC-96B9-29A2A154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57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8F"/>
          </a:solidFill>
          <a:ln xmlns:a="http://schemas.openxmlformats.org/drawingml/2006/main" w="0">
            <a:solidFill>
              <a:srgbClr val="2F5E8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B88675-0C78-4DCE-942B-A37895C4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4705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 b="1">
                <a:solidFill>
                  <a:srgbClr val="14273D"/>
                </a:solidFill>
              </a:defRPr>
            </a:pPr>
            <a:r>
              <a:rPr sz="1238" b="1">
                <a:solidFill>
                  <a:srgbClr val="14273D"/>
                </a:solidFill>
              </a:rPr>
              <a:t>IA pour communication et marketing digital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63CD52-7146-4F40-B9FE-CB0446F8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470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F5E8F"/>
                </a:solidFill>
              </a:defRPr>
            </a:pPr>
            <a:r>
              <a:rPr sz="750" b="1">
                <a:solidFill>
                  <a:srgbClr val="2F5E8F"/>
                </a:solidFill>
              </a:rPr>
              <a:t>Visible chez : UVCI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8FDA66-AF49-4237-99A9-A08E4D7B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4876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0">
                <a:solidFill>
                  <a:srgbClr val="6A7A8B"/>
                </a:solidFill>
              </a:defRPr>
            </a:pPr>
            <a:r>
              <a:rPr sz="960" b="0">
                <a:solidFill>
                  <a:srgbClr val="6A7A8B"/>
                </a:solidFill>
              </a:rPr>
              <a:t>Des offres publiques visibles traitent déjà le community management optimisé avec l'IA et les usages digitaux généraux.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A90040-5530-44C7-9E1B-76F7BBA7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76650"/>
            <a:ext cx="5219700" cy="1771650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DD2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B20CF6-315B-44C9-AC90-066B5C68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67150"/>
            <a:ext cx="57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F92"/>
          </a:solidFill>
          <a:ln xmlns:a="http://schemas.openxmlformats.org/drawingml/2006/main" w="0">
            <a:solidFill>
              <a:srgbClr val="6D5F9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97481A-9FAD-41C5-8BF8-D383FDF3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48100"/>
            <a:ext cx="4705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 b="1">
                <a:solidFill>
                  <a:srgbClr val="14273D"/>
                </a:solidFill>
              </a:defRPr>
            </a:pPr>
            <a:r>
              <a:rPr sz="1238" b="1">
                <a:solidFill>
                  <a:srgbClr val="14273D"/>
                </a:solidFill>
              </a:rPr>
              <a:t>IA/data/numérique plus techniques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F7491C-9697-4D6F-85B3-796B89CE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67200"/>
            <a:ext cx="470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D5F92"/>
                </a:solidFill>
              </a:defRPr>
            </a:pPr>
            <a:r>
              <a:rPr sz="750" b="1">
                <a:solidFill>
                  <a:srgbClr val="6D5F92"/>
                </a:solidFill>
              </a:rPr>
              <a:t>Visible chez : UVCI / CAMPC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DD6BF3-0FE8-4C46-94A4-15FB2DCC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52950"/>
            <a:ext cx="4876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0">
                <a:solidFill>
                  <a:srgbClr val="6A7A8B"/>
                </a:solidFill>
              </a:defRPr>
            </a:pPr>
            <a:r>
              <a:rPr sz="960" b="0">
                <a:solidFill>
                  <a:srgbClr val="6A7A8B"/>
                </a:solidFill>
              </a:rPr>
              <a:t>GeoIA, traitement et analyse des données, réseaux et certifications techniques occupent déjà une partie du terrain.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E71035-9FF8-450E-8CC4-52524A6F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2C6"/>
          </a:solidFill>
          <a:ln xmlns:a="http://schemas.openxmlformats.org/drawingml/2006/main" w="0">
            <a:solidFill>
              <a:srgbClr val="DDD2C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B63F16-A53F-4A57-9EAC-60449586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933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6A7A8B"/>
                </a:solidFill>
              </a:defRPr>
            </a:pPr>
            <a:r>
              <a:rPr sz="638" b="0">
                <a:solidFill>
                  <a:srgbClr val="6A7A8B"/>
                </a:solidFill>
              </a:rPr>
              <a:t>TransferAI Africa | Deck de présentation marché | Formation IA pour secrétariat de direction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86B0BB-CB9B-41D0-84D1-1B3EB82C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4273D"/>
                </a:solidFill>
              </a:defRPr>
            </a:pPr>
            <a:r>
              <a:rPr sz="750" b="1">
                <a:solidFill>
                  <a:srgbClr val="14273D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08385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AFF10F-CA0D-4A13-8869-8CD7D5F5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D86A24"/>
                </a:solidFill>
              </a:defRPr>
            </a:pPr>
            <a:r>
              <a:rPr sz="788" b="1">
                <a:solidFill>
                  <a:srgbClr val="D86A24"/>
                </a:solidFill>
              </a:rPr>
              <a:t>OPPORTUNITÉ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50987-7F7F-451C-A417-F0D17281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73D"/>
                </a:solidFill>
              </a:defRPr>
            </a:pPr>
            <a:r>
              <a:rPr sz="2250" b="1">
                <a:solidFill>
                  <a:srgbClr val="14273D"/>
                </a:solidFill>
              </a:rPr>
              <a:t>Le vide du marché que votre offre peut prendre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52AD55-127F-46CA-8D41-AFEC4F36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810250" cy="3790950"/>
          </a:xfrm>
          <a:prstGeom xmlns:a="http://schemas.openxmlformats.org/drawingml/2006/main" prst="roundRect">
            <a:avLst>
              <a:gd name="adj" fmla="val 402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DD2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A35B0-3174-4292-95D8-4097E491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273D"/>
                </a:solidFill>
              </a:defRPr>
            </a:pPr>
            <a:r>
              <a:rPr sz="1425" b="1">
                <a:solidFill>
                  <a:srgbClr val="14273D"/>
                </a:solidFill>
              </a:rPr>
              <a:t>Constat stratégique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9A354-A2A3-4285-932C-40688044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52387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10" b="0">
                <a:solidFill>
                  <a:srgbClr val="14273D"/>
                </a:solidFill>
              </a:defRPr>
            </a:pPr>
            <a:r>
              <a:rPr sz="1110" b="0">
                <a:solidFill>
                  <a:srgbClr val="14273D"/>
                </a:solidFill>
              </a:rPr>
              <a:t>• Très peu d'offres visibles explicitement positionnées “IA pour secrétaires de direction, cabinets, diplomatie et administration sensible”.</a:t>
            </a:r>
          </a:p>
          <a:p xmlns:a="http://schemas.openxmlformats.org/drawingml/2006/main">
            <a:pPr>
              <a:defRPr sz="1110" b="0">
                <a:solidFill>
                  <a:srgbClr val="14273D"/>
                </a:solidFill>
              </a:defRPr>
            </a:pPr>
            <a:r>
              <a:rPr sz="1110" b="0">
                <a:solidFill>
                  <a:srgbClr val="14273D"/>
                </a:solidFill>
              </a:rPr>
              <a:t>• Le marché propose surtout soit du secrétariat classique sans couche IA, soit de l'IA généraliste sans ancrage métier administratif.</a:t>
            </a:r>
          </a:p>
          <a:p xmlns:a="http://schemas.openxmlformats.org/drawingml/2006/main">
            <a:pPr>
              <a:defRPr sz="1110" b="0">
                <a:solidFill>
                  <a:srgbClr val="14273D"/>
                </a:solidFill>
              </a:defRPr>
            </a:pPr>
            <a:r>
              <a:rPr sz="1110" b="0">
                <a:solidFill>
                  <a:srgbClr val="14273D"/>
                </a:solidFill>
              </a:rPr>
              <a:t>• La confidentialité, l'anonymisation, les prompts professionnels et la validation humaine sont encore peu visibles comme promesse commerciale centrale.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AA841-2993-4A26-B5AC-E1C52690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62100"/>
            <a:ext cx="4648200" cy="3790950"/>
          </a:xfrm>
          <a:prstGeom xmlns:a="http://schemas.openxmlformats.org/drawingml/2006/main" prst="roundRect">
            <a:avLst>
              <a:gd name="adj" fmla="val 4020"/>
            </a:avLst>
          </a:prstGeom>
          <a:solidFill xmlns:a="http://schemas.openxmlformats.org/drawingml/2006/main">
            <a:srgbClr val="17324E"/>
          </a:solidFill>
          <a:ln xmlns:a="http://schemas.openxmlformats.org/drawingml/2006/main" w="9525">
            <a:solidFill>
              <a:srgbClr val="1732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90C69-F446-48AD-A557-623254FD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288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6DDCC"/>
                </a:solidFill>
              </a:defRPr>
            </a:pPr>
            <a:r>
              <a:rPr sz="788" b="1">
                <a:solidFill>
                  <a:srgbClr val="F6DDCC"/>
                </a:solidFill>
              </a:rPr>
              <a:t>Conclusion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FFC629-9BBD-43C5-901F-B3D775FF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52650"/>
            <a:ext cx="40957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Le marché vend déjà l'IA générale et le secrétariat classique. Il vend encore très peu l'IA appliquée au secrétariat de direction en environnement sensible.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8DFC16-D370-41C6-992F-1B4D68F8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814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C'est votre fenêtre de différenciation et de premiumisation.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575D4C-24BF-4E6A-9B22-9F068E75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DFF2EA"/>
          </a:solidFill>
          <a:ln xmlns:a="http://schemas.openxmlformats.org/drawingml/2006/main" w="9525">
            <a:solidFill>
              <a:srgbClr val="DFF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54F78E-9B00-4052-B59F-79536159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1036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1">
                <a:solidFill>
                  <a:srgbClr val="238C6A"/>
                </a:solidFill>
              </a:defRPr>
            </a:pPr>
            <a:r>
              <a:rPr sz="885" b="1">
                <a:solidFill>
                  <a:srgbClr val="238C6A"/>
                </a:solidFill>
              </a:rPr>
              <a:t>Message à porter : nous ne vendons pas une initiation ChatGPT, nous vendons une productivité administrative sécurisée.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8D6666-48A8-4762-B4C5-DE9864C6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2C6"/>
          </a:solidFill>
          <a:ln xmlns:a="http://schemas.openxmlformats.org/drawingml/2006/main" w="0">
            <a:solidFill>
              <a:srgbClr val="DDD2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F8F531-525F-4573-AF80-762EF316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933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6A7A8B"/>
                </a:solidFill>
              </a:defRPr>
            </a:pPr>
            <a:r>
              <a:rPr sz="638" b="0">
                <a:solidFill>
                  <a:srgbClr val="6A7A8B"/>
                </a:solidFill>
              </a:rPr>
              <a:t>TransferAI Africa | Deck de présentation marché | Formation IA pour secrétariat de direction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09F4F7-AFF1-4647-BBB7-FF8D8A95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4273D"/>
                </a:solidFill>
              </a:defRPr>
            </a:pPr>
            <a:r>
              <a:rPr sz="750" b="1">
                <a:solidFill>
                  <a:srgbClr val="14273D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874750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1ECCEE-9FBC-4733-A677-2E34593B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D86A24"/>
                </a:solidFill>
              </a:defRPr>
            </a:pPr>
            <a:r>
              <a:rPr sz="788" b="1">
                <a:solidFill>
                  <a:srgbClr val="D86A24"/>
                </a:solidFill>
              </a:rPr>
              <a:t>COMPARAISON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74A32F-0754-4307-A058-E4473AA2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73D"/>
                </a:solidFill>
              </a:defRPr>
            </a:pPr>
            <a:r>
              <a:rPr sz="2250" b="1">
                <a:solidFill>
                  <a:srgbClr val="14273D"/>
                </a:solidFill>
              </a:rPr>
              <a:t>Ce que les autres vendent vs ce que vous vendez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53F5A-5EB1-4DCA-ACD0-7CD13D9D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4133850"/>
          </a:xfrm>
          <a:prstGeom xmlns:a="http://schemas.openxmlformats.org/drawingml/2006/main" prst="roundRect">
            <a:avLst>
              <a:gd name="adj" fmla="val 368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DD2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22A73-E02D-42E5-8218-9D28E605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5D8"/>
          </a:solidFill>
          <a:ln xmlns:a="http://schemas.openxmlformats.org/drawingml/2006/main" w="0">
            <a:solidFill>
              <a:srgbClr val="F1E5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E16BC-DB36-4DCE-98EA-2366227A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79070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DCC"/>
          </a:solidFill>
          <a:ln xmlns:a="http://schemas.openxmlformats.org/drawingml/2006/main" w="0">
            <a:solidFill>
              <a:srgbClr val="F6DD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94EC7B-CB38-416C-8BC0-4AA11018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9070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A"/>
          </a:solidFill>
          <a:ln xmlns:a="http://schemas.openxmlformats.org/drawingml/2006/main" w="0">
            <a:solidFill>
              <a:srgbClr val="DFF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D7860-0F36-403C-B3D5-CA88D65F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859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4273D"/>
                </a:solidFill>
              </a:defRPr>
            </a:pPr>
            <a:r>
              <a:rPr sz="900" b="1">
                <a:solidFill>
                  <a:srgbClr val="14273D"/>
                </a:solidFill>
              </a:rPr>
              <a:t>Critère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E9437-E877-47A7-9151-22E6B049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85950"/>
            <a:ext cx="3829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4273D"/>
                </a:solidFill>
              </a:defRPr>
            </a:pPr>
            <a:r>
              <a:rPr sz="900" b="1">
                <a:solidFill>
                  <a:srgbClr val="14273D"/>
                </a:solidFill>
              </a:rPr>
              <a:t>Offres visibles sur le marché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81898C-C9C1-45AF-87E6-D3CF0B81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85950"/>
            <a:ext cx="3829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4273D"/>
                </a:solidFill>
              </a:defRPr>
            </a:pPr>
            <a:r>
              <a:rPr sz="900" b="1">
                <a:solidFill>
                  <a:srgbClr val="14273D"/>
                </a:solidFill>
              </a:rPr>
              <a:t>Votre offre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4080EE-0E52-48B3-9E6A-CBCB4DC4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DD2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E37ED-0D38-4501-9432-F42AC67C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288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DD2C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E45B7-2690-4ED3-B35E-B6C9D18B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288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DD2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0D2BE7-25D4-4E31-9752-7FDB33F7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70" b="1">
                <a:solidFill>
                  <a:srgbClr val="14273D"/>
                </a:solidFill>
              </a:defRPr>
            </a:pPr>
            <a:r>
              <a:rPr sz="870" b="1">
                <a:solidFill>
                  <a:srgbClr val="14273D"/>
                </a:solidFill>
              </a:rPr>
              <a:t>Angle dominant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DC4AE7-2D69-42DC-96C5-AB16B267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050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48" b="0">
                <a:solidFill>
                  <a:srgbClr val="6A7A8B"/>
                </a:solidFill>
              </a:defRPr>
            </a:pPr>
            <a:r>
              <a:rPr sz="848" b="0">
                <a:solidFill>
                  <a:srgbClr val="6A7A8B"/>
                </a:solidFill>
              </a:rPr>
              <a:t>IA générale ou secrétariat classique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2AE45A-22AA-41FC-A8FC-519562F7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050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48" b="0">
                <a:solidFill>
                  <a:srgbClr val="14273D"/>
                </a:solidFill>
              </a:defRPr>
            </a:pPr>
            <a:r>
              <a:rPr sz="848" b="0">
                <a:solidFill>
                  <a:srgbClr val="14273D"/>
                </a:solidFill>
              </a:rPr>
              <a:t>IA métier pour fonctions de direction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1E0FA4-254D-42A1-9068-CAD504E0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3"/>
          </a:solidFill>
          <a:ln xmlns:a="http://schemas.openxmlformats.org/drawingml/2006/main" w="9525">
            <a:solidFill>
              <a:srgbClr val="DDD2C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FBD3CA-471F-4F66-97AC-21E183D6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241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3"/>
          </a:solidFill>
          <a:ln xmlns:a="http://schemas.openxmlformats.org/drawingml/2006/main" w="9525">
            <a:solidFill>
              <a:srgbClr val="DDD2C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A09909-4C28-4EA3-9FD1-2A580B9D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241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3"/>
          </a:solidFill>
          <a:ln xmlns:a="http://schemas.openxmlformats.org/drawingml/2006/main" w="9525">
            <a:solidFill>
              <a:srgbClr val="DDD2C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EF4DB3-D297-40D5-BFC0-7B92F510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1940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70" b="1">
                <a:solidFill>
                  <a:srgbClr val="14273D"/>
                </a:solidFill>
              </a:defRPr>
            </a:pPr>
            <a:r>
              <a:rPr sz="870" b="1">
                <a:solidFill>
                  <a:srgbClr val="14273D"/>
                </a:solidFill>
              </a:rPr>
              <a:t>Public visé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F9FF4D-FC07-42B8-AB0A-4C3E6BB1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003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48" b="0">
                <a:solidFill>
                  <a:srgbClr val="6A7A8B"/>
                </a:solidFill>
              </a:defRPr>
            </a:pPr>
            <a:r>
              <a:rPr sz="848" b="0">
                <a:solidFill>
                  <a:srgbClr val="6A7A8B"/>
                </a:solidFill>
              </a:rPr>
              <a:t>Grand public, étudiants, digital, cadres larges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1D3F4B-2FD0-4887-9297-8F8C6D4E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003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48" b="0">
                <a:solidFill>
                  <a:srgbClr val="14273D"/>
                </a:solidFill>
              </a:defRPr>
            </a:pPr>
            <a:r>
              <a:rPr sz="848" b="0">
                <a:solidFill>
                  <a:srgbClr val="14273D"/>
                </a:solidFill>
              </a:rPr>
              <a:t>Secrétaires de direction, cabinets, diplomatie, administration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15253A-9793-4ADD-9F8D-5A41BD2A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DD2C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8DE7DB-C14A-476F-B798-8DC85B0F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194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DD2C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2F3D03-1A02-4AF1-808A-1DA6ECC9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194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DD2C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35B052-DA61-4DAB-A251-F57006C7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70" b="1">
                <a:solidFill>
                  <a:srgbClr val="14273D"/>
                </a:solidFill>
              </a:defRPr>
            </a:pPr>
            <a:r>
              <a:rPr sz="870" b="1">
                <a:solidFill>
                  <a:srgbClr val="14273D"/>
                </a:solidFill>
              </a:rPr>
              <a:t>Promesse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3A5DCA-383C-4CBF-ACBE-5306276B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956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48" b="0">
                <a:solidFill>
                  <a:srgbClr val="6A7A8B"/>
                </a:solidFill>
              </a:defRPr>
            </a:pPr>
            <a:r>
              <a:rPr sz="848" b="0">
                <a:solidFill>
                  <a:srgbClr val="6A7A8B"/>
                </a:solidFill>
              </a:rPr>
              <a:t>Découverte, acculturation, outils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C6FEE4-1C29-4EFA-99F2-53F8F132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956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48" b="0">
                <a:solidFill>
                  <a:srgbClr val="14273D"/>
                </a:solidFill>
              </a:defRPr>
            </a:pPr>
            <a:r>
              <a:rPr sz="848" b="0">
                <a:solidFill>
                  <a:srgbClr val="14273D"/>
                </a:solidFill>
              </a:rPr>
              <a:t>Productivité administrative sécurisée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5A3799-2204-4F75-96CE-653E667C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3"/>
          </a:solidFill>
          <a:ln xmlns:a="http://schemas.openxmlformats.org/drawingml/2006/main" w="9525">
            <a:solidFill>
              <a:srgbClr val="DDD2C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5BCD25-457A-465C-A46F-F6C59EF6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147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3"/>
          </a:solidFill>
          <a:ln xmlns:a="http://schemas.openxmlformats.org/drawingml/2006/main" w="9525">
            <a:solidFill>
              <a:srgbClr val="DDD2C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8C9A20-AF8A-4A1A-AAEE-EBF8EBC0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147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3"/>
          </a:solidFill>
          <a:ln xmlns:a="http://schemas.openxmlformats.org/drawingml/2006/main" w="9525">
            <a:solidFill>
              <a:srgbClr val="DDD2C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781DA3-A9E1-4453-8800-0F9B7007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70" b="1">
                <a:solidFill>
                  <a:srgbClr val="14273D"/>
                </a:solidFill>
              </a:defRPr>
            </a:pPr>
            <a:r>
              <a:rPr sz="870" b="1">
                <a:solidFill>
                  <a:srgbClr val="14273D"/>
                </a:solidFill>
              </a:rPr>
              <a:t>Cas concrets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F14281-E8A9-4266-8F7B-3029B3AE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909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48" b="0">
                <a:solidFill>
                  <a:srgbClr val="6A7A8B"/>
                </a:solidFill>
              </a:defRPr>
            </a:pPr>
            <a:r>
              <a:rPr sz="848" b="0">
                <a:solidFill>
                  <a:srgbClr val="6A7A8B"/>
                </a:solidFill>
              </a:rPr>
              <a:t>Souvent génériques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4F0DE1-4810-4E2B-8169-4E0104C5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7909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48" b="1">
                <a:solidFill>
                  <a:srgbClr val="14273D"/>
                </a:solidFill>
              </a:defRPr>
            </a:pPr>
            <a:r>
              <a:rPr sz="848" b="1">
                <a:solidFill>
                  <a:srgbClr val="14273D"/>
                </a:solidFill>
              </a:rPr>
              <a:t>Courriers, PV, briefings, notes de synthèse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C473F6-6726-4219-8FCB-A900B409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DD2C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C16E6E-5A59-4E33-A911-36C3B32A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100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DD2C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49125D-04C2-4FFD-AA65-6EF7630F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100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DD2C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225078-4916-432F-9FFE-D4197273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0530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70" b="1">
                <a:solidFill>
                  <a:srgbClr val="14273D"/>
                </a:solidFill>
              </a:defRPr>
            </a:pPr>
            <a:r>
              <a:rPr sz="870" b="1">
                <a:solidFill>
                  <a:srgbClr val="14273D"/>
                </a:solidFill>
              </a:rPr>
              <a:t>Données sensibles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3C59B3-64D7-4C1C-9379-1E2CF81A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2862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48" b="0">
                <a:solidFill>
                  <a:srgbClr val="6A7A8B"/>
                </a:solidFill>
              </a:defRPr>
            </a:pPr>
            <a:r>
              <a:rPr sz="848" b="0">
                <a:solidFill>
                  <a:srgbClr val="6A7A8B"/>
                </a:solidFill>
              </a:rPr>
              <a:t>Peu visibles dans l'offre publique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0A694E-E816-4E53-9263-800529FC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2862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48" b="1">
                <a:solidFill>
                  <a:srgbClr val="14273D"/>
                </a:solidFill>
              </a:defRPr>
            </a:pPr>
            <a:r>
              <a:rPr sz="848" b="1">
                <a:solidFill>
                  <a:srgbClr val="14273D"/>
                </a:solidFill>
              </a:rPr>
              <a:t>Au cœur du programme et du discours de vente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0D84CC-3531-42B3-86E7-4FF53BD7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3"/>
          </a:solidFill>
          <a:ln xmlns:a="http://schemas.openxmlformats.org/drawingml/2006/main" w="9525">
            <a:solidFill>
              <a:srgbClr val="DDD2C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B9BE7C-547C-466D-ACB9-A6CA4BF2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7053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3"/>
          </a:solidFill>
          <a:ln xmlns:a="http://schemas.openxmlformats.org/drawingml/2006/main" w="9525">
            <a:solidFill>
              <a:srgbClr val="DDD2C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BAB507-F529-480B-9DBB-B16794A4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053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3"/>
          </a:solidFill>
          <a:ln xmlns:a="http://schemas.openxmlformats.org/drawingml/2006/main" w="9525">
            <a:solidFill>
              <a:srgbClr val="DDD2C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7086B2-A05E-4D50-863F-27208544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0060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70" b="1">
                <a:solidFill>
                  <a:srgbClr val="14273D"/>
                </a:solidFill>
              </a:defRPr>
            </a:pPr>
            <a:r>
              <a:rPr sz="870" b="1">
                <a:solidFill>
                  <a:srgbClr val="14273D"/>
                </a:solidFill>
              </a:rPr>
              <a:t>Valeur perçue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1D8EC3E-E022-4F4B-88F5-E363A792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7815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48" b="0">
                <a:solidFill>
                  <a:srgbClr val="6A7A8B"/>
                </a:solidFill>
              </a:defRPr>
            </a:pPr>
            <a:r>
              <a:rPr sz="848" b="0">
                <a:solidFill>
                  <a:srgbClr val="6A7A8B"/>
                </a:solidFill>
              </a:rPr>
              <a:t>Intermédiaire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1BF7985-301F-4D48-AAED-F014E66B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7815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48" b="1">
                <a:solidFill>
                  <a:srgbClr val="14273D"/>
                </a:solidFill>
              </a:defRPr>
            </a:pPr>
            <a:r>
              <a:rPr sz="848" b="1">
                <a:solidFill>
                  <a:srgbClr val="14273D"/>
                </a:solidFill>
              </a:rPr>
              <a:t>Premium et immédiatement applicable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762E347-C022-4D94-ABA7-4899DAE7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2C6"/>
          </a:solidFill>
          <a:ln xmlns:a="http://schemas.openxmlformats.org/drawingml/2006/main" w="0">
            <a:solidFill>
              <a:srgbClr val="DDD2C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48DF191-E835-4A21-B123-043E0C56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933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6A7A8B"/>
                </a:solidFill>
              </a:defRPr>
            </a:pPr>
            <a:r>
              <a:rPr sz="638" b="0">
                <a:solidFill>
                  <a:srgbClr val="6A7A8B"/>
                </a:solidFill>
              </a:rPr>
              <a:t>TransferAI Africa | Deck de présentation marché | Formation IA pour secrétariat de direction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7E315CE-79EF-4E71-8621-EA36E673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4273D"/>
                </a:solidFill>
              </a:defRPr>
            </a:pPr>
            <a:r>
              <a:rPr sz="750" b="1">
                <a:solidFill>
                  <a:srgbClr val="14273D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852529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E55103-02D8-452F-9CFC-52924498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D86A24"/>
                </a:solidFill>
              </a:defRPr>
            </a:pPr>
            <a:r>
              <a:rPr sz="788" b="1">
                <a:solidFill>
                  <a:srgbClr val="D86A24"/>
                </a:solidFill>
              </a:rPr>
              <a:t>OFFRE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F6163-9CD4-4B7A-80D8-A27684EF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73D"/>
                </a:solidFill>
              </a:defRPr>
            </a:pPr>
            <a:r>
              <a:rPr sz="2250" b="1">
                <a:solidFill>
                  <a:srgbClr val="14273D"/>
                </a:solidFill>
              </a:rPr>
              <a:t>Les 4 thématiques que nous portons à la vente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133C7-E1AC-4E55-83F4-F4104AF4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1054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6DDCC"/>
          </a:solidFill>
          <a:ln xmlns:a="http://schemas.openxmlformats.org/drawingml/2006/main" w="9525">
            <a:solidFill>
              <a:srgbClr val="F6DD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F9822D-1EA6-4BF3-8C90-62E3926F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86A24"/>
                </a:solidFill>
              </a:defRPr>
            </a:pPr>
            <a:r>
              <a:rPr sz="1800" b="1">
                <a:solidFill>
                  <a:srgbClr val="D86A24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06A0B-A4E3-45A6-B38A-FDC4939F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09750"/>
            <a:ext cx="3943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273D"/>
                </a:solidFill>
              </a:defRPr>
            </a:pPr>
            <a:r>
              <a:rPr sz="1425" b="1">
                <a:solidFill>
                  <a:srgbClr val="14273D"/>
                </a:solidFill>
              </a:rPr>
              <a:t>Correspondance institutionnelle augmentée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1BBE9-76B2-4064-8EB6-14689F83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81250"/>
            <a:ext cx="3943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6A7A8B"/>
                </a:solidFill>
              </a:defRPr>
            </a:pPr>
            <a:r>
              <a:rPr sz="1013" b="0">
                <a:solidFill>
                  <a:srgbClr val="6A7A8B"/>
                </a:solidFill>
              </a:rPr>
              <a:t>Courriers, e-mails sensibles, notes, reformulation et traduction.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742C6-B257-4DE8-A824-16FCD385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51054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FF2EA"/>
          </a:solidFill>
          <a:ln xmlns:a="http://schemas.openxmlformats.org/drawingml/2006/main" w="9525">
            <a:solidFill>
              <a:srgbClr val="DF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315940-506E-4D7F-9255-984E3D5E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90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86A24"/>
                </a:solidFill>
              </a:defRPr>
            </a:pPr>
            <a:r>
              <a:rPr sz="1800" b="1">
                <a:solidFill>
                  <a:srgbClr val="D86A24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C6E3D6-222B-459F-9364-BE27B703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809750"/>
            <a:ext cx="3943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273D"/>
                </a:solidFill>
              </a:defRPr>
            </a:pPr>
            <a:r>
              <a:rPr sz="1425" b="1">
                <a:solidFill>
                  <a:srgbClr val="14273D"/>
                </a:solidFill>
              </a:rPr>
              <a:t>Réunions, PV, comptes rendus et agendas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42F68E-87F2-4B74-8F9B-FBEE0626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81250"/>
            <a:ext cx="3943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6A7A8B"/>
                </a:solidFill>
              </a:defRPr>
            </a:pPr>
            <a:r>
              <a:rPr sz="1013" b="0">
                <a:solidFill>
                  <a:srgbClr val="6A7A8B"/>
                </a:solidFill>
              </a:rPr>
              <a:t>Réunions, procès-verbaux, plans d'action, ordres du jour, notes de briefing.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A0A53-88AD-462B-ADBF-5BD1AD63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51054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EEAF6"/>
          </a:solidFill>
          <a:ln xmlns:a="http://schemas.openxmlformats.org/drawingml/2006/main" w="9525">
            <a:solidFill>
              <a:srgbClr val="DEEA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FDE383-970D-4E08-B1FB-221F4DA7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86A24"/>
                </a:solidFill>
              </a:defRPr>
            </a:pPr>
            <a:r>
              <a:rPr sz="1800" b="1">
                <a:solidFill>
                  <a:srgbClr val="D86A24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9EA41C-B6BC-4045-9214-94CB99C9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95700"/>
            <a:ext cx="3943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273D"/>
                </a:solidFill>
              </a:defRPr>
            </a:pPr>
            <a:r>
              <a:rPr sz="1425" b="1">
                <a:solidFill>
                  <a:srgbClr val="14273D"/>
                </a:solidFill>
              </a:rPr>
              <a:t>Gestion documentaire, veille et synthèse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6A546B-DD0C-4A69-8469-A0F2A36B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67200"/>
            <a:ext cx="3943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6A7A8B"/>
                </a:solidFill>
              </a:defRPr>
            </a:pPr>
            <a:r>
              <a:rPr sz="1013" b="0">
                <a:solidFill>
                  <a:srgbClr val="6A7A8B"/>
                </a:solidFill>
              </a:rPr>
              <a:t>Classement, recherche, synthèse de dossiers, veille et préparation de supports.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F938C6-FBB3-4F5D-B61F-DADACE9C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5200"/>
            <a:ext cx="51054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E3F5"/>
          </a:solidFill>
          <a:ln xmlns:a="http://schemas.openxmlformats.org/drawingml/2006/main" w="9525">
            <a:solidFill>
              <a:srgbClr val="EAE3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CA36D9-6EBB-4F42-9296-07FFDA6D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86A24"/>
                </a:solidFill>
              </a:defRPr>
            </a:pPr>
            <a:r>
              <a:rPr sz="1800" b="1">
                <a:solidFill>
                  <a:srgbClr val="D86A24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C49DE9-E324-450D-91AC-27F8153F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95700"/>
            <a:ext cx="3943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273D"/>
                </a:solidFill>
              </a:defRPr>
            </a:pPr>
            <a:r>
              <a:rPr sz="1425" b="1">
                <a:solidFill>
                  <a:srgbClr val="14273D"/>
                </a:solidFill>
              </a:rPr>
              <a:t>IA responsable et données sensibles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0CF171-3259-470B-A953-F308310D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67200"/>
            <a:ext cx="3943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6A7A8B"/>
                </a:solidFill>
              </a:defRPr>
            </a:pPr>
            <a:r>
              <a:rPr sz="1013" b="0">
                <a:solidFill>
                  <a:srgbClr val="6A7A8B"/>
                </a:solidFill>
              </a:rPr>
              <a:t>Prompts, anonymisation, validation humaine, charte interne et sécurité des données.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607323-6530-473F-A765-2E4282B0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17324E"/>
          </a:solidFill>
          <a:ln xmlns:a="http://schemas.openxmlformats.org/drawingml/2006/main" w="9525">
            <a:solidFill>
              <a:srgbClr val="1732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B63517-C4DE-4E90-B204-B1860683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340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Ces 4 blocs sont simples à comprendre, faciles à vendre et directement reliés aux tâches quotidiennes des participants.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5D863C-AC6D-44D1-B868-C400930B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2C6"/>
          </a:solidFill>
          <a:ln xmlns:a="http://schemas.openxmlformats.org/drawingml/2006/main" w="0">
            <a:solidFill>
              <a:srgbClr val="DDD2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0311B1-6892-4102-99A8-0CBAE6BB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933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6A7A8B"/>
                </a:solidFill>
              </a:defRPr>
            </a:pPr>
            <a:r>
              <a:rPr sz="638" b="0">
                <a:solidFill>
                  <a:srgbClr val="6A7A8B"/>
                </a:solidFill>
              </a:rPr>
              <a:t>TransferAI Africa | Deck de présentation marché | Formation IA pour secrétariat de direction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076B65-469A-4B37-8619-E71EE4B2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4273D"/>
                </a:solidFill>
              </a:defRPr>
            </a:pPr>
            <a:r>
              <a:rPr sz="750" b="1">
                <a:solidFill>
                  <a:srgbClr val="14273D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292221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3CBF19-8299-4529-B424-80685C3B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D86A24"/>
                </a:solidFill>
              </a:defRPr>
            </a:pPr>
            <a:r>
              <a:rPr sz="788" b="1">
                <a:solidFill>
                  <a:srgbClr val="D86A24"/>
                </a:solidFill>
              </a:rPr>
              <a:t>CAS CONCRETS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432F3-C3B6-4B50-93E3-321D9A89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73D"/>
                </a:solidFill>
              </a:defRPr>
            </a:pPr>
            <a:r>
              <a:rPr sz="2250" b="1">
                <a:solidFill>
                  <a:srgbClr val="14273D"/>
                </a:solidFill>
              </a:rPr>
              <a:t>Ce que le prospect va immédiatement visualiser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4e3a4ef25469c"/>
          <a:srcRect xmlns:a="http://schemas.openxmlformats.org/drawingml/2006/main" l="17298" t="0" r="172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7550" y="1428750"/>
            <a:ext cx="4438650" cy="1809750"/>
          </a:xfrm>
          <a:prstGeom xmlns:a="http://schemas.openxmlformats.org/drawingml/2006/main" prst="roundRect">
            <a:avLst>
              <a:gd name="adj" fmla="val 8421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516CE-AD68-4AF4-A2FF-B675F963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9055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DD2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C13B9-FFF6-4AC7-8DB3-FDC3E9FC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28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88" b="1">
                <a:solidFill>
                  <a:srgbClr val="14273D"/>
                </a:solidFill>
              </a:defRPr>
            </a:pPr>
            <a:r>
              <a:rPr sz="1388" b="1">
                <a:solidFill>
                  <a:srgbClr val="14273D"/>
                </a:solidFill>
              </a:rPr>
              <a:t>4 cas d'usage qui parlent tout de suite au client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AB155-A2F8-405A-AE60-B9B8B77B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53340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4273D"/>
                </a:solidFill>
              </a:defRPr>
            </a:pPr>
            <a:r>
              <a:rPr sz="1200" b="0">
                <a:solidFill>
                  <a:srgbClr val="14273D"/>
                </a:solidFill>
              </a:rPr>
              <a:t>• Rédiger un courrier officiel délicat avec le bon ton institutionnel</a:t>
            </a:r>
          </a:p>
          <a:p xmlns:a="http://schemas.openxmlformats.org/drawingml/2006/main">
            <a:pPr>
              <a:defRPr sz="1200" b="0">
                <a:solidFill>
                  <a:srgbClr val="14273D"/>
                </a:solidFill>
              </a:defRPr>
            </a:pPr>
            <a:r>
              <a:rPr sz="1200" b="0">
                <a:solidFill>
                  <a:srgbClr val="14273D"/>
                </a:solidFill>
              </a:rPr>
              <a:t>• Transformer des notes brutes en procès-verbal exploitable</a:t>
            </a:r>
          </a:p>
          <a:p xmlns:a="http://schemas.openxmlformats.org/drawingml/2006/main">
            <a:pPr>
              <a:defRPr sz="1200" b="0">
                <a:solidFill>
                  <a:srgbClr val="14273D"/>
                </a:solidFill>
              </a:defRPr>
            </a:pPr>
            <a:r>
              <a:rPr sz="1200" b="0">
                <a:solidFill>
                  <a:srgbClr val="14273D"/>
                </a:solidFill>
              </a:rPr>
              <a:t>• Préparer l'agenda et le briefing d'une audience sensible</a:t>
            </a:r>
          </a:p>
          <a:p xmlns:a="http://schemas.openxmlformats.org/drawingml/2006/main">
            <a:pPr>
              <a:defRPr sz="1200" b="0">
                <a:solidFill>
                  <a:srgbClr val="14273D"/>
                </a:solidFill>
              </a:defRPr>
            </a:pPr>
            <a:r>
              <a:rPr sz="1200" b="0">
                <a:solidFill>
                  <a:srgbClr val="14273D"/>
                </a:solidFill>
              </a:rPr>
              <a:t>• Synthétiser un dossier volumineux en note d'aide à la décision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A5BF0E-1FA3-4DF2-AFA3-E59DE8D1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43300"/>
            <a:ext cx="4438650" cy="2114550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DFF2EA"/>
          </a:solidFill>
          <a:ln xmlns:a="http://schemas.openxmlformats.org/drawingml/2006/main" w="9525">
            <a:solidFill>
              <a:srgbClr val="DF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055586-DDA3-4211-A608-D71C9D78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909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38C6A"/>
                </a:solidFill>
              </a:defRPr>
            </a:pPr>
            <a:r>
              <a:rPr sz="788" b="1">
                <a:solidFill>
                  <a:srgbClr val="238C6A"/>
                </a:solidFill>
              </a:rPr>
              <a:t>Pourquoi cela vend bien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5BC389-7966-4CC4-A2C8-E93C7D46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95750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20" b="0">
                <a:solidFill>
                  <a:srgbClr val="14273D"/>
                </a:solidFill>
              </a:defRPr>
            </a:pPr>
            <a:r>
              <a:rPr sz="1020" b="0">
                <a:solidFill>
                  <a:srgbClr val="14273D"/>
                </a:solidFill>
              </a:rPr>
              <a:t>• Le client reconnaît immédiatement ses tâches réelles.</a:t>
            </a:r>
          </a:p>
          <a:p xmlns:a="http://schemas.openxmlformats.org/drawingml/2006/main">
            <a:pPr>
              <a:defRPr sz="1020" b="0">
                <a:solidFill>
                  <a:srgbClr val="14273D"/>
                </a:solidFill>
              </a:defRPr>
            </a:pPr>
            <a:r>
              <a:rPr sz="1020" b="0">
                <a:solidFill>
                  <a:srgbClr val="14273D"/>
                </a:solidFill>
              </a:rPr>
              <a:t>• La valeur est visible sans explication technique.</a:t>
            </a:r>
          </a:p>
          <a:p xmlns:a="http://schemas.openxmlformats.org/drawingml/2006/main">
            <a:pPr>
              <a:defRPr sz="1020" b="0">
                <a:solidFill>
                  <a:srgbClr val="14273D"/>
                </a:solidFill>
              </a:defRPr>
            </a:pPr>
            <a:r>
              <a:rPr sz="1020" b="0">
                <a:solidFill>
                  <a:srgbClr val="14273D"/>
                </a:solidFill>
              </a:rPr>
              <a:t>• Le lien avec la confidentialité est naturel et crédible.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6861EE-B64E-49BE-B469-8E4C0305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2C6"/>
          </a:solidFill>
          <a:ln xmlns:a="http://schemas.openxmlformats.org/drawingml/2006/main" w="0">
            <a:solidFill>
              <a:srgbClr val="DDD2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63CFE9-28B2-4741-8E82-4170743B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933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6A7A8B"/>
                </a:solidFill>
              </a:defRPr>
            </a:pPr>
            <a:r>
              <a:rPr sz="638" b="0">
                <a:solidFill>
                  <a:srgbClr val="6A7A8B"/>
                </a:solidFill>
              </a:rPr>
              <a:t>TransferAI Africa | Deck de présentation marché | Formation IA pour secrétariat de direction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7837B1-849B-45DB-8B7F-8A347AC8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4273D"/>
                </a:solidFill>
              </a:defRPr>
            </a:pPr>
            <a:r>
              <a:rPr sz="750" b="1">
                <a:solidFill>
                  <a:srgbClr val="14273D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395095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AB664F-B494-4A33-A81F-89D1DE36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D86A24"/>
                </a:solidFill>
              </a:defRPr>
            </a:pPr>
            <a:r>
              <a:rPr sz="788" b="1">
                <a:solidFill>
                  <a:srgbClr val="D86A24"/>
                </a:solidFill>
              </a:rPr>
              <a:t>DIFFÉRENCIATION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D38E4-1145-49C8-BF95-61682770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73D"/>
                </a:solidFill>
              </a:defRPr>
            </a:pPr>
            <a:r>
              <a:rPr sz="2250" b="1">
                <a:solidFill>
                  <a:srgbClr val="14273D"/>
                </a:solidFill>
              </a:rPr>
              <a:t>Pourquoi votre offre peut être perçue comme premium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97CB6-2BEA-420A-A334-1488D723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DD2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C73FBE-4EE2-4866-AB6B-A7E08A6C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E"/>
          </a:solidFill>
          <a:ln xmlns:a="http://schemas.openxmlformats.org/drawingml/2006/main" w="0">
            <a:solidFill>
              <a:srgbClr val="17324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ABA8A-F248-45F2-B6DF-618F7A38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361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392D7-72D0-4179-B53D-4F91CA08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85950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273D"/>
                </a:solidFill>
              </a:defRPr>
            </a:pPr>
            <a:r>
              <a:rPr sz="1200" b="1">
                <a:solidFill>
                  <a:srgbClr val="14273D"/>
                </a:solidFill>
              </a:rPr>
              <a:t>Vous reliez enfin métier administratif + IA + confidentialité.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00B98-29DD-40C1-8B20-883D9DCB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E"/>
          </a:solidFill>
          <a:ln xmlns:a="http://schemas.openxmlformats.org/drawingml/2006/main" w="0">
            <a:solidFill>
              <a:srgbClr val="17324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0BC04-0BC1-4604-97A0-380067D6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361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15799B-76C3-43CA-86C8-CB804894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43200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273D"/>
                </a:solidFill>
              </a:defRPr>
            </a:pPr>
            <a:r>
              <a:rPr sz="1200" b="1">
                <a:solidFill>
                  <a:srgbClr val="14273D"/>
                </a:solidFill>
              </a:rPr>
              <a:t>Vous vendez des livrables quotidiens, pas des concepts abstraits.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86C1C7-F0BB-4AB6-9FB3-4A59615E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57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E"/>
          </a:solidFill>
          <a:ln xmlns:a="http://schemas.openxmlformats.org/drawingml/2006/main" w="0">
            <a:solidFill>
              <a:srgbClr val="17324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0A87F2-B691-4BB7-B77C-1A59FE70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361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F231D0-1012-4E14-B716-6B556089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00450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273D"/>
                </a:solidFill>
              </a:defRPr>
            </a:pPr>
            <a:r>
              <a:rPr sz="1200" b="1">
                <a:solidFill>
                  <a:srgbClr val="14273D"/>
                </a:solidFill>
              </a:rPr>
              <a:t>Vous pouvez parler aux ministères, directions générales, cabinets et institutions sans changer l'offre.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693073-C75B-4F8C-AAF0-CCEAB5D8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E"/>
          </a:solidFill>
          <a:ln xmlns:a="http://schemas.openxmlformats.org/drawingml/2006/main" w="0">
            <a:solidFill>
              <a:srgbClr val="17324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1FFD24-4143-481E-8E3A-0BEDCD3F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10100"/>
            <a:ext cx="361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95C779-A6A1-4DE1-9D94-68ED1CE9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57700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273D"/>
                </a:solidFill>
              </a:defRPr>
            </a:pPr>
            <a:r>
              <a:rPr sz="1200" b="1">
                <a:solidFill>
                  <a:srgbClr val="14273D"/>
                </a:solidFill>
              </a:rPr>
              <a:t>Votre discours est crédible parce qu'il inclut règles d'usage, prompts, cas pratiques et validation humaine.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6FB395-D2B9-4494-9602-E4D8A2BF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3429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6DDCC"/>
          </a:solidFill>
          <a:ln xmlns:a="http://schemas.openxmlformats.org/drawingml/2006/main" w="9525">
            <a:solidFill>
              <a:srgbClr val="F6DD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8BDFF3-E910-41FE-B3C3-D9FD6AFD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34075"/>
            <a:ext cx="1036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70" b="1">
                <a:solidFill>
                  <a:srgbClr val="D86A24"/>
                </a:solidFill>
              </a:defRPr>
            </a:pPr>
            <a:r>
              <a:rPr sz="870" b="1">
                <a:solidFill>
                  <a:srgbClr val="D86A24"/>
                </a:solidFill>
              </a:rPr>
              <a:t>Formule courte recommandée : “IA professionnelle pour fonctions de direction en environnement sensible”.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A43D3D-ECE4-4AB8-AE0E-1931D88D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2C6"/>
          </a:solidFill>
          <a:ln xmlns:a="http://schemas.openxmlformats.org/drawingml/2006/main" w="0">
            <a:solidFill>
              <a:srgbClr val="DDD2C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5F6A48-90B4-4100-844E-2B91461D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933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6A7A8B"/>
                </a:solidFill>
              </a:defRPr>
            </a:pPr>
            <a:r>
              <a:rPr sz="638" b="0">
                <a:solidFill>
                  <a:srgbClr val="6A7A8B"/>
                </a:solidFill>
              </a:rPr>
              <a:t>TransferAI Africa | Deck de présentation marché | Formation IA pour secrétariat de direction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732C7-BD1A-459B-8DC8-8FA49458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4273D"/>
                </a:solidFill>
              </a:defRPr>
            </a:pPr>
            <a:r>
              <a:rPr sz="750" b="1">
                <a:solidFill>
                  <a:srgbClr val="14273D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348918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B9B61C-C922-4E2C-AC82-1D8CC1E7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D86A24"/>
                </a:solidFill>
              </a:defRPr>
            </a:pPr>
            <a:r>
              <a:rPr sz="788" b="1">
                <a:solidFill>
                  <a:srgbClr val="D86A24"/>
                </a:solidFill>
              </a:rPr>
              <a:t>MONÉTISATION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5ED31-5A06-4B2A-B0A6-FA919EB1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73D"/>
                </a:solidFill>
              </a:defRPr>
            </a:pPr>
            <a:r>
              <a:rPr sz="2250" b="1">
                <a:solidFill>
                  <a:srgbClr val="14273D"/>
                </a:solidFill>
              </a:rPr>
              <a:t>Formats d'offre et niveau de prix recommandé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75B41-0D1F-4553-A87C-BBA1FE21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3352800" cy="20574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6DDCC"/>
          </a:solidFill>
          <a:ln xmlns:a="http://schemas.openxmlformats.org/drawingml/2006/main" w="9525">
            <a:solidFill>
              <a:srgbClr val="F6DD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05F90-5E45-43B4-842B-32133634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A24"/>
          </a:solidFill>
          <a:ln xmlns:a="http://schemas.openxmlformats.org/drawingml/2006/main" w="0">
            <a:solidFill>
              <a:srgbClr val="D86A2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2943C-0E15-4EF0-9F9F-62101466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097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73D"/>
                </a:solidFill>
              </a:defRPr>
            </a:pPr>
            <a:r>
              <a:rPr sz="1350" b="1">
                <a:solidFill>
                  <a:srgbClr val="14273D"/>
                </a:solidFill>
              </a:rPr>
              <a:t>Standard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12D321-3BD5-4D01-9848-304EB24C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907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4273D"/>
                </a:solidFill>
              </a:defRPr>
            </a:pPr>
            <a:r>
              <a:rPr sz="1163" b="1">
                <a:solidFill>
                  <a:srgbClr val="14273D"/>
                </a:solidFill>
              </a:rPr>
              <a:t>175 000 à 275 000 FCFA / participant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A6FFF-37BA-4687-8313-3A249E50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2876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0">
                <a:solidFill>
                  <a:srgbClr val="6A7A8B"/>
                </a:solidFill>
              </a:defRPr>
            </a:pPr>
            <a:r>
              <a:rPr sz="960" b="0">
                <a:solidFill>
                  <a:srgbClr val="6A7A8B"/>
                </a:solidFill>
              </a:rPr>
              <a:t>Inter-entreprises ou petit groupe. Découverte + cas d'usage + prompts.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88439-83AD-4C08-AD8B-ACD8969B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38300"/>
            <a:ext cx="3352800" cy="20574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FF2EA"/>
          </a:solidFill>
          <a:ln xmlns:a="http://schemas.openxmlformats.org/drawingml/2006/main" w="9525">
            <a:solidFill>
              <a:srgbClr val="DF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304611-7877-4B89-9118-3D324B51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09750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C6A"/>
          </a:solidFill>
          <a:ln xmlns:a="http://schemas.openxmlformats.org/drawingml/2006/main" w="0">
            <a:solidFill>
              <a:srgbClr val="238C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58FEB0-3337-4056-8DD7-439FCEF1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097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73D"/>
                </a:solidFill>
              </a:defRPr>
            </a:pPr>
            <a:r>
              <a:rPr sz="1350" b="1">
                <a:solidFill>
                  <a:srgbClr val="14273D"/>
                </a:solidFill>
              </a:rPr>
              <a:t>Intra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A48901-1063-44BF-848E-5B14FBBD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907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4273D"/>
                </a:solidFill>
              </a:defRPr>
            </a:pPr>
            <a:r>
              <a:rPr sz="1163" b="1">
                <a:solidFill>
                  <a:srgbClr val="14273D"/>
                </a:solidFill>
              </a:rPr>
              <a:t>3,5 à 5,5 M FCFA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8AAE78-039C-4B9C-B6E8-B4860D12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71750"/>
            <a:ext cx="2876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0">
                <a:solidFill>
                  <a:srgbClr val="6A7A8B"/>
                </a:solidFill>
              </a:defRPr>
            </a:pPr>
            <a:r>
              <a:rPr sz="960" b="0">
                <a:solidFill>
                  <a:srgbClr val="6A7A8B"/>
                </a:solidFill>
              </a:rPr>
              <a:t>12 à 20 participants. Cas adaptés à l'organisation. Programme 2 jours.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274C6D-2DFA-4837-ABB0-031AAD2D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38300"/>
            <a:ext cx="3352800" cy="20574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EEAF6"/>
          </a:solidFill>
          <a:ln xmlns:a="http://schemas.openxmlformats.org/drawingml/2006/main" w="9525">
            <a:solidFill>
              <a:srgbClr val="DEEA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65BD34-A7EA-4B47-AA58-CF566927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8F"/>
          </a:solidFill>
          <a:ln xmlns:a="http://schemas.openxmlformats.org/drawingml/2006/main" w="0">
            <a:solidFill>
              <a:srgbClr val="2F5E8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0CCB84-C73E-4DD9-A4D9-C65326FC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73D"/>
                </a:solidFill>
              </a:defRPr>
            </a:pPr>
            <a:r>
              <a:rPr sz="1350" b="1">
                <a:solidFill>
                  <a:srgbClr val="14273D"/>
                </a:solidFill>
              </a:rPr>
              <a:t>Premium sensible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937F6D-3F81-4C6B-84EC-279FD862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4273D"/>
                </a:solidFill>
              </a:defRPr>
            </a:pPr>
            <a:r>
              <a:rPr sz="1163" b="1">
                <a:solidFill>
                  <a:srgbClr val="14273D"/>
                </a:solidFill>
              </a:rPr>
              <a:t>6 à 8,5 M FCFA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156859-8C92-4F6B-BE66-9D80F2DF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876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0">
                <a:solidFill>
                  <a:srgbClr val="6A7A8B"/>
                </a:solidFill>
              </a:defRPr>
            </a:pPr>
            <a:r>
              <a:rPr sz="960" b="0">
                <a:solidFill>
                  <a:srgbClr val="6A7A8B"/>
                </a:solidFill>
              </a:rPr>
              <a:t>Cabinets, diplomatie, direction générale, administration sensible.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3D46A8-C135-4FA5-85A0-3A544955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51435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DD2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7EC167-27E0-4D96-A356-7E8BB799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88" b="1">
                <a:solidFill>
                  <a:srgbClr val="14273D"/>
                </a:solidFill>
              </a:defRPr>
            </a:pPr>
            <a:r>
              <a:rPr sz="1388" b="1">
                <a:solidFill>
                  <a:srgbClr val="14273D"/>
                </a:solidFill>
              </a:rPr>
              <a:t>Conseil de vente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8C69FF-FC60-4C27-A912-CC1038CC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535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20" b="0">
                <a:solidFill>
                  <a:srgbClr val="14273D"/>
                </a:solidFill>
              </a:defRPr>
            </a:pPr>
            <a:r>
              <a:rPr sz="1020" b="0">
                <a:solidFill>
                  <a:srgbClr val="14273D"/>
                </a:solidFill>
              </a:rPr>
              <a:t>• Ne pas vendre “une formation ChatGPT”.</a:t>
            </a:r>
          </a:p>
          <a:p xmlns:a="http://schemas.openxmlformats.org/drawingml/2006/main">
            <a:pPr>
              <a:defRPr sz="1020" b="0">
                <a:solidFill>
                  <a:srgbClr val="14273D"/>
                </a:solidFill>
              </a:defRPr>
            </a:pPr>
            <a:r>
              <a:rPr sz="1020" b="0">
                <a:solidFill>
                  <a:srgbClr val="14273D"/>
                </a:solidFill>
              </a:rPr>
              <a:t>• Vendre une montée en compétences IA adaptée aux environnements sensibles.</a:t>
            </a:r>
          </a:p>
          <a:p xmlns:a="http://schemas.openxmlformats.org/drawingml/2006/main">
            <a:pPr>
              <a:defRPr sz="1020" b="0">
                <a:solidFill>
                  <a:srgbClr val="14273D"/>
                </a:solidFill>
              </a:defRPr>
            </a:pPr>
            <a:r>
              <a:rPr sz="1020" b="0">
                <a:solidFill>
                  <a:srgbClr val="14273D"/>
                </a:solidFill>
              </a:rPr>
              <a:t>• Insister sur gains de temps, qualité rédactionnelle, prompts et protection des données.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62B67C-7B04-4DC2-9B96-874CD39D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95750"/>
            <a:ext cx="53340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17324E"/>
          </a:solidFill>
          <a:ln xmlns:a="http://schemas.openxmlformats.org/drawingml/2006/main" w="9525">
            <a:solidFill>
              <a:srgbClr val="1732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A5C6A0-07EE-45E8-BB70-12A8077C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6DDCC"/>
                </a:solidFill>
              </a:defRPr>
            </a:pPr>
            <a:r>
              <a:rPr sz="788" b="1">
                <a:solidFill>
                  <a:srgbClr val="F6DDCC"/>
                </a:solidFill>
              </a:rPr>
              <a:t>Positionnement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182BA1-B7FB-40D4-954C-CBAC580D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48200"/>
            <a:ext cx="4686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Productivité administrative sécurisée et maîtrise professionnelle de l'IA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320873-EC61-4608-8332-8C2FD741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2C6"/>
          </a:solidFill>
          <a:ln xmlns:a="http://schemas.openxmlformats.org/drawingml/2006/main" w="0">
            <a:solidFill>
              <a:srgbClr val="DDD2C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EE0B5A-A3A7-4C90-A73F-F2F99836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933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6A7A8B"/>
                </a:solidFill>
              </a:defRPr>
            </a:pPr>
            <a:r>
              <a:rPr sz="638" b="0">
                <a:solidFill>
                  <a:srgbClr val="6A7A8B"/>
                </a:solidFill>
              </a:rPr>
              <a:t>TransferAI Africa | Deck de présentation marché | Formation IA pour secrétariat de direction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C18FEF-1D26-4008-B1FB-CAEA9094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4273D"/>
                </a:solidFill>
              </a:defRPr>
            </a:pPr>
            <a:r>
              <a:rPr sz="750" b="1">
                <a:solidFill>
                  <a:srgbClr val="14273D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138164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E1244A-4A95-4DA9-B0DB-5FBB9685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D86A24"/>
                </a:solidFill>
              </a:defRPr>
            </a:pPr>
            <a:r>
              <a:rPr sz="788" b="1">
                <a:solidFill>
                  <a:srgbClr val="D86A24"/>
                </a:solidFill>
              </a:rPr>
              <a:t>CONVERSION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336E55-5A85-4122-84EE-A143312C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73D"/>
                </a:solidFill>
              </a:defRPr>
            </a:pPr>
            <a:r>
              <a:rPr sz="2250" b="1">
                <a:solidFill>
                  <a:srgbClr val="14273D"/>
                </a:solidFill>
              </a:rPr>
              <a:t>Le webinaire gratuit qui prépare la vente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19CF2D-4ED8-448A-9266-34A4BEFB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81025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DD2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48960C-AE79-4215-A475-6C096DEC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88" b="1">
                <a:solidFill>
                  <a:srgbClr val="14273D"/>
                </a:solidFill>
              </a:defRPr>
            </a:pPr>
            <a:r>
              <a:rPr sz="1388" b="1">
                <a:solidFill>
                  <a:srgbClr val="14273D"/>
                </a:solidFill>
              </a:rPr>
              <a:t>Format et objectif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F10BC8-8AA4-457B-A871-85B190E7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52387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4273D"/>
                </a:solidFill>
              </a:defRPr>
            </a:pPr>
            <a:r>
              <a:rPr sz="1125" b="0">
                <a:solidFill>
                  <a:srgbClr val="14273D"/>
                </a:solidFill>
              </a:rPr>
              <a:t>• Webinaire gratuit de 45 à 60 minutes</a:t>
            </a:r>
          </a:p>
          <a:p xmlns:a="http://schemas.openxmlformats.org/drawingml/2006/main">
            <a:pPr>
              <a:defRPr sz="1125" b="0">
                <a:solidFill>
                  <a:srgbClr val="14273D"/>
                </a:solidFill>
              </a:defRPr>
            </a:pPr>
            <a:r>
              <a:rPr sz="1125" b="0">
                <a:solidFill>
                  <a:srgbClr val="14273D"/>
                </a:solidFill>
              </a:rPr>
              <a:t>• Objectif : rassurer, sensibiliser, faire sentir le risque, convertir</a:t>
            </a:r>
          </a:p>
          <a:p xmlns:a="http://schemas.openxmlformats.org/drawingml/2006/main">
            <a:pPr>
              <a:defRPr sz="1125" b="0">
                <a:solidFill>
                  <a:srgbClr val="14273D"/>
                </a:solidFill>
              </a:defRPr>
            </a:pPr>
            <a:r>
              <a:rPr sz="1125" b="0">
                <a:solidFill>
                  <a:srgbClr val="14273D"/>
                </a:solidFill>
              </a:rPr>
              <a:t>• Contenu : usages, limites, données sensibles, 2 démonstrations métier</a:t>
            </a:r>
          </a:p>
          <a:p xmlns:a="http://schemas.openxmlformats.org/drawingml/2006/main">
            <a:pPr>
              <a:defRPr sz="1125" b="0">
                <a:solidFill>
                  <a:srgbClr val="14273D"/>
                </a:solidFill>
              </a:defRPr>
            </a:pPr>
            <a:r>
              <a:rPr sz="1125" b="0">
                <a:solidFill>
                  <a:srgbClr val="14273D"/>
                </a:solidFill>
              </a:rPr>
              <a:t>• Sortie : appel découverte ou inscription à la session de 2 jours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3AA95-98E3-4554-9BF6-0172EF0D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29150"/>
            <a:ext cx="53149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FF2EA"/>
          </a:solidFill>
          <a:ln xmlns:a="http://schemas.openxmlformats.org/drawingml/2006/main" w="9525">
            <a:solidFill>
              <a:srgbClr val="DFF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9E4139-0B1C-4084-8EC9-1609DA32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7680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15" b="1">
                <a:solidFill>
                  <a:srgbClr val="238C6A"/>
                </a:solidFill>
              </a:defRPr>
            </a:pPr>
            <a:r>
              <a:rPr sz="915" b="1">
                <a:solidFill>
                  <a:srgbClr val="238C6A"/>
                </a:solidFill>
              </a:rPr>
              <a:t>Rôle du webinaire : rassurer, montrer le risque, démontrer l'utilité, puis ouvrir la porte à la formation payante.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B7247D-58DC-4CA1-A89A-24AC297C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562100"/>
            <a:ext cx="462915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DD2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F0A04-15EB-4499-A593-84C4A364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09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D86A24"/>
                </a:solidFill>
              </a:defRPr>
            </a:pPr>
            <a:r>
              <a:rPr sz="788" b="1">
                <a:solidFill>
                  <a:srgbClr val="D86A24"/>
                </a:solidFill>
              </a:rPr>
              <a:t>Conclusion commerciale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F45939-8351-4D36-BC83-CE435BF2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52650"/>
            <a:ext cx="4000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73D"/>
                </a:solidFill>
              </a:defRPr>
            </a:pPr>
            <a:r>
              <a:rPr sz="1800" b="1">
                <a:solidFill>
                  <a:srgbClr val="14273D"/>
                </a:solidFill>
              </a:rPr>
              <a:t>Vous êtes mieux placés si vous parlez moins d'outil et plus de tâches, de confidentialité et de résultats métier.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54599A-C218-4622-88F8-F6AC5321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242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A7A8B"/>
                </a:solidFill>
              </a:defRPr>
            </a:pPr>
            <a:r>
              <a:rPr sz="863" b="0">
                <a:solidFill>
                  <a:srgbClr val="6A7A8B"/>
                </a:solidFill>
              </a:rPr>
              <a:t>Sources visibles au 28 juin 2026 : CAMPC, UVCI Certifications, ARTCI.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D813D4-F666-4F5B-BF09-8289E673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29100"/>
            <a:ext cx="371475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17324E"/>
          </a:solidFill>
          <a:ln xmlns:a="http://schemas.openxmlformats.org/drawingml/2006/main" w="9525">
            <a:solidFill>
              <a:srgbClr val="17324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80FFB9-8951-4200-9A20-0283CDE1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196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6DDCC"/>
                </a:solidFill>
              </a:defRPr>
            </a:pPr>
            <a:r>
              <a:rPr sz="788" b="1">
                <a:solidFill>
                  <a:srgbClr val="F6DDCC"/>
                </a:solidFill>
              </a:rPr>
              <a:t>Prochaine étape recommandée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E0A4B8-8227-4BDC-948A-C4CAAF38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6863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1. Webinaire gratuit</a:t>
            </a:r>
          </a:p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2. Session pilote intra</a:t>
            </a:r>
          </a:p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3. Déploiement premium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9E2F91-00C4-41C5-97A8-FD724EB2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2C6"/>
          </a:solidFill>
          <a:ln xmlns:a="http://schemas.openxmlformats.org/drawingml/2006/main" w="0">
            <a:solidFill>
              <a:srgbClr val="DDD2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33A6BB-6A6D-4460-9430-6651068E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933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>
                <a:solidFill>
                  <a:srgbClr val="6A7A8B"/>
                </a:solidFill>
              </a:defRPr>
            </a:pPr>
            <a:r>
              <a:rPr sz="638" b="0">
                <a:solidFill>
                  <a:srgbClr val="6A7A8B"/>
                </a:solidFill>
              </a:rPr>
              <a:t>TransferAI Africa | Deck de présentation marché | Formation IA pour secrétariat de direction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48EAD3-EC78-4D66-840E-1B944A11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4273D"/>
                </a:solidFill>
              </a:defRPr>
            </a:pPr>
            <a:r>
              <a:rPr sz="750" b="1">
                <a:solidFill>
                  <a:srgbClr val="14273D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258582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2026-06-28T18:06:53.3030000Z</dcterms:created>
  <dcterms:modified xsi:type="dcterms:W3CDTF">2026-06-28T18:06:53.3030000Z</dcterms:modified>
</coreProperties>
</file>