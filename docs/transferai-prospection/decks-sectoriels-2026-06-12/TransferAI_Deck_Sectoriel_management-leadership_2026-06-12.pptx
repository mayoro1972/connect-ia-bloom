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7e198aee8314508" /><Relationship Type="http://schemas.openxmlformats.org/officeDocument/2006/relationships/extended-properties" Target="/docProps/app.xml" Id="R9cc1c42940674210" /><Relationship Type="http://schemas.openxmlformats.org/officeDocument/2006/relationships/officeDocument" Target="/ppt/presentation.xml" Id="Rbb01f9990af44b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2da633d44448c5"/>
  </p:sldMasterIdLst>
  <p:notesMasterIdLst>
    <p:notesMasterId xmlns:r="http://schemas.openxmlformats.org/officeDocument/2006/relationships" r:id="Rdeed6232857f4bd9"/>
  </p:notesMasterIdLst>
  <p:sldIdLst>
    <p:sldId xmlns:r="http://schemas.openxmlformats.org/officeDocument/2006/relationships" id="256" r:id="Rc85a36eb8d8046da"/>
    <p:sldId xmlns:r="http://schemas.openxmlformats.org/officeDocument/2006/relationships" id="257" r:id="Rabb3e225f1414052"/>
    <p:sldId xmlns:r="http://schemas.openxmlformats.org/officeDocument/2006/relationships" id="258" r:id="R7b49c960a1414f9b"/>
    <p:sldId xmlns:r="http://schemas.openxmlformats.org/officeDocument/2006/relationships" id="259" r:id="Rdb5b37e1fa3e42ab"/>
    <p:sldId xmlns:r="http://schemas.openxmlformats.org/officeDocument/2006/relationships" id="260" r:id="R3a21bc4995c04fb1"/>
    <p:sldId xmlns:r="http://schemas.openxmlformats.org/officeDocument/2006/relationships" id="261" r:id="R07572fe72b8b42af"/>
    <p:sldId xmlns:r="http://schemas.openxmlformats.org/officeDocument/2006/relationships" id="262" r:id="R22473b62262a460b"/>
    <p:sldId xmlns:r="http://schemas.openxmlformats.org/officeDocument/2006/relationships" id="263" r:id="Ra60b70a208984f0d"/>
    <p:sldId xmlns:r="http://schemas.openxmlformats.org/officeDocument/2006/relationships" id="264" r:id="R903b796847854935"/>
    <p:sldId xmlns:r="http://schemas.openxmlformats.org/officeDocument/2006/relationships" id="265" r:id="Rbf28a2e87d57483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e23245fdb154ca4" /><Relationship Type="http://schemas.openxmlformats.org/officeDocument/2006/relationships/slideMaster" Target="/ppt/slideMasters/slideMaster1.xml" Id="Rdf2da633d44448c5" /><Relationship Type="http://schemas.openxmlformats.org/officeDocument/2006/relationships/notesMaster" Target="/ppt/notesMasters/notesMaster1.xml" Id="Rdeed6232857f4bd9" /><Relationship Type="http://schemas.openxmlformats.org/officeDocument/2006/relationships/presProps" Target="/ppt/presProps.xml" Id="Rd081b849f5104b9a" /><Relationship Type="http://schemas.openxmlformats.org/officeDocument/2006/relationships/viewProps" Target="/ppt/viewProps.xml" Id="Ra8ec3a3d5da74738" /><Relationship Type="http://schemas.openxmlformats.org/officeDocument/2006/relationships/tableStyles" Target="/ppt/tableStyles.xml" Id="R70afb6444c644ace" /><Relationship Type="http://schemas.openxmlformats.org/officeDocument/2006/relationships/slide" Target="/ppt/slides/slide1.xml" Id="Rc85a36eb8d8046da" /><Relationship Type="http://schemas.openxmlformats.org/officeDocument/2006/relationships/slide" Target="/ppt/slides/slide2.xml" Id="Rabb3e225f1414052" /><Relationship Type="http://schemas.openxmlformats.org/officeDocument/2006/relationships/slide" Target="/ppt/slides/slide3.xml" Id="R7b49c960a1414f9b" /><Relationship Type="http://schemas.openxmlformats.org/officeDocument/2006/relationships/slide" Target="/ppt/slides/slide4.xml" Id="Rdb5b37e1fa3e42ab" /><Relationship Type="http://schemas.openxmlformats.org/officeDocument/2006/relationships/slide" Target="/ppt/slides/slide5.xml" Id="R3a21bc4995c04fb1" /><Relationship Type="http://schemas.openxmlformats.org/officeDocument/2006/relationships/slide" Target="/ppt/slides/slide6.xml" Id="R07572fe72b8b42af" /><Relationship Type="http://schemas.openxmlformats.org/officeDocument/2006/relationships/slide" Target="/ppt/slides/slide7.xml" Id="R22473b62262a460b" /><Relationship Type="http://schemas.openxmlformats.org/officeDocument/2006/relationships/slide" Target="/ppt/slides/slide8.xml" Id="Ra60b70a208984f0d" /><Relationship Type="http://schemas.openxmlformats.org/officeDocument/2006/relationships/slide" Target="/ppt/slides/slide9.xml" Id="R903b796847854935" /><Relationship Type="http://schemas.openxmlformats.org/officeDocument/2006/relationships/slide" Target="/ppt/slides/slide10.xml" Id="Rbf28a2e87d5748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8aac8b683f49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6d8cada87b46c3" /><Relationship Type="http://schemas.openxmlformats.org/officeDocument/2006/relationships/notesMaster" Target="/ppt/notesMasters/notesMaster1.xml" Id="R099ab276360b49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96bc8c6ff14dab" /><Relationship Type="http://schemas.openxmlformats.org/officeDocument/2006/relationships/notesMaster" Target="/ppt/notesMasters/notesMaster1.xml" Id="R802a957fada94f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077ae2c5594734" /><Relationship Type="http://schemas.openxmlformats.org/officeDocument/2006/relationships/notesMaster" Target="/ppt/notesMasters/notesMaster1.xml" Id="R7b775d7a4c3d4d5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9139dc12be749df" /><Relationship Type="http://schemas.openxmlformats.org/officeDocument/2006/relationships/notesMaster" Target="/ppt/notesMasters/notesMaster1.xml" Id="R85464a5665dd4b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235df925ff445f" /><Relationship Type="http://schemas.openxmlformats.org/officeDocument/2006/relationships/notesMaster" Target="/ppt/notesMasters/notesMaster1.xml" Id="R013967acfcf743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fcaef5478f4fd1" /><Relationship Type="http://schemas.openxmlformats.org/officeDocument/2006/relationships/notesMaster" Target="/ppt/notesMasters/notesMaster1.xml" Id="R84bf16063c764b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16ad24676a4501" /><Relationship Type="http://schemas.openxmlformats.org/officeDocument/2006/relationships/notesMaster" Target="/ppt/notesMasters/notesMaster1.xml" Id="R13ee7911bc87401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0d20e442404617" /><Relationship Type="http://schemas.openxmlformats.org/officeDocument/2006/relationships/notesMaster" Target="/ppt/notesMasters/notesMaster1.xml" Id="Rb54038fecfe144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37c7db42811485a" /><Relationship Type="http://schemas.openxmlformats.org/officeDocument/2006/relationships/notesMaster" Target="/ppt/notesMasters/notesMaster1.xml" Id="R8353baa9d2614a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e0d50416944d77" /><Relationship Type="http://schemas.openxmlformats.org/officeDocument/2006/relationships/notesMaster" Target="/ppt/notesMasters/notesMaster1.xml" Id="Rfd1387a8674144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2a4e6f4114f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0a0df3678f476c" /><Relationship Type="http://schemas.openxmlformats.org/officeDocument/2006/relationships/slideLayout" Target="/ppt/slideLayouts/slideLayout1.xml" Id="R417e28446928426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7e28446928426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f1553b45246c5" /><Relationship Type="http://schemas.openxmlformats.org/officeDocument/2006/relationships/image" Target="/ppt/media/image.png" Id="R4557d194aa024232" /><Relationship Type="http://schemas.openxmlformats.org/officeDocument/2006/relationships/notesSlide" Target="/ppt/notesSlides/notesSlide1.xml" Id="R589f066ed1a549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a49b594e34a4d" /><Relationship Type="http://schemas.openxmlformats.org/officeDocument/2006/relationships/image" Target="/ppt/media/image2.png" Id="Rdb5eda0c0f69424f" /><Relationship Type="http://schemas.openxmlformats.org/officeDocument/2006/relationships/notesSlide" Target="/ppt/notesSlides/notesSlide2.xml" Id="Rc5d5341f7bb646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cba65152324d21" /><Relationship Type="http://schemas.openxmlformats.org/officeDocument/2006/relationships/notesSlide" Target="/ppt/notesSlides/notesSlide3.xml" Id="R2897d84354354d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3087deb40d4ca5" /><Relationship Type="http://schemas.openxmlformats.org/officeDocument/2006/relationships/notesSlide" Target="/ppt/notesSlides/notesSlide4.xml" Id="R6fadd373bc0644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0f12f1a9804cfd" /><Relationship Type="http://schemas.openxmlformats.org/officeDocument/2006/relationships/notesSlide" Target="/ppt/notesSlides/notesSlide5.xml" Id="R6c20f0a470bd4e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ac08669ec14834" /><Relationship Type="http://schemas.openxmlformats.org/officeDocument/2006/relationships/notesSlide" Target="/ppt/notesSlides/notesSlide6.xml" Id="R8a9159db9a87407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ac453b638f4809" /><Relationship Type="http://schemas.openxmlformats.org/officeDocument/2006/relationships/notesSlide" Target="/ppt/notesSlides/notesSlide7.xml" Id="R94f2d2bb22c747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73f5c0d4743fc" /><Relationship Type="http://schemas.openxmlformats.org/officeDocument/2006/relationships/notesSlide" Target="/ppt/notesSlides/notesSlide8.xml" Id="R3aa5c1017c8a43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06bcfe4dae409c" /><Relationship Type="http://schemas.openxmlformats.org/officeDocument/2006/relationships/notesSlide" Target="/ppt/notesSlides/notesSlide9.xml" Id="R5797dc324770468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8a017295b44c0" /><Relationship Type="http://schemas.openxmlformats.org/officeDocument/2006/relationships/image" Target="/ppt/media/image3.png" Id="R4703f0ee28664d37" /><Relationship Type="http://schemas.openxmlformats.org/officeDocument/2006/relationships/notesSlide" Target="/ppt/notesSlides/notesSlide10.xml" Id="R74d4da686044477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BA0D1D-C772-45CB-9FC6-53D007C0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918A36-1E1E-4CA2-B84C-8D7933D3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2EA"/>
          </a:solidFill>
          <a:ln xmlns:a="http://schemas.openxmlformats.org/drawingml/2006/main" w="0">
            <a:solidFill>
              <a:srgbClr val="F8F2E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25323-5ACB-4202-A644-B3340CC1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0"/>
            <a:ext cx="4324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903662-235D-44C5-BD38-D7714DB9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91000"/>
            <a:ext cx="43243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814D8-6E37-4FAE-9083-3D4AC3F3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04850"/>
            <a:ext cx="6705600" cy="4114800"/>
          </a:xfrm>
          <a:prstGeom xmlns:a="http://schemas.openxmlformats.org/drawingml/2006/main" prst="roundRect">
            <a:avLst>
              <a:gd name="adj" fmla="val 185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7d194aa024232"/>
          <a:stretch xmlns:a="http://schemas.openxmlformats.org/drawingml/2006/main"/>
        </p:blipFill>
        <p:spPr>
          <a:xfrm xmlns:a="http://schemas.openxmlformats.org/drawingml/2006/main">
            <a:off x="1268050" y="971550"/>
            <a:ext cx="1254851" cy="5524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B189F-9DCC-49BE-B2A0-7EE53CC5D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90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DECK SECTORIEL PREMIUM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E19F2-166E-4830-8A16-8A33B41F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4114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Management &amp; Leadership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8BBFB-F336-4815-A76B-6F0618843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86050"/>
            <a:ext cx="52197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76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Donner aux dirigeants et managers une lecture claire de l’IA, des arbitrages et des premiers terrains utiles.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16EFDF-7DFF-4AA6-8548-46B7533D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24250"/>
            <a:ext cx="5372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Pour les comités de direction, secrétaires généraux, sponsors projet et managers qui veulent conduire l’adoption de l’IA avec méthode, sans effet gadget.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5F937-F832-40B0-8F20-1CFFC164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81050"/>
            <a:ext cx="314325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214260"/>
          </a:solidFill>
          <a:ln xmlns:a="http://schemas.openxmlformats.org/drawingml/2006/main" w="9525">
            <a:solidFill>
              <a:srgbClr val="21426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D80E9-6AF0-48C4-B4E7-DD4C6181F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02870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Contextes d'application proches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6C9AD-59A7-4C14-9FBE-D2A7AD980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14450"/>
            <a:ext cx="25908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 deck peut être partagé avec plusieurs organisations du même univers métier.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8593C9-EFB3-4F34-BFE1-3E7E84A6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717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E6EEF6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E6EEF6"/>
                </a:solidFill>
                <a:latin typeface="Aptos"/>
                <a:ea typeface="Aptos"/>
                <a:cs typeface="Aptos"/>
              </a:rPr>
              <a:t>La proposition met en avant des enjeux récurrents, des cas d’usage crédibles et un parcours d’accompagnement progressif pour des structures aux besoins proches.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0F8BC0-9AA8-4EC2-9312-E1A07F4E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05D9EA-D4D8-4721-904D-E6E55A9CF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5433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A3B81-FCDB-42E3-9793-992DAD5F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290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4CE896-E56C-46B4-AC9C-F9740DDB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862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14D11F-9E0E-40C3-8AA9-A69B0E8F2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45CE5-CA22-484F-8CF5-62B897AB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291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07264-FD77-4381-BC3D-D942020CE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14850"/>
            <a:ext cx="28003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E3FA8C-12C5-4B2A-9F39-5F722705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72000"/>
            <a:ext cx="2609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Agro-industrie / Cacao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BB1148-EF4A-437D-8DEE-C20DC569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8AA307-6A0F-41E6-8C3A-338553B6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7C26A6-A7F8-44D8-9460-4182720A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671BC3-CAE0-451F-9BB3-5FD9866E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formations activables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47017F-5F47-4360-81C5-73A38389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C2EBC4-1A3C-4BAE-A66C-C05B1FB5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26A53-7A92-46A2-880D-CD8AC194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715FA5-D497-44C7-891E-C7C4D4C8D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usages prioritaires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389542-0E43-4708-B4F2-3DCBF12F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5181600"/>
            <a:ext cx="1524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C58ECE-163F-4156-BAF9-7CB9EE4EB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E888947-2B2C-45D0-8517-3F580F55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3340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J+90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6BAABE-924A-4C81-A583-786E2B3C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197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pilotage d’extension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9EF0A57-917B-47FD-AB21-2E409D11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5181600"/>
            <a:ext cx="1619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46A8CD6-0794-45C4-B509-9297920D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353050"/>
            <a:ext cx="38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8D08695-6E5B-4BD3-B905-CC34E825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334000"/>
            <a:ext cx="1181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0 FCFA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9437F4-AC33-433B-872A-CF22A8EC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1181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35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35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audit d’entrée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0612A4-F0A3-4BE2-AACE-05E8544AC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81600"/>
            <a:ext cx="3733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DEBA0F-25C6-4D27-86AF-30108477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Promesse centrale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586DEAD-8D85-419B-9963-8E3CA0ADD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543550"/>
            <a:ext cx="3219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Transformer l’IA en gains visibles de productivité, de coordination, de qualité de service et de lisibilité managériale.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69684A-3CD2-43F2-95DE-6FECF810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E4EDD3-8C0F-418D-AF3E-B91E1413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Management &amp; Leadership | Deck sectoriel premium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367DF65-2A49-4A24-9664-5A33E71E3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17524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5B1905-E3DA-45BC-91A4-BC4E5E77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435FB5-5BFC-45E8-84DB-A5F522E7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POURQUOI TRANSFERAI SUR CE TERRAIN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19487-0C58-402D-B3DC-8A9A3932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8001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0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Une proposition conçue pour management &amp; leadership plutôt qu’un catalogue générique.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290B34-B898-436E-A49A-4FFFB4AA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 point central ici n’est pas la technologie seule. C’est la capacité du management à choisir les bons terrains, à cadrer les usages et à transformer l’intention en exécution.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C18C6B-2BD5-454E-A874-868A3A4E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5086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eda0c0f69424f"/>
          <a:stretch xmlns:a="http://schemas.openxmlformats.org/drawingml/2006/main"/>
        </p:blipFill>
        <p:spPr>
          <a:xfrm xmlns:a="http://schemas.openxmlformats.org/drawingml/2006/main">
            <a:off x="1287916" y="2362200"/>
            <a:ext cx="1081768" cy="47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2F8F8-F710-4B29-9BAF-426355C9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48000"/>
            <a:ext cx="3429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TransferAI : de la pédagogie à l’exécution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6729E0-8706-459E-828A-5DDBD95F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44005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Audit IA gratuit pour qualifier les priorités avant toute dépense lourde.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Formation ciblée des décideurs et des équipes, pensée pour les usages du terrain.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Accompagnement de mise en pratique sur 90 jours avec relecture des premiers KPI.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Cadre de gouvernance, confidentialité et progression par pilote avant extension.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E3CA0-1CA3-4CDD-AC68-FA9088FF4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4400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03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03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La différence clé : une structure de formation classique transmet un contenu. TransferAI forme, puis accompagne l’usage réel, les ajustements et les décisions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6B8C0-2513-453B-AC03-527F79A6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52650"/>
            <a:ext cx="5467350" cy="3371850"/>
          </a:xfrm>
          <a:prstGeom xmlns:a="http://schemas.openxmlformats.org/drawingml/2006/main" prst="roundRect">
            <a:avLst>
              <a:gd name="adj" fmla="val 226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3EBE4-99DE-4E93-91A2-504F69FC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Types d'organisations et contextes proches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C1315-6413-4B41-AC77-1E0BC69B1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38450"/>
            <a:ext cx="462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32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32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montrent des environnements où cette proposition garde la même pertinence métier et la même lisibilité commerciale.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E4D91-3A09-4627-BB8C-2B7EF3B4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1F047-602C-41D9-B48A-27A775D8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09567-24B8-4FC0-859D-C8053EDD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2E038A-EDC6-4404-BDCE-E9FF6F6F1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58D1C-4927-4A4A-837D-D11344344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F650BE-28B5-4ABB-8CCA-8C8C0430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C14552-3BC1-4E88-8678-D1F4BE3D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957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1627B6-24CE-448F-AEF7-90DFF27F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7528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Agro-industrie / Cacao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6C396-5EED-4707-8D70-41B745D9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2381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7350A0-E18F-4990-AFEC-810ED3BF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1907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Institution régionale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0DC16-F3D4-4071-AD9F-49D559BB5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91050"/>
            <a:ext cx="462915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B6484-13B4-4DD2-92E2-7623E908A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434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Entrée recommandée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2F5D8F-5086-4C72-83EE-E1D7160E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53000"/>
            <a:ext cx="421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Audit IA gratuit, puis échange expert de 45 minutes pour confirmer les deux premiers cas d’usage, les équipes à former et le cadre de déploiement.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AD1DF6-692B-4781-B4F5-B274C677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158AFB-0C24-4365-B985-9684142BF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Management &amp; Leadership | Positionnement et preuve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643E6E-A2AD-4DF3-B757-D901DF68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8903811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7B3C13-24EB-4E83-92B8-490CFA846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22CA12-7116-4A3A-BF47-570EFE6A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CONTEXTE ET IRRITANTS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25C15-3228-479D-A3E5-D79CE523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8191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3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devient visible quand on traite d’abord les frictions déjà coûteuses.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D6C50F-9F38-479A-9FE7-94295636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477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La bonne approche n’est pas de vendre l’IA en général. Elle consiste à isoler les flux où le temps perdu, l’hétérogénéité et le défaut de lecture ralentissent déjà l’organisation.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DC017-9BE7-4B86-AEB6-EABA21D7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5E6661-4D36-4D32-B6F6-45BCE920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B8CA5-EDB5-4EBF-9526-108C0AB9F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Décideurs exposés mais peu outillés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501A1-1572-4F69-B161-EBCF02C10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6ADC3-A555-4691-ACF6-180A37F6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dirigeants voient l’IA partout sans toujours disposer d’une grille claire pour arbitrer.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82FFC5-17F3-446A-8357-0BAB707EE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F5300-0F2B-4A9E-BF05-95AD1C1D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La direction gagne un cadre de lecture concret : priorités, risques, équipes, gouvernance et séquencement.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91EB8-785E-4A4C-B506-C69A58ADE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A0A8AE-4549-4DB2-A841-B1573719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42BA5F-ABFD-4557-898F-0FD27E94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0980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Transformation mal ordonnée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29782-308F-4D5F-9785-456133D3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DAC00-0F9E-42D3-B66E-2A7C5DAA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4320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idées d’usage se multiplient mais sans ordre clair entre quick wins, pilotes et chantiers plus lourds.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82FA0-010E-4516-A0BB-7FB49CAE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1945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544905-43E2-4772-B589-E82A4ED3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9090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sponsors hiérarchisent mieux les décisions et évitent la dispersion.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F77796-D483-46A2-8D36-360DBD23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031C9F-8E73-446E-A76A-B299DC13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A9CC4E-5A5D-4F22-94D7-6B60A5BF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Culture et conduite du changement insuffisantes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51FF-4B99-4D53-B528-4F6A4A302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A6F432-F8A1-44AF-AD47-E2519446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oscillent entre peur, surpromesse et expérimentations isolées.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DC03CE-F67F-41F1-88D6-5ADD2F22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FDDA2A-ABCF-4E13-99DB-943D6DFF8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 discours managérial devient plus crédible, plus rassurant et plus orienté résultat.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2F3EE8-E48E-4001-B188-2D96D5561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521970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D3DC20-B2A3-40D0-AD32-0F0AA3BA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672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AF5324-557F-4BD9-93C9-314A019C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8150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Peu de lecture des KPI d’adoption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FCBDBD-B143-4B48-B386-D4D4F4AD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6101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726BA0-8AD7-42DF-9F74-2A5763DDC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781550"/>
            <a:ext cx="4686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projets avancent sans véritable mesure de l’usage réel ni des gains observables.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9BF0C5-E76B-423E-A25B-E59E97316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257800"/>
            <a:ext cx="571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8B8CB3-D4EB-47C7-8D3E-3F11ACCB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429250"/>
            <a:ext cx="4686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décideurs relisent plus tôt les premiers signaux pour ajuster la suite.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239487-EC18-41CA-B6EA-DE2DEF51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1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7F2221-712D-4A7E-9941-E84B5B22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9055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Lecture de fond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7C3EC0-A30F-4325-A8AC-6391CB2C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115050"/>
            <a:ext cx="1028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irritation retenue doit se traduire en hypothèse de gain, en KPI lisible et en séquence de déploiement mesurable.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ED6222-F22D-4EC4-83EC-5C2F4C71C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55851B-3B48-4E0D-86F8-8B21EBB47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Management &amp; Leadership | Priorités métier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E94292-09D5-49BA-A464-CB0BF3F6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124981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47E0D5-85F0-4493-9DCA-D9AF035A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BC948-A824-43B0-8092-156C326F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ROI DE RÉFÉRENCE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5E4D6-4104-4106-9920-FBD4CF909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23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ROI n’a de valeur que s’il est relié à des KPI simples, lisibles et discutables.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28A36-45B0-45B5-BBB1-8B5C7D02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7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7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repères ci-dessous sont des hypothèses prudentes ou des benchmarks à confirmer pendant l’audit. TransferAI ne vend pas des chiffres abstraits ; nous proposons une mesure utile du premier terrain.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75F4F-A3AB-4E58-A77E-D64ECE4B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616BB-1D5B-4A1F-A16F-C2DB43BA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Décisions plus rapides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AF0818-F5C2-4019-8CDC-A4EA3C49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priorités 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326730-06E1-4960-BD0E-9C83A5D5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moins de dispersion, plus d’ordre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5BA34-BF97-48AB-BBD7-3192D90C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C85BE7-7879-4532-8DCF-336CD444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Adoption mieux pilotée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B6287-E8A9-435F-B6FF-33E18FD7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équipes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85D5CD-F9A8-4F9E-9078-C4DDBD09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cadre, gouvernance, séquencement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F516C-AF98-4E95-970B-A74D86D5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C40E3A-EF36-436D-851D-9440B282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Moins de risque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2CD51-4034-426F-8DC7-1EDC3696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 les premiers pilotes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F8159D-E778-41D6-8C75-99D91821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règles, rôles,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3064F-82FF-409C-A0AC-04B62E9E6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3812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C02B9-95B6-4604-AE2A-763D157BA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038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Lecture plus nette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4263AF-3F6D-4ACA-B370-AAA43CAC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43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des premiers KPI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ED6B66-2C62-432B-8945-0D58CB348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67050"/>
            <a:ext cx="2038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usage réel, valeur, extension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C30D37-C535-4C49-88BF-A8289ACC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19812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CACE8A-0E54-4D78-A253-5FEFD779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9550"/>
            <a:ext cx="4686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6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Comment rendre ce ROI crédible dès le premier rendez-vous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AB53AB-676D-4FAB-9DD4-0E98B1E4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14850"/>
            <a:ext cx="428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1. Partir d’un flux métier concret et visible.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2. Nommer le ou les KPI que la direction lit déjà.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3. Limiter le premier pilote à un terrain mesurable.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4. Revoir les résultats avec les responsables métier avant toute extension.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612D5-57DC-486B-9BD9-09BA2971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267200"/>
            <a:ext cx="52578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Exemples de KPI souvent retenus : temps de cycle, délai de réponse, temps de préparation d’un comité, nombre d’étapes manuelles, volume d’anomalies détectées plus tôt, homogénéité des livrables, taux de résolution au premier niveau, vitesse d’onboarding.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5B35D0-C155-4671-81B6-D0B1FB9C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0DC7ED-3CBA-491A-9550-2A8A95E0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Management &amp; Leadership | ROI et KPI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1FBC74-38A7-404E-9F5A-20CFB213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94338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74D741-465A-4496-9610-036645D7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B7A918-D743-418A-8C7D-FD8E74C7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CAS D’USAGE PRIORITAIRES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18AFE5-D004-438B-B98D-7C554D97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334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deck rend visibles 3 à 4 usages que le prospect peut immédiatement se représenter.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F77467-0FFC-4484-809F-07059714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85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cas d’usage ci-dessous a été formulé pour rester crédible, visible et relié à un flux métier réel. Le but n’est pas de tout lancer, mais de prioriser ce qui crée une première valeur lisible.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E3BFFE-A199-4011-93B6-EA47C6451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DBB93E-61B9-47D5-85C1-C7DEDBD53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88BC6-E972-4D80-93BE-A79A3647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Briefing dirigeant et grille d’arbitrage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987624-2914-45F5-93DF-27E02FA6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082244-245B-4BF9-83A6-065A77CB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L’IA reste un sujet vaste, difficile à ordonner au niveau du comité de direction.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AD48BC-4581-4E32-81A5-203F2537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00D8A0-B7E7-43A2-9491-60C28315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sponsors disposent d’une grille de décision plus concrète pour choisir où démarrer et comment gouverner.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DB05C-F7AB-4661-84F0-1DC3A404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8C5355-C2B6-4205-9697-26483B10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Délai de décision ; nombre de priorités clarifiées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518C2D-E0FA-41DD-9D6B-8D8CEFC1D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5740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08E264-3CD5-4687-AF8A-D6FCB28C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2885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640A0-2E31-4E0F-993B-BFC55200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125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Conduite du changement et culture 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0AF1C-1542-43CC-92CB-5BBE3889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7B9BF4-0BD3-4761-8B96-DEDC640E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avancent avec des représentations hétérogènes de l’IA et de ses limites.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B8C911-3316-487A-B53F-EBB83BF2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575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02049-B253-44FB-9674-C291F662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99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 management pose un langage commun, des règles simples et des gestes utiles.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8C88C-F562-4025-845A-06952C8D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69570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C08A0-0C8D-4B39-A309-84C4C1C2B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7190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Taux de participation ; niveau d’adhésion des managers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553C7-4E3A-4999-9CE0-6671C967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76E96-FE26-46E4-9071-DDE37817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ADDC7-98EF-4DC1-A233-B1F5F23E4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Leadership data-driven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A0AA57-D895-407D-B49F-AF316804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D02570-360E-42EB-BCEE-9E09F8BE5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managers reçoivent des chiffres mais peinent à en tirer une lecture rapide et partagée.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8B7DC8-9CE3-4E60-A8A3-465AEB567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53BC9C-A612-4271-B317-B1BF74361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décisions s’appuient davantage sur des synthèses et commentaires plus actionnables.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5F900D-C6DE-464D-93D8-62E3B639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FE1585-6255-4C5B-8C1B-C81EDF893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lecture des KPI ; délai avant arbitrage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D406E2-2C99-4F67-8741-25C002FAC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52197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E82932-8296-4E07-BB56-6F924FBC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43400"/>
            <a:ext cx="3619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B5E5D39-EC69-4867-976F-F734FFC4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95800"/>
            <a:ext cx="4876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Planification stratégique assistée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F5600FD-5ECF-47B9-A253-1C503590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577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657916-9546-46A1-BF24-CB718AA9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01015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exercices de planification prennent du temps et restent difficiles à reformuler en scénarios clairs.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5C33EB-4C7B-424D-AC63-B540D881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37210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6402BA-5948-4163-BC8D-8B25DB40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24500"/>
            <a:ext cx="487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7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hypothèses, scénarios et plans d’action se structurent plus vite pour faciliter la décision.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FE2E5C4-0C40-4328-82E2-96509F8AC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10250"/>
            <a:ext cx="487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912CA1A-B648-4F78-ACC4-F879347F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886450"/>
            <a:ext cx="4876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8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98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KPI à suivre : Temps de préparation stratégique ; nombre de scénarios comparés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616EDA-612F-4D50-B219-71EC6ABD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89A2FF-B3AC-4089-922B-FE959FC0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Management &amp; Leadership | Cas d’usage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890E38-79A0-42CD-9B74-CE4C5ADD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075227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FBA7C1-C06D-4A42-9B5C-CA459609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4DB8B7-BD7E-43C2-99F0-3BF4D4B3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PREMIERS TERRAINS À LANCER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BE1602-0EC4-4B31-A4D6-8990BF08E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71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Les deux premiers terrains doivent créer une valeur visible pour la direction et les équipes.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E905A-00A6-45EC-96B2-91D13E20A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C’est souvent à ce niveau que le prospect décide si la démarche mérite d’aller plus loin. Le choix du premier terrain compte donc plus que la quantité d’idées disponibles.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1FB1D-E888-4861-941C-68BD9ED6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49BF0D-6BCE-47BD-9FE8-B878B0B8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DE15E-3AD2-49E5-BD0C-0B9D68AA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Briefing dirigeant et grille d’arbitrage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8872DD-3B4F-428F-9FF7-B05FCE0B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79211-C709-4297-8944-1F275DCF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L’IA reste un sujet vaste, difficile à ordonner au niveau du comité de direction.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85418-7855-4015-B328-719AE0A2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E37B6-843C-4548-BAC4-6A25E425F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Les sponsors disposent d’une grille de décision plus concrète pour choisir où démarrer et comment gouverner.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0997C-0B25-4D9A-A979-5EA666307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700D2-A3BF-4932-A8FA-2A16BA2E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Délai de décision ; nombre de priorités clarifiées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B6F34-76C5-471F-9873-718AFBAC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90750"/>
            <a:ext cx="5219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273359-2A9E-47EF-A797-321C5A6D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81250"/>
            <a:ext cx="1333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05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Terrain prioritaire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1DF3C-30DC-4A92-A434-F432D997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09850"/>
            <a:ext cx="4800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Conduite du changement et culture 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21342-A2C0-4D53-9495-CE714637F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670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E76F1D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E76F1D"/>
                </a:solidFill>
                <a:latin typeface="Aptos"/>
                <a:ea typeface="Aptos"/>
                <a:cs typeface="Aptos"/>
              </a:rPr>
              <a:t>AVANT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AEE3F0-DDA4-43AA-9C06-C70529856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238500"/>
            <a:ext cx="48006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Les équipes avancent avec des représentations hétérogènes de l’IA et de ses limites.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7D7514-F97D-4716-99EE-70553851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905250"/>
            <a:ext cx="609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1">
                <a:solidFill>
                  <a:srgbClr val="1C8A78"/>
                </a:solidFill>
                <a:latin typeface="Aptos"/>
                <a:ea typeface="Aptos"/>
                <a:cs typeface="Aptos"/>
              </a:defRPr>
            </a:pPr>
            <a:r>
              <a:rPr sz="660" b="1">
                <a:solidFill>
                  <a:srgbClr val="1C8A78"/>
                </a:solidFill>
                <a:latin typeface="Aptos"/>
                <a:ea typeface="Aptos"/>
                <a:cs typeface="Aptos"/>
              </a:rPr>
              <a:t>APRÈS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4AA088-2039-4585-B8B7-3E571A06E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076700"/>
            <a:ext cx="48006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Le management pose un langage commun, des règles simples et des gestes utiles.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372198-B70D-43B4-B228-E6E5ACB3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781550"/>
            <a:ext cx="48006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43165E-EB02-4EF8-9B45-7194B8FE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76800"/>
            <a:ext cx="45339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KPI clé : Taux de participation ; niveau d’adhésion des managers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2205A-BD13-4AF0-B5F4-15550C31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8B701C-9D70-47BD-A9BC-13930AB8D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34050"/>
            <a:ext cx="10363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Règle simple : premier terrain = usage visible, responsable identifié, KPI lisible, données accessibles et supervision humaine facile à organiser.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887460-3F27-4C9D-98A0-8A6ACB66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86A4E8-EBEB-42C6-A51B-93E5DF5C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Management &amp; Leadership | Deux premiers terrains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65E1DE-F5BE-45E3-B395-3F895E524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601498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9042F-6770-4A51-B1D9-8EC5FE68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0ABA9C-317E-4835-8C3E-CE7AE933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FORMATION ET STANDARDISATION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C18EA0-D802-4807-AF50-C7B9DCA42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Le bon catalogue ciblé prépare des gestes métier réels, pas une simple acculturation théorique.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36790-A8CA-475F-A0ED-2782B689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76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Chaque proposition sectorielle TransferAI combine un noyau de formations activables et des usages de standardisation qui rendent l’adoption plus durable dans le temps.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909A52-0755-40BD-9160-3D9BFE82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54673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AB1BB0-CBBB-4570-82C9-6A004E17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241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Formations prioritaires à activer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17AE89-9DBD-41B5-8218-F04FCCC4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C3165-0645-4B91-BA4D-3F7C01332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6C8755-9AB1-4FB2-BADF-E4D109D2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19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FA8B79-BDFE-471B-8B72-2555E941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00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IA pour Dirigeants : Vision et Stratégie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72187-B407-4F3C-B639-99F75E67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E05001-634C-4A38-B747-99019402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38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D5B45F-59FC-4106-BC7D-618C2929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1CF43-B939-4528-AEF3-02DF49A9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76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Prise de Décision Stratégique avec l'IA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15D0BB-5D7C-4528-A293-355580796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407C32-6D5E-40DC-8CCD-FE940652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26546-1FF7-4F1F-B0B1-321346C97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719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6EAF4-154B-47B5-8649-C5C0E01B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528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Leadership Data-Driven avec l'IA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F5C973-5BB8-4F87-960F-EF67B59B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E80AA-DA71-405A-8E6D-2669191A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4B089-391E-4184-A5B2-60617D27D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481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A9A63B-533F-42D0-9DB2-9FF48DAA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291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Conduite du Changement IA en Entreprise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AF2719-614C-436E-978B-764E2D8B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77D958-D3CF-4EA7-82AD-ED5C3075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13606-FC1D-4B68-8646-A22D5840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2440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3552A5-27A4-4EB0-9438-7888155C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0535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Planification Stratégique Assistée par l'IA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CDBF0C-6616-4ACF-A612-287A42FF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4673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745567-BBBA-4251-A08C-9BB625AA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323850" cy="24765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9525">
            <a:solidFill>
              <a:srgbClr val="C88C3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41B576-4D70-4C70-9FD9-71671655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00650"/>
            <a:ext cx="323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FE181D-C5CE-4DB1-BCF8-063558C4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181600"/>
            <a:ext cx="46101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Culture IA : Transformer les Mentalités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A331AC-02D5-4A5B-A3BD-8CFD008B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14550"/>
            <a:ext cx="504825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CC904A-A6A8-4D5D-84DF-74056A87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24100"/>
            <a:ext cx="3695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20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Ce que ce dispositif doit standardiser concrètement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DBD620-D273-4647-A08A-9504F666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81300"/>
            <a:ext cx="4419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Donner au management un langage commun et une méthode de priorisation.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Faire comprendre la différence entre curiosité technologique et déploiement gouverné.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Créer une séquence claire entre audit, formation, pilote et décision d’extension.</a:t>
            </a:r>
          </a:p>
          <a:p xmlns:a="http://schemas.openxmlformats.org/drawingml/2006/main">
            <a:pPr algn="l">
              <a:defRPr sz="90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Relire les premiers KPI d’adoption pour piloter la suite avec lucidité.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66525D-E299-442B-8831-4284908F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95750"/>
            <a:ext cx="4419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617086"/>
                </a:solidFill>
                <a:latin typeface="Aptos"/>
                <a:ea typeface="Aptos"/>
                <a:cs typeface="Aptos"/>
              </a:rPr>
              <a:t>Après la formation, les équipes formées gardent un accès à la communauté TransferAI pour partager leurs cas, leurs difficultés et obtenir des conseils pratiques orientés exécution.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F8DF40-E2EE-47FE-B402-607F90E2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743450"/>
            <a:ext cx="4419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Cette logique augmente la probabilité d’usage réel, sécurise les premiers tests et réduit l’effet “formation oubliée” après quelques semaines.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12F87C0-4194-4163-8FB7-050D67DF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3307ED-C26F-4437-8648-ADB460E3A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Management &amp; Leadership | Formation et standardisation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265538E-7AE6-480D-919B-79B224A3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915727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00702F-C372-428E-802F-9C820EFB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4D849-6265-49E1-B45E-7C764A6E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PARCOURS 90 JOURS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F6621B-C009-4997-826C-38BD9F6A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00100"/>
            <a:ext cx="914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séquence recommandée va du cadrage à la mesure, avec validation à chaque palier.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1976B1-9620-4E5D-92D6-8B7A4F73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L’objectif n’est pas de “déployer de l’IA” d’un bloc, mais de passer par des étapes courtes, visibles et gouvernées, avec un point de décision clair à chaque jalon.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4B7D0-14ED-4A9D-9F1B-8FDCC690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F7FD57-01CC-4CF9-B573-AD3B4853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4DAAF-5E9B-48C8-8688-EF4B332B6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DC2C1-3CA2-46FD-ADDF-C097455A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Audit, cadrage et priorisation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F82BCE-98DA-4800-95F8-7F66E687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Identifier les flux à plus forte valeur, les risques à encadrer et les équipes à mobiliser.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E34F7F-0B80-447B-9B7B-8D0ACF193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55F22-357F-45A4-BB2D-B773838D3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1FC17-A0BA-46A0-9072-E78C4C5E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J+15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249377-3836-480D-8284-81C2DB85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Premier livrable utile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85B1A-8C78-435D-93C5-23C1A9FF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Produire un kit de travail, un assistant pilote ou une première base documentaire prête à l’usage.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906739-F8A5-4997-A5E5-C9EE856DA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133600"/>
            <a:ext cx="2419350" cy="26098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4AD16-E96F-4DE0-9DDA-BAF5CA00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E42B82-B3BF-4117-BF76-037106E73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J+45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B4717-1DA6-445B-A4D5-506643D1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67000"/>
            <a:ext cx="2076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ciblée et pilote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11A3E6-B324-4259-8B8C-8F6770A4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009900"/>
            <a:ext cx="20764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Former les bonnes populations, lancer le premier terrain d’exécution et sécuriser les pratiques.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FF6C8C-049B-4A49-A8C6-1C85258B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33600"/>
            <a:ext cx="2876550" cy="2609850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EC7F07-CC29-4F8F-BA09-E09C1725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05050"/>
            <a:ext cx="571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DCDCF9-061B-406B-B00A-283E4D06F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62200"/>
            <a:ext cx="57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J+90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DF63CE-7C84-44EB-B804-12BE05A7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67000"/>
            <a:ext cx="25336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8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Mesure, gouvernance et extension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69D4A8-8C52-4AE3-A858-9770D32E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5336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9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Relire les premiers KPI, ajuster les usages et décider l’extension, le recentrage ou la montée en charge.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C4C00-B3AE-4459-B1F6-950A94B7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D1A4A1-29D7-41DB-A2CC-A13C8A74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72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Différentiel TransferAI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D9E9E5-1CE4-42E1-9353-78A199A3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619750"/>
            <a:ext cx="101727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Une structure de formation classique s’arrête au contenu. TransferAI forme, puis accompagne la mise en pratique, la relecture des premiers KPI, les ajustements et la décision d’extension pendant 90 jours.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FC7C75-9524-4B11-B42F-988C8F18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A34061-2A60-45D2-92F1-8B84A73B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Management &amp; Leadership | Parcours 90 jours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3EB2FB-CC71-44E1-9CF9-1F9B12B0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931686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6DFE3C-F8B8-4FF0-850D-75E45A7D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7"/>
          </a:solidFill>
          <a:ln xmlns:a="http://schemas.openxmlformats.org/drawingml/2006/main" w="0">
            <a:solidFill>
              <a:srgbClr val="F5EFE7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67BDED-6480-4D03-8CFB-7AD943CBA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C88C3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C88C3A"/>
                </a:solidFill>
                <a:latin typeface="Aptos"/>
                <a:ea typeface="Aptos"/>
                <a:cs typeface="Aptos"/>
              </a:rPr>
              <a:t>OFFRE RECOMMANDÉE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74FB4A-9E91-42C6-8681-82A0590C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898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La proposition TransferAI pour management &amp; leadership s’organise en 4 briques simples à activer.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0BCC0-77AF-4ECE-8C77-AF5A7187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62100"/>
            <a:ext cx="895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Cette architecture permet de relier audit, formation, accompagnement, gouvernance et premier terrain d’exécution dans une seule logique commerciale compréhensible par le prospect.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F0A094-47EF-4B56-8B6A-AD4AEB18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98EDC-4033-4737-B177-0A9B46B9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17542-83A5-49CA-9C76-42032CF4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Audit métier ciblé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3AA8C6-D7D6-439A-9F16-E65FCAE1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Qualifier les flux, documents et points de friction les plus critiques pour Management &amp; Leadership.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A73EAD-C100-4241-B9B8-08CD44FB4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Cartographie des irritants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Hypothèses de gains rapides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2D877C-61A2-461C-A22D-4EC24BBF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479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34E2DB-2965-41A8-8840-EDEA4F9C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384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C8A78"/>
          </a:solidFill>
          <a:ln xmlns:a="http://schemas.openxmlformats.org/drawingml/2006/main" w="0">
            <a:solidFill>
              <a:srgbClr val="1C8A7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78E879-A4CF-4C82-BCBA-7BE249EE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193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décideurs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88FF7-E277-4B5E-98DC-46D04935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432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Aligner la direction, les managers et les sponsors sur les usages, limites et conditions de réussite.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2067A-CFC3-4F7F-B3F7-3E5DB405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04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Vision, gouvernance et arbitrages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Lecture des premiers KPI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D1DB82-7728-46C2-9D4B-69DDB8371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019A8-AFF5-4DAD-A627-A9B60053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0">
            <a:solidFill>
              <a:srgbClr val="1635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FC605A-8423-414B-B000-0B532C34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Formation des équipes opérationnelles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3847F7-1989-467C-A5D3-722129F0E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Mettre les bonnes méthodes et les bons assistants dans les mains des équipes qui exécutent.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DD7CFC-BA09-42F7-8FED-BA5F6486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Gestes métier augmentés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Standardisation utile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1EB57C-84A6-4793-9E34-19DD8A07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62400"/>
            <a:ext cx="52197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D83389-D641-4E1C-838B-D600A45D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52900"/>
            <a:ext cx="495300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88C3A"/>
          </a:solidFill>
          <a:ln xmlns:a="http://schemas.openxmlformats.org/drawingml/2006/main" w="0">
            <a:solidFill>
              <a:srgbClr val="C88C3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D7AA7-3F77-4316-BB6D-B6E14965F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33850"/>
            <a:ext cx="426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Pilote, accompagnement et extension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0D2647-6951-40C5-BC1B-3A9FB4C7E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Passer d’une intention IA à un premier terrain visible, mesurable et gouverné.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EDD575-7F99-4EA5-BF14-2F3B9F0FD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914900"/>
            <a:ext cx="4876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Pilotage sur 90 jours</a:t>
            </a:r>
          </a:p>
          <a:p xmlns:a="http://schemas.openxmlformats.org/drawingml/2006/main">
            <a:pPr algn="l">
              <a:defRPr sz="765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• Décision d’extension ou de recentrage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B6251A-A6D2-4F4A-A495-C37B8969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7C1A05-5E32-4850-A0FD-EDA09C01B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Management &amp; Leadership | Offre recommandée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CF5F94-1A17-4774-B591-FAE800C60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081342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5F7345-EC17-4CDE-9EBB-F5E7577F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0E8"/>
          </a:solidFill>
          <a:ln xmlns:a="http://schemas.openxmlformats.org/drawingml/2006/main" w="0">
            <a:solidFill>
              <a:srgbClr val="F6F0E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23F804-6DE3-47FF-AA82-8136C60F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1111"/>
            </a:avLst>
          </a:prstGeom>
          <a:solidFill xmlns:a="http://schemas.openxmlformats.org/drawingml/2006/main">
            <a:srgbClr val="163556"/>
          </a:solidFill>
          <a:ln xmlns:a="http://schemas.openxmlformats.org/drawingml/2006/main" w="9525">
            <a:solidFill>
              <a:srgbClr val="163556"/>
            </a:solidFill>
            <a:prstDash val="solid"/>
          </a:ln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3f0ee28664d37"/>
          <a:stretch xmlns:a="http://schemas.openxmlformats.org/drawingml/2006/main"/>
        </p:blipFill>
        <p:spPr>
          <a:xfrm xmlns:a="http://schemas.openxmlformats.org/drawingml/2006/main">
            <a:off x="1056731" y="723900"/>
            <a:ext cx="1125039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3F9D2-3DC4-4EA7-AD97-6C3B8A0E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D8E6F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D8E6F4"/>
                </a:solidFill>
                <a:latin typeface="Aptos"/>
                <a:ea typeface="Aptos"/>
                <a:cs typeface="Aptos"/>
              </a:rPr>
              <a:t>CONFIANCE ET PROCHAINE ÉTAPE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CF084-61A8-47E9-9007-CC6081D8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5905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988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Proposer un pilote utile, gouverné et mesurable.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B62752-451F-453B-8F74-F159226D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57450"/>
            <a:ext cx="581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7E5F3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7E5F3"/>
                </a:solidFill>
                <a:latin typeface="Aptos"/>
                <a:ea typeface="Aptos"/>
                <a:cs typeface="Aptos"/>
              </a:rPr>
              <a:t>Le rendez-vous ne sert pas à vendre un outil abstrait. Il sert à confirmer les deux premiers terrains, les équipes à former, les données à protéger et la sortie attendue à 90 jours.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CBFCF8-67FE-471A-9CA4-A1F25C150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5334000" cy="23431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20405F"/>
          </a:solidFill>
          <a:ln xmlns:a="http://schemas.openxmlformats.org/drawingml/2006/main" w="9525">
            <a:solidFill>
              <a:srgbClr val="2B587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ADE1C-EFA4-459B-B95F-A09D02BDF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480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Le cadre de confiance à présenter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BD0E55-4A90-4741-9AA6-875EDED1E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46291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usages proposés restent gouvernés, progressifs et validés par des responsables métier identifiés.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Les données sensibles, documents internes et arbitrages critiques restent sous supervision humaine.</a:t>
            </a:r>
          </a:p>
          <a:p xmlns:a="http://schemas.openxmlformats.org/drawingml/2006/main">
            <a:pPr algn="l">
              <a:defRPr sz="855" b="0">
                <a:solidFill>
                  <a:srgbClr val="E8F1F8"/>
                </a:solidFill>
                <a:latin typeface="Aptos"/>
                <a:ea typeface="Aptos"/>
                <a:cs typeface="Aptos"/>
              </a:defRPr>
            </a:pPr>
            <a:r>
              <a:rPr sz="855" b="0">
                <a:solidFill>
                  <a:srgbClr val="E8F1F8"/>
                </a:solidFill>
                <a:latin typeface="Aptos"/>
                <a:ea typeface="Aptos"/>
                <a:cs typeface="Aptos"/>
              </a:rPr>
              <a:t>• TransferAI ne s’arrête pas à la formation : nous accompagnons aussi la mise en pratique, les premiers KPI et la décision d’extension.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DCB47-B14B-48CD-A17D-B305C8C4E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104900"/>
            <a:ext cx="4953000" cy="4438650"/>
          </a:xfrm>
          <a:prstGeom xmlns:a="http://schemas.openxmlformats.org/drawingml/2006/main" prst="roundRect">
            <a:avLst>
              <a:gd name="adj" fmla="val 1717"/>
            </a:avLst>
          </a:prstGeom>
          <a:solidFill xmlns:a="http://schemas.openxmlformats.org/drawingml/2006/main">
            <a:srgbClr val="FFFDFC"/>
          </a:solidFill>
          <a:ln xmlns:a="http://schemas.openxmlformats.org/drawingml/2006/main" w="9525">
            <a:solidFill>
              <a:srgbClr val="FFFDF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19A14-6A5E-4B16-9361-1BEDBB145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4097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Sortie attendue du rendez-vous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EEBCF-1D46-4062-95B9-71300F00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790700"/>
            <a:ext cx="40957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Confirmer les 2 premiers cas d’usage à plus forte valeur visible.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Valider les populations à former et le niveau d’accompagnement requis.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Identifier les KPI prioritaires et la forme du premier pilote.</a:t>
            </a:r>
          </a:p>
          <a:p xmlns:a="http://schemas.openxmlformats.org/drawingml/2006/main">
            <a:pPr algn="l">
              <a:defRPr sz="870" b="0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870" b="0">
                <a:solidFill>
                  <a:srgbClr val="1A3554"/>
                </a:solidFill>
                <a:latin typeface="Aptos"/>
                <a:ea typeface="Aptos"/>
                <a:cs typeface="Aptos"/>
              </a:rPr>
              <a:t>• Décider du bon ordre entre audit détaillé, formation ciblée, pilote et gouvernance.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353EB-8641-40ED-B8E1-E99B19B2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766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CTA principal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BC46FE-D628-4C60-AF52-9E4FE37F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24250"/>
            <a:ext cx="4095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6355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63556"/>
                </a:solidFill>
                <a:latin typeface="Aptos"/>
                <a:ea typeface="Aptos"/>
                <a:cs typeface="Aptos"/>
              </a:rPr>
              <a:t>Planifier un audit IA gratuit suivi d’un échange expert de 45 minutes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F7B4D1-BA00-43C4-B462-3934A5A3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957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Pièces jointes recommandées : ce deck sectoriel + mini-catalogue ciblé + formulaire d’audit pré-rendez-vous.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33C4F1-6A10-4C95-A24E-B852C033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291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A3554"/>
                </a:solidFill>
                <a:latin typeface="Aptos Display"/>
                <a:ea typeface="Aptos Display"/>
                <a:cs typeface="Aptos Display"/>
              </a:rPr>
              <a:t>Contextes proches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2505D-36E5-4B2E-BC5B-10712F9B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8577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09EE5-B989-44C7-A6EC-96A60412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9149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Banque / Finance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B21B42-8BE8-416D-847D-5B6E115E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18160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13280F-634D-45AA-920C-FB79C154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23875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Télécommunications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CF4720-5322-40D7-AD25-F1B3EF9A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5505450"/>
            <a:ext cx="36195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F5EE"/>
          </a:solidFill>
          <a:ln xmlns:a="http://schemas.openxmlformats.org/drawingml/2006/main" w="9525">
            <a:solidFill>
              <a:srgbClr val="D7CEC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145BD1-7C20-43DB-AE00-157A85B9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62600"/>
            <a:ext cx="3429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05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05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Assurance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8D2EE7-DF0D-4958-8518-67A5A9D23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10896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EC3"/>
          </a:solidFill>
          <a:ln xmlns:a="http://schemas.openxmlformats.org/drawingml/2006/main" w="0">
            <a:solidFill>
              <a:srgbClr val="D7CEC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8DAC4C-106E-4CD0-A335-3620C732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9048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17086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17086"/>
                </a:solidFill>
                <a:latin typeface="Aptos"/>
                <a:ea typeface="Aptos"/>
                <a:cs typeface="Aptos"/>
              </a:rPr>
              <a:t>TransferAI | Management &amp; Leadership | Confiance et prochaine étape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16A2E3-9A4B-49E2-B767-A7471503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53200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A3554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A355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4636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2026-06-12T16:02:30.8630000Z</dcterms:created>
  <dcterms:modified xsi:type="dcterms:W3CDTF">2026-06-12T16:02:30.8630000Z</dcterms:modified>
</coreProperties>
</file>