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f9988565324c56" /><Relationship Type="http://schemas.openxmlformats.org/officeDocument/2006/relationships/extended-properties" Target="/docProps/app.xml" Id="R9938a9c660e14c8e" /><Relationship Type="http://schemas.openxmlformats.org/officeDocument/2006/relationships/officeDocument" Target="/ppt/presentation.xml" Id="Rf613fc9441a540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f09ba2a62e474f"/>
  </p:sldMasterIdLst>
  <p:notesMasterIdLst>
    <p:notesMasterId xmlns:r="http://schemas.openxmlformats.org/officeDocument/2006/relationships" r:id="R984fc17cff7a4e1d"/>
  </p:notesMasterIdLst>
  <p:sldIdLst>
    <p:sldId xmlns:r="http://schemas.openxmlformats.org/officeDocument/2006/relationships" id="256" r:id="R9baebc39be044edf"/>
    <p:sldId xmlns:r="http://schemas.openxmlformats.org/officeDocument/2006/relationships" id="257" r:id="Raeb46ac22959401a"/>
    <p:sldId xmlns:r="http://schemas.openxmlformats.org/officeDocument/2006/relationships" id="258" r:id="Rc61cd8c544264587"/>
    <p:sldId xmlns:r="http://schemas.openxmlformats.org/officeDocument/2006/relationships" id="259" r:id="R70401205edaf465d"/>
    <p:sldId xmlns:r="http://schemas.openxmlformats.org/officeDocument/2006/relationships" id="260" r:id="R8e852d2920984eaa"/>
    <p:sldId xmlns:r="http://schemas.openxmlformats.org/officeDocument/2006/relationships" id="261" r:id="R30d38a640a274a47"/>
    <p:sldId xmlns:r="http://schemas.openxmlformats.org/officeDocument/2006/relationships" id="262" r:id="R1f880e9a2fc24718"/>
    <p:sldId xmlns:r="http://schemas.openxmlformats.org/officeDocument/2006/relationships" id="263" r:id="R0bfb6c83da004d0d"/>
    <p:sldId xmlns:r="http://schemas.openxmlformats.org/officeDocument/2006/relationships" id="264" r:id="R95b9cbbf4f40415f"/>
    <p:sldId xmlns:r="http://schemas.openxmlformats.org/officeDocument/2006/relationships" id="265" r:id="R7f00368b1e584c6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fa8be8c84e4507" /><Relationship Type="http://schemas.openxmlformats.org/officeDocument/2006/relationships/slideMaster" Target="/ppt/slideMasters/slideMaster1.xml" Id="R79f09ba2a62e474f" /><Relationship Type="http://schemas.openxmlformats.org/officeDocument/2006/relationships/notesMaster" Target="/ppt/notesMasters/notesMaster1.xml" Id="R984fc17cff7a4e1d" /><Relationship Type="http://schemas.openxmlformats.org/officeDocument/2006/relationships/presProps" Target="/ppt/presProps.xml" Id="R45e27650e906463f" /><Relationship Type="http://schemas.openxmlformats.org/officeDocument/2006/relationships/viewProps" Target="/ppt/viewProps.xml" Id="R28bb4169c38d4167" /><Relationship Type="http://schemas.openxmlformats.org/officeDocument/2006/relationships/tableStyles" Target="/ppt/tableStyles.xml" Id="R824615284fa4413c" /><Relationship Type="http://schemas.openxmlformats.org/officeDocument/2006/relationships/slide" Target="/ppt/slides/slide1.xml" Id="R9baebc39be044edf" /><Relationship Type="http://schemas.openxmlformats.org/officeDocument/2006/relationships/slide" Target="/ppt/slides/slide2.xml" Id="Raeb46ac22959401a" /><Relationship Type="http://schemas.openxmlformats.org/officeDocument/2006/relationships/slide" Target="/ppt/slides/slide3.xml" Id="Rc61cd8c544264587" /><Relationship Type="http://schemas.openxmlformats.org/officeDocument/2006/relationships/slide" Target="/ppt/slides/slide4.xml" Id="R70401205edaf465d" /><Relationship Type="http://schemas.openxmlformats.org/officeDocument/2006/relationships/slide" Target="/ppt/slides/slide5.xml" Id="R8e852d2920984eaa" /><Relationship Type="http://schemas.openxmlformats.org/officeDocument/2006/relationships/slide" Target="/ppt/slides/slide6.xml" Id="R30d38a640a274a47" /><Relationship Type="http://schemas.openxmlformats.org/officeDocument/2006/relationships/slide" Target="/ppt/slides/slide7.xml" Id="R1f880e9a2fc24718" /><Relationship Type="http://schemas.openxmlformats.org/officeDocument/2006/relationships/slide" Target="/ppt/slides/slide8.xml" Id="R0bfb6c83da004d0d" /><Relationship Type="http://schemas.openxmlformats.org/officeDocument/2006/relationships/slide" Target="/ppt/slides/slide9.xml" Id="R95b9cbbf4f40415f" /><Relationship Type="http://schemas.openxmlformats.org/officeDocument/2006/relationships/slide" Target="/ppt/slides/slide10.xml" Id="R7f00368b1e584c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a4a15ca04340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f6ef7c0df248c5" /><Relationship Type="http://schemas.openxmlformats.org/officeDocument/2006/relationships/notesMaster" Target="/ppt/notesMasters/notesMaster1.xml" Id="R7edaae7afc6d48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a05a0c7e224bfc" /><Relationship Type="http://schemas.openxmlformats.org/officeDocument/2006/relationships/notesMaster" Target="/ppt/notesMasters/notesMaster1.xml" Id="Re3d6dbd3513747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4010daee854782" /><Relationship Type="http://schemas.openxmlformats.org/officeDocument/2006/relationships/notesMaster" Target="/ppt/notesMasters/notesMaster1.xml" Id="Rd1906545e7ae45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60bc6441b04906" /><Relationship Type="http://schemas.openxmlformats.org/officeDocument/2006/relationships/notesMaster" Target="/ppt/notesMasters/notesMaster1.xml" Id="R7f272a92d73248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b7d73f594a49e9" /><Relationship Type="http://schemas.openxmlformats.org/officeDocument/2006/relationships/notesMaster" Target="/ppt/notesMasters/notesMaster1.xml" Id="Rce090655687748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d623db18054809" /><Relationship Type="http://schemas.openxmlformats.org/officeDocument/2006/relationships/notesMaster" Target="/ppt/notesMasters/notesMaster1.xml" Id="R3f7f41cf117149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bedaeba91c4237" /><Relationship Type="http://schemas.openxmlformats.org/officeDocument/2006/relationships/notesMaster" Target="/ppt/notesMasters/notesMaster1.xml" Id="R3e0a74d25d7f40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c4e61c0b574b35" /><Relationship Type="http://schemas.openxmlformats.org/officeDocument/2006/relationships/notesMaster" Target="/ppt/notesMasters/notesMaster1.xml" Id="R989ed71b8d704b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ea5f61d3aec4192" /><Relationship Type="http://schemas.openxmlformats.org/officeDocument/2006/relationships/notesMaster" Target="/ppt/notesMasters/notesMaster1.xml" Id="Re60e1ddecc3f459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e3559b11934c90" /><Relationship Type="http://schemas.openxmlformats.org/officeDocument/2006/relationships/notesMaster" Target="/ppt/notesMasters/notesMaster1.xml" Id="R01a1191d62f744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ec2956380248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0f0b98d0a14d2a" /><Relationship Type="http://schemas.openxmlformats.org/officeDocument/2006/relationships/slideLayout" Target="/ppt/slideLayouts/slideLayout1.xml" Id="R87d649eb18e04e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d649eb18e04e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ebea0f93374ea6" /><Relationship Type="http://schemas.openxmlformats.org/officeDocument/2006/relationships/image" Target="/ppt/media/image.png" Id="R65da5a78e0824f98" /><Relationship Type="http://schemas.openxmlformats.org/officeDocument/2006/relationships/notesSlide" Target="/ppt/notesSlides/notesSlide1.xml" Id="R1a30847be1ad46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d03f9ccc0c4604" /><Relationship Type="http://schemas.openxmlformats.org/officeDocument/2006/relationships/image" Target="/ppt/media/image2.png" Id="R7723cd0b4c8346f2" /><Relationship Type="http://schemas.openxmlformats.org/officeDocument/2006/relationships/notesSlide" Target="/ppt/notesSlides/notesSlide2.xml" Id="Rb364b5577c214c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654df9706d469e" /><Relationship Type="http://schemas.openxmlformats.org/officeDocument/2006/relationships/notesSlide" Target="/ppt/notesSlides/notesSlide3.xml" Id="R38fe99f9ca6c45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7bd8d1bfb64e6c" /><Relationship Type="http://schemas.openxmlformats.org/officeDocument/2006/relationships/notesSlide" Target="/ppt/notesSlides/notesSlide4.xml" Id="Rb803154e333346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38a62ce28a451f" /><Relationship Type="http://schemas.openxmlformats.org/officeDocument/2006/relationships/notesSlide" Target="/ppt/notesSlides/notesSlide5.xml" Id="R6b3da6b0310741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215dca47364a93" /><Relationship Type="http://schemas.openxmlformats.org/officeDocument/2006/relationships/notesSlide" Target="/ppt/notesSlides/notesSlide6.xml" Id="R0b8af3426edf49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a39cb2e0964369" /><Relationship Type="http://schemas.openxmlformats.org/officeDocument/2006/relationships/notesSlide" Target="/ppt/notesSlides/notesSlide7.xml" Id="Rf901e25993e54e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2a626dac08410b" /><Relationship Type="http://schemas.openxmlformats.org/officeDocument/2006/relationships/notesSlide" Target="/ppt/notesSlides/notesSlide8.xml" Id="Rae3ec75805de40b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0e599e3f3f4109" /><Relationship Type="http://schemas.openxmlformats.org/officeDocument/2006/relationships/notesSlide" Target="/ppt/notesSlides/notesSlide9.xml" Id="Rca7de194468844a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013d6cafd746a9" /><Relationship Type="http://schemas.openxmlformats.org/officeDocument/2006/relationships/image" Target="/ppt/media/image3.png" Id="R9f7f90bdb02d46bc" /><Relationship Type="http://schemas.openxmlformats.org/officeDocument/2006/relationships/notesSlide" Target="/ppt/notesSlides/notesSlide10.xml" Id="R7e58cb731472469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29C99A-889C-417B-97F7-230F6C4E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9FCC50-4454-4C48-B881-F4F95840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2EA"/>
          </a:solidFill>
          <a:ln xmlns:a="http://schemas.openxmlformats.org/drawingml/2006/main" w="0">
            <a:solidFill>
              <a:srgbClr val="F8F2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921DE3-6227-44F4-82A1-B868E693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0"/>
            <a:ext cx="432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61F84F-CFA3-4281-A55C-55815F34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91000"/>
            <a:ext cx="43243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B96D1C-787A-4A7C-904D-F8B18017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670560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da5a78e0824f98"/>
          <a:stretch xmlns:a="http://schemas.openxmlformats.org/drawingml/2006/main"/>
        </p:blipFill>
        <p:spPr>
          <a:xfrm xmlns:a="http://schemas.openxmlformats.org/drawingml/2006/main">
            <a:off x="1268050" y="971550"/>
            <a:ext cx="1254851" cy="552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8DF46D-B4A7-4B16-8071-FBA3D73F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DECK SECTORIEL PREMIUM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FD000F-D58B-4B68-A625-0AF749A3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4114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Santé &amp; Bien-être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92A119-179D-43D3-BFB9-3563B08C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5219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Améliorer la qualité documentaire, la prévention et le pilotage non clinique avec une IA responsable.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4367EF-D17F-4493-B712-E3D1E2F4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5372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Pour les structures santé, prévention, HSE et qualité de vie au travail qui veulent réduire la charge administrative et mieux diffuser les messages utiles.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A5C45D-D8A9-4E3B-A2F4-8ED2D38F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81050"/>
            <a:ext cx="31432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214260"/>
          </a:solidFill>
          <a:ln xmlns:a="http://schemas.openxmlformats.org/drawingml/2006/main" w="9525">
            <a:solidFill>
              <a:srgbClr val="2142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E55419-A3CA-428C-8DFC-A0F88D0C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0287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Contextes d'application proches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CF4625-F185-4A36-BAAA-374C3647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14450"/>
            <a:ext cx="2590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 deck peut être partagé avec plusieurs organisations du même univers métier.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FAC215-40DD-4A14-94B2-65DFB8AC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717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6EEF6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E6EEF6"/>
                </a:solidFill>
                <a:latin typeface="Aptos"/>
                <a:ea typeface="Aptos"/>
                <a:cs typeface="Aptos"/>
              </a:rPr>
              <a:t>La proposition met en avant des enjeux récurrents, des cas d’usage crédibles et un parcours d’accompagnement progressif pour des structures aux besoins proches.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D9EA23-DE4A-4422-B258-3B2FE140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FC6295-46AD-402D-AD38-BCD013C0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433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Santé / Clinique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0D9D9B-9127-4EBA-B5DD-7623EC6A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290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1F0C17-81E3-4E64-999E-CBB7C26F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862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Santé / Hôpital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AEC562-5F25-4064-931B-04A6DFFD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719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27B1BB-5828-4F44-9BC0-4DEFE703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291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Assurance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3D9B48-3922-4F0B-A64B-F6118159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148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940AB1-4EE8-4618-88C6-FED5DD67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720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Aide humanitaire / Éducation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79F514-537D-4CBB-AEC4-B538E36C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B3D392-2490-4311-8FCE-682FDA9A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70B33B-DD03-4D65-8ACD-EDFA418A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9DF75E-3396-4BE5-91D0-C314A5F5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formations activables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8AF5A8-B823-4A59-996B-F508143E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51FF2E-9EC9-4EF5-8233-0EC50F90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620374-8BE9-40C7-B252-F173ED64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2C6240-0FEA-48D7-A1CD-0C076464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usages prioritaires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7800E4-8FF9-4CE0-9CC0-9FFEA51B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3730E9-E844-461D-B947-C5AA3ED7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68C8E3-B04C-4845-A768-68026920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J+90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6CB3C2-E37C-4F86-8FFE-94600D52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pilotage d’extension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82B9A4-9E68-4110-95CC-57A6E2E3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181600"/>
            <a:ext cx="1619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1ED45C-0392-4A9F-A20D-8A4ED8CF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C6C738-BD3B-4386-8968-FA06D5B0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33400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0 FCFA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9A8549D-FC7D-4472-8AA3-DA564D1F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197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audit d’entrée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DA440DD-9183-4417-92A2-B1A06814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81600"/>
            <a:ext cx="37338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B450421-DB03-4003-8656-498BE1B6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340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Promesse centrale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1A9B2F0-6596-4D00-9C08-FFC4561A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43550"/>
            <a:ext cx="3219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Transformer l’IA en gains visibles de productivité, de coordination, de qualité de service et de lisibilité managériale.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E0600F-5FF7-43B0-A66D-1339A7A5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250AA1C-0D24-4CF2-BDED-49A21F11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Santé &amp; Bien-être | Deck sectoriel premium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F9CA01D-3C52-4D97-8270-5DAA7822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6893169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13867A-74D6-4878-803C-0076BA3E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8D2C24-78B8-48B6-996D-8D116417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POURQUOI TRANSFERAI SUR CE TERRAIN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A47B79-491C-42AC-B490-7AB09D40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00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Une proposition conçue pour santé &amp; bien-être plutôt qu’un catalogue générique.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D17EDA-0706-4EA1-B631-7D376827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 bon positionnement ici ne porte pas sur l’acte clinique lui-même. Il porte sur la qualité documentaire, la prévention, la communication et le pilotage des programmes.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433C08-0AC8-4557-BF7F-DA0E9529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5086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23cd0b4c8346f2"/>
          <a:stretch xmlns:a="http://schemas.openxmlformats.org/drawingml/2006/main"/>
        </p:blipFill>
        <p:spPr>
          <a:xfrm xmlns:a="http://schemas.openxmlformats.org/drawingml/2006/main">
            <a:off x="1287916" y="2362200"/>
            <a:ext cx="1081768" cy="476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A1B23C-EDCC-4E94-812D-35C9191D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TransferAI : de la pédagogie à l’exécution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914762-9E12-4493-8145-7BD5D9A1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44005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Audit IA gratuit pour qualifier les priorités avant toute dépense lourde.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Formation ciblée des décideurs et des équipes, pensée pour les usages du terrain.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Accompagnement de mise en pratique sur 90 jours avec relecture des premiers KPI.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Cadre de gouvernance, confidentialité et progression par pilote avant extension.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61BF82-E427-443A-9418-1459DB5A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4400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La différence clé : une structure de formation classique transmet un contenu. TransferAI forme, puis accompagne l’usage réel, les ajustements et les décisions d’extension.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FD2B4E-487B-4B10-B3FA-4DC064F8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5467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5C6FFA-E91B-49A6-8CFD-A5DF5681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Types d'organisations et contextes proches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B4E7A2-05DE-494A-B2E5-9FE88A08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montrent des environnements où cette proposition garde la même pertinence métier et la même lisibilité commerciale.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B212F1-CF68-4AF4-AD22-EB31EDD0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05B33D-5BE6-4BD1-9171-814CCE34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Santé / Clinique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2F0A10-930E-424F-85F1-768BFA74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396134-1BBD-49A2-9991-06DD829C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Santé / Hôpital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BE0D68-84D7-40FC-9CD8-A01A60C6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322F14-EE2C-4AE4-B7F3-646CD93C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Assurance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A0DE4A-108A-49ED-9489-73A6F13A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6F276A-647D-402F-B7B5-FD2BEE22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Aide humanitaire / Éducation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D280DE-8EDE-44AC-81BE-407E0C9C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51203D-6CB5-458D-BFCF-DB5D9A5C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Développement durable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A80369-61D0-4DE4-9AF9-1275A8BE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91050"/>
            <a:ext cx="4629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629B27-1C98-4F5E-B747-F742B45C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434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Entrée recommandée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8EE5FD-CE5E-4C27-A8A9-F68EA958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53000"/>
            <a:ext cx="421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Audit IA gratuit, puis échange expert de 45 minutes pour confirmer les deux premiers cas d’usage, les équipes à former et le cadre de déploiement.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4DD07E-63B3-4DB8-8E57-6D4A2956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382EB3-3487-477E-AF34-DF95C215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Santé &amp; Bien-être | Positionnement et preuve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A431FA-DBD7-414E-B555-5844616A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6816474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8B65D3-81AA-4078-9718-6C62F9C3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4B916C-A7B0-4501-8922-32EF5500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CONTEXTE ET IRRITANTS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033202-580B-471E-972D-147F35B7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devient visible quand on traite d’abord les frictions déjà coûteuses.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9D53D5-C882-4588-809E-A80EFC5C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La bonne approche n’est pas de vendre l’IA en général. Elle consiste à isoler les flux où le temps perdu, l’hétérogénéité et le défaut de lecture ralentissent déjà l’organisation.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70739C-CEBB-4331-BC85-3B8DB4B2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F4549C-1796-4E77-9E0B-2CB02E8A6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026E5C-1C8D-407E-B99A-D21FE9BC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Charge administrative élevée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B4A958-3D13-461E-B2C3-09C50E22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D21265-A243-438E-BA69-B73033B4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Rapports, comptes rendus, supports d’information et documents qualité consomment beaucoup de temps.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CDADC8-B1BA-4950-B0B6-AAE0072D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F08E6B-936F-47F6-BAB5-3A9B0D9F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La documentation non clinique gagne en vitesse, en propreté et en homogénéité.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B165EB-8C9B-4CF9-A76C-B3EE2484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382922-4FEA-4BBC-8904-E4DABDB1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17E1D9-9D05-4D13-B6F1-345CCA38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Prévention et communication peu industrialisées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199A8D-120E-46A5-9ED9-A6F238A4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4620D4-E6D5-4F47-87C4-12937E18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messages de sensibilisation, supports patients ou QVT sont produits lentement et de façon irrégulière.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4CD0B4-BA4A-46E7-88A9-F95E0F56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637571-E636-4AAC-ADBA-09F30437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campagnes de prévention et fiches d’information sont plus faciles à produire et à adapter.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8648C2-86CC-4929-86BC-D80531BB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4092EB-B55A-4DAF-9B94-444502D6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D408E9-AB52-4287-9011-2705C07F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Retours terrain sous-exploités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2EB481-774F-416A-947F-EFCD82D3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FAE582-EE51-44EE-8154-66234A04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verbatims, incidents, questionnaires et remontées terrain sont peu consolidés.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D20501-A78F-4780-8BB8-89D72BBE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B0A895-BD16-41B4-BD46-B66CD428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équipes lisent mieux les signaux faibles et agissent plus tôt sur les irritants récurrents.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429A82-0B30-4F9D-967B-CD6BED59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589C0D-958A-4E54-A9EC-E015A5CB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AB27DC-ABF5-4A78-AB36-6F3698B9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Gouvernance HSE ou QVT diffuse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DA6843-F059-430E-8D23-BD13EBF2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385F5E-91B0-463F-9A01-1E83A4FB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responsables peinent à structurer les pratiques et à diffuser les standards.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625D10-5BA6-487F-AE94-5994A571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A92EAD-39D9-414D-88C8-52AD822B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programmes gagnent en cohérence, en traçabilité et en cadre documentaire.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23311F-7623-4C9C-99D4-46ACFF3C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8E28EC-F348-4BA3-AD8E-F6FCF928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055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Lecture de fond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85CB6C-A05E-481F-A3EE-98AA9FA3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28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irritation retenue doit se traduire en hypothèse de gain, en KPI lisible et en séquence de déploiement mesurable.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DD0A35-6244-4CDA-8D79-14E546F8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5832D0-7B12-49C8-9167-F6084973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Santé &amp; Bien-être | Priorités métier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1B9BAF-A4F0-4749-8913-E911B6D4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6490738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531E27-7BB2-45C5-A9D7-5BE3C317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35CA1E-5F4E-46F2-8349-08AC6835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ROI DE RÉFÉRENCE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9A05B1-7742-4BE1-ACF9-969ADEFC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23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n’a de valeur que s’il est relié à des KPI simples, lisibles et discutables.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744042-082A-4F95-B489-630DF06F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sont des hypothèses prudentes ou des benchmarks à confirmer pendant l’audit. TransferAI ne vend pas des chiffres abstraits ; nous proposons une mesure utile du premier terrain.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2C4F0B-4BC6-4A3C-B557-3C595F5E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31DE96-5976-4D31-A1D6-0DE1FDEA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25 à 45 %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7DB12E-6952-430F-BAAC-E30874D6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 la documentation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ED73BD-E55F-47A3-B1B0-E3F1217A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rapports, fiches, supports, synthèses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E9D5CF-C381-4B9D-8351-6A1200E8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C5863F-3B88-4142-8AD9-610F5A7E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Campagnes plus rapides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970CF7-279D-472B-8446-718B7050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43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 prévention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3C506A-69EB-4D69-A73C-BAF7ED33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670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supports, scripts, messages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D06C2A-5092-44A8-ABF6-8CA403DA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C3350F-6BF3-436F-9B14-C9DAE993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Lecture plus utile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49E1DA-7FB8-4D2D-BCDC-64C523B3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43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des retours terrain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6E7CD5-D421-4FE8-B880-62B0F16C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670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incidents, satisfaction, signaux faibles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254F9A-053F-46A3-ABC0-A9E52F97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133F97-CE8A-45B4-9C22-C8FFC7D6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Cadre plus homogène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ADA8D7-1558-412D-93ED-FAF37C71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43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 HSE et QVT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8A1CA3-FBB7-4CE6-A7AD-86E422B6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670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pratiques, messages, standards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6EED24-6732-4027-A08A-35CFC9DE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4EACBF-4478-4AFB-80A7-25788140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9550"/>
            <a:ext cx="468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Comment rendre ce ROI crédible dès le premier rendez-vous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C80166-38FD-421E-B6AC-1C7AE8AB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14850"/>
            <a:ext cx="428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1. Partir d’un flux métier concret et visible.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2. Nommer le ou les KPI que la direction lit déjà.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3. Limiter le premier pilote à un terrain mesurable.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4. Revoir les résultats avec les responsables métier avant toute extension.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DE38A8-F092-41EC-B912-F2088D84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67200"/>
            <a:ext cx="52578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Exemples de KPI souvent retenus : temps de cycle, délai de réponse, temps de préparation d’un comité, nombre d’étapes manuelles, volume d’anomalies détectées plus tôt, homogénéité des livrables, taux de résolution au premier niveau, vitesse d’onboarding.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C64B07-9A45-4CBF-B6AA-39932B09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62E7B7-5FE1-477F-AB9C-1BD98FB6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Santé &amp; Bien-être | ROI et KPI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3B4DD6-F86D-4297-90EB-87858A77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498457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128FEC-25FA-465E-81D8-D4D20C03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E7762C-E973-415A-9604-D4D11D7A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CAS D’USAGE PRIORITAIRES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14C337-F654-4517-A023-FB1CDA63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deck rend visibles 3 à 4 usages que le prospect peut immédiatement se représenter.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4407FD-53A8-413B-A86B-B990D8AD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85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cas d’usage ci-dessous a été formulé pour rester crédible, visible et relié à un flux métier réel. Le but n’est pas de tout lancer, mais de prioriser ce qui crée une première valeur lisible.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85A0FC-B636-4A16-9CF9-45211DA2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685B96-50D6-4193-A2DE-D4BC91C6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863278-5B08-40FC-B38C-74796CCB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Documentation qualité et rapports non cliniques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1921EF-33F4-42D0-862F-CC427F99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894F1B-7AD8-4839-AD5E-14D2CEC8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équipes rédigent de nombreux documents répétitifs à forte contrainte de forme.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97A4FE-034B-4316-8287-BAD75CE7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834224-AC5C-416E-A6F8-0873DAB1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rapports et supports gagnent en vitesse de préparation et en cohérence documentaire.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9AFD7D-81B7-4C82-A931-E1605EDD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3E79A4-E3F6-4906-A9A0-77426717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rédaction ; nombre de documents conformes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5FC3F4-CFE7-4881-831D-8170242A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C53266-23E2-4B46-858C-46C7C4DA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5F8BCB-37B5-4332-B8F5-6FA450C4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Prévention, sensibilisation et messages patients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6734A8-3622-40B6-996F-0DB2F94D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DF46A1-7E94-43A0-A15F-F6E47F46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campagnes de prévention sont trop lourdes à produire et à actualiser.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CD8789-117A-471E-B16B-F2740268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95516D-40AB-4C87-B868-112BDCD7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supports éducatifs et messages de sensibilisation se déclinent plus vite selon les publics.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CDA591-E050-4A2A-BCEE-3A4B29A8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8F621F-C3AC-417E-8C7A-7ACB4E2F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production ; portée ou engagement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A385A7-2BF2-4E23-BC33-55B432A5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40EAC4-93F9-4B59-B932-00ED072A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1095A9-5A7B-4D9B-A6A4-E669D5BA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Analyse des retours et incidents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B263F8-3C94-43E2-8A74-590D52CB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3C6F95-1110-4ECA-9F7A-BC4B6961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retours terrain et signaux faibles remontent difficilement dans les décisions d’amélioration.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D7BD6B-C96A-425B-A43A-A6D108D0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87091D-0313-4997-8C6E-E215F548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responsables relisent plus vite les motifs récurrents et les points de vigilance.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995796-7F94-403D-8084-2F4A1E16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CB1D5B-F92E-4161-AAF8-659BAD5C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d’analyse ; nombre d’actions correctives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C2A8FC-4F65-4C3C-89B1-A10D8FCB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9A4FC9-E535-4DA6-8831-A014B957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67881C-7785-4100-8882-1DADCD6D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Pilotage QVT / HSE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DC3C83-E9F7-41A4-90ED-8904F9B7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1EC307-7E82-4EA0-9D33-9B52734D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programmes existent mais sont parfois difficiles à documenter et suivre dans le temps.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8D3C0A-AD07-4145-9F12-9DC28059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72DB5E-7A66-4891-9B8D-E27ABE97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indicateurs, plans d’action et pratiques gagnent en continuité et en visibilité.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DD8407A-BFC2-4AF2-BE4C-905D04C6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70074D-18FA-416B-BC1A-099798DB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Rythme de mise à jour ; visibilité des plans d’action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74DDFB6-8F51-43B8-94B6-B9713BCA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83F6821-6FEE-4966-BB2D-F7540212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Santé &amp; Bien-être | Cas d’usage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0E82727-193D-49DE-955F-162B8D53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3337992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18B431-5BA7-43F0-A97D-2FC7F590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BE2E1-7754-45E7-A02C-846E8163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PREMIERS TERRAINS À LANCER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0B1A12-0F2F-4074-8078-3B93B373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71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Les deux premiers terrains doivent créer une valeur visible pour la direction et les équipes.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6B638C-3919-494D-85AC-4165C201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C’est souvent à ce niveau que le prospect décide si la démarche mérite d’aller plus loin. Le choix du premier terrain compte donc plus que la quantité d’idées disponibles.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37E5BE-55FF-40E7-A3FB-1A25A3E79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5DEC20-9257-41F8-A027-68FB4E80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CD86CB-64F8-4483-BFB7-65C0BE52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Documentation qualité et rapports non cliniques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14B813-4609-4732-BDB2-7EB94080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B40F7F-5497-4F61-A89F-B4D7BA41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équipes rédigent de nombreux documents répétitifs à forte contrainte de forme.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53337C-4644-46A1-90D2-610D3B67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8FBF01-8056-4A2D-AAC9-1195EC2D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rapports et supports gagnent en vitesse de préparation et en cohérence documentaire.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884E43-A82A-400B-B0F6-37659C76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DCE35E-9BBB-4E3C-85FA-AA641C37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de rédaction ; nombre de documents conformes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137386-CC0C-4950-A020-D80CD14B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7D1C3B-CD95-43E8-9F90-26C6A714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6827D3-0995-4166-BBF9-C9230C97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Prévention, sensibilisation et messages patients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327F13-4A70-4588-A03E-A839D239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8034F3-B7D4-4E98-A8C5-D22013BE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campagnes de prévention sont trop lourdes à produire et à actualiser.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82369F-C12E-4582-83D5-29A45E73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52A0DB-4B74-4FE3-BBEC-F23F8DAA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supports éducatifs et messages de sensibilisation se déclinent plus vite selon les publics.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4E133C-2F6E-4189-BE0D-C966ABB3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892FEB-CBCB-427F-BEFF-E00AE2CD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de production ; portée ou engagement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748B25-C102-47DE-8A25-289D65E8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68B5EC-DCB9-452B-AB84-782F6223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34050"/>
            <a:ext cx="1036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Règle simple : premier terrain = usage visible, responsable identifié, KPI lisible, données accessibles et supervision humaine facile à organiser.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F92194-776B-40FE-96B4-CBCF61F8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E1BC3D-7AF3-49EB-A320-8358ECC3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Santé &amp; Bien-être | Deux premiers terrains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5BD2E6-7C92-47EE-8DA9-C54E9BEE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1229916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69C82C-D34B-4AA6-AFD2-D85C8B91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98927-FC65-4D8E-BFE5-1D494455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FORMATION ET STANDARDISATION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5A2EE7-8BC0-43CB-B600-02FE4A5F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catalogue ciblé prépare des gestes métier réels, pas une simple acculturation théorique.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9163D4-F09A-46F1-A3EE-269B8582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76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proposition sectorielle TransferAI combine un noyau de formations activables et des usages de standardisation qui rendent l’adoption plus durable dans le temps.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87CD38-268A-413B-9E8E-EC92D471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4673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121C5D-F100-4E48-828E-329DDA18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Formations prioritaires à activer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E56079-9F35-4282-B7EC-C2FC0396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449A73-C692-4B94-8FD4-0670E0D5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81E896-F5A2-4F80-B36A-0E4F1DA6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351D12-DEE7-4EAC-98C0-94E93191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00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Prévention des Risques Professionnels avec l'IA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0CC24D-595E-49E1-AAF1-70F69CD4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F0E6CC-C014-4B36-98A6-AA19AFA5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8332CA-009C-4C40-8F08-CE5C4BF9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F3F474-041A-45F8-BE37-F67F8657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76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Programmes de Santé au Travail avec l'IA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2DE720-1656-4906-B30A-44C982C0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2B4E57-62E2-4A58-A597-2216BCFD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3FAA3E-0EDC-4775-900D-54F9F9BB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EB1387-A45B-436B-8165-3DAE5DF0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528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QVT et IA : Qualité de Vie au Travail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5C0A66-820D-45D6-9E27-13F93BD9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731757-AFBE-4057-8E4A-FA9E5AC7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C6338C-004E-4039-A3D4-082447FC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15FE32-318E-4002-BAC2-23C0824A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291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Conformité HSE et 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D45CEC-32E6-4802-BBD1-752FCFBC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FBEE46-10CC-4732-B348-F5A57495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FE9F83-B52F-4B05-9038-913D6250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8AD5BF-0364-491A-8AC4-5E1AD224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05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Gestion des Accidents du Travail avec l'IA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5E3815-5592-4F37-8475-7E8CFFCE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C29CB4-2A4A-46BB-B401-A695E4AE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82428C-3419-4D3C-8E26-71F730FA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560EBE-4393-48D3-92E0-6DFC7AD5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81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Télémédecine et IA en Entreprise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72EABB-1EB1-43DA-845B-1931BC1F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14550"/>
            <a:ext cx="50482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5B2EBF-21FC-42D2-B3B2-01608666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3695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Ce que ce dispositif doit standardiser concrètement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C457DB-9F7C-464E-889A-5654027B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419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Accélérer la documentation et la prévention sans s’aventurer sur des terrains cliniques sensibles.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Mieux diffuser les messages utiles aux patients, collaborateurs ou publics cibles.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Aider les responsables HSE, QVT ou qualité à relire plus vite les signaux terrain.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Structurer des programmes plus cohérents sur plusieurs sites ou équipes.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532130-5118-4678-A622-E2CF259F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95750"/>
            <a:ext cx="4419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Après la formation, les équipes formées gardent un accès à la communauté TransferAI pour partager leurs cas, leurs difficultés et obtenir des conseils pratiques orientés exécution.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036F6A-32DA-46CD-95D7-74ED3414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43450"/>
            <a:ext cx="4419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Cette logique augmente la probabilité d’usage réel, sécurise les premiers tests et réduit l’effet “formation oubliée” après quelques semaines.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924273-8030-443D-BD37-C00ABACF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FD8B01-52AC-40C6-A6EA-D00D8A16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Santé &amp; Bien-être | Formation et standardisation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9DC7845-0141-4570-B6DA-7A0349DD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3759236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A2203F-4228-4E84-960A-DFA42F72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2EE259-A4BB-40A1-8F2D-3BA58521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PARCOURS 90 JOURS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88D64C-D565-4543-BD75-75EF1647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14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séquence recommandée va du cadrage à la mesure, avec validation à chaque palier.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F50B14-8BE2-4DB6-A2B4-7CB752E8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L’objectif n’est pas de “déployer de l’IA” d’un bloc, mais de passer par des étapes courtes, visibles et gouvernées, avec un point de décision clair à chaque jalon.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8516A8-8465-4FA1-8D9C-54F48D3C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A7E296-0879-4F4A-9639-7413F0C8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53FB93-2572-4A3E-BC91-3C2559BD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36F028-D69C-4256-B762-C6051A95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Audit, cadrage et priorisation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7803B0-B323-4D61-90EF-87D4BBC6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Identifier les flux à plus forte valeur, les risques à encadrer et les équipes à mobiliser.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6D66AF-DF34-4010-A33D-3C1A24C0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6517E9-5A82-473A-AC25-4FBAAC5D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B60F60-8B19-4F55-9752-E61DDB18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0C507B-877F-44B6-84BE-EDEFD0DD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Premier livrable utile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2F8342-05FA-413F-96B1-1C0245CF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Produire un kit de travail, un assistant pilote ou une première base documentaire prête à l’usage.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41B3EA-4EF7-4A0F-BF84-4F366250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A16E64-DF0B-4761-89E9-877CF1C4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1F3769-8F6D-41FC-AA51-4B188667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J+45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D178E9-EC60-4270-A98F-6BC73FFD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ciblée et pilote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9B77F7-0BB2-414C-BC0B-955B0D67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Former les bonnes populations, lancer le premier terrain d’exécution et sécuriser les pratiques.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16E2E9-B620-4FB8-99E4-6ADD0C1F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33600"/>
            <a:ext cx="287655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76C7A0-A1B7-4236-8F45-67C1FAF2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7783B8-5ED8-450A-BE14-5643AA18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J+90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2BA19E-CCB2-45D3-B349-2534F9B1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67000"/>
            <a:ext cx="253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Mesure, gouvernance et extension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CC9650-7D7F-4458-9ED2-85D48AB1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09900"/>
            <a:ext cx="25336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Relire les premiers KPI, ajuster les usages et décider l’extension, le recentrage ou la montée en charge.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2B64F9-E08B-4211-A3AB-577CD903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820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51A983-E467-4B60-8A8D-DF7379C8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721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Différentiel TransferAI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FC49F1-0741-4BE5-972E-68A82F32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19750"/>
            <a:ext cx="10172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Une structure de formation classique s’arrête au contenu. TransferAI forme, puis accompagne la mise en pratique, la relecture des premiers KPI, les ajustements et la décision d’extension pendant 90 jours.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F83C7A-9721-487A-9049-F026991E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DA6B3D-4751-4CD9-935C-C6965043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Santé &amp; Bien-être | Parcours 90 jours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3686C3-88EB-4BD5-9397-1B395C09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6236632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54FD82-B280-4790-BD62-349D38B1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3A7EFB-4BF8-485D-B1EC-61237F0B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OFFRE RECOMMANDÉE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EC0104-E457-4735-B23A-AA915364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proposition TransferAI pour santé &amp; bien-être s’organise en 4 briques simples à activer.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7FAA66-F933-459E-9483-B96870DE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Cette architecture permet de relier audit, formation, accompagnement, gouvernance et premier terrain d’exécution dans une seule logique commerciale compréhensible par le prospect.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AEBE82-1D55-41B5-84F2-45E0EACA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90C3E6-5065-4B75-BD93-59E521B1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856593-6F12-4B43-B6E3-22E0C56E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 métier ciblé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F61267-C77C-4C8A-B22E-ED3DDB63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Qualifier les flux, documents et points de friction les plus critiques pour Santé &amp; Bien-être.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CB06AB-3926-4C9E-A2DF-D33C66FE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Cartographie des irritants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Hypothèses de gains rapides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DE6EDB-D543-4C5F-990C-C257AE94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7A4EA1-75C3-4E5F-984D-1F1C07E3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20BF6C-72B4-4D83-8A89-9DF0C6CD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décideurs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9B180F-BF94-484F-BEF8-396BA2FA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Aligner la direction, les managers et les sponsors sur les usages, limites et conditions de réussite.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8ACC75-A60C-41D3-9A3B-84B62953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Vision, gouvernance et arbitrages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Lecture des premiers KPI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A125EC-89D2-4F97-98DB-3385DBC4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34C5EE-12DB-40BB-B7C0-C2051D72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028998-3A8A-4D6C-AAC5-D13A004E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équipes opérationnelles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F88992-8C53-437A-ACA8-D2EE92E2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Mettre les bonnes méthodes et les bons assistants dans les mains des équipes qui exécutent.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D5BC25-7663-4D69-90E6-4EF6A1F8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Gestes métier augmentés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Standardisation utile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6A2E91-73AC-423A-BE61-A5AD0E1C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95D1DB-4B67-40F1-8873-2CC246F3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033F20-BB14-4FFA-94F7-2FC0FF2F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Pilote, accompagnement et extension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BE33E3-52A9-4406-997D-3F4F95C3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Passer d’une intention IA à un premier terrain visible, mesurable et gouverné.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503304-9389-471C-B8BD-88A7C94A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Pilotage sur 90 jours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Décision d’extension ou de recentrage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580712-936F-4E06-9EC7-A0F093F2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19D6CF-96A1-4AEB-9655-7378B982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Santé &amp; Bien-être | Offre recommandée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13A0A4-4747-4C70-8AE8-775C83F1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9372555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6CCEE4-E04E-4507-806E-41593D74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8"/>
          </a:solidFill>
          <a:ln xmlns:a="http://schemas.openxmlformats.org/drawingml/2006/main" w="0">
            <a:solidFill>
              <a:srgbClr val="F6F0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CEA54F-9D9C-431B-8EA9-A26DF65F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7f90bdb02d46bc"/>
          <a:stretch xmlns:a="http://schemas.openxmlformats.org/drawingml/2006/main"/>
        </p:blipFill>
        <p:spPr>
          <a:xfrm xmlns:a="http://schemas.openxmlformats.org/drawingml/2006/main">
            <a:off x="1056731" y="723900"/>
            <a:ext cx="1125039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5908DA-43D3-4F36-834E-34A77C25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CONFIANCE ET PROCHAINE ÉTAPE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C556DD-014F-447C-A46B-55EAE3A4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590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Proposer un pilote utile, gouverné et mesurable.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6C33CC-86B7-4F3C-B8B1-33BAA2BE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D7E5F3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D7E5F3"/>
                </a:solidFill>
                <a:latin typeface="Aptos"/>
                <a:ea typeface="Aptos"/>
                <a:cs typeface="Aptos"/>
              </a:rPr>
              <a:t>Le rendez-vous ne sert pas à vendre un outil abstrait. Il sert à confirmer les deux premiers terrains, les équipes à former, les données à protéger et la sortie attendue à 90 jours.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0997F5-B9A9-416F-89AC-E1DDD8A2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3340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20405F"/>
          </a:solidFill>
          <a:ln xmlns:a="http://schemas.openxmlformats.org/drawingml/2006/main" w="9525">
            <a:solidFill>
              <a:srgbClr val="2B587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BC6F1D-F354-4C54-9B7A-DDE2AB42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 cadre de confiance à présenter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AE8212-B017-4617-B203-620C5F0E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4629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usages proposés restent gouvernés, progressifs et validés par des responsables métier identifiés.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données sensibles, documents internes et arbitrages critiques restent sous supervision humaine.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TransferAI ne s’arrête pas à la formation : nous accompagnons aussi la mise en pratique, les premiers KPI et la décision d’extension.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usages proposés excluent toute décision clinique automatisée et restent concentrés sur documentation, prévention et pilotage.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2D5715-DAE6-48EE-A6C6-687CF657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104900"/>
            <a:ext cx="4953000" cy="4438650"/>
          </a:xfrm>
          <a:prstGeom xmlns:a="http://schemas.openxmlformats.org/drawingml/2006/main" prst="roundRect">
            <a:avLst>
              <a:gd name="adj" fmla="val 171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FFFDF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18C5C6-AB17-431A-B413-6A78FE86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Sortie attendue du rendez-vous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636062-78D2-4BC9-8C74-FE62DA04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0700"/>
            <a:ext cx="4095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Confirmer les 2 premiers cas d’usage à plus forte valeur visible.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Valider les populations à former et le niveau d’accompagnement requis.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Identifier les KPI prioritaires et la forme du premier pilote.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Décider du bon ordre entre audit détaillé, formation ciblée, pilote et gouvernance.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1A6CBE-9CA1-4467-A807-0C34656B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766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CTA principal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F76BD9-DF0C-47DE-9165-AD0EAEC1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24250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Planifier un audit IA gratuit suivi d’un échange expert de 45 minutes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CB67E8-6C39-41E4-8357-98373D8C5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957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Pièces jointes recommandées : ce deck sectoriel + mini-catalogue ciblé + formulaire d’audit pré-rendez-vous.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B83CC0-BDAE-49A5-91E7-750B1044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291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Contextes proches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650CDC-DC4D-4601-89D7-C45030A8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577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AC0933-036D-4842-AF01-921C74AA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149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Santé / Clinique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FC8E0C-630A-42C0-8570-BDCFA80C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8160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CB0606-7EAC-49E5-A77D-47387FE3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23875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Santé / Hôpital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95D021-778D-4214-8836-824FA11D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054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E5C375-DFDF-4A51-A914-B555EEA4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5626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Assurance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EFC517-FCFA-4D99-8A6C-B8EC74E0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5D309B-B900-47DA-BC5F-A3D1C015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Santé &amp; Bien-être | Confiance et prochaine étape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4FA6BE-5617-43BC-9C63-F9C36AE4D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488572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2026-06-12T16:03:04.8520000Z</dcterms:created>
  <dcterms:modified xsi:type="dcterms:W3CDTF">2026-06-12T16:03:04.8520000Z</dcterms:modified>
</coreProperties>
</file>