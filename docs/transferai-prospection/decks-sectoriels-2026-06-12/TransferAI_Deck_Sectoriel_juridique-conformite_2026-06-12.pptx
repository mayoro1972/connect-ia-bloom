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09ad207ead34336" /><Relationship Type="http://schemas.openxmlformats.org/officeDocument/2006/relationships/extended-properties" Target="/docProps/app.xml" Id="Re69369c7ad134a2e" /><Relationship Type="http://schemas.openxmlformats.org/officeDocument/2006/relationships/officeDocument" Target="/ppt/presentation.xml" Id="R2dc573802dd5484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1c0bb39b04c49ec"/>
  </p:sldMasterIdLst>
  <p:notesMasterIdLst>
    <p:notesMasterId xmlns:r="http://schemas.openxmlformats.org/officeDocument/2006/relationships" r:id="Rdf0874009f294a64"/>
  </p:notesMasterIdLst>
  <p:sldIdLst>
    <p:sldId xmlns:r="http://schemas.openxmlformats.org/officeDocument/2006/relationships" id="256" r:id="R8961bb204f1046b9"/>
    <p:sldId xmlns:r="http://schemas.openxmlformats.org/officeDocument/2006/relationships" id="257" r:id="Rced293d2a1a44c48"/>
    <p:sldId xmlns:r="http://schemas.openxmlformats.org/officeDocument/2006/relationships" id="258" r:id="Rd963bfb4626c49bf"/>
    <p:sldId xmlns:r="http://schemas.openxmlformats.org/officeDocument/2006/relationships" id="259" r:id="Rb8bc747ed8034506"/>
    <p:sldId xmlns:r="http://schemas.openxmlformats.org/officeDocument/2006/relationships" id="260" r:id="Re738b3f717b64d46"/>
    <p:sldId xmlns:r="http://schemas.openxmlformats.org/officeDocument/2006/relationships" id="261" r:id="Rfa4f5e577cba4c45"/>
    <p:sldId xmlns:r="http://schemas.openxmlformats.org/officeDocument/2006/relationships" id="262" r:id="Rf25fb32e07d74672"/>
    <p:sldId xmlns:r="http://schemas.openxmlformats.org/officeDocument/2006/relationships" id="263" r:id="R3a2de6259eb64203"/>
    <p:sldId xmlns:r="http://schemas.openxmlformats.org/officeDocument/2006/relationships" id="264" r:id="Ra6838f7ebfb345c6"/>
    <p:sldId xmlns:r="http://schemas.openxmlformats.org/officeDocument/2006/relationships" id="265" r:id="Rdd4dcedf9b4f440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439199e286d4f9b" /><Relationship Type="http://schemas.openxmlformats.org/officeDocument/2006/relationships/slideMaster" Target="/ppt/slideMasters/slideMaster1.xml" Id="R51c0bb39b04c49ec" /><Relationship Type="http://schemas.openxmlformats.org/officeDocument/2006/relationships/notesMaster" Target="/ppt/notesMasters/notesMaster1.xml" Id="Rdf0874009f294a64" /><Relationship Type="http://schemas.openxmlformats.org/officeDocument/2006/relationships/presProps" Target="/ppt/presProps.xml" Id="R8fa381fdaf064af5" /><Relationship Type="http://schemas.openxmlformats.org/officeDocument/2006/relationships/viewProps" Target="/ppt/viewProps.xml" Id="R5a4f35cfaa7344d4" /><Relationship Type="http://schemas.openxmlformats.org/officeDocument/2006/relationships/tableStyles" Target="/ppt/tableStyles.xml" Id="R0425c3d03ea048d4" /><Relationship Type="http://schemas.openxmlformats.org/officeDocument/2006/relationships/slide" Target="/ppt/slides/slide1.xml" Id="R8961bb204f1046b9" /><Relationship Type="http://schemas.openxmlformats.org/officeDocument/2006/relationships/slide" Target="/ppt/slides/slide2.xml" Id="Rced293d2a1a44c48" /><Relationship Type="http://schemas.openxmlformats.org/officeDocument/2006/relationships/slide" Target="/ppt/slides/slide3.xml" Id="Rd963bfb4626c49bf" /><Relationship Type="http://schemas.openxmlformats.org/officeDocument/2006/relationships/slide" Target="/ppt/slides/slide4.xml" Id="Rb8bc747ed8034506" /><Relationship Type="http://schemas.openxmlformats.org/officeDocument/2006/relationships/slide" Target="/ppt/slides/slide5.xml" Id="Re738b3f717b64d46" /><Relationship Type="http://schemas.openxmlformats.org/officeDocument/2006/relationships/slide" Target="/ppt/slides/slide6.xml" Id="Rfa4f5e577cba4c45" /><Relationship Type="http://schemas.openxmlformats.org/officeDocument/2006/relationships/slide" Target="/ppt/slides/slide7.xml" Id="Rf25fb32e07d74672" /><Relationship Type="http://schemas.openxmlformats.org/officeDocument/2006/relationships/slide" Target="/ppt/slides/slide8.xml" Id="R3a2de6259eb64203" /><Relationship Type="http://schemas.openxmlformats.org/officeDocument/2006/relationships/slide" Target="/ppt/slides/slide9.xml" Id="Ra6838f7ebfb345c6" /><Relationship Type="http://schemas.openxmlformats.org/officeDocument/2006/relationships/slide" Target="/ppt/slides/slide10.xml" Id="Rdd4dcedf9b4f440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9ad518474ec473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383e4b3c2ae45a9" /><Relationship Type="http://schemas.openxmlformats.org/officeDocument/2006/relationships/notesMaster" Target="/ppt/notesMasters/notesMaster1.xml" Id="Rb241cfc4dc5b4a3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02b557040604efb" /><Relationship Type="http://schemas.openxmlformats.org/officeDocument/2006/relationships/notesMaster" Target="/ppt/notesMasters/notesMaster1.xml" Id="R396d105ffb59463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f48f6c969d94b7f" /><Relationship Type="http://schemas.openxmlformats.org/officeDocument/2006/relationships/notesMaster" Target="/ppt/notesMasters/notesMaster1.xml" Id="R1c4f32f4afd54f4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01ee59bab444e0d" /><Relationship Type="http://schemas.openxmlformats.org/officeDocument/2006/relationships/notesMaster" Target="/ppt/notesMasters/notesMaster1.xml" Id="R34ff71f4bda74c0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0ea035c02c1418d" /><Relationship Type="http://schemas.openxmlformats.org/officeDocument/2006/relationships/notesMaster" Target="/ppt/notesMasters/notesMaster1.xml" Id="R06083ce29ab4455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e0258860abc4fc1" /><Relationship Type="http://schemas.openxmlformats.org/officeDocument/2006/relationships/notesMaster" Target="/ppt/notesMasters/notesMaster1.xml" Id="R85d2c7c2cce6499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a127e7fcda3405b" /><Relationship Type="http://schemas.openxmlformats.org/officeDocument/2006/relationships/notesMaster" Target="/ppt/notesMasters/notesMaster1.xml" Id="Re7c192d5c94f4d4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278dcf1e21a4ee6" /><Relationship Type="http://schemas.openxmlformats.org/officeDocument/2006/relationships/notesMaster" Target="/ppt/notesMasters/notesMaster1.xml" Id="Re8b81612b58f434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d81ab47105d4383" /><Relationship Type="http://schemas.openxmlformats.org/officeDocument/2006/relationships/notesMaster" Target="/ppt/notesMasters/notesMaster1.xml" Id="Rd99a955a17b7410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338a90701e944bd" /><Relationship Type="http://schemas.openxmlformats.org/officeDocument/2006/relationships/notesMaster" Target="/ppt/notesMasters/notesMaster1.xml" Id="Rf6ba8bb26686466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edc41c9e7647a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50b7844082c419c" /><Relationship Type="http://schemas.openxmlformats.org/officeDocument/2006/relationships/slideLayout" Target="/ppt/slideLayouts/slideLayout1.xml" Id="R95aae9b3afe145f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5aae9b3afe145f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f2f0441d9c485c" /><Relationship Type="http://schemas.openxmlformats.org/officeDocument/2006/relationships/image" Target="/ppt/media/image.png" Id="R147471f69b9943d7" /><Relationship Type="http://schemas.openxmlformats.org/officeDocument/2006/relationships/notesSlide" Target="/ppt/notesSlides/notesSlide1.xml" Id="R00d3c161b89945c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4008c27d0540b0" /><Relationship Type="http://schemas.openxmlformats.org/officeDocument/2006/relationships/image" Target="/ppt/media/image2.png" Id="Rb4bc5447edc74a72" /><Relationship Type="http://schemas.openxmlformats.org/officeDocument/2006/relationships/notesSlide" Target="/ppt/notesSlides/notesSlide2.xml" Id="Rdecefa4cba60428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4f45f2cebd4a1f" /><Relationship Type="http://schemas.openxmlformats.org/officeDocument/2006/relationships/notesSlide" Target="/ppt/notesSlides/notesSlide3.xml" Id="R39136f5822f74e0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d6a315790d4d91" /><Relationship Type="http://schemas.openxmlformats.org/officeDocument/2006/relationships/notesSlide" Target="/ppt/notesSlides/notesSlide4.xml" Id="Rf989e91b87be401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f04fabe9cb4077" /><Relationship Type="http://schemas.openxmlformats.org/officeDocument/2006/relationships/notesSlide" Target="/ppt/notesSlides/notesSlide5.xml" Id="R72c043e0e310436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d76a424e6d4a70" /><Relationship Type="http://schemas.openxmlformats.org/officeDocument/2006/relationships/notesSlide" Target="/ppt/notesSlides/notesSlide6.xml" Id="Rf795855b8bb947c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f513723e7e49bf" /><Relationship Type="http://schemas.openxmlformats.org/officeDocument/2006/relationships/notesSlide" Target="/ppt/notesSlides/notesSlide7.xml" Id="R23ecfba0d2bc43a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3bde1a9d5d4dbe" /><Relationship Type="http://schemas.openxmlformats.org/officeDocument/2006/relationships/notesSlide" Target="/ppt/notesSlides/notesSlide8.xml" Id="Rc2aaf9166b63494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206c39ccd04f28" /><Relationship Type="http://schemas.openxmlformats.org/officeDocument/2006/relationships/notesSlide" Target="/ppt/notesSlides/notesSlide9.xml" Id="R00b30d3584c4464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004b58f2824bac" /><Relationship Type="http://schemas.openxmlformats.org/officeDocument/2006/relationships/image" Target="/ppt/media/image3.png" Id="Ra786b05f42b9468b" /><Relationship Type="http://schemas.openxmlformats.org/officeDocument/2006/relationships/notesSlide" Target="/ppt/notesSlides/notesSlide10.xml" Id="R25441fc0f789441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EDC4B57-B67C-4F1F-9882-D11AF6B82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F9BE03-360C-44E1-8B88-1F9C9FA89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2EA"/>
          </a:solidFill>
          <a:ln xmlns:a="http://schemas.openxmlformats.org/drawingml/2006/main" w="0">
            <a:solidFill>
              <a:srgbClr val="F8F2E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1EA96A-87C1-45F2-8F67-21B6398BC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0"/>
            <a:ext cx="4324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11356F-6161-417D-950D-BD41CEFE5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191000"/>
            <a:ext cx="43243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B65926-0783-4D0C-955B-530D88C51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04850"/>
            <a:ext cx="6705600" cy="4114800"/>
          </a:xfrm>
          <a:prstGeom xmlns:a="http://schemas.openxmlformats.org/drawingml/2006/main" prst="roundRect">
            <a:avLst>
              <a:gd name="adj" fmla="val 185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7471f69b9943d7"/>
          <a:stretch xmlns:a="http://schemas.openxmlformats.org/drawingml/2006/main"/>
        </p:blipFill>
        <p:spPr>
          <a:xfrm xmlns:a="http://schemas.openxmlformats.org/drawingml/2006/main">
            <a:off x="1268050" y="971550"/>
            <a:ext cx="1254851" cy="5524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A6CEA6-B3B7-4769-B692-A2B04725E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907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C88C3A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C88C3A"/>
                </a:solidFill>
                <a:latin typeface="Aptos"/>
                <a:ea typeface="Aptos"/>
                <a:cs typeface="Aptos"/>
              </a:rPr>
              <a:t>DECK SECTORIEL PREMIUM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FB6D2E-62D6-430E-88F7-DA6745A84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95500"/>
            <a:ext cx="4114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Juridique &amp; Conformité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7005B0-CCB4-4D7B-B2B5-737609326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86050"/>
            <a:ext cx="52197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6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76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Accélérer la recherche, la revue documentaire et la conformité sans fragiliser le contrôle humain.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1389FD-C324-487A-9D97-75AFCFF4F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24250"/>
            <a:ext cx="53721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Pour les directions juridiques, conformité, contentieux et contrôle interne qui veulent gagner du temps de préparation, de revue et de sécurisation documentaire.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BAD21B-B79B-42C9-8F74-4B74DE7C3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781050"/>
            <a:ext cx="3143250" cy="236220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214260"/>
          </a:solidFill>
          <a:ln xmlns:a="http://schemas.openxmlformats.org/drawingml/2006/main" w="9525">
            <a:solidFill>
              <a:srgbClr val="21426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0EF4CF-14BA-46F8-B9C7-CA88E367E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02870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D8E6F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D8E6F4"/>
                </a:solidFill>
                <a:latin typeface="Aptos"/>
                <a:ea typeface="Aptos"/>
                <a:cs typeface="Aptos"/>
              </a:rPr>
              <a:t>Contextes d'application proches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26DF81-E38F-4B88-AE83-F5A9BAC3D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314450"/>
            <a:ext cx="25908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Ce deck peut être partagé avec plusieurs organisations du même univers métier.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7F264E-4EF7-493D-9CD8-7716D340A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1717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E6EEF6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E6EEF6"/>
                </a:solidFill>
                <a:latin typeface="Aptos"/>
                <a:ea typeface="Aptos"/>
                <a:cs typeface="Aptos"/>
              </a:rPr>
              <a:t>La proposition met en avant des enjeux récurrents, des cas d’usage crédibles et un parcours d’accompagnement progressif pour des structures aux besoins proches.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64AA54-4159-4355-A395-EEA0239F3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486150"/>
            <a:ext cx="28003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29D250-C3C7-49B0-B10F-65E793E94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543300"/>
            <a:ext cx="2609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Banque / Finance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782EF1-D9E3-4768-B217-8E2E1821B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829050"/>
            <a:ext cx="28003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37963A-6B3C-4274-BBD8-EBA82CBD8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886200"/>
            <a:ext cx="2609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Assurance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D2D5C8-F0FB-48C9-94AB-CA2BB5265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171950"/>
            <a:ext cx="28003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1893E2-93D4-4246-800A-E2865E4A6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229100"/>
            <a:ext cx="2609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Inspection / Certification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DCD90B-85A3-42C9-A1DF-DB495B93D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514850"/>
            <a:ext cx="28003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B60587-8A09-4B58-9D13-74B78AA8B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572000"/>
            <a:ext cx="2609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Administration publique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5267371-7240-4C02-BB45-B958A7F71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81600"/>
            <a:ext cx="1524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A2019D-35F5-4FAA-83B8-DD80EE617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53050"/>
            <a:ext cx="38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76B9C5E-DB43-4DE0-94F4-CE78F83F0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334000"/>
            <a:ext cx="108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10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6C648C0-3627-4FFB-9660-2D682AADA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619750"/>
            <a:ext cx="1085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formations activables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D769E42-911B-4E29-B630-93E671350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181600"/>
            <a:ext cx="1524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CB2584E-5736-491C-AC1D-ED385010A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353050"/>
            <a:ext cx="38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20F8CC0-3F18-436B-9390-BA8509C38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334000"/>
            <a:ext cx="108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3AF4D26-BDD1-49E4-A0F4-8872C8BBA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619750"/>
            <a:ext cx="1085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usages prioritaires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63AAFD6-D2EA-4648-A568-58017101A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181600"/>
            <a:ext cx="1524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363AE99-6231-4109-92B2-FFEF8AAF7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53050"/>
            <a:ext cx="38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E3928F8-11F6-4B0D-9CB6-9189DAE85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334000"/>
            <a:ext cx="108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J+90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53A9E79-C75B-46C7-A76F-F8025E1CF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619750"/>
            <a:ext cx="1085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pilotage d’extension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CC7BCAF-C937-4C56-AFE2-0E9EC0F0D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5181600"/>
            <a:ext cx="16192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4819992-A911-4950-8506-5B06B6358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5353050"/>
            <a:ext cx="38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749FC0D-861A-476C-9842-CE2266B04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334000"/>
            <a:ext cx="1181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0 FCFA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45BAB3A-B1FF-47D2-96D8-A8D26E69C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619750"/>
            <a:ext cx="1181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audit d’entrée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F2609FF-C49C-45BE-99EE-E175526A5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181600"/>
            <a:ext cx="37338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B301B13-D11F-4AE4-9831-0BE941A24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33400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Promesse centrale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53EA81F-2A97-4DE1-822D-1B5D0CC7C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543550"/>
            <a:ext cx="3219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Transformer l’IA en gains visibles de productivité, de coordination, de qualité de service et de lisibilité managériale.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5C7323E-2803-499C-B5B9-6E25E4080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91E6206-A215-4BD0-B06C-C71634818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Juridique &amp; Conformité | Deck sectoriel premium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B87CF7A-80DE-4E5F-BED9-297FE2E72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15393446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AF7F461-5541-4972-A7A8-32611A4CF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33B281-E9F4-48A9-A7FC-E1A931D78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C88C3A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C88C3A"/>
                </a:solidFill>
                <a:latin typeface="Aptos"/>
                <a:ea typeface="Aptos"/>
                <a:cs typeface="Aptos"/>
              </a:rPr>
              <a:t>POURQUOI TRANSFERAI SUR CE TERRAIN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5B2189-1AA4-4D92-9712-0AF3E4BD2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8001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0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90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Une proposition conçue pour juridique &amp; conformité plutôt qu’un catalogue générique.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9DD830-1528-4540-8D37-B91DDEDE3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4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Dans ce domaine, la bonne promesse n’est pas l’automatisation aveugle du jugement juridique. La vraie valeur est dans la préparation, la revue, la veille et la traçabilité.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E227AD-D9CF-4AA2-9FB4-BAF5D9F7B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5086350" cy="33718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bc5447edc74a72"/>
          <a:stretch xmlns:a="http://schemas.openxmlformats.org/drawingml/2006/main"/>
        </p:blipFill>
        <p:spPr>
          <a:xfrm xmlns:a="http://schemas.openxmlformats.org/drawingml/2006/main">
            <a:off x="1287916" y="2362200"/>
            <a:ext cx="1081768" cy="4762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5A67A6-330F-439F-A629-6D1B0EF3E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TransferAI : de la pédagogie à l’exécution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089B1B-E102-4B5D-AE07-50011EC17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29000"/>
            <a:ext cx="44005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Audit IA gratuit pour qualifier les priorités avant toute dépense lourde.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Formation ciblée des décideurs et des équipes, pensée pour les usages du terrain.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Accompagnement de mise en pratique sur 90 jours avec relecture des premiers KPI.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Cadre de gouvernance, confidentialité et progression par pilote avant extension.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486B74-C2A5-45B5-BD55-443B2D207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10150"/>
            <a:ext cx="4400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03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03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La différence clé : une structure de formation classique transmet un contenu. TransferAI forme, puis accompagne l’usage réel, les ajustements et les décisions d’extension.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6B0EED-7F2D-4F21-9E9F-6D38EB0D7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152650"/>
            <a:ext cx="5467350" cy="33718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B3FE6E-F33E-467D-8134-3B1773305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00300"/>
            <a:ext cx="409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3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Types d'organisations et contextes proches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990891-7D32-4388-8906-4C564384A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38450"/>
            <a:ext cx="4629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32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32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repères ci-dessous montrent des environnements où cette proposition garde la même pertinence métier et la même lisibilité commerciale.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39600E-4DF5-48FA-B706-E00361098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52800"/>
            <a:ext cx="23812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943266-3A3C-43FD-9509-E027DBAEF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409950"/>
            <a:ext cx="2190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Banque / Finance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1C40BE-589C-406D-8F72-4BB1D2A33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352800"/>
            <a:ext cx="23812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150155-A094-40D9-A06F-5D14AFE67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409950"/>
            <a:ext cx="2190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Assurance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63635E-8FC1-423F-ADF5-195651FB1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95700"/>
            <a:ext cx="23812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0F52DD-12FC-4C56-A4BA-ABF7AD087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52850"/>
            <a:ext cx="2190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Inspection / Certification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1B6BD1-5C07-4A36-A6E9-D2BAE8F91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695700"/>
            <a:ext cx="23812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4FB9D0-F4B8-4042-B048-94B4D6F7A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752850"/>
            <a:ext cx="2190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Administration publique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55245E-CB84-41C8-B170-A5EE2A8CF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38600"/>
            <a:ext cx="23812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A2AEC7-30B5-4717-9BB8-7813D6948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95750"/>
            <a:ext cx="2190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Énergie / Pétrole &amp; Gaz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8B1188-CF88-41CC-B985-E0A2CB421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591050"/>
            <a:ext cx="46291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7459571-BBE4-4A3F-9321-A766F620A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7434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Entrée recommandée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20F2682-2FAF-4F19-A136-9DAECF6D2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953000"/>
            <a:ext cx="421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Audit IA gratuit, puis échange expert de 45 minutes pour confirmer les deux premiers cas d’usage, les équipes à former et le cadre de déploiement.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57C5EBF-066E-417A-B04C-6049F5694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4FB20A4-6FCF-4482-B540-0E0C0589E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Juridique &amp; Conformité | Positionnement et preuve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01C2620-5BD8-43D6-ABE9-1B476B606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68489382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40E90DB-EB92-4E56-AEA3-89BB956CA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7C6C63-E488-457F-877C-1465A5870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C88C3A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C88C3A"/>
                </a:solidFill>
                <a:latin typeface="Aptos"/>
                <a:ea typeface="Aptos"/>
                <a:cs typeface="Aptos"/>
              </a:rPr>
              <a:t>CONTEXTE ET IRRITANTS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1322D3-F997-4EA4-8437-D06DB7E44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191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3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93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 ROI devient visible quand on traite d’abord les frictions déjà coûteuses.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8ED294-9F77-47F6-A04B-00AB07380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8477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7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7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La bonne approche n’est pas de vendre l’IA en général. Elle consiste à isoler les flux où le temps perdu, l’hétérogénéité et le défaut de lecture ralentissent déjà l’organisation.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92F4CF-4A4B-445D-8326-DCDFEDA75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521970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87C89E-1151-41CF-9A00-8FE799355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28850"/>
            <a:ext cx="47625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E8EDEE-BB8D-47C2-8458-3962869FD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09800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Recherche et veille trop lentes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930178-0940-4860-9EB6-6D5CCD537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7175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12E48A-D617-4299-B320-AA247F7FE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43200"/>
            <a:ext cx="4686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équipes passent du temps à consolider jurisprudence, textes, clauses et repères sectoriels.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F4DD5F-B60C-4AA5-A886-82D796EA4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1945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D86BEF-AB4A-43DF-A446-488849653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90900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La recherche préparatoire devient plus rapide, plus structurée et plus facile à partager avant revue experte.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09BA39-2327-440F-8739-5CB5A5F6E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38350"/>
            <a:ext cx="521970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E2BBEF-78D3-4EAB-8E6A-F51DFBDB4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28850"/>
            <a:ext cx="47625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752F48-26C8-4873-95AC-D9D3318EF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209800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Analyse contractuelle répétitive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5A9179-C801-4C9B-859C-5947A1C44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57175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417F16-C9A0-4F62-A2F8-6866DDCD6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743200"/>
            <a:ext cx="4686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La revue de contrats ou pièces comparables mobilise des efforts importants sur des points récurrents.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B260F3-4EB7-4DB1-919E-F23AFEE51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21945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BA55CE-F9F7-407C-BC2B-82A146498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390900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premières synthèses et repérages d’écarts accélèrent le travail des juristes et compliance officers.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279075-EAD7-4AA7-A2C8-C6FC89200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521970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F0EE90-1FDD-4AAD-A353-6EF0FE9B4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67200"/>
            <a:ext cx="47625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51E7F5-2F42-4E3A-AB95-45589FA66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48150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Conformité documentaire diffuse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B60A61-D38A-422C-B555-818A16B09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1010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89919A-B51E-429E-96E7-AA4B7423E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81550"/>
            <a:ext cx="4686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équipes peinent à maintenir des réponses homogènes sur données, KYC, AML ou procédures.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3DC57CC-E2CC-45B2-8AD8-503BDF3FD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5780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125EB8-68B8-4705-9023-154129326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29250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Des bases de référence et routines de contrôle rendent le cadre plus lisible et plus stable.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0F5710E-5C9D-4375-812A-BD2425246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76700"/>
            <a:ext cx="521970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61BEA0B-5077-48B5-B75D-3CDFA26A6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267200"/>
            <a:ext cx="47625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C287718-2A14-416E-8141-DFD9D1145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248150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Pression sur les délais de préparation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C9F7272-D082-4712-BA34-4DAE36D2C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61010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703E912-7B45-423D-9F8A-35AA8D537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781550"/>
            <a:ext cx="4686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Comités, dossiers, contentieux et due diligence demandent des synthèses rapides mais exigeantes.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640713B-53D7-4DBE-9A7F-C74F9FD78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25780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614082D-7ED5-4785-9F19-AD6375FB2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429250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L’IA prépare une première matière mieux structurée, relue ensuite par les responsables compétents.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EFBA4D1-CCA2-4449-844A-93CA51DF0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1200"/>
            <a:ext cx="108204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CFED3C2-3EA9-453A-B257-F5EA28A86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9055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Lecture de fond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EDA81A9-EA00-444D-93F2-99B8A4E06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28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Chaque irritation retenue doit se traduire en hypothèse de gain, en KPI lisible et en séquence de déploiement mesurable.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94B45D0-1286-4215-BD7D-D3146921C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589DF80-6739-471A-865F-1C79AC106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Juridique &amp; Conformité | Priorités métier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39DF13E-C719-4839-BF71-48F2C97F2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30863970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7586CDB-565B-4219-A3A9-001A0AC88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F31B3C-8618-4A62-B068-EC0C48321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C88C3A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C88C3A"/>
                </a:solidFill>
                <a:latin typeface="Aptos"/>
                <a:ea typeface="Aptos"/>
                <a:cs typeface="Aptos"/>
              </a:rPr>
              <a:t>ROI DE RÉFÉRENCE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40D62D-4A7C-42C5-984C-A60EFB89B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239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9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89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 ROI n’a de valeur que s’il est relié à des KPI simples, lisibles et discutables.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2FD597-1EF2-4C58-9E6E-2F947E5D7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8953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7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7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repères ci-dessous sont des hypothèses prudentes ou des benchmarks à confirmer pendant l’audit. TransferAI ne vend pas des chiffres abstraits ; nous proposons une mesure utile du premier terrain.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9AB747-F912-4543-A69F-9F07EB3DA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2381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16F3A0-605E-440A-A930-DA43375B1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43150"/>
            <a:ext cx="2038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30 à 50 %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C20175-F551-4E32-89DC-E9F54543B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43200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sur la préparation documentaire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30F496-39A7-4D44-833D-644683D1E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67050"/>
            <a:ext cx="2038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veille, revue, synthèse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58B280-7BD2-4B4A-A6AC-E1C1D5BCC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90750"/>
            <a:ext cx="2381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BCDD8A-17E8-47EC-98B8-ED73ABE02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43150"/>
            <a:ext cx="2038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Revue plus homogène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88C100-1300-4162-B670-CB2A5381B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743200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des contrats et pièces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424726-B5B3-4897-91B7-360AB353B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067050"/>
            <a:ext cx="2038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checklists et écarts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885CC0-E04E-4252-BA3F-FA1D09F1B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190750"/>
            <a:ext cx="2381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A6CEB8-912B-45D9-AE0C-814D4F307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43150"/>
            <a:ext cx="2038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Réactivité accrue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895254-5028-407D-A1F2-0CCD90997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743200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sur conformité et comité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6607C9-AD5F-4C39-B1EF-B1767AF83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067050"/>
            <a:ext cx="2038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notes plus rapides à préparer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800E18-2057-49AD-9410-44743969B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190750"/>
            <a:ext cx="2381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DD34F5-4A7A-4C87-B50C-84BB12630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43150"/>
            <a:ext cx="2038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Moins de dispersion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7344C1-190A-4021-ACAA-F6E06B9D4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743200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sur les standards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73F935-B58B-451E-8684-EF0310960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067050"/>
            <a:ext cx="2038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données, AML, clauses, procédures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01A6E3-4D48-4394-B915-9A02A6AEA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820400" cy="19812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C5D812-E237-4FAB-B9F4-E43126C4A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19550"/>
            <a:ext cx="4686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6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6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Comment rendre ce ROI crédible dès le premier rendez-vous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5E28077-2719-4BD2-B09C-34833D146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14850"/>
            <a:ext cx="4286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1. Partir d’un flux métier concret et visible.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2. Nommer le ou les KPI que la direction lit déjà.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3. Limiter le premier pilote à un terrain mesurable.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4. Revoir les résultats avec les responsables métier avant toute extension.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0B50CA4-A33A-4099-AE34-D08A2B886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267200"/>
            <a:ext cx="52578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Exemples de KPI souvent retenus : temps de cycle, délai de réponse, temps de préparation d’un comité, nombre d’étapes manuelles, volume d’anomalies détectées plus tôt, homogénéité des livrables, taux de résolution au premier niveau, vitesse d’onboarding.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F588623-3370-4BEE-B244-8CB14468B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D25B1CA-D167-4D3D-815E-315BD669D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Juridique &amp; Conformité | ROI et KPI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F539D25-6BF2-42B1-80EF-7BC2EFF54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07006121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4620464-8761-437B-9DC6-87E3F6207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B164C8-6E6C-44C9-B1F7-5C1A63129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C88C3A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C88C3A"/>
                </a:solidFill>
                <a:latin typeface="Aptos"/>
                <a:ea typeface="Aptos"/>
                <a:cs typeface="Aptos"/>
              </a:rPr>
              <a:t>CAS D’USAGE PRIORITAIRES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EFB155-5424-462A-A551-8F204C2AE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334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9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 bon deck rend visibles 3 à 4 usages que le prospect peut immédiatement se représenter.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6376EA-2997-4BED-BFF1-F80B0D9E9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885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Chaque cas d’usage ci-dessous a été formulé pour rester crédible, visible et relié à un flux métier réel. Le but n’est pas de tout lancer, mais de prioriser ce qui crée une première valeur lisible.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0FD9BA-C20F-44EF-9975-9DD22726F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52197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180D9B-941D-4518-BDE3-24922FE9E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28850"/>
            <a:ext cx="361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6BC7FE-7AA5-4D8A-B7E7-0A1FDC78E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4876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Recherche juridique assistée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75DDD5-B952-490C-8E17-FCC0B059C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4320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C68508-441E-4D99-AADA-C7A918B2C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9560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La consolidation des sources prend du temps avant d’arriver à la vraie analyse.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D1AC49-FD99-4816-8D94-E14BC3AB2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575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272336-CA03-4574-9206-6736C7CB2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0995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juristes reçoivent une base de lecture plus structurée pour accélérer la phase de préparation.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AA53EE-39B5-4666-9F20-E9BF85DDC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95700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EC9ED7-A018-4F29-A10E-560A2F6EE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71900"/>
            <a:ext cx="487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98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KPI à suivre : Temps de préparation d’une note ; délai de réponse interne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B81800-BA19-4D4E-85E9-F3460B182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57400"/>
            <a:ext cx="52197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5694CF-FCF6-435C-8615-763128D10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28850"/>
            <a:ext cx="361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FFA442-19A1-4DB4-B45D-6D1279A9D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381250"/>
            <a:ext cx="4876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Analyse de contrats et écarts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CF3E2B-91BF-43BE-8E83-E4116451D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74320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EC6CE4-6AE0-45F4-94C8-290DB884F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89560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Chaque revue contractuelle repart souvent de zéro malgré des motifs récurrents.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04354B-6946-4714-A7F2-BD33CDCEC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2575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9D7188-BCC2-4524-80F8-CCC6F9821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40995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clauses sensibles, incohérences et points de vigilance ressortent plus vite avant arbitrage humain.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F86446-7BCD-4F46-90BD-5BCB86C5B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695700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70EDC3-6626-479F-928B-9A5B26DD6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771900"/>
            <a:ext cx="487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98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KPI à suivre : Temps de revue ; nombre d’écarts repérés tôt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FFF828-4775-4F98-A5D0-A21F69E09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52197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E76A9D7-5FAF-4452-B9B3-5E4C97EFE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43400"/>
            <a:ext cx="361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B858A72-E6EE-42C6-ADED-F65C14E32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95800"/>
            <a:ext cx="4876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Conformité données et procédures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2C1C8A7-DA2D-49C3-A143-C60552335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577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8626123-481E-4EA3-8F11-9E5883C38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1015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réponses en matière de données, conformité et obligations internes restent peu capitalisées.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202DF48-F598-4A9A-AEC8-7609B3FEC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7210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D9906EF-30CA-4E18-9310-AAADEF360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2450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Une base de référence et des checklists outillent mieux les équipes au quotidien.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FA503F3-B231-4E01-AEAB-946710C60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0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307813E-B891-4381-B09F-4CFB921B6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86450"/>
            <a:ext cx="487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98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KPI à suivre : Temps de réponse ; homogénéité des avis et procédures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4B75E0A-4FD9-4F37-A77D-C26E8C158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71950"/>
            <a:ext cx="52197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2B56656-14E6-4285-8CA1-7325E051E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343400"/>
            <a:ext cx="361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70D2C27-7F16-4855-AD6B-60EB099AB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495800"/>
            <a:ext cx="4876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Due diligence et comités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0A053B3-C0A4-45D0-B8EE-7B48EF8DE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8577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7856E52-8788-4143-B351-BD38686A7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01015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synthèses préparatoires demandent beaucoup de collecte et de reformulation.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83147D5-D4E5-4F3E-92FE-D99F10058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37210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59E9F08-013B-4B2E-99CC-EA048F063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52450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dossiers deviennent plus lisibles, plus rapides à assembler et plus simples à challenger.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BC76B9E-0A6E-40BE-A38E-4B95D6A7C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810250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06828B8-1180-4D6C-8A8B-A88A64586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886450"/>
            <a:ext cx="487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98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KPI à suivre : Temps de préparation dossier ; délai avant comité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701B91A-87A0-408F-AA34-E63DC94D0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C342C63-3B6E-40DE-90C1-6A03C0B44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Juridique &amp; Conformité | Cas d’usage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5D9215A-A383-426E-9E60-37193E401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83508036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FD51612-5153-427E-AA3F-DD0E3E92A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DA3956-C8FF-433C-9230-A74417A2D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C88C3A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C88C3A"/>
                </a:solidFill>
                <a:latin typeface="Aptos"/>
                <a:ea typeface="Aptos"/>
                <a:cs typeface="Aptos"/>
              </a:rPr>
              <a:t>PREMIERS TERRAINS À LANCER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77004A-73F3-4083-88C7-9B18EE3D6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715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Les deux premiers terrains doivent créer une valeur visible pour la direction et les équipes.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1C0AF7-7EF0-4F84-BC12-0D5DEFE25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C’est souvent à ce niveau que le prospect décide si la démarche mérite d’aller plus loin. Le choix du premier terrain compte donc plus que la quantité d’idées disponibles.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09530B-4A5B-49E1-8AB1-3F77BE685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52197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B802D0-5627-45E9-A9EE-F539289A7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81250"/>
            <a:ext cx="1333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C88C3A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C88C3A"/>
                </a:solidFill>
                <a:latin typeface="Aptos"/>
                <a:ea typeface="Aptos"/>
                <a:cs typeface="Aptos"/>
              </a:rPr>
              <a:t>Terrain prioritaire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AD2093-22A9-4B77-B76A-558F33EF5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09850"/>
            <a:ext cx="4800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Recherche juridique assistée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0A339F-D2B4-43AE-8D10-E70DAC631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670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27396D-4187-4398-A700-D8D2A309D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38500"/>
            <a:ext cx="4800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La consolidation des sources prend du temps avant d’arriver à la vraie analyse.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BE62AE-EBD1-4AAB-B328-8681FB123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052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534C27-7C18-4F55-9110-F6E27CC7F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76700"/>
            <a:ext cx="4800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juristes reçoivent une base de lecture plus structurée pour accélérer la phase de préparation.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DE421B-85FF-4970-B5AC-9A3650B11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81550"/>
            <a:ext cx="48006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7F863B-69D1-4B61-812B-6520CC24A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76800"/>
            <a:ext cx="4533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KPI clé : Temps de préparation d’une note ; délai de réponse interne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361F5C-E232-492A-B820-F483FF51C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90750"/>
            <a:ext cx="52197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5A2892-7B38-4969-9756-3E7A1E335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81250"/>
            <a:ext cx="1333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Terrain prioritaire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E8E9AB-EDEE-4FD0-BC1F-2496C5A30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609850"/>
            <a:ext cx="4800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Analyse de contrats et écarts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D4D4F1-1F52-4EE1-B27D-E0B25FF74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0670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3A3194-312E-46A1-B490-DFEDC6A59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238500"/>
            <a:ext cx="4800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Chaque revue contractuelle repart souvent de zéro malgré des motifs récurrents.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72607B-A6EC-44B3-8EEC-9D02132C9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9052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5242D7-96E5-4FF1-B573-95F972B9C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076700"/>
            <a:ext cx="4800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clauses sensibles, incohérences et points de vigilance ressortent plus vite avant arbitrage humain.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F64A1C-3256-432A-832F-4615FC71E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781550"/>
            <a:ext cx="48006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782F3B-D670-4642-9D9F-6D1138755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876800"/>
            <a:ext cx="4533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KPI clé : Temps de revue ; nombre d’écarts repérés tôt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2DEA89-958E-499D-8598-0DDD9A485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81650"/>
            <a:ext cx="108204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8D9B511-38AD-4595-9B9E-7B6CAABCF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34050"/>
            <a:ext cx="10363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Règle simple : premier terrain = usage visible, responsable identifié, KPI lisible, données accessibles et supervision humaine facile à organiser.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93D29CF-5B2D-4A35-813E-AEE94E887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224D7B1-4015-4111-BE56-89082451A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Juridique &amp; Conformité | Deux premiers terrains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2AC2994-F7D4-4904-8A10-75B3F65A3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4484818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33E75AF-1A66-4B48-8229-4DD15A134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013EE9-4CBB-4E8C-8092-82BCA59E7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C88C3A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C88C3A"/>
                </a:solidFill>
                <a:latin typeface="Aptos"/>
                <a:ea typeface="Aptos"/>
                <a:cs typeface="Aptos"/>
              </a:rPr>
              <a:t>FORMATION ET STANDARDISATION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C6B4A6-FC6D-4E1E-B557-AC59CC827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906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 bon catalogue ciblé prépare des gestes métier réels, pas une simple acculturation théorique.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87F42E-EEEE-40EA-A216-81C65DA66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8763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Chaque proposition sectorielle TransferAI combine un noyau de formations activables et des usages de standardisation qui rendent l’adoption plus durable dans le temps.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3BE408-073D-44B0-BC84-8448ADDCB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546735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F8817D-FF2D-4682-A699-F59529BA1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24100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Formations prioritaires à activer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D007B0-0940-48AC-8B88-28A5388CC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0EAD9D-C5DB-452F-A39B-A4AE8F900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6225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C88C3A"/>
          </a:solidFill>
          <a:ln xmlns:a="http://schemas.openxmlformats.org/drawingml/2006/main" w="9525">
            <a:solidFill>
              <a:srgbClr val="C88C3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7832D8-D649-4EDA-B1D2-4E0300886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1940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E4C606-2D93-4623-BCFB-709A3DE53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80035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Recherche Juridique Assistée par IA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844AE3-438A-45F5-B738-FF7B6FDF8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5E1F28-591D-45A3-AF00-A942C248C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C88C3A"/>
          </a:solidFill>
          <a:ln xmlns:a="http://schemas.openxmlformats.org/drawingml/2006/main" w="9525">
            <a:solidFill>
              <a:srgbClr val="C88C3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77ED49-1D6C-44D3-8966-7CFC36B41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9565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B25816-17CA-4EAF-AB24-904448B8B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27660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Analyse de Contrats avec l'IA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E66923-C21A-41FE-821E-9200286B3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E2EA6E-3610-42E7-9A9E-1AD7AD5A8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1475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C88C3A"/>
          </a:solidFill>
          <a:ln xmlns:a="http://schemas.openxmlformats.org/drawingml/2006/main" w="9525">
            <a:solidFill>
              <a:srgbClr val="C88C3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F78ED8-A5EA-4488-8C0B-E1FCBDF68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7190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EB1856-CE6E-4611-BCB6-136C40EFC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5285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Rédaction Juridique Assistée par l'IA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2C83D5-6F6A-4DEA-A787-F774964A4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56D4B9-A2D8-48F4-BDE2-C00467A50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9100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C88C3A"/>
          </a:solidFill>
          <a:ln xmlns:a="http://schemas.openxmlformats.org/drawingml/2006/main" w="9525">
            <a:solidFill>
              <a:srgbClr val="C88C3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BA0262-4F77-4EEE-9B06-8B428A2D3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4815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787B15-6405-497D-A514-4EC3854B5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22910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RGPD et Protection des Données avec l'IA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571073-4D4A-4965-AC77-1B77DE996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9105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83C3B4C-0C84-4621-921C-9D4964B4D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6725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C88C3A"/>
          </a:solidFill>
          <a:ln xmlns:a="http://schemas.openxmlformats.org/drawingml/2006/main" w="9525">
            <a:solidFill>
              <a:srgbClr val="C88C3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2C340B8-53F4-449F-AAE0-85CBCCA7A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95D50FB-3829-48BA-A813-D4BBB7280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70535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Conformité Anti-Blanchiment et IA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103A6FB-23CF-4E38-870C-C27F9EE27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6730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4091F7A-8017-4371-AB8F-C02039B4F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4350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C88C3A"/>
          </a:solidFill>
          <a:ln xmlns:a="http://schemas.openxmlformats.org/drawingml/2006/main" w="9525">
            <a:solidFill>
              <a:srgbClr val="C88C3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7D92146-6D6D-4B9D-9943-0170199B9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0065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D32D39F-876D-4489-AD28-C9D8B2510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18160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Due Diligence Augmentée par l'IA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BF1EBC8-D5BF-469E-A613-E79EF6A46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114550"/>
            <a:ext cx="504825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CA283E0-E1F2-49B6-876D-C8626252C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24100"/>
            <a:ext cx="3695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0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Ce que ce dispositif doit standardiser concrètement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B82007F-1422-4494-9E82-C17F3573C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781300"/>
            <a:ext cx="44196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Mieux préparer sans affaiblir la revue experte et la responsabilité juridique.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Structurer des bases de référence sur clauses, procédures et exigences de conformité.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Réduire le temps consommé par les revues répétitives et les synthèses documentaires.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Créer un cadre de confiance robuste autour des données, validations et usages autorisés.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E1C7056-1929-4BA0-831C-EF1D7B71A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095750"/>
            <a:ext cx="4419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Après la formation, les équipes formées gardent un accès à la communauté TransferAI pour partager leurs cas, leurs difficultés et obtenir des conseils pratiques orientés exécution.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9EBC409-E789-4850-AD5F-DFEE0E88D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743450"/>
            <a:ext cx="4419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Cette logique augmente la probabilité d’usage réel, sécurise les premiers tests et réduit l’effet “formation oubliée” après quelques semaines.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9981DB7-51E5-4491-A4BE-9145E8043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A8C0073-EBBC-49F1-91E3-FBD8D364D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Juridique &amp; Conformité | Formation et standardisation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961C4F4-0A52-40DC-B08F-6003B1245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00707408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1A0EAD3-F443-4C27-8655-0B2E3B437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1493A0-A99D-4ED9-A72E-20E0ACD59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C88C3A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C88C3A"/>
                </a:solidFill>
                <a:latin typeface="Aptos"/>
                <a:ea typeface="Aptos"/>
                <a:cs typeface="Aptos"/>
              </a:rPr>
              <a:t>PARCOURS 90 JOURS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1C9E5C-D6B4-4180-8A39-3CEF0DF9E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9144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La séquence recommandée va du cadrage à la mesure, avec validation à chaque palier.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152A58-F32A-459B-AB85-628BDA237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8858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L’objectif n’est pas de “déployer de l’IA” d’un bloc, mais de passer par des étapes courtes, visibles et gouvernées, avec un point de décision clair à chaque jalon.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3BDF78-F525-410B-AE21-CC66C8B4C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2419350" cy="2609850"/>
          </a:xfrm>
          <a:prstGeom xmlns:a="http://schemas.openxmlformats.org/drawingml/2006/main" prst="roundRect">
            <a:avLst>
              <a:gd name="adj" fmla="val 315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42A016-0C5B-4CD5-8039-B1F4FD9FC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05050"/>
            <a:ext cx="571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2A4E26-CF6E-441B-85DB-7E5BB4FC0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62200"/>
            <a:ext cx="57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J+0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599AEA-1906-4260-9B87-89844E840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67000"/>
            <a:ext cx="2076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Audit, cadrage et priorisation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AE5275-9D8F-4ECE-96ED-B4EEB0B93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9900"/>
            <a:ext cx="20764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Identifier les flux à plus forte valeur, les risques à encadrer et les équipes à mobiliser.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971C73-75B9-4ED5-ABF6-565C00A46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33600"/>
            <a:ext cx="2419350" cy="2609850"/>
          </a:xfrm>
          <a:prstGeom xmlns:a="http://schemas.openxmlformats.org/drawingml/2006/main" prst="roundRect">
            <a:avLst>
              <a:gd name="adj" fmla="val 315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B4C754-2C21-4773-A2E8-CA13FF752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05050"/>
            <a:ext cx="571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C61232-5F0D-4CB9-864E-14F2CF8FE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62200"/>
            <a:ext cx="57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J+15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D9040E-C5BB-4966-B8B0-0275F7E02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667000"/>
            <a:ext cx="2076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Premier livrable utile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23407C-FC49-475E-B6CD-8FF4E07A3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009900"/>
            <a:ext cx="20764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Produire un kit de travail, un assistant pilote ou une première base documentaire prête à l’usage.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A457B0-82BD-4B2E-853E-188D00C4A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133600"/>
            <a:ext cx="2419350" cy="2609850"/>
          </a:xfrm>
          <a:prstGeom xmlns:a="http://schemas.openxmlformats.org/drawingml/2006/main" prst="roundRect">
            <a:avLst>
              <a:gd name="adj" fmla="val 315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9A25F4-6FA0-43F0-B031-89BBDDBA7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05050"/>
            <a:ext cx="571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5C5906-146C-4680-BCB6-07D8689B0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62200"/>
            <a:ext cx="57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J+45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DDF9FF-897A-4E51-8050-64E27F5A6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667000"/>
            <a:ext cx="2076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Formation ciblée et pilote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696A81-6B85-4DB5-B50F-142E36C15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009900"/>
            <a:ext cx="20764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Former les bonnes populations, lancer le premier terrain d’exécution et sécuriser les pratiques.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67D09C-9D58-4F8C-B0F9-AFBECA071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133600"/>
            <a:ext cx="2876550" cy="2609850"/>
          </a:xfrm>
          <a:prstGeom xmlns:a="http://schemas.openxmlformats.org/drawingml/2006/main" prst="roundRect">
            <a:avLst>
              <a:gd name="adj" fmla="val 292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4C326F-3731-4C0C-98AD-BD1B24094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05050"/>
            <a:ext cx="571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F819B2-5C28-4E64-9A54-EA3FDA989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62200"/>
            <a:ext cx="57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J+90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1C48D1-D9AA-4C7F-ADFF-9578D2139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667000"/>
            <a:ext cx="2533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Mesure, gouvernance et extension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809468B-0438-4B64-9D8F-8CF5E4BDB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009900"/>
            <a:ext cx="25336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Relire les premiers KPI, ajuster les usages et décider l’extension, le recentrage ou la montée en charge.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5C6256A-ED04-4E7E-B92F-16FB5FE13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81600"/>
            <a:ext cx="108204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99E428A-A23F-42A3-B4F4-718575047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7210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Différentiel TransferAI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644E7B1-E9BF-4DF7-8D93-85CCE43E1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619750"/>
            <a:ext cx="10172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Une structure de formation classique s’arrête au contenu. TransferAI forme, puis accompagne la mise en pratique, la relecture des premiers KPI, les ajustements et la décision d’extension pendant 90 jours.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58BE178-A37D-4B17-8405-0A7237A21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277B711-4392-40E8-ACB1-62A38B1B9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Juridique &amp; Conformité | Parcours 90 jours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E6CD112-3B2B-4351-960E-5E47C0C28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70013547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E724EBE-5C9E-4E1D-92C2-4E98E269E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A2A21D-0B0A-4990-AAA7-2077666B1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C88C3A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C88C3A"/>
                </a:solidFill>
                <a:latin typeface="Aptos"/>
                <a:ea typeface="Aptos"/>
                <a:cs typeface="Aptos"/>
              </a:rPr>
              <a:t>OFFRE RECOMMANDÉE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DC377F-D29C-428B-A944-F9BE1966D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906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La proposition TransferAI pour juridique &amp; conformité s’organise en 4 briques simples à activer.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324287-0275-4CAA-B6AB-699F1EC64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8953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Cette architecture permet de relier audit, formation, accompagnement, gouvernance et premier terrain d’exécution dans une seule logique commerciale compréhensible par le prospect.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563BB1-0E53-428C-BFFD-DE0BA8635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52197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86DE95-A1D2-4B4C-A9C0-DC33C8409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38400"/>
            <a:ext cx="4953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CD864A-2047-474E-BAA6-D21241F3A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419350"/>
            <a:ext cx="426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Audit métier ciblé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434D4C-D9E0-4DE6-872C-F8A805590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432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Qualifier les flux, documents et points de friction les plus critiques pour Juridique &amp; Conformité.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89C744-DC74-412C-BD48-A43B85416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004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Cartographie des irritants</a:t>
            </a:r>
          </a:p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Hypothèses de gains rapides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5E4C4D-3575-4738-A491-373705A05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47900"/>
            <a:ext cx="52197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CA8000-6522-46B3-9848-9F6CE4F68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438400"/>
            <a:ext cx="4953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B02133-55CF-4312-9FB2-1450740D2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419350"/>
            <a:ext cx="426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Formation des décideurs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9B7AF2-BAC0-4035-9213-254935539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7432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Aligner la direction, les managers et les sponsors sur les usages, limites et conditions de réussite.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6E154D-902C-417D-B4C7-D2AD642CF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2004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Vision, gouvernance et arbitrages</a:t>
            </a:r>
          </a:p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Lecture des premiers KPI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DEA45C-8F47-4A7F-B7B0-2F22AA08F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52197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2ABDD5-1676-4B93-8E5F-40CCCB495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52900"/>
            <a:ext cx="4953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5C7F5B-C870-4006-8AFC-216957C33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133850"/>
            <a:ext cx="426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Formation des équipes opérationnelles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861D58-68CB-4ED3-A5C4-ECDF9E391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577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Mettre les bonnes méthodes et les bons assistants dans les mains des équipes qui exécutent.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38AE4D-2D3A-48AC-AFCC-2927F73ED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149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Gestes métier augmentés</a:t>
            </a:r>
          </a:p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Standardisation utile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6B82E0-8E34-4475-AD3E-50887D845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62400"/>
            <a:ext cx="52197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8525E5-BE27-451F-B9EB-E8B2F99A5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152900"/>
            <a:ext cx="4953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183BEF-6DB8-4080-89ED-E3B0EEBC8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133850"/>
            <a:ext cx="426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Pilote, accompagnement et extension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704832-7E21-4F1A-AE8E-2515907C2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4577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Passer d’une intention IA à un premier terrain visible, mesurable et gouverné.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56F6254-CCF1-415A-8E04-7B4AD2A87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9149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Pilotage sur 90 jours</a:t>
            </a:r>
          </a:p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Décision d’extension ou de recentrage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64CD771-F692-41C6-95BB-A46D0D4BE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D12700A-3B31-46B1-B323-209D67C7D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Juridique &amp; Conformité | Offre recommandée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1E04FA2-A2A5-4515-9BDA-8AE2E5481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71745726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C24D38D-EFBA-4F14-8AE2-1F3E3F21F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8"/>
          </a:solidFill>
          <a:ln xmlns:a="http://schemas.openxmlformats.org/drawingml/2006/main" w="0">
            <a:solidFill>
              <a:srgbClr val="F6F0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4DFE47-B01E-4727-AF39-570C73E48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1111"/>
            </a:avLst>
          </a:prstGeom>
          <a:solidFill xmlns:a="http://schemas.openxmlformats.org/drawingml/2006/main">
            <a:srgbClr val="163556"/>
          </a:solidFill>
          <a:ln xmlns:a="http://schemas.openxmlformats.org/drawingml/2006/main" w="9525">
            <a:solidFill>
              <a:srgbClr val="163556"/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86b05f42b9468b"/>
          <a:stretch xmlns:a="http://schemas.openxmlformats.org/drawingml/2006/main"/>
        </p:blipFill>
        <p:spPr>
          <a:xfrm xmlns:a="http://schemas.openxmlformats.org/drawingml/2006/main">
            <a:off x="1056731" y="723900"/>
            <a:ext cx="1125039" cy="4953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658C15-968F-4F54-9C6E-F659151A2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859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D8E6F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D8E6F4"/>
                </a:solidFill>
                <a:latin typeface="Aptos"/>
                <a:ea typeface="Aptos"/>
                <a:cs typeface="Aptos"/>
              </a:rPr>
              <a:t>CONFIANCE ET PROCHAINE ÉTAPE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0C0AAC-0C0B-4912-B567-EDD264F82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5905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88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988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Proposer un pilote utile, gouverné et mesurable.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CFF950-CB1F-4B7F-893E-2F3DB78AF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57450"/>
            <a:ext cx="581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D7E5F3"/>
                </a:solidFill>
                <a:latin typeface="Aptos"/>
                <a:ea typeface="Aptos"/>
                <a:cs typeface="Aptos"/>
              </a:defRPr>
            </a:pPr>
            <a:r>
              <a:rPr sz="945" b="0">
                <a:solidFill>
                  <a:srgbClr val="D7E5F3"/>
                </a:solidFill>
                <a:latin typeface="Aptos"/>
                <a:ea typeface="Aptos"/>
                <a:cs typeface="Aptos"/>
              </a:rPr>
              <a:t>Le rendez-vous ne sert pas à vendre un outil abstrait. Il sert à confirmer les deux premiers terrains, les équipes à former, les données à protéger et la sortie attendue à 90 jours.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5BE361-C389-4E80-AE83-8F804186A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00400"/>
            <a:ext cx="5334000" cy="234315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20405F"/>
          </a:solidFill>
          <a:ln xmlns:a="http://schemas.openxmlformats.org/drawingml/2006/main" w="9525">
            <a:solidFill>
              <a:srgbClr val="2B587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D177EC-7382-4515-A601-E89796840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48050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Le cadre de confiance à présenter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C0F14F-A56E-4DB9-BE3F-C364A04BE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29050"/>
            <a:ext cx="46291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E8F1F8"/>
                </a:solidFill>
                <a:latin typeface="Aptos"/>
                <a:ea typeface="Aptos"/>
                <a:cs typeface="Aptos"/>
              </a:defRPr>
            </a:pPr>
            <a:r>
              <a:rPr sz="855" b="0">
                <a:solidFill>
                  <a:srgbClr val="E8F1F8"/>
                </a:solidFill>
                <a:latin typeface="Aptos"/>
                <a:ea typeface="Aptos"/>
                <a:cs typeface="Aptos"/>
              </a:rPr>
              <a:t>• Les usages proposés restent gouvernés, progressifs et validés par des responsables métier identifiés.</a:t>
            </a:r>
          </a:p>
          <a:p xmlns:a="http://schemas.openxmlformats.org/drawingml/2006/main">
            <a:pPr algn="l">
              <a:defRPr sz="855" b="0">
                <a:solidFill>
                  <a:srgbClr val="E8F1F8"/>
                </a:solidFill>
                <a:latin typeface="Aptos"/>
                <a:ea typeface="Aptos"/>
                <a:cs typeface="Aptos"/>
              </a:defRPr>
            </a:pPr>
            <a:r>
              <a:rPr sz="855" b="0">
                <a:solidFill>
                  <a:srgbClr val="E8F1F8"/>
                </a:solidFill>
                <a:latin typeface="Aptos"/>
                <a:ea typeface="Aptos"/>
                <a:cs typeface="Aptos"/>
              </a:rPr>
              <a:t>• Les données sensibles, documents internes et arbitrages critiques restent sous supervision humaine.</a:t>
            </a:r>
          </a:p>
          <a:p xmlns:a="http://schemas.openxmlformats.org/drawingml/2006/main">
            <a:pPr algn="l">
              <a:defRPr sz="855" b="0">
                <a:solidFill>
                  <a:srgbClr val="E8F1F8"/>
                </a:solidFill>
                <a:latin typeface="Aptos"/>
                <a:ea typeface="Aptos"/>
                <a:cs typeface="Aptos"/>
              </a:defRPr>
            </a:pPr>
            <a:r>
              <a:rPr sz="855" b="0">
                <a:solidFill>
                  <a:srgbClr val="E8F1F8"/>
                </a:solidFill>
                <a:latin typeface="Aptos"/>
                <a:ea typeface="Aptos"/>
                <a:cs typeface="Aptos"/>
              </a:rPr>
              <a:t>• TransferAI ne s’arrête pas à la formation : nous accompagnons aussi la mise en pratique, les premiers KPI et la décision d’extension.</a:t>
            </a:r>
          </a:p>
          <a:p xmlns:a="http://schemas.openxmlformats.org/drawingml/2006/main">
            <a:pPr algn="l">
              <a:defRPr sz="855" b="0">
                <a:solidFill>
                  <a:srgbClr val="E8F1F8"/>
                </a:solidFill>
                <a:latin typeface="Aptos"/>
                <a:ea typeface="Aptos"/>
                <a:cs typeface="Aptos"/>
              </a:defRPr>
            </a:pPr>
            <a:r>
              <a:rPr sz="855" b="0">
                <a:solidFill>
                  <a:srgbClr val="E8F1F8"/>
                </a:solidFill>
                <a:latin typeface="Aptos"/>
                <a:ea typeface="Aptos"/>
                <a:cs typeface="Aptos"/>
              </a:rPr>
              <a:t>• Les cas d’usage critiques restent encadrés par revue juridique, règles d’accès et validation finale humaine.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5FE2E5-6573-4231-877F-934E4528B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104900"/>
            <a:ext cx="4953000" cy="4438650"/>
          </a:xfrm>
          <a:prstGeom xmlns:a="http://schemas.openxmlformats.org/drawingml/2006/main" prst="roundRect">
            <a:avLst>
              <a:gd name="adj" fmla="val 171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FFFDF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D49DAB-5BFA-4494-977A-63075AFBD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40970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Sortie attendue du rendez-vous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8B6C66-A5E1-4806-911C-6271FFF46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790700"/>
            <a:ext cx="40957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Confirmer les 2 premiers cas d’usage à plus forte valeur visible.</a:t>
            </a:r>
          </a:p>
          <a:p xmlns:a="http://schemas.openxmlformats.org/drawingml/2006/main">
            <a:pPr algn="l">
              <a:defRPr sz="87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Valider les populations à former et le niveau d’accompagnement requis.</a:t>
            </a:r>
          </a:p>
          <a:p xmlns:a="http://schemas.openxmlformats.org/drawingml/2006/main">
            <a:pPr algn="l">
              <a:defRPr sz="87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Identifier les KPI prioritaires et la forme du premier pilote.</a:t>
            </a:r>
          </a:p>
          <a:p xmlns:a="http://schemas.openxmlformats.org/drawingml/2006/main">
            <a:pPr algn="l">
              <a:defRPr sz="87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Décider du bon ordre entre audit détaillé, formation ciblée, pilote et gouvernance.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1FE7A5-1523-4CEA-8BF6-605511F11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2766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CTA principal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605C32-4AD3-45E4-9137-6D47468D6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524250"/>
            <a:ext cx="4095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355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63556"/>
                </a:solidFill>
                <a:latin typeface="Aptos"/>
                <a:ea typeface="Aptos"/>
                <a:cs typeface="Aptos"/>
              </a:rPr>
              <a:t>Planifier un audit IA gratuit suivi d’un échange expert de 45 minutes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544F11-939F-42C1-9562-43E2EFC67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095750"/>
            <a:ext cx="409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Pièces jointes recommandées : ce deck sectoriel + mini-catalogue ciblé + formulaire d’audit pré-rendez-vous.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B7BF31-FBB6-45A4-88FC-52D98ECF0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6291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Contextes proches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5B97A6-7EC6-43CA-982E-631C5BE40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857750"/>
            <a:ext cx="3619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F535CE-C9EB-456A-B2BB-BA4A7F5E4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914900"/>
            <a:ext cx="3429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Banque / Finance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992AEE-5FCD-4996-8AD2-CA04824A9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181600"/>
            <a:ext cx="3619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CFF3DA-32F3-4D3D-ABD0-2D1E55326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238750"/>
            <a:ext cx="3429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Assurance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CA6284-A350-4F58-8412-C3035C6EA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505450"/>
            <a:ext cx="3619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655568-7FA5-4855-993F-B6BB4115B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562600"/>
            <a:ext cx="3429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Inspection / Certification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DFFBBE-1F53-4D4A-8302-240AE0C96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DCC21AB-5FD9-4C9D-98D4-8EAAF988D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Juridique &amp; Conformité | Confiance et prochaine étape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B3CD660-7FA4-45BB-AFE1-D72CD1561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9287905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2026-06-12T16:01:45.5630000Z</dcterms:created>
  <dcterms:modified xsi:type="dcterms:W3CDTF">2026-06-12T16:01:45.5630000Z</dcterms:modified>
</coreProperties>
</file>