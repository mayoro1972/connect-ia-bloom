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fd4f34e6755455a" /><Relationship Type="http://schemas.openxmlformats.org/officeDocument/2006/relationships/extended-properties" Target="/docProps/app.xml" Id="Rcda55d29ce5d4ff9" /><Relationship Type="http://schemas.openxmlformats.org/officeDocument/2006/relationships/officeDocument" Target="/ppt/presentation.xml" Id="Rb4194edaefbf498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af5e0322c834aac"/>
  </p:sldMasterIdLst>
  <p:notesMasterIdLst>
    <p:notesMasterId xmlns:r="http://schemas.openxmlformats.org/officeDocument/2006/relationships" r:id="R0d7d70aaad1f4f3b"/>
  </p:notesMasterIdLst>
  <p:sldIdLst>
    <p:sldId xmlns:r="http://schemas.openxmlformats.org/officeDocument/2006/relationships" id="256" r:id="R6ce49be405464a83"/>
    <p:sldId xmlns:r="http://schemas.openxmlformats.org/officeDocument/2006/relationships" id="257" r:id="Raa55b381ac4c4646"/>
    <p:sldId xmlns:r="http://schemas.openxmlformats.org/officeDocument/2006/relationships" id="258" r:id="R94f08684d2624050"/>
    <p:sldId xmlns:r="http://schemas.openxmlformats.org/officeDocument/2006/relationships" id="259" r:id="Rcf4cc5d3effb4921"/>
    <p:sldId xmlns:r="http://schemas.openxmlformats.org/officeDocument/2006/relationships" id="260" r:id="R6f45a9f1d86d46a0"/>
    <p:sldId xmlns:r="http://schemas.openxmlformats.org/officeDocument/2006/relationships" id="261" r:id="R5ce8a2e0d78547e3"/>
    <p:sldId xmlns:r="http://schemas.openxmlformats.org/officeDocument/2006/relationships" id="262" r:id="R0ae240893f584837"/>
    <p:sldId xmlns:r="http://schemas.openxmlformats.org/officeDocument/2006/relationships" id="263" r:id="R64cac37df5d94dbe"/>
    <p:sldId xmlns:r="http://schemas.openxmlformats.org/officeDocument/2006/relationships" id="264" r:id="R5105b1286f264c67"/>
    <p:sldId xmlns:r="http://schemas.openxmlformats.org/officeDocument/2006/relationships" id="265" r:id="R92f54b0c001a432a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fc846bca1ee4395" /><Relationship Type="http://schemas.openxmlformats.org/officeDocument/2006/relationships/slideMaster" Target="/ppt/slideMasters/slideMaster1.xml" Id="R6af5e0322c834aac" /><Relationship Type="http://schemas.openxmlformats.org/officeDocument/2006/relationships/notesMaster" Target="/ppt/notesMasters/notesMaster1.xml" Id="R0d7d70aaad1f4f3b" /><Relationship Type="http://schemas.openxmlformats.org/officeDocument/2006/relationships/presProps" Target="/ppt/presProps.xml" Id="Ra7fff327e6e74719" /><Relationship Type="http://schemas.openxmlformats.org/officeDocument/2006/relationships/viewProps" Target="/ppt/viewProps.xml" Id="R5a37ebf922064bc1" /><Relationship Type="http://schemas.openxmlformats.org/officeDocument/2006/relationships/tableStyles" Target="/ppt/tableStyles.xml" Id="Rb19df6ff8d044cca" /><Relationship Type="http://schemas.openxmlformats.org/officeDocument/2006/relationships/slide" Target="/ppt/slides/slide1.xml" Id="R6ce49be405464a83" /><Relationship Type="http://schemas.openxmlformats.org/officeDocument/2006/relationships/slide" Target="/ppt/slides/slide2.xml" Id="Raa55b381ac4c4646" /><Relationship Type="http://schemas.openxmlformats.org/officeDocument/2006/relationships/slide" Target="/ppt/slides/slide3.xml" Id="R94f08684d2624050" /><Relationship Type="http://schemas.openxmlformats.org/officeDocument/2006/relationships/slide" Target="/ppt/slides/slide4.xml" Id="Rcf4cc5d3effb4921" /><Relationship Type="http://schemas.openxmlformats.org/officeDocument/2006/relationships/slide" Target="/ppt/slides/slide5.xml" Id="R6f45a9f1d86d46a0" /><Relationship Type="http://schemas.openxmlformats.org/officeDocument/2006/relationships/slide" Target="/ppt/slides/slide6.xml" Id="R5ce8a2e0d78547e3" /><Relationship Type="http://schemas.openxmlformats.org/officeDocument/2006/relationships/slide" Target="/ppt/slides/slide7.xml" Id="R0ae240893f584837" /><Relationship Type="http://schemas.openxmlformats.org/officeDocument/2006/relationships/slide" Target="/ppt/slides/slide8.xml" Id="R64cac37df5d94dbe" /><Relationship Type="http://schemas.openxmlformats.org/officeDocument/2006/relationships/slide" Target="/ppt/slides/slide9.xml" Id="R5105b1286f264c67" /><Relationship Type="http://schemas.openxmlformats.org/officeDocument/2006/relationships/slide" Target="/ppt/slides/slide10.xml" Id="R92f54b0c001a432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ac915edddd3407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0b5cef874bf45e4" /><Relationship Type="http://schemas.openxmlformats.org/officeDocument/2006/relationships/notesMaster" Target="/ppt/notesMasters/notesMaster1.xml" Id="R30d1a19c9ca1485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5b8d9fa5aea4a50" /><Relationship Type="http://schemas.openxmlformats.org/officeDocument/2006/relationships/notesMaster" Target="/ppt/notesMasters/notesMaster1.xml" Id="Rac3eabcc34104a9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3d09974408246cc" /><Relationship Type="http://schemas.openxmlformats.org/officeDocument/2006/relationships/notesMaster" Target="/ppt/notesMasters/notesMaster1.xml" Id="R5ae1d81124f546a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97d4aaed8ff4f27" /><Relationship Type="http://schemas.openxmlformats.org/officeDocument/2006/relationships/notesMaster" Target="/ppt/notesMasters/notesMaster1.xml" Id="R7eb8ffc9d32c4bb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a8149641a33479e" /><Relationship Type="http://schemas.openxmlformats.org/officeDocument/2006/relationships/notesMaster" Target="/ppt/notesMasters/notesMaster1.xml" Id="R89cfa679494e4c9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066f739ff5a4afe" /><Relationship Type="http://schemas.openxmlformats.org/officeDocument/2006/relationships/notesMaster" Target="/ppt/notesMasters/notesMaster1.xml" Id="R30823b2d1ecb478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5d73bbffca74c58" /><Relationship Type="http://schemas.openxmlformats.org/officeDocument/2006/relationships/notesMaster" Target="/ppt/notesMasters/notesMaster1.xml" Id="R5c691af14ce5415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a6d7cc5eb7a4a74" /><Relationship Type="http://schemas.openxmlformats.org/officeDocument/2006/relationships/notesMaster" Target="/ppt/notesMasters/notesMaster1.xml" Id="R0ad0631d17e1403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07c2a0fad8a490a" /><Relationship Type="http://schemas.openxmlformats.org/officeDocument/2006/relationships/notesMaster" Target="/ppt/notesMasters/notesMaster1.xml" Id="R3397fb326503486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dcc0468de8f41e6" /><Relationship Type="http://schemas.openxmlformats.org/officeDocument/2006/relationships/notesMaster" Target="/ppt/notesMasters/notesMaster1.xml" Id="Rcb1bff08b972454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d812bbba69c4bc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aa2b01b7a67461f" /><Relationship Type="http://schemas.openxmlformats.org/officeDocument/2006/relationships/slideLayout" Target="/ppt/slideLayouts/slideLayout1.xml" Id="Rc34082498204496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34082498204496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e6d3344cdc4cde" /><Relationship Type="http://schemas.openxmlformats.org/officeDocument/2006/relationships/image" Target="/ppt/media/image.png" Id="R975169052b8f4d46" /><Relationship Type="http://schemas.openxmlformats.org/officeDocument/2006/relationships/notesSlide" Target="/ppt/notesSlides/notesSlide1.xml" Id="R27d6f5bc2471488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35569710fa4ff4" /><Relationship Type="http://schemas.openxmlformats.org/officeDocument/2006/relationships/image" Target="/ppt/media/image2.png" Id="Rfdd20d83740a4c78" /><Relationship Type="http://schemas.openxmlformats.org/officeDocument/2006/relationships/notesSlide" Target="/ppt/notesSlides/notesSlide2.xml" Id="R3963b055461a452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a152b692e04217" /><Relationship Type="http://schemas.openxmlformats.org/officeDocument/2006/relationships/notesSlide" Target="/ppt/notesSlides/notesSlide3.xml" Id="R389a5858edd04f2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6875f122034c74" /><Relationship Type="http://schemas.openxmlformats.org/officeDocument/2006/relationships/notesSlide" Target="/ppt/notesSlides/notesSlide4.xml" Id="R4387cdd5aca04c3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d239994e7e420d" /><Relationship Type="http://schemas.openxmlformats.org/officeDocument/2006/relationships/notesSlide" Target="/ppt/notesSlides/notesSlide5.xml" Id="Rf15e7b53b2ea427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7a6b14cf744760" /><Relationship Type="http://schemas.openxmlformats.org/officeDocument/2006/relationships/notesSlide" Target="/ppt/notesSlides/notesSlide6.xml" Id="R5a0202b30a0c421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0a3be7a48f4db0" /><Relationship Type="http://schemas.openxmlformats.org/officeDocument/2006/relationships/notesSlide" Target="/ppt/notesSlides/notesSlide7.xml" Id="R787efb277cce48b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7c132bbab649fa" /><Relationship Type="http://schemas.openxmlformats.org/officeDocument/2006/relationships/notesSlide" Target="/ppt/notesSlides/notesSlide8.xml" Id="R29591b02ac6f4c6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7d8f3e20434092" /><Relationship Type="http://schemas.openxmlformats.org/officeDocument/2006/relationships/notesSlide" Target="/ppt/notesSlides/notesSlide9.xml" Id="Rb24228b896094fa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034f0d6caf4fe0" /><Relationship Type="http://schemas.openxmlformats.org/officeDocument/2006/relationships/image" Target="/ppt/media/image3.png" Id="R96f9231304624440" /><Relationship Type="http://schemas.openxmlformats.org/officeDocument/2006/relationships/notesSlide" Target="/ppt/notesSlides/notesSlide10.xml" Id="Rf297cb67a3854efe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B740480-487D-40A3-9995-54D3E6A0A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2EB056-C5B6-42ED-A8C8-939475738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2EA"/>
          </a:solidFill>
          <a:ln xmlns:a="http://schemas.openxmlformats.org/drawingml/2006/main" w="0">
            <a:solidFill>
              <a:srgbClr val="F8F2E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0A25BA-545A-4718-B222-01486E935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0"/>
            <a:ext cx="4324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420301-4742-4EEF-8E71-809E6339D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191000"/>
            <a:ext cx="43243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1D"/>
          </a:solidFill>
          <a:ln xmlns:a="http://schemas.openxmlformats.org/drawingml/2006/main" w="0">
            <a:solidFill>
              <a:srgbClr val="E76F1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427D54-A0F8-43BE-A6E9-A4B7CB3F0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04850"/>
            <a:ext cx="6705600" cy="4114800"/>
          </a:xfrm>
          <a:prstGeom xmlns:a="http://schemas.openxmlformats.org/drawingml/2006/main" prst="roundRect">
            <a:avLst>
              <a:gd name="adj" fmla="val 1852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5169052b8f4d46"/>
          <a:stretch xmlns:a="http://schemas.openxmlformats.org/drawingml/2006/main"/>
        </p:blipFill>
        <p:spPr>
          <a:xfrm xmlns:a="http://schemas.openxmlformats.org/drawingml/2006/main">
            <a:off x="1268050" y="971550"/>
            <a:ext cx="1254851" cy="5524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129B6F-D6BD-4F6F-9D1F-29B84FA8C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907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DECK SECTORIEL PREMIUM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72AA86-D579-4AD6-A951-58E5EE239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95500"/>
            <a:ext cx="41148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Assistanat &amp; Secrétariat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541F70-762B-4D9A-8063-714BC3A59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86050"/>
            <a:ext cx="52197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6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76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Fluidifier la rédaction, la coordination et le suivi exécutif sans perdre en rigueur.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2D9858-9AF3-410C-A3F9-B5FAC5D20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24250"/>
            <a:ext cx="53721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Pour les directions générales, secrétariats exécutifs et fonctions d’appui qui veulent transformer l’IA en temps utile, documents plus propres et meilleure continuité d’action.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8C3D77-C576-4C48-8107-ECB03F77C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781050"/>
            <a:ext cx="3143250" cy="2362200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214260"/>
          </a:solidFill>
          <a:ln xmlns:a="http://schemas.openxmlformats.org/drawingml/2006/main" w="9525">
            <a:solidFill>
              <a:srgbClr val="21426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DB22E3-FFC0-4B33-ADA1-2600750D3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02870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D8E6F4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D8E6F4"/>
                </a:solidFill>
                <a:latin typeface="Aptos"/>
                <a:ea typeface="Aptos"/>
                <a:cs typeface="Aptos"/>
              </a:rPr>
              <a:t>Contextes d'application proches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4CAA06-662C-4D1B-9678-78AFCBE01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314450"/>
            <a:ext cx="25908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Ce deck peut être partagé avec plusieurs organisations du même univers métier.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6FA6B6-7A54-4F3D-990F-7E1348EF0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171700"/>
            <a:ext cx="2590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E6EEF6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E6EEF6"/>
                </a:solidFill>
                <a:latin typeface="Aptos"/>
                <a:ea typeface="Aptos"/>
                <a:cs typeface="Aptos"/>
              </a:rPr>
              <a:t>La proposition met en avant des enjeux récurrents, des cas d’usage crédibles et un parcours d’accompagnement progressif pour des structures aux besoins proches.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FDCE36-2E3D-4BAE-ADC9-002337A7C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486150"/>
            <a:ext cx="28003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946B0C-7B57-438B-8765-E8D3B0DA0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543300"/>
            <a:ext cx="2609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Administration publique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C1F4C7-22A6-4DBC-B371-DB0AC541F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829050"/>
            <a:ext cx="28003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B2C2AE-4A75-4343-A266-303E965B2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886200"/>
            <a:ext cx="2609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Institution régionale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F6F49B-B030-4532-9481-BDA7456F4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171950"/>
            <a:ext cx="28003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A7DFDA3-D638-439F-BD7B-E6E50DADA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229100"/>
            <a:ext cx="2609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Hôtellerie / Tourisme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DA2FA95-B921-493B-89BA-A96314DF2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514850"/>
            <a:ext cx="28003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6D58C9F-5183-4C06-877A-089C8C059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572000"/>
            <a:ext cx="2609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Audit / Conseil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32CE1EB-EF13-43C0-B771-70685FA6E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81600"/>
            <a:ext cx="15240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BF284C1-6B35-4B95-84C1-F8E3ED3F9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53050"/>
            <a:ext cx="38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1D"/>
          </a:solidFill>
          <a:ln xmlns:a="http://schemas.openxmlformats.org/drawingml/2006/main" w="0">
            <a:solidFill>
              <a:srgbClr val="E76F1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62A3D3B-AC11-4BB0-B64C-939FB3E14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334000"/>
            <a:ext cx="108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10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8557D5B-BA88-4111-B22E-77F14E3C5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619750"/>
            <a:ext cx="1085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formations activables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A7467ED-ECD9-47B6-B1F2-EC7E5A758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5181600"/>
            <a:ext cx="15240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273317E-6BEC-46A5-BF4E-CD7CA50F8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5353050"/>
            <a:ext cx="38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1C8A7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F00F696-026A-4E89-9A77-43EDBD0AB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334000"/>
            <a:ext cx="108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1019F53-55E7-4EC7-819F-9CC01FE8C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619750"/>
            <a:ext cx="1085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usages prioritaires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0A0171A-A9C3-4DA6-BA81-99934C47F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181600"/>
            <a:ext cx="15240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2860FB0-ED16-4542-9E60-0F87C5A06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353050"/>
            <a:ext cx="38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D31D529-1F3A-48C2-A687-77B19B6D3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334000"/>
            <a:ext cx="108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J+90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FD7612A-76E3-4633-B6FF-BAB85200A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619750"/>
            <a:ext cx="1085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pilotage d’extension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54332A3-3E7E-4E20-8968-44339B609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5181600"/>
            <a:ext cx="16192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CB8479D-6820-4B22-8DB0-50F06FA60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5353050"/>
            <a:ext cx="38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8C3A"/>
          </a:solidFill>
          <a:ln xmlns:a="http://schemas.openxmlformats.org/drawingml/2006/main" w="0">
            <a:solidFill>
              <a:srgbClr val="C88C3A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EB10434-918B-4F06-A18B-A5BE1F892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334000"/>
            <a:ext cx="1181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0 FCFA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EC642AB-E167-47C0-B690-7408E0CA2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619750"/>
            <a:ext cx="1181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audit d’entrée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DAF242A-A60B-4656-894A-9CA62BE00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181600"/>
            <a:ext cx="37338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6774A13-8BA6-4450-A948-FD61C10E8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334000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Promesse centrale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40A15CE-D0C2-4B40-AD5C-3C124B31F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543550"/>
            <a:ext cx="3219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Transformer l’IA en gains visibles de productivité, de coordination, de qualité de service et de lisibilité managériale.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F11A03E-1EA3-459A-83FE-C9E2BA41B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12FFCC7-DF57-4E75-ADAD-B0012386F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Assistanat &amp; Secrétariat | Deck sectoriel premium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2159887-E3F1-4C96-8181-0683ED16F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80978353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2BD63B9-CEDC-4EAD-A269-BA40121E8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FC68F6-0109-44EF-954A-CB9667373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POURQUOI TRANSFERAI SUR CE TERRAIN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1FFF51-EE98-4D7F-A490-FD759BBAE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8001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0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90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Une proposition conçue pour assistanat &amp; secrétariat plutôt qu’un catalogue générique.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6992DA-DD98-413A-BB21-3DE24F018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819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4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94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Ce deck s’adresse aux structures où la direction, l’assistanat ou la coordination administrative absorbent un volume élevé de courriers, réunions, validations et suivis transverses.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92BD79-7803-40CF-A821-E3D3F112F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5086350" cy="3371850"/>
          </a:xfrm>
          <a:prstGeom xmlns:a="http://schemas.openxmlformats.org/drawingml/2006/main" prst="roundRect">
            <a:avLst>
              <a:gd name="adj" fmla="val 2260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d20d83740a4c78"/>
          <a:stretch xmlns:a="http://schemas.openxmlformats.org/drawingml/2006/main"/>
        </p:blipFill>
        <p:spPr>
          <a:xfrm xmlns:a="http://schemas.openxmlformats.org/drawingml/2006/main">
            <a:off x="1287916" y="2362200"/>
            <a:ext cx="1081768" cy="4762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E2C880-8A55-487C-B209-819A6498E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48000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TransferAI : de la pédagogie à l’exécution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7C2AFB-073B-4126-B909-F005661A5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29000"/>
            <a:ext cx="44005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Audit IA gratuit pour qualifier les priorités avant toute dépense lourde.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Formation ciblée des décideurs et des équipes, pensée pour les usages du terrain.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Accompagnement de mise en pratique sur 90 jours avec relecture des premiers KPI.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Cadre de gouvernance, confidentialité et progression par pilote avant extension.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3BDEE3-C13F-4054-BAA4-8307EF7E0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10150"/>
            <a:ext cx="44005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03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03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La différence clé : une structure de formation classique transmet un contenu. TransferAI forme, puis accompagne l’usage réel, les ajustements et les décisions d’extension.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104775-1D9B-4703-A89F-37F80E03B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152650"/>
            <a:ext cx="5467350" cy="3371850"/>
          </a:xfrm>
          <a:prstGeom xmlns:a="http://schemas.openxmlformats.org/drawingml/2006/main" prst="roundRect">
            <a:avLst>
              <a:gd name="adj" fmla="val 2260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112AC2-37AB-4F5E-960E-DEA8495F9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00300"/>
            <a:ext cx="4095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3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Types d'organisations et contextes proches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89EB93-51FC-4DBB-BC2C-5568BD2C0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838450"/>
            <a:ext cx="4629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32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32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repères ci-dessous montrent des environnements où cette proposition garde la même pertinence métier et la même lisibilité commerciale.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734C6A-9D60-4940-B77C-555446E69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352800"/>
            <a:ext cx="23812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07ED0A-3470-4EBE-9586-9D9A886B8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409950"/>
            <a:ext cx="2190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Administration publique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818D51-8972-4292-BA0B-52026D02A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352800"/>
            <a:ext cx="23812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055805-0BAB-438A-89BF-8E41CA1FF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409950"/>
            <a:ext cx="2190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Institution régionale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8AF5C9-88DD-4766-A71F-724ECDE75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95700"/>
            <a:ext cx="23812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6452888-E1AB-45C9-85D0-EC5025E2A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752850"/>
            <a:ext cx="2190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Hôtellerie / Tourisme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DC7AE45-A6D0-469C-A74D-2A0DA8065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695700"/>
            <a:ext cx="23812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4E62F4B-3415-42FC-BADA-48498DD5B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752850"/>
            <a:ext cx="2190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Audit / Conseil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45304D6-D3F1-4AF1-9FEA-CE29BA16B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38600"/>
            <a:ext cx="23812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2614A51-5F33-4600-B467-E31CC74BE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095750"/>
            <a:ext cx="2190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Administration / Numérique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7297225-4E1D-44AC-BD27-A031D0E87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591050"/>
            <a:ext cx="46291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4192C42-2E12-4F45-B608-BF9B2DADA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7434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Entrée recommandée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29D6B8E-40B4-4A01-A426-DBA9D3E12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953000"/>
            <a:ext cx="421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Audit IA gratuit, puis échange expert de 45 minutes pour confirmer les deux premiers cas d’usage, les équipes à former et le cadre de déploiement.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2B58229-27E3-4B41-818C-FB584B9C1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7633FFA-FDE0-4304-9C91-567C0C1AC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Assistanat &amp; Secrétariat | Positionnement et preuve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0539C3D-401F-4448-B891-75A55BA30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7409195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CA029B9-8483-4207-AD6A-E4AA8E517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1EDE41-9B03-44E2-AAD9-6EE698963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CONTEXTE ET IRRITANTS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B3066D-398C-4287-A8B3-5F1229A85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8191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3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93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Le ROI devient visible quand on traite d’abord les frictions déjà coûteuses.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DFCA35-F093-4378-B9FA-AEE5A98F6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8477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7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907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La bonne approche n’est pas de vendre l’IA en général. Elle consiste à isoler les flux où le temps perdu, l’hétérogénéité et le défaut de lecture ralentissent déjà l’organisation.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4E2F87-E6D9-43D3-8973-404EE42A9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5219700" cy="18288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F048F7-C4D6-4A3D-9EAC-2DF9D5580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28850"/>
            <a:ext cx="47625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1D"/>
          </a:solidFill>
          <a:ln xmlns:a="http://schemas.openxmlformats.org/drawingml/2006/main" w="0">
            <a:solidFill>
              <a:srgbClr val="E76F1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0506F0-9C1E-41E3-B9A4-9C19DA306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09800"/>
            <a:ext cx="468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Rédaction lente et dispersée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85B706-442C-43BA-A0D5-EA5F769B8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7175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59CD8A-4FD4-4A82-9B80-4669AF9B8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43200"/>
            <a:ext cx="4686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Courriers, notes, synthèses et messages importants sont produits de façon hétérogène.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BBF478-FF5E-49A1-B144-1464C9264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1945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B717B8-F3A0-404A-83AB-A4735A526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90900"/>
            <a:ext cx="468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Des modèles guidés, prompts validés et relectures plus rapides rendent la production plus nette et plus homogène.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1CAC86-1DA3-4B14-8AB1-6447FFD07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38350"/>
            <a:ext cx="5219700" cy="18288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C37A16-C11B-4226-842D-F061124C9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228850"/>
            <a:ext cx="47625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1C8A7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E9C315-36CF-42B7-AE1B-4CCA32412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209800"/>
            <a:ext cx="468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Réunions nombreuses, mémoire faible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03CA7F-E062-4D5B-AB0C-EFBE3415C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57175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0A7753-D524-4857-8D57-A49583248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743200"/>
            <a:ext cx="4686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décisions, actions et arbitrages se perdent entre comptes rendus, messages et relances.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789F17-9228-4408-B1AD-656ED449E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21945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B0D380-911D-4A93-B91F-D4E30C2D4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390900"/>
            <a:ext cx="468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Les réunions sont synthétisées plus vite avec une sortie claire : décisions, responsables, échéances et points en attente.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EDE4A8-9572-41F9-8CB5-A57D5C753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76700"/>
            <a:ext cx="5219700" cy="18288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3E98EE8-1FDF-4691-A7D2-10360FBC4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67200"/>
            <a:ext cx="47625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D9582B0-F469-4721-8DA9-A4C60BFEC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48150"/>
            <a:ext cx="468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Agenda et priorités mal arbitré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7C45D81-07F2-46B7-99AA-614E3BFBE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1010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705C9AD-2A35-4A29-991B-93F388524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81550"/>
            <a:ext cx="4686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urgences dominent et les tâches à forte valeur sont noyées dans le flux quotidien.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84609ED-3A55-4DEC-938C-3D547537D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25780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7D6DFC1-F8B6-4E2E-AE13-6A098F592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429250"/>
            <a:ext cx="468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La préparation des journées, des rendez-vous et des arbitrages devient plus structurée et plus visible.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881F6E3-9B19-4E45-80F7-913AD4A61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76700"/>
            <a:ext cx="5219700" cy="18288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DCF4434-CD41-4E91-9BEE-119691459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267200"/>
            <a:ext cx="47625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8C3A"/>
          </a:solidFill>
          <a:ln xmlns:a="http://schemas.openxmlformats.org/drawingml/2006/main" w="0">
            <a:solidFill>
              <a:srgbClr val="C88C3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2635A87-95DD-465A-AD67-BA0D56779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248150"/>
            <a:ext cx="468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Dépendance à quelques personnes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C4525E5-7ABF-4BB8-99C0-40933E3EA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61010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7366D34-B57F-4845-8CAB-B8D4B487C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781550"/>
            <a:ext cx="4686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L’information utile reste souvent dans les mails, la mémoire ou les habitudes de quelques assistants clés.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EF85690-B79D-4E8C-886C-94D2078AA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525780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6983272-DA57-4CB7-8652-DFF69DE5C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5429250"/>
            <a:ext cx="468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Les bonnes pratiques, formats et réponses types deviennent partageables, transmissibles et réutilisables.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CE10316-808A-45EE-8E29-3254AA34C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91200"/>
            <a:ext cx="108204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B086AC3-A38A-4BCD-BAE0-3916E8338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90550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Lecture de fond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0C5C0F8-EDBA-40EB-AFD5-31EC19827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28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Chaque irritation retenue doit se traduire en hypothèse de gain, en KPI lisible et en séquence de déploiement mesurable.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1DEF159-6740-45D9-9F89-EE0C51A5B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9E4233D-3FCC-4AF0-B93B-603CD23BB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Assistanat &amp; Secrétariat | Priorités métier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42FF902-74D0-44B0-B372-5D3E5A47A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63387511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8FECFFA-278E-45DF-9E78-A5513E2BA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3D2137-EAA1-478A-8375-4313AA95A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ROI DE RÉFÉRENCE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F08C8F-813A-4B6D-964A-7A6CB0115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9239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9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89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Le ROI n’a de valeur que s’il est relié à des KPI simples, lisibles et discutables.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FD74D6-6242-4544-9039-9C7C48206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8953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7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907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repères ci-dessous sont des hypothèses prudentes ou des benchmarks à confirmer pendant l’audit. TransferAI ne vend pas des chiffres abstraits ; nous proposons une mesure utile du premier terrain.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0AC6A5-426A-476C-B4C7-F3DFC14FC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23812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E76F1D"/>
          </a:solidFill>
          <a:ln xmlns:a="http://schemas.openxmlformats.org/drawingml/2006/main" w="0">
            <a:solidFill>
              <a:srgbClr val="E76F1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2398B2-C117-462E-BC39-A818A1E7C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43150"/>
            <a:ext cx="2038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30 à 50 %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965111-F125-4342-817D-A18AD33D4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43200"/>
            <a:ext cx="2038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sur le temps de rédaction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626EDC-8D4D-4400-9F2B-20BA6D3A8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67050"/>
            <a:ext cx="2038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courriers, notes et synthèses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AA5DC0-A056-4193-8D21-A2C88A523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190750"/>
            <a:ext cx="23812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E76F1D"/>
          </a:solidFill>
          <a:ln xmlns:a="http://schemas.openxmlformats.org/drawingml/2006/main" w="0">
            <a:solidFill>
              <a:srgbClr val="E76F1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919616-5D7C-4CF4-85A1-B6D2DEDD8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343150"/>
            <a:ext cx="2038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2x plus vite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0F700E-7AD5-42FA-9409-449FDDBAA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743200"/>
            <a:ext cx="2038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pour préparer un rendez-vous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6032FF-F4CD-4727-AED6-8E144F93A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067050"/>
            <a:ext cx="2038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brief, ordre du jour, pièces clés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2B63A1-4B77-4092-89F3-5EF95C000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190750"/>
            <a:ext cx="23812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E76F1D"/>
          </a:solidFill>
          <a:ln xmlns:a="http://schemas.openxmlformats.org/drawingml/2006/main" w="0">
            <a:solidFill>
              <a:srgbClr val="E76F1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A430C7-8B99-4AF7-B34E-B2DC55307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343150"/>
            <a:ext cx="2038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Meilleure traçabilité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0588AF-0D2D-4C17-99AA-9E830FA94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743200"/>
            <a:ext cx="2038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des décisions et relances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6864D0-C3D6-439D-B90E-EB2CF99F7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067050"/>
            <a:ext cx="2038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après réunions et arbitrages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31EC91-A53F-41A2-B917-E8A3B95C8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190750"/>
            <a:ext cx="23812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E76F1D"/>
          </a:solidFill>
          <a:ln xmlns:a="http://schemas.openxmlformats.org/drawingml/2006/main" w="0">
            <a:solidFill>
              <a:srgbClr val="E76F1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BDF6A7-0A1E-4A95-8D55-812FF00DF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343150"/>
            <a:ext cx="2038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Onboarding accéléré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3A22F7B-574C-410B-9157-9CD250C77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743200"/>
            <a:ext cx="2038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des assistants et coordinations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843B47E-E5A2-41CD-9109-E31BC6169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067050"/>
            <a:ext cx="2038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méthodes et formats plus stables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2BE2D32-D997-4B8E-92FE-820BCE2C6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10820400" cy="19812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B266F01-6427-4EC9-850E-9A862CC47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19550"/>
            <a:ext cx="4686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6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26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Comment rendre ce ROI crédible dès le premier rendez-vous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EF56769-6B23-47E9-BBAF-2156466D1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514850"/>
            <a:ext cx="4286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1. Partir d’un flux métier concret et visible.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2. Nommer le ou les KPI que la direction lit déjà.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3. Limiter le premier pilote à un terrain mesurable.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4. Revoir les résultats avec les responsables métier avant toute extension.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D0F37D6-3E22-4C32-A859-BADF1096C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267200"/>
            <a:ext cx="52578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70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Exemples de KPI souvent retenus : temps de cycle, délai de réponse, temps de préparation d’un comité, nombre d’étapes manuelles, volume d’anomalies détectées plus tôt, homogénéité des livrables, taux de résolution au premier niveau, vitesse d’onboarding.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6CA9322-829C-4785-A11A-9A60E7E7B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5F755E9-0CA2-4421-818C-37F40EA9B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Assistanat &amp; Secrétariat | ROI et KPI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66A3C60-6C02-4A15-B27D-540D274D5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76672053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59954AD-36EF-48B6-AB4E-38E0A1AD6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BB6797-3D4A-4528-8432-C6883294D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CAS D’USAGE PRIORITAIRES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731AEB-20C5-4696-9F4B-1C7655AF6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334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9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Le bon deck rend visibles 3 à 4 usages que le prospect peut immédiatement se représenter.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C2F38F-EE33-44AB-A9C0-FF66CF4D2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8858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Chaque cas d’usage ci-dessous a été formulé pour rester crédible, visible et relié à un flux métier réel. Le but n’est pas de tout lancer, mais de prioriser ce qui crée une première valeur lisible.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11C16F-3ACB-4320-BC10-672393CDF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57400"/>
            <a:ext cx="521970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3F4590-E40A-4139-A943-2D916A13E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28850"/>
            <a:ext cx="361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1D"/>
          </a:solidFill>
          <a:ln xmlns:a="http://schemas.openxmlformats.org/drawingml/2006/main" w="0">
            <a:solidFill>
              <a:srgbClr val="E76F1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8EDE47-7DF9-4C19-B0F9-094BD2D0A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81250"/>
            <a:ext cx="4876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Courriers et correspondances premium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87553E-2EDC-4B67-9080-416F80F00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4320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3261FA-97BA-4E08-A1CA-16E687B8E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95600"/>
            <a:ext cx="487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réponses importantes prennent du temps et varient selon les personnes.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038EB1-0A89-406A-9605-E05C4215F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5755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42DC87-508E-4CA8-A7BB-AB412F2D9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09950"/>
            <a:ext cx="487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Des trames guidées permettent de rédiger plus vite, avec le bon ton et les bonnes pièces.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594E46-D2EA-4C30-8646-5B8377F41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95700"/>
            <a:ext cx="4876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50A51C-A095-426C-B8ED-051AD654D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71900"/>
            <a:ext cx="4876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98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KPI à suivre : Temps moyen de rédaction ; taux de validation du premier jet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6C1B15-90D9-40A5-84E3-A75F22261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57400"/>
            <a:ext cx="521970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061C72-CDFA-4B94-9A99-3D7538247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228850"/>
            <a:ext cx="361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1C8A7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5DFCC1-A1B4-4219-8E50-B7BD809A7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381250"/>
            <a:ext cx="4876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Synthèse de réunions et plan d’action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7C6B4E-91A9-42F1-A9E6-1A1795B4B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74320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A7776D-47AC-4E5E-BBB8-E657CFEF3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895600"/>
            <a:ext cx="487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réunions produisent beaucoup de matière mais peu de capitalisation exploitable.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1C1FD1C-358A-48C2-976F-5B3F9F9DE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25755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6DF686B-5074-4B6B-906F-3D407B335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409950"/>
            <a:ext cx="487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Chaque réunion débouche sur un résumé clair, des décisions, des responsables et un suivi prêt à partir.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5BDC04-8FC9-43FB-9D2F-9E80AA036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695700"/>
            <a:ext cx="4876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EBCB00C-54F2-472B-9B1D-A1C8DA0E3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771900"/>
            <a:ext cx="4876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98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KPI à suivre : Délai d’envoi du compte rendu ; taux d’actions clôturées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32FD87D-B540-4272-88F9-328F31299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71950"/>
            <a:ext cx="521970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414D288-7F83-468F-A758-D63AA693C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43400"/>
            <a:ext cx="361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E1532E2-B0A6-4FDC-9202-23F4796E3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95800"/>
            <a:ext cx="4876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Agenda, relances et préparation exécutive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D1F99E9-43E5-4112-98C8-3E1680DD2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5775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C5E8F39-89FC-46CD-B8D7-4857F0BCD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10150"/>
            <a:ext cx="487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priorités changent vite et la préparation des rendez-vous reste artisanale.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312EA5E-F72F-4A6C-85DD-3046C4F50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7210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C1F1474-6E99-40AE-A6B7-312BA8C23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24500"/>
            <a:ext cx="487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L’IA prépare les briefs, rappels, points d’attention et dossiers de séance de façon plus régulière.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82DBCD0-87C4-41B3-9A21-B7C5A2E9C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10250"/>
            <a:ext cx="4876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E53AA16-11EF-436F-8870-5CB1AA040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86450"/>
            <a:ext cx="4876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98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KPI à suivre : Temps de préparation ; nombre d’oublis ou reports critiques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EA5D1DF-CF3E-46EB-92CD-01CCE6F66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71950"/>
            <a:ext cx="521970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2C59092-A6F8-4E57-90F3-30A977F7C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343400"/>
            <a:ext cx="361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8C3A"/>
          </a:solidFill>
          <a:ln xmlns:a="http://schemas.openxmlformats.org/drawingml/2006/main" w="0">
            <a:solidFill>
              <a:srgbClr val="C88C3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F3A3204-E942-46F7-B49A-812874E5E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495800"/>
            <a:ext cx="4876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Base documentaire d’assistanat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AD1F1AF-792E-4E78-9B8A-47F9115D5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85775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9B984C9-3A82-45FD-B684-2649B63E6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010150"/>
            <a:ext cx="487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modèles, standards et habitudes sont éparpillés dans plusieurs boîtes et dossiers.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F0B0C66-84A8-4904-88FA-415068AC0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37210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001085A-9C21-44BF-933D-756BC777E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524500"/>
            <a:ext cx="487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Une base simple consolide réponses types, formats et bonnes pratiques réutilisables.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04CDB30-2A78-452F-9173-83EFC8CA7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810250"/>
            <a:ext cx="4876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5026B48-BF4A-4319-9686-8AFC40F93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886450"/>
            <a:ext cx="4876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98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KPI à suivre : Temps de recherche documentaire ; homogénéité des livrables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1D770F3-435A-4F50-B30B-2989FE581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841D3DE-5A97-4452-995A-D6B1A82E6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Assistanat &amp; Secrétariat | Cas d’usage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588AC33-520A-4430-8BB6-D1B20EA9E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86385402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FA5857C-D9C2-498B-9E36-3DAB9CF32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F2747C-0DC1-4D4C-9AD9-9C46FCD7A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PREMIERS TERRAINS À LANCER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2D921C-043E-438E-9F36-005AC15B6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9715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9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89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Les deux premiers terrains doivent créer une valeur visible pour la direction et les équipes.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1F2D91-6AA3-4758-9BCF-B0808B4F7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C’est souvent à ce niveau que le prospect décide si la démarche mérite d’aller plus loin. Le choix du premier terrain compte donc plus que la quantité d’idées disponibles.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48C3CE-BF19-4A0B-8158-EE1D7C5B2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52197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027E19-ACB9-488E-B0CE-E12C21B39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81250"/>
            <a:ext cx="1333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Terrain prioritaire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E34597-3686-4547-B3D9-93E5ADAA2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09850"/>
            <a:ext cx="4800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Courriers et correspondances premium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00A8F8-B0E2-408C-9DAA-EFD33BC15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6705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D3AD41-66EE-473D-BFD7-712A4CBA0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38500"/>
            <a:ext cx="4800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réponses importantes prennent du temps et varient selon les personnes.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524DF5-5394-401B-9D9A-32E4AF148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0525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2D613A-5CCC-4294-BC7A-BA73539DB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76700"/>
            <a:ext cx="48006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Des trames guidées permettent de rédiger plus vite, avec le bon ton et les bonnes pièces.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C2B532-A39D-4E8B-8EBB-460F83CB8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781550"/>
            <a:ext cx="48006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255B92-0D5F-4CCF-BE12-3A32CD99A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76800"/>
            <a:ext cx="4533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6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KPI clé : Temps moyen de rédaction ; taux de validation du premier jet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3750C7-EB41-49FA-B27B-173D0CAFC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90750"/>
            <a:ext cx="52197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0B9BBE-CAB0-4AEB-88B1-260CA82E0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381250"/>
            <a:ext cx="1333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Terrain prioritaire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2F0E4B-A17A-4693-854F-C5F21607F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609850"/>
            <a:ext cx="4800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Synthèse de réunions et plan d’action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1D3025-450C-4885-96FF-F6E5B831E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06705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5F5683-7C99-4FAB-B678-A17B4183C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238500"/>
            <a:ext cx="4800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réunions produisent beaucoup de matière mais peu de capitalisation exploitable.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3F3D0B-0D6F-4B13-B609-769687A04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90525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F4D82DF-17E0-4AB3-BADC-CBF9D42CF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076700"/>
            <a:ext cx="48006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Chaque réunion débouche sur un résumé clair, des décisions, des responsables et un suivi prêt à partir.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2A6EA52-E6A2-4E41-861B-E988C3ABA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781550"/>
            <a:ext cx="48006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2809DAF-DB2D-41C6-AE1E-74E068AD4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876800"/>
            <a:ext cx="4533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6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KPI clé : Délai d’envoi du compte rendu ; taux d’actions clôturées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95A577F-68D8-4D7F-8C79-C6CDDA5C5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81650"/>
            <a:ext cx="108204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A9112E3-6C82-42E0-B2D2-072FE82E7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34050"/>
            <a:ext cx="10363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Règle simple : premier terrain = usage visible, responsable identifié, KPI lisible, données accessibles et supervision humaine facile à organiser.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797C2EB-10D8-4367-805D-5D9978CF2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EA91B4B-A829-44C7-BFBF-4B7816795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Assistanat &amp; Secrétariat | Deux premiers terrains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7BC0E70-E208-4792-81EE-18473201D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00289778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EEE27AA-DD35-4A9E-8996-22E1EFD5F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6358A2-5EEA-429F-B5FB-EE074E6BE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FORMATION ET STANDARDISATION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489E2D-C335-426E-8EC5-2A74FCB3B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9906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9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89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Le bon catalogue ciblé prépare des gestes métier réels, pas une simple acculturation théorique.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30C3C8-6CB4-4D6C-84C1-17FC586D4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8763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Chaque proposition sectorielle TransferAI combine un noyau de formations activables et des usages de standardisation qui rendent l’adoption plus durable dans le temps.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BA0D96-FB1D-4327-8572-AF58048AD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4550"/>
            <a:ext cx="5467350" cy="361950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24CA95-07F0-4B7B-87C4-951BF18E3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24100"/>
            <a:ext cx="285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Formations prioritaires à activer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EA4FA2-2B5C-483C-B0BF-55F788A3C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5467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21BDF7-3FFA-4279-86B7-47F23AD6F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62250"/>
            <a:ext cx="3238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E76F1D"/>
          </a:solidFill>
          <a:ln xmlns:a="http://schemas.openxmlformats.org/drawingml/2006/main" w="9525">
            <a:solidFill>
              <a:srgbClr val="E76F1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5085FD-647A-4F84-B58B-BC79A9E01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19400"/>
            <a:ext cx="323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52BBC3-FCF3-4B53-AD24-DB360979B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800350"/>
            <a:ext cx="4610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Gestion Intelligente de l'Agenda avec l'IA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CDBBB2-AC89-47C3-9CCB-A4DD989AD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62300"/>
            <a:ext cx="5467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21A3DA-53F6-492F-ABD5-8BD049F9D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8500"/>
            <a:ext cx="3238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E76F1D"/>
          </a:solidFill>
          <a:ln xmlns:a="http://schemas.openxmlformats.org/drawingml/2006/main" w="9525">
            <a:solidFill>
              <a:srgbClr val="E76F1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68F74D-4888-4F61-87AC-CBACE9D61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95650"/>
            <a:ext cx="323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C8329F-F186-470C-B0AA-8E24E92BA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276600"/>
            <a:ext cx="4610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Rédaction Professionnelle Assistée par IA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982741-C4E8-4849-ACED-FDEA9F11A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5467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9EB161-2381-438C-AED2-65172DAE1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14750"/>
            <a:ext cx="3238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E76F1D"/>
          </a:solidFill>
          <a:ln xmlns:a="http://schemas.openxmlformats.org/drawingml/2006/main" w="9525">
            <a:solidFill>
              <a:srgbClr val="E76F1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0E2DA3-39DF-4C18-A93F-F4E4191DA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71900"/>
            <a:ext cx="323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578499-24FB-4DB6-AFC9-DFE48AEE3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752850"/>
            <a:ext cx="4610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Synthèse de Réunions avec l'IA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603B13-8B0B-438D-B365-79F8DFF3C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14800"/>
            <a:ext cx="5467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0218061-FD40-41D3-89B1-E91A5D4BB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91000"/>
            <a:ext cx="3238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E76F1D"/>
          </a:solidFill>
          <a:ln xmlns:a="http://schemas.openxmlformats.org/drawingml/2006/main" w="9525">
            <a:solidFill>
              <a:srgbClr val="E76F1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2D38F26-AAC2-44CC-8BEC-0ED619001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48150"/>
            <a:ext cx="323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1FF9FE8-E36E-4770-AB1E-6A09112C6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229100"/>
            <a:ext cx="4610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Gestion de Projets Augmentée par l'IA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FDBB32F-30A2-4D69-9A07-B31FB0122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91050"/>
            <a:ext cx="5467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590B0A8-1E0D-4448-ACC5-541CC2C18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67250"/>
            <a:ext cx="3238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E76F1D"/>
          </a:solidFill>
          <a:ln xmlns:a="http://schemas.openxmlformats.org/drawingml/2006/main" w="9525">
            <a:solidFill>
              <a:srgbClr val="E76F1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A728DB3-1AB6-44C5-88F9-8A7BBB701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24400"/>
            <a:ext cx="323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76BAF8C-0F6D-4C2C-B856-71ECC7196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705350"/>
            <a:ext cx="4610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Communication Professionnelle &amp; IA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DC4958F-065A-4847-8352-1655599A1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67300"/>
            <a:ext cx="5467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599A9B2-2221-40EE-8476-7EB2DF591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43500"/>
            <a:ext cx="3238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E76F1D"/>
          </a:solidFill>
          <a:ln xmlns:a="http://schemas.openxmlformats.org/drawingml/2006/main" w="9525">
            <a:solidFill>
              <a:srgbClr val="E76F1D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E07AB35-7BBD-40E8-8D5A-7992F41DD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00650"/>
            <a:ext cx="323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746213D-7991-4857-910A-43F9BF26F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181600"/>
            <a:ext cx="4610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Organisation Digitale et IA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A86BCCA-8EF3-4549-9347-1C9AE8539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114550"/>
            <a:ext cx="5048250" cy="361950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BA6F79B-94A2-4202-9292-E0C1666D9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324100"/>
            <a:ext cx="3695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20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Ce que ce dispositif doit standardiser concrètement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56A871E-13AB-49DA-BB62-95608B409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781300"/>
            <a:ext cx="44196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Créer une bibliothèque de modèles validés pour courriers, notes, synthèses et briefs.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Réduire la dépendance à quelques personnes en documentant les bons gestes métier.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Mieux préparer les rendez-vous, réunions et visites avec des briefs standardisés.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Donner à la direction une assistance plus rapide, plus nette et plus pilotable.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342F099-EF78-4928-A85A-342A999B7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095750"/>
            <a:ext cx="4419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Après la formation, les équipes formées gardent un accès à la communauté TransferAI pour partager leurs cas, leurs difficultés et obtenir des conseils pratiques orientés exécution.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4A9AC4E-BD6E-445C-8AB3-75FF68CA7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743450"/>
            <a:ext cx="4419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Cette logique augmente la probabilité d’usage réel, sécurise les premiers tests et réduit l’effet “formation oubliée” après quelques semaines.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3737795-2443-41EA-B1B8-E85F82DCA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34688BC-7723-45C8-BFE9-5A1B03A7F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Assistanat &amp; Secrétariat | Formation et standardisation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4B113B1-27FA-40F0-B56D-B7FC35215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48217320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738C358-9749-4349-A596-E33F78875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7A45AD-46A6-460E-992B-E16402748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PARCOURS 90 JOURS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EEAD15-CD40-415E-A2B3-10AECF996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9144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La séquence recommandée va du cadrage à la mesure, avec validation à chaque palier.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269650-3176-481B-9A01-714BDF5FA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8858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L’objectif n’est pas de “déployer de l’IA” d’un bloc, mais de passer par des étapes courtes, visibles et gouvernées, avec un point de décision clair à chaque jalon.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056B4A-528E-42BD-9D3F-0C09EA652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2419350" cy="2609850"/>
          </a:xfrm>
          <a:prstGeom xmlns:a="http://schemas.openxmlformats.org/drawingml/2006/main" prst="roundRect">
            <a:avLst>
              <a:gd name="adj" fmla="val 3150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BAD059-5BDC-4231-8A65-161642050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05050"/>
            <a:ext cx="5715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76F1D"/>
          </a:solidFill>
          <a:ln xmlns:a="http://schemas.openxmlformats.org/drawingml/2006/main" w="0">
            <a:solidFill>
              <a:srgbClr val="E76F1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D0D60B-7EF1-48B6-A0C2-D164E0D0E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62200"/>
            <a:ext cx="571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J+0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6977F8-92B2-4079-9F84-64F06BD84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67000"/>
            <a:ext cx="2076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8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Audit, cadrage et priorisation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AB548D-59E2-4B0B-9561-1CDD07B60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9900"/>
            <a:ext cx="20764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Identifier les flux à plus forte valeur, les risques à encadrer et les équipes à mobiliser.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0BBDB8-7F3E-46F0-BF6E-A89B0E699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133600"/>
            <a:ext cx="2419350" cy="2609850"/>
          </a:xfrm>
          <a:prstGeom xmlns:a="http://schemas.openxmlformats.org/drawingml/2006/main" prst="roundRect">
            <a:avLst>
              <a:gd name="adj" fmla="val 3150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7E9EF1-EE59-444A-BA48-DE32C074E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305050"/>
            <a:ext cx="5715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1C8A7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47F55A-AF50-4083-84C1-3F6287599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362200"/>
            <a:ext cx="571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J+15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4F6742-940F-4B24-88D4-A474535A2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667000"/>
            <a:ext cx="2076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8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Premier livrable utile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8A7893-AC3B-4437-B54E-C453D906C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009900"/>
            <a:ext cx="20764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Produire un kit de travail, un assistant pilote ou une première base documentaire prête à l’usage.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588A77-C552-4909-9F02-8ACB6B4C8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133600"/>
            <a:ext cx="2419350" cy="2609850"/>
          </a:xfrm>
          <a:prstGeom xmlns:a="http://schemas.openxmlformats.org/drawingml/2006/main" prst="roundRect">
            <a:avLst>
              <a:gd name="adj" fmla="val 3150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AEB671-DA93-4273-9BB7-90008D2D8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305050"/>
            <a:ext cx="5715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F21205-948A-4259-A443-C6F225AE3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362200"/>
            <a:ext cx="571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J+45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E3DEF0-A41D-454A-B1C0-C9FFAD57F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667000"/>
            <a:ext cx="2076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8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Formation ciblée et pilote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FF533D-5FA2-4B7C-8E06-570D9301F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009900"/>
            <a:ext cx="20764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Former les bonnes populations, lancer le premier terrain d’exécution et sécuriser les pratiques.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6648AD6-D4F4-461B-B870-27CBBF9A3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133600"/>
            <a:ext cx="2876550" cy="2609850"/>
          </a:xfrm>
          <a:prstGeom xmlns:a="http://schemas.openxmlformats.org/drawingml/2006/main" prst="roundRect">
            <a:avLst>
              <a:gd name="adj" fmla="val 2920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D212D18-874B-4E45-B975-94FE67723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305050"/>
            <a:ext cx="5715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C88C3A"/>
          </a:solidFill>
          <a:ln xmlns:a="http://schemas.openxmlformats.org/drawingml/2006/main" w="0">
            <a:solidFill>
              <a:srgbClr val="C88C3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79D3593-2C67-4E15-9965-13B849F4F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362200"/>
            <a:ext cx="571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J+90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F6DBC2D-23E2-4A44-8113-0F53ED277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667000"/>
            <a:ext cx="2533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8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Mesure, gouvernance et extension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E6D2054-6D82-4627-86CE-C664E4C4A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009900"/>
            <a:ext cx="25336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Relire les premiers KPI, ajuster les usages et décider l’extension, le recentrage ou la montée en charge.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5743B26-53C8-4B33-8ED9-C47CE0CB3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81600"/>
            <a:ext cx="108204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C8E9B99-77C0-48B8-9F3C-C8916DA30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372100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Différentiel TransferAI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502A655-5AC4-4F4B-8076-6FF28F3C7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619750"/>
            <a:ext cx="10172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Une structure de formation classique s’arrête au contenu. TransferAI forme, puis accompagne la mise en pratique, la relecture des premiers KPI, les ajustements et la décision d’extension pendant 90 jours.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C8E5F6A-2F14-45EE-95A9-FBCAF1171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ACDB512-8386-49D9-A25A-9BF313987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Assistanat &amp; Secrétariat | Parcours 90 jours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B888808-BDCA-47F0-8498-710E84C19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363080804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C4C5A82-C832-4928-A1C7-690D05A21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D7DA2E-9FA7-4220-9FC1-22CC15631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OFFRE RECOMMANDÉE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9D6578-2273-4827-8D18-C1C068576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9906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9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89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La proposition TransferAI pour assistanat &amp; secrétariat s’organise en 4 briques simples à activer.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A664F1-FD21-4031-A03A-77595FDE5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8953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Cette architecture permet de relier audit, formation, accompagnement, gouvernance et premier terrain d’exécution dans une seule logique commerciale compréhensible par le prospect.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22D7CD-E01E-444E-AA59-FA8BF1678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52197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74BA8B-104D-4679-937F-C27AE5BD3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38400"/>
            <a:ext cx="49530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E76F1D"/>
          </a:solidFill>
          <a:ln xmlns:a="http://schemas.openxmlformats.org/drawingml/2006/main" w="0">
            <a:solidFill>
              <a:srgbClr val="E76F1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72B07A-3510-4947-871E-A3CD9B451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419350"/>
            <a:ext cx="426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Audit métier ciblé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DAF28F-875D-48D9-811E-7159CD400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43200"/>
            <a:ext cx="487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Qualifier les flux, documents et points de friction les plus critiques pour Assistanat &amp; Secrétariat.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CAC2D1-2882-4BAD-B990-40EE88A50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00400"/>
            <a:ext cx="487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• Cartographie des irritants</a:t>
            </a:r>
          </a:p>
          <a:p xmlns:a="http://schemas.openxmlformats.org/drawingml/2006/main">
            <a:pPr algn="l">
              <a:defRPr sz="76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• Hypothèses de gains rapides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56EC8F-369A-4487-B846-61C126B8D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247900"/>
            <a:ext cx="52197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3E141B-CFF4-4F8D-B5AF-687A06A1C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438400"/>
            <a:ext cx="49530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1C8A7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0AFA87-7DAA-4A64-BF26-99D5767EE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419350"/>
            <a:ext cx="426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Formation des décideurs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8A6851-79B9-4712-95BF-5CC5EE440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743200"/>
            <a:ext cx="487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Aligner la direction, les managers et les sponsors sur les usages, limites et conditions de réussite.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406C61-7E5D-4BEB-AF2B-E12D0CB95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200400"/>
            <a:ext cx="487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• Vision, gouvernance et arbitrages</a:t>
            </a:r>
          </a:p>
          <a:p xmlns:a="http://schemas.openxmlformats.org/drawingml/2006/main">
            <a:pPr algn="l">
              <a:defRPr sz="76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• Lecture des premiers KPI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EED36A-18DA-4E71-B725-B019194B3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62400"/>
            <a:ext cx="52197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769BD5-CA9D-4065-82B0-3F2B26C3E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52900"/>
            <a:ext cx="49530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BDEC6B-C8F1-42C8-B318-9B5CC138E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133850"/>
            <a:ext cx="426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Formation des équipes opérationnelles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DA1943A-AC68-4142-AE57-3397717DF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57700"/>
            <a:ext cx="487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Mettre les bonnes méthodes et les bons assistants dans les mains des équipes qui exécutent.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4F9FB5D-1272-4FA6-B65A-6838FA757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14900"/>
            <a:ext cx="487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• Gestes métier augmentés</a:t>
            </a:r>
          </a:p>
          <a:p xmlns:a="http://schemas.openxmlformats.org/drawingml/2006/main">
            <a:pPr algn="l">
              <a:defRPr sz="76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• Standardisation utile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6128506-3363-4823-A61D-6674E2FEB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62400"/>
            <a:ext cx="52197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CC538FE-8DB8-47F7-9125-97D4EE0E0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152900"/>
            <a:ext cx="49530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C88C3A"/>
          </a:solidFill>
          <a:ln xmlns:a="http://schemas.openxmlformats.org/drawingml/2006/main" w="0">
            <a:solidFill>
              <a:srgbClr val="C88C3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7CDCA26-8FDD-4335-8B24-EA0678421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133850"/>
            <a:ext cx="426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Pilote, accompagnement et extension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8C977D5-480C-43C9-BF37-AC3FE2A51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457700"/>
            <a:ext cx="487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Passer d’une intention IA à un premier terrain visible, mesurable et gouverné.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AF41806-B6EE-413B-A592-922478D19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914900"/>
            <a:ext cx="487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• Pilotage sur 90 jours</a:t>
            </a:r>
          </a:p>
          <a:p xmlns:a="http://schemas.openxmlformats.org/drawingml/2006/main">
            <a:pPr algn="l">
              <a:defRPr sz="76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• Décision d’extension ou de recentrage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33E54C7-477C-4E7A-8659-73344AE5F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559CC45-A192-4AC9-8AAA-B2EA68E73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Assistanat &amp; Secrétariat | Offre recommandée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C77E3EA-0262-4595-B5A1-9EA2A48EF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723735006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931985C-40FC-43BB-81B9-18E8D9457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E8"/>
          </a:solidFill>
          <a:ln xmlns:a="http://schemas.openxmlformats.org/drawingml/2006/main" w="0">
            <a:solidFill>
              <a:srgbClr val="F6F0E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FE297A-03B8-4F97-B261-C0A002AF6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1111"/>
            </a:avLst>
          </a:prstGeom>
          <a:solidFill xmlns:a="http://schemas.openxmlformats.org/drawingml/2006/main">
            <a:srgbClr val="163556"/>
          </a:solidFill>
          <a:ln xmlns:a="http://schemas.openxmlformats.org/drawingml/2006/main" w="9525">
            <a:solidFill>
              <a:srgbClr val="163556"/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f9231304624440"/>
          <a:stretch xmlns:a="http://schemas.openxmlformats.org/drawingml/2006/main"/>
        </p:blipFill>
        <p:spPr>
          <a:xfrm xmlns:a="http://schemas.openxmlformats.org/drawingml/2006/main">
            <a:off x="1056731" y="723900"/>
            <a:ext cx="1125039" cy="4953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DEEF1C-7229-4EE4-B5D4-54191C552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859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D8E6F4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D8E6F4"/>
                </a:solidFill>
                <a:latin typeface="Aptos"/>
                <a:ea typeface="Aptos"/>
                <a:cs typeface="Aptos"/>
              </a:rPr>
              <a:t>CONFIANCE ET PROCHAINE ÉTAPE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97FFB8-3B4A-474A-93E1-047357684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52600"/>
            <a:ext cx="5905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88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988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Proposer un pilote utile, gouverné et mesurable.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E0B8E8-605D-44A0-B361-131EACC8A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57450"/>
            <a:ext cx="5810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45" b="0">
                <a:solidFill>
                  <a:srgbClr val="D7E5F3"/>
                </a:solidFill>
                <a:latin typeface="Aptos"/>
                <a:ea typeface="Aptos"/>
                <a:cs typeface="Aptos"/>
              </a:defRPr>
            </a:pPr>
            <a:r>
              <a:rPr sz="945" b="0">
                <a:solidFill>
                  <a:srgbClr val="D7E5F3"/>
                </a:solidFill>
                <a:latin typeface="Aptos"/>
                <a:ea typeface="Aptos"/>
                <a:cs typeface="Aptos"/>
              </a:rPr>
              <a:t>Le rendez-vous ne sert pas à vendre un outil abstrait. Il sert à confirmer les deux premiers terrains, les équipes à former, les données à protéger et la sortie attendue à 90 jours.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0FFF05-58FC-49F7-B22E-D1E2E2993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00400"/>
            <a:ext cx="5334000" cy="2343150"/>
          </a:xfrm>
          <a:prstGeom xmlns:a="http://schemas.openxmlformats.org/drawingml/2006/main" prst="roundRect">
            <a:avLst>
              <a:gd name="adj" fmla="val 3252"/>
            </a:avLst>
          </a:prstGeom>
          <a:solidFill xmlns:a="http://schemas.openxmlformats.org/drawingml/2006/main">
            <a:srgbClr val="20405F"/>
          </a:solidFill>
          <a:ln xmlns:a="http://schemas.openxmlformats.org/drawingml/2006/main" w="9525">
            <a:solidFill>
              <a:srgbClr val="2B587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5DE079-35AD-4CCC-B984-863A47DCC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48050"/>
            <a:ext cx="304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Le cadre de confiance à présenter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2CCF03-23AF-4468-8E14-7392AD007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29050"/>
            <a:ext cx="46291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55" b="0">
                <a:solidFill>
                  <a:srgbClr val="E8F1F8"/>
                </a:solidFill>
                <a:latin typeface="Aptos"/>
                <a:ea typeface="Aptos"/>
                <a:cs typeface="Aptos"/>
              </a:defRPr>
            </a:pPr>
            <a:r>
              <a:rPr sz="855" b="0">
                <a:solidFill>
                  <a:srgbClr val="E8F1F8"/>
                </a:solidFill>
                <a:latin typeface="Aptos"/>
                <a:ea typeface="Aptos"/>
                <a:cs typeface="Aptos"/>
              </a:rPr>
              <a:t>• Les usages proposés restent gouvernés, progressifs et validés par des responsables métier identifiés.</a:t>
            </a:r>
          </a:p>
          <a:p xmlns:a="http://schemas.openxmlformats.org/drawingml/2006/main">
            <a:pPr algn="l">
              <a:defRPr sz="855" b="0">
                <a:solidFill>
                  <a:srgbClr val="E8F1F8"/>
                </a:solidFill>
                <a:latin typeface="Aptos"/>
                <a:ea typeface="Aptos"/>
                <a:cs typeface="Aptos"/>
              </a:defRPr>
            </a:pPr>
            <a:r>
              <a:rPr sz="855" b="0">
                <a:solidFill>
                  <a:srgbClr val="E8F1F8"/>
                </a:solidFill>
                <a:latin typeface="Aptos"/>
                <a:ea typeface="Aptos"/>
                <a:cs typeface="Aptos"/>
              </a:rPr>
              <a:t>• Les données sensibles, documents internes et arbitrages critiques restent sous supervision humaine.</a:t>
            </a:r>
          </a:p>
          <a:p xmlns:a="http://schemas.openxmlformats.org/drawingml/2006/main">
            <a:pPr algn="l">
              <a:defRPr sz="855" b="0">
                <a:solidFill>
                  <a:srgbClr val="E8F1F8"/>
                </a:solidFill>
                <a:latin typeface="Aptos"/>
                <a:ea typeface="Aptos"/>
                <a:cs typeface="Aptos"/>
              </a:defRPr>
            </a:pPr>
            <a:r>
              <a:rPr sz="855" b="0">
                <a:solidFill>
                  <a:srgbClr val="E8F1F8"/>
                </a:solidFill>
                <a:latin typeface="Aptos"/>
                <a:ea typeface="Aptos"/>
                <a:cs typeface="Aptos"/>
              </a:rPr>
              <a:t>• TransferAI ne s’arrête pas à la formation : nous accompagnons aussi la mise en pratique, les premiers KPI et la décision d’extension.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3C7D5D-5B40-4ED1-A4BB-0B754E938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104900"/>
            <a:ext cx="4953000" cy="4438650"/>
          </a:xfrm>
          <a:prstGeom xmlns:a="http://schemas.openxmlformats.org/drawingml/2006/main" prst="roundRect">
            <a:avLst>
              <a:gd name="adj" fmla="val 1717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FFFDF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BF526F-DA1F-495C-A045-B3AFF52B9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409700"/>
            <a:ext cx="285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Sortie attendue du rendez-vous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51353F-112F-4B51-A5FA-882F0B574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790700"/>
            <a:ext cx="40957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7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Confirmer les 2 premiers cas d’usage à plus forte valeur visible.</a:t>
            </a:r>
          </a:p>
          <a:p xmlns:a="http://schemas.openxmlformats.org/drawingml/2006/main">
            <a:pPr algn="l">
              <a:defRPr sz="87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7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Valider les populations à former et le niveau d’accompagnement requis.</a:t>
            </a:r>
          </a:p>
          <a:p xmlns:a="http://schemas.openxmlformats.org/drawingml/2006/main">
            <a:pPr algn="l">
              <a:defRPr sz="87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7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Identifier les KPI prioritaires et la forme du premier pilote.</a:t>
            </a:r>
          </a:p>
          <a:p xmlns:a="http://schemas.openxmlformats.org/drawingml/2006/main">
            <a:pPr algn="l">
              <a:defRPr sz="87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7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Décider du bon ordre entre audit détaillé, formation ciblée, pilote et gouvernance.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424436-A55F-45F3-B54F-19FDDE29A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2766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CTA principal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A1C1F6-3D8A-4795-A1E2-600691236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524250"/>
            <a:ext cx="4095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355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63556"/>
                </a:solidFill>
                <a:latin typeface="Aptos"/>
                <a:ea typeface="Aptos"/>
                <a:cs typeface="Aptos"/>
              </a:rPr>
              <a:t>Planifier un audit IA gratuit suivi d’un échange expert de 45 minutes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EF895B-C03B-4455-BC09-2697380F6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095750"/>
            <a:ext cx="4095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Pièces jointes recommandées : ce deck sectoriel + mini-catalogue ciblé + formulaire d’audit pré-rendez-vous.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5DC8CC-D7E8-41CD-9108-BA9A074D5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6291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Contextes proches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217AE3-B00E-4573-915C-B5DFCABB5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857750"/>
            <a:ext cx="36195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ED54CA-03F9-491D-BA07-830147BDD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914900"/>
            <a:ext cx="3429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Administration publique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D024522-649A-42DB-9D2D-296C6A180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181600"/>
            <a:ext cx="36195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B6B0904-50E7-4508-B07D-C20582A51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5238750"/>
            <a:ext cx="3429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Institution régionale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4DC08CD-3719-4AF8-ABB3-C2CF5633B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505450"/>
            <a:ext cx="36195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DAD68A7-50B0-4E22-9F99-CCD87E6B1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5562600"/>
            <a:ext cx="3429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Hôtellerie / Tourisme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93A5192-0CEF-41BE-85A9-11C112954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CBF4AC9-ABB3-4461-84EE-C4FEFC609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Assistanat &amp; Secrétariat | Confiance et prochaine étape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8057177-ACAD-46CB-902E-1103A60AF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84096666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2026-06-12T16:01:00.1950000Z</dcterms:created>
  <dcterms:modified xsi:type="dcterms:W3CDTF">2026-06-12T16:01:00.1950000Z</dcterms:modified>
</coreProperties>
</file>