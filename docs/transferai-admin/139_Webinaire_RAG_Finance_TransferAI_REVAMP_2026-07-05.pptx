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Accueillir les participants. Se présenter : Jean Serge ANON, Expert Auditeur-Conseil et Formateur-Coach Multipotentiel chez TransferAI Africa. Annoncer le plan de la session : d'abord comprendre ce qu'est le RAG en termes simples, ensuite voir pourquoi ce principe s'applique particulièrement bien à un service Finance, puis dérouler une démonstration en direct avant de conclure sur les bénéfices et les prochaines étapes (formation « L'IA au Bureau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 insister sur la définition avant de parler de Finance : un RAG combine une recherche documentaire et une génération de texte par IA. L'idée clé à faire retenir : la réponse est toujours ancrée dans des documents réels, contrairement à un chatbot généraliste qui peut inventer. Transition : « Voyons maintenant pourquoi ce principe est particulièrement utile dans un service Finance.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Ancrer la session dans du concret : ce sont de vraies questions posées chaque semaine à un service Finance/Comptabilité en Côte d'Ivoire, y compris sur les normes SYSCOHADA/OHADA. Le message clé : le problème n'est pas un manque de documentation, mais un manque d'accès rapide à une documentation qui existe déjà. Transition : « Voyons maintenant, concrètement, comment cela fonctionne techniquement.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Dérouler les 4 étapes lentement, une par une, sans jargon inutile. Le mot « embedding » peut être simplifié en « empreinte numérique qui capture le sens du texte, pas seulement les mots ». Rappeler que tout ce mécanisme est invisible pour l'utilisateur final : il pose juste une question en langage naturel.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fait que ces documents existent déjà dans l'entreprise — le RAG ne demande pas de tout réécrire, seulement de connecter l'IA à ce qui existe déjà (Drive, intranet, etc.). Ce sont les mêmes documents que ceux utilisés dans la démonstration qui suit.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l'échange à voix haute avec le ton d'une vraie conversation. Bien insister sur la mention de la source entre parenthèses : c'est ce qui distingue une réponse RAG d'une réponse de chatbot classique. Demander à la salle si ce type de question leur est familier.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Préparer un vrai document (extrait de politique de notes de frais) à déposer en direct. Prévoir une question de secours si personne dans la salle n'en propose. Prévoir environ 10 minutes pour cette démonstration, montre en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Relier ces bénéfices à l'expertise audit/conseil : la conformité et la traçabilité parlent particulièrement à un public Finance/Audit. Ce sont exactement les critères qu'un auditeur ou un contrôleur de gestion évalue déjà dans son travail quotidien.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l'appel à l'action : inscription à la formation « L'IA au Bureau ». Rappeler que le cas Finance vu aujourd'hui n'est qu'une illustration parmi 6 cas d'usage sectoriels couverts en formation. Remercier l'audience et ouvrir sur les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3337560"/>
            <a:ext cx="1554480" cy="1554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WEBINAIRE GRATUIT  ·  TRANSFERAI AFRICA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RAG appliqué à la Finance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19659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un assistant documentaire intelligent transforme le quotidien d'un service Finance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 — Formation « L'IA au Bureau »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42900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5661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40156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M. Jean Serge ANON</a:t>
            </a:r>
            <a:endParaRPr lang="en-US" sz="15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Auditeur-Conseil &amp; Formateur-Coach Multipotential.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48640" y="4663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Abidjan, Côte d'Ivoire  ·  Juillet / Août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CONCEPT, EN CLAIR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que le RAG 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: Retrieval-Augmented Generation</a:t>
            </a:r>
            <a:endParaRPr lang="en-US" sz="1600" dirty="0"/>
          </a:p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génération augmentée par récupération 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intelligence artificielle générative reliée à la documentation propre de votre entreprise. Avant de rédiger sa réponse, elle recherche les passages pertinents dans vos documents, puis s'appuie dessus pour répondre — en citant sa source.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F2A4A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42900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À la différence d'un chatbot généraliste 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RAG ne répond pas à partir de connaissances génériques trouvées sur Internet. Il s'appuie sur VOS documents, ce qui limite les inventions et permet de vérifier chaque réponse.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23560" y="1280160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9623" y="141622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0" y="12161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posée en langage naturel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8" y="1892808"/>
            <a:ext cx="164592" cy="1645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623560" y="2697480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623" y="283354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26334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vos documents internes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28" y="3310128"/>
            <a:ext cx="164592" cy="16459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623560" y="4114800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9623" y="4250863"/>
            <a:ext cx="294803" cy="29480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00800" y="40507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sourcée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citant le document d'origine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QUOTIDIEN D'UN SERVICE FINANCE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le RAG s'applique à la Finance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qui reviennent sans cesse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20624" cy="420624"/>
          </a:xfrm>
          <a:prstGeom prst="ellipse">
            <a:avLst/>
          </a:prstGeom>
          <a:solidFill>
            <a:srgbClr val="1E3E5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842516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7190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plafond de remboursement d'un déplacement 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59152"/>
            <a:ext cx="420624" cy="420624"/>
          </a:xfrm>
          <a:prstGeom prst="ellipse">
            <a:avLst/>
          </a:prstGeom>
          <a:solidFill>
            <a:srgbClr val="1E3E5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2464308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3408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pièce justificative pour une note de frais ?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980944"/>
            <a:ext cx="420624" cy="420624"/>
          </a:xfrm>
          <a:prstGeom prst="ellipse">
            <a:avLst/>
          </a:prstGeom>
          <a:solidFill>
            <a:srgbClr val="1E3E5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3086100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96265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délai de validation d'un bon de commande ?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602736"/>
            <a:ext cx="420624" cy="420624"/>
          </a:xfrm>
          <a:prstGeom prst="ellipse">
            <a:avLst/>
          </a:prstGeom>
          <a:solidFill>
            <a:srgbClr val="1E3E5F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" y="3707892"/>
            <a:ext cx="210312" cy="2103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35844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règles d'amortissement selon les normes SYSCOHADA ?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40680" y="132588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F2A4A">
                <a:alpha val="14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669280" y="1554480"/>
            <a:ext cx="502920" cy="502920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9981" y="1675181"/>
            <a:ext cx="261518" cy="26151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30936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5669280" y="21488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comptable et finance passe un temps considérable à répondre aux mêmes questions, au lieu de se consacrer à l'analyse et au pilotage financier.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457200" y="41605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0F2A4A"/>
          </a:solidFill>
          <a:ln/>
        </p:spPr>
      </p:sp>
      <p:sp>
        <p:nvSpPr>
          <p:cNvPr id="23" name="Text 16"/>
          <p:cNvSpPr/>
          <p:nvPr/>
        </p:nvSpPr>
        <p:spPr>
          <a:xfrm>
            <a:off x="685800" y="4160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Ces réponses existent déjà,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noyées dans des dizaines de documents internes — exactement le problème que le RAG résout.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MÉCANISME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ça fonctionne : les 4 étapes du RAG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47088" cy="2880360"/>
          </a:xfrm>
          <a:prstGeom prst="roundRect">
            <a:avLst>
              <a:gd name="adj" fmla="val 396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F2A4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0704" y="1874520"/>
            <a:ext cx="640080" cy="640080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323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3127248"/>
            <a:ext cx="1572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documents finance sont découpés en petits passages de texte.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572" y="2912364"/>
            <a:ext cx="164592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441448" y="1554480"/>
            <a:ext cx="1847088" cy="2880360"/>
          </a:xfrm>
          <a:prstGeom prst="roundRect">
            <a:avLst>
              <a:gd name="adj" fmla="val 396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F2A4A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044952" y="1874520"/>
            <a:ext cx="640080" cy="640080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571" y="202813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51176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Vectorisation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578608" y="3127248"/>
            <a:ext cx="1572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passage est transformé en empreinte numérique (embedding).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820" y="2912364"/>
            <a:ext cx="164592" cy="16459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425696" y="1554480"/>
            <a:ext cx="1847088" cy="2880360"/>
          </a:xfrm>
          <a:prstGeom prst="roundRect">
            <a:avLst>
              <a:gd name="adj" fmla="val 396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F2A4A">
                <a:alpha val="14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029200" y="1874520"/>
            <a:ext cx="640080" cy="640080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2819" y="2028139"/>
            <a:ext cx="332842" cy="33284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35424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Recherche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562856" y="3127248"/>
            <a:ext cx="1572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posée est comparée à tous les passages stockés.</a:t>
            </a:r>
            <a:endParaRPr lang="en-US" sz="11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068" y="2912364"/>
            <a:ext cx="164592" cy="16459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409944" y="1554480"/>
            <a:ext cx="1847088" cy="2880360"/>
          </a:xfrm>
          <a:prstGeom prst="roundRect">
            <a:avLst>
              <a:gd name="adj" fmla="val 396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F2A4A">
                <a:alpha val="14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013448" y="1874520"/>
            <a:ext cx="640080" cy="640080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7067" y="2028139"/>
            <a:ext cx="332842" cy="33284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519672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Réponse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6547104" y="3127248"/>
            <a:ext cx="15727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rédige une réponse en s'appuyant sur les passages trouvés.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recherche documentaire + génération de réponse.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MATIÈRE PREMIÈRE DU RAG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documents qui alimentent l'assistant Finance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536192"/>
            <a:ext cx="420624" cy="420624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641348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4630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Manuel de procédures comptables  —  </a:t>
            </a:r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internes de comptabilisation et de clôture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121408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EEF2F7"/>
          </a:solidFill>
          <a:ln/>
        </p:spPr>
      </p:sp>
      <p:sp>
        <p:nvSpPr>
          <p:cNvPr id="9" name="Shape 6"/>
          <p:cNvSpPr/>
          <p:nvPr/>
        </p:nvSpPr>
        <p:spPr>
          <a:xfrm>
            <a:off x="594360" y="2194560"/>
            <a:ext cx="420624" cy="420624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299716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12140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Politique de notes de frais  —  </a:t>
            </a:r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Barèmes de remboursement et justificatifs requis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2779776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EEF2F7"/>
          </a:solidFill>
          <a:ln/>
        </p:spPr>
      </p:sp>
      <p:sp>
        <p:nvSpPr>
          <p:cNvPr id="13" name="Shape 9"/>
          <p:cNvSpPr/>
          <p:nvPr/>
        </p:nvSpPr>
        <p:spPr>
          <a:xfrm>
            <a:off x="594360" y="2852928"/>
            <a:ext cx="420624" cy="420624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295808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77977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Plan comptable SYSCOHADA  —  </a:t>
            </a:r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Normes comptables OHADA applicables à l'entreprise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57200" y="3438144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EEF2F7"/>
          </a:solidFill>
          <a:ln/>
        </p:spPr>
      </p:sp>
      <p:sp>
        <p:nvSpPr>
          <p:cNvPr id="17" name="Shape 12"/>
          <p:cNvSpPr/>
          <p:nvPr/>
        </p:nvSpPr>
        <p:spPr>
          <a:xfrm>
            <a:off x="594360" y="3511296"/>
            <a:ext cx="420624" cy="420624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3616452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43814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Seuils de délégation budgétaire  —  </a:t>
            </a:r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Procédures de validation des engagements de dépense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57200" y="4096512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EEF2F7"/>
          </a:solidFill>
          <a:ln/>
        </p:spPr>
      </p:sp>
      <p:sp>
        <p:nvSpPr>
          <p:cNvPr id="21" name="Shape 15"/>
          <p:cNvSpPr/>
          <p:nvPr/>
        </p:nvSpPr>
        <p:spPr>
          <a:xfrm>
            <a:off x="594360" y="4169664"/>
            <a:ext cx="420624" cy="420624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4274820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409651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Circulaires fiscales internes  —  </a:t>
            </a:r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TVA, retenues à la source, obligations déclaratives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 concret de dialogue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1E3E5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270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777240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9659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dois me rendre à Bouaké pour un rendez-vous client, quel est le barème de remboursement kilométrique et quels justificatifs dois-je fournir ? »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9900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RAG TransferAI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429000"/>
            <a:ext cx="7772400" cy="1051560"/>
          </a:xfrm>
          <a:prstGeom prst="roundRect">
            <a:avLst>
              <a:gd name="adj" fmla="val 8696"/>
            </a:avLst>
          </a:prstGeom>
          <a:solidFill>
            <a:srgbClr val="0F2A4A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342900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D'après la politique de notes de frais en vigueur, le barème kilométrique applicable pour un déplacement professionnel est celui de la classe « véhicule personnel ». Les justificatifs à fournir sont l'ordre de mission signé et le relevé kilométrique. </a:t>
            </a:r>
            <a:pPr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E7C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(Source : Politique de notes de frais, section 4.2)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réponse sourcée, ancrée dans les vraies procédures internes — pas une réponse générique trouvée sur Internet.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DIRECT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Déroulé de la démonstration en direct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481328" cy="2880360"/>
          </a:xfrm>
          <a:prstGeom prst="roundRect">
            <a:avLst>
              <a:gd name="adj" fmla="val 4938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F2A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0992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96112" y="2103120"/>
            <a:ext cx="603504" cy="603504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247961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0352" y="2898648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246120"/>
            <a:ext cx="1298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extrait de politique de notes de frais est déposé dans le dossier Drive.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29968" y="1600200"/>
            <a:ext cx="1481328" cy="2880360"/>
          </a:xfrm>
          <a:prstGeom prst="roundRect">
            <a:avLst>
              <a:gd name="adj" fmla="val 4938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F2A4A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121408" y="170992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468880" y="2103120"/>
            <a:ext cx="603504" cy="603504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721" y="2247961"/>
            <a:ext cx="313822" cy="31382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03120" y="2898648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Ingérer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121408" y="3246120"/>
            <a:ext cx="1298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traite le document (déclenchement manuel pour la démonstration).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02736" y="1600200"/>
            <a:ext cx="1481328" cy="2880360"/>
          </a:xfrm>
          <a:prstGeom prst="roundRect">
            <a:avLst>
              <a:gd name="adj" fmla="val 4938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F2A4A">
                <a:alpha val="14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694176" y="170992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4041648" y="2103120"/>
            <a:ext cx="603504" cy="603504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89" y="2247961"/>
            <a:ext cx="313822" cy="31382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75888" y="2898648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Interroger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694176" y="3246120"/>
            <a:ext cx="1298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public propose une question réaliste au système.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175504" y="1600200"/>
            <a:ext cx="1481328" cy="2880360"/>
          </a:xfrm>
          <a:prstGeom prst="roundRect">
            <a:avLst>
              <a:gd name="adj" fmla="val 4938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F2A4A">
                <a:alpha val="14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5266944" y="170992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5614416" y="2103120"/>
            <a:ext cx="603504" cy="603504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257" y="2247961"/>
            <a:ext cx="313822" cy="31382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48656" y="2898648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266944" y="3246120"/>
            <a:ext cx="1298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compare la réponse à une recherche manuelle dans le document.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748272" y="1600200"/>
            <a:ext cx="1481328" cy="2880360"/>
          </a:xfrm>
          <a:prstGeom prst="roundRect">
            <a:avLst>
              <a:gd name="adj" fmla="val 4938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F2A4A">
                <a:alpha val="14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6839712" y="170992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7187184" y="2103120"/>
            <a:ext cx="603504" cy="603504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2025" y="2247961"/>
            <a:ext cx="313822" cy="31382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821424" y="2898648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Conclure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6839712" y="3246120"/>
            <a:ext cx="1298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collective sur la fiabilité et les limites observées.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Bénéfices clés pour un service Finance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F2A4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37360"/>
            <a:ext cx="548640" cy="548640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8690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22860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ancrées dans les normes SYSCOHADA/OHADA réellement en vigueur.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5087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F2A4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737360"/>
            <a:ext cx="548640" cy="548640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434" y="18690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691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22860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d'interruptions récurrentes, plus de temps pour l'analyse à valeur ajoutée.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F2A4A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474720"/>
            <a:ext cx="548640" cy="548640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36063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4290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85800" y="40233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réponse est reliée à sa source, ce qui facilite les contrôles internes et externes.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09160" y="324612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101600" dist="38100" dir="5400000">
              <a:srgbClr val="0F2A4A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474720"/>
            <a:ext cx="548640" cy="548640"/>
          </a:xfrm>
          <a:prstGeom prst="ellipse">
            <a:avLst/>
          </a:prstGeom>
          <a:solidFill>
            <a:srgbClr val="0F2A4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434" y="36063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4290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accéléré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937760" y="40233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nouveau collaborateur interroge directement la documentation interne.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Passez à la pratique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cas d'usage Finance n'est qu'un exemple parmi d'autres : le même principe s'applique à la vente, aux ressources humaines, au juridique et au support client.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7863840" cy="1051560"/>
          </a:xfrm>
          <a:prstGeom prst="roundRect">
            <a:avLst>
              <a:gd name="adj" fmla="val 7826"/>
            </a:avLst>
          </a:prstGeom>
          <a:solidFill>
            <a:srgbClr val="1732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7744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« L'IA au Bureau »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jours intensifs — Abidjan, Riviera 3 — Juillet / Août 2026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38176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68503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animée par M. Jean Serge ANON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Auditeur-Conseil &amp; Formateur-Coach Multipotential.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— Hub IA de NettelecomCI   ·   www.transferai.ci   ·   contact@transferai.ci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RAG appliqué à la Finance</dc:title>
  <dc:subject>PptxGenJS Presentation</dc:subject>
  <dc:creator>TransferAI Africa</dc:creator>
  <cp:lastModifiedBy>TransferAI Africa</cp:lastModifiedBy>
  <cp:revision>1</cp:revision>
  <dcterms:created xsi:type="dcterms:W3CDTF">2026-07-05T08:06:32Z</dcterms:created>
  <dcterms:modified xsi:type="dcterms:W3CDTF">2026-07-05T08:06:32Z</dcterms:modified>
</cp:coreProperties>
</file>