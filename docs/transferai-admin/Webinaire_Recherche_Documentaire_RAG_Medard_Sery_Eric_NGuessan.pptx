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0" r:id="rId5"/>
    <p:sldId id="261" r:id="rId6"/>
    <p:sldId id="259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3458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0F3540"/>
          </a:solidFill>
          <a:ln w="12700">
            <a:solidFill>
              <a:srgbClr val="3FC1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F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DOCUMENTAIRE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50" dirty="0">
                <a:solidFill>
                  <a:srgbClr val="3F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INTELLIGENTE — RAG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365760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3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question en langage naturel, une réponse sourcée en quelques secondes — depuis vos propres documents.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4663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59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Présenté par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49377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Médard Sery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48640" y="5358384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C3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Consultant Expert, Data Engineering, Cloud &amp; Plateformes IA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035040" y="49377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Soulemane Konaté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035040" y="5358384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C3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Consultant Expert, Enterprise AI Engineering &amp; Data Platforms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59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TransferAI Africa  •  Webinaire “IA pratique en Côte d'Ivoire”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503920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juillet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problème, en une phrase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3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consultants perdaient en moyenne 2h/jour à chercher des informations dans leurs propres documents.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474720" cy="1188720"/>
          </a:xfrm>
          <a:prstGeom prst="roundRect">
            <a:avLst>
              <a:gd name="adj" fmla="val 6154"/>
            </a:avLst>
          </a:prstGeom>
          <a:solidFill>
            <a:srgbClr val="17324D"/>
          </a:solidFill>
          <a:ln w="6350">
            <a:solidFill>
              <a:srgbClr val="3FC1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F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371600" y="15544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9202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3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cherche les passages pertinents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51960" y="1417320"/>
            <a:ext cx="3474720" cy="1188720"/>
          </a:xfrm>
          <a:prstGeom prst="roundRect">
            <a:avLst>
              <a:gd name="adj" fmla="val 6154"/>
            </a:avLst>
          </a:prstGeom>
          <a:solidFill>
            <a:srgbClr val="17324D"/>
          </a:solidFill>
          <a:ln w="6350">
            <a:solidFill>
              <a:srgbClr val="3FC1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F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074920" y="15544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74920" y="19202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3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enrichit le contexte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955280" y="1417320"/>
            <a:ext cx="3474720" cy="1188720"/>
          </a:xfrm>
          <a:prstGeom prst="roundRect">
            <a:avLst>
              <a:gd name="adj" fmla="val 6154"/>
            </a:avLst>
          </a:prstGeom>
          <a:solidFill>
            <a:srgbClr val="17324D"/>
          </a:solidFill>
          <a:ln w="6350">
            <a:solidFill>
              <a:srgbClr val="3FC1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F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778240" y="15544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778240" y="19202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3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rédige, sources citées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2834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fonctionnement, pas à pas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190244" y="3429000"/>
            <a:ext cx="530352" cy="530352"/>
          </a:xfrm>
          <a:prstGeom prst="ellipse">
            <a:avLst/>
          </a:prstGeom>
          <a:solidFill>
            <a:srgbClr val="112438"/>
          </a:solidFill>
          <a:ln w="12700">
            <a:solidFill>
              <a:srgbClr val="3FC1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90244" y="342900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F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11480" y="4050792"/>
            <a:ext cx="2087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4325112"/>
            <a:ext cx="2179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859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reçue via Chatwoot / web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2161032" y="355701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59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003804" y="3429000"/>
            <a:ext cx="530352" cy="530352"/>
          </a:xfrm>
          <a:prstGeom prst="ellipse">
            <a:avLst/>
          </a:prstGeom>
          <a:solidFill>
            <a:srgbClr val="112438"/>
          </a:solidFill>
          <a:ln w="12700">
            <a:solidFill>
              <a:srgbClr val="3FC1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03804" y="342900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F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225040" y="4050792"/>
            <a:ext cx="2087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Vectorisation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179320" y="4325112"/>
            <a:ext cx="2179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859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OpenAI</a:t>
            </a:r>
            <a:endParaRPr lang="en-US" sz="870" dirty="0"/>
          </a:p>
        </p:txBody>
      </p:sp>
      <p:sp>
        <p:nvSpPr>
          <p:cNvPr id="26" name="Text 24"/>
          <p:cNvSpPr/>
          <p:nvPr/>
        </p:nvSpPr>
        <p:spPr>
          <a:xfrm>
            <a:off x="3974592" y="355701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59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17364" y="3429000"/>
            <a:ext cx="530352" cy="530352"/>
          </a:xfrm>
          <a:prstGeom prst="ellipse">
            <a:avLst/>
          </a:prstGeom>
          <a:solidFill>
            <a:srgbClr val="112438"/>
          </a:solidFill>
          <a:ln w="12700">
            <a:solidFill>
              <a:srgbClr val="3FC1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17364" y="342900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F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038600" y="4050792"/>
            <a:ext cx="2087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992880" y="4325112"/>
            <a:ext cx="2179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859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pgvector, top passages</a:t>
            </a:r>
            <a:endParaRPr lang="en-US" sz="870" dirty="0"/>
          </a:p>
        </p:txBody>
      </p:sp>
      <p:sp>
        <p:nvSpPr>
          <p:cNvPr id="31" name="Text 29"/>
          <p:cNvSpPr/>
          <p:nvPr/>
        </p:nvSpPr>
        <p:spPr>
          <a:xfrm>
            <a:off x="5788152" y="355701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59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630924" y="3429000"/>
            <a:ext cx="530352" cy="530352"/>
          </a:xfrm>
          <a:prstGeom prst="ellipse">
            <a:avLst/>
          </a:prstGeom>
          <a:solidFill>
            <a:srgbClr val="3FC1D0"/>
          </a:solidFill>
          <a:ln w="12700">
            <a:solidFill>
              <a:srgbClr val="3FC1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30924" y="342900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852160" y="4050792"/>
            <a:ext cx="2087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Anonymisation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806440" y="4325112"/>
            <a:ext cx="2179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859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tout envoi IA</a:t>
            </a:r>
            <a:endParaRPr lang="en-US" sz="870" dirty="0"/>
          </a:p>
        </p:txBody>
      </p:sp>
      <p:sp>
        <p:nvSpPr>
          <p:cNvPr id="36" name="Text 34"/>
          <p:cNvSpPr/>
          <p:nvPr/>
        </p:nvSpPr>
        <p:spPr>
          <a:xfrm>
            <a:off x="7601712" y="355701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59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444484" y="3429000"/>
            <a:ext cx="530352" cy="530352"/>
          </a:xfrm>
          <a:prstGeom prst="ellipse">
            <a:avLst/>
          </a:prstGeom>
          <a:solidFill>
            <a:srgbClr val="112438"/>
          </a:solidFill>
          <a:ln w="12700">
            <a:solidFill>
              <a:srgbClr val="3FC1D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44484" y="342900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F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665720" y="4050792"/>
            <a:ext cx="2087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620000" y="4325112"/>
            <a:ext cx="2179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859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GPT-4o, sources citées</a:t>
            </a:r>
            <a:endParaRPr lang="en-US" sz="870" dirty="0"/>
          </a:p>
        </p:txBody>
      </p:sp>
      <p:sp>
        <p:nvSpPr>
          <p:cNvPr id="41" name="Text 39"/>
          <p:cNvSpPr/>
          <p:nvPr/>
        </p:nvSpPr>
        <p:spPr>
          <a:xfrm>
            <a:off x="9415272" y="355701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59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10258044" y="3429000"/>
            <a:ext cx="530352" cy="530352"/>
          </a:xfrm>
          <a:prstGeom prst="ellipse">
            <a:avLst/>
          </a:prstGeom>
          <a:solidFill>
            <a:srgbClr val="112438"/>
          </a:solidFill>
          <a:ln w="12700">
            <a:solidFill>
              <a:srgbClr val="3FC1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258044" y="342900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F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479280" y="4050792"/>
            <a:ext cx="2087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Livraison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433560" y="4325112"/>
            <a:ext cx="2179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859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en secondes</a:t>
            </a:r>
            <a:endParaRPr lang="en-US" sz="870" dirty="0"/>
          </a:p>
        </p:txBody>
      </p:sp>
      <p:sp>
        <p:nvSpPr>
          <p:cNvPr id="46" name="Text 4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59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TransferAI Africa  •  Recherche Documentaire Intelligente (RAG)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503920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juillet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réel testé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3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posée en conditions réelles à la base documentaire de production.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17324D"/>
          </a:solidFill>
          <a:ln w="6350">
            <a:solidFill>
              <a:srgbClr val="3FC1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459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Quel cas d'usage IA concerne la recherche documentaire intelligente (RAG) ? »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F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similarité : 74 %  —  source principale correctement identifiée et citée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obtenue (extrait)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15468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C3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Retrouver une information dans des milliers de documents en quelques secondes, avec preuve de la source — applicable de façon transversale à la gestion électronique de documents, l'archivage et les institutions. »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11480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0F3540"/>
          </a:solidFill>
          <a:ln w="9525">
            <a:solidFill>
              <a:srgbClr val="3FC1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25196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3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garde-fou : si le contenu réel ne correspond pas assez à la question, le système répond « je n'ai pas trouvé cette information » plutôt que d'inventer — y compris sur une question totalement hors sujet (score 0 %, testé : « Quelle est la météo à Abidjan demain ? »).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59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TransferAI Africa  •  Recherche Documentaire Intelligente (RAG)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503920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juillet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pplications par secteur">
    <p:bg>
      <p:bgPr>
        <a:solidFill>
          <a:srgbClr val="0D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/>
          <p:nvPr/>
        </p:nvSpPr>
        <p:spPr>
          <a:xfrm>
            <a:off x="548640" y="411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par secteur d'activité</a:t>
            </a:r>
            <a:endParaRPr lang="en-US" sz="2400" dirty="0"/>
          </a:p>
        </p:txBody>
      </p:sp>
      <p:sp>
        <p:nvSpPr>
          <p:cNvPr id="3" name="Text"/>
          <p:cNvSpPr/>
          <p:nvPr/>
        </p:nvSpPr>
        <p:spPr>
          <a:xfrm>
            <a:off x="548640" y="8686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3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RAG est transversal : implémenté pour un métier, il se réplique presque à l'identique dans un autre.</a:t>
            </a:r>
            <a:endParaRPr lang="en-US" sz="1300" dirty="0"/>
          </a:p>
        </p:txBody>
      </p:sp>
      <p:sp>
        <p:nvSpPr>
          <p:cNvPr id="4" name="Shape"/>
          <p:cNvSpPr/>
          <p:nvPr/>
        </p:nvSpPr>
        <p:spPr>
          <a:xfrm>
            <a:off x="548640" y="1450000"/>
            <a:ext cx="3474720" cy="1750000"/>
          </a:xfrm>
          <a:prstGeom prst="roundRect">
            <a:avLst>
              <a:gd name="adj" fmla="val 6154"/>
            </a:avLst>
          </a:prstGeom>
          <a:solidFill>
            <a:srgbClr val="17324D"/>
          </a:solidFill>
          <a:ln/>
        </p:spPr>
      </p:sp>
      <p:sp>
        <p:nvSpPr>
          <p:cNvPr id="5" name="Text"/>
          <p:cNvSpPr/>
          <p:nvPr/>
        </p:nvSpPr>
        <p:spPr>
          <a:xfrm>
            <a:off x="748640" y="1610000"/>
            <a:ext cx="3074720" cy="4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Humaines</a:t>
            </a:r>
            <a:endParaRPr lang="en-US" sz="1400" dirty="0"/>
          </a:p>
        </p:txBody>
      </p:sp>
      <p:sp>
        <p:nvSpPr>
          <p:cNvPr id="6" name="Text"/>
          <p:cNvSpPr/>
          <p:nvPr/>
        </p:nvSpPr>
        <p:spPr>
          <a:xfrm>
            <a:off x="748640" y="2010000"/>
            <a:ext cx="3074720" cy="10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3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 collective et procédures RH en libre-service ; intégration accélérée des nouveaux employés.</a:t>
            </a:r>
            <a:endParaRPr lang="en-US" sz="1000" dirty="0"/>
          </a:p>
        </p:txBody>
      </p:sp>
      <p:sp>
        <p:nvSpPr>
          <p:cNvPr id="7" name="Shape"/>
          <p:cNvSpPr/>
          <p:nvPr/>
        </p:nvSpPr>
        <p:spPr>
          <a:xfrm>
            <a:off x="4251960" y="1450000"/>
            <a:ext cx="3474720" cy="1750000"/>
          </a:xfrm>
          <a:prstGeom prst="roundRect">
            <a:avLst>
              <a:gd name="adj" fmla="val 6154"/>
            </a:avLst>
          </a:prstGeom>
          <a:solidFill>
            <a:srgbClr val="17324D"/>
          </a:solidFill>
          <a:ln/>
        </p:spPr>
      </p:sp>
      <p:sp>
        <p:nvSpPr>
          <p:cNvPr id="8" name="Text"/>
          <p:cNvSpPr/>
          <p:nvPr/>
        </p:nvSpPr>
        <p:spPr>
          <a:xfrm>
            <a:off x="4451960" y="1610000"/>
            <a:ext cx="3074720" cy="4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Banques</a:t>
            </a:r>
            <a:endParaRPr lang="en-US" sz="1400" dirty="0"/>
          </a:p>
        </p:txBody>
      </p:sp>
      <p:sp>
        <p:nvSpPr>
          <p:cNvPr id="9" name="Text"/>
          <p:cNvSpPr/>
          <p:nvPr/>
        </p:nvSpPr>
        <p:spPr>
          <a:xfrm>
            <a:off x="4451960" y="2010000"/>
            <a:ext cx="3074720" cy="10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3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UEMOA/BCEAO et clauses contractuelles retrouvées en secondes ; pré-clôture et audit accélérés.</a:t>
            </a:r>
            <a:endParaRPr lang="en-US" sz="1000" dirty="0"/>
          </a:p>
        </p:txBody>
      </p:sp>
      <p:sp>
        <p:nvSpPr>
          <p:cNvPr id="10" name="Shape"/>
          <p:cNvSpPr/>
          <p:nvPr/>
        </p:nvSpPr>
        <p:spPr>
          <a:xfrm>
            <a:off x="7955280" y="1450000"/>
            <a:ext cx="3474720" cy="1750000"/>
          </a:xfrm>
          <a:prstGeom prst="roundRect">
            <a:avLst>
              <a:gd name="adj" fmla="val 6154"/>
            </a:avLst>
          </a:prstGeom>
          <a:solidFill>
            <a:srgbClr val="17324D"/>
          </a:solidFill>
          <a:ln/>
        </p:spPr>
      </p:sp>
      <p:sp>
        <p:nvSpPr>
          <p:cNvPr id="11" name="Text"/>
          <p:cNvSpPr/>
          <p:nvPr/>
        </p:nvSpPr>
        <p:spPr>
          <a:xfrm>
            <a:off x="8155280" y="1610000"/>
            <a:ext cx="3074720" cy="4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&amp; Logistique</a:t>
            </a:r>
            <a:endParaRPr lang="en-US" sz="1400" dirty="0"/>
          </a:p>
        </p:txBody>
      </p:sp>
      <p:sp>
        <p:nvSpPr>
          <p:cNvPr id="12" name="Text"/>
          <p:cNvSpPr/>
          <p:nvPr/>
        </p:nvSpPr>
        <p:spPr>
          <a:xfrm>
            <a:off x="8155280" y="2010000"/>
            <a:ext cx="3074720" cy="10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3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Procédures de sécurité et exigences douanières par corridor ; formation des chauffeurs accélérée.</a:t>
            </a:r>
            <a:endParaRPr lang="en-US" sz="1000" dirty="0"/>
          </a:p>
        </p:txBody>
      </p:sp>
      <p:sp>
        <p:nvSpPr>
          <p:cNvPr id="13" name="Shape"/>
          <p:cNvSpPr/>
          <p:nvPr/>
        </p:nvSpPr>
        <p:spPr>
          <a:xfrm>
            <a:off x="548640" y="3360000"/>
            <a:ext cx="3474720" cy="1750000"/>
          </a:xfrm>
          <a:prstGeom prst="roundRect">
            <a:avLst>
              <a:gd name="adj" fmla="val 6154"/>
            </a:avLst>
          </a:prstGeom>
          <a:solidFill>
            <a:srgbClr val="17324D"/>
          </a:solidFill>
          <a:ln/>
        </p:spPr>
      </p:sp>
      <p:sp>
        <p:nvSpPr>
          <p:cNvPr id="14" name="Text"/>
          <p:cNvSpPr/>
          <p:nvPr/>
        </p:nvSpPr>
        <p:spPr>
          <a:xfrm>
            <a:off x="748640" y="3520000"/>
            <a:ext cx="3074720" cy="4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Santé</a:t>
            </a:r>
            <a:endParaRPr lang="en-US" sz="1400" dirty="0"/>
          </a:p>
        </p:txBody>
      </p:sp>
      <p:sp>
        <p:nvSpPr>
          <p:cNvPr id="15" name="Text"/>
          <p:cNvSpPr/>
          <p:nvPr/>
        </p:nvSpPr>
        <p:spPr>
          <a:xfrm>
            <a:off x="748640" y="3920000"/>
            <a:ext cx="3074720" cy="10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3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Protocoles et posologies retrouvés avec la source citée ; mise à jour immédiate des pratiques.</a:t>
            </a:r>
            <a:endParaRPr lang="en-US" sz="1000" dirty="0"/>
          </a:p>
        </p:txBody>
      </p:sp>
      <p:sp>
        <p:nvSpPr>
          <p:cNvPr id="16" name="Shape"/>
          <p:cNvSpPr/>
          <p:nvPr/>
        </p:nvSpPr>
        <p:spPr>
          <a:xfrm>
            <a:off x="4251960" y="3360000"/>
            <a:ext cx="3474720" cy="1750000"/>
          </a:xfrm>
          <a:prstGeom prst="roundRect">
            <a:avLst>
              <a:gd name="adj" fmla="val 6154"/>
            </a:avLst>
          </a:prstGeom>
          <a:solidFill>
            <a:srgbClr val="17324D"/>
          </a:solidFill>
          <a:ln/>
        </p:spPr>
      </p:sp>
      <p:sp>
        <p:nvSpPr>
          <p:cNvPr id="17" name="Text"/>
          <p:cNvSpPr/>
          <p:nvPr/>
        </p:nvSpPr>
        <p:spPr>
          <a:xfrm>
            <a:off x="4451960" y="3520000"/>
            <a:ext cx="3074720" cy="4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Éducation &amp; Formation</a:t>
            </a:r>
            <a:endParaRPr lang="en-US" sz="1400" dirty="0"/>
          </a:p>
        </p:txBody>
      </p:sp>
      <p:sp>
        <p:nvSpPr>
          <p:cNvPr id="18" name="Text"/>
          <p:cNvSpPr/>
          <p:nvPr/>
        </p:nvSpPr>
        <p:spPr>
          <a:xfrm>
            <a:off x="4451960" y="3920000"/>
            <a:ext cx="3074720" cy="10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3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Réponses sourcées aux apprenants à partir des vrais supports de cours, disponibles hors des heures de cours.</a:t>
            </a:r>
            <a:endParaRPr lang="en-US" sz="1000" dirty="0"/>
          </a:p>
        </p:txBody>
      </p:sp>
      <p:sp>
        <p:nvSpPr>
          <p:cNvPr id="19" name="Shape"/>
          <p:cNvSpPr/>
          <p:nvPr/>
        </p:nvSpPr>
        <p:spPr>
          <a:xfrm>
            <a:off x="7955280" y="3360000"/>
            <a:ext cx="3474720" cy="1750000"/>
          </a:xfrm>
          <a:prstGeom prst="roundRect">
            <a:avLst>
              <a:gd name="adj" fmla="val 6154"/>
            </a:avLst>
          </a:prstGeom>
          <a:solidFill>
            <a:srgbClr val="17324D"/>
          </a:solidFill>
          <a:ln/>
        </p:spPr>
      </p:sp>
      <p:sp>
        <p:nvSpPr>
          <p:cNvPr id="20" name="Text"/>
          <p:cNvSpPr/>
          <p:nvPr/>
        </p:nvSpPr>
        <p:spPr>
          <a:xfrm>
            <a:off x="8155280" y="3520000"/>
            <a:ext cx="3074720" cy="4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Juridique &amp; Conformité</a:t>
            </a:r>
            <a:endParaRPr lang="en-US" sz="1400" dirty="0"/>
          </a:p>
        </p:txBody>
      </p:sp>
      <p:sp>
        <p:nvSpPr>
          <p:cNvPr id="21" name="Text"/>
          <p:cNvSpPr/>
          <p:nvPr/>
        </p:nvSpPr>
        <p:spPr>
          <a:xfrm>
            <a:off x="8155280" y="3920000"/>
            <a:ext cx="3074720" cy="10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3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Clauses et précédents retrouvés instantanément ; interprétation uniforme entre collaborateurs.</a:t>
            </a:r>
            <a:endParaRPr lang="en-US" sz="1000" dirty="0"/>
          </a:p>
        </p:txBody>
      </p:sp>
      <p:sp>
        <p:nvSpPr>
          <p:cNvPr id="22" name="Text"/>
          <p:cNvSpPr/>
          <p:nvPr/>
        </p:nvSpPr>
        <p:spPr>
          <a:xfrm>
            <a:off x="548640" y="5320000"/>
            <a:ext cx="1088136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59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au-delà : secteur public, support client, toute organisation avec une documentation structurée.</a:t>
            </a:r>
            <a:endParaRPr lang="en-US" sz="1050" dirty="0"/>
          </a:p>
        </p:txBody>
      </p:sp>
      <p:sp>
        <p:nvSpPr>
          <p:cNvPr id="23" name="Text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59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TransferAI Africa  •  Recherche Documentaire Intelligente (RAG)</a:t>
            </a:r>
            <a:endParaRPr lang="en-US" sz="900" dirty="0"/>
          </a:p>
        </p:txBody>
      </p:sp>
      <p:sp>
        <p:nvSpPr>
          <p:cNvPr id="24" name="Text"/>
          <p:cNvSpPr/>
          <p:nvPr/>
        </p:nvSpPr>
        <p:spPr>
          <a:xfrm>
            <a:off x="8503920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juillet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enefices et ROI">
    <p:bg>
      <p:bgPr>
        <a:solidFill>
          <a:srgbClr val="0D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/>
          <p:nvPr/>
        </p:nvSpPr>
        <p:spPr>
          <a:xfrm>
            <a:off x="548640" y="411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Bénéfices &amp; retour sur investissement</a:t>
            </a:r>
            <a:endParaRPr lang="en-US" sz="2400" dirty="0"/>
          </a:p>
        </p:txBody>
      </p:sp>
      <p:sp>
        <p:nvSpPr>
          <p:cNvPr id="3" name="Text"/>
          <p:cNvSpPr/>
          <p:nvPr/>
        </p:nvSpPr>
        <p:spPr>
          <a:xfrm>
            <a:off x="548640" y="8686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3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n'est pas théorique : c'est ce que produit, en conditions réelles, le système TransferAI Africa.</a:t>
            </a:r>
            <a:endParaRPr lang="en-US" sz="1300" dirty="0"/>
          </a:p>
        </p:txBody>
      </p:sp>
      <p:sp>
        <p:nvSpPr>
          <p:cNvPr id="4" name="Shape"/>
          <p:cNvSpPr/>
          <p:nvPr/>
        </p:nvSpPr>
        <p:spPr>
          <a:xfrm>
            <a:off x="548640" y="1450000"/>
            <a:ext cx="3474720" cy="1850000"/>
          </a:xfrm>
          <a:prstGeom prst="roundRect">
            <a:avLst>
              <a:gd name="adj" fmla="val 6154"/>
            </a:avLst>
          </a:prstGeom>
          <a:solidFill>
            <a:srgbClr val="0F3540"/>
          </a:solidFill>
          <a:ln w="6350">
            <a:solidFill>
              <a:srgbClr val="3FC1D0"/>
            </a:solidFill>
            <a:prstDash val="solid"/>
          </a:ln>
        </p:spPr>
      </p:sp>
      <p:sp>
        <p:nvSpPr>
          <p:cNvPr id="5" name="Text"/>
          <p:cNvSpPr/>
          <p:nvPr/>
        </p:nvSpPr>
        <p:spPr>
          <a:xfrm>
            <a:off x="748640" y="1610000"/>
            <a:ext cx="3074720" cy="4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F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Précision</a:t>
            </a:r>
            <a:endParaRPr lang="en-US" sz="1600" dirty="0"/>
          </a:p>
        </p:txBody>
      </p:sp>
      <p:sp>
        <p:nvSpPr>
          <p:cNvPr id="6" name="Text"/>
          <p:cNvSpPr/>
          <p:nvPr/>
        </p:nvSpPr>
        <p:spPr>
          <a:xfrm>
            <a:off x="748640" y="2070000"/>
            <a:ext cx="3074720" cy="109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3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réponse s'appuie sur de vrais documents de l'organisation, pas sur des connaissances générales potentiellement fausses ou obsolètes.</a:t>
            </a:r>
            <a:endParaRPr lang="en-US" sz="1000" dirty="0"/>
          </a:p>
        </p:txBody>
      </p:sp>
      <p:sp>
        <p:nvSpPr>
          <p:cNvPr id="7" name="Shape"/>
          <p:cNvSpPr/>
          <p:nvPr/>
        </p:nvSpPr>
        <p:spPr>
          <a:xfrm>
            <a:off x="4251960" y="1450000"/>
            <a:ext cx="3474720" cy="1850000"/>
          </a:xfrm>
          <a:prstGeom prst="roundRect">
            <a:avLst>
              <a:gd name="adj" fmla="val 6154"/>
            </a:avLst>
          </a:prstGeom>
          <a:solidFill>
            <a:srgbClr val="0F3540"/>
          </a:solidFill>
          <a:ln w="6350">
            <a:solidFill>
              <a:srgbClr val="3FC1D0"/>
            </a:solidFill>
            <a:prstDash val="solid"/>
          </a:ln>
        </p:spPr>
      </p:sp>
      <p:sp>
        <p:nvSpPr>
          <p:cNvPr id="8" name="Text"/>
          <p:cNvSpPr/>
          <p:nvPr/>
        </p:nvSpPr>
        <p:spPr>
          <a:xfrm>
            <a:off x="4451960" y="1610000"/>
            <a:ext cx="3074720" cy="4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F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Fraîcheur</a:t>
            </a:r>
            <a:endParaRPr lang="en-US" sz="1600" dirty="0"/>
          </a:p>
        </p:txBody>
      </p:sp>
      <p:sp>
        <p:nvSpPr>
          <p:cNvPr id="9" name="Text"/>
          <p:cNvSpPr/>
          <p:nvPr/>
        </p:nvSpPr>
        <p:spPr>
          <a:xfrm>
            <a:off x="4451960" y="2070000"/>
            <a:ext cx="3074720" cy="109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3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suffit d'ajouter ou de mettre à jour un document pour que l'IA en tienne compte — pas besoin de réentraîner un modèle.</a:t>
            </a:r>
            <a:endParaRPr lang="en-US" sz="1000" dirty="0"/>
          </a:p>
        </p:txBody>
      </p:sp>
      <p:sp>
        <p:nvSpPr>
          <p:cNvPr id="10" name="Shape"/>
          <p:cNvSpPr/>
          <p:nvPr/>
        </p:nvSpPr>
        <p:spPr>
          <a:xfrm>
            <a:off x="7955280" y="1450000"/>
            <a:ext cx="3474720" cy="1850000"/>
          </a:xfrm>
          <a:prstGeom prst="roundRect">
            <a:avLst>
              <a:gd name="adj" fmla="val 6154"/>
            </a:avLst>
          </a:prstGeom>
          <a:solidFill>
            <a:srgbClr val="0F3540"/>
          </a:solidFill>
          <a:ln w="6350">
            <a:solidFill>
              <a:srgbClr val="3FC1D0"/>
            </a:solidFill>
            <a:prstDash val="solid"/>
          </a:ln>
        </p:spPr>
      </p:sp>
      <p:sp>
        <p:nvSpPr>
          <p:cNvPr id="11" name="Text"/>
          <p:cNvSpPr/>
          <p:nvPr/>
        </p:nvSpPr>
        <p:spPr>
          <a:xfrm>
            <a:off x="8155280" y="1610000"/>
            <a:ext cx="3074720" cy="4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F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</a:t>
            </a:r>
            <a:endParaRPr lang="en-US" sz="1600" dirty="0"/>
          </a:p>
        </p:txBody>
      </p:sp>
      <p:sp>
        <p:nvSpPr>
          <p:cNvPr id="12" name="Text"/>
          <p:cNvSpPr/>
          <p:nvPr/>
        </p:nvSpPr>
        <p:spPr>
          <a:xfrm>
            <a:off x="8155280" y="2070000"/>
            <a:ext cx="3074720" cy="109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3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réponse peut être reliée à sa source documentaire, ce qui permet de vérifier et de faire confiance à l'information fournie.</a:t>
            </a:r>
            <a:endParaRPr lang="en-US" sz="1000" dirty="0"/>
          </a:p>
        </p:txBody>
      </p:sp>
      <p:sp>
        <p:nvSpPr>
          <p:cNvPr id="13" name="Shape"/>
          <p:cNvSpPr/>
          <p:nvPr/>
        </p:nvSpPr>
        <p:spPr>
          <a:xfrm>
            <a:off x="548640" y="3600000"/>
            <a:ext cx="10881360" cy="1554480"/>
          </a:xfrm>
          <a:prstGeom prst="roundRect">
            <a:avLst>
              <a:gd name="adj" fmla="val 4706"/>
            </a:avLst>
          </a:prstGeom>
          <a:solidFill>
            <a:srgbClr val="3FC1D0"/>
          </a:solidFill>
          <a:ln/>
        </p:spPr>
      </p:sp>
      <p:sp>
        <p:nvSpPr>
          <p:cNvPr id="14" name="Text"/>
          <p:cNvSpPr/>
          <p:nvPr/>
        </p:nvSpPr>
        <p:spPr>
          <a:xfrm>
            <a:off x="822960" y="373716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D1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réaliste : plusieurs heures de temps productif récupérées par semaine, par collaborateur exposé à des recherches documentaires fréquentes.</a:t>
            </a:r>
            <a:endParaRPr lang="en-US" sz="1300" dirty="0"/>
          </a:p>
        </p:txBody>
      </p:sp>
      <p:sp>
        <p:nvSpPr>
          <p:cNvPr id="15" name="Text"/>
          <p:cNvSpPr/>
          <p:nvPr/>
        </p:nvSpPr>
        <p:spPr>
          <a:xfrm>
            <a:off x="822960" y="4423000"/>
            <a:ext cx="10332720" cy="6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0A2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ordres de grandeur restent à valider spécifiquement pour chaque organisation — c'est précisément l'objet d'un premier diagnostic avant tout déploiement.</a:t>
            </a:r>
            <a:endParaRPr lang="en-US" sz="1050" dirty="0"/>
          </a:p>
        </p:txBody>
      </p:sp>
      <p:sp>
        <p:nvSpPr>
          <p:cNvPr id="16" name="Text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59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TransferAI Africa  •  Recherche Documentaire Intelligente (RAG)</a:t>
            </a:r>
            <a:endParaRPr lang="en-US" sz="900" dirty="0"/>
          </a:p>
        </p:txBody>
      </p:sp>
      <p:sp>
        <p:nvSpPr>
          <p:cNvPr id="17" name="Text"/>
          <p:cNvSpPr/>
          <p:nvPr/>
        </p:nvSpPr>
        <p:spPr>
          <a:xfrm>
            <a:off x="8503920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juillet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/ Après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349240" cy="475488"/>
          </a:xfrm>
          <a:prstGeom prst="roundRect">
            <a:avLst>
              <a:gd name="adj" fmla="val 11538"/>
            </a:avLst>
          </a:prstGeom>
          <a:solidFill>
            <a:srgbClr val="17324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51560"/>
            <a:ext cx="4983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3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dans des emails et drives disparates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172200" y="1051560"/>
            <a:ext cx="5349240" cy="475488"/>
          </a:xfrm>
          <a:prstGeom prst="roundRect">
            <a:avLst>
              <a:gd name="adj" fmla="val 11538"/>
            </a:avLst>
          </a:prstGeom>
          <a:solidFill>
            <a:srgbClr val="0F3540"/>
          </a:solidFill>
          <a:ln w="6350">
            <a:solidFill>
              <a:srgbClr val="3FC1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55080" y="1051560"/>
            <a:ext cx="4983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question en langage naturel, réponse en secondes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618488"/>
            <a:ext cx="5349240" cy="475488"/>
          </a:xfrm>
          <a:prstGeom prst="roundRect">
            <a:avLst>
              <a:gd name="adj" fmla="val 11538"/>
            </a:avLst>
          </a:prstGeom>
          <a:solidFill>
            <a:srgbClr val="17324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18488"/>
            <a:ext cx="4983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3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minutes perdues en moyenne par recherche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72200" y="1618488"/>
            <a:ext cx="5349240" cy="475488"/>
          </a:xfrm>
          <a:prstGeom prst="roundRect">
            <a:avLst>
              <a:gd name="adj" fmla="val 11538"/>
            </a:avLst>
          </a:prstGeom>
          <a:solidFill>
            <a:srgbClr val="0F3540"/>
          </a:solidFill>
          <a:ln w="6350">
            <a:solidFill>
              <a:srgbClr val="3FC1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1618488"/>
            <a:ext cx="4983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2h/jour récupérées par consultant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185416"/>
            <a:ext cx="5349240" cy="475488"/>
          </a:xfrm>
          <a:prstGeom prst="roundRect">
            <a:avLst>
              <a:gd name="adj" fmla="val 11538"/>
            </a:avLst>
          </a:prstGeom>
          <a:solidFill>
            <a:srgbClr val="17324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185416"/>
            <a:ext cx="4983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3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Informations souvent obsolètes ou incomplètes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2185416"/>
            <a:ext cx="5349240" cy="475488"/>
          </a:xfrm>
          <a:prstGeom prst="roundRect">
            <a:avLst>
              <a:gd name="adj" fmla="val 11538"/>
            </a:avLst>
          </a:prstGeom>
          <a:solidFill>
            <a:srgbClr val="0F3540"/>
          </a:solidFill>
          <a:ln w="6350">
            <a:solidFill>
              <a:srgbClr val="3FC1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2185416"/>
            <a:ext cx="4983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synchronisée automatiquement toutes les 6h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752344"/>
            <a:ext cx="5349240" cy="475488"/>
          </a:xfrm>
          <a:prstGeom prst="roundRect">
            <a:avLst>
              <a:gd name="adj" fmla="val 11538"/>
            </a:avLst>
          </a:prstGeom>
          <a:solidFill>
            <a:srgbClr val="17324D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752344"/>
            <a:ext cx="4983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3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de savoir d'où vient l'information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72200" y="2752344"/>
            <a:ext cx="5349240" cy="475488"/>
          </a:xfrm>
          <a:prstGeom prst="roundRect">
            <a:avLst>
              <a:gd name="adj" fmla="val 11538"/>
            </a:avLst>
          </a:prstGeom>
          <a:solidFill>
            <a:srgbClr val="0F3540"/>
          </a:solidFill>
          <a:ln w="6350">
            <a:solidFill>
              <a:srgbClr val="3FC1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2752344"/>
            <a:ext cx="4983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citées, référencées aux documents originaux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5204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59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Applicable à tout secteur : procédures internes, réglementation, formation, support client, veille sectorielle.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931920"/>
            <a:ext cx="10881360" cy="1554480"/>
          </a:xfrm>
          <a:prstGeom prst="roundRect">
            <a:avLst>
              <a:gd name="adj" fmla="val 4706"/>
            </a:avLst>
          </a:prstGeom>
          <a:solidFill>
            <a:srgbClr val="3FC1D0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0690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interactive : www.transferai.ci/demo/recherche-documentaire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2960" y="4462272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F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d'accès (une fois par session) : ZavRYCJ8xyHVY4-jAtUb1Ijz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480060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A2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web branchée sur le vrai moteur RAG de production — réponses et sources authentiques.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22960" y="5102352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 étape : formation « L'IA au Bureau » — 29-30 </a:t>
            </a:r>
            <a:r>
              <a:rPr lang="en-US" sz="1100" dirty="0" err="1">
                <a:solidFill>
                  <a:srgbClr val="0A2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juillet</a:t>
            </a:r>
            <a:r>
              <a:rPr lang="en-US" sz="1100" dirty="0">
                <a:solidFill>
                  <a:srgbClr val="0A2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2026 </a:t>
            </a:r>
            <a:r>
              <a:rPr lang="en-US" sz="1100" dirty="0" err="1">
                <a:solidFill>
                  <a:srgbClr val="0A2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</a:t>
            </a:r>
            <a:r>
              <a:rPr lang="en-US" sz="1100" dirty="0">
                <a:solidFill>
                  <a:srgbClr val="0A2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10-11 </a:t>
            </a:r>
            <a:r>
              <a:rPr lang="en-US" sz="1100" dirty="0" err="1">
                <a:solidFill>
                  <a:srgbClr val="0A2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aout</a:t>
            </a:r>
            <a:r>
              <a:rPr lang="en-US" sz="1100">
                <a:solidFill>
                  <a:srgbClr val="0A2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2026, </a:t>
            </a:r>
            <a:r>
              <a:rPr lang="en-US" sz="1100" dirty="0">
                <a:solidFill>
                  <a:srgbClr val="0A2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Riviera 3, Abidjan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59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contact@transferai.ci  •  www.transferai.ci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503920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59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juillet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768</Words>
  <Application>Microsoft Macintosh PowerPoint</Application>
  <PresentationFormat>Widescreen</PresentationFormat>
  <Paragraphs>106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vtoc limited</cp:lastModifiedBy>
  <cp:revision>2</cp:revision>
  <dcterms:created xsi:type="dcterms:W3CDTF">2026-07-12T16:27:20Z</dcterms:created>
  <dcterms:modified xsi:type="dcterms:W3CDTF">2026-07-12T21:54:26Z</dcterms:modified>
</cp:coreProperties>
</file>