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11"/>
    <p:sldId id="261" r:id="rId12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  <Relationship Id="rId12" Type="http://schemas.openxmlformats.org/officeDocument/2006/relationships/slide" Target="slides/slide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F3540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DOCUMENTAIRE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50" kern="0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INTELLIGENTE — RAG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 en langage naturel, une réponse sourcée en quelques secondes — depuis vos propres documents.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Médard Sery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535838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Expert, Data Engineering, Cloud &amp; Plateformes IA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3504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Soulemane Konaté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035040" y="535838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Expert, Enterprise AI Engineering &amp; Data Platforms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Webinaire “IA pratique en Côte d'Ivoire”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problème, en une phrase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consultants perdaient en moyenne 2h/jour à chercher des informations dans leurs propres documents.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 les passages pertinents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7492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74920" y="192024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enrichit le contexte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77824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78240" y="192024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rédige, sources citées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fonctionnement, pas à pas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190244" y="3429000"/>
            <a:ext cx="530352" cy="530352"/>
          </a:xfrm>
          <a:prstGeom prst="ellipse">
            <a:avLst/>
          </a:prstGeom>
          <a:solidFill>
            <a:srgbClr val="112438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02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4050792"/>
            <a:ext cx="208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325112"/>
            <a:ext cx="217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reçue via Chatwoot / web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2161032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03804" y="3429000"/>
            <a:ext cx="530352" cy="530352"/>
          </a:xfrm>
          <a:prstGeom prst="ellipse">
            <a:avLst/>
          </a:prstGeom>
          <a:solidFill>
            <a:srgbClr val="112438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0380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25040" y="4050792"/>
            <a:ext cx="208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79320" y="4325112"/>
            <a:ext cx="217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OpenAI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3974592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17364" y="3429000"/>
            <a:ext cx="530352" cy="530352"/>
          </a:xfrm>
          <a:prstGeom prst="ellipse">
            <a:avLst/>
          </a:prstGeom>
          <a:solidFill>
            <a:srgbClr val="112438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1736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038600" y="4050792"/>
            <a:ext cx="208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992880" y="4325112"/>
            <a:ext cx="217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pgvector, top passages</a:t>
            </a:r>
            <a:endParaRPr lang="en-US" sz="870" dirty="0"/>
          </a:p>
        </p:txBody>
      </p:sp>
      <p:sp>
        <p:nvSpPr>
          <p:cNvPr id="31" name="Text 29"/>
          <p:cNvSpPr/>
          <p:nvPr/>
        </p:nvSpPr>
        <p:spPr>
          <a:xfrm>
            <a:off x="5788152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630924" y="3429000"/>
            <a:ext cx="530352" cy="530352"/>
          </a:xfrm>
          <a:prstGeom prst="ellipse">
            <a:avLst/>
          </a:prstGeom>
          <a:solidFill>
            <a:srgbClr val="3FC1D0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3092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852160" y="4050792"/>
            <a:ext cx="208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06440" y="4325112"/>
            <a:ext cx="217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envoi IA</a:t>
            </a:r>
            <a:endParaRPr lang="en-US" sz="870" dirty="0"/>
          </a:p>
        </p:txBody>
      </p:sp>
      <p:sp>
        <p:nvSpPr>
          <p:cNvPr id="36" name="Text 34"/>
          <p:cNvSpPr/>
          <p:nvPr/>
        </p:nvSpPr>
        <p:spPr>
          <a:xfrm>
            <a:off x="7601712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444484" y="3429000"/>
            <a:ext cx="530352" cy="530352"/>
          </a:xfrm>
          <a:prstGeom prst="ellipse">
            <a:avLst/>
          </a:prstGeom>
          <a:solidFill>
            <a:srgbClr val="112438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4448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65720" y="4050792"/>
            <a:ext cx="208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620000" y="4325112"/>
            <a:ext cx="217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sources citées</a:t>
            </a:r>
            <a:endParaRPr lang="en-US" sz="870" dirty="0"/>
          </a:p>
        </p:txBody>
      </p:sp>
      <p:sp>
        <p:nvSpPr>
          <p:cNvPr id="41" name="Text 39"/>
          <p:cNvSpPr/>
          <p:nvPr/>
        </p:nvSpPr>
        <p:spPr>
          <a:xfrm>
            <a:off x="9415272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0258044" y="3429000"/>
            <a:ext cx="530352" cy="530352"/>
          </a:xfrm>
          <a:prstGeom prst="ellipse">
            <a:avLst/>
          </a:prstGeom>
          <a:solidFill>
            <a:srgbClr val="112438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580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479280" y="4050792"/>
            <a:ext cx="208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Livraison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433560" y="4325112"/>
            <a:ext cx="217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en secondes</a:t>
            </a:r>
            <a:endParaRPr lang="en-US" sz="870" dirty="0"/>
          </a:p>
        </p:txBody>
      </p:sp>
      <p:sp>
        <p:nvSpPr>
          <p:cNvPr id="46" name="Text 4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Recherche Documentaire Intelligente (RAG)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testé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posée en conditions réelles à la base documentaire de production.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459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Quel cas d'usage IA concerne la recherche documentaire intelligente (RAG) ? 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similarité : 74 %  —  source principale correctement identifiée et citée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obtenue (extrait)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Retrouver une information dans des milliers de documents en quelques secondes, avec preuve de la source — applicable de façon transversale à la gestion électronique de documents, l'archivage et les institutions. »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F3540"/>
          </a:solidFill>
          <a:ln w="9525">
            <a:solidFill>
              <a:srgbClr val="3FC1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2519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garde-fou : si le contenu réel ne correspond pas assez à la question, le système répond « je n'ai pas trouvé cette information » plutôt que d'inventer — y compris sur une question totalement hors sujet (score 0 %, testé : « Quelle est la météo à Abidjan demain ? »).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Recherche Documentaire Intelligente (RAG)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17324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dans des emails et drives disparates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051560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55080" y="1051560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 en langage naturel, réponse en secondes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18488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17324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 perdues en moyenne par recherche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618488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1618488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2h/jour récupérées par consultant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185416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17324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185416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souvent obsolètes ou incomplètes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185416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185416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synchronisée automatiquement toutes les 6h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52344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17324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52344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de savoir d'où vient l'information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2752344"/>
            <a:ext cx="5349240" cy="475488"/>
          </a:xfrm>
          <a:prstGeom prst="roundRect">
            <a:avLst>
              <a:gd name="adj" fmla="val 11538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752344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citées, référencées aux documents originaux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520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à tout secteur : procédures internes, réglementation, formation, support client, veille sectorielle.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3FC1D0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0690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interactive : www.transferai.ci/demo/recherche-documentaire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46227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F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d'accès (une fois par session) : ZavRYCJ8xyHVY4-jAtUb1Ijz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8006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A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 branchée sur le vrai moteur RAG de production — réponses et sources authentiques.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5102352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formation « L'IA au Bureau » — 29-30 juillet 2026, Riviera 3, Abidjan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contact@transferai.ci  •  www.transferai.ci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s par secteur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par secteur d'activité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RAG est transversal : implémenté pour un métier, il se réplique presque à l'identique dans un autre.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5" name="Text"/>
          <p:cNvSpPr/>
          <p:nvPr/>
        </p:nvSpPr>
        <p:spPr>
          <a:xfrm>
            <a:off x="74864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400" dirty="0"/>
          </a:p>
        </p:txBody>
      </p:sp>
      <p:sp>
        <p:nvSpPr>
          <p:cNvPr id="6" name="Text"/>
          <p:cNvSpPr/>
          <p:nvPr/>
        </p:nvSpPr>
        <p:spPr>
          <a:xfrm>
            <a:off x="74864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collective et procédures RH en libre-service ; intégration accélérée des nouveaux employés.</a:t>
            </a:r>
            <a:endParaRPr lang="en-US" sz="1000" dirty="0"/>
          </a:p>
        </p:txBody>
      </p:sp>
      <p:sp>
        <p:nvSpPr>
          <p:cNvPr id="7" name="Shape"/>
          <p:cNvSpPr/>
          <p:nvPr/>
        </p:nvSpPr>
        <p:spPr>
          <a:xfrm>
            <a:off x="425196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8" name="Text"/>
          <p:cNvSpPr/>
          <p:nvPr/>
        </p:nvSpPr>
        <p:spPr>
          <a:xfrm>
            <a:off x="445196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&amp; Banques</a:t>
            </a:r>
            <a:endParaRPr lang="en-US" sz="1400" dirty="0"/>
          </a:p>
        </p:txBody>
      </p:sp>
      <p:sp>
        <p:nvSpPr>
          <p:cNvPr id="9" name="Text"/>
          <p:cNvSpPr/>
          <p:nvPr/>
        </p:nvSpPr>
        <p:spPr>
          <a:xfrm>
            <a:off x="445196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UEMOA/BCEAO et clauses contractuelles retrouvées en secondes ; pré-clôture et audit accélérés.</a:t>
            </a:r>
            <a:endParaRPr lang="en-US" sz="1000" dirty="0"/>
          </a:p>
        </p:txBody>
      </p:sp>
      <p:sp>
        <p:nvSpPr>
          <p:cNvPr id="10" name="Shape"/>
          <p:cNvSpPr/>
          <p:nvPr/>
        </p:nvSpPr>
        <p:spPr>
          <a:xfrm>
            <a:off x="795528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1" name="Text"/>
          <p:cNvSpPr/>
          <p:nvPr/>
        </p:nvSpPr>
        <p:spPr>
          <a:xfrm>
            <a:off x="815528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Logistique</a:t>
            </a:r>
            <a:endParaRPr lang="en-US" sz="1400" dirty="0"/>
          </a:p>
        </p:txBody>
      </p:sp>
      <p:sp>
        <p:nvSpPr>
          <p:cNvPr id="12" name="Text"/>
          <p:cNvSpPr/>
          <p:nvPr/>
        </p:nvSpPr>
        <p:spPr>
          <a:xfrm>
            <a:off x="815528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Procédures de sécurité et exigences douanières par corridor ; formation des chauffeurs accélérée.</a:t>
            </a:r>
            <a:endParaRPr lang="en-US" sz="1000" dirty="0"/>
          </a:p>
        </p:txBody>
      </p:sp>
      <p:sp>
        <p:nvSpPr>
          <p:cNvPr id="13" name="Shape"/>
          <p:cNvSpPr/>
          <p:nvPr/>
        </p:nvSpPr>
        <p:spPr>
          <a:xfrm>
            <a:off x="54864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4" name="Text"/>
          <p:cNvSpPr/>
          <p:nvPr/>
        </p:nvSpPr>
        <p:spPr>
          <a:xfrm>
            <a:off x="74864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</a:t>
            </a:r>
            <a:endParaRPr lang="en-US" sz="1400" dirty="0"/>
          </a:p>
        </p:txBody>
      </p:sp>
      <p:sp>
        <p:nvSpPr>
          <p:cNvPr id="15" name="Text"/>
          <p:cNvSpPr/>
          <p:nvPr/>
        </p:nvSpPr>
        <p:spPr>
          <a:xfrm>
            <a:off x="74864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Protocoles et posologies retrouvés avec la source citée ; mise à jour immédiate des pratiques.</a:t>
            </a:r>
            <a:endParaRPr lang="en-US" sz="1000" dirty="0"/>
          </a:p>
        </p:txBody>
      </p:sp>
      <p:sp>
        <p:nvSpPr>
          <p:cNvPr id="16" name="Shape"/>
          <p:cNvSpPr/>
          <p:nvPr/>
        </p:nvSpPr>
        <p:spPr>
          <a:xfrm>
            <a:off x="425196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7" name="Text"/>
          <p:cNvSpPr/>
          <p:nvPr/>
        </p:nvSpPr>
        <p:spPr>
          <a:xfrm>
            <a:off x="445196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Éducation &amp; Formation</a:t>
            </a:r>
            <a:endParaRPr lang="en-US" sz="1400" dirty="0"/>
          </a:p>
        </p:txBody>
      </p:sp>
      <p:sp>
        <p:nvSpPr>
          <p:cNvPr id="18" name="Text"/>
          <p:cNvSpPr/>
          <p:nvPr/>
        </p:nvSpPr>
        <p:spPr>
          <a:xfrm>
            <a:off x="445196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sourcées aux apprenants à partir des vrais supports de cours, disponibles hors des heures de cours.</a:t>
            </a:r>
            <a:endParaRPr lang="en-US" sz="1000" dirty="0"/>
          </a:p>
        </p:txBody>
      </p:sp>
      <p:sp>
        <p:nvSpPr>
          <p:cNvPr id="19" name="Shape"/>
          <p:cNvSpPr/>
          <p:nvPr/>
        </p:nvSpPr>
        <p:spPr>
          <a:xfrm>
            <a:off x="795528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20" name="Text"/>
          <p:cNvSpPr/>
          <p:nvPr/>
        </p:nvSpPr>
        <p:spPr>
          <a:xfrm>
            <a:off x="815528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 &amp; Conformité</a:t>
            </a:r>
            <a:endParaRPr lang="en-US" sz="1400" dirty="0"/>
          </a:p>
        </p:txBody>
      </p:sp>
      <p:sp>
        <p:nvSpPr>
          <p:cNvPr id="21" name="Text"/>
          <p:cNvSpPr/>
          <p:nvPr/>
        </p:nvSpPr>
        <p:spPr>
          <a:xfrm>
            <a:off x="815528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Clauses et précédents retrouvés instantanément ; interprétation uniforme entre collaborateurs.</a:t>
            </a:r>
            <a:endParaRPr lang="en-US" sz="1000" dirty="0"/>
          </a:p>
        </p:txBody>
      </p:sp>
      <p:sp>
        <p:nvSpPr>
          <p:cNvPr id="22" name="Text"/>
          <p:cNvSpPr/>
          <p:nvPr/>
        </p:nvSpPr>
        <p:spPr>
          <a:xfrm>
            <a:off x="548640" y="5320000"/>
            <a:ext cx="1088136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au-delà : secteur public, support client, toute organisation avec une documentation structurée.</a:t>
            </a:r>
            <a:endParaRPr lang="en-US" sz="1050" dirty="0"/>
          </a:p>
        </p:txBody>
      </p:sp>
      <p:sp>
        <p:nvSpPr>
          <p:cNvPr id="23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Recherche Documentaire Intelligente (RAG)</a:t>
            </a:r>
            <a:endParaRPr lang="en-US" sz="900" dirty="0"/>
          </a:p>
        </p:txBody>
      </p:sp>
      <p:sp>
        <p:nvSpPr>
          <p:cNvPr id="24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enefices et ROI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Bénéfices &amp; retour sur investissement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n'est pas théorique : c'est ce que produit, en conditions réelles, le système TransferAI Africa.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50000"/>
            <a:ext cx="3474720" cy="18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74864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</a:t>
            </a:r>
            <a:endParaRPr lang="en-US" sz="1600" dirty="0"/>
          </a:p>
        </p:txBody>
      </p:sp>
      <p:sp>
        <p:nvSpPr>
          <p:cNvPr id="6" name="Text"/>
          <p:cNvSpPr/>
          <p:nvPr/>
        </p:nvSpPr>
        <p:spPr>
          <a:xfrm>
            <a:off x="748640" y="2070000"/>
            <a:ext cx="3074720" cy="10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s'appuie sur de vrais documents de l'organisation, pas sur des connaissances générales potentiellement fausses ou obsolètes.</a:t>
            </a:r>
            <a:endParaRPr lang="en-US" sz="1000" dirty="0"/>
          </a:p>
        </p:txBody>
      </p:sp>
      <p:sp>
        <p:nvSpPr>
          <p:cNvPr id="7" name="Shape"/>
          <p:cNvSpPr/>
          <p:nvPr/>
        </p:nvSpPr>
        <p:spPr>
          <a:xfrm>
            <a:off x="4251960" y="1450000"/>
            <a:ext cx="3474720" cy="18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8" name="Text"/>
          <p:cNvSpPr/>
          <p:nvPr/>
        </p:nvSpPr>
        <p:spPr>
          <a:xfrm>
            <a:off x="445196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Fraîcheur</a:t>
            </a:r>
            <a:endParaRPr lang="en-US" sz="1600" dirty="0"/>
          </a:p>
        </p:txBody>
      </p:sp>
      <p:sp>
        <p:nvSpPr>
          <p:cNvPr id="9" name="Text"/>
          <p:cNvSpPr/>
          <p:nvPr/>
        </p:nvSpPr>
        <p:spPr>
          <a:xfrm>
            <a:off x="4451960" y="2070000"/>
            <a:ext cx="3074720" cy="10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suffit d'ajouter ou de mettre à jour un document pour que l'IA en tienne compte — pas besoin de réentraîner un modèle.</a:t>
            </a:r>
            <a:endParaRPr lang="en-US" sz="1000" dirty="0"/>
          </a:p>
        </p:txBody>
      </p:sp>
      <p:sp>
        <p:nvSpPr>
          <p:cNvPr id="10" name="Shape"/>
          <p:cNvSpPr/>
          <p:nvPr/>
        </p:nvSpPr>
        <p:spPr>
          <a:xfrm>
            <a:off x="7955280" y="1450000"/>
            <a:ext cx="3474720" cy="18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1" name="Text"/>
          <p:cNvSpPr/>
          <p:nvPr/>
        </p:nvSpPr>
        <p:spPr>
          <a:xfrm>
            <a:off x="815528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600" dirty="0"/>
          </a:p>
        </p:txBody>
      </p:sp>
      <p:sp>
        <p:nvSpPr>
          <p:cNvPr id="12" name="Text"/>
          <p:cNvSpPr/>
          <p:nvPr/>
        </p:nvSpPr>
        <p:spPr>
          <a:xfrm>
            <a:off x="8155280" y="2070000"/>
            <a:ext cx="3074720" cy="10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réponse peut être reliée à sa source documentaire, ce qui permet de vérifier et de faire confiance à l'information fournie.</a:t>
            </a:r>
            <a:endParaRPr lang="en-US" sz="1000" dirty="0"/>
          </a:p>
        </p:txBody>
      </p:sp>
      <p:sp>
        <p:nvSpPr>
          <p:cNvPr id="13" name="Shape"/>
          <p:cNvSpPr/>
          <p:nvPr/>
        </p:nvSpPr>
        <p:spPr>
          <a:xfrm>
            <a:off x="548640" y="36000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3FC1D0"/>
          </a:solidFill>
          <a:ln/>
        </p:spPr>
      </p:sp>
      <p:sp>
        <p:nvSpPr>
          <p:cNvPr id="14" name="Text"/>
          <p:cNvSpPr/>
          <p:nvPr/>
        </p:nvSpPr>
        <p:spPr>
          <a:xfrm>
            <a:off x="822960" y="37371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réaliste : plusieurs heures de temps productif récupérées par semaine, par collaborateur exposé à des recherches documentaires fréquentes.</a:t>
            </a:r>
            <a:endParaRPr lang="en-US" sz="1300" dirty="0"/>
          </a:p>
        </p:txBody>
      </p:sp>
      <p:sp>
        <p:nvSpPr>
          <p:cNvPr id="15" name="Text"/>
          <p:cNvSpPr/>
          <p:nvPr/>
        </p:nvSpPr>
        <p:spPr>
          <a:xfrm>
            <a:off x="822960" y="4423000"/>
            <a:ext cx="10332720" cy="6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A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ordres de grandeur restent à valider spécifiquement pour chaque organisation — c'est précisément l'objet d'un premier diagnostic avant tout déploiement.</a:t>
            </a:r>
            <a:endParaRPr lang="en-US" sz="1050" dirty="0"/>
          </a:p>
        </p:txBody>
      </p:sp>
      <p:sp>
        <p:nvSpPr>
          <p:cNvPr id="16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Recherche Documentaire Intelligente (RAG)</a:t>
            </a:r>
            <a:endParaRPr lang="en-US" sz="900" dirty="0"/>
          </a:p>
        </p:txBody>
      </p:sp>
      <p:sp>
        <p:nvSpPr>
          <p:cNvPr id="17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2026-07-12T16:27:20Z</dcterms:created>
  <dcterms:modified xsi:type="dcterms:W3CDTF">2026-07-12T16:27:20Z</dcterms:modified>
</cp:coreProperties>
</file>