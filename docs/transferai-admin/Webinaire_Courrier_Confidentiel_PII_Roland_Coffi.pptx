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10"/>
    <p:sldId id="260" r:id="rId11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2A2455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COURRIER CONFIDENTIEL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50" kern="0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 PAR IA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Guard : votre IA rédige sans jamais voir vos données sensibles.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Marius Ayoro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532180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expert Automatisation, agents IA &amp; workflows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35040" y="48920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Roland Coffi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035040" y="532180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expert Diplomatie, IA appliquée &amp; formation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Webinaire “IA pratique en Côte d'Ivoire”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PII 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que votre IA ne doit jamais voir directement.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6304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81912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FRANÇAIS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892808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à caractère personnel : toute information qui permet d'identifier une personne précise — nom, adresse, téléphone, passeport, référence de dossier…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14173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6304F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1581912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DANS LE PROCESSUS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892808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 envoi à l'IA, chaque PII détectée dans le texte est remplacée par un jeton neutre (ex. [PERSONNE_1], [REFERENCE_1]). L'IA rédige avec ces jetons, sans jamais voir la donnée réelle — qui n'est restaurée qu'à la toute fin, pour un humain autorisé.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rôle dans le processus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35817" y="3337560"/>
            <a:ext cx="4920062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/>
        </p:spPr>
      </p:sp>
      <p:pic>
        <p:nvPicPr>
          <p:cNvPr id="12" name="Image 0" descr="/private/tmp/claude-501/-Users-marius-ayoro/7f816881-553d-470c-99ea-a412f0e083b6/scratchpad/cas_usage_pii/pipeline_sch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72977" y="3474720"/>
            <a:ext cx="4645742" cy="28803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Le Courrier Confidentiel Généré par IA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idée — un pipeline déjà en marche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Testé en conditions réelles sur l'instance n8n de production TransferAI.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locale, sans appel externe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réelle transmise à l'IA générative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1722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validation humaine (manager)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9154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Secteurs déjà démontrés : diplomatie, banque, RH, marketing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stratégique pour vous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67328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donnée sensible exposée à un service IA externe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3895344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0" name="Text 18"/>
          <p:cNvSpPr/>
          <p:nvPr/>
        </p:nvSpPr>
        <p:spPr>
          <a:xfrm>
            <a:off x="6291072" y="3767328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 de rédaction sans compromis sur la confidentialité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462272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334256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: qui a validé, qui a envoyé, quand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35040" y="4462272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4" name="Text 22"/>
          <p:cNvSpPr/>
          <p:nvPr/>
        </p:nvSpPr>
        <p:spPr>
          <a:xfrm>
            <a:off x="6291072" y="4334256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pipeline pour tout secteur : diplomatie, banque, RH, marketing…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7C5CFC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394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interactive : www.transferai.ci/demo/courrier-automatique-pii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571500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formation « L'IA au Bureau » — 28-29 juillet 2026, Riviera 3, Abidjan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contact@transferai.ci  •  www.transferai.ci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Bénéfices &amp; retour sur investissement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7C0D8"/>
                </a:solidFill>
                <a:latin typeface="Calibri"/>
              </a:rPr>
              <a:t>Ce que ce pipeline change concrètement pour la secrétaire et le manager qui traitent un courrier sensible.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417320"/>
            <a:ext cx="594360" cy="594360"/>
          </a:xfrm>
          <a:prstGeom prst="ellipse">
            <a:avLst/>
          </a:prstGeom>
          <a:solidFill>
            <a:srgbClr val="2A2455"/>
          </a:solidFill>
          <a:ln w="12700">
            <a:solidFill>
              <a:srgbClr val="7C5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7C5CFC"/>
                </a:solidFill>
              </a:rPr>
              <a:t>✍️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30552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Rédaction accélérée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87752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B7C0D8"/>
                </a:solidFill>
                <a:latin typeface="Calibri"/>
              </a:rPr>
              <a:t>Le courrier est généré à partir des instructions du dossier — la secrétaire relit et corrige au lieu de rédiger depuis une page blanche.</a:t>
            </a:r>
          </a:p>
        </p:txBody>
      </p:sp>
      <p:sp>
        <p:nvSpPr>
          <p:cNvPr id="7" name="Oval 6"/>
          <p:cNvSpPr/>
          <p:nvPr/>
        </p:nvSpPr>
        <p:spPr>
          <a:xfrm>
            <a:off x="4370832" y="1417320"/>
            <a:ext cx="594360" cy="594360"/>
          </a:xfrm>
          <a:prstGeom prst="ellipse">
            <a:avLst/>
          </a:prstGeom>
          <a:solidFill>
            <a:srgbClr val="2A2455"/>
          </a:solidFill>
          <a:ln w="12700">
            <a:solidFill>
              <a:srgbClr val="7C5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7C5CFC"/>
                </a:solidFill>
              </a:rPr>
              <a:t>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5112" y="2130552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Moins d'allers-retours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5112" y="2587752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B7C0D8"/>
                </a:solidFill>
                <a:latin typeface="Calibri"/>
              </a:rPr>
              <a:t>Un seul point de validation humaine (le manager) avant envoi, avec correction directe si besoin — pas une chaîne d'emails à rallonge.</a:t>
            </a:r>
          </a:p>
        </p:txBody>
      </p:sp>
      <p:sp>
        <p:nvSpPr>
          <p:cNvPr id="10" name="Oval 9"/>
          <p:cNvSpPr/>
          <p:nvPr/>
        </p:nvSpPr>
        <p:spPr>
          <a:xfrm>
            <a:off x="8147304" y="1417320"/>
            <a:ext cx="594360" cy="594360"/>
          </a:xfrm>
          <a:prstGeom prst="ellipse">
            <a:avLst/>
          </a:prstGeom>
          <a:solidFill>
            <a:srgbClr val="2A2455"/>
          </a:solidFill>
          <a:ln w="12700">
            <a:solidFill>
              <a:srgbClr val="7C5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7C5CFC"/>
                </a:solidFill>
              </a:rPr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1584" y="2130552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Conformité sans effort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1584" y="2587752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B7C0D8"/>
                </a:solidFill>
                <a:latin typeface="Calibri"/>
              </a:rPr>
              <a:t>Aucune donnée réelle transmise à l'IA générative externe, et traçabilité complète : qui a validé, qui a envoyé, quand.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77640"/>
            <a:ext cx="11109960" cy="169164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103784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7C5CFC"/>
                </a:solidFill>
                <a:latin typeface="Calibri"/>
              </a:rPr>
              <a:t>Retour sur investissement estimé : </a:t>
            </a:r>
            <a:r>
              <a:rPr sz="1500">
                <a:solidFill>
                  <a:srgbClr val="FFFFFF"/>
                </a:solidFill>
                <a:latin typeface="Calibri"/>
              </a:rPr>
              <a:t>moins de temps passé à rédiger et corriger un courrier sensible à la main, et un seul point de validation humaine au lieu d'un aller-retour email répété entre secrétaire et manager.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10378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8A93AC"/>
                </a:solidFill>
                <a:latin typeface="Calibri"/>
              </a:rPr>
              <a:t>Ordre de grandeur indicatif, à valider selon le volume réel de courriers sensibles traités par l'organisation.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A93AC"/>
                </a:solidFill>
                <a:latin typeface="Calibri"/>
              </a:rPr>
              <a:t>TransferAI Africa  •  Le Courrier Confidentiel Généré par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A93AC"/>
                </a:solidFill>
                <a:latin typeface="Calibri"/>
              </a:rPr>
              <a:t>18 juillet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Le même principe, pour vos réunions les plus sensibles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7C0D8"/>
                </a:solidFill>
                <a:latin typeface="Calibri"/>
              </a:rPr>
              <a:t>Compte rendu confidentiel multi-plateformes (Zoom, Webex, Teams, Drive, dictaphone) — pseudonymisé avant tout appel à l'IA.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0000"/>
            <a:ext cx="2066544" cy="125000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7160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7C5CFC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1148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Ingestion audio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010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B7C0D8"/>
                </a:solidFill>
                <a:latin typeface="Calibri"/>
              </a:rPr>
              <a:t>Zoom, Webex, Teams, Drive, dictaphone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5184" y="1987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5CFC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2344" y="1500000"/>
            <a:ext cx="2066544" cy="125000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1637160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7C5CF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504" y="191148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Pseudonymisation locale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9504" y="230010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B7C0D8"/>
                </a:solidFill>
                <a:latin typeface="Calibri"/>
              </a:rPr>
              <a:t>Détection élargie + regex compatible accents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1987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5CFC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1500000"/>
            <a:ext cx="2066544" cy="125000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3208" y="1637160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7C5CFC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8" y="191148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3208" y="230010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B7C0D8"/>
                </a:solidFill>
                <a:latin typeface="Calibri"/>
              </a:rPr>
              <a:t>Rapport structuré, sanitisé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1987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5CFC"/>
                </a:solidFill>
                <a:latin typeface="Calibr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59752" y="1500000"/>
            <a:ext cx="2066544" cy="125000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6912" y="1637160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7C5CFC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2" y="191148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Validation sécurisée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6912" y="230010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B7C0D8"/>
                </a:solidFill>
                <a:latin typeface="Calibri"/>
              </a:rPr>
              <a:t>Lien à token + page de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1987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5CFC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63456" y="1500000"/>
            <a:ext cx="2066544" cy="125000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0616" y="1637160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7C5CF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0616" y="191148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Livrable +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0616" y="2300100"/>
            <a:ext cx="179222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B7C0D8"/>
                </a:solidFill>
                <a:latin typeface="Calibri"/>
              </a:rPr>
              <a:t>Archive Drive + journal Supabase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600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Exemple réel (rejoué avec le code de production)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330000"/>
            <a:ext cx="5257800" cy="165000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49459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5CFC"/>
                </a:solidFill>
                <a:latin typeface="Calibri"/>
              </a:rPr>
              <a:t>AVANT (jamais transmis à l'IA)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805488"/>
            <a:ext cx="4709160" cy="100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7C0D8"/>
                </a:solidFill>
                <a:latin typeface="Calibri"/>
              </a:rPr>
              <a:t>Monsieur Traoré a confirmé que le virement de 45 000 000 FCFA transitera par le compte IBAN CI93CI0080012345678901234567. Madame Ouédraogo, en charge du dossier, est joignable à o.ouedraogo@ministere-ci.example ou au +225 07 12 34 56 78. Référence contrat CTR20260892.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3330000"/>
            <a:ext cx="5257800" cy="1650000"/>
          </a:xfrm>
          <a:prstGeom prst="roundRect">
            <a:avLst>
              <a:gd name="adj" fmla="val 6000"/>
            </a:avLst>
          </a:prstGeom>
          <a:solidFill>
            <a:srgbClr val="1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49459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5CFC"/>
                </a:solidFill>
                <a:latin typeface="Calibri"/>
              </a:rPr>
              <a:t>APRÈS (ce que voit OpenAI)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805488"/>
            <a:ext cx="4709160" cy="100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EDE9FF"/>
                </a:solidFill>
                <a:latin typeface="Calibri"/>
              </a:rPr>
              <a:t>Monsieur PARTY_003 a confirmé que le virement de AMOUNT_001 transitera par le compte IBAN IBAN_001. Madame PARTY_002, en charge du dossier, est joignable à EMAIL_001 ou au PHONE_001. Référence contrat ID_001.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117160"/>
            <a:ext cx="10881360" cy="114000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254320"/>
            <a:ext cx="10333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5CFC"/>
                </a:solidFill>
                <a:latin typeface="Calibri"/>
              </a:rPr>
              <a:t>Bénéfices pour la diplomatie : </a:t>
            </a:r>
            <a:r>
              <a:rPr sz="1300">
                <a:solidFill>
                  <a:srgbClr val="FFFFFF"/>
                </a:solidFill>
                <a:latin typeface="Calibri"/>
              </a:rPr>
              <a:t>un compte rendu multilingue (FR/EN/ESP) prêt à diffuser après une réunion bilatérale ou multilatérale, sans qu'un nom, un poste ou un détail cité en séance ne quitte jamais le pays vers un service IA externe.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917260"/>
            <a:ext cx="1033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8A93AC"/>
                </a:solidFill>
                <a:latin typeface="Calibri"/>
              </a:rPr>
              <a:t>Retour sur investissement estimé : moins de temps de rédaction post-réunion pour l'assistant(e) de direction — ordre de grandeur indicatif, à valider selon le rythme de réunions de la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A93AC"/>
                </a:solidFill>
                <a:latin typeface="Calibri"/>
              </a:rPr>
              <a:t>TransferAI Africa  •  Compte Rendu de Réunion Internationale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A93AC"/>
                </a:solidFill>
                <a:latin typeface="Calibri"/>
              </a:rPr>
              <a:t>18 juillet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2026-07-12T12:01:15Z</dcterms:created>
  <dcterms:modified xsi:type="dcterms:W3CDTF">2026-07-12T12:01:15Z</dcterms:modified>
</cp:coreProperties>
</file>