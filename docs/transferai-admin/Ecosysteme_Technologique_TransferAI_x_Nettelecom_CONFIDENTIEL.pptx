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3F"/>
        </a:solidFill>
      </p:bgPr>
    </p:bg>
    <p:spTree>
      <p:nvGrpSpPr>
        <p:cNvPr id="1" name=""/>
        <p:cNvGrpSpPr/>
        <p:nvPr/>
      </p:nvGrpSpPr>
      <p:grpSpPr>
        <a:xfrm>
          <a:off x="0" y="0"/>
          <a:ext cx="0" cy="0"/>
          <a:chOff x="0" y="0"/>
          <a:chExt cx="0" cy="0"/>
        </a:xfrm>
      </p:grpSpPr>
      <p:sp>
        <p:nvSpPr>
          <p:cNvPr id="2" name="Text 0"/>
          <p:cNvSpPr/>
          <p:nvPr/>
        </p:nvSpPr>
        <p:spPr>
          <a:xfrm>
            <a:off x="457200" y="1051560"/>
            <a:ext cx="8229600" cy="210312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TransferAI Africa</a:t>
            </a:r>
            <a:endParaRPr lang="en-US" sz="3400" dirty="0"/>
          </a:p>
          <a:p>
            <a:pPr algn="ctr" indent="0" marL="0">
              <a:buNone/>
            </a:pPr>
            <a:r>
              <a:rPr lang="en-US" sz="2200" b="1" dirty="0">
                <a:solidFill>
                  <a:srgbClr val="E8920A"/>
                </a:solidFill>
                <a:latin typeface="Arial" pitchFamily="34" charset="0"/>
                <a:ea typeface="Arial" pitchFamily="34" charset="-122"/>
                <a:cs typeface="Arial" pitchFamily="34" charset="-120"/>
              </a:rPr>
              <a:t>×</a:t>
            </a:r>
            <a:endParaRPr lang="en-US" sz="3400" dirty="0"/>
          </a:p>
          <a:p>
            <a:pPr algn="ctr" indent="0" marL="0">
              <a:buNone/>
            </a:pPr>
            <a:r>
              <a:rPr lang="en-US" sz="3400" b="1" dirty="0">
                <a:solidFill>
                  <a:srgbClr val="FFFFFF"/>
                </a:solidFill>
                <a:latin typeface="Arial" pitchFamily="34" charset="0"/>
                <a:ea typeface="Arial" pitchFamily="34" charset="-122"/>
                <a:cs typeface="Arial" pitchFamily="34" charset="-120"/>
              </a:rPr>
              <a:t>NettelecomCI</a:t>
            </a:r>
            <a:endParaRPr lang="en-US" sz="3400" dirty="0"/>
          </a:p>
        </p:txBody>
      </p:sp>
      <p:sp>
        <p:nvSpPr>
          <p:cNvPr id="3" name="Text 1"/>
          <p:cNvSpPr/>
          <p:nvPr/>
        </p:nvSpPr>
        <p:spPr>
          <a:xfrm>
            <a:off x="457200" y="3246120"/>
            <a:ext cx="8229600" cy="457200"/>
          </a:xfrm>
          <a:prstGeom prst="rect">
            <a:avLst/>
          </a:prstGeom>
          <a:noFill/>
          <a:ln/>
        </p:spPr>
        <p:txBody>
          <a:bodyPr wrap="square" rtlCol="0" anchor="ctr"/>
          <a:lstStyle/>
          <a:p>
            <a:pPr algn="ctr" indent="0" marL="0">
              <a:buNone/>
            </a:pPr>
            <a:r>
              <a:rPr lang="en-US" sz="2000" b="1" dirty="0">
                <a:solidFill>
                  <a:srgbClr val="D6E4F0"/>
                </a:solidFill>
                <a:latin typeface="Arial" pitchFamily="34" charset="0"/>
                <a:ea typeface="Arial" pitchFamily="34" charset="-122"/>
                <a:cs typeface="Arial" pitchFamily="34" charset="-120"/>
              </a:rPr>
              <a:t>Notre Écosystème Technologique</a:t>
            </a:r>
            <a:endParaRPr lang="en-US" sz="2000" dirty="0"/>
          </a:p>
        </p:txBody>
      </p:sp>
      <p:sp>
        <p:nvSpPr>
          <p:cNvPr id="4" name="Text 2"/>
          <p:cNvSpPr/>
          <p:nvPr/>
        </p:nvSpPr>
        <p:spPr>
          <a:xfrm>
            <a:off x="457200" y="3703320"/>
            <a:ext cx="8229600" cy="320040"/>
          </a:xfrm>
          <a:prstGeom prst="rect">
            <a:avLst/>
          </a:prstGeom>
          <a:noFill/>
          <a:ln/>
        </p:spPr>
        <p:txBody>
          <a:bodyPr wrap="square" rtlCol="0" anchor="ctr"/>
          <a:lstStyle/>
          <a:p>
            <a:pPr algn="ctr" indent="0" marL="0">
              <a:buNone/>
            </a:pPr>
            <a:r>
              <a:rPr lang="en-US" sz="1400" i="1" dirty="0">
                <a:solidFill>
                  <a:srgbClr val="AAB8C7"/>
                </a:solidFill>
                <a:latin typeface="Arial" pitchFamily="34" charset="0"/>
                <a:ea typeface="Arial" pitchFamily="34" charset="-122"/>
                <a:cs typeface="Arial" pitchFamily="34" charset="-120"/>
              </a:rPr>
              <a:t>Document interne confidentiel</a:t>
            </a:r>
            <a:endParaRPr lang="en-US" sz="1400" dirty="0"/>
          </a:p>
        </p:txBody>
      </p:sp>
      <p:sp>
        <p:nvSpPr>
          <p:cNvPr id="5" name="Text 3"/>
          <p:cNvSpPr/>
          <p:nvPr/>
        </p:nvSpPr>
        <p:spPr>
          <a:xfrm>
            <a:off x="457200" y="4480560"/>
            <a:ext cx="8229600" cy="320040"/>
          </a:xfrm>
          <a:prstGeom prst="rect">
            <a:avLst/>
          </a:prstGeom>
          <a:noFill/>
          <a:ln/>
        </p:spPr>
        <p:txBody>
          <a:bodyPr wrap="square" rtlCol="0" anchor="ctr"/>
          <a:lstStyle/>
          <a:p>
            <a:pPr algn="ctr" indent="0" marL="0">
              <a:buNone/>
            </a:pPr>
            <a:r>
              <a:rPr lang="en-US" sz="1200" i="1" dirty="0">
                <a:solidFill>
                  <a:srgbClr val="7F8FA3"/>
                </a:solidFill>
                <a:latin typeface="Arial" pitchFamily="34" charset="0"/>
                <a:ea typeface="Arial" pitchFamily="34" charset="-122"/>
                <a:cs typeface="Arial" pitchFamily="34" charset="-120"/>
              </a:rPr>
              <a:t>Hub IA de NettelecomCI en Côte d'Ivoire</a:t>
            </a:r>
            <a:endParaRPr lang="en-US" sz="1200" dirty="0"/>
          </a:p>
        </p:txBody>
      </p:sp>
      <p:sp>
        <p:nvSpPr>
          <p:cNvPr id="6" name="Text 4"/>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8046720" cy="548640"/>
          </a:xfrm>
          <a:prstGeom prst="rect">
            <a:avLst/>
          </a:prstGeom>
          <a:noFill/>
          <a:ln/>
        </p:spPr>
        <p:txBody>
          <a:bodyPr wrap="square" rtlCol="0" anchor="ctr"/>
          <a:lstStyle/>
          <a:p>
            <a:pPr indent="0" marL="0">
              <a:buNone/>
            </a:pPr>
            <a:r>
              <a:rPr lang="en-US" sz="2800" b="1" dirty="0">
                <a:solidFill>
                  <a:srgbClr val="10263F"/>
                </a:solidFill>
                <a:latin typeface="Arial" pitchFamily="34" charset="0"/>
                <a:ea typeface="Arial" pitchFamily="34" charset="-122"/>
                <a:cs typeface="Arial" pitchFamily="34" charset="-120"/>
              </a:rPr>
              <a:t>NOTRE ÉCOSYSTÈME TECHNOLOGIQUE</a:t>
            </a:r>
            <a:endParaRPr lang="en-US" sz="2800" dirty="0"/>
          </a:p>
        </p:txBody>
      </p:sp>
      <p:sp>
        <p:nvSpPr>
          <p:cNvPr id="3" name="Text 1"/>
          <p:cNvSpPr/>
          <p:nvPr/>
        </p:nvSpPr>
        <p:spPr>
          <a:xfrm>
            <a:off x="548640" y="1143000"/>
            <a:ext cx="8046720" cy="457200"/>
          </a:xfrm>
          <a:prstGeom prst="rect">
            <a:avLst/>
          </a:prstGeom>
          <a:noFill/>
          <a:ln/>
        </p:spPr>
        <p:txBody>
          <a:bodyPr wrap="square" rtlCol="0" anchor="ctr"/>
          <a:lstStyle/>
          <a:p>
            <a:pPr indent="0" marL="0">
              <a:buNone/>
            </a:pPr>
            <a:r>
              <a:rPr lang="en-US" sz="1500" i="1" dirty="0">
                <a:solidFill>
                  <a:srgbClr val="333333"/>
                </a:solidFill>
                <a:latin typeface="Arial" pitchFamily="34" charset="0"/>
                <a:ea typeface="Arial" pitchFamily="34" charset="-122"/>
                <a:cs typeface="Arial" pitchFamily="34" charset="-120"/>
              </a:rPr>
              <a:t>Les outils et technologies de pointe qui font tourner notre hub IA au quotidien</a:t>
            </a:r>
            <a:endParaRPr lang="en-US" sz="1500" dirty="0"/>
          </a:p>
        </p:txBody>
      </p:sp>
      <p:sp>
        <p:nvSpPr>
          <p:cNvPr id="4" name="Text 2"/>
          <p:cNvSpPr/>
          <p:nvPr/>
        </p:nvSpPr>
        <p:spPr>
          <a:xfrm>
            <a:off x="548640" y="1828800"/>
            <a:ext cx="8046720" cy="1280160"/>
          </a:xfrm>
          <a:prstGeom prst="rect">
            <a:avLst/>
          </a:prstGeom>
          <a:noFill/>
          <a:ln/>
        </p:spPr>
        <p:txBody>
          <a:bodyPr wrap="square" rtlCol="0" anchor="t"/>
          <a:lstStyle/>
          <a:p>
            <a:pPr indent="0" marL="0">
              <a:buNone/>
            </a:pPr>
            <a:r>
              <a:rPr lang="en-US" sz="1600" dirty="0">
                <a:solidFill>
                  <a:srgbClr val="222222"/>
                </a:solidFill>
                <a:latin typeface="Arial" pitchFamily="34" charset="0"/>
                <a:ea typeface="Arial" pitchFamily="34" charset="-122"/>
                <a:cs typeface="Arial" pitchFamily="34" charset="-120"/>
              </a:rPr>
              <a:t>Beaucoup d'acteurs annoncent de l'intelligence artificielle. Peu s'appuient sur un écosystème technologique réellement intégré, éprouvé et à la pointe du marché. Voici les technologies concrètes qui font tourner notre hub IA au quotidien.</a:t>
            </a:r>
            <a:endParaRPr lang="en-US" sz="1600" dirty="0"/>
          </a:p>
        </p:txBody>
      </p:sp>
      <p:sp>
        <p:nvSpPr>
          <p:cNvPr id="5" name="Shape 3"/>
          <p:cNvSpPr/>
          <p:nvPr/>
        </p:nvSpPr>
        <p:spPr>
          <a:xfrm>
            <a:off x="640080" y="3200400"/>
            <a:ext cx="2468880" cy="420624"/>
          </a:xfrm>
          <a:prstGeom prst="roundRect">
            <a:avLst>
              <a:gd name="adj" fmla="val 13043"/>
            </a:avLst>
          </a:prstGeom>
          <a:solidFill>
            <a:srgbClr val="D6E4F0"/>
          </a:solidFill>
          <a:ln/>
          <a:effectLst>
            <a:outerShdw sx="100000" sy="100000" kx="0" ky="0" algn="bl" rotWithShape="0" blurRad="50800" dist="12700" dir="5400000">
              <a:srgbClr val="000000">
                <a:alpha val="10000"/>
              </a:srgbClr>
            </a:outerShdw>
          </a:effectLst>
        </p:spPr>
      </p:sp>
      <p:sp>
        <p:nvSpPr>
          <p:cNvPr id="6" name="Text 4"/>
          <p:cNvSpPr/>
          <p:nvPr/>
        </p:nvSpPr>
        <p:spPr>
          <a:xfrm>
            <a:off x="685800" y="3200400"/>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024128" y="3200400"/>
            <a:ext cx="274320" cy="420624"/>
          </a:xfrm>
          <a:prstGeom prst="rect">
            <a:avLst/>
          </a:prstGeom>
          <a:noFill/>
          <a:ln/>
        </p:spPr>
        <p:txBody>
          <a:bodyPr wrap="square" lIns="0" tIns="0" rIns="0" bIns="0" rtlCol="0" anchor="ctr"/>
          <a:lstStyle/>
          <a:p>
            <a:pPr algn="l" indent="0" marL="0">
              <a:buNone/>
            </a:pPr>
            <a:r>
              <a:rPr lang="en-US" sz="1100" b="1" dirty="0">
                <a:solidFill>
                  <a:srgbClr val="10263F"/>
                </a:solidFill>
                <a:latin typeface="Arial" pitchFamily="34" charset="0"/>
                <a:ea typeface="Arial" pitchFamily="34" charset="-122"/>
                <a:cs typeface="Arial" pitchFamily="34" charset="-120"/>
              </a:rPr>
              <a:t>1</a:t>
            </a:r>
            <a:endParaRPr lang="en-US" sz="1100" dirty="0"/>
          </a:p>
        </p:txBody>
      </p:sp>
      <p:sp>
        <p:nvSpPr>
          <p:cNvPr id="8" name="Shape 6"/>
          <p:cNvSpPr/>
          <p:nvPr/>
        </p:nvSpPr>
        <p:spPr>
          <a:xfrm>
            <a:off x="3337560" y="3200400"/>
            <a:ext cx="2468880" cy="420624"/>
          </a:xfrm>
          <a:prstGeom prst="roundRect">
            <a:avLst>
              <a:gd name="adj" fmla="val 13043"/>
            </a:avLst>
          </a:prstGeom>
          <a:solidFill>
            <a:srgbClr val="FEF3DC"/>
          </a:solidFill>
          <a:ln/>
          <a:effectLst>
            <a:outerShdw sx="100000" sy="100000" kx="0" ky="0" algn="bl" rotWithShape="0" blurRad="50800" dist="12700" dir="5400000">
              <a:srgbClr val="000000">
                <a:alpha val="10000"/>
              </a:srgbClr>
            </a:outerShdw>
          </a:effectLst>
        </p:spPr>
      </p:sp>
      <p:sp>
        <p:nvSpPr>
          <p:cNvPr id="9" name="Text 7"/>
          <p:cNvSpPr/>
          <p:nvPr/>
        </p:nvSpPr>
        <p:spPr>
          <a:xfrm>
            <a:off x="3383280" y="3200400"/>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3721608" y="3200400"/>
            <a:ext cx="274320" cy="420624"/>
          </a:xfrm>
          <a:prstGeom prst="rect">
            <a:avLst/>
          </a:prstGeom>
          <a:noFill/>
          <a:ln/>
        </p:spPr>
        <p:txBody>
          <a:bodyPr wrap="square" lIns="0" tIns="0" rIns="0" bIns="0" rtlCol="0" anchor="ctr"/>
          <a:lstStyle/>
          <a:p>
            <a:pPr algn="l" indent="0" marL="0">
              <a:buNone/>
            </a:pPr>
            <a:r>
              <a:rPr lang="en-US" sz="1100" b="1" dirty="0">
                <a:solidFill>
                  <a:srgbClr val="E8920A"/>
                </a:solidFill>
                <a:latin typeface="Arial" pitchFamily="34" charset="0"/>
                <a:ea typeface="Arial" pitchFamily="34" charset="-122"/>
                <a:cs typeface="Arial" pitchFamily="34" charset="-120"/>
              </a:rPr>
              <a:t>2</a:t>
            </a:r>
            <a:endParaRPr lang="en-US" sz="1100" dirty="0"/>
          </a:p>
        </p:txBody>
      </p:sp>
      <p:sp>
        <p:nvSpPr>
          <p:cNvPr id="11" name="Shape 9"/>
          <p:cNvSpPr/>
          <p:nvPr/>
        </p:nvSpPr>
        <p:spPr>
          <a:xfrm>
            <a:off x="6035040" y="3200400"/>
            <a:ext cx="2468880" cy="420624"/>
          </a:xfrm>
          <a:prstGeom prst="roundRect">
            <a:avLst>
              <a:gd name="adj" fmla="val 13043"/>
            </a:avLst>
          </a:prstGeom>
          <a:solidFill>
            <a:srgbClr val="D5F0EC"/>
          </a:solidFill>
          <a:ln/>
          <a:effectLst>
            <a:outerShdw sx="100000" sy="100000" kx="0" ky="0" algn="bl" rotWithShape="0" blurRad="50800" dist="12700" dir="5400000">
              <a:srgbClr val="000000">
                <a:alpha val="10000"/>
              </a:srgbClr>
            </a:outerShdw>
          </a:effectLst>
        </p:spPr>
      </p:sp>
      <p:sp>
        <p:nvSpPr>
          <p:cNvPr id="12" name="Text 10"/>
          <p:cNvSpPr/>
          <p:nvPr/>
        </p:nvSpPr>
        <p:spPr>
          <a:xfrm>
            <a:off x="6080760" y="3200400"/>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3" name="Text 11"/>
          <p:cNvSpPr/>
          <p:nvPr/>
        </p:nvSpPr>
        <p:spPr>
          <a:xfrm>
            <a:off x="6419088" y="3200400"/>
            <a:ext cx="274320" cy="420624"/>
          </a:xfrm>
          <a:prstGeom prst="rect">
            <a:avLst/>
          </a:prstGeom>
          <a:noFill/>
          <a:ln/>
        </p:spPr>
        <p:txBody>
          <a:bodyPr wrap="square" lIns="0" tIns="0" rIns="0" bIns="0" rtlCol="0" anchor="ctr"/>
          <a:lstStyle/>
          <a:p>
            <a:pPr algn="l" indent="0" marL="0">
              <a:buNone/>
            </a:pPr>
            <a:r>
              <a:rPr lang="en-US" sz="1100" b="1" dirty="0">
                <a:solidFill>
                  <a:srgbClr val="0D7D6B"/>
                </a:solidFill>
                <a:latin typeface="Arial" pitchFamily="34" charset="0"/>
                <a:ea typeface="Arial" pitchFamily="34" charset="-122"/>
                <a:cs typeface="Arial" pitchFamily="34" charset="-120"/>
              </a:rPr>
              <a:t>3</a:t>
            </a:r>
            <a:endParaRPr lang="en-US" sz="1100" dirty="0"/>
          </a:p>
        </p:txBody>
      </p:sp>
      <p:sp>
        <p:nvSpPr>
          <p:cNvPr id="14" name="Shape 12"/>
          <p:cNvSpPr/>
          <p:nvPr/>
        </p:nvSpPr>
        <p:spPr>
          <a:xfrm>
            <a:off x="640080" y="3730752"/>
            <a:ext cx="2468880" cy="420624"/>
          </a:xfrm>
          <a:prstGeom prst="roundRect">
            <a:avLst>
              <a:gd name="adj" fmla="val 13043"/>
            </a:avLst>
          </a:prstGeom>
          <a:solidFill>
            <a:srgbClr val="D6E4F0"/>
          </a:solidFill>
          <a:ln/>
          <a:effectLst>
            <a:outerShdw sx="100000" sy="100000" kx="0" ky="0" algn="bl" rotWithShape="0" blurRad="50800" dist="12700" dir="5400000">
              <a:srgbClr val="000000">
                <a:alpha val="10000"/>
              </a:srgbClr>
            </a:outerShdw>
          </a:effectLst>
        </p:spPr>
      </p:sp>
      <p:sp>
        <p:nvSpPr>
          <p:cNvPr id="15" name="Text 13"/>
          <p:cNvSpPr/>
          <p:nvPr/>
        </p:nvSpPr>
        <p:spPr>
          <a:xfrm>
            <a:off x="685800" y="3730752"/>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1024128" y="3730752"/>
            <a:ext cx="274320" cy="420624"/>
          </a:xfrm>
          <a:prstGeom prst="rect">
            <a:avLst/>
          </a:prstGeom>
          <a:noFill/>
          <a:ln/>
        </p:spPr>
        <p:txBody>
          <a:bodyPr wrap="square" lIns="0" tIns="0" rIns="0" bIns="0" rtlCol="0" anchor="ctr"/>
          <a:lstStyle/>
          <a:p>
            <a:pPr algn="l" indent="0" marL="0">
              <a:buNone/>
            </a:pPr>
            <a:r>
              <a:rPr lang="en-US" sz="1100" b="1" dirty="0">
                <a:solidFill>
                  <a:srgbClr val="10263F"/>
                </a:solidFill>
                <a:latin typeface="Arial" pitchFamily="34" charset="0"/>
                <a:ea typeface="Arial" pitchFamily="34" charset="-122"/>
                <a:cs typeface="Arial" pitchFamily="34" charset="-120"/>
              </a:rPr>
              <a:t>4</a:t>
            </a:r>
            <a:endParaRPr lang="en-US" sz="1100" dirty="0"/>
          </a:p>
        </p:txBody>
      </p:sp>
      <p:sp>
        <p:nvSpPr>
          <p:cNvPr id="17" name="Shape 15"/>
          <p:cNvSpPr/>
          <p:nvPr/>
        </p:nvSpPr>
        <p:spPr>
          <a:xfrm>
            <a:off x="3337560" y="3730752"/>
            <a:ext cx="2468880" cy="420624"/>
          </a:xfrm>
          <a:prstGeom prst="roundRect">
            <a:avLst>
              <a:gd name="adj" fmla="val 13043"/>
            </a:avLst>
          </a:prstGeom>
          <a:solidFill>
            <a:srgbClr val="FEF3DC"/>
          </a:solidFill>
          <a:ln/>
          <a:effectLst>
            <a:outerShdw sx="100000" sy="100000" kx="0" ky="0" algn="bl" rotWithShape="0" blurRad="50800" dist="12700" dir="5400000">
              <a:srgbClr val="000000">
                <a:alpha val="10000"/>
              </a:srgbClr>
            </a:outerShdw>
          </a:effectLst>
        </p:spPr>
      </p:sp>
      <p:sp>
        <p:nvSpPr>
          <p:cNvPr id="18" name="Text 16"/>
          <p:cNvSpPr/>
          <p:nvPr/>
        </p:nvSpPr>
        <p:spPr>
          <a:xfrm>
            <a:off x="3383280" y="3730752"/>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3721608" y="3730752"/>
            <a:ext cx="274320" cy="420624"/>
          </a:xfrm>
          <a:prstGeom prst="rect">
            <a:avLst/>
          </a:prstGeom>
          <a:noFill/>
          <a:ln/>
        </p:spPr>
        <p:txBody>
          <a:bodyPr wrap="square" lIns="0" tIns="0" rIns="0" bIns="0" rtlCol="0" anchor="ctr"/>
          <a:lstStyle/>
          <a:p>
            <a:pPr algn="l" indent="0" marL="0">
              <a:buNone/>
            </a:pPr>
            <a:r>
              <a:rPr lang="en-US" sz="1100" b="1" dirty="0">
                <a:solidFill>
                  <a:srgbClr val="E8920A"/>
                </a:solidFill>
                <a:latin typeface="Arial" pitchFamily="34" charset="0"/>
                <a:ea typeface="Arial" pitchFamily="34" charset="-122"/>
                <a:cs typeface="Arial" pitchFamily="34" charset="-120"/>
              </a:rPr>
              <a:t>5</a:t>
            </a:r>
            <a:endParaRPr lang="en-US" sz="1100" dirty="0"/>
          </a:p>
        </p:txBody>
      </p:sp>
      <p:sp>
        <p:nvSpPr>
          <p:cNvPr id="20" name="Shape 18"/>
          <p:cNvSpPr/>
          <p:nvPr/>
        </p:nvSpPr>
        <p:spPr>
          <a:xfrm>
            <a:off x="6035040" y="3730752"/>
            <a:ext cx="2468880" cy="420624"/>
          </a:xfrm>
          <a:prstGeom prst="roundRect">
            <a:avLst>
              <a:gd name="adj" fmla="val 13043"/>
            </a:avLst>
          </a:prstGeom>
          <a:solidFill>
            <a:srgbClr val="D5F0EC"/>
          </a:solidFill>
          <a:ln/>
          <a:effectLst>
            <a:outerShdw sx="100000" sy="100000" kx="0" ky="0" algn="bl" rotWithShape="0" blurRad="50800" dist="12700" dir="5400000">
              <a:srgbClr val="000000">
                <a:alpha val="10000"/>
              </a:srgbClr>
            </a:outerShdw>
          </a:effectLst>
        </p:spPr>
      </p:sp>
      <p:sp>
        <p:nvSpPr>
          <p:cNvPr id="21" name="Text 19"/>
          <p:cNvSpPr/>
          <p:nvPr/>
        </p:nvSpPr>
        <p:spPr>
          <a:xfrm>
            <a:off x="6080760" y="3730752"/>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6419088" y="3730752"/>
            <a:ext cx="274320" cy="420624"/>
          </a:xfrm>
          <a:prstGeom prst="rect">
            <a:avLst/>
          </a:prstGeom>
          <a:noFill/>
          <a:ln/>
        </p:spPr>
        <p:txBody>
          <a:bodyPr wrap="square" lIns="0" tIns="0" rIns="0" bIns="0" rtlCol="0" anchor="ctr"/>
          <a:lstStyle/>
          <a:p>
            <a:pPr algn="l" indent="0" marL="0">
              <a:buNone/>
            </a:pPr>
            <a:r>
              <a:rPr lang="en-US" sz="1100" b="1" dirty="0">
                <a:solidFill>
                  <a:srgbClr val="0D7D6B"/>
                </a:solidFill>
                <a:latin typeface="Arial" pitchFamily="34" charset="0"/>
                <a:ea typeface="Arial" pitchFamily="34" charset="-122"/>
                <a:cs typeface="Arial" pitchFamily="34" charset="-120"/>
              </a:rPr>
              <a:t>6</a:t>
            </a:r>
            <a:endParaRPr lang="en-US" sz="1100" dirty="0"/>
          </a:p>
        </p:txBody>
      </p:sp>
      <p:sp>
        <p:nvSpPr>
          <p:cNvPr id="23" name="Shape 21"/>
          <p:cNvSpPr/>
          <p:nvPr/>
        </p:nvSpPr>
        <p:spPr>
          <a:xfrm>
            <a:off x="640080" y="4261104"/>
            <a:ext cx="2468880" cy="420624"/>
          </a:xfrm>
          <a:prstGeom prst="roundRect">
            <a:avLst>
              <a:gd name="adj" fmla="val 13043"/>
            </a:avLst>
          </a:prstGeom>
          <a:solidFill>
            <a:srgbClr val="D6E4F0"/>
          </a:solidFill>
          <a:ln/>
          <a:effectLst>
            <a:outerShdw sx="100000" sy="100000" kx="0" ky="0" algn="bl" rotWithShape="0" blurRad="50800" dist="12700" dir="5400000">
              <a:srgbClr val="000000">
                <a:alpha val="10000"/>
              </a:srgbClr>
            </a:outerShdw>
          </a:effectLst>
        </p:spPr>
      </p:sp>
      <p:sp>
        <p:nvSpPr>
          <p:cNvPr id="24" name="Text 22"/>
          <p:cNvSpPr/>
          <p:nvPr/>
        </p:nvSpPr>
        <p:spPr>
          <a:xfrm>
            <a:off x="685800" y="4261104"/>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1024128" y="4261104"/>
            <a:ext cx="274320" cy="420624"/>
          </a:xfrm>
          <a:prstGeom prst="rect">
            <a:avLst/>
          </a:prstGeom>
          <a:noFill/>
          <a:ln/>
        </p:spPr>
        <p:txBody>
          <a:bodyPr wrap="square" lIns="0" tIns="0" rIns="0" bIns="0" rtlCol="0" anchor="ctr"/>
          <a:lstStyle/>
          <a:p>
            <a:pPr algn="l" indent="0" marL="0">
              <a:buNone/>
            </a:pPr>
            <a:r>
              <a:rPr lang="en-US" sz="1100" b="1" dirty="0">
                <a:solidFill>
                  <a:srgbClr val="10263F"/>
                </a:solidFill>
                <a:latin typeface="Arial" pitchFamily="34" charset="0"/>
                <a:ea typeface="Arial" pitchFamily="34" charset="-122"/>
                <a:cs typeface="Arial" pitchFamily="34" charset="-120"/>
              </a:rPr>
              <a:t>7</a:t>
            </a:r>
            <a:endParaRPr lang="en-US" sz="1100" dirty="0"/>
          </a:p>
        </p:txBody>
      </p:sp>
      <p:sp>
        <p:nvSpPr>
          <p:cNvPr id="26" name="Shape 24"/>
          <p:cNvSpPr/>
          <p:nvPr/>
        </p:nvSpPr>
        <p:spPr>
          <a:xfrm>
            <a:off x="3337560" y="4261104"/>
            <a:ext cx="2468880" cy="420624"/>
          </a:xfrm>
          <a:prstGeom prst="roundRect">
            <a:avLst>
              <a:gd name="adj" fmla="val 13043"/>
            </a:avLst>
          </a:prstGeom>
          <a:solidFill>
            <a:srgbClr val="FEF3DC"/>
          </a:solidFill>
          <a:ln/>
          <a:effectLst>
            <a:outerShdw sx="100000" sy="100000" kx="0" ky="0" algn="bl" rotWithShape="0" blurRad="50800" dist="12700" dir="5400000">
              <a:srgbClr val="000000">
                <a:alpha val="10000"/>
              </a:srgbClr>
            </a:outerShdw>
          </a:effectLst>
        </p:spPr>
      </p:sp>
      <p:sp>
        <p:nvSpPr>
          <p:cNvPr id="27" name="Text 25"/>
          <p:cNvSpPr/>
          <p:nvPr/>
        </p:nvSpPr>
        <p:spPr>
          <a:xfrm>
            <a:off x="3383280" y="4261104"/>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8" name="Text 26"/>
          <p:cNvSpPr/>
          <p:nvPr/>
        </p:nvSpPr>
        <p:spPr>
          <a:xfrm>
            <a:off x="3721608" y="4261104"/>
            <a:ext cx="274320" cy="420624"/>
          </a:xfrm>
          <a:prstGeom prst="rect">
            <a:avLst/>
          </a:prstGeom>
          <a:noFill/>
          <a:ln/>
        </p:spPr>
        <p:txBody>
          <a:bodyPr wrap="square" lIns="0" tIns="0" rIns="0" bIns="0" rtlCol="0" anchor="ctr"/>
          <a:lstStyle/>
          <a:p>
            <a:pPr algn="l" indent="0" marL="0">
              <a:buNone/>
            </a:pPr>
            <a:r>
              <a:rPr lang="en-US" sz="1100" b="1" dirty="0">
                <a:solidFill>
                  <a:srgbClr val="E8920A"/>
                </a:solidFill>
                <a:latin typeface="Arial" pitchFamily="34" charset="0"/>
                <a:ea typeface="Arial" pitchFamily="34" charset="-122"/>
                <a:cs typeface="Arial" pitchFamily="34" charset="-120"/>
              </a:rPr>
              <a:t>8</a:t>
            </a:r>
            <a:endParaRPr lang="en-US" sz="1100" dirty="0"/>
          </a:p>
        </p:txBody>
      </p:sp>
      <p:sp>
        <p:nvSpPr>
          <p:cNvPr id="29" name="Shape 27"/>
          <p:cNvSpPr/>
          <p:nvPr/>
        </p:nvSpPr>
        <p:spPr>
          <a:xfrm>
            <a:off x="6035040" y="4261104"/>
            <a:ext cx="2468880" cy="420624"/>
          </a:xfrm>
          <a:prstGeom prst="roundRect">
            <a:avLst>
              <a:gd name="adj" fmla="val 13043"/>
            </a:avLst>
          </a:prstGeom>
          <a:solidFill>
            <a:srgbClr val="D5F0EC"/>
          </a:solidFill>
          <a:ln/>
          <a:effectLst>
            <a:outerShdw sx="100000" sy="100000" kx="0" ky="0" algn="bl" rotWithShape="0" blurRad="50800" dist="12700" dir="5400000">
              <a:srgbClr val="000000">
                <a:alpha val="10000"/>
              </a:srgbClr>
            </a:outerShdw>
          </a:effectLst>
        </p:spPr>
      </p:sp>
      <p:sp>
        <p:nvSpPr>
          <p:cNvPr id="30" name="Text 28"/>
          <p:cNvSpPr/>
          <p:nvPr/>
        </p:nvSpPr>
        <p:spPr>
          <a:xfrm>
            <a:off x="6080760" y="4261104"/>
            <a:ext cx="365760" cy="420624"/>
          </a:xfrm>
          <a:prstGeom prst="rect">
            <a:avLst/>
          </a:prstGeom>
          <a:noFill/>
          <a:ln/>
        </p:spPr>
        <p:txBody>
          <a:bodyPr wrap="square" lIns="0" tIns="0" rIns="0" bIns="0" rtlCol="0" anchor="ctr"/>
          <a:lstStyle/>
          <a:p>
            <a:pPr algn="ct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31" name="Text 29"/>
          <p:cNvSpPr/>
          <p:nvPr/>
        </p:nvSpPr>
        <p:spPr>
          <a:xfrm>
            <a:off x="6419088" y="4261104"/>
            <a:ext cx="274320" cy="420624"/>
          </a:xfrm>
          <a:prstGeom prst="rect">
            <a:avLst/>
          </a:prstGeom>
          <a:noFill/>
          <a:ln/>
        </p:spPr>
        <p:txBody>
          <a:bodyPr wrap="square" lIns="0" tIns="0" rIns="0" bIns="0" rtlCol="0" anchor="ctr"/>
          <a:lstStyle/>
          <a:p>
            <a:pPr algn="l" indent="0" marL="0">
              <a:buNone/>
            </a:pPr>
            <a:r>
              <a:rPr lang="en-US" sz="1100" b="1" dirty="0">
                <a:solidFill>
                  <a:srgbClr val="0D7D6B"/>
                </a:solidFill>
                <a:latin typeface="Arial" pitchFamily="34" charset="0"/>
                <a:ea typeface="Arial" pitchFamily="34" charset="-122"/>
                <a:cs typeface="Arial" pitchFamily="34" charset="-120"/>
              </a:rPr>
              <a:t>9</a:t>
            </a:r>
            <a:endParaRPr lang="en-US" sz="1100" dirty="0"/>
          </a:p>
        </p:txBody>
      </p:sp>
      <p:sp>
        <p:nvSpPr>
          <p:cNvPr id="32" name="Text 30"/>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0263F"/>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mémoire documentaire vivante (RAG), pas un chatbot générique</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Nos réponses s'appuient sur une base de connaissance interne indexée et mise à jour en continu, interrogée par recherche sémantique (technologie RAG — Retrieval-Augmented Generation — combinée à GPT-4o d'OpenAI), et non sur les seules connaissances générales d'un modèle de langage.</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Un chatbot générique branché sur un modèle standard, sans mémoire propre à votre organisation ni mise à jour de son contenu.</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 moteur de recherche augmentée (RAG) propriétaire, alimenté et actualisé automatiquement, qui ancre chaque réponse dans une documentation réelle et vivante.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6E4F0"/>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920A"/>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orchestration d'automatisation sur mesure (n8n), pas des scripts isolés</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Une douzaine de flux d'automatisation interconnectés pilotent la prospection, la qualification, la relance et la notification des experts, en faisant communiquer entre eux CRM, formulaires, emails et messagerie sans intervention manuelle.</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Des outils no-code cloisonnés, un par tâche, sans lien entre eux.</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Une plateforme d'orchestration unique (n8n) qui relie l'ensemble du parcours, du premier contact à la relation client.</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F3D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7D6B"/>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plateforme conversationnelle unifiée (Chatwoot + WhatsApp Business), pas un widget isolé</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WhatsApp, email et chat web convergent vers un seul poste de pilotage, avec bascule fluide vers un humain dès que l'intelligence artificielle atteint sa limite.</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Un widget de chat isolé sur le site, déconnecté des autres canaux de contact.</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Une plateforme conversationnelle unifiée (Chatwoot, intégration WhatsApp Business), avec escalade humaine transparente.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5F0E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0263F"/>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transcription et restitution automatique des échanges (Whisper)</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Réunions et appels sont transformés automatiquement en comptes rendus structurés grâce à la reconnaissance vocale de pointe (Whisper d'OpenAI) couplée à la génération de texte par IA.</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Prise de notes manuelle, comptes rendus improvisés ou absents.</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 compte rendu fiable et structuré, généré automatiquement quelques minutes après chaque échange.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6E4F0"/>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920A"/>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anonymisation intégrée au pipeline technique, pas une charte sur papier</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Avant même d'atteindre le modèle d'intelligence artificielle, les données sensibles sont détectées et masquées automatiquement par un filtre technique dédié, à chaque échange.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Une politique de confidentialité déclarative, sans garde-fou technique vérifiable.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 filtre d'anonymisation actif en temps réel dans le pipeline, pas une simple promesse contractuelle.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F3D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7D6B"/>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infrastructure cloud moderne et évolutive (Supabase + Cloudflare)</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Données et logique métier reposent sur une infrastructure cloud élastique, avec un site déployé sur un réseau mondial de diffusion de contenu pour une disponibilité et une rapidité constantes.</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Hébergement mutualisé classique, souvent limité en capacité et en résilience.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Une infrastructure cloud (Supabase, Cloudflare) pensée pour monter en charge sans rupture de service.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5F0E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0263F"/>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Une prise de rendez-vous pilotée automatiquement (Calendly intégré)</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De la prise de contact à la prise de rendez-vous avec un expert, chaque étape est scorée, priorisée et suivie automatiquement, avec relance sans oubli.</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Suivi manuel sur tableur, relances oubliées, rendez-vous perdus.</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 pipeline de qualification et de prise de rendez-vous entièrement automatisé et traçable.</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6E4F0"/>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8920A"/>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 emailing transactionnel et de nurturing automatisé (Resend + Zoho Mail)</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Chaque étape du parcours (audit, formation, webinaire) déclenche automatiquement les bons emails, au bon moment, sans intervention manuelle.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Des envois manuels ou des campagnes génériques, sans personnalisation ni séquencement.</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Des séquences email automatisées et déclenchées par les actions réelles du prospect ou du client.</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F3D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7D6B"/>
          </a:solidFill>
          <a:ln/>
        </p:spPr>
      </p:sp>
      <p:sp>
        <p:nvSpPr>
          <p:cNvPr id="3" name="Text 1"/>
          <p:cNvSpPr/>
          <p:nvPr/>
        </p:nvSpPr>
        <p:spPr>
          <a:xfrm>
            <a:off x="137160" y="73152"/>
            <a:ext cx="822960" cy="502920"/>
          </a:xfrm>
          <a:prstGeom prst="rect">
            <a:avLst/>
          </a:prstGeom>
          <a:noFill/>
          <a:ln/>
        </p:spPr>
        <p:txBody>
          <a:bodyPr wrap="square" lIns="0" tIns="0" rIns="0" bIns="0" rtlCol="0" anchor="b"/>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4" name="Text 2"/>
          <p:cNvSpPr/>
          <p:nvPr/>
        </p:nvSpPr>
        <p:spPr>
          <a:xfrm>
            <a:off x="137160" y="566928"/>
            <a:ext cx="822960" cy="347472"/>
          </a:xfrm>
          <a:prstGeom prst="rect">
            <a:avLst/>
          </a:prstGeom>
          <a:noFill/>
          <a:ln/>
        </p:spPr>
        <p:txBody>
          <a:bodyPr wrap="square" lIns="0" tIns="0" rIns="0" bIns="0" rtlCol="0" anchor="t"/>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 name="Text 3"/>
          <p:cNvSpPr/>
          <p:nvPr/>
        </p:nvSpPr>
        <p:spPr>
          <a:xfrm>
            <a:off x="1051560" y="0"/>
            <a:ext cx="7635240" cy="9601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 pilotage quotidien basé sur des données réelles (tâches planifiées automatiques)</a:t>
            </a:r>
            <a:endParaRPr lang="en-US" sz="1900" dirty="0"/>
          </a:p>
        </p:txBody>
      </p:sp>
      <p:sp>
        <p:nvSpPr>
          <p:cNvPr id="6" name="Text 4"/>
          <p:cNvSpPr/>
          <p:nvPr/>
        </p:nvSpPr>
        <p:spPr>
          <a:xfrm>
            <a:off x="502920" y="1143000"/>
            <a:ext cx="8138160" cy="960120"/>
          </a:xfrm>
          <a:prstGeom prst="rect">
            <a:avLst/>
          </a:prstGeom>
          <a:noFill/>
          <a:ln/>
        </p:spPr>
        <p:txBody>
          <a:bodyPr wrap="square" rtlCol="0" anchor="t"/>
          <a:lstStyle/>
          <a:p>
            <a:pPr indent="0" marL="0">
              <a:buNone/>
            </a:pPr>
            <a:r>
              <a:rPr lang="en-US" sz="1350" dirty="0">
                <a:solidFill>
                  <a:srgbClr val="222222"/>
                </a:solidFill>
                <a:latin typeface="Arial" pitchFamily="34" charset="0"/>
                <a:ea typeface="Arial" pitchFamily="34" charset="-122"/>
                <a:cs typeface="Arial" pitchFamily="34" charset="-120"/>
              </a:rPr>
              <a:t>Un digest quotidien consolide automatiquement l'activité (inscriptions, échanges, statuts) pour permettre une décision rapide, sans reporting manuel.</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8138160" cy="914400"/>
        </p:xfrm>
        <a:graphic>
          <a:graphicData uri="http://schemas.openxmlformats.org/drawingml/2006/table">
            <a:tbl>
              <a:tblPr/>
              <a:tblGrid>
                <a:gridCol w="3840480"/>
                <a:gridCol w="429768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Autres organismes</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0392B"/>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TransferAI Africa</a:t>
                      </a:r>
                      <a:endParaRPr lang="en-US" sz="1200" dirty="0">
                        <a:latin typeface="Arial" charset="0"/>
                        <a:ea typeface="Arial" charset="0"/>
                        <a:cs typeface="Arial" charset="0"/>
                      </a:endParaRPr>
                    </a:p>
                  </a:txBody>
                  <a:tcPr marL="109728" marR="109728" marT="73152" marB="7315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D7D6B"/>
                    </a:solidFill>
                  </a:tcPr>
                </a:tc>
              </a:tr>
              <a:tr h="1554480">
                <a:tc>
                  <a:txBody>
                    <a:bodyPr/>
                    <a:lstStyle/>
                    <a:p>
                      <a:pPr indent="0" marL="0">
                        <a:buNone/>
                      </a:pPr>
                      <a:r>
                        <a:rPr lang="en-US" sz="1250" dirty="0">
                          <a:solidFill>
                            <a:srgbClr val="C0392B"/>
                          </a:solidFill>
                          <a:latin typeface="Arial" pitchFamily="34" charset="0"/>
                          <a:ea typeface="Arial" pitchFamily="34" charset="-122"/>
                          <a:cs typeface="Arial" pitchFamily="34" charset="-120"/>
                        </a:rPr>
                        <a:t>✗  Un reporting manuel, souvent tardif ou incomplet.</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EE8E8"/>
                    </a:solidFill>
                  </a:tcPr>
                </a:tc>
                <a:tc>
                  <a:txBody>
                    <a:bodyPr/>
                    <a:lstStyle/>
                    <a:p>
                      <a:pPr indent="0" marL="0">
                        <a:buNone/>
                      </a:pPr>
                      <a:r>
                        <a:rPr lang="en-US" sz="1250" b="1" dirty="0">
                          <a:solidFill>
                            <a:srgbClr val="004433"/>
                          </a:solidFill>
                          <a:latin typeface="Arial" pitchFamily="34" charset="0"/>
                          <a:ea typeface="Arial" pitchFamily="34" charset="-122"/>
                          <a:cs typeface="Arial" pitchFamily="34" charset="-120"/>
                        </a:rPr>
                        <a:t>✓  Une vision quotidienne automatisée et fiable de l'activité, livrée sans effort humain.</a:t>
                      </a:r>
                      <a:endParaRPr lang="en-US" sz="1250" dirty="0">
                        <a:latin typeface="Arial" charset="0"/>
                        <a:ea typeface="Arial" charset="0"/>
                        <a:cs typeface="Arial" charset="0"/>
                      </a:endParaRPr>
                    </a:p>
                  </a:txBody>
                  <a:tcPr marL="109728" marR="109728" marT="73152" marB="73152"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5F0EC"/>
                    </a:solidFill>
                  </a:tcPr>
                </a:tc>
              </a:tr>
            </a:tbl>
          </a:graphicData>
        </a:graphic>
      </p:graphicFrame>
      <p:sp>
        <p:nvSpPr>
          <p:cNvPr id="8" name="Text 5"/>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63F"/>
        </a:solidFill>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Notre Positionnement</a:t>
            </a:r>
            <a:endParaRPr lang="en-US" sz="2600" dirty="0"/>
          </a:p>
        </p:txBody>
      </p:sp>
      <p:sp>
        <p:nvSpPr>
          <p:cNvPr id="3" name="Text 1"/>
          <p:cNvSpPr/>
          <p:nvPr/>
        </p:nvSpPr>
        <p:spPr>
          <a:xfrm>
            <a:off x="731520" y="1737360"/>
            <a:ext cx="7680960" cy="457200"/>
          </a:xfrm>
          <a:prstGeom prst="rect">
            <a:avLst/>
          </a:prstGeom>
          <a:noFill/>
          <a:ln/>
        </p:spPr>
        <p:txBody>
          <a:bodyPr wrap="square" rtlCol="0" anchor="ctr"/>
          <a:lstStyle/>
          <a:p>
            <a:pPr algn="ctr" indent="0" marL="0">
              <a:buNone/>
            </a:pPr>
            <a:r>
              <a:rPr lang="en-US" sz="1500" dirty="0">
                <a:solidFill>
                  <a:srgbClr val="FFFFFF"/>
                </a:solidFill>
                <a:latin typeface="Arial" pitchFamily="34" charset="0"/>
                <a:ea typeface="Arial" pitchFamily="34" charset="-122"/>
                <a:cs typeface="Arial" pitchFamily="34" charset="-120"/>
              </a:rPr>
              <a:t>TransferAI Africa n'est pas un organisme de formation parmi d'autres.</a:t>
            </a:r>
            <a:endParaRPr lang="en-US" sz="1500" dirty="0"/>
          </a:p>
        </p:txBody>
      </p:sp>
      <p:sp>
        <p:nvSpPr>
          <p:cNvPr id="4" name="Text 2"/>
          <p:cNvSpPr/>
          <p:nvPr/>
        </p:nvSpPr>
        <p:spPr>
          <a:xfrm>
            <a:off x="914400" y="2286000"/>
            <a:ext cx="7315200" cy="1188720"/>
          </a:xfrm>
          <a:prstGeom prst="rect">
            <a:avLst/>
          </a:prstGeom>
          <a:noFill/>
          <a:ln/>
        </p:spPr>
        <p:txBody>
          <a:bodyPr wrap="square" rtlCol="0" anchor="t"/>
          <a:lstStyle/>
          <a:p>
            <a:pPr algn="ctr" indent="0" marL="0">
              <a:buNone/>
            </a:pPr>
            <a:r>
              <a:rPr lang="en-US" sz="1400" dirty="0">
                <a:solidFill>
                  <a:srgbClr val="D6E4F0"/>
                </a:solidFill>
                <a:latin typeface="Arial" pitchFamily="34" charset="0"/>
                <a:ea typeface="Arial" pitchFamily="34" charset="-122"/>
                <a:cs typeface="Arial" pitchFamily="34" charset="-120"/>
              </a:rPr>
              <a:t>Nous sommes avant tout 13 experts internationaux, dans divers secteurs d'activité, répartis sur 4 continents, qui mettent leur savoir-faire et leur expertise au service de la Côte d'Ivoire et de l'Afrique — c'est la raison pour laquelle nous avons implanté ici notre premier Hub.</a:t>
            </a:r>
            <a:endParaRPr lang="en-US" sz="1400" dirty="0"/>
          </a:p>
        </p:txBody>
      </p:sp>
      <p:sp>
        <p:nvSpPr>
          <p:cNvPr id="5" name="Text 3"/>
          <p:cNvSpPr/>
          <p:nvPr/>
        </p:nvSpPr>
        <p:spPr>
          <a:xfrm>
            <a:off x="914400" y="3566160"/>
            <a:ext cx="7315200" cy="822960"/>
          </a:xfrm>
          <a:prstGeom prst="rect">
            <a:avLst/>
          </a:prstGeom>
          <a:noFill/>
          <a:ln/>
        </p:spPr>
        <p:txBody>
          <a:bodyPr wrap="square" rtlCol="0" anchor="t"/>
          <a:lstStyle/>
          <a:p>
            <a:pPr algn="ctr" indent="0" marL="0">
              <a:buNone/>
            </a:pPr>
            <a:r>
              <a:rPr lang="en-US" sz="1400" i="1" dirty="0">
                <a:solidFill>
                  <a:srgbClr val="FFFFFF"/>
                </a:solidFill>
                <a:latin typeface="Arial" pitchFamily="34" charset="0"/>
                <a:ea typeface="Arial" pitchFamily="34" charset="-122"/>
                <a:cs typeface="Arial" pitchFamily="34" charset="-120"/>
              </a:rPr>
              <a:t>Diagnostic réel, mise en pratique concrète, gouvernance intégrée et accompagnement dans la durée : c'est le hub IA de NettelecomCI en Côte d'Ivoire.</a:t>
            </a:r>
            <a:endParaRPr lang="en-US" sz="1400" dirty="0"/>
          </a:p>
        </p:txBody>
      </p:sp>
      <p:sp>
        <p:nvSpPr>
          <p:cNvPr id="6" name="Text 4"/>
          <p:cNvSpPr/>
          <p:nvPr/>
        </p:nvSpPr>
        <p:spPr>
          <a:xfrm>
            <a:off x="0" y="4892040"/>
            <a:ext cx="9144000" cy="201168"/>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CONFIDENTIEL — USAGE INTERNE TRANSFERAI x NETTELECOM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88720" y="1417320"/>
            <a:ext cx="6766560" cy="2331720"/>
          </a:xfrm>
          <a:prstGeom prst="roundRect">
            <a:avLst>
              <a:gd name="adj" fmla="val 4706"/>
            </a:avLst>
          </a:prstGeom>
          <a:solidFill>
            <a:srgbClr val="F4F7FA"/>
          </a:solidFill>
          <a:ln/>
          <a:effectLst>
            <a:outerShdw sx="100000" sy="100000" kx="0" ky="0" algn="bl" rotWithShape="0" blurRad="101600" dist="25400" dir="5400000">
              <a:srgbClr val="000000">
                <a:alpha val="12000"/>
              </a:srgbClr>
            </a:outerShdw>
          </a:effectLst>
        </p:spPr>
      </p:sp>
      <p:sp>
        <p:nvSpPr>
          <p:cNvPr id="3" name="Shape 1"/>
          <p:cNvSpPr/>
          <p:nvPr/>
        </p:nvSpPr>
        <p:spPr>
          <a:xfrm>
            <a:off x="4142232" y="1737360"/>
            <a:ext cx="201168" cy="201168"/>
          </a:xfrm>
          <a:prstGeom prst="ellipse">
            <a:avLst/>
          </a:prstGeom>
          <a:solidFill>
            <a:srgbClr val="10263F"/>
          </a:solidFill>
          <a:ln/>
        </p:spPr>
      </p:sp>
      <p:sp>
        <p:nvSpPr>
          <p:cNvPr id="4" name="Shape 2"/>
          <p:cNvSpPr/>
          <p:nvPr/>
        </p:nvSpPr>
        <p:spPr>
          <a:xfrm>
            <a:off x="4471416" y="1737360"/>
            <a:ext cx="201168" cy="201168"/>
          </a:xfrm>
          <a:prstGeom prst="ellipse">
            <a:avLst/>
          </a:prstGeom>
          <a:solidFill>
            <a:srgbClr val="E8920A"/>
          </a:solidFill>
          <a:ln/>
        </p:spPr>
      </p:sp>
      <p:sp>
        <p:nvSpPr>
          <p:cNvPr id="5" name="Shape 3"/>
          <p:cNvSpPr/>
          <p:nvPr/>
        </p:nvSpPr>
        <p:spPr>
          <a:xfrm>
            <a:off x="4800600" y="1737360"/>
            <a:ext cx="201168" cy="201168"/>
          </a:xfrm>
          <a:prstGeom prst="ellipse">
            <a:avLst/>
          </a:prstGeom>
          <a:solidFill>
            <a:srgbClr val="0D7D6B"/>
          </a:solidFill>
          <a:ln/>
        </p:spPr>
      </p:sp>
      <p:sp>
        <p:nvSpPr>
          <p:cNvPr id="6" name="Text 4"/>
          <p:cNvSpPr/>
          <p:nvPr/>
        </p:nvSpPr>
        <p:spPr>
          <a:xfrm>
            <a:off x="1554480" y="2103120"/>
            <a:ext cx="6035040" cy="457200"/>
          </a:xfrm>
          <a:prstGeom prst="rect">
            <a:avLst/>
          </a:prstGeom>
          <a:noFill/>
          <a:ln/>
        </p:spPr>
        <p:txBody>
          <a:bodyPr wrap="square" rtlCol="0" anchor="ctr"/>
          <a:lstStyle/>
          <a:p>
            <a:pPr algn="ctr" indent="0" marL="0">
              <a:buNone/>
            </a:pPr>
            <a:r>
              <a:rPr lang="en-US" sz="2200" b="1" dirty="0">
                <a:solidFill>
                  <a:srgbClr val="10263F"/>
                </a:solidFill>
                <a:latin typeface="Arial" pitchFamily="34" charset="0"/>
                <a:ea typeface="Arial" pitchFamily="34" charset="-122"/>
                <a:cs typeface="Arial" pitchFamily="34" charset="-120"/>
              </a:rPr>
              <a:t>TransferAI Africa  ×  NettelecomCI</a:t>
            </a:r>
            <a:endParaRPr lang="en-US" sz="2200" dirty="0"/>
          </a:p>
        </p:txBody>
      </p:sp>
      <p:sp>
        <p:nvSpPr>
          <p:cNvPr id="7" name="Text 5"/>
          <p:cNvSpPr/>
          <p:nvPr/>
        </p:nvSpPr>
        <p:spPr>
          <a:xfrm>
            <a:off x="1554480" y="2651760"/>
            <a:ext cx="6035040" cy="411480"/>
          </a:xfrm>
          <a:prstGeom prst="rect">
            <a:avLst/>
          </a:prstGeom>
          <a:noFill/>
          <a:ln/>
        </p:spPr>
        <p:txBody>
          <a:bodyPr wrap="square" rtlCol="0" anchor="ctr"/>
          <a:lstStyle/>
          <a:p>
            <a:pPr algn="ctr" indent="0" marL="0">
              <a:buNone/>
            </a:pPr>
            <a:r>
              <a:rPr lang="en-US" sz="1500" dirty="0">
                <a:solidFill>
                  <a:srgbClr val="555555"/>
                </a:solidFill>
                <a:latin typeface="Arial" pitchFamily="34" charset="0"/>
                <a:ea typeface="Arial" pitchFamily="34" charset="-122"/>
                <a:cs typeface="Arial" pitchFamily="34" charset="-120"/>
              </a:rPr>
              <a:t>contact@transferai.africa   |   www.transferai.ci</a:t>
            </a:r>
            <a:endParaRPr lang="en-US" sz="1500" dirty="0"/>
          </a:p>
        </p:txBody>
      </p:sp>
      <p:sp>
        <p:nvSpPr>
          <p:cNvPr id="8" name="Text 6"/>
          <p:cNvSpPr/>
          <p:nvPr/>
        </p:nvSpPr>
        <p:spPr>
          <a:xfrm>
            <a:off x="1554480" y="3200400"/>
            <a:ext cx="6035040" cy="274320"/>
          </a:xfrm>
          <a:prstGeom prst="rect">
            <a:avLst/>
          </a:prstGeom>
          <a:noFill/>
          <a:ln/>
        </p:spPr>
        <p:txBody>
          <a:bodyPr wrap="square" rtlCol="0" anchor="ctr"/>
          <a:lstStyle/>
          <a:p>
            <a:pPr algn="ctr" indent="0" marL="0">
              <a:buNone/>
            </a:pPr>
            <a:r>
              <a:rPr lang="en-US" sz="900" b="1" dirty="0">
                <a:solidFill>
                  <a:srgbClr val="8A8A8A"/>
                </a:solidFill>
                <a:latin typeface="Arial" pitchFamily="34" charset="0"/>
                <a:ea typeface="Arial" pitchFamily="34" charset="-122"/>
                <a:cs typeface="Arial" pitchFamily="34" charset="-120"/>
              </a:rPr>
              <a:t>CONFIDENTIEL — USAGE INTERNE TRANSFERAI x NETTELECOM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Notre Écosystème Technologique — TransferAI x NettelecomCI</dc:title>
  <dc:subject>PptxGenJS Presentation</dc:subject>
  <dc:creator>TransferAI Africa</dc:creator>
  <cp:lastModifiedBy>TransferAI Africa</cp:lastModifiedBy>
  <cp:revision>1</cp:revision>
  <dcterms:created xsi:type="dcterms:W3CDTF">2026-07-07T13:56:23Z</dcterms:created>
  <dcterms:modified xsi:type="dcterms:W3CDTF">2026-07-07T13:56:23Z</dcterms:modified>
</cp:coreProperties>
</file>