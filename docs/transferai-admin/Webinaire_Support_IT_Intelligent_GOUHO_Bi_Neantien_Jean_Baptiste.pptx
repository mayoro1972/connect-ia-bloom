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  <p:sldId id="261" r:id="rId12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  <Relationship Id="rId12" Type="http://schemas.openxmlformats.org/officeDocument/2006/relationships/slide" Target="slides/slide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re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F3540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3" name="Text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</a:t>
            </a:r>
            <a:endParaRPr lang="en-US" sz="2000" dirty="0"/>
          </a:p>
        </p:txBody>
      </p:sp>
      <p:sp>
        <p:nvSpPr>
          <p:cNvPr id="4" name="Text"/>
          <p:cNvSpPr/>
          <p:nvPr/>
        </p:nvSpPr>
        <p:spPr>
          <a:xfrm>
            <a:off x="548640" y="2286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IT</a:t>
            </a:r>
            <a:endParaRPr lang="en-US" sz="3600" dirty="0"/>
          </a:p>
        </p:txBody>
      </p:sp>
      <p:sp>
        <p:nvSpPr>
          <p:cNvPr id="5" name="Text"/>
          <p:cNvSpPr/>
          <p:nvPr/>
        </p:nvSpPr>
        <p:spPr>
          <a:xfrm>
            <a:off x="548640" y="2880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endParaRPr lang="en-US" sz="3600" dirty="0"/>
          </a:p>
        </p:txBody>
      </p:sp>
      <p:sp>
        <p:nvSpPr>
          <p:cNvPr id="6" name="Text"/>
          <p:cNvSpPr/>
          <p:nvPr/>
        </p:nvSpPr>
        <p:spPr>
          <a:xfrm>
            <a:off x="548640" y="365760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décrit en langage naturel, une décision automatique en quelques secondes — résolution ou escalade, sans triage manuel.</a:t>
            </a:r>
            <a:endParaRPr lang="en-US" sz="1500" dirty="0"/>
          </a:p>
        </p:txBody>
      </p:sp>
      <p:sp>
        <p:nvSpPr>
          <p:cNvPr id="7" name="Text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</a:t>
            </a:r>
            <a:endParaRPr lang="en-US" sz="1200" dirty="0"/>
          </a:p>
        </p:txBody>
      </p:sp>
      <p:sp>
        <p:nvSpPr>
          <p:cNvPr id="8" name="Text"/>
          <p:cNvSpPr/>
          <p:nvPr/>
        </p:nvSpPr>
        <p:spPr>
          <a:xfrm>
            <a:off x="548640" y="493776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GOUHO Bi Néantien Jean Baptiste</a:t>
            </a:r>
            <a:endParaRPr lang="en-US" sz="1900" dirty="0"/>
          </a:p>
        </p:txBody>
      </p:sp>
      <p:sp>
        <p:nvSpPr>
          <p:cNvPr id="9" name="Text"/>
          <p:cNvSpPr/>
          <p:nvPr/>
        </p:nvSpPr>
        <p:spPr>
          <a:xfrm>
            <a:off x="548640" y="535838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Enseignant-Chercheur, Réseaux et Cybersécurité</a:t>
            </a:r>
            <a:endParaRPr lang="en-US" sz="1150" dirty="0"/>
          </a:p>
        </p:txBody>
      </p:sp>
      <p:sp>
        <p:nvSpPr>
          <p:cNvPr id="10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Webinaire « IA pratique en Côte d'Ivoire »</a:t>
            </a:r>
            <a:endParaRPr lang="en-US" sz="900" dirty="0"/>
          </a:p>
        </p:txBody>
      </p:sp>
      <p:sp>
        <p:nvSpPr>
          <p:cNvPr id="11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e et fonctionnement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problème, en une phrase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triage manuel d'un ticket IT prend 15 à 30 minutes, avant même le début de la résolution.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68580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"/>
          <p:cNvSpPr/>
          <p:nvPr/>
        </p:nvSpPr>
        <p:spPr>
          <a:xfrm>
            <a:off x="137160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IA</a:t>
            </a:r>
            <a:endParaRPr lang="en-US" sz="1400" dirty="0"/>
          </a:p>
        </p:txBody>
      </p:sp>
      <p:sp>
        <p:nvSpPr>
          <p:cNvPr id="7" name="Text"/>
          <p:cNvSpPr/>
          <p:nvPr/>
        </p:nvSpPr>
        <p:spPr>
          <a:xfrm>
            <a:off x="1371600" y="19202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lit la description et détermine catégorie, criticité et score de confiance.</a:t>
            </a:r>
            <a:endParaRPr lang="en-US" sz="950" dirty="0"/>
          </a:p>
        </p:txBody>
      </p:sp>
      <p:sp>
        <p:nvSpPr>
          <p:cNvPr id="8" name="Shape"/>
          <p:cNvSpPr/>
          <p:nvPr/>
        </p:nvSpPr>
        <p:spPr>
          <a:xfrm>
            <a:off x="425196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9" name="Text"/>
          <p:cNvSpPr/>
          <p:nvPr/>
        </p:nvSpPr>
        <p:spPr>
          <a:xfrm>
            <a:off x="438912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"/>
          <p:cNvSpPr/>
          <p:nvPr/>
        </p:nvSpPr>
        <p:spPr>
          <a:xfrm>
            <a:off x="507492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automatique</a:t>
            </a:r>
            <a:endParaRPr lang="en-US" sz="1400" dirty="0"/>
          </a:p>
        </p:txBody>
      </p:sp>
      <p:sp>
        <p:nvSpPr>
          <p:cNvPr id="11" name="Text"/>
          <p:cNvSpPr/>
          <p:nvPr/>
        </p:nvSpPr>
        <p:spPr>
          <a:xfrm>
            <a:off x="5074920" y="19202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suffisante et cas éligible → résolution directe. Sinon → escalade avec diagnostic complet.</a:t>
            </a:r>
            <a:endParaRPr lang="en-US" sz="950" dirty="0"/>
          </a:p>
        </p:txBody>
      </p:sp>
      <p:sp>
        <p:nvSpPr>
          <p:cNvPr id="12" name="Shape"/>
          <p:cNvSpPr/>
          <p:nvPr/>
        </p:nvSpPr>
        <p:spPr>
          <a:xfrm>
            <a:off x="795528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3" name="Text"/>
          <p:cNvSpPr/>
          <p:nvPr/>
        </p:nvSpPr>
        <p:spPr>
          <a:xfrm>
            <a:off x="80924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"/>
          <p:cNvSpPr/>
          <p:nvPr/>
        </p:nvSpPr>
        <p:spPr>
          <a:xfrm>
            <a:off x="877824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suivi</a:t>
            </a:r>
            <a:endParaRPr lang="en-US" sz="1400" dirty="0"/>
          </a:p>
        </p:txBody>
      </p:sp>
      <p:sp>
        <p:nvSpPr>
          <p:cNvPr id="15" name="Text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résolution cible attribué dès la réception (1h à 24h), avec traçabilité complète.</a:t>
            </a:r>
            <a:endParaRPr lang="en-US" sz="950" dirty="0"/>
          </a:p>
        </p:txBody>
      </p:sp>
      <p:sp>
        <p:nvSpPr>
          <p:cNvPr id="16" name="Text"/>
          <p:cNvSpPr/>
          <p:nvPr/>
        </p:nvSpPr>
        <p:spPr>
          <a:xfrm>
            <a:off x="548640" y="2880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fonctionnement, pas à pas</a:t>
            </a:r>
            <a:endParaRPr lang="en-US" sz="1500" dirty="0"/>
          </a:p>
        </p:txBody>
      </p:sp>
      <p:sp>
        <p:nvSpPr>
          <p:cNvPr id="17" name="Shape"/>
          <p:cNvSpPr/>
          <p:nvPr/>
        </p:nvSpPr>
        <p:spPr>
          <a:xfrm>
            <a:off x="11902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8" name="Text"/>
          <p:cNvSpPr/>
          <p:nvPr/>
        </p:nvSpPr>
        <p:spPr>
          <a:xfrm>
            <a:off x="11902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"/>
          <p:cNvSpPr/>
          <p:nvPr/>
        </p:nvSpPr>
        <p:spPr>
          <a:xfrm>
            <a:off x="2554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Réception</a:t>
            </a:r>
            <a:endParaRPr lang="en-US" sz="1100" dirty="0"/>
          </a:p>
        </p:txBody>
      </p:sp>
      <p:sp>
        <p:nvSpPr>
          <p:cNvPr id="20" name="Text"/>
          <p:cNvSpPr/>
          <p:nvPr/>
        </p:nvSpPr>
        <p:spPr>
          <a:xfrm>
            <a:off x="2554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normalisé quel que soit le canal</a:t>
            </a:r>
            <a:endParaRPr lang="en-US" sz="870" dirty="0"/>
          </a:p>
        </p:txBody>
      </p:sp>
      <p:sp>
        <p:nvSpPr>
          <p:cNvPr id="21" name="Text"/>
          <p:cNvSpPr/>
          <p:nvPr/>
        </p:nvSpPr>
        <p:spPr>
          <a:xfrm>
            <a:off x="2806700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"/>
          <p:cNvSpPr/>
          <p:nvPr/>
        </p:nvSpPr>
        <p:spPr>
          <a:xfrm>
            <a:off x="42128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23" name="Text"/>
          <p:cNvSpPr/>
          <p:nvPr/>
        </p:nvSpPr>
        <p:spPr>
          <a:xfrm>
            <a:off x="42128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"/>
          <p:cNvSpPr/>
          <p:nvPr/>
        </p:nvSpPr>
        <p:spPr>
          <a:xfrm>
            <a:off x="32780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IA</a:t>
            </a:r>
            <a:endParaRPr lang="en-US" sz="1100" dirty="0"/>
          </a:p>
        </p:txBody>
      </p:sp>
      <p:sp>
        <p:nvSpPr>
          <p:cNvPr id="25" name="Text"/>
          <p:cNvSpPr/>
          <p:nvPr/>
        </p:nvSpPr>
        <p:spPr>
          <a:xfrm>
            <a:off x="32780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catégorie, criticité, confiance</a:t>
            </a:r>
            <a:endParaRPr lang="en-US" sz="870" dirty="0"/>
          </a:p>
        </p:txBody>
      </p:sp>
      <p:sp>
        <p:nvSpPr>
          <p:cNvPr id="26" name="Text"/>
          <p:cNvSpPr/>
          <p:nvPr/>
        </p:nvSpPr>
        <p:spPr>
          <a:xfrm>
            <a:off x="5829300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"/>
          <p:cNvSpPr/>
          <p:nvPr/>
        </p:nvSpPr>
        <p:spPr>
          <a:xfrm>
            <a:off x="72354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28" name="Text"/>
          <p:cNvSpPr/>
          <p:nvPr/>
        </p:nvSpPr>
        <p:spPr>
          <a:xfrm>
            <a:off x="72354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"/>
          <p:cNvSpPr/>
          <p:nvPr/>
        </p:nvSpPr>
        <p:spPr>
          <a:xfrm>
            <a:off x="63006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</a:t>
            </a:r>
            <a:endParaRPr lang="en-US" sz="1100" dirty="0"/>
          </a:p>
        </p:txBody>
      </p:sp>
      <p:sp>
        <p:nvSpPr>
          <p:cNvPr id="30" name="Text"/>
          <p:cNvSpPr/>
          <p:nvPr/>
        </p:nvSpPr>
        <p:spPr>
          <a:xfrm>
            <a:off x="63006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ou escalade</a:t>
            </a:r>
            <a:endParaRPr lang="en-US" sz="870" dirty="0"/>
          </a:p>
        </p:txBody>
      </p:sp>
      <p:sp>
        <p:nvSpPr>
          <p:cNvPr id="31" name="Text"/>
          <p:cNvSpPr/>
          <p:nvPr/>
        </p:nvSpPr>
        <p:spPr>
          <a:xfrm>
            <a:off x="8851900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"/>
          <p:cNvSpPr/>
          <p:nvPr/>
        </p:nvSpPr>
        <p:spPr>
          <a:xfrm>
            <a:off x="102580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33" name="Text"/>
          <p:cNvSpPr/>
          <p:nvPr/>
        </p:nvSpPr>
        <p:spPr>
          <a:xfrm>
            <a:off x="102580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"/>
          <p:cNvSpPr/>
          <p:nvPr/>
        </p:nvSpPr>
        <p:spPr>
          <a:xfrm>
            <a:off x="93232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</a:t>
            </a:r>
            <a:endParaRPr lang="en-US" sz="1100" dirty="0"/>
          </a:p>
        </p:txBody>
      </p:sp>
      <p:sp>
        <p:nvSpPr>
          <p:cNvPr id="35" name="Text"/>
          <p:cNvSpPr/>
          <p:nvPr/>
        </p:nvSpPr>
        <p:spPr>
          <a:xfrm>
            <a:off x="93232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attribué, traçabilité</a:t>
            </a:r>
            <a:endParaRPr lang="en-US" sz="870" dirty="0"/>
          </a:p>
        </p:txBody>
      </p:sp>
      <p:sp>
        <p:nvSpPr>
          <p:cNvPr id="36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37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emple reel teste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testé</a:t>
            </a:r>
            <a:endParaRPr lang="en-US" sz="2600" dirty="0"/>
          </a:p>
        </p:txBody>
      </p:sp>
      <p:sp>
        <p:nvSpPr>
          <p:cNvPr id="3" name="Text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réel soumis lors des tests réalisés avant ce webinaire.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508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822960" y="16459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Latence sur le réseau — depuis 8h45 ce matin, coupures internet intermittentes, pertes de paquets constatées. »</a:t>
            </a:r>
            <a:endParaRPr lang="en-US" sz="1400" dirty="0"/>
          </a:p>
        </p:txBody>
      </p:sp>
      <p:sp>
        <p:nvSpPr>
          <p:cNvPr id="6" name="Text"/>
          <p:cNvSpPr/>
          <p:nvPr/>
        </p:nvSpPr>
        <p:spPr>
          <a:xfrm>
            <a:off x="822960" y="23215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en 6 secondes : catégorie réseau, confiance 95 %</a:t>
            </a:r>
            <a:endParaRPr lang="en-US" sz="1250" dirty="0"/>
          </a:p>
        </p:txBody>
      </p:sp>
      <p:sp>
        <p:nvSpPr>
          <p:cNvPr id="7" name="Text"/>
          <p:cNvSpPr/>
          <p:nvPr/>
        </p:nvSpPr>
        <p:spPr>
          <a:xfrm>
            <a:off x="548640" y="2788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prise (extrait)</a:t>
            </a:r>
            <a:endParaRPr lang="en-US" sz="1300" dirty="0"/>
          </a:p>
        </p:txBody>
      </p:sp>
      <p:sp>
        <p:nvSpPr>
          <p:cNvPr id="8" name="Text"/>
          <p:cNvSpPr/>
          <p:nvPr/>
        </p:nvSpPr>
        <p:spPr>
          <a:xfrm>
            <a:off x="548640" y="3154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Malgré une confiance de diagnostic élevée, le problème est jugé non auto-résolvable — une latence réseau nécessite une intervention technique réelle. Décision correctement escaladée vers l'équipe Réseau, avec email de confirmation reçu instantanément par l'utilisateur. »</a:t>
            </a:r>
            <a:endParaRPr lang="en-US" sz="1250" dirty="0"/>
          </a:p>
        </p:txBody>
      </p:sp>
      <p:sp>
        <p:nvSpPr>
          <p:cNvPr id="9" name="Shape"/>
          <p:cNvSpPr/>
          <p:nvPr/>
        </p:nvSpPr>
        <p:spPr>
          <a:xfrm>
            <a:off x="548640" y="41148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F3540"/>
          </a:solidFill>
          <a:ln w="9525">
            <a:solidFill>
              <a:srgbClr val="3FC1D0"/>
            </a:solidFill>
            <a:prstDash val="solid"/>
          </a:ln>
        </p:spPr>
      </p:sp>
      <p:sp>
        <p:nvSpPr>
          <p:cNvPr id="10" name="Text"/>
          <p:cNvSpPr/>
          <p:nvPr/>
        </p:nvSpPr>
        <p:spPr>
          <a:xfrm>
            <a:off x="822960" y="42519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garde-fou : une confiance élevée ne suffit pas à déclencher une résolution automatique si la nature du problème l'exige — le système escalade plutôt que de risquer une fausse résolution.</a:t>
            </a:r>
            <a:endParaRPr lang="en-US" sz="1200" dirty="0"/>
          </a:p>
        </p:txBody>
      </p:sp>
      <p:sp>
        <p:nvSpPr>
          <p:cNvPr id="11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12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t pour votre metier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pour votre métier ?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support IT n'est qu'un exemple parmi dix cas d'usage : le même principe s'applique à tout processus à fort volume.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5" name="Text"/>
          <p:cNvSpPr/>
          <p:nvPr/>
        </p:nvSpPr>
        <p:spPr>
          <a:xfrm>
            <a:off x="74864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</a:t>
            </a:r>
            <a:endParaRPr lang="en-US" sz="1400" dirty="0"/>
          </a:p>
        </p:txBody>
      </p:sp>
      <p:sp>
        <p:nvSpPr>
          <p:cNvPr id="6" name="Text"/>
          <p:cNvSpPr/>
          <p:nvPr/>
        </p:nvSpPr>
        <p:spPr>
          <a:xfrm>
            <a:off x="74864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instantanées aux demandes récurrentes, escalade uniquement pour les cas complexes.</a:t>
            </a:r>
            <a:endParaRPr lang="en-US" sz="1000" dirty="0"/>
          </a:p>
        </p:txBody>
      </p:sp>
      <p:sp>
        <p:nvSpPr>
          <p:cNvPr id="7" name="Shape"/>
          <p:cNvSpPr/>
          <p:nvPr/>
        </p:nvSpPr>
        <p:spPr>
          <a:xfrm>
            <a:off x="425196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8" name="Text"/>
          <p:cNvSpPr/>
          <p:nvPr/>
        </p:nvSpPr>
        <p:spPr>
          <a:xfrm>
            <a:off x="445196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 dossiers</a:t>
            </a:r>
            <a:endParaRPr lang="en-US" sz="1400" dirty="0"/>
          </a:p>
        </p:txBody>
      </p:sp>
      <p:sp>
        <p:nvSpPr>
          <p:cNvPr id="9" name="Text"/>
          <p:cNvSpPr/>
          <p:nvPr/>
        </p:nvSpPr>
        <p:spPr>
          <a:xfrm>
            <a:off x="445196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et priorisation automatique des dossiers entrants selon des critères objectifs.</a:t>
            </a:r>
            <a:endParaRPr lang="en-US" sz="1000" dirty="0"/>
          </a:p>
        </p:txBody>
      </p:sp>
      <p:sp>
        <p:nvSpPr>
          <p:cNvPr id="10" name="Shape"/>
          <p:cNvSpPr/>
          <p:nvPr/>
        </p:nvSpPr>
        <p:spPr>
          <a:xfrm>
            <a:off x="795528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1" name="Text"/>
          <p:cNvSpPr/>
          <p:nvPr/>
        </p:nvSpPr>
        <p:spPr>
          <a:xfrm>
            <a:off x="815528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&amp; audit</a:t>
            </a:r>
            <a:endParaRPr lang="en-US" sz="1400" dirty="0"/>
          </a:p>
        </p:txBody>
      </p:sp>
      <p:sp>
        <p:nvSpPr>
          <p:cNvPr id="12" name="Text"/>
          <p:cNvSpPr/>
          <p:nvPr/>
        </p:nvSpPr>
        <p:spPr>
          <a:xfrm>
            <a:off x="815528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automatique des échéances et des demandes de mise en conformité récurrentes.</a:t>
            </a:r>
            <a:endParaRPr lang="en-US" sz="1000" dirty="0"/>
          </a:p>
        </p:txBody>
      </p:sp>
      <p:sp>
        <p:nvSpPr>
          <p:cNvPr id="13" name="Shape"/>
          <p:cNvSpPr/>
          <p:nvPr/>
        </p:nvSpPr>
        <p:spPr>
          <a:xfrm>
            <a:off x="54864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4" name="Text"/>
          <p:cNvSpPr/>
          <p:nvPr/>
        </p:nvSpPr>
        <p:spPr>
          <a:xfrm>
            <a:off x="74864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400" dirty="0"/>
          </a:p>
        </p:txBody>
      </p:sp>
      <p:sp>
        <p:nvSpPr>
          <p:cNvPr id="15" name="Text"/>
          <p:cNvSpPr/>
          <p:nvPr/>
        </p:nvSpPr>
        <p:spPr>
          <a:xfrm>
            <a:off x="74864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des demandes courantes (congés, avantages, procédures) avant escalade au service RH.</a:t>
            </a:r>
            <a:endParaRPr lang="en-US" sz="1000" dirty="0"/>
          </a:p>
        </p:txBody>
      </p:sp>
      <p:sp>
        <p:nvSpPr>
          <p:cNvPr id="16" name="Shape"/>
          <p:cNvSpPr/>
          <p:nvPr/>
        </p:nvSpPr>
        <p:spPr>
          <a:xfrm>
            <a:off x="425196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7" name="Text"/>
          <p:cNvSpPr/>
          <p:nvPr/>
        </p:nvSpPr>
        <p:spPr>
          <a:xfrm>
            <a:off x="445196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&amp; prospection</a:t>
            </a:r>
            <a:endParaRPr lang="en-US" sz="1400" dirty="0"/>
          </a:p>
        </p:txBody>
      </p:sp>
      <p:sp>
        <p:nvSpPr>
          <p:cNvPr id="18" name="Text"/>
          <p:cNvSpPr/>
          <p:nvPr/>
        </p:nvSpPr>
        <p:spPr>
          <a:xfrm>
            <a:off x="445196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 automatique des leads entrants selon leur urgence et leur pertinence.</a:t>
            </a:r>
            <a:endParaRPr lang="en-US" sz="1000" dirty="0"/>
          </a:p>
        </p:txBody>
      </p:sp>
      <p:sp>
        <p:nvSpPr>
          <p:cNvPr id="19" name="Shape"/>
          <p:cNvSpPr/>
          <p:nvPr/>
        </p:nvSpPr>
        <p:spPr>
          <a:xfrm>
            <a:off x="795528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20" name="Text"/>
          <p:cNvSpPr/>
          <p:nvPr/>
        </p:nvSpPr>
        <p:spPr>
          <a:xfrm>
            <a:off x="815528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&amp; Banques</a:t>
            </a:r>
            <a:endParaRPr lang="en-US" sz="1400" dirty="0"/>
          </a:p>
        </p:txBody>
      </p:sp>
      <p:sp>
        <p:nvSpPr>
          <p:cNvPr id="21" name="Text"/>
          <p:cNvSpPr/>
          <p:nvPr/>
        </p:nvSpPr>
        <p:spPr>
          <a:xfrm>
            <a:off x="815528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prioritaire des demandes de crédit ou de support selon la criticité réelle du dossier.</a:t>
            </a:r>
            <a:endParaRPr lang="en-US" sz="1000" dirty="0"/>
          </a:p>
        </p:txBody>
      </p:sp>
      <p:sp>
        <p:nvSpPr>
          <p:cNvPr id="22" name="Text"/>
          <p:cNvSpPr/>
          <p:nvPr/>
        </p:nvSpPr>
        <p:spPr>
          <a:xfrm>
            <a:off x="548640" y="5320000"/>
            <a:ext cx="1088136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n'est pas « avons-nous un service IT », mais : quel processus chez nous ressemble à celui-ci ?</a:t>
            </a:r>
            <a:endParaRPr lang="en-US" sz="1050" dirty="0"/>
          </a:p>
        </p:txBody>
      </p:sp>
      <p:sp>
        <p:nvSpPr>
          <p:cNvPr id="23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24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vant Apres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</a:t>
            </a:r>
            <a:endParaRPr lang="en-US" sz="2400" dirty="0"/>
          </a:p>
        </p:txBody>
      </p:sp>
      <p:sp>
        <p:nvSpPr>
          <p:cNvPr id="3" name="Shape"/>
          <p:cNvSpPr/>
          <p:nvPr/>
        </p:nvSpPr>
        <p:spPr>
          <a:xfrm>
            <a:off x="548640" y="1051560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4" name="Text"/>
          <p:cNvSpPr/>
          <p:nvPr/>
        </p:nvSpPr>
        <p:spPr>
          <a:xfrm>
            <a:off x="685800" y="105156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manuel : 15 à 30 minutes par ticket</a:t>
            </a:r>
            <a:endParaRPr lang="en-US" sz="1150" dirty="0"/>
          </a:p>
        </p:txBody>
      </p:sp>
      <p:sp>
        <p:nvSpPr>
          <p:cNvPr id="5" name="Shape"/>
          <p:cNvSpPr/>
          <p:nvPr/>
        </p:nvSpPr>
        <p:spPr>
          <a:xfrm>
            <a:off x="6172200" y="1051560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6" name="Text"/>
          <p:cNvSpPr/>
          <p:nvPr/>
        </p:nvSpPr>
        <p:spPr>
          <a:xfrm>
            <a:off x="6309360" y="105156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automatique par IA en quelques secondes</a:t>
            </a:r>
            <a:endParaRPr lang="en-US" sz="1150" dirty="0"/>
          </a:p>
        </p:txBody>
      </p:sp>
      <p:sp>
        <p:nvSpPr>
          <p:cNvPr id="7" name="Shape"/>
          <p:cNvSpPr/>
          <p:nvPr/>
        </p:nvSpPr>
        <p:spPr>
          <a:xfrm>
            <a:off x="548640" y="1618488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8" name="Text"/>
          <p:cNvSpPr/>
          <p:nvPr/>
        </p:nvSpPr>
        <p:spPr>
          <a:xfrm>
            <a:off x="685800" y="1618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de premier niveau : 4 à 8 heures en moyenne</a:t>
            </a:r>
            <a:endParaRPr lang="en-US" sz="1150" dirty="0"/>
          </a:p>
        </p:txBody>
      </p:sp>
      <p:sp>
        <p:nvSpPr>
          <p:cNvPr id="9" name="Shape"/>
          <p:cNvSpPr/>
          <p:nvPr/>
        </p:nvSpPr>
        <p:spPr>
          <a:xfrm>
            <a:off x="6172200" y="1618488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0" name="Text"/>
          <p:cNvSpPr/>
          <p:nvPr/>
        </p:nvSpPr>
        <p:spPr>
          <a:xfrm>
            <a:off x="6309360" y="1618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automatique en quelques minutes pour les cas éligibles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548640" y="2185416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2" name="Text"/>
          <p:cNvSpPr/>
          <p:nvPr/>
        </p:nvSpPr>
        <p:spPr>
          <a:xfrm>
            <a:off x="685800" y="218541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de contexte lors de la transmission à un technicien</a:t>
            </a:r>
            <a:endParaRPr lang="en-US" sz="1150" dirty="0"/>
          </a:p>
        </p:txBody>
      </p:sp>
      <p:sp>
        <p:nvSpPr>
          <p:cNvPr id="13" name="Shape"/>
          <p:cNvSpPr/>
          <p:nvPr/>
        </p:nvSpPr>
        <p:spPr>
          <a:xfrm>
            <a:off x="6172200" y="2185416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4" name="Text"/>
          <p:cNvSpPr/>
          <p:nvPr/>
        </p:nvSpPr>
        <p:spPr>
          <a:xfrm>
            <a:off x="6309360" y="218541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de diagnostic complet transmis automatiquement</a:t>
            </a:r>
            <a:endParaRPr lang="en-US" sz="1150" dirty="0"/>
          </a:p>
        </p:txBody>
      </p:sp>
      <p:sp>
        <p:nvSpPr>
          <p:cNvPr id="15" name="Shape"/>
          <p:cNvSpPr/>
          <p:nvPr/>
        </p:nvSpPr>
        <p:spPr>
          <a:xfrm>
            <a:off x="548640" y="2752344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6" name="Text"/>
          <p:cNvSpPr/>
          <p:nvPr/>
        </p:nvSpPr>
        <p:spPr>
          <a:xfrm>
            <a:off x="685800" y="2752344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Criticité évaluée sur ce que déclare l'utilisateur</a:t>
            </a:r>
            <a:endParaRPr lang="en-US" sz="1150" dirty="0"/>
          </a:p>
        </p:txBody>
      </p:sp>
      <p:sp>
        <p:nvSpPr>
          <p:cNvPr id="17" name="Shape"/>
          <p:cNvSpPr/>
          <p:nvPr/>
        </p:nvSpPr>
        <p:spPr>
          <a:xfrm>
            <a:off x="6172200" y="2752344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8" name="Text"/>
          <p:cNvSpPr/>
          <p:nvPr/>
        </p:nvSpPr>
        <p:spPr>
          <a:xfrm>
            <a:off x="6309360" y="2752344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Criticité évaluée objectivement par l'IA à partir des faits décrits</a:t>
            </a:r>
            <a:endParaRPr lang="en-US" sz="1150" dirty="0"/>
          </a:p>
        </p:txBody>
      </p:sp>
      <p:sp>
        <p:nvSpPr>
          <p:cNvPr id="19" name="Text"/>
          <p:cNvSpPr/>
          <p:nvPr/>
        </p:nvSpPr>
        <p:spPr>
          <a:xfrm>
            <a:off x="548640" y="3410712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réaliste : premier pilote sur 50 à 200 cas par mois, mesure du gain réel avant toute extension.</a:t>
            </a:r>
            <a:endParaRPr lang="en-US" sz="1050" dirty="0"/>
          </a:p>
        </p:txBody>
      </p:sp>
      <p:sp>
        <p:nvSpPr>
          <p:cNvPr id="20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21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enefices ROI CTA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Bénéfices &amp; retour sur investissement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démarche que pour chaque cas d'usage TransferAI : comprendre le métier, construire, tester en conditions réelles.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50000"/>
            <a:ext cx="3474720" cy="15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74864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</a:t>
            </a:r>
            <a:endParaRPr lang="en-US" sz="1600" dirty="0"/>
          </a:p>
        </p:txBody>
      </p:sp>
      <p:sp>
        <p:nvSpPr>
          <p:cNvPr id="6" name="Text"/>
          <p:cNvSpPr/>
          <p:nvPr/>
        </p:nvSpPr>
        <p:spPr>
          <a:xfrm>
            <a:off x="748640" y="2070000"/>
            <a:ext cx="3074720" cy="7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triage qui prenait 15 à 30 minutes par ticket est réalisé par l'IA en quelques secondes pour les cas éligibles.</a:t>
            </a:r>
            <a:endParaRPr lang="en-US" sz="1000" dirty="0"/>
          </a:p>
        </p:txBody>
      </p:sp>
      <p:sp>
        <p:nvSpPr>
          <p:cNvPr id="7" name="Shape"/>
          <p:cNvSpPr/>
          <p:nvPr/>
        </p:nvSpPr>
        <p:spPr>
          <a:xfrm>
            <a:off x="4251960" y="1450000"/>
            <a:ext cx="3474720" cy="15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8" name="Text"/>
          <p:cNvSpPr/>
          <p:nvPr/>
        </p:nvSpPr>
        <p:spPr>
          <a:xfrm>
            <a:off x="445196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9" name="Text"/>
          <p:cNvSpPr/>
          <p:nvPr/>
        </p:nvSpPr>
        <p:spPr>
          <a:xfrm>
            <a:off x="4451960" y="2070000"/>
            <a:ext cx="3074720" cy="7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criticité et la catégorie sont évaluées objectivement à partir des faits décrits, pas de la perception de l'utilisateur.</a:t>
            </a:r>
            <a:endParaRPr lang="en-US" sz="1000" dirty="0"/>
          </a:p>
        </p:txBody>
      </p:sp>
      <p:sp>
        <p:nvSpPr>
          <p:cNvPr id="10" name="Shape"/>
          <p:cNvSpPr/>
          <p:nvPr/>
        </p:nvSpPr>
        <p:spPr>
          <a:xfrm>
            <a:off x="7955280" y="1450000"/>
            <a:ext cx="3474720" cy="15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1" name="Text"/>
          <p:cNvSpPr/>
          <p:nvPr/>
        </p:nvSpPr>
        <p:spPr>
          <a:xfrm>
            <a:off x="815528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600" dirty="0"/>
          </a:p>
        </p:txBody>
      </p:sp>
      <p:sp>
        <p:nvSpPr>
          <p:cNvPr id="12" name="Text"/>
          <p:cNvSpPr/>
          <p:nvPr/>
        </p:nvSpPr>
        <p:spPr>
          <a:xfrm>
            <a:off x="8155280" y="2070000"/>
            <a:ext cx="3074720" cy="7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ticket reçoit un délai de résolution cible dès sa réception, avec suivi complet et brief transmis au technicien.</a:t>
            </a:r>
            <a:endParaRPr lang="en-US" sz="1000" dirty="0"/>
          </a:p>
        </p:txBody>
      </p:sp>
      <p:sp>
        <p:nvSpPr>
          <p:cNvPr id="13" name="Shape"/>
          <p:cNvSpPr/>
          <p:nvPr/>
        </p:nvSpPr>
        <p:spPr>
          <a:xfrm>
            <a:off x="548640" y="3260000"/>
            <a:ext cx="10881360" cy="700000"/>
          </a:xfrm>
          <a:prstGeom prst="roundRect">
            <a:avLst>
              <a:gd name="adj" fmla="val 8000"/>
            </a:avLst>
          </a:prstGeom>
          <a:solidFill>
            <a:srgbClr val="3FC1D0"/>
          </a:solidFill>
          <a:ln/>
        </p:spPr>
      </p:sp>
      <p:sp>
        <p:nvSpPr>
          <p:cNvPr id="14" name="Text"/>
          <p:cNvSpPr/>
          <p:nvPr/>
        </p:nvSpPr>
        <p:spPr>
          <a:xfrm>
            <a:off x="822960" y="3260000"/>
            <a:ext cx="1033272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réaliste : un pilote sur 50 à 200 cas par mois, avec mesure du gain réel avant toute extension.</a:t>
            </a:r>
            <a:endParaRPr lang="en-US" sz="1250" dirty="0"/>
          </a:p>
        </p:txBody>
      </p:sp>
      <p:sp>
        <p:nvSpPr>
          <p:cNvPr id="15" name="Shape"/>
          <p:cNvSpPr/>
          <p:nvPr/>
        </p:nvSpPr>
        <p:spPr>
          <a:xfrm>
            <a:off x="548640" y="42000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3FC1D0"/>
          </a:solidFill>
          <a:ln/>
        </p:spPr>
      </p:sp>
      <p:sp>
        <p:nvSpPr>
          <p:cNvPr id="16" name="Text"/>
          <p:cNvSpPr/>
          <p:nvPr/>
        </p:nvSpPr>
        <p:spPr>
          <a:xfrm>
            <a:off x="822960" y="4337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interactive : www.transferai.ci/demo/support-it-intelligent</a:t>
            </a:r>
            <a:endParaRPr lang="en-US" sz="1500" dirty="0"/>
          </a:p>
        </p:txBody>
      </p:sp>
      <p:sp>
        <p:nvSpPr>
          <p:cNvPr id="17" name="Text"/>
          <p:cNvSpPr/>
          <p:nvPr/>
        </p:nvSpPr>
        <p:spPr>
          <a:xfrm>
            <a:off x="822960" y="48400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A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email réel est envoyé à chaque test — utiliser une adresse consultable pendant la démo.</a:t>
            </a:r>
            <a:endParaRPr lang="en-US" sz="1050" dirty="0"/>
          </a:p>
        </p:txBody>
      </p:sp>
      <p:sp>
        <p:nvSpPr>
          <p:cNvPr id="18" name="Text"/>
          <p:cNvSpPr/>
          <p:nvPr/>
        </p:nvSpPr>
        <p:spPr>
          <a:xfrm>
            <a:off x="822960" y="52515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formation « L'IA au Bureau » — 29-30 juillet 2026, Riviera 3, Abidjan</a:t>
            </a:r>
            <a:endParaRPr lang="en-US" sz="1100" dirty="0"/>
          </a:p>
        </p:txBody>
      </p:sp>
      <p:sp>
        <p:nvSpPr>
          <p:cNvPr id="19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contact@transferai.ci  •  www.transferai.ci</a:t>
            </a:r>
            <a:endParaRPr lang="en-US" sz="900" dirty="0"/>
          </a:p>
        </p:txBody>
      </p:sp>
      <p:sp>
        <p:nvSpPr>
          <p:cNvPr id="20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2026-07-12T16:27:20Z</dcterms:created>
  <dcterms:modified xsi:type="dcterms:W3CDTF">2026-07-12T16:27:20Z</dcterms:modified>
</cp:coreProperties>
</file>