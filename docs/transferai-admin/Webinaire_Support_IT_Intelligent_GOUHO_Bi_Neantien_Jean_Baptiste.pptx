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11"/>
    <p:sldId id="261" r:id="rId12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  <Relationship Id="rId11" Type="http://schemas.openxmlformats.org/officeDocument/2006/relationships/slide" Target="slides/slide5.xml"/>
  <Relationship Id="rId12" Type="http://schemas.openxmlformats.org/officeDocument/2006/relationships/slide" Target="slides/slide6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itre">
    <p:bg>
      <p:bgPr>
        <a:solidFill>
          <a:srgbClr val="0D17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0F3540"/>
          </a:solidFill>
          <a:ln w="12700">
            <a:solidFill>
              <a:srgbClr val="3FC1D0"/>
            </a:solidFill>
            <a:prstDash val="solid"/>
          </a:ln>
        </p:spPr>
      </p:sp>
      <p:sp>
        <p:nvSpPr>
          <p:cNvPr id="3" name="Text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FC1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🎫</a:t>
            </a:r>
            <a:endParaRPr lang="en-US" sz="2000" dirty="0"/>
          </a:p>
        </p:txBody>
      </p:sp>
      <p:sp>
        <p:nvSpPr>
          <p:cNvPr id="4" name="Text"/>
          <p:cNvSpPr/>
          <p:nvPr/>
        </p:nvSpPr>
        <p:spPr>
          <a:xfrm>
            <a:off x="548640" y="22860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IT</a:t>
            </a:r>
            <a:endParaRPr lang="en-US" sz="3600" dirty="0"/>
          </a:p>
        </p:txBody>
      </p:sp>
      <p:sp>
        <p:nvSpPr>
          <p:cNvPr id="5" name="Text"/>
          <p:cNvSpPr/>
          <p:nvPr/>
        </p:nvSpPr>
        <p:spPr>
          <a:xfrm>
            <a:off x="548640" y="28803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FC1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</a:t>
            </a:r>
            <a:endParaRPr lang="en-US" sz="3600" dirty="0"/>
          </a:p>
        </p:txBody>
      </p:sp>
      <p:sp>
        <p:nvSpPr>
          <p:cNvPr id="6" name="Text"/>
          <p:cNvSpPr/>
          <p:nvPr/>
        </p:nvSpPr>
        <p:spPr>
          <a:xfrm>
            <a:off x="548640" y="3657600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3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ticket décrit en langage naturel, une décision automatique en quelques secondes — résolution ou escalade, sans triage manuel.</a:t>
            </a:r>
            <a:endParaRPr lang="en-US" sz="1500" dirty="0"/>
          </a:p>
        </p:txBody>
      </p:sp>
      <p:sp>
        <p:nvSpPr>
          <p:cNvPr id="7" name="Text"/>
          <p:cNvSpPr/>
          <p:nvPr/>
        </p:nvSpPr>
        <p:spPr>
          <a:xfrm>
            <a:off x="548640" y="4663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59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Présenté par</a:t>
            </a:r>
            <a:endParaRPr lang="en-US" sz="1200" dirty="0"/>
          </a:p>
        </p:txBody>
      </p:sp>
      <p:sp>
        <p:nvSpPr>
          <p:cNvPr id="8" name="Text"/>
          <p:cNvSpPr/>
          <p:nvPr/>
        </p:nvSpPr>
        <p:spPr>
          <a:xfrm>
            <a:off x="548640" y="493776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GOUHO Bi Néantien Jean Baptiste</a:t>
            </a:r>
            <a:endParaRPr lang="en-US" sz="1900" dirty="0"/>
          </a:p>
        </p:txBody>
      </p:sp>
      <p:sp>
        <p:nvSpPr>
          <p:cNvPr id="9" name="Text"/>
          <p:cNvSpPr/>
          <p:nvPr/>
        </p:nvSpPr>
        <p:spPr>
          <a:xfrm>
            <a:off x="548640" y="5358384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C3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Enseignant-Chercheur, Réseaux et Cybersécurité</a:t>
            </a:r>
            <a:endParaRPr lang="en-US" sz="1150" dirty="0"/>
          </a:p>
        </p:txBody>
      </p:sp>
      <p:sp>
        <p:nvSpPr>
          <p:cNvPr id="10" name="Text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9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TransferAI Africa  •  Webinaire « IA pratique en Côte d'Ivoire »</a:t>
            </a:r>
            <a:endParaRPr lang="en-US" sz="900" dirty="0"/>
          </a:p>
        </p:txBody>
      </p:sp>
      <p:sp>
        <p:nvSpPr>
          <p:cNvPr id="11" name="Text"/>
          <p:cNvSpPr/>
          <p:nvPr/>
        </p:nvSpPr>
        <p:spPr>
          <a:xfrm>
            <a:off x="8503920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juillet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obleme et fonctionnement">
    <p:bg>
      <p:bgPr>
        <a:solidFill>
          <a:srgbClr val="0D17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/>
          <p:nvPr/>
        </p:nvSpPr>
        <p:spPr>
          <a:xfrm>
            <a:off x="548640" y="4114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problème, en une phrase</a:t>
            </a:r>
            <a:endParaRPr lang="en-US" sz="2400" dirty="0"/>
          </a:p>
        </p:txBody>
      </p:sp>
      <p:sp>
        <p:nvSpPr>
          <p:cNvPr id="3" name="Text"/>
          <p:cNvSpPr/>
          <p:nvPr/>
        </p:nvSpPr>
        <p:spPr>
          <a:xfrm>
            <a:off x="548640" y="8686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3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triage manuel d'un ticket IT prend 15 à 30 minutes, avant même le début de la résolution.</a:t>
            </a:r>
            <a:endParaRPr lang="en-US" sz="1300" dirty="0"/>
          </a:p>
        </p:txBody>
      </p:sp>
      <p:sp>
        <p:nvSpPr>
          <p:cNvPr id="4" name="Shape"/>
          <p:cNvSpPr/>
          <p:nvPr/>
        </p:nvSpPr>
        <p:spPr>
          <a:xfrm>
            <a:off x="548640" y="1417320"/>
            <a:ext cx="3474720" cy="1188720"/>
          </a:xfrm>
          <a:prstGeom prst="roundRect">
            <a:avLst>
              <a:gd name="adj" fmla="val 6154"/>
            </a:avLst>
          </a:prstGeom>
          <a:solidFill>
            <a:srgbClr val="17324D"/>
          </a:solidFill>
          <a:ln w="6350">
            <a:solidFill>
              <a:srgbClr val="3FC1D0"/>
            </a:solidFill>
            <a:prstDash val="solid"/>
          </a:ln>
        </p:spPr>
      </p:sp>
      <p:sp>
        <p:nvSpPr>
          <p:cNvPr id="5" name="Text"/>
          <p:cNvSpPr/>
          <p:nvPr/>
        </p:nvSpPr>
        <p:spPr>
          <a:xfrm>
            <a:off x="685800" y="1508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FC1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"/>
          <p:cNvSpPr/>
          <p:nvPr/>
        </p:nvSpPr>
        <p:spPr>
          <a:xfrm>
            <a:off x="1371600" y="155448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IA</a:t>
            </a:r>
            <a:endParaRPr lang="en-US" sz="1400" dirty="0"/>
          </a:p>
        </p:txBody>
      </p:sp>
      <p:sp>
        <p:nvSpPr>
          <p:cNvPr id="7" name="Text"/>
          <p:cNvSpPr/>
          <p:nvPr/>
        </p:nvSpPr>
        <p:spPr>
          <a:xfrm>
            <a:off x="1371600" y="192024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3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lit la description et détermine catégorie, criticité et score de confiance.</a:t>
            </a:r>
            <a:endParaRPr lang="en-US" sz="950" dirty="0"/>
          </a:p>
        </p:txBody>
      </p:sp>
      <p:sp>
        <p:nvSpPr>
          <p:cNvPr id="8" name="Shape"/>
          <p:cNvSpPr/>
          <p:nvPr/>
        </p:nvSpPr>
        <p:spPr>
          <a:xfrm>
            <a:off x="4251960" y="1417320"/>
            <a:ext cx="3474720" cy="1188720"/>
          </a:xfrm>
          <a:prstGeom prst="roundRect">
            <a:avLst>
              <a:gd name="adj" fmla="val 6154"/>
            </a:avLst>
          </a:prstGeom>
          <a:solidFill>
            <a:srgbClr val="17324D"/>
          </a:solidFill>
          <a:ln w="6350">
            <a:solidFill>
              <a:srgbClr val="3FC1D0"/>
            </a:solidFill>
            <a:prstDash val="solid"/>
          </a:ln>
        </p:spPr>
      </p:sp>
      <p:sp>
        <p:nvSpPr>
          <p:cNvPr id="9" name="Text"/>
          <p:cNvSpPr/>
          <p:nvPr/>
        </p:nvSpPr>
        <p:spPr>
          <a:xfrm>
            <a:off x="4389120" y="1508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FC1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0" name="Text"/>
          <p:cNvSpPr/>
          <p:nvPr/>
        </p:nvSpPr>
        <p:spPr>
          <a:xfrm>
            <a:off x="5074920" y="155448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 automatique</a:t>
            </a:r>
            <a:endParaRPr lang="en-US" sz="1400" dirty="0"/>
          </a:p>
        </p:txBody>
      </p:sp>
      <p:sp>
        <p:nvSpPr>
          <p:cNvPr id="11" name="Text"/>
          <p:cNvSpPr/>
          <p:nvPr/>
        </p:nvSpPr>
        <p:spPr>
          <a:xfrm>
            <a:off x="5074920" y="192024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3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Confiance suffisante et cas éligible → résolution directe. Sinon → escalade avec diagnostic complet.</a:t>
            </a:r>
            <a:endParaRPr lang="en-US" sz="950" dirty="0"/>
          </a:p>
        </p:txBody>
      </p:sp>
      <p:sp>
        <p:nvSpPr>
          <p:cNvPr id="12" name="Shape"/>
          <p:cNvSpPr/>
          <p:nvPr/>
        </p:nvSpPr>
        <p:spPr>
          <a:xfrm>
            <a:off x="7955280" y="1417320"/>
            <a:ext cx="3474720" cy="1188720"/>
          </a:xfrm>
          <a:prstGeom prst="roundRect">
            <a:avLst>
              <a:gd name="adj" fmla="val 6154"/>
            </a:avLst>
          </a:prstGeom>
          <a:solidFill>
            <a:srgbClr val="17324D"/>
          </a:solidFill>
          <a:ln w="6350">
            <a:solidFill>
              <a:srgbClr val="3FC1D0"/>
            </a:solidFill>
            <a:prstDash val="solid"/>
          </a:ln>
        </p:spPr>
      </p:sp>
      <p:sp>
        <p:nvSpPr>
          <p:cNvPr id="13" name="Text"/>
          <p:cNvSpPr/>
          <p:nvPr/>
        </p:nvSpPr>
        <p:spPr>
          <a:xfrm>
            <a:off x="8092440" y="1508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FC1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14" name="Text"/>
          <p:cNvSpPr/>
          <p:nvPr/>
        </p:nvSpPr>
        <p:spPr>
          <a:xfrm>
            <a:off x="8778240" y="155448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&amp; suivi</a:t>
            </a:r>
            <a:endParaRPr lang="en-US" sz="1400" dirty="0"/>
          </a:p>
        </p:txBody>
      </p:sp>
      <p:sp>
        <p:nvSpPr>
          <p:cNvPr id="15" name="Text"/>
          <p:cNvSpPr/>
          <p:nvPr/>
        </p:nvSpPr>
        <p:spPr>
          <a:xfrm>
            <a:off x="8778240" y="192024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3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Délai de résolution cible attribué dès la réception (1h à 24h), avec traçabilité complète.</a:t>
            </a:r>
            <a:endParaRPr lang="en-US" sz="950" dirty="0"/>
          </a:p>
        </p:txBody>
      </p:sp>
      <p:sp>
        <p:nvSpPr>
          <p:cNvPr id="16" name="Text"/>
          <p:cNvSpPr/>
          <p:nvPr/>
        </p:nvSpPr>
        <p:spPr>
          <a:xfrm>
            <a:off x="548640" y="28803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fonctionnement, pas à pas</a:t>
            </a:r>
            <a:endParaRPr lang="en-US" sz="1500" dirty="0"/>
          </a:p>
        </p:txBody>
      </p:sp>
      <p:sp>
        <p:nvSpPr>
          <p:cNvPr id="17" name="Shape"/>
          <p:cNvSpPr/>
          <p:nvPr/>
        </p:nvSpPr>
        <p:spPr>
          <a:xfrm>
            <a:off x="1190244" y="3429000"/>
            <a:ext cx="530352" cy="530352"/>
          </a:xfrm>
          <a:prstGeom prst="ellipse">
            <a:avLst/>
          </a:prstGeom>
          <a:solidFill>
            <a:srgbClr val="0F3540"/>
          </a:solidFill>
          <a:ln w="6350">
            <a:solidFill>
              <a:srgbClr val="3FC1D0"/>
            </a:solidFill>
            <a:prstDash val="solid"/>
          </a:ln>
        </p:spPr>
      </p:sp>
      <p:sp>
        <p:nvSpPr>
          <p:cNvPr id="18" name="Text"/>
          <p:cNvSpPr/>
          <p:nvPr/>
        </p:nvSpPr>
        <p:spPr>
          <a:xfrm>
            <a:off x="1190244" y="342900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FC1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9" name="Text"/>
          <p:cNvSpPr/>
          <p:nvPr/>
        </p:nvSpPr>
        <p:spPr>
          <a:xfrm>
            <a:off x="255420" y="4050792"/>
            <a:ext cx="240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Réception</a:t>
            </a:r>
            <a:endParaRPr lang="en-US" sz="1100" dirty="0"/>
          </a:p>
        </p:txBody>
      </p:sp>
      <p:sp>
        <p:nvSpPr>
          <p:cNvPr id="20" name="Text"/>
          <p:cNvSpPr/>
          <p:nvPr/>
        </p:nvSpPr>
        <p:spPr>
          <a:xfrm>
            <a:off x="255420" y="4325112"/>
            <a:ext cx="240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859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normalisé quel que soit le canal</a:t>
            </a:r>
            <a:endParaRPr lang="en-US" sz="870" dirty="0"/>
          </a:p>
        </p:txBody>
      </p:sp>
      <p:sp>
        <p:nvSpPr>
          <p:cNvPr id="21" name="Text"/>
          <p:cNvSpPr/>
          <p:nvPr/>
        </p:nvSpPr>
        <p:spPr>
          <a:xfrm>
            <a:off x="2806700" y="355701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FC1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"/>
          <p:cNvSpPr/>
          <p:nvPr/>
        </p:nvSpPr>
        <p:spPr>
          <a:xfrm>
            <a:off x="4212844" y="3429000"/>
            <a:ext cx="530352" cy="530352"/>
          </a:xfrm>
          <a:prstGeom prst="ellipse">
            <a:avLst/>
          </a:prstGeom>
          <a:solidFill>
            <a:srgbClr val="0F3540"/>
          </a:solidFill>
          <a:ln w="6350">
            <a:solidFill>
              <a:srgbClr val="3FC1D0"/>
            </a:solidFill>
            <a:prstDash val="solid"/>
          </a:ln>
        </p:spPr>
      </p:sp>
      <p:sp>
        <p:nvSpPr>
          <p:cNvPr id="23" name="Text"/>
          <p:cNvSpPr/>
          <p:nvPr/>
        </p:nvSpPr>
        <p:spPr>
          <a:xfrm>
            <a:off x="4212844" y="342900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FC1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4" name="Text"/>
          <p:cNvSpPr/>
          <p:nvPr/>
        </p:nvSpPr>
        <p:spPr>
          <a:xfrm>
            <a:off x="3278020" y="4050792"/>
            <a:ext cx="240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IA</a:t>
            </a:r>
            <a:endParaRPr lang="en-US" sz="1100" dirty="0"/>
          </a:p>
        </p:txBody>
      </p:sp>
      <p:sp>
        <p:nvSpPr>
          <p:cNvPr id="25" name="Text"/>
          <p:cNvSpPr/>
          <p:nvPr/>
        </p:nvSpPr>
        <p:spPr>
          <a:xfrm>
            <a:off x="3278020" y="4325112"/>
            <a:ext cx="240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859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catégorie, criticité, confiance</a:t>
            </a:r>
            <a:endParaRPr lang="en-US" sz="870" dirty="0"/>
          </a:p>
        </p:txBody>
      </p:sp>
      <p:sp>
        <p:nvSpPr>
          <p:cNvPr id="26" name="Text"/>
          <p:cNvSpPr/>
          <p:nvPr/>
        </p:nvSpPr>
        <p:spPr>
          <a:xfrm>
            <a:off x="5829300" y="355701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FC1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7" name="Shape"/>
          <p:cNvSpPr/>
          <p:nvPr/>
        </p:nvSpPr>
        <p:spPr>
          <a:xfrm>
            <a:off x="7235444" y="3429000"/>
            <a:ext cx="530352" cy="530352"/>
          </a:xfrm>
          <a:prstGeom prst="ellipse">
            <a:avLst/>
          </a:prstGeom>
          <a:solidFill>
            <a:srgbClr val="0F3540"/>
          </a:solidFill>
          <a:ln w="6350">
            <a:solidFill>
              <a:srgbClr val="3FC1D0"/>
            </a:solidFill>
            <a:prstDash val="solid"/>
          </a:ln>
        </p:spPr>
      </p:sp>
      <p:sp>
        <p:nvSpPr>
          <p:cNvPr id="28" name="Text"/>
          <p:cNvSpPr/>
          <p:nvPr/>
        </p:nvSpPr>
        <p:spPr>
          <a:xfrm>
            <a:off x="7235444" y="342900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FC1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"/>
          <p:cNvSpPr/>
          <p:nvPr/>
        </p:nvSpPr>
        <p:spPr>
          <a:xfrm>
            <a:off x="6300620" y="4050792"/>
            <a:ext cx="240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</a:t>
            </a:r>
            <a:endParaRPr lang="en-US" sz="1100" dirty="0"/>
          </a:p>
        </p:txBody>
      </p:sp>
      <p:sp>
        <p:nvSpPr>
          <p:cNvPr id="30" name="Text"/>
          <p:cNvSpPr/>
          <p:nvPr/>
        </p:nvSpPr>
        <p:spPr>
          <a:xfrm>
            <a:off x="6300620" y="4325112"/>
            <a:ext cx="240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859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résolution ou escalade</a:t>
            </a:r>
            <a:endParaRPr lang="en-US" sz="870" dirty="0"/>
          </a:p>
        </p:txBody>
      </p:sp>
      <p:sp>
        <p:nvSpPr>
          <p:cNvPr id="31" name="Text"/>
          <p:cNvSpPr/>
          <p:nvPr/>
        </p:nvSpPr>
        <p:spPr>
          <a:xfrm>
            <a:off x="8851900" y="355701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FC1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2" name="Shape"/>
          <p:cNvSpPr/>
          <p:nvPr/>
        </p:nvSpPr>
        <p:spPr>
          <a:xfrm>
            <a:off x="10258044" y="3429000"/>
            <a:ext cx="530352" cy="530352"/>
          </a:xfrm>
          <a:prstGeom prst="ellipse">
            <a:avLst/>
          </a:prstGeom>
          <a:solidFill>
            <a:srgbClr val="0F3540"/>
          </a:solidFill>
          <a:ln w="6350">
            <a:solidFill>
              <a:srgbClr val="3FC1D0"/>
            </a:solidFill>
            <a:prstDash val="solid"/>
          </a:ln>
        </p:spPr>
      </p:sp>
      <p:sp>
        <p:nvSpPr>
          <p:cNvPr id="33" name="Text"/>
          <p:cNvSpPr/>
          <p:nvPr/>
        </p:nvSpPr>
        <p:spPr>
          <a:xfrm>
            <a:off x="10258044" y="342900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FC1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4" name="Text"/>
          <p:cNvSpPr/>
          <p:nvPr/>
        </p:nvSpPr>
        <p:spPr>
          <a:xfrm>
            <a:off x="9323220" y="4050792"/>
            <a:ext cx="240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</a:t>
            </a:r>
            <a:endParaRPr lang="en-US" sz="1100" dirty="0"/>
          </a:p>
        </p:txBody>
      </p:sp>
      <p:sp>
        <p:nvSpPr>
          <p:cNvPr id="35" name="Text"/>
          <p:cNvSpPr/>
          <p:nvPr/>
        </p:nvSpPr>
        <p:spPr>
          <a:xfrm>
            <a:off x="9323220" y="4325112"/>
            <a:ext cx="240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859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attribué, traçabilité</a:t>
            </a:r>
            <a:endParaRPr lang="en-US" sz="870" dirty="0"/>
          </a:p>
        </p:txBody>
      </p:sp>
      <p:sp>
        <p:nvSpPr>
          <p:cNvPr id="36" name="Text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9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TransferAI Africa  •  Support IT Intelligent</a:t>
            </a:r>
            <a:endParaRPr lang="en-US" sz="900" dirty="0"/>
          </a:p>
        </p:txBody>
      </p:sp>
      <p:sp>
        <p:nvSpPr>
          <p:cNvPr id="37" name="Text"/>
          <p:cNvSpPr/>
          <p:nvPr/>
        </p:nvSpPr>
        <p:spPr>
          <a:xfrm>
            <a:off x="8503920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juillet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xemple reel teste">
    <p:bg>
      <p:bgPr>
        <a:solidFill>
          <a:srgbClr val="0D17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/>
          <p:nvPr/>
        </p:nvSpPr>
        <p:spPr>
          <a:xfrm>
            <a:off x="548640" y="4572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réel testé</a:t>
            </a:r>
            <a:endParaRPr lang="en-US" sz="2600" dirty="0"/>
          </a:p>
        </p:txBody>
      </p:sp>
      <p:sp>
        <p:nvSpPr>
          <p:cNvPr id="3" name="Text"/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3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réel soumis lors des tests réalisés avant ce webinaire.</a:t>
            </a:r>
            <a:endParaRPr lang="en-US" sz="1300" dirty="0"/>
          </a:p>
        </p:txBody>
      </p:sp>
      <p:sp>
        <p:nvSpPr>
          <p:cNvPr id="4" name="Shape"/>
          <p:cNvSpPr/>
          <p:nvPr/>
        </p:nvSpPr>
        <p:spPr>
          <a:xfrm>
            <a:off x="548640" y="150876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17324D"/>
          </a:solidFill>
          <a:ln w="6350">
            <a:solidFill>
              <a:srgbClr val="3FC1D0"/>
            </a:solidFill>
            <a:prstDash val="solid"/>
          </a:ln>
        </p:spPr>
      </p:sp>
      <p:sp>
        <p:nvSpPr>
          <p:cNvPr id="5" name="Text"/>
          <p:cNvSpPr/>
          <p:nvPr/>
        </p:nvSpPr>
        <p:spPr>
          <a:xfrm>
            <a:off x="822960" y="164592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Latence sur le réseau — depuis 8h45 ce matin, coupures internet intermittentes, pertes de paquets constatées. »</a:t>
            </a:r>
            <a:endParaRPr lang="en-US" sz="1400" dirty="0"/>
          </a:p>
        </p:txBody>
      </p:sp>
      <p:sp>
        <p:nvSpPr>
          <p:cNvPr id="6" name="Text"/>
          <p:cNvSpPr/>
          <p:nvPr/>
        </p:nvSpPr>
        <p:spPr>
          <a:xfrm>
            <a:off x="822960" y="232156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FC1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en 6 secondes : catégorie réseau, confiance 95 %</a:t>
            </a:r>
            <a:endParaRPr lang="en-US" sz="1250" dirty="0"/>
          </a:p>
        </p:txBody>
      </p:sp>
      <p:sp>
        <p:nvSpPr>
          <p:cNvPr id="7" name="Text"/>
          <p:cNvSpPr/>
          <p:nvPr/>
        </p:nvSpPr>
        <p:spPr>
          <a:xfrm>
            <a:off x="548640" y="2788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 prise (extrait)</a:t>
            </a:r>
            <a:endParaRPr lang="en-US" sz="1300" dirty="0"/>
          </a:p>
        </p:txBody>
      </p:sp>
      <p:sp>
        <p:nvSpPr>
          <p:cNvPr id="8" name="Text"/>
          <p:cNvSpPr/>
          <p:nvPr/>
        </p:nvSpPr>
        <p:spPr>
          <a:xfrm>
            <a:off x="548640" y="315468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C3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Malgré une confiance de diagnostic élevée, le problème est jugé non auto-résolvable — une latence réseau nécessite une intervention technique réelle. Décision correctement escaladée vers l'équipe Réseau, avec email de confirmation reçu instantanément par l'utilisateur. »</a:t>
            </a:r>
            <a:endParaRPr lang="en-US" sz="1250" dirty="0"/>
          </a:p>
        </p:txBody>
      </p:sp>
      <p:sp>
        <p:nvSpPr>
          <p:cNvPr id="9" name="Shape"/>
          <p:cNvSpPr/>
          <p:nvPr/>
        </p:nvSpPr>
        <p:spPr>
          <a:xfrm>
            <a:off x="548640" y="411480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0F3540"/>
          </a:solidFill>
          <a:ln w="9525">
            <a:solidFill>
              <a:srgbClr val="3FC1D0"/>
            </a:solidFill>
            <a:prstDash val="solid"/>
          </a:ln>
        </p:spPr>
      </p:sp>
      <p:sp>
        <p:nvSpPr>
          <p:cNvPr id="10" name="Text"/>
          <p:cNvSpPr/>
          <p:nvPr/>
        </p:nvSpPr>
        <p:spPr>
          <a:xfrm>
            <a:off x="822960" y="425196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3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garde-fou : une confiance élevée ne suffit pas à déclencher une résolution automatique si la nature du problème l'exige — le système escalade plutôt que de risquer une fausse résolution.</a:t>
            </a:r>
            <a:endParaRPr lang="en-US" sz="1200" dirty="0"/>
          </a:p>
        </p:txBody>
      </p:sp>
      <p:sp>
        <p:nvSpPr>
          <p:cNvPr id="11" name="Text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9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TransferAI Africa  •  Support IT Intelligent</a:t>
            </a:r>
            <a:endParaRPr lang="en-US" sz="900" dirty="0"/>
          </a:p>
        </p:txBody>
      </p:sp>
      <p:sp>
        <p:nvSpPr>
          <p:cNvPr id="12" name="Text"/>
          <p:cNvSpPr/>
          <p:nvPr/>
        </p:nvSpPr>
        <p:spPr>
          <a:xfrm>
            <a:off x="8503920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juillet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t pour votre metier">
    <p:bg>
      <p:bgPr>
        <a:solidFill>
          <a:srgbClr val="0D17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/>
          <p:nvPr/>
        </p:nvSpPr>
        <p:spPr>
          <a:xfrm>
            <a:off x="548640" y="4114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pour votre métier ?</a:t>
            </a:r>
            <a:endParaRPr lang="en-US" sz="2400" dirty="0"/>
          </a:p>
        </p:txBody>
      </p:sp>
      <p:sp>
        <p:nvSpPr>
          <p:cNvPr id="3" name="Text"/>
          <p:cNvSpPr/>
          <p:nvPr/>
        </p:nvSpPr>
        <p:spPr>
          <a:xfrm>
            <a:off x="548640" y="8686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3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support IT n'est qu'un exemple parmi dix cas d'usage : le même principe s'applique à tout processus à fort volume.</a:t>
            </a:r>
            <a:endParaRPr lang="en-US" sz="1300" dirty="0"/>
          </a:p>
        </p:txBody>
      </p:sp>
      <p:sp>
        <p:nvSpPr>
          <p:cNvPr id="4" name="Shape"/>
          <p:cNvSpPr/>
          <p:nvPr/>
        </p:nvSpPr>
        <p:spPr>
          <a:xfrm>
            <a:off x="548640" y="1450000"/>
            <a:ext cx="3474720" cy="1750000"/>
          </a:xfrm>
          <a:prstGeom prst="roundRect">
            <a:avLst>
              <a:gd name="adj" fmla="val 6154"/>
            </a:avLst>
          </a:prstGeom>
          <a:solidFill>
            <a:srgbClr val="17324D"/>
          </a:solidFill>
          <a:ln/>
        </p:spPr>
      </p:sp>
      <p:sp>
        <p:nvSpPr>
          <p:cNvPr id="5" name="Text"/>
          <p:cNvSpPr/>
          <p:nvPr/>
        </p:nvSpPr>
        <p:spPr>
          <a:xfrm>
            <a:off x="748640" y="1610000"/>
            <a:ext cx="3074720" cy="4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client</a:t>
            </a:r>
            <a:endParaRPr lang="en-US" sz="1400" dirty="0"/>
          </a:p>
        </p:txBody>
      </p:sp>
      <p:sp>
        <p:nvSpPr>
          <p:cNvPr id="6" name="Text"/>
          <p:cNvSpPr/>
          <p:nvPr/>
        </p:nvSpPr>
        <p:spPr>
          <a:xfrm>
            <a:off x="748640" y="2010000"/>
            <a:ext cx="3074720" cy="10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3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Réponses instantanées aux demandes récurrentes, escalade uniquement pour les cas complexes.</a:t>
            </a:r>
            <a:endParaRPr lang="en-US" sz="1000" dirty="0"/>
          </a:p>
        </p:txBody>
      </p:sp>
      <p:sp>
        <p:nvSpPr>
          <p:cNvPr id="7" name="Shape"/>
          <p:cNvSpPr/>
          <p:nvPr/>
        </p:nvSpPr>
        <p:spPr>
          <a:xfrm>
            <a:off x="4251960" y="1450000"/>
            <a:ext cx="3474720" cy="1750000"/>
          </a:xfrm>
          <a:prstGeom prst="roundRect">
            <a:avLst>
              <a:gd name="adj" fmla="val 6154"/>
            </a:avLst>
          </a:prstGeom>
          <a:solidFill>
            <a:srgbClr val="17324D"/>
          </a:solidFill>
          <a:ln/>
        </p:spPr>
      </p:sp>
      <p:sp>
        <p:nvSpPr>
          <p:cNvPr id="8" name="Text"/>
          <p:cNvSpPr/>
          <p:nvPr/>
        </p:nvSpPr>
        <p:spPr>
          <a:xfrm>
            <a:off x="4451960" y="1610000"/>
            <a:ext cx="3074720" cy="4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de dossiers</a:t>
            </a:r>
            <a:endParaRPr lang="en-US" sz="1400" dirty="0"/>
          </a:p>
        </p:txBody>
      </p:sp>
      <p:sp>
        <p:nvSpPr>
          <p:cNvPr id="9" name="Text"/>
          <p:cNvSpPr/>
          <p:nvPr/>
        </p:nvSpPr>
        <p:spPr>
          <a:xfrm>
            <a:off x="4451960" y="2010000"/>
            <a:ext cx="3074720" cy="10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3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 et priorisation automatique des dossiers entrants selon des critères objectifs.</a:t>
            </a:r>
            <a:endParaRPr lang="en-US" sz="1000" dirty="0"/>
          </a:p>
        </p:txBody>
      </p:sp>
      <p:sp>
        <p:nvSpPr>
          <p:cNvPr id="10" name="Shape"/>
          <p:cNvSpPr/>
          <p:nvPr/>
        </p:nvSpPr>
        <p:spPr>
          <a:xfrm>
            <a:off x="7955280" y="1450000"/>
            <a:ext cx="3474720" cy="1750000"/>
          </a:xfrm>
          <a:prstGeom prst="roundRect">
            <a:avLst>
              <a:gd name="adj" fmla="val 6154"/>
            </a:avLst>
          </a:prstGeom>
          <a:solidFill>
            <a:srgbClr val="17324D"/>
          </a:solidFill>
          <a:ln/>
        </p:spPr>
      </p:sp>
      <p:sp>
        <p:nvSpPr>
          <p:cNvPr id="11" name="Text"/>
          <p:cNvSpPr/>
          <p:nvPr/>
        </p:nvSpPr>
        <p:spPr>
          <a:xfrm>
            <a:off x="8155280" y="1610000"/>
            <a:ext cx="3074720" cy="4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 &amp; audit</a:t>
            </a:r>
            <a:endParaRPr lang="en-US" sz="1400" dirty="0"/>
          </a:p>
        </p:txBody>
      </p:sp>
      <p:sp>
        <p:nvSpPr>
          <p:cNvPr id="12" name="Text"/>
          <p:cNvSpPr/>
          <p:nvPr/>
        </p:nvSpPr>
        <p:spPr>
          <a:xfrm>
            <a:off x="8155280" y="2010000"/>
            <a:ext cx="3074720" cy="10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3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automatique des échéances et des demandes de mise en conformité récurrentes.</a:t>
            </a:r>
            <a:endParaRPr lang="en-US" sz="1000" dirty="0"/>
          </a:p>
        </p:txBody>
      </p:sp>
      <p:sp>
        <p:nvSpPr>
          <p:cNvPr id="13" name="Shape"/>
          <p:cNvSpPr/>
          <p:nvPr/>
        </p:nvSpPr>
        <p:spPr>
          <a:xfrm>
            <a:off x="548640" y="3360000"/>
            <a:ext cx="3474720" cy="1750000"/>
          </a:xfrm>
          <a:prstGeom prst="roundRect">
            <a:avLst>
              <a:gd name="adj" fmla="val 6154"/>
            </a:avLst>
          </a:prstGeom>
          <a:solidFill>
            <a:srgbClr val="17324D"/>
          </a:solidFill>
          <a:ln/>
        </p:spPr>
      </p:sp>
      <p:sp>
        <p:nvSpPr>
          <p:cNvPr id="14" name="Text"/>
          <p:cNvSpPr/>
          <p:nvPr/>
        </p:nvSpPr>
        <p:spPr>
          <a:xfrm>
            <a:off x="748640" y="3520000"/>
            <a:ext cx="3074720" cy="4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Ressources Humaines</a:t>
            </a:r>
            <a:endParaRPr lang="en-US" sz="1400" dirty="0"/>
          </a:p>
        </p:txBody>
      </p:sp>
      <p:sp>
        <p:nvSpPr>
          <p:cNvPr id="15" name="Text"/>
          <p:cNvSpPr/>
          <p:nvPr/>
        </p:nvSpPr>
        <p:spPr>
          <a:xfrm>
            <a:off x="748640" y="3920000"/>
            <a:ext cx="3074720" cy="10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3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 des demandes courantes (congés, avantages, procédures) avant escalade au service RH.</a:t>
            </a:r>
            <a:endParaRPr lang="en-US" sz="1000" dirty="0"/>
          </a:p>
        </p:txBody>
      </p:sp>
      <p:sp>
        <p:nvSpPr>
          <p:cNvPr id="16" name="Shape"/>
          <p:cNvSpPr/>
          <p:nvPr/>
        </p:nvSpPr>
        <p:spPr>
          <a:xfrm>
            <a:off x="4251960" y="3360000"/>
            <a:ext cx="3474720" cy="1750000"/>
          </a:xfrm>
          <a:prstGeom prst="roundRect">
            <a:avLst>
              <a:gd name="adj" fmla="val 6154"/>
            </a:avLst>
          </a:prstGeom>
          <a:solidFill>
            <a:srgbClr val="17324D"/>
          </a:solidFill>
          <a:ln/>
        </p:spPr>
      </p:sp>
      <p:sp>
        <p:nvSpPr>
          <p:cNvPr id="17" name="Text"/>
          <p:cNvSpPr/>
          <p:nvPr/>
        </p:nvSpPr>
        <p:spPr>
          <a:xfrm>
            <a:off x="4451960" y="3520000"/>
            <a:ext cx="3074720" cy="4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Ventes &amp; prospection</a:t>
            </a:r>
            <a:endParaRPr lang="en-US" sz="1400" dirty="0"/>
          </a:p>
        </p:txBody>
      </p:sp>
      <p:sp>
        <p:nvSpPr>
          <p:cNvPr id="18" name="Text"/>
          <p:cNvSpPr/>
          <p:nvPr/>
        </p:nvSpPr>
        <p:spPr>
          <a:xfrm>
            <a:off x="4451960" y="3920000"/>
            <a:ext cx="3074720" cy="10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3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Qualification automatique des leads entrants selon leur urgence et leur pertinence.</a:t>
            </a:r>
            <a:endParaRPr lang="en-US" sz="1000" dirty="0"/>
          </a:p>
        </p:txBody>
      </p:sp>
      <p:sp>
        <p:nvSpPr>
          <p:cNvPr id="19" name="Shape"/>
          <p:cNvSpPr/>
          <p:nvPr/>
        </p:nvSpPr>
        <p:spPr>
          <a:xfrm>
            <a:off x="7955280" y="3360000"/>
            <a:ext cx="3474720" cy="1750000"/>
          </a:xfrm>
          <a:prstGeom prst="roundRect">
            <a:avLst>
              <a:gd name="adj" fmla="val 6154"/>
            </a:avLst>
          </a:prstGeom>
          <a:solidFill>
            <a:srgbClr val="17324D"/>
          </a:solidFill>
          <a:ln/>
        </p:spPr>
      </p:sp>
      <p:sp>
        <p:nvSpPr>
          <p:cNvPr id="20" name="Text"/>
          <p:cNvSpPr/>
          <p:nvPr/>
        </p:nvSpPr>
        <p:spPr>
          <a:xfrm>
            <a:off x="8155280" y="3520000"/>
            <a:ext cx="3074720" cy="4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&amp; Banques</a:t>
            </a:r>
            <a:endParaRPr lang="en-US" sz="1400" dirty="0"/>
          </a:p>
        </p:txBody>
      </p:sp>
      <p:sp>
        <p:nvSpPr>
          <p:cNvPr id="21" name="Text"/>
          <p:cNvSpPr/>
          <p:nvPr/>
        </p:nvSpPr>
        <p:spPr>
          <a:xfrm>
            <a:off x="8155280" y="3920000"/>
            <a:ext cx="3074720" cy="10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3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 prioritaire des demandes de crédit ou de support selon la criticité réelle du dossier.</a:t>
            </a:r>
            <a:endParaRPr lang="en-US" sz="1000" dirty="0"/>
          </a:p>
        </p:txBody>
      </p:sp>
      <p:sp>
        <p:nvSpPr>
          <p:cNvPr id="22" name="Text"/>
          <p:cNvSpPr/>
          <p:nvPr/>
        </p:nvSpPr>
        <p:spPr>
          <a:xfrm>
            <a:off x="548640" y="5320000"/>
            <a:ext cx="10881360" cy="4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59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question n'est pas « avons-nous un service IT », mais : quel processus chez nous ressemble à celui-ci ?</a:t>
            </a:r>
            <a:endParaRPr lang="en-US" sz="1050" dirty="0"/>
          </a:p>
        </p:txBody>
      </p:sp>
      <p:sp>
        <p:nvSpPr>
          <p:cNvPr id="23" name="Text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9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TransferAI Africa  •  Support IT Intelligent</a:t>
            </a:r>
            <a:endParaRPr lang="en-US" sz="900" dirty="0"/>
          </a:p>
        </p:txBody>
      </p:sp>
      <p:sp>
        <p:nvSpPr>
          <p:cNvPr id="24" name="Text"/>
          <p:cNvSpPr/>
          <p:nvPr/>
        </p:nvSpPr>
        <p:spPr>
          <a:xfrm>
            <a:off x="8503920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juillet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vant Apres">
    <p:bg>
      <p:bgPr>
        <a:solidFill>
          <a:srgbClr val="0D17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/>
          <p:nvPr/>
        </p:nvSpPr>
        <p:spPr>
          <a:xfrm>
            <a:off x="548640" y="4114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/ Après</a:t>
            </a:r>
            <a:endParaRPr lang="en-US" sz="2400" dirty="0"/>
          </a:p>
        </p:txBody>
      </p:sp>
      <p:sp>
        <p:nvSpPr>
          <p:cNvPr id="3" name="Shape"/>
          <p:cNvSpPr/>
          <p:nvPr/>
        </p:nvSpPr>
        <p:spPr>
          <a:xfrm>
            <a:off x="548640" y="1051560"/>
            <a:ext cx="5349240" cy="475488"/>
          </a:xfrm>
          <a:prstGeom prst="roundRect">
            <a:avLst>
              <a:gd name="adj" fmla="val 6154"/>
            </a:avLst>
          </a:prstGeom>
          <a:solidFill>
            <a:srgbClr val="17324D"/>
          </a:solidFill>
          <a:ln/>
        </p:spPr>
      </p:sp>
      <p:sp>
        <p:nvSpPr>
          <p:cNvPr id="4" name="Text"/>
          <p:cNvSpPr/>
          <p:nvPr/>
        </p:nvSpPr>
        <p:spPr>
          <a:xfrm>
            <a:off x="685800" y="1051560"/>
            <a:ext cx="5074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3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manuel : 15 à 30 minutes par ticket</a:t>
            </a:r>
            <a:endParaRPr lang="en-US" sz="1150" dirty="0"/>
          </a:p>
        </p:txBody>
      </p:sp>
      <p:sp>
        <p:nvSpPr>
          <p:cNvPr id="5" name="Shape"/>
          <p:cNvSpPr/>
          <p:nvPr/>
        </p:nvSpPr>
        <p:spPr>
          <a:xfrm>
            <a:off x="6172200" y="1051560"/>
            <a:ext cx="5349240" cy="475488"/>
          </a:xfrm>
          <a:prstGeom prst="roundRect">
            <a:avLst>
              <a:gd name="adj" fmla="val 6154"/>
            </a:avLst>
          </a:prstGeom>
          <a:solidFill>
            <a:srgbClr val="0F3540"/>
          </a:solidFill>
          <a:ln w="6350">
            <a:solidFill>
              <a:srgbClr val="3FC1D0"/>
            </a:solidFill>
            <a:prstDash val="solid"/>
          </a:ln>
        </p:spPr>
      </p:sp>
      <p:sp>
        <p:nvSpPr>
          <p:cNvPr id="6" name="Text"/>
          <p:cNvSpPr/>
          <p:nvPr/>
        </p:nvSpPr>
        <p:spPr>
          <a:xfrm>
            <a:off x="6309360" y="1051560"/>
            <a:ext cx="5074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FC1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automatique par IA en quelques secondes</a:t>
            </a:r>
            <a:endParaRPr lang="en-US" sz="1150" dirty="0"/>
          </a:p>
        </p:txBody>
      </p:sp>
      <p:sp>
        <p:nvSpPr>
          <p:cNvPr id="7" name="Shape"/>
          <p:cNvSpPr/>
          <p:nvPr/>
        </p:nvSpPr>
        <p:spPr>
          <a:xfrm>
            <a:off x="548640" y="1618488"/>
            <a:ext cx="5349240" cy="475488"/>
          </a:xfrm>
          <a:prstGeom prst="roundRect">
            <a:avLst>
              <a:gd name="adj" fmla="val 6154"/>
            </a:avLst>
          </a:prstGeom>
          <a:solidFill>
            <a:srgbClr val="17324D"/>
          </a:solidFill>
          <a:ln/>
        </p:spPr>
      </p:sp>
      <p:sp>
        <p:nvSpPr>
          <p:cNvPr id="8" name="Text"/>
          <p:cNvSpPr/>
          <p:nvPr/>
        </p:nvSpPr>
        <p:spPr>
          <a:xfrm>
            <a:off x="685800" y="1618488"/>
            <a:ext cx="5074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3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Résolution de premier niveau : 4 à 8 heures en moyenne</a:t>
            </a:r>
            <a:endParaRPr lang="en-US" sz="1150" dirty="0"/>
          </a:p>
        </p:txBody>
      </p:sp>
      <p:sp>
        <p:nvSpPr>
          <p:cNvPr id="9" name="Shape"/>
          <p:cNvSpPr/>
          <p:nvPr/>
        </p:nvSpPr>
        <p:spPr>
          <a:xfrm>
            <a:off x="6172200" y="1618488"/>
            <a:ext cx="5349240" cy="475488"/>
          </a:xfrm>
          <a:prstGeom prst="roundRect">
            <a:avLst>
              <a:gd name="adj" fmla="val 6154"/>
            </a:avLst>
          </a:prstGeom>
          <a:solidFill>
            <a:srgbClr val="0F3540"/>
          </a:solidFill>
          <a:ln w="6350">
            <a:solidFill>
              <a:srgbClr val="3FC1D0"/>
            </a:solidFill>
            <a:prstDash val="solid"/>
          </a:ln>
        </p:spPr>
      </p:sp>
      <p:sp>
        <p:nvSpPr>
          <p:cNvPr id="10" name="Text"/>
          <p:cNvSpPr/>
          <p:nvPr/>
        </p:nvSpPr>
        <p:spPr>
          <a:xfrm>
            <a:off x="6309360" y="1618488"/>
            <a:ext cx="5074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FC1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Résolution automatique en quelques minutes pour les cas éligibles</a:t>
            </a:r>
            <a:endParaRPr lang="en-US" sz="1150" dirty="0"/>
          </a:p>
        </p:txBody>
      </p:sp>
      <p:sp>
        <p:nvSpPr>
          <p:cNvPr id="11" name="Shape"/>
          <p:cNvSpPr/>
          <p:nvPr/>
        </p:nvSpPr>
        <p:spPr>
          <a:xfrm>
            <a:off x="548640" y="2185416"/>
            <a:ext cx="5349240" cy="475488"/>
          </a:xfrm>
          <a:prstGeom prst="roundRect">
            <a:avLst>
              <a:gd name="adj" fmla="val 6154"/>
            </a:avLst>
          </a:prstGeom>
          <a:solidFill>
            <a:srgbClr val="17324D"/>
          </a:solidFill>
          <a:ln/>
        </p:spPr>
      </p:sp>
      <p:sp>
        <p:nvSpPr>
          <p:cNvPr id="12" name="Text"/>
          <p:cNvSpPr/>
          <p:nvPr/>
        </p:nvSpPr>
        <p:spPr>
          <a:xfrm>
            <a:off x="685800" y="2185416"/>
            <a:ext cx="5074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3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 de contexte lors de la transmission à un technicien</a:t>
            </a:r>
            <a:endParaRPr lang="en-US" sz="1150" dirty="0"/>
          </a:p>
        </p:txBody>
      </p:sp>
      <p:sp>
        <p:nvSpPr>
          <p:cNvPr id="13" name="Shape"/>
          <p:cNvSpPr/>
          <p:nvPr/>
        </p:nvSpPr>
        <p:spPr>
          <a:xfrm>
            <a:off x="6172200" y="2185416"/>
            <a:ext cx="5349240" cy="475488"/>
          </a:xfrm>
          <a:prstGeom prst="roundRect">
            <a:avLst>
              <a:gd name="adj" fmla="val 6154"/>
            </a:avLst>
          </a:prstGeom>
          <a:solidFill>
            <a:srgbClr val="0F3540"/>
          </a:solidFill>
          <a:ln w="6350">
            <a:solidFill>
              <a:srgbClr val="3FC1D0"/>
            </a:solidFill>
            <a:prstDash val="solid"/>
          </a:ln>
        </p:spPr>
      </p:sp>
      <p:sp>
        <p:nvSpPr>
          <p:cNvPr id="14" name="Text"/>
          <p:cNvSpPr/>
          <p:nvPr/>
        </p:nvSpPr>
        <p:spPr>
          <a:xfrm>
            <a:off x="6309360" y="2185416"/>
            <a:ext cx="5074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FC1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de diagnostic complet transmis automatiquement</a:t>
            </a:r>
            <a:endParaRPr lang="en-US" sz="1150" dirty="0"/>
          </a:p>
        </p:txBody>
      </p:sp>
      <p:sp>
        <p:nvSpPr>
          <p:cNvPr id="15" name="Shape"/>
          <p:cNvSpPr/>
          <p:nvPr/>
        </p:nvSpPr>
        <p:spPr>
          <a:xfrm>
            <a:off x="548640" y="2752344"/>
            <a:ext cx="5349240" cy="475488"/>
          </a:xfrm>
          <a:prstGeom prst="roundRect">
            <a:avLst>
              <a:gd name="adj" fmla="val 6154"/>
            </a:avLst>
          </a:prstGeom>
          <a:solidFill>
            <a:srgbClr val="17324D"/>
          </a:solidFill>
          <a:ln/>
        </p:spPr>
      </p:sp>
      <p:sp>
        <p:nvSpPr>
          <p:cNvPr id="16" name="Text"/>
          <p:cNvSpPr/>
          <p:nvPr/>
        </p:nvSpPr>
        <p:spPr>
          <a:xfrm>
            <a:off x="685800" y="2752344"/>
            <a:ext cx="5074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3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Criticité évaluée sur ce que déclare l'utilisateur</a:t>
            </a:r>
            <a:endParaRPr lang="en-US" sz="1150" dirty="0"/>
          </a:p>
        </p:txBody>
      </p:sp>
      <p:sp>
        <p:nvSpPr>
          <p:cNvPr id="17" name="Shape"/>
          <p:cNvSpPr/>
          <p:nvPr/>
        </p:nvSpPr>
        <p:spPr>
          <a:xfrm>
            <a:off x="6172200" y="2752344"/>
            <a:ext cx="5349240" cy="475488"/>
          </a:xfrm>
          <a:prstGeom prst="roundRect">
            <a:avLst>
              <a:gd name="adj" fmla="val 6154"/>
            </a:avLst>
          </a:prstGeom>
          <a:solidFill>
            <a:srgbClr val="0F3540"/>
          </a:solidFill>
          <a:ln w="6350">
            <a:solidFill>
              <a:srgbClr val="3FC1D0"/>
            </a:solidFill>
            <a:prstDash val="solid"/>
          </a:ln>
        </p:spPr>
      </p:sp>
      <p:sp>
        <p:nvSpPr>
          <p:cNvPr id="18" name="Text"/>
          <p:cNvSpPr/>
          <p:nvPr/>
        </p:nvSpPr>
        <p:spPr>
          <a:xfrm>
            <a:off x="6309360" y="2752344"/>
            <a:ext cx="5074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FC1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Criticité évaluée objectivement par l'IA à partir des faits décrits</a:t>
            </a:r>
            <a:endParaRPr lang="en-US" sz="1150" dirty="0"/>
          </a:p>
        </p:txBody>
      </p:sp>
      <p:sp>
        <p:nvSpPr>
          <p:cNvPr id="19" name="Text"/>
          <p:cNvSpPr/>
          <p:nvPr/>
        </p:nvSpPr>
        <p:spPr>
          <a:xfrm>
            <a:off x="548640" y="3410712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59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réaliste : premier pilote sur 50 à 200 cas par mois, mesure du gain réel avant toute extension.</a:t>
            </a:r>
            <a:endParaRPr lang="en-US" sz="1050" dirty="0"/>
          </a:p>
        </p:txBody>
      </p:sp>
      <p:sp>
        <p:nvSpPr>
          <p:cNvPr id="20" name="Text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9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TransferAI Africa  •  Support IT Intelligent</a:t>
            </a:r>
            <a:endParaRPr lang="en-US" sz="900" dirty="0"/>
          </a:p>
        </p:txBody>
      </p:sp>
      <p:sp>
        <p:nvSpPr>
          <p:cNvPr id="21" name="Text"/>
          <p:cNvSpPr/>
          <p:nvPr/>
        </p:nvSpPr>
        <p:spPr>
          <a:xfrm>
            <a:off x="8503920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juillet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Benefices ROI CTA">
    <p:bg>
      <p:bgPr>
        <a:solidFill>
          <a:srgbClr val="0D17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/>
          <p:nvPr/>
        </p:nvSpPr>
        <p:spPr>
          <a:xfrm>
            <a:off x="548640" y="4114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Bénéfices &amp; retour sur investissement</a:t>
            </a:r>
            <a:endParaRPr lang="en-US" sz="2400" dirty="0"/>
          </a:p>
        </p:txBody>
      </p:sp>
      <p:sp>
        <p:nvSpPr>
          <p:cNvPr id="3" name="Text"/>
          <p:cNvSpPr/>
          <p:nvPr/>
        </p:nvSpPr>
        <p:spPr>
          <a:xfrm>
            <a:off x="548640" y="8686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3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même démarche que pour chaque cas d'usage TransferAI : comprendre le métier, construire, tester en conditions réelles.</a:t>
            </a:r>
            <a:endParaRPr lang="en-US" sz="1300" dirty="0"/>
          </a:p>
        </p:txBody>
      </p:sp>
      <p:sp>
        <p:nvSpPr>
          <p:cNvPr id="4" name="Shape"/>
          <p:cNvSpPr/>
          <p:nvPr/>
        </p:nvSpPr>
        <p:spPr>
          <a:xfrm>
            <a:off x="548640" y="1450000"/>
            <a:ext cx="3474720" cy="1550000"/>
          </a:xfrm>
          <a:prstGeom prst="roundRect">
            <a:avLst>
              <a:gd name="adj" fmla="val 6154"/>
            </a:avLst>
          </a:prstGeom>
          <a:solidFill>
            <a:srgbClr val="0F3540"/>
          </a:solidFill>
          <a:ln w="6350">
            <a:solidFill>
              <a:srgbClr val="3FC1D0"/>
            </a:solidFill>
            <a:prstDash val="solid"/>
          </a:ln>
        </p:spPr>
      </p:sp>
      <p:sp>
        <p:nvSpPr>
          <p:cNvPr id="5" name="Text"/>
          <p:cNvSpPr/>
          <p:nvPr/>
        </p:nvSpPr>
        <p:spPr>
          <a:xfrm>
            <a:off x="748640" y="1610000"/>
            <a:ext cx="3074720" cy="4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FC1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Rapidité</a:t>
            </a:r>
            <a:endParaRPr lang="en-US" sz="1600" dirty="0"/>
          </a:p>
        </p:txBody>
      </p:sp>
      <p:sp>
        <p:nvSpPr>
          <p:cNvPr id="6" name="Text"/>
          <p:cNvSpPr/>
          <p:nvPr/>
        </p:nvSpPr>
        <p:spPr>
          <a:xfrm>
            <a:off x="748640" y="2070000"/>
            <a:ext cx="3074720" cy="79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3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triage qui prenait 15 à 30 minutes par ticket est réalisé par l'IA en quelques secondes pour les cas éligibles.</a:t>
            </a:r>
            <a:endParaRPr lang="en-US" sz="1000" dirty="0"/>
          </a:p>
        </p:txBody>
      </p:sp>
      <p:sp>
        <p:nvSpPr>
          <p:cNvPr id="7" name="Shape"/>
          <p:cNvSpPr/>
          <p:nvPr/>
        </p:nvSpPr>
        <p:spPr>
          <a:xfrm>
            <a:off x="4251960" y="1450000"/>
            <a:ext cx="3474720" cy="1550000"/>
          </a:xfrm>
          <a:prstGeom prst="roundRect">
            <a:avLst>
              <a:gd name="adj" fmla="val 6154"/>
            </a:avLst>
          </a:prstGeom>
          <a:solidFill>
            <a:srgbClr val="0F3540"/>
          </a:solidFill>
          <a:ln w="6350">
            <a:solidFill>
              <a:srgbClr val="3FC1D0"/>
            </a:solidFill>
            <a:prstDash val="solid"/>
          </a:ln>
        </p:spPr>
      </p:sp>
      <p:sp>
        <p:nvSpPr>
          <p:cNvPr id="8" name="Text"/>
          <p:cNvSpPr/>
          <p:nvPr/>
        </p:nvSpPr>
        <p:spPr>
          <a:xfrm>
            <a:off x="4451960" y="1610000"/>
            <a:ext cx="3074720" cy="4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FC1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Fiabilité</a:t>
            </a:r>
            <a:endParaRPr lang="en-US" sz="1600" dirty="0"/>
          </a:p>
        </p:txBody>
      </p:sp>
      <p:sp>
        <p:nvSpPr>
          <p:cNvPr id="9" name="Text"/>
          <p:cNvSpPr/>
          <p:nvPr/>
        </p:nvSpPr>
        <p:spPr>
          <a:xfrm>
            <a:off x="4451960" y="2070000"/>
            <a:ext cx="3074720" cy="79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3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criticité et la catégorie sont évaluées objectivement à partir des faits décrits, pas de la perception de l'utilisateur.</a:t>
            </a:r>
            <a:endParaRPr lang="en-US" sz="1000" dirty="0"/>
          </a:p>
        </p:txBody>
      </p:sp>
      <p:sp>
        <p:nvSpPr>
          <p:cNvPr id="10" name="Shape"/>
          <p:cNvSpPr/>
          <p:nvPr/>
        </p:nvSpPr>
        <p:spPr>
          <a:xfrm>
            <a:off x="7955280" y="1450000"/>
            <a:ext cx="3474720" cy="1550000"/>
          </a:xfrm>
          <a:prstGeom prst="roundRect">
            <a:avLst>
              <a:gd name="adj" fmla="val 6154"/>
            </a:avLst>
          </a:prstGeom>
          <a:solidFill>
            <a:srgbClr val="0F3540"/>
          </a:solidFill>
          <a:ln w="6350">
            <a:solidFill>
              <a:srgbClr val="3FC1D0"/>
            </a:solidFill>
            <a:prstDash val="solid"/>
          </a:ln>
        </p:spPr>
      </p:sp>
      <p:sp>
        <p:nvSpPr>
          <p:cNvPr id="11" name="Text"/>
          <p:cNvSpPr/>
          <p:nvPr/>
        </p:nvSpPr>
        <p:spPr>
          <a:xfrm>
            <a:off x="8155280" y="1610000"/>
            <a:ext cx="3074720" cy="4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FC1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Traçabilité</a:t>
            </a:r>
            <a:endParaRPr lang="en-US" sz="1600" dirty="0"/>
          </a:p>
        </p:txBody>
      </p:sp>
      <p:sp>
        <p:nvSpPr>
          <p:cNvPr id="12" name="Text"/>
          <p:cNvSpPr/>
          <p:nvPr/>
        </p:nvSpPr>
        <p:spPr>
          <a:xfrm>
            <a:off x="8155280" y="2070000"/>
            <a:ext cx="3074720" cy="79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3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ticket reçoit un délai de résolution cible dès sa réception, avec suivi complet et brief transmis au technicien.</a:t>
            </a:r>
            <a:endParaRPr lang="en-US" sz="1000" dirty="0"/>
          </a:p>
        </p:txBody>
      </p:sp>
      <p:sp>
        <p:nvSpPr>
          <p:cNvPr id="13" name="Shape"/>
          <p:cNvSpPr/>
          <p:nvPr/>
        </p:nvSpPr>
        <p:spPr>
          <a:xfrm>
            <a:off x="548640" y="3260000"/>
            <a:ext cx="10881360" cy="700000"/>
          </a:xfrm>
          <a:prstGeom prst="roundRect">
            <a:avLst>
              <a:gd name="adj" fmla="val 8000"/>
            </a:avLst>
          </a:prstGeom>
          <a:solidFill>
            <a:srgbClr val="3FC1D0"/>
          </a:solidFill>
          <a:ln/>
        </p:spPr>
      </p:sp>
      <p:sp>
        <p:nvSpPr>
          <p:cNvPr id="14" name="Text"/>
          <p:cNvSpPr/>
          <p:nvPr/>
        </p:nvSpPr>
        <p:spPr>
          <a:xfrm>
            <a:off x="822960" y="3260000"/>
            <a:ext cx="10332720" cy="7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réaliste : un pilote sur 50 à 200 cas par mois, avec mesure du gain réel avant toute extension.</a:t>
            </a:r>
            <a:endParaRPr lang="en-US" sz="1250" dirty="0"/>
          </a:p>
        </p:txBody>
      </p:sp>
      <p:sp>
        <p:nvSpPr>
          <p:cNvPr id="15" name="Shape"/>
          <p:cNvSpPr/>
          <p:nvPr/>
        </p:nvSpPr>
        <p:spPr>
          <a:xfrm>
            <a:off x="548640" y="4200000"/>
            <a:ext cx="10881360" cy="1554480"/>
          </a:xfrm>
          <a:prstGeom prst="roundRect">
            <a:avLst>
              <a:gd name="adj" fmla="val 4706"/>
            </a:avLst>
          </a:prstGeom>
          <a:solidFill>
            <a:srgbClr val="3FC1D0"/>
          </a:solidFill>
          <a:ln/>
        </p:spPr>
      </p:sp>
      <p:sp>
        <p:nvSpPr>
          <p:cNvPr id="16" name="Text"/>
          <p:cNvSpPr/>
          <p:nvPr/>
        </p:nvSpPr>
        <p:spPr>
          <a:xfrm>
            <a:off x="822960" y="43371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D1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 interactive : www.transferai.ci/demo/support-it-intelligent</a:t>
            </a:r>
            <a:endParaRPr lang="en-US" sz="1500" dirty="0"/>
          </a:p>
        </p:txBody>
      </p:sp>
      <p:sp>
        <p:nvSpPr>
          <p:cNvPr id="17" name="Text"/>
          <p:cNvSpPr/>
          <p:nvPr/>
        </p:nvSpPr>
        <p:spPr>
          <a:xfrm>
            <a:off x="822960" y="484008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0A2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email réel est envoyé à chaque test — utiliser une adresse consultable pendant la démo.</a:t>
            </a:r>
            <a:endParaRPr lang="en-US" sz="1050" dirty="0"/>
          </a:p>
        </p:txBody>
      </p:sp>
      <p:sp>
        <p:nvSpPr>
          <p:cNvPr id="18" name="Text"/>
          <p:cNvSpPr/>
          <p:nvPr/>
        </p:nvSpPr>
        <p:spPr>
          <a:xfrm>
            <a:off x="822960" y="525156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D1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 étape : formation « L'IA au Bureau » — 29-30 juillet 2026, Riviera 3, Abidjan</a:t>
            </a:r>
            <a:endParaRPr lang="en-US" sz="1100" dirty="0"/>
          </a:p>
        </p:txBody>
      </p:sp>
      <p:sp>
        <p:nvSpPr>
          <p:cNvPr id="90" name="Shape"/>
          <p:cNvSpPr/>
          <p:nvPr/>
        </p:nvSpPr>
        <p:spPr>
          <a:xfrm>
            <a:off x="548640" y="5885000"/>
            <a:ext cx="10881360" cy="460000"/>
          </a:xfrm>
          <a:prstGeom prst="roundRect">
            <a:avLst>
              <a:gd name="adj" fmla="val 8000"/>
            </a:avLst>
          </a:prstGeom>
          <a:solidFill>
            <a:srgbClr val="17324D"/>
          </a:solidFill>
          <a:ln w="9525">
            <a:solidFill>
              <a:srgbClr val="E8A020"/>
            </a:solidFill>
            <a:prstDash val="solid"/>
          </a:ln>
        </p:spPr>
      </p:sp>
      <p:sp>
        <p:nvSpPr>
          <p:cNvPr id="91" name="Text"/>
          <p:cNvSpPr/>
          <p:nvPr/>
        </p:nvSpPr>
        <p:spPr>
          <a:xfrm>
            <a:off x="822960" y="5885000"/>
            <a:ext cx="10332720" cy="4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Limite actuelle : nom et description du ticket envoyés à l'IA sans anonymisation — ajout prévu avant tout déploiement en production (même principe que le RAG documentaire).</a:t>
            </a:r>
            <a:endParaRPr lang="en-US" sz="950" dirty="0"/>
          </a:p>
        </p:txBody>
      </p:sp>
      <p:sp>
        <p:nvSpPr>
          <p:cNvPr id="19" name="Text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9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contact@transferai.ci  •  www.transferai.ci</a:t>
            </a:r>
            <a:endParaRPr lang="en-US" sz="900" dirty="0"/>
          </a:p>
        </p:txBody>
      </p:sp>
      <p:sp>
        <p:nvSpPr>
          <p:cNvPr id="20" name="Text"/>
          <p:cNvSpPr/>
          <p:nvPr/>
        </p:nvSpPr>
        <p:spPr>
          <a:xfrm>
            <a:off x="8503920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juillet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2026-07-12T16:27:20Z</dcterms:created>
  <dcterms:modified xsi:type="dcterms:W3CDTF">2026-07-12T16:27:20Z</dcterms:modified>
</cp:coreProperties>
</file>