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d'ouverture du webinaire. Se presenter brievement, annoncer que l'on va voir un cas concret d'application du RAG dans le metier de la finance, avant une demonstration en direct.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Contextualiser le probleme avant de presenter la solution : insister sur la charge mentale et le temps perdu par l'equipe finance sur des questions repetitives et a faible valeur ajoutee.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rapide du fonctionnement general d'un RAG avant d'entrer dans le cas pratique finance. Ne pas s'attarder plus d'une minute, le public a deja vu ce schema en debut de webinaire.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documents sont deposes dans un dossier Google Drive dedie Finance, puis ingeres automatiquement toutes les 6 heures par le pipeline n8n presente plus tot dans le webinaire.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ce dialogue a voix haute pendant le webinaire pour illustrer concretement la valeur du RAG : la reponse cite sa source et reste ancree dans un document reel de l'entreprise.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que ce deroule en 5 etapes est reproductible par les participants eux-memes avec leurs propres documents metier, pas seulement en finance.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quatre benefices sont transposables a d'autres metiers presentes plus tot dans le webinaire (RH, juridique, support client) — le souligner pour elargir la portee du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Cloture du webinaire : inviter les participants a s'inscrire a la formation de deux jours pour approfondir la mise en pratique sur leurs propres cas metier.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2C427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6675120"/>
            <a:ext cx="2743200" cy="2743200"/>
          </a:xfrm>
          <a:prstGeom prst="ellipse">
            <a:avLst/>
          </a:prstGeom>
          <a:solidFill>
            <a:srgbClr val="2C427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WEBINAIRE GRATUIT — TRANSFERAI AFRICA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RAG applique a la Finance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un assistant documentaire intelligent transforme le quotidien d'un service Finance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852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 pratique — Formation « L'IA au Bureau »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Abidjan, Juillet / Aout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quotidien d'un service Finance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6675120" cy="2697480"/>
          </a:xfrm>
          <a:prstGeom prst="roundRect">
            <a:avLst>
              <a:gd name="adj" fmla="val 2712"/>
            </a:avLst>
          </a:prstGeom>
          <a:solidFill>
            <a:srgbClr val="E8EDF4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659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965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qui reviennent sans cesse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68680" y="2560320"/>
            <a:ext cx="6035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plafond de remboursement d'un deplacement 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 piece justificative pour une note de frais 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delai de validation d'un bon de commande 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Quelles regles d'amortissement selon les normes SYSCOHADA ?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498080" y="1737360"/>
            <a:ext cx="4114800" cy="2697480"/>
          </a:xfrm>
          <a:prstGeom prst="roundRect">
            <a:avLst>
              <a:gd name="adj" fmla="val 2712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818120" y="1965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818120" y="246888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L'equipe comptable et finance passe un temps considerable a repondre aux memes questions, au lieu de se consacrer a l'analyse et au pilotage financier.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Rappel : comment fonctionne un RAG 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— recherche documentaire + generation de reponse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2788920"/>
            <a:ext cx="822960" cy="822960"/>
          </a:xfrm>
          <a:prstGeom prst="ellipse">
            <a:avLst/>
          </a:prstGeom>
          <a:solidFill>
            <a:srgbClr val="2C427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4772" y="295351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840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Ingestion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42519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documents finance sont decoupes en petits passages de texte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172968" y="349758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050"/>
                </a:solidFill>
              </a:rPr>
              <a:t>&gt;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383280" y="246888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74820" y="2788920"/>
            <a:ext cx="822960" cy="822960"/>
          </a:xfrm>
          <a:prstGeom prst="ellipse">
            <a:avLst/>
          </a:prstGeom>
          <a:solidFill>
            <a:srgbClr val="2C427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412" y="2953512"/>
            <a:ext cx="493776" cy="4937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3840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Vectorisation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66160" y="42519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passage est transforme en empreinte numerique (embedding)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007608" y="349758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050"/>
                </a:solidFill>
              </a:rPr>
              <a:t>&gt;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217920" y="246888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09460" y="2788920"/>
            <a:ext cx="822960" cy="822960"/>
          </a:xfrm>
          <a:prstGeom prst="ellipse">
            <a:avLst/>
          </a:prstGeom>
          <a:solidFill>
            <a:srgbClr val="2C427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052" y="2953512"/>
            <a:ext cx="493776" cy="4937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3840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Recherche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400800" y="42519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posee est comparee a tous les passages stockes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842248" y="349758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050"/>
                </a:solidFill>
              </a:rPr>
              <a:t>&gt;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9052560" y="246888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944100" y="2788920"/>
            <a:ext cx="822960" cy="822960"/>
          </a:xfrm>
          <a:prstGeom prst="ellipse">
            <a:avLst/>
          </a:prstGeom>
          <a:solidFill>
            <a:srgbClr val="2C4270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8692" y="2953512"/>
            <a:ext cx="493776" cy="49377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89720" y="38404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Reponse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235440" y="42519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redige une reponse en s'appuyant sur les passages trouves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documents qui alimentent l'assistant Finance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E8EDF4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545336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67335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4904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 de procedures comptables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43600" y="1490472"/>
            <a:ext cx="5303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Regles internes de comptabilisation et de cloture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368296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496312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62432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24414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 de notes de frais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943600" y="2441448"/>
            <a:ext cx="5303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Baremes de remboursement et justificatifs requis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3319272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E8EDF4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7240" y="3447288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575304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45920" y="339242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comptable SYSCOHADA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5943600" y="3392424"/>
            <a:ext cx="5303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Normes comptables OHADA applicables a l'entreprise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48640" y="4270248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77240" y="4398264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526280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45920" y="4343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Seuils de delegation budgetaire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5943600" y="4343400"/>
            <a:ext cx="5303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 de validation des engagements de depense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548640" y="5221224"/>
            <a:ext cx="10881360" cy="841248"/>
          </a:xfrm>
          <a:prstGeom prst="roundRect">
            <a:avLst>
              <a:gd name="adj" fmla="val 6522"/>
            </a:avLst>
          </a:prstGeom>
          <a:solidFill>
            <a:srgbClr val="E8EDF4"/>
          </a:solidFill>
          <a:ln w="12700">
            <a:solidFill>
              <a:srgbClr val="D9E1E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77240" y="5349240"/>
            <a:ext cx="585216" cy="585216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5477256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45920" y="529437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Circulaires fiscales internes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5943600" y="5294376"/>
            <a:ext cx="53035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TVA, retenues a la source, obligations declaratives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Exemple concret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640080" cy="640080"/>
          </a:xfrm>
          <a:prstGeom prst="ellipse">
            <a:avLst/>
          </a:prstGeom>
          <a:solidFill>
            <a:srgbClr val="44546A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746504"/>
            <a:ext cx="347472" cy="3474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463040" y="1463040"/>
            <a:ext cx="8046720" cy="1234440"/>
          </a:xfrm>
          <a:prstGeom prst="roundRect">
            <a:avLst>
              <a:gd name="adj" fmla="val 8889"/>
            </a:avLst>
          </a:prstGeom>
          <a:solidFill>
            <a:srgbClr val="E8EDF4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691640" y="1572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691640" y="1847088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Je dois me rendre a Bouake pour un rendez-vous client, quel est le bareme de remboursement kilometrique et quels justificatifs dois-je fournir ? »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306324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3209544"/>
            <a:ext cx="347472" cy="34747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463040" y="2926080"/>
            <a:ext cx="9966960" cy="1965960"/>
          </a:xfrm>
          <a:prstGeom prst="roundRect">
            <a:avLst>
              <a:gd name="adj" fmla="val 5581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1691640" y="3063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RAG TransferAI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691640" y="3364992"/>
            <a:ext cx="9418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D'apres la politique de notes de frais en vigueur, le bareme kilometrique applicable pour un deplacement professionnel est celui du bareme interne classe « vehicule personnel ». Les justificatifs a fournir sont : la convocation ou l'objet du rendez-vous, le releve kilometrique signe, et le formulaire de note de frais complete avant la fin du mois. Source : Politique de notes de frais, section 3.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48640" y="52578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reponse sourcee, extraite des vraies procedures internes — pas une reponse generique trouvee sur Internet.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Deroule de la demonstration en direct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2286000"/>
            <a:ext cx="2011680" cy="3108960"/>
          </a:xfrm>
          <a:prstGeom prst="roundRect">
            <a:avLst>
              <a:gd name="adj" fmla="val 3636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2423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188720" y="2971800"/>
            <a:ext cx="731520" cy="73152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5024" y="311810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886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13232" y="4297680"/>
            <a:ext cx="168249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extrait de politique de notes de frais est depose dans le dossier Drive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724912" y="2286000"/>
            <a:ext cx="2011680" cy="3108960"/>
          </a:xfrm>
          <a:prstGeom prst="roundRect">
            <a:avLst>
              <a:gd name="adj" fmla="val 3636"/>
            </a:avLst>
          </a:prstGeom>
          <a:solidFill>
            <a:srgbClr val="2C4270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862072" y="2423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364992" y="2971800"/>
            <a:ext cx="731520" cy="73152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296" y="311810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62072" y="3886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Ingerer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2889504" y="4297680"/>
            <a:ext cx="168249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traite le document (declenchement manuel pour la demo)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901184" y="2286000"/>
            <a:ext cx="2011680" cy="3108960"/>
          </a:xfrm>
          <a:prstGeom prst="roundRect">
            <a:avLst>
              <a:gd name="adj" fmla="val 3636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038344" y="2423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5541264" y="2971800"/>
            <a:ext cx="731520" cy="73152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568" y="311810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38344" y="3886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Interroger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065776" y="4297680"/>
            <a:ext cx="168249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public propose une question realiste au systeme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077456" y="2286000"/>
            <a:ext cx="2011680" cy="3108960"/>
          </a:xfrm>
          <a:prstGeom prst="roundRect">
            <a:avLst>
              <a:gd name="adj" fmla="val 3636"/>
            </a:avLst>
          </a:prstGeom>
          <a:solidFill>
            <a:srgbClr val="2C4270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7214616" y="2423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7717536" y="2971800"/>
            <a:ext cx="731520" cy="73152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3118104"/>
            <a:ext cx="438912" cy="4389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14616" y="3886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242048" y="4297680"/>
            <a:ext cx="168249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compare la reponse a une recherche manuelle dans le document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9253728" y="2286000"/>
            <a:ext cx="2011680" cy="3108960"/>
          </a:xfrm>
          <a:prstGeom prst="roundRect">
            <a:avLst>
              <a:gd name="adj" fmla="val 3636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9390888" y="2423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0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Shape 23"/>
          <p:cNvSpPr/>
          <p:nvPr/>
        </p:nvSpPr>
        <p:spPr>
          <a:xfrm>
            <a:off x="9893808" y="2971800"/>
            <a:ext cx="731520" cy="73152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0112" y="3118104"/>
            <a:ext cx="438912" cy="43891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390888" y="3886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Conclure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9418320" y="4297680"/>
            <a:ext cx="168249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collective sur la fiabilite et les limites observees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Benefices cles pour un service Finance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E8EDF4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9164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516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70992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468880"/>
            <a:ext cx="4617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reponses s'appuient sur les normes SYSCOHADA/OHADA reellement en vigueur dans l'entreprise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72200" y="141732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E8EDF4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46520" y="169164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540" y="18516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0" y="170992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de temps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92240" y="2468880"/>
            <a:ext cx="4617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d'interruptions pour des questions recurrentes, plus de temps pour l'analyse a valeur ajoutee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84048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E8EDF4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22960" y="411480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42748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413308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Tracabilite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68680" y="4892040"/>
            <a:ext cx="4617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reponse est reliee a sa source, ce qui facilite les controles internes et externes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172200" y="3840480"/>
            <a:ext cx="5257800" cy="2148840"/>
          </a:xfrm>
          <a:prstGeom prst="roundRect">
            <a:avLst>
              <a:gd name="adj" fmla="val 3404"/>
            </a:avLst>
          </a:prstGeom>
          <a:solidFill>
            <a:srgbClr val="E8EDF4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46520" y="411480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427482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15200" y="413308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accelere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6492240" y="4892040"/>
            <a:ext cx="46177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nouveau collaborateur interroge directement la documentation interne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2C4270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114800"/>
            <a:ext cx="4114800" cy="4114800"/>
          </a:xfrm>
          <a:prstGeom prst="ellipse">
            <a:avLst/>
          </a:prstGeom>
          <a:solidFill>
            <a:srgbClr val="2C427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Passez a la pratique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cas d'usage Finance n'est qu'un exemple parmi d'autres. Construisez votre propre assistant IA a partir de vos documents metier.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108960"/>
            <a:ext cx="9601200" cy="2468880"/>
          </a:xfrm>
          <a:prstGeom prst="roundRect">
            <a:avLst>
              <a:gd name="adj" fmla="val 3704"/>
            </a:avLst>
          </a:prstGeom>
          <a:solidFill>
            <a:srgbClr val="2C427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352044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57400" y="3474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« L'IA au Bureau »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057400" y="3931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jours intensifs — Abidjan, Juillet / Aout 2026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057400" y="4434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TransferAI Africa — Hub IA de NettelecomCI  |  www.transferai.ci  |  contact@transferai.ci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RAG applique a la Finance</dc:title>
  <dc:subject>PptxGenJS Presentation</dc:subject>
  <dc:creator>TransferAI Africa</dc:creator>
  <cp:lastModifiedBy>TransferAI Africa</cp:lastModifiedBy>
  <cp:revision>1</cp:revision>
  <dcterms:created xsi:type="dcterms:W3CDTF">2026-07-05T06:23:54Z</dcterms:created>
  <dcterms:modified xsi:type="dcterms:W3CDTF">2026-07-05T06:23:54Z</dcterms:modified>
</cp:coreProperties>
</file>