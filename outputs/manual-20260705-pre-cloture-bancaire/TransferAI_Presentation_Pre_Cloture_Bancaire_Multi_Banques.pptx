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cf9ce5d5bc4bea" /><Relationship Type="http://schemas.openxmlformats.org/officeDocument/2006/relationships/extended-properties" Target="/docProps/app.xml" Id="R9eeca3510445425b" /><Relationship Type="http://schemas.openxmlformats.org/officeDocument/2006/relationships/officeDocument" Target="/ppt/presentation.xml" Id="R2df86a75f32641a7" /></Relationships>
</file>

<file path=ppt/presentation.xml><?xml version="1.0" encoding="utf-8"?>
<p:presentation xmlns:p="http://schemas.openxmlformats.org/presentationml/2006/main">
  <p:sldMasterIdLst>
    <p:sldMasterId xmlns:r="http://schemas.openxmlformats.org/officeDocument/2006/relationships" id="2147483648" r:id="R827a4bf2ecc24665"/>
  </p:sldMasterIdLst>
  <p:notesMasterIdLst>
    <p:notesMasterId xmlns:r="http://schemas.openxmlformats.org/officeDocument/2006/relationships" r:id="R2f7a9a0f4a344ad6"/>
  </p:notesMasterIdLst>
  <p:sldIdLst>
    <p:sldId xmlns:r="http://schemas.openxmlformats.org/officeDocument/2006/relationships" id="256" r:id="R6e48d5ce4a1f415a"/>
    <p:sldId xmlns:r="http://schemas.openxmlformats.org/officeDocument/2006/relationships" id="257" r:id="R89f7a2028df3413a"/>
    <p:sldId xmlns:r="http://schemas.openxmlformats.org/officeDocument/2006/relationships" id="258" r:id="R16a59178033c4a3c"/>
    <p:sldId xmlns:r="http://schemas.openxmlformats.org/officeDocument/2006/relationships" id="259" r:id="R43266eb54b2941cd"/>
    <p:sldId xmlns:r="http://schemas.openxmlformats.org/officeDocument/2006/relationships" id="260" r:id="R83241155ae2e4293"/>
    <p:sldId xmlns:r="http://schemas.openxmlformats.org/officeDocument/2006/relationships" id="261" r:id="R20286b06b30d453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9bc5e124cb4961" /><Relationship Type="http://schemas.openxmlformats.org/officeDocument/2006/relationships/slideMaster" Target="/ppt/slideMasters/slideMaster1.xml" Id="R827a4bf2ecc24665" /><Relationship Type="http://schemas.openxmlformats.org/officeDocument/2006/relationships/notesMaster" Target="/ppt/notesMasters/notesMaster1.xml" Id="R2f7a9a0f4a344ad6" /><Relationship Type="http://schemas.openxmlformats.org/officeDocument/2006/relationships/presProps" Target="/ppt/presProps.xml" Id="Rb6ec2362979d4b3f" /><Relationship Type="http://schemas.openxmlformats.org/officeDocument/2006/relationships/tableStyles" Target="/ppt/tableStyles.xml" Id="Rf1de289934144b98" /><Relationship Type="http://schemas.openxmlformats.org/officeDocument/2006/relationships/slide" Target="/ppt/slides/slide1.xml" Id="R6e48d5ce4a1f415a" /><Relationship Type="http://schemas.openxmlformats.org/officeDocument/2006/relationships/slide" Target="/ppt/slides/slide2.xml" Id="R89f7a2028df3413a" /><Relationship Type="http://schemas.openxmlformats.org/officeDocument/2006/relationships/slide" Target="/ppt/slides/slide3.xml" Id="R16a59178033c4a3c" /><Relationship Type="http://schemas.openxmlformats.org/officeDocument/2006/relationships/slide" Target="/ppt/slides/slide4.xml" Id="R43266eb54b2941cd" /><Relationship Type="http://schemas.openxmlformats.org/officeDocument/2006/relationships/slide" Target="/ppt/slides/slide5.xml" Id="R83241155ae2e4293" /><Relationship Type="http://schemas.openxmlformats.org/officeDocument/2006/relationships/slide" Target="/ppt/slides/slide6.xml" Id="R20286b06b30d45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0b91628f9940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9357b9e9c24dcb" /><Relationship Type="http://schemas.openxmlformats.org/officeDocument/2006/relationships/notesMaster" Target="/ppt/notesMasters/notesMaster1.xml" Id="R2d6cd5a4aaad4b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e4f56213bb4e9e" /><Relationship Type="http://schemas.openxmlformats.org/officeDocument/2006/relationships/notesMaster" Target="/ppt/notesMasters/notesMaster1.xml" Id="R26013a89e17c44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cc4f784ee349ed" /><Relationship Type="http://schemas.openxmlformats.org/officeDocument/2006/relationships/notesMaster" Target="/ppt/notesMasters/notesMaster1.xml" Id="R35a39891278c4b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ca70320e4d4b06" /><Relationship Type="http://schemas.openxmlformats.org/officeDocument/2006/relationships/notesMaster" Target="/ppt/notesMasters/notesMaster1.xml" Id="R6569e27556ad46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83d9542b7c4342" /><Relationship Type="http://schemas.openxmlformats.org/officeDocument/2006/relationships/notesMaster" Target="/ppt/notesMasters/notesMaster1.xml" Id="Rff526b2c6f3b4f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ff8a5b49204924" /><Relationship Type="http://schemas.openxmlformats.org/officeDocument/2006/relationships/notesMaster" Target="/ppt/notesMasters/notesMaster1.xml" Id="Rf10b2852d7394e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7b519239a048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18e1d144934e01" /><Relationship Type="http://schemas.openxmlformats.org/officeDocument/2006/relationships/slideLayout" Target="/ppt/slideLayouts/slideLayout1.xml" Id="R1af4360bc1134b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f4360bc1134b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dcb767054b4076" /><Relationship Type="http://schemas.openxmlformats.org/officeDocument/2006/relationships/image" Target="/ppt/media/image.png" Id="R67ab9e890c6a413f" /><Relationship Type="http://schemas.openxmlformats.org/officeDocument/2006/relationships/notesSlide" Target="/ppt/notesSlides/notesSlide1.xml" Id="R86d669c0802f44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89418231224259" /><Relationship Type="http://schemas.openxmlformats.org/officeDocument/2006/relationships/image" Target="/ppt/media/image2.png" Id="Rfb7c55995f164f42" /><Relationship Type="http://schemas.openxmlformats.org/officeDocument/2006/relationships/notesSlide" Target="/ppt/notesSlides/notesSlide2.xml" Id="Rdca5bafd92ca41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3880dd91d14219" /><Relationship Type="http://schemas.openxmlformats.org/officeDocument/2006/relationships/image" Target="/ppt/media/image2.png" Id="R2873c2e9e51446ed" /><Relationship Type="http://schemas.openxmlformats.org/officeDocument/2006/relationships/notesSlide" Target="/ppt/notesSlides/notesSlide3.xml" Id="R7aef922d8cd149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757e9085e94131" /><Relationship Type="http://schemas.openxmlformats.org/officeDocument/2006/relationships/image" Target="/ppt/media/image3.png" Id="Rfa76ab2850f04787" /><Relationship Type="http://schemas.openxmlformats.org/officeDocument/2006/relationships/notesSlide" Target="/ppt/notesSlides/notesSlide4.xml" Id="Rf6145c9b80b142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3df420d95f4639" /><Relationship Type="http://schemas.openxmlformats.org/officeDocument/2006/relationships/image" Target="/ppt/media/image4.png" Id="R84f5ed2047144820" /><Relationship Type="http://schemas.openxmlformats.org/officeDocument/2006/relationships/notesSlide" Target="/ppt/notesSlides/notesSlide5.xml" Id="R045be574af994c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6af522abc041e7" /><Relationship Type="http://schemas.openxmlformats.org/officeDocument/2006/relationships/image" Target="/ppt/media/image5.png" Id="R770ca22b10864d10" /><Relationship Type="http://schemas.openxmlformats.org/officeDocument/2006/relationships/notesSlide" Target="/ppt/notesSlides/notesSlide6.xml" Id="Rc45a2b6cca5144e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Webinaire Banques">
            <a:extLst xmlns:a="http://schemas.openxmlformats.org/drawingml/2006/main">
              <a:ext uri="{FF2B5EF4-FFF2-40B4-BE49-F238E27FC236}">
                <a16:creationId xmlns:a16="http://schemas.microsoft.com/office/drawing/2014/main" id="{6001A1DD-A05E-43DC-82C5-DAAAD0A7D86E}"/>
              </a:ext>
            </a:extLst>
          </p:cNvPr>
          <p:cNvSpPr>
            <a:spLocks xmlns:a="http://schemas.openxmlformats.org/drawingml/2006/main" noGrp="1"/>
          </p:cNvSpPr>
          <p:nvPr/>
        </p:nvSpPr>
        <p:spPr>
          <a:xfrm xmlns:a="http://schemas.openxmlformats.org/drawingml/2006/main">
            <a:off x="400050" y="762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a:solidFill>
                  <a:srgbClr val="555555"/>
                </a:solidFill>
                <a:latin typeface="Helvetica Neue"/>
                <a:ea typeface="Helvetica Neue"/>
                <a:cs typeface="Helvetica Neue"/>
              </a:defRPr>
            </a:pPr>
            <a:r>
              <a:rPr sz="900" b="1">
                <a:solidFill>
                  <a:srgbClr val="555555"/>
                </a:solidFill>
                <a:latin typeface="Helvetica Neue"/>
                <a:ea typeface="Helvetica Neue"/>
                <a:cs typeface="Helvetica Neue"/>
              </a:rPr>
              <a:t>Webinaire Banques</a:t>
            </a:r>
          </a:p>
        </p:txBody>
      </p:sp>
      <p:sp>
        <p:nvSpPr>
          <p:cNvPr id="2" name="cover-visual-field">
            <a:extLst xmlns:a="http://schemas.openxmlformats.org/drawingml/2006/main">
              <a:ext uri="{FF2B5EF4-FFF2-40B4-BE49-F238E27FC236}">
                <a16:creationId xmlns:a16="http://schemas.microsoft.com/office/drawing/2014/main" id="{F5A635E0-0210-452F-9A99-91F55D3A3D4C}"/>
              </a:ext>
            </a:extLst>
          </p:cNvPr>
          <p:cNvSpPr>
            <a:spLocks xmlns:a="http://schemas.openxmlformats.org/drawingml/2006/main" noGrp="1"/>
          </p:cNvSpPr>
          <p:nvPr/>
        </p:nvSpPr>
        <p:spPr>
          <a:xfrm xmlns:a="http://schemas.openxmlformats.org/drawingml/2006/main">
            <a:off x="8362950" y="0"/>
            <a:ext cx="3162300" cy="6858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7ab9e890c6a413f"/>
          <a:stretch xmlns:a="http://schemas.openxmlformats.org/drawingml/2006/main"/>
        </p:blipFill>
        <p:spPr>
          <a:xfrm xmlns:a="http://schemas.openxmlformats.org/drawingml/2006/main">
            <a:off x="9344803" y="209550"/>
            <a:ext cx="1046195" cy="495300"/>
          </a:xfrm>
          <a:prstGeom xmlns:a="http://schemas.openxmlformats.org/drawingml/2006/main" prst="rect">
            <a:avLst/>
          </a:prstGeom>
        </p:spPr>
      </p:pic>
      <p:sp>
        <p:nvSpPr>
          <p:cNvPr id="4" name="cover-marker-1">
            <a:extLst xmlns:a="http://schemas.openxmlformats.org/drawingml/2006/main">
              <a:ext uri="{FF2B5EF4-FFF2-40B4-BE49-F238E27FC236}">
                <a16:creationId xmlns:a16="http://schemas.microsoft.com/office/drawing/2014/main" id="{F96D7CA7-3230-45A6-94DE-5575CA3DD273}"/>
              </a:ext>
            </a:extLst>
          </p:cNvPr>
          <p:cNvSpPr>
            <a:spLocks xmlns:a="http://schemas.openxmlformats.org/drawingml/2006/main" noGrp="1"/>
          </p:cNvSpPr>
          <p:nvPr/>
        </p:nvSpPr>
        <p:spPr>
          <a:xfrm xmlns:a="http://schemas.openxmlformats.org/drawingml/2006/main">
            <a:off x="8782050" y="4533900"/>
            <a:ext cx="228600" cy="2286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5" name="cover-marker-2">
            <a:extLst xmlns:a="http://schemas.openxmlformats.org/drawingml/2006/main">
              <a:ext uri="{FF2B5EF4-FFF2-40B4-BE49-F238E27FC236}">
                <a16:creationId xmlns:a16="http://schemas.microsoft.com/office/drawing/2014/main" id="{E1321309-F113-4B34-8B28-7F5D37EF9433}"/>
              </a:ext>
            </a:extLst>
          </p:cNvPr>
          <p:cNvSpPr>
            <a:spLocks xmlns:a="http://schemas.openxmlformats.org/drawingml/2006/main" noGrp="1"/>
          </p:cNvSpPr>
          <p:nvPr/>
        </p:nvSpPr>
        <p:spPr>
          <a:xfrm xmlns:a="http://schemas.openxmlformats.org/drawingml/2006/main">
            <a:off x="8782050" y="5562600"/>
            <a:ext cx="228600" cy="2286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6" name="cover-title">
            <a:extLst xmlns:a="http://schemas.openxmlformats.org/drawingml/2006/main">
              <a:ext uri="{FF2B5EF4-FFF2-40B4-BE49-F238E27FC236}">
                <a16:creationId xmlns:a16="http://schemas.microsoft.com/office/drawing/2014/main" id="{3B679DB9-6229-4583-AE2A-9C9B839804C9}"/>
              </a:ext>
            </a:extLst>
          </p:cNvPr>
          <p:cNvSpPr>
            <a:spLocks xmlns:a="http://schemas.openxmlformats.org/drawingml/2006/main" noGrp="1"/>
          </p:cNvSpPr>
          <p:nvPr/>
        </p:nvSpPr>
        <p:spPr>
          <a:xfrm xmlns:a="http://schemas.openxmlformats.org/drawingml/2006/main">
            <a:off x="400050" y="666750"/>
            <a:ext cx="7334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4275" b="0">
                <a:solidFill>
                  <a:srgbClr val="000000"/>
                </a:solidFill>
                <a:latin typeface="Helvetica Neue"/>
                <a:ea typeface="Helvetica Neue"/>
                <a:cs typeface="Helvetica Neue"/>
              </a:defRPr>
            </a:pPr>
            <a:r>
              <a:rPr sz="4275" b="0">
                <a:solidFill>
                  <a:srgbClr val="000000"/>
                </a:solidFill>
                <a:latin typeface="Helvetica Neue"/>
                <a:ea typeface="Helvetica Neue"/>
                <a:cs typeface="Helvetica Neue"/>
              </a:rPr>
              <a:t>Assistant IA de pré-clôture bancaire et commentaire automatique des écarts</a:t>
            </a:r>
          </a:p>
        </p:txBody>
      </p:sp>
      <p:sp>
        <p:nvSpPr>
          <p:cNvPr id="7" name="cover-subtitle">
            <a:extLst xmlns:a="http://schemas.openxmlformats.org/drawingml/2006/main">
              <a:ext uri="{FF2B5EF4-FFF2-40B4-BE49-F238E27FC236}">
                <a16:creationId xmlns:a16="http://schemas.microsoft.com/office/drawing/2014/main" id="{AB7599D9-C1D0-4581-841B-5181D54A8D2C}"/>
              </a:ext>
            </a:extLst>
          </p:cNvPr>
          <p:cNvSpPr>
            <a:spLocks xmlns:a="http://schemas.openxmlformats.org/drawingml/2006/main" noGrp="1"/>
          </p:cNvSpPr>
          <p:nvPr/>
        </p:nvSpPr>
        <p:spPr>
          <a:xfrm xmlns:a="http://schemas.openxmlformats.org/drawingml/2006/main">
            <a:off x="400050" y="3162300"/>
            <a:ext cx="666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a:solidFill>
                  <a:srgbClr val="222222"/>
                </a:solidFill>
                <a:latin typeface="Helvetica Neue"/>
                <a:ea typeface="Helvetica Neue"/>
                <a:cs typeface="Helvetica Neue"/>
              </a:defRPr>
            </a:pPr>
            <a:r>
              <a:rPr sz="1800" b="0">
                <a:solidFill>
                  <a:srgbClr val="222222"/>
                </a:solidFill>
                <a:latin typeface="Helvetica Neue"/>
                <a:ea typeface="Helvetica Neue"/>
                <a:cs typeface="Helvetica Neue"/>
              </a:rPr>
              <a:t>Réduire le temps de pré-clôture, détecter plus tôt les anomalies et fiabiliser la préparation des comités, sans affaiblir le contrôle humain.</a:t>
            </a:r>
          </a:p>
        </p:txBody>
      </p:sp>
      <p:sp>
        <p:nvSpPr>
          <p:cNvPr id="8" name="cover-point-1">
            <a:extLst xmlns:a="http://schemas.openxmlformats.org/drawingml/2006/main">
              <a:ext uri="{FF2B5EF4-FFF2-40B4-BE49-F238E27FC236}">
                <a16:creationId xmlns:a16="http://schemas.microsoft.com/office/drawing/2014/main" id="{EA86238E-017A-472E-98DC-885ED09A8325}"/>
              </a:ext>
            </a:extLst>
          </p:cNvPr>
          <p:cNvSpPr>
            <a:spLocks xmlns:a="http://schemas.openxmlformats.org/drawingml/2006/main" noGrp="1"/>
          </p:cNvSpPr>
          <p:nvPr/>
        </p:nvSpPr>
        <p:spPr>
          <a:xfrm xmlns:a="http://schemas.openxmlformats.org/drawingml/2006/main">
            <a:off x="9086850" y="4886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Détection plus précoce des écarts</a:t>
            </a:r>
          </a:p>
        </p:txBody>
      </p:sp>
      <p:sp>
        <p:nvSpPr>
          <p:cNvPr id="9" name="cover-point-2">
            <a:extLst xmlns:a="http://schemas.openxmlformats.org/drawingml/2006/main">
              <a:ext uri="{FF2B5EF4-FFF2-40B4-BE49-F238E27FC236}">
                <a16:creationId xmlns:a16="http://schemas.microsoft.com/office/drawing/2014/main" id="{DCDA296C-EF11-4451-8F05-C2B3DB81DB82}"/>
              </a:ext>
            </a:extLst>
          </p:cNvPr>
          <p:cNvSpPr>
            <a:spLocks xmlns:a="http://schemas.openxmlformats.org/drawingml/2006/main" noGrp="1"/>
          </p:cNvSpPr>
          <p:nvPr/>
        </p:nvSpPr>
        <p:spPr>
          <a:xfrm xmlns:a="http://schemas.openxmlformats.org/drawingml/2006/main">
            <a:off x="9086850" y="548640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Contrôle humain maintenu</a:t>
            </a:r>
          </a:p>
        </p:txBody>
      </p:sp>
      <p:sp>
        <p:nvSpPr>
          <p:cNvPr id="10" name="footer-01">
            <a:extLst xmlns:a="http://schemas.openxmlformats.org/drawingml/2006/main">
              <a:ext uri="{FF2B5EF4-FFF2-40B4-BE49-F238E27FC236}">
                <a16:creationId xmlns:a16="http://schemas.microsoft.com/office/drawing/2014/main" id="{BB70F97C-E3CC-43A3-8171-53B96539F966}"/>
              </a:ext>
            </a:extLst>
          </p:cNvPr>
          <p:cNvSpPr>
            <a:spLocks xmlns:a="http://schemas.openxmlformats.org/drawingml/2006/main" noGrp="1"/>
          </p:cNvSpPr>
          <p:nvPr/>
        </p:nvSpPr>
        <p:spPr>
          <a:xfrm xmlns:a="http://schemas.openxmlformats.org/drawingml/2006/main">
            <a:off x="11220450" y="62769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0">
                <a:solidFill>
                  <a:srgbClr val="555555"/>
                </a:solidFill>
                <a:latin typeface="Helvetica Neue"/>
                <a:ea typeface="Helvetica Neue"/>
                <a:cs typeface="Helvetica Neue"/>
              </a:defRPr>
            </a:pPr>
            <a:r>
              <a:rPr sz="1050" b="0">
                <a:solidFill>
                  <a:srgbClr val="555555"/>
                </a:solidFill>
                <a:latin typeface="Helvetica Neue"/>
                <a:ea typeface="Helvetica Neue"/>
                <a:cs typeface="Helvetica Neue"/>
              </a:rPr>
              <a:t>01</a:t>
            </a:r>
          </a:p>
        </p:txBody>
      </p:sp>
    </p:spTree>
    <p:extLst>
      <p:ext uri="{BB962C8B-B14F-4D97-AF65-F5344CB8AC3E}">
        <p14:creationId xmlns:p14="http://schemas.microsoft.com/office/powerpoint/2010/main" val="10554889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Cas d’usage">
            <a:extLst xmlns:a="http://schemas.openxmlformats.org/drawingml/2006/main">
              <a:ext uri="{FF2B5EF4-FFF2-40B4-BE49-F238E27FC236}">
                <a16:creationId xmlns:a16="http://schemas.microsoft.com/office/drawing/2014/main" id="{89A18AFE-898D-46F3-B33B-F3A80E2FB3C1}"/>
              </a:ext>
            </a:extLst>
          </p:cNvPr>
          <p:cNvSpPr>
            <a:spLocks xmlns:a="http://schemas.openxmlformats.org/drawingml/2006/main" noGrp="1"/>
          </p:cNvSpPr>
          <p:nvPr/>
        </p:nvSpPr>
        <p:spPr>
          <a:xfrm xmlns:a="http://schemas.openxmlformats.org/drawingml/2006/main">
            <a:off x="400050" y="762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a:solidFill>
                  <a:srgbClr val="555555"/>
                </a:solidFill>
                <a:latin typeface="Helvetica Neue"/>
                <a:ea typeface="Helvetica Neue"/>
                <a:cs typeface="Helvetica Neue"/>
              </a:defRPr>
            </a:pPr>
            <a:r>
              <a:rPr sz="900" b="1">
                <a:solidFill>
                  <a:srgbClr val="555555"/>
                </a:solidFill>
                <a:latin typeface="Helvetica Neue"/>
                <a:ea typeface="Helvetica Neue"/>
                <a:cs typeface="Helvetica Neue"/>
              </a:rPr>
              <a:t>Cas d’usage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b7c55995f164f42"/>
          <a:stretch xmlns:a="http://schemas.openxmlformats.org/drawingml/2006/main"/>
        </p:blipFill>
        <p:spPr>
          <a:xfrm xmlns:a="http://schemas.openxmlformats.org/drawingml/2006/main">
            <a:off x="10049653" y="152400"/>
            <a:ext cx="1046195" cy="495300"/>
          </a:xfrm>
          <a:prstGeom xmlns:a="http://schemas.openxmlformats.org/drawingml/2006/main" prst="rect">
            <a:avLst/>
          </a:prstGeom>
        </p:spPr>
      </p:pic>
      <p:sp>
        <p:nvSpPr>
          <p:cNvPr id="3" name="usecase-title">
            <a:extLst xmlns:a="http://schemas.openxmlformats.org/drawingml/2006/main">
              <a:ext uri="{FF2B5EF4-FFF2-40B4-BE49-F238E27FC236}">
                <a16:creationId xmlns:a16="http://schemas.microsoft.com/office/drawing/2014/main" id="{00AA59E2-715E-4DA9-B33F-22B9A8B6DC4D}"/>
              </a:ext>
            </a:extLst>
          </p:cNvPr>
          <p:cNvSpPr>
            <a:spLocks xmlns:a="http://schemas.openxmlformats.org/drawingml/2006/main" noGrp="1"/>
          </p:cNvSpPr>
          <p:nvPr/>
        </p:nvSpPr>
        <p:spPr>
          <a:xfrm xmlns:a="http://schemas.openxmlformats.org/drawingml/2006/main">
            <a:off x="400050" y="342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009"/>
          </a:bodyPr>
          <a:lstStyle xmlns:a="http://schemas.openxmlformats.org/drawingml/2006/main"/>
          <a:p xmlns:a="http://schemas.openxmlformats.org/drawingml/2006/main">
            <a:pPr algn="l">
              <a:lnSpc>
                <a:spcPct val="100000"/>
              </a:lnSpc>
              <a:buNone/>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La pré-clôture gagne surtout quand l’analyse et le commentaire avancent ensemble</a:t>
            </a:r>
          </a:p>
        </p:txBody>
      </p:sp>
      <p:sp>
        <p:nvSpPr>
          <p:cNvPr id="4" name="usecase-intro">
            <a:extLst xmlns:a="http://schemas.openxmlformats.org/drawingml/2006/main">
              <a:ext uri="{FF2B5EF4-FFF2-40B4-BE49-F238E27FC236}">
                <a16:creationId xmlns:a16="http://schemas.microsoft.com/office/drawing/2014/main" id="{68183CD0-2E2C-4FBE-A02C-00D990E7B4DA}"/>
              </a:ext>
            </a:extLst>
          </p:cNvPr>
          <p:cNvSpPr>
            <a:spLocks xmlns:a="http://schemas.openxmlformats.org/drawingml/2006/main" noGrp="1"/>
          </p:cNvSpPr>
          <p:nvPr/>
        </p:nvSpPr>
        <p:spPr>
          <a:xfrm xmlns:a="http://schemas.openxmlformats.org/drawingml/2006/main">
            <a:off x="400050" y="1200150"/>
            <a:ext cx="1104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222222"/>
                </a:solidFill>
                <a:latin typeface="Helvetica Neue"/>
                <a:ea typeface="Helvetica Neue"/>
                <a:cs typeface="Helvetica Neue"/>
              </a:defRPr>
            </a:pPr>
            <a:r>
              <a:rPr sz="1500" b="0">
                <a:solidFill>
                  <a:srgbClr val="222222"/>
                </a:solidFill>
                <a:latin typeface="Helvetica Neue"/>
                <a:ea typeface="Helvetica Neue"/>
                <a:cs typeface="Helvetica Neue"/>
              </a:rPr>
              <a:t>À chaque fin de semaine ou fin de mois, les équipes financières récupèrent un export comptable ou une balance de pré-clôture. L’automatisation repère les écarts inhabituels, les variations significatives, les lignes incohérentes et les justificatifs manquants. L’IA génère ensuite une synthèse claire, en français professionnel, pour prioriser les revues et homogénéiser la diffusion managériale.</a:t>
            </a:r>
          </a:p>
        </p:txBody>
      </p:sp>
      <p:sp>
        <p:nvSpPr>
          <p:cNvPr id="5" name="automation-panel">
            <a:extLst xmlns:a="http://schemas.openxmlformats.org/drawingml/2006/main">
              <a:ext uri="{FF2B5EF4-FFF2-40B4-BE49-F238E27FC236}">
                <a16:creationId xmlns:a16="http://schemas.microsoft.com/office/drawing/2014/main" id="{48D7E23E-1BB6-441D-A685-5C4B266A7728}"/>
              </a:ext>
            </a:extLst>
          </p:cNvPr>
          <p:cNvSpPr>
            <a:spLocks xmlns:a="http://schemas.openxmlformats.org/drawingml/2006/main" noGrp="1"/>
          </p:cNvSpPr>
          <p:nvPr/>
        </p:nvSpPr>
        <p:spPr>
          <a:xfrm xmlns:a="http://schemas.openxmlformats.org/drawingml/2006/main">
            <a:off x="400050" y="2724150"/>
            <a:ext cx="5534025" cy="2724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automation-title">
            <a:extLst xmlns:a="http://schemas.openxmlformats.org/drawingml/2006/main">
              <a:ext uri="{FF2B5EF4-FFF2-40B4-BE49-F238E27FC236}">
                <a16:creationId xmlns:a16="http://schemas.microsoft.com/office/drawing/2014/main" id="{44DED0F2-56CE-47A6-BB67-074AA6ACC05E}"/>
              </a:ext>
            </a:extLst>
          </p:cNvPr>
          <p:cNvSpPr>
            <a:spLocks xmlns:a="http://schemas.openxmlformats.org/drawingml/2006/main" noGrp="1"/>
          </p:cNvSpPr>
          <p:nvPr/>
        </p:nvSpPr>
        <p:spPr>
          <a:xfrm xmlns:a="http://schemas.openxmlformats.org/drawingml/2006/main">
            <a:off x="666750" y="30003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5"/>
          </a:bodyPr>
          <a:lstStyle xmlns:a="http://schemas.openxmlformats.org/drawingml/2006/main"/>
          <a:p xmlns:a="http://schemas.openxmlformats.org/drawingml/2006/main">
            <a:pPr algn="l">
              <a:lnSpc>
                <a:spcPct val="108000"/>
              </a:lnSpc>
              <a:buNone/>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Ce que fait l’automatisation</a:t>
            </a:r>
          </a:p>
        </p:txBody>
      </p:sp>
      <p:sp>
        <p:nvSpPr>
          <p:cNvPr id="7" name="automation-bullets">
            <a:extLst xmlns:a="http://schemas.openxmlformats.org/drawingml/2006/main">
              <a:ext uri="{FF2B5EF4-FFF2-40B4-BE49-F238E27FC236}">
                <a16:creationId xmlns:a16="http://schemas.microsoft.com/office/drawing/2014/main" id="{B7A9203D-7426-49FC-A52F-2D2C14FCAB44}"/>
              </a:ext>
            </a:extLst>
          </p:cNvPr>
          <p:cNvSpPr>
            <a:spLocks xmlns:a="http://schemas.openxmlformats.org/drawingml/2006/main" noGrp="1"/>
          </p:cNvSpPr>
          <p:nvPr/>
        </p:nvSpPr>
        <p:spPr>
          <a:xfrm xmlns:a="http://schemas.openxmlformats.org/drawingml/2006/main">
            <a:off x="666750" y="3476625"/>
            <a:ext cx="49339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Lecture automatique d’un fichier Excel, CSV ou d’un export comptable structuré.</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Contrôles sur les seuils, les variations, les exceptions et les pièces manquantes.</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Classement des écarts par niveau de priorité.</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Génération d’un commentaire managérial prêt à relire.</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Envoi d’une synthèse uniquement après validation humaine.</a:t>
            </a:r>
          </a:p>
        </p:txBody>
      </p:sp>
      <p:sp>
        <p:nvSpPr>
          <p:cNvPr id="8" name="manager-panel">
            <a:extLst xmlns:a="http://schemas.openxmlformats.org/drawingml/2006/main">
              <a:ext uri="{FF2B5EF4-FFF2-40B4-BE49-F238E27FC236}">
                <a16:creationId xmlns:a16="http://schemas.microsoft.com/office/drawing/2014/main" id="{1E7F4F50-645D-4E63-8BE4-F5CAF29FA44E}"/>
              </a:ext>
            </a:extLst>
          </p:cNvPr>
          <p:cNvSpPr>
            <a:spLocks xmlns:a="http://schemas.openxmlformats.org/drawingml/2006/main" noGrp="1"/>
          </p:cNvSpPr>
          <p:nvPr/>
        </p:nvSpPr>
        <p:spPr>
          <a:xfrm xmlns:a="http://schemas.openxmlformats.org/drawingml/2006/main">
            <a:off x="6257925" y="2724150"/>
            <a:ext cx="5534025" cy="2724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manager-title">
            <a:extLst xmlns:a="http://schemas.openxmlformats.org/drawingml/2006/main">
              <a:ext uri="{FF2B5EF4-FFF2-40B4-BE49-F238E27FC236}">
                <a16:creationId xmlns:a16="http://schemas.microsoft.com/office/drawing/2014/main" id="{639FDEE1-9EBB-4A3C-93EA-AC8AAC42A029}"/>
              </a:ext>
            </a:extLst>
          </p:cNvPr>
          <p:cNvSpPr>
            <a:spLocks xmlns:a="http://schemas.openxmlformats.org/drawingml/2006/main" noGrp="1"/>
          </p:cNvSpPr>
          <p:nvPr/>
        </p:nvSpPr>
        <p:spPr>
          <a:xfrm xmlns:a="http://schemas.openxmlformats.org/drawingml/2006/main">
            <a:off x="6562725" y="30003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5"/>
          </a:bodyPr>
          <a:lstStyle xmlns:a="http://schemas.openxmlformats.org/drawingml/2006/main"/>
          <a:p xmlns:a="http://schemas.openxmlformats.org/drawingml/2006/main">
            <a:pPr algn="l">
              <a:lnSpc>
                <a:spcPct val="108000"/>
              </a:lnSpc>
              <a:buNone/>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Ce que reçoit le manager</a:t>
            </a:r>
          </a:p>
        </p:txBody>
      </p:sp>
      <p:sp>
        <p:nvSpPr>
          <p:cNvPr id="10" name="manager-bullets">
            <a:extLst xmlns:a="http://schemas.openxmlformats.org/drawingml/2006/main">
              <a:ext uri="{FF2B5EF4-FFF2-40B4-BE49-F238E27FC236}">
                <a16:creationId xmlns:a16="http://schemas.microsoft.com/office/drawing/2014/main" id="{0622E13E-D1A7-4E3E-B067-3CFBE623D594}"/>
              </a:ext>
            </a:extLst>
          </p:cNvPr>
          <p:cNvSpPr>
            <a:spLocks xmlns:a="http://schemas.openxmlformats.org/drawingml/2006/main" noGrp="1"/>
          </p:cNvSpPr>
          <p:nvPr/>
        </p:nvSpPr>
        <p:spPr>
          <a:xfrm xmlns:a="http://schemas.openxmlformats.org/drawingml/2006/main">
            <a:off x="6562725" y="3476625"/>
            <a:ext cx="49339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Ce qui a évolué de manière significative.</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Ce qui doit être revu immédiatement.</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Ce qui peut attendre la revue suivante.</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Ce qui doit être remonté au niveau managérial ou au comité.</a:t>
            </a:r>
          </a:p>
        </p:txBody>
      </p:sp>
      <p:sp>
        <p:nvSpPr>
          <p:cNvPr id="11" name="guardrail-bar">
            <a:extLst xmlns:a="http://schemas.openxmlformats.org/drawingml/2006/main">
              <a:ext uri="{FF2B5EF4-FFF2-40B4-BE49-F238E27FC236}">
                <a16:creationId xmlns:a16="http://schemas.microsoft.com/office/drawing/2014/main" id="{070AC274-CA8C-4D59-ABC5-42DBF5FCB963}"/>
              </a:ext>
            </a:extLst>
          </p:cNvPr>
          <p:cNvSpPr>
            <a:spLocks xmlns:a="http://schemas.openxmlformats.org/drawingml/2006/main" noGrp="1"/>
          </p:cNvSpPr>
          <p:nvPr/>
        </p:nvSpPr>
        <p:spPr>
          <a:xfrm xmlns:a="http://schemas.openxmlformats.org/drawingml/2006/main">
            <a:off x="0" y="5829300"/>
            <a:ext cx="12192000" cy="1028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2" name="guardrail-text">
            <a:extLst xmlns:a="http://schemas.openxmlformats.org/drawingml/2006/main">
              <a:ext uri="{FF2B5EF4-FFF2-40B4-BE49-F238E27FC236}">
                <a16:creationId xmlns:a16="http://schemas.microsoft.com/office/drawing/2014/main" id="{1CBA9352-BA90-42B4-8F3C-06E340D3EAE3}"/>
              </a:ext>
            </a:extLst>
          </p:cNvPr>
          <p:cNvSpPr>
            <a:spLocks xmlns:a="http://schemas.openxmlformats.org/drawingml/2006/main" noGrp="1"/>
          </p:cNvSpPr>
          <p:nvPr/>
        </p:nvSpPr>
        <p:spPr>
          <a:xfrm xmlns:a="http://schemas.openxmlformats.org/drawingml/2006/main">
            <a:off x="400050" y="61436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Garde-fou : validation humaine obligatoire avant toute diffusion officielle.</a:t>
            </a:r>
          </a:p>
        </p:txBody>
      </p:sp>
      <p:sp>
        <p:nvSpPr>
          <p:cNvPr id="13" name="footer-02">
            <a:extLst xmlns:a="http://schemas.openxmlformats.org/drawingml/2006/main">
              <a:ext uri="{FF2B5EF4-FFF2-40B4-BE49-F238E27FC236}">
                <a16:creationId xmlns:a16="http://schemas.microsoft.com/office/drawing/2014/main" id="{0AD0A1D4-5C27-473A-B688-CFD6228A70D4}"/>
              </a:ext>
            </a:extLst>
          </p:cNvPr>
          <p:cNvSpPr>
            <a:spLocks xmlns:a="http://schemas.openxmlformats.org/drawingml/2006/main" noGrp="1"/>
          </p:cNvSpPr>
          <p:nvPr/>
        </p:nvSpPr>
        <p:spPr>
          <a:xfrm xmlns:a="http://schemas.openxmlformats.org/drawingml/2006/main">
            <a:off x="11220450" y="62769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0">
                <a:solidFill>
                  <a:srgbClr val="555555"/>
                </a:solidFill>
                <a:latin typeface="Helvetica Neue"/>
                <a:ea typeface="Helvetica Neue"/>
                <a:cs typeface="Helvetica Neue"/>
              </a:defRPr>
            </a:pPr>
            <a:r>
              <a:rPr sz="1050" b="0">
                <a:solidFill>
                  <a:srgbClr val="555555"/>
                </a:solidFill>
                <a:latin typeface="Helvetica Neue"/>
                <a:ea typeface="Helvetica Neue"/>
                <a:cs typeface="Helvetica Neue"/>
              </a:rPr>
              <a:t>02</a:t>
            </a:r>
          </a:p>
        </p:txBody>
      </p:sp>
    </p:spTree>
    <p:extLst>
      <p:ext uri="{BB962C8B-B14F-4D97-AF65-F5344CB8AC3E}">
        <p14:creationId xmlns:p14="http://schemas.microsoft.com/office/powerpoint/2010/main" val="4480178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Cas d’usage">
            <a:extLst xmlns:a="http://schemas.openxmlformats.org/drawingml/2006/main">
              <a:ext uri="{FF2B5EF4-FFF2-40B4-BE49-F238E27FC236}">
                <a16:creationId xmlns:a16="http://schemas.microsoft.com/office/drawing/2014/main" id="{89A18AFE-898D-46F3-B33B-F3A80E2FB3C1}"/>
              </a:ext>
            </a:extLst>
          </p:cNvPr>
          <p:cNvSpPr>
            <a:spLocks xmlns:a="http://schemas.openxmlformats.org/drawingml/2006/main" noGrp="1"/>
          </p:cNvSpPr>
          <p:nvPr/>
        </p:nvSpPr>
        <p:spPr>
          <a:xfrm xmlns:a="http://schemas.openxmlformats.org/drawingml/2006/main">
            <a:off x="400050" y="762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a:solidFill>
                  <a:srgbClr val="555555"/>
                </a:solidFill>
                <a:latin typeface="Helvetica Neue"/>
                <a:ea typeface="Helvetica Neue"/>
                <a:cs typeface="Helvetica Neue"/>
              </a:defRPr>
            </a:pPr>
            <a:r>
              <a:rPr sz="900" b="1">
                <a:solidFill>
                  <a:srgbClr val="555555"/>
                </a:solidFill>
                <a:latin typeface="Helvetica Neue"/>
                <a:ea typeface="Helvetica Neue"/>
                <a:cs typeface="Helvetica Neue"/>
              </a:rPr>
              <a:t>Conformité</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873c2e9e51446ed"/>
          <a:stretch xmlns:a="http://schemas.openxmlformats.org/drawingml/2006/main"/>
        </p:blipFill>
        <p:spPr>
          <a:xfrm xmlns:a="http://schemas.openxmlformats.org/drawingml/2006/main">
            <a:off x="10049653" y="152400"/>
            <a:ext cx="1046195" cy="495300"/>
          </a:xfrm>
          <a:prstGeom xmlns:a="http://schemas.openxmlformats.org/drawingml/2006/main" prst="rect">
            <a:avLst/>
          </a:prstGeom>
        </p:spPr>
      </p:pic>
      <p:sp>
        <p:nvSpPr>
          <p:cNvPr id="3" name="usecase-title">
            <a:extLst xmlns:a="http://schemas.openxmlformats.org/drawingml/2006/main">
              <a:ext uri="{FF2B5EF4-FFF2-40B4-BE49-F238E27FC236}">
                <a16:creationId xmlns:a16="http://schemas.microsoft.com/office/drawing/2014/main" id="{00AA59E2-715E-4DA9-B33F-22B9A8B6DC4D}"/>
              </a:ext>
            </a:extLst>
          </p:cNvPr>
          <p:cNvSpPr>
            <a:spLocks xmlns:a="http://schemas.openxmlformats.org/drawingml/2006/main" noGrp="1"/>
          </p:cNvSpPr>
          <p:nvPr/>
        </p:nvSpPr>
        <p:spPr>
          <a:xfrm xmlns:a="http://schemas.openxmlformats.org/drawingml/2006/main">
            <a:off x="400050" y="342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Confidentialité bancaire : un cas d’usage maîtrisé</a:t>
            </a:r>
          </a:p>
        </p:txBody>
      </p:sp>
      <p:sp>
        <p:nvSpPr>
          <p:cNvPr id="4" name="usecase-intro">
            <a:extLst xmlns:a="http://schemas.openxmlformats.org/drawingml/2006/main">
              <a:ext uri="{FF2B5EF4-FFF2-40B4-BE49-F238E27FC236}">
                <a16:creationId xmlns:a16="http://schemas.microsoft.com/office/drawing/2014/main" id="{68183CD0-2E2C-4FBE-A02C-00D990E7B4DA}"/>
              </a:ext>
            </a:extLst>
          </p:cNvPr>
          <p:cNvSpPr>
            <a:spLocks xmlns:a="http://schemas.openxmlformats.org/drawingml/2006/main" noGrp="1"/>
          </p:cNvSpPr>
          <p:nvPr/>
        </p:nvSpPr>
        <p:spPr>
          <a:xfrm xmlns:a="http://schemas.openxmlformats.org/drawingml/2006/main">
            <a:off x="400050" y="1200150"/>
            <a:ext cx="1104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222222"/>
                </a:solidFill>
                <a:latin typeface="Helvetica Neue"/>
                <a:ea typeface="Helvetica Neue"/>
                <a:cs typeface="Helvetica Neue"/>
              </a:defRPr>
            </a:pPr>
            <a:r>
              <a:rPr sz="1500" b="0">
                <a:solidFill>
                  <a:srgbClr val="222222"/>
                </a:solidFill>
                <a:latin typeface="Helvetica Neue"/>
                <a:ea typeface="Helvetica Neue"/>
                <a:cs typeface="Helvetica Neue"/>
              </a:rPr>
              <a:t>Avant l’appel IA, les données sensibles sont pseudonymisées afin de limiter l’exposition des informations à caractère personnel. Le modèle ne reçoit que les éléments utiles à l’analyse des écarts, tandis que les références détaillées restent sous contrôle interne et sous validation humaine.</a:t>
            </a:r>
          </a:p>
        </p:txBody>
      </p:sp>
      <p:sp>
        <p:nvSpPr>
          <p:cNvPr id="5" name="automation-panel">
            <a:extLst xmlns:a="http://schemas.openxmlformats.org/drawingml/2006/main">
              <a:ext uri="{FF2B5EF4-FFF2-40B4-BE49-F238E27FC236}">
                <a16:creationId xmlns:a16="http://schemas.microsoft.com/office/drawing/2014/main" id="{48D7E23E-1BB6-441D-A685-5C4B266A7728}"/>
              </a:ext>
            </a:extLst>
          </p:cNvPr>
          <p:cNvSpPr>
            <a:spLocks xmlns:a="http://schemas.openxmlformats.org/drawingml/2006/main" noGrp="1"/>
          </p:cNvSpPr>
          <p:nvPr/>
        </p:nvSpPr>
        <p:spPr>
          <a:xfrm xmlns:a="http://schemas.openxmlformats.org/drawingml/2006/main">
            <a:off x="400050" y="2724150"/>
            <a:ext cx="5534025" cy="2724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automation-title">
            <a:extLst xmlns:a="http://schemas.openxmlformats.org/drawingml/2006/main">
              <a:ext uri="{FF2B5EF4-FFF2-40B4-BE49-F238E27FC236}">
                <a16:creationId xmlns:a16="http://schemas.microsoft.com/office/drawing/2014/main" id="{44DED0F2-56CE-47A6-BB67-074AA6ACC05E}"/>
              </a:ext>
            </a:extLst>
          </p:cNvPr>
          <p:cNvSpPr>
            <a:spLocks xmlns:a="http://schemas.openxmlformats.org/drawingml/2006/main" noGrp="1"/>
          </p:cNvSpPr>
          <p:nvPr/>
        </p:nvSpPr>
        <p:spPr>
          <a:xfrm xmlns:a="http://schemas.openxmlformats.org/drawingml/2006/main">
            <a:off x="666750" y="30003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5"/>
          </a:bodyPr>
          <a:lstStyle xmlns:a="http://schemas.openxmlformats.org/drawingml/2006/main"/>
          <a:p xmlns:a="http://schemas.openxmlformats.org/drawingml/2006/main">
            <a:pPr algn="l">
              <a:lnSpc>
                <a:spcPct val="108000"/>
              </a:lnSpc>
              <a:buNone/>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Ce que fait la protection</a:t>
            </a:r>
          </a:p>
        </p:txBody>
      </p:sp>
      <p:sp>
        <p:nvSpPr>
          <p:cNvPr id="7" name="automation-bullets">
            <a:extLst xmlns:a="http://schemas.openxmlformats.org/drawingml/2006/main">
              <a:ext uri="{FF2B5EF4-FFF2-40B4-BE49-F238E27FC236}">
                <a16:creationId xmlns:a16="http://schemas.microsoft.com/office/drawing/2014/main" id="{B7A9203D-7426-49FC-A52F-2D2C14FCAB44}"/>
              </a:ext>
            </a:extLst>
          </p:cNvPr>
          <p:cNvSpPr>
            <a:spLocks xmlns:a="http://schemas.openxmlformats.org/drawingml/2006/main" noGrp="1"/>
          </p:cNvSpPr>
          <p:nvPr/>
        </p:nvSpPr>
        <p:spPr>
          <a:xfrm xmlns:a="http://schemas.openxmlformats.org/drawingml/2006/main">
            <a:off x="666750" y="3476625"/>
            <a:ext cx="49339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Généricisation du nom de la banque pour l’étape IA.</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Masquage des e-mails, téléphones et identifiants longs.</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Troncature des numéros de compte et nettoyage des libellés libres.</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Transmission au modèle des seuls KPI et anomalies pseudonymisés.</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Conservation des données détaillées dans le flux interne n8n.</a:t>
            </a:r>
          </a:p>
        </p:txBody>
      </p:sp>
      <p:sp>
        <p:nvSpPr>
          <p:cNvPr id="8" name="manager-panel">
            <a:extLst xmlns:a="http://schemas.openxmlformats.org/drawingml/2006/main">
              <a:ext uri="{FF2B5EF4-FFF2-40B4-BE49-F238E27FC236}">
                <a16:creationId xmlns:a16="http://schemas.microsoft.com/office/drawing/2014/main" id="{1E7F4F50-645D-4E63-8BE4-F5CAF29FA44E}"/>
              </a:ext>
            </a:extLst>
          </p:cNvPr>
          <p:cNvSpPr>
            <a:spLocks xmlns:a="http://schemas.openxmlformats.org/drawingml/2006/main" noGrp="1"/>
          </p:cNvSpPr>
          <p:nvPr/>
        </p:nvSpPr>
        <p:spPr>
          <a:xfrm xmlns:a="http://schemas.openxmlformats.org/drawingml/2006/main">
            <a:off x="6257925" y="2724150"/>
            <a:ext cx="5534025" cy="2724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manager-title">
            <a:extLst xmlns:a="http://schemas.openxmlformats.org/drawingml/2006/main">
              <a:ext uri="{FF2B5EF4-FFF2-40B4-BE49-F238E27FC236}">
                <a16:creationId xmlns:a16="http://schemas.microsoft.com/office/drawing/2014/main" id="{639FDEE1-9EBB-4A3C-93EA-AC8AAC42A029}"/>
              </a:ext>
            </a:extLst>
          </p:cNvPr>
          <p:cNvSpPr>
            <a:spLocks xmlns:a="http://schemas.openxmlformats.org/drawingml/2006/main" noGrp="1"/>
          </p:cNvSpPr>
          <p:nvPr/>
        </p:nvSpPr>
        <p:spPr>
          <a:xfrm xmlns:a="http://schemas.openxmlformats.org/drawingml/2006/main">
            <a:off x="6562725" y="30003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5"/>
          </a:bodyPr>
          <a:lstStyle xmlns:a="http://schemas.openxmlformats.org/drawingml/2006/main"/>
          <a:p xmlns:a="http://schemas.openxmlformats.org/drawingml/2006/main">
            <a:pPr algn="l">
              <a:lnSpc>
                <a:spcPct val="108000"/>
              </a:lnSpc>
              <a:buNone/>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Ce que cela garantit</a:t>
            </a:r>
          </a:p>
        </p:txBody>
      </p:sp>
      <p:sp>
        <p:nvSpPr>
          <p:cNvPr id="10" name="manager-bullets">
            <a:extLst xmlns:a="http://schemas.openxmlformats.org/drawingml/2006/main">
              <a:ext uri="{FF2B5EF4-FFF2-40B4-BE49-F238E27FC236}">
                <a16:creationId xmlns:a16="http://schemas.microsoft.com/office/drawing/2014/main" id="{0622E13E-D1A7-4E3E-B067-3CFBE623D594}"/>
              </a:ext>
            </a:extLst>
          </p:cNvPr>
          <p:cNvSpPr>
            <a:spLocks xmlns:a="http://schemas.openxmlformats.org/drawingml/2006/main" noGrp="1"/>
          </p:cNvSpPr>
          <p:nvPr/>
        </p:nvSpPr>
        <p:spPr>
          <a:xfrm xmlns:a="http://schemas.openxmlformats.org/drawingml/2006/main">
            <a:off x="6562725" y="3476625"/>
            <a:ext cx="49339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Réduction du risque d’exposition des données sensibles.</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Commentaire IA produit sans dépendre d’identités réelles.</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Meilleure compatibilité avec les exigences conformité, risque et sécurité.</a:t>
            </a:r>
          </a:p>
          <a:p xmlns:a="http://schemas.openxmlformats.org/drawingml/2006/main">
            <a:pPr marL="24" indent="-14" algn="l">
              <a:lnSpc>
                <a:spcPct val="115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Validation humaine maintenue avant diffusion, arbitrage ou usage officiel.</a:t>
            </a:r>
          </a:p>
        </p:txBody>
      </p:sp>
      <p:sp>
        <p:nvSpPr>
          <p:cNvPr id="11" name="guardrail-bar">
            <a:extLst xmlns:a="http://schemas.openxmlformats.org/drawingml/2006/main">
              <a:ext uri="{FF2B5EF4-FFF2-40B4-BE49-F238E27FC236}">
                <a16:creationId xmlns:a16="http://schemas.microsoft.com/office/drawing/2014/main" id="{070AC274-CA8C-4D59-ABC5-42DBF5FCB963}"/>
              </a:ext>
            </a:extLst>
          </p:cNvPr>
          <p:cNvSpPr>
            <a:spLocks xmlns:a="http://schemas.openxmlformats.org/drawingml/2006/main" noGrp="1"/>
          </p:cNvSpPr>
          <p:nvPr/>
        </p:nvSpPr>
        <p:spPr>
          <a:xfrm xmlns:a="http://schemas.openxmlformats.org/drawingml/2006/main">
            <a:off x="0" y="5829300"/>
            <a:ext cx="12192000" cy="10287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2" name="guardrail-text">
            <a:extLst xmlns:a="http://schemas.openxmlformats.org/drawingml/2006/main">
              <a:ext uri="{FF2B5EF4-FFF2-40B4-BE49-F238E27FC236}">
                <a16:creationId xmlns:a16="http://schemas.microsoft.com/office/drawing/2014/main" id="{1CBA9352-BA90-42B4-8F3C-06E340D3EAE3}"/>
              </a:ext>
            </a:extLst>
          </p:cNvPr>
          <p:cNvSpPr>
            <a:spLocks xmlns:a="http://schemas.openxmlformats.org/drawingml/2006/main" noGrp="1"/>
          </p:cNvSpPr>
          <p:nvPr/>
        </p:nvSpPr>
        <p:spPr>
          <a:xfrm xmlns:a="http://schemas.openxmlformats.org/drawingml/2006/main">
            <a:off x="400050" y="61436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Garde-fou : pseudonymisation avant l’IA et validation humaine obligatoire avant toute diffusion.</a:t>
            </a:r>
          </a:p>
        </p:txBody>
      </p:sp>
      <p:sp>
        <p:nvSpPr>
          <p:cNvPr id="13" name="footer-02">
            <a:extLst xmlns:a="http://schemas.openxmlformats.org/drawingml/2006/main">
              <a:ext uri="{FF2B5EF4-FFF2-40B4-BE49-F238E27FC236}">
                <a16:creationId xmlns:a16="http://schemas.microsoft.com/office/drawing/2014/main" id="{0AD0A1D4-5C27-473A-B688-CFD6228A70D4}"/>
              </a:ext>
            </a:extLst>
          </p:cNvPr>
          <p:cNvSpPr>
            <a:spLocks xmlns:a="http://schemas.openxmlformats.org/drawingml/2006/main" noGrp="1"/>
          </p:cNvSpPr>
          <p:nvPr/>
        </p:nvSpPr>
        <p:spPr>
          <a:xfrm xmlns:a="http://schemas.openxmlformats.org/drawingml/2006/main">
            <a:off x="11220450" y="62769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0">
                <a:solidFill>
                  <a:srgbClr val="555555"/>
                </a:solidFill>
                <a:latin typeface="Helvetica Neue"/>
                <a:ea typeface="Helvetica Neue"/>
                <a:cs typeface="Helvetica Neue"/>
              </a:defRPr>
            </a:pPr>
            <a:r>
              <a:rPr sz="1050" b="0">
                <a:solidFill>
                  <a:srgbClr val="555555"/>
                </a:solidFill>
                <a:latin typeface="Helvetica Neue"/>
                <a:ea typeface="Helvetica Neue"/>
                <a:cs typeface="Helvetica Neue"/>
              </a:rPr>
              <a:t>03</a:t>
            </a:r>
          </a:p>
        </p:txBody>
      </p:sp>
    </p:spTree>
    <p:extLst>
      <p:ext uri="{BB962C8B-B14F-4D97-AF65-F5344CB8AC3E}">
        <p14:creationId xmlns:p14="http://schemas.microsoft.com/office/powerpoint/2010/main" val="4480178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Workflow">
            <a:extLst xmlns:a="http://schemas.openxmlformats.org/drawingml/2006/main">
              <a:ext uri="{FF2B5EF4-FFF2-40B4-BE49-F238E27FC236}">
                <a16:creationId xmlns:a16="http://schemas.microsoft.com/office/drawing/2014/main" id="{ADC18810-A9B0-4165-9919-E618AE857868}"/>
              </a:ext>
            </a:extLst>
          </p:cNvPr>
          <p:cNvSpPr>
            <a:spLocks xmlns:a="http://schemas.openxmlformats.org/drawingml/2006/main" noGrp="1"/>
          </p:cNvSpPr>
          <p:nvPr/>
        </p:nvSpPr>
        <p:spPr>
          <a:xfrm xmlns:a="http://schemas.openxmlformats.org/drawingml/2006/main">
            <a:off x="400050" y="762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a:solidFill>
                  <a:srgbClr val="555555"/>
                </a:solidFill>
                <a:latin typeface="Helvetica Neue"/>
                <a:ea typeface="Helvetica Neue"/>
                <a:cs typeface="Helvetica Neue"/>
              </a:defRPr>
            </a:pPr>
            <a:r>
              <a:rPr sz="900" b="1">
                <a:solidFill>
                  <a:srgbClr val="555555"/>
                </a:solidFill>
                <a:latin typeface="Helvetica Neue"/>
                <a:ea typeface="Helvetica Neue"/>
                <a:cs typeface="Helvetica Neue"/>
              </a:rPr>
              <a:t>Workflow</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76ab2850f04787"/>
          <a:stretch xmlns:a="http://schemas.openxmlformats.org/drawingml/2006/main"/>
        </p:blipFill>
        <p:spPr>
          <a:xfrm xmlns:a="http://schemas.openxmlformats.org/drawingml/2006/main">
            <a:off x="10049653" y="152400"/>
            <a:ext cx="1046195" cy="495300"/>
          </a:xfrm>
          <a:prstGeom xmlns:a="http://schemas.openxmlformats.org/drawingml/2006/main" prst="rect">
            <a:avLst/>
          </a:prstGeom>
        </p:spPr>
      </p:pic>
      <p:sp>
        <p:nvSpPr>
          <p:cNvPr id="3" name="workflow-title">
            <a:extLst xmlns:a="http://schemas.openxmlformats.org/drawingml/2006/main">
              <a:ext uri="{FF2B5EF4-FFF2-40B4-BE49-F238E27FC236}">
                <a16:creationId xmlns:a16="http://schemas.microsoft.com/office/drawing/2014/main" id="{A106B2F9-8159-4744-A9DC-41956514CDE3}"/>
              </a:ext>
            </a:extLst>
          </p:cNvPr>
          <p:cNvSpPr>
            <a:spLocks xmlns:a="http://schemas.openxmlformats.org/drawingml/2006/main" noGrp="1"/>
          </p:cNvSpPr>
          <p:nvPr/>
        </p:nvSpPr>
        <p:spPr>
          <a:xfrm xmlns:a="http://schemas.openxmlformats.org/drawingml/2006/main">
            <a:off x="400050" y="3429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832"/>
          </a:bodyPr>
          <a:lstStyle xmlns:a="http://schemas.openxmlformats.org/drawingml/2006/main"/>
          <a:p xmlns:a="http://schemas.openxmlformats.org/drawingml/2006/main">
            <a:pPr algn="l">
              <a:lnSpc>
                <a:spcPct val="108000"/>
              </a:lnSpc>
              <a:buNone/>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Le workflow reste simple à expliquer et crédible en démonstration</a:t>
            </a:r>
          </a:p>
        </p:txBody>
      </p:sp>
      <p:sp>
        <p:nvSpPr>
          <p:cNvPr id="4" name="workflow-intro">
            <a:extLst xmlns:a="http://schemas.openxmlformats.org/drawingml/2006/main">
              <a:ext uri="{FF2B5EF4-FFF2-40B4-BE49-F238E27FC236}">
                <a16:creationId xmlns:a16="http://schemas.microsoft.com/office/drawing/2014/main" id="{D69BB6D7-1801-4C0B-AD55-EB5074D410E1}"/>
              </a:ext>
            </a:extLst>
          </p:cNvPr>
          <p:cNvSpPr>
            <a:spLocks xmlns:a="http://schemas.openxmlformats.org/drawingml/2006/main" noGrp="1"/>
          </p:cNvSpPr>
          <p:nvPr/>
        </p:nvSpPr>
        <p:spPr>
          <a:xfrm xmlns:a="http://schemas.openxmlformats.org/drawingml/2006/main">
            <a:off x="400050" y="11239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36"/>
          </a:bodyPr>
          <a:lstStyle xmlns:a="http://schemas.openxmlformats.org/drawingml/2006/main"/>
          <a:p xmlns:a="http://schemas.openxmlformats.org/drawingml/2006/main">
            <a:pPr algn="l">
              <a:lnSpc>
                <a:spcPct val="108000"/>
              </a:lnSpc>
              <a:buNone/>
              <a:defRPr sz="1575" b="0">
                <a:solidFill>
                  <a:srgbClr val="222222"/>
                </a:solidFill>
                <a:latin typeface="Helvetica Neue"/>
                <a:ea typeface="Helvetica Neue"/>
                <a:cs typeface="Helvetica Neue"/>
              </a:defRPr>
            </a:pPr>
            <a:r>
              <a:rPr sz="1575" b="0">
                <a:solidFill>
                  <a:srgbClr val="222222"/>
                </a:solidFill>
                <a:latin typeface="Helvetica Neue"/>
                <a:ea typeface="Helvetica Neue"/>
                <a:cs typeface="Helvetica Neue"/>
              </a:rPr>
              <a:t>Le scénario présenté peut rester très opérationnel : dépôt du fichier, contrôles, synthèse IA, puis validation avant diffusion.</a:t>
            </a:r>
          </a:p>
        </p:txBody>
      </p:sp>
      <p:sp>
        <p:nvSpPr>
          <p:cNvPr id="5" name="workflow-panel-42">
            <a:extLst xmlns:a="http://schemas.openxmlformats.org/drawingml/2006/main">
              <a:ext uri="{FF2B5EF4-FFF2-40B4-BE49-F238E27FC236}">
                <a16:creationId xmlns:a16="http://schemas.microsoft.com/office/drawing/2014/main" id="{8D665570-C736-4FC8-AA00-EC1FEC85A9F4}"/>
              </a:ext>
            </a:extLst>
          </p:cNvPr>
          <p:cNvSpPr>
            <a:spLocks xmlns:a="http://schemas.openxmlformats.org/drawingml/2006/main" noGrp="1"/>
          </p:cNvSpPr>
          <p:nvPr/>
        </p:nvSpPr>
        <p:spPr>
          <a:xfrm xmlns:a="http://schemas.openxmlformats.org/drawingml/2006/main">
            <a:off x="400050" y="1771650"/>
            <a:ext cx="2590800" cy="3105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workflow-step-42">
            <a:extLst xmlns:a="http://schemas.openxmlformats.org/drawingml/2006/main">
              <a:ext uri="{FF2B5EF4-FFF2-40B4-BE49-F238E27FC236}">
                <a16:creationId xmlns:a16="http://schemas.microsoft.com/office/drawing/2014/main" id="{0D88EA9F-1AB6-477A-84FE-BD1DDD67C9FD}"/>
              </a:ext>
            </a:extLst>
          </p:cNvPr>
          <p:cNvSpPr>
            <a:spLocks xmlns:a="http://schemas.openxmlformats.org/drawingml/2006/main" noGrp="1"/>
          </p:cNvSpPr>
          <p:nvPr/>
        </p:nvSpPr>
        <p:spPr>
          <a:xfrm xmlns:a="http://schemas.openxmlformats.org/drawingml/2006/main">
            <a:off x="628650" y="20574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77"/>
          </a:bodyPr>
          <a:lstStyle xmlns:a="http://schemas.openxmlformats.org/drawingml/2006/main"/>
          <a:p xmlns:a="http://schemas.openxmlformats.org/drawingml/2006/main">
            <a:pPr algn="l">
              <a:lnSpc>
                <a:spcPct val="102000"/>
              </a:lnSpc>
              <a:buNone/>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1. Dépôt des données</a:t>
            </a:r>
          </a:p>
        </p:txBody>
      </p:sp>
      <p:sp>
        <p:nvSpPr>
          <p:cNvPr id="7" name="workflow-body-42">
            <a:extLst xmlns:a="http://schemas.openxmlformats.org/drawingml/2006/main">
              <a:ext uri="{FF2B5EF4-FFF2-40B4-BE49-F238E27FC236}">
                <a16:creationId xmlns:a16="http://schemas.microsoft.com/office/drawing/2014/main" id="{2488F420-3F66-4ED8-99B8-B6657335411C}"/>
              </a:ext>
            </a:extLst>
          </p:cNvPr>
          <p:cNvSpPr>
            <a:spLocks xmlns:a="http://schemas.openxmlformats.org/drawingml/2006/main" noGrp="1"/>
          </p:cNvSpPr>
          <p:nvPr/>
        </p:nvSpPr>
        <p:spPr>
          <a:xfrm xmlns:a="http://schemas.openxmlformats.org/drawingml/2006/main">
            <a:off x="628650" y="3124200"/>
            <a:ext cx="209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Un export comptable, un fichier Excel ou un CSV de pré-clôture est transmis dans le workflow.</a:t>
            </a:r>
          </a:p>
        </p:txBody>
      </p:sp>
      <p:sp>
        <p:nvSpPr>
          <p:cNvPr id="8" name="workflow-panel-350">
            <a:extLst xmlns:a="http://schemas.openxmlformats.org/drawingml/2006/main">
              <a:ext uri="{FF2B5EF4-FFF2-40B4-BE49-F238E27FC236}">
                <a16:creationId xmlns:a16="http://schemas.microsoft.com/office/drawing/2014/main" id="{1801B570-8C2E-4106-B281-C449138A8292}"/>
              </a:ext>
            </a:extLst>
          </p:cNvPr>
          <p:cNvSpPr>
            <a:spLocks xmlns:a="http://schemas.openxmlformats.org/drawingml/2006/main" noGrp="1"/>
          </p:cNvSpPr>
          <p:nvPr/>
        </p:nvSpPr>
        <p:spPr>
          <a:xfrm xmlns:a="http://schemas.openxmlformats.org/drawingml/2006/main">
            <a:off x="3333750" y="1771650"/>
            <a:ext cx="2590800" cy="3105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workflow-step-350">
            <a:extLst xmlns:a="http://schemas.openxmlformats.org/drawingml/2006/main">
              <a:ext uri="{FF2B5EF4-FFF2-40B4-BE49-F238E27FC236}">
                <a16:creationId xmlns:a16="http://schemas.microsoft.com/office/drawing/2014/main" id="{D279FE60-4D25-4681-8948-DDDCACA81305}"/>
              </a:ext>
            </a:extLst>
          </p:cNvPr>
          <p:cNvSpPr>
            <a:spLocks xmlns:a="http://schemas.openxmlformats.org/drawingml/2006/main" noGrp="1"/>
          </p:cNvSpPr>
          <p:nvPr/>
        </p:nvSpPr>
        <p:spPr>
          <a:xfrm xmlns:a="http://schemas.openxmlformats.org/drawingml/2006/main">
            <a:off x="3562350" y="20574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65"/>
          </a:bodyPr>
          <a:lstStyle xmlns:a="http://schemas.openxmlformats.org/drawingml/2006/main"/>
          <a:p xmlns:a="http://schemas.openxmlformats.org/drawingml/2006/main">
            <a:pPr algn="l">
              <a:lnSpc>
                <a:spcPct val="102000"/>
              </a:lnSpc>
              <a:buNone/>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2. Contrôles ciblés</a:t>
            </a:r>
          </a:p>
        </p:txBody>
      </p:sp>
      <p:sp>
        <p:nvSpPr>
          <p:cNvPr id="10" name="workflow-body-350">
            <a:extLst xmlns:a="http://schemas.openxmlformats.org/drawingml/2006/main">
              <a:ext uri="{FF2B5EF4-FFF2-40B4-BE49-F238E27FC236}">
                <a16:creationId xmlns:a16="http://schemas.microsoft.com/office/drawing/2014/main" id="{39ECA206-93B2-4C17-A422-C52ACAD8DC4F}"/>
              </a:ext>
            </a:extLst>
          </p:cNvPr>
          <p:cNvSpPr>
            <a:spLocks xmlns:a="http://schemas.openxmlformats.org/drawingml/2006/main" noGrp="1"/>
          </p:cNvSpPr>
          <p:nvPr/>
        </p:nvSpPr>
        <p:spPr>
          <a:xfrm xmlns:a="http://schemas.openxmlformats.org/drawingml/2006/main">
            <a:off x="3562350" y="3124200"/>
            <a:ext cx="209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Les règles détectent les écarts, les seuils dépassés, les incohérences et les justificatifs manquants.</a:t>
            </a:r>
          </a:p>
        </p:txBody>
      </p:sp>
      <p:sp>
        <p:nvSpPr>
          <p:cNvPr id="11" name="workflow-panel-658">
            <a:extLst xmlns:a="http://schemas.openxmlformats.org/drawingml/2006/main">
              <a:ext uri="{FF2B5EF4-FFF2-40B4-BE49-F238E27FC236}">
                <a16:creationId xmlns:a16="http://schemas.microsoft.com/office/drawing/2014/main" id="{9532FA9B-5379-47EE-A4D5-9558AB13A05F}"/>
              </a:ext>
            </a:extLst>
          </p:cNvPr>
          <p:cNvSpPr>
            <a:spLocks xmlns:a="http://schemas.openxmlformats.org/drawingml/2006/main" noGrp="1"/>
          </p:cNvSpPr>
          <p:nvPr/>
        </p:nvSpPr>
        <p:spPr>
          <a:xfrm xmlns:a="http://schemas.openxmlformats.org/drawingml/2006/main">
            <a:off x="6267450" y="1771650"/>
            <a:ext cx="2590800" cy="3105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workflow-step-658">
            <a:extLst xmlns:a="http://schemas.openxmlformats.org/drawingml/2006/main">
              <a:ext uri="{FF2B5EF4-FFF2-40B4-BE49-F238E27FC236}">
                <a16:creationId xmlns:a16="http://schemas.microsoft.com/office/drawing/2014/main" id="{F55CC23A-CF5A-4064-8647-B4BE51B0A517}"/>
              </a:ext>
            </a:extLst>
          </p:cNvPr>
          <p:cNvSpPr>
            <a:spLocks xmlns:a="http://schemas.openxmlformats.org/drawingml/2006/main" noGrp="1"/>
          </p:cNvSpPr>
          <p:nvPr/>
        </p:nvSpPr>
        <p:spPr>
          <a:xfrm xmlns:a="http://schemas.openxmlformats.org/drawingml/2006/main">
            <a:off x="6496050" y="20574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3. Synthèse IA</a:t>
            </a:r>
          </a:p>
        </p:txBody>
      </p:sp>
      <p:sp>
        <p:nvSpPr>
          <p:cNvPr id="13" name="workflow-body-658">
            <a:extLst xmlns:a="http://schemas.openxmlformats.org/drawingml/2006/main">
              <a:ext uri="{FF2B5EF4-FFF2-40B4-BE49-F238E27FC236}">
                <a16:creationId xmlns:a16="http://schemas.microsoft.com/office/drawing/2014/main" id="{A98A770D-ED3D-4A45-A38E-D9BCCAFC1C12}"/>
              </a:ext>
            </a:extLst>
          </p:cNvPr>
          <p:cNvSpPr>
            <a:spLocks xmlns:a="http://schemas.openxmlformats.org/drawingml/2006/main" noGrp="1"/>
          </p:cNvSpPr>
          <p:nvPr/>
        </p:nvSpPr>
        <p:spPr>
          <a:xfrm xmlns:a="http://schemas.openxmlformats.org/drawingml/2006/main">
            <a:off x="6496050" y="3124200"/>
            <a:ext cx="209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L’IA rédige un commentaire clair en français professionnel pour accélérer la lecture managériale.</a:t>
            </a:r>
          </a:p>
        </p:txBody>
      </p:sp>
      <p:sp>
        <p:nvSpPr>
          <p:cNvPr id="14" name="workflow-panel-966">
            <a:extLst xmlns:a="http://schemas.openxmlformats.org/drawingml/2006/main">
              <a:ext uri="{FF2B5EF4-FFF2-40B4-BE49-F238E27FC236}">
                <a16:creationId xmlns:a16="http://schemas.microsoft.com/office/drawing/2014/main" id="{57F36017-32FC-4DFB-B737-FBD724FC19C2}"/>
              </a:ext>
            </a:extLst>
          </p:cNvPr>
          <p:cNvSpPr>
            <a:spLocks xmlns:a="http://schemas.openxmlformats.org/drawingml/2006/main" noGrp="1"/>
          </p:cNvSpPr>
          <p:nvPr/>
        </p:nvSpPr>
        <p:spPr>
          <a:xfrm xmlns:a="http://schemas.openxmlformats.org/drawingml/2006/main">
            <a:off x="9201150" y="1771650"/>
            <a:ext cx="2590800" cy="3105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workflow-step-966">
            <a:extLst xmlns:a="http://schemas.openxmlformats.org/drawingml/2006/main">
              <a:ext uri="{FF2B5EF4-FFF2-40B4-BE49-F238E27FC236}">
                <a16:creationId xmlns:a16="http://schemas.microsoft.com/office/drawing/2014/main" id="{2EE42E4D-50A1-45C0-A31C-DC3E9D0B69A9}"/>
              </a:ext>
            </a:extLst>
          </p:cNvPr>
          <p:cNvSpPr>
            <a:spLocks xmlns:a="http://schemas.openxmlformats.org/drawingml/2006/main" noGrp="1"/>
          </p:cNvSpPr>
          <p:nvPr/>
        </p:nvSpPr>
        <p:spPr>
          <a:xfrm xmlns:a="http://schemas.openxmlformats.org/drawingml/2006/main">
            <a:off x="9429750" y="20574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77"/>
          </a:bodyPr>
          <a:lstStyle xmlns:a="http://schemas.openxmlformats.org/drawingml/2006/main"/>
          <a:p xmlns:a="http://schemas.openxmlformats.org/drawingml/2006/main">
            <a:pPr algn="l">
              <a:lnSpc>
                <a:spcPct val="102000"/>
              </a:lnSpc>
              <a:buNone/>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4. Validation et diffusion</a:t>
            </a:r>
          </a:p>
        </p:txBody>
      </p:sp>
      <p:sp>
        <p:nvSpPr>
          <p:cNvPr id="16" name="workflow-body-966">
            <a:extLst xmlns:a="http://schemas.openxmlformats.org/drawingml/2006/main">
              <a:ext uri="{FF2B5EF4-FFF2-40B4-BE49-F238E27FC236}">
                <a16:creationId xmlns:a16="http://schemas.microsoft.com/office/drawing/2014/main" id="{44B59586-4410-4B2A-A4B2-53C4E4006163}"/>
              </a:ext>
            </a:extLst>
          </p:cNvPr>
          <p:cNvSpPr>
            <a:spLocks xmlns:a="http://schemas.openxmlformats.org/drawingml/2006/main" noGrp="1"/>
          </p:cNvSpPr>
          <p:nvPr/>
        </p:nvSpPr>
        <p:spPr>
          <a:xfrm xmlns:a="http://schemas.openxmlformats.org/drawingml/2006/main">
            <a:off x="9429750" y="3124200"/>
            <a:ext cx="209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Un responsable relit, valide puis transmet la version finale au contrôle financier, à la comptabilité ou au comité.</a:t>
            </a:r>
          </a:p>
        </p:txBody>
      </p:sp>
      <p:sp>
        <p:nvSpPr>
          <p:cNvPr id="17" name="workflow-footer">
            <a:extLst xmlns:a="http://schemas.openxmlformats.org/drawingml/2006/main">
              <a:ext uri="{FF2B5EF4-FFF2-40B4-BE49-F238E27FC236}">
                <a16:creationId xmlns:a16="http://schemas.microsoft.com/office/drawing/2014/main" id="{4846E6DB-CCFF-4FF9-A3A2-D88C9F8CA5DA}"/>
              </a:ext>
            </a:extLst>
          </p:cNvPr>
          <p:cNvSpPr>
            <a:spLocks xmlns:a="http://schemas.openxmlformats.org/drawingml/2006/main" noGrp="1"/>
          </p:cNvSpPr>
          <p:nvPr/>
        </p:nvSpPr>
        <p:spPr>
          <a:xfrm xmlns:a="http://schemas.openxmlformats.org/drawingml/2006/main">
            <a:off x="400050" y="5381625"/>
            <a:ext cx="1133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0">
                <a:solidFill>
                  <a:srgbClr val="222222"/>
                </a:solidFill>
                <a:latin typeface="Helvetica Neue"/>
                <a:ea typeface="Helvetica Neue"/>
                <a:cs typeface="Helvetica Neue"/>
              </a:defRPr>
            </a:pPr>
            <a:r>
              <a:rPr sz="1650" b="0">
                <a:solidFill>
                  <a:srgbClr val="222222"/>
                </a:solidFill>
                <a:latin typeface="Helvetica Neue"/>
                <a:ea typeface="Helvetica Neue"/>
                <a:cs typeface="Helvetica Neue"/>
              </a:rPr>
              <a:t>La diffusion automatique n’intervient qu’après validation humaine.</a:t>
            </a:r>
          </a:p>
        </p:txBody>
      </p:sp>
      <p:sp>
        <p:nvSpPr>
          <p:cNvPr id="18" name="footer-03">
            <a:extLst xmlns:a="http://schemas.openxmlformats.org/drawingml/2006/main">
              <a:ext uri="{FF2B5EF4-FFF2-40B4-BE49-F238E27FC236}">
                <a16:creationId xmlns:a16="http://schemas.microsoft.com/office/drawing/2014/main" id="{C34B5965-316A-4958-B9FD-C0338B72AFF4}"/>
              </a:ext>
            </a:extLst>
          </p:cNvPr>
          <p:cNvSpPr>
            <a:spLocks xmlns:a="http://schemas.openxmlformats.org/drawingml/2006/main" noGrp="1"/>
          </p:cNvSpPr>
          <p:nvPr/>
        </p:nvSpPr>
        <p:spPr>
          <a:xfrm xmlns:a="http://schemas.openxmlformats.org/drawingml/2006/main">
            <a:off x="11220450" y="62769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0">
                <a:solidFill>
                  <a:srgbClr val="555555"/>
                </a:solidFill>
                <a:latin typeface="Helvetica Neue"/>
                <a:ea typeface="Helvetica Neue"/>
                <a:cs typeface="Helvetica Neue"/>
              </a:defRPr>
            </a:pPr>
            <a:r>
              <a:rPr sz="1050" b="0">
                <a:solidFill>
                  <a:srgbClr val="555555"/>
                </a:solidFill>
                <a:latin typeface="Helvetica Neue"/>
                <a:ea typeface="Helvetica Neue"/>
                <a:cs typeface="Helvetica Neue"/>
              </a:rPr>
              <a:t>04</a:t>
            </a:r>
          </a:p>
        </p:txBody>
      </p:sp>
    </p:spTree>
    <p:extLst>
      <p:ext uri="{BB962C8B-B14F-4D97-AF65-F5344CB8AC3E}">
        <p14:creationId xmlns:p14="http://schemas.microsoft.com/office/powerpoint/2010/main" val="4542703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Bénéfices">
            <a:extLst xmlns:a="http://schemas.openxmlformats.org/drawingml/2006/main">
              <a:ext uri="{FF2B5EF4-FFF2-40B4-BE49-F238E27FC236}">
                <a16:creationId xmlns:a16="http://schemas.microsoft.com/office/drawing/2014/main" id="{0707F894-E914-4C20-A24C-F2F898213CE9}"/>
              </a:ext>
            </a:extLst>
          </p:cNvPr>
          <p:cNvSpPr>
            <a:spLocks xmlns:a="http://schemas.openxmlformats.org/drawingml/2006/main" noGrp="1"/>
          </p:cNvSpPr>
          <p:nvPr/>
        </p:nvSpPr>
        <p:spPr>
          <a:xfrm xmlns:a="http://schemas.openxmlformats.org/drawingml/2006/main">
            <a:off x="400050" y="762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a:solidFill>
                  <a:srgbClr val="555555"/>
                </a:solidFill>
                <a:latin typeface="Helvetica Neue"/>
                <a:ea typeface="Helvetica Neue"/>
                <a:cs typeface="Helvetica Neue"/>
              </a:defRPr>
            </a:pPr>
            <a:r>
              <a:rPr sz="900" b="1">
                <a:solidFill>
                  <a:srgbClr val="555555"/>
                </a:solidFill>
                <a:latin typeface="Helvetica Neue"/>
                <a:ea typeface="Helvetica Neue"/>
                <a:cs typeface="Helvetica Neue"/>
              </a:rPr>
              <a:t>Bénéfices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4f5ed2047144820"/>
          <a:stretch xmlns:a="http://schemas.openxmlformats.org/drawingml/2006/main"/>
        </p:blipFill>
        <p:spPr>
          <a:xfrm xmlns:a="http://schemas.openxmlformats.org/drawingml/2006/main">
            <a:off x="10049653" y="152400"/>
            <a:ext cx="1046195" cy="495300"/>
          </a:xfrm>
          <a:prstGeom xmlns:a="http://schemas.openxmlformats.org/drawingml/2006/main" prst="rect">
            <a:avLst/>
          </a:prstGeom>
        </p:spPr>
      </p:pic>
      <p:sp>
        <p:nvSpPr>
          <p:cNvPr id="3" name="benefits-title">
            <a:extLst xmlns:a="http://schemas.openxmlformats.org/drawingml/2006/main">
              <a:ext uri="{FF2B5EF4-FFF2-40B4-BE49-F238E27FC236}">
                <a16:creationId xmlns:a16="http://schemas.microsoft.com/office/drawing/2014/main" id="{17616589-F9F5-4016-94B5-2E54D153B706}"/>
              </a:ext>
            </a:extLst>
          </p:cNvPr>
          <p:cNvSpPr>
            <a:spLocks xmlns:a="http://schemas.openxmlformats.org/drawingml/2006/main" noGrp="1"/>
          </p:cNvSpPr>
          <p:nvPr/>
        </p:nvSpPr>
        <p:spPr>
          <a:xfrm xmlns:a="http://schemas.openxmlformats.org/drawingml/2006/main">
            <a:off x="400050" y="3429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lnSpc>
                <a:spcPct val="100000"/>
              </a:lnSpc>
              <a:buNone/>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Le gain vient d’abord de la vitesse, de l’homogénéité et d’une revue plus précoce</a:t>
            </a:r>
          </a:p>
        </p:txBody>
      </p:sp>
      <p:sp>
        <p:nvSpPr>
          <p:cNvPr id="4" name="benefits-intro">
            <a:extLst xmlns:a="http://schemas.openxmlformats.org/drawingml/2006/main">
              <a:ext uri="{FF2B5EF4-FFF2-40B4-BE49-F238E27FC236}">
                <a16:creationId xmlns:a16="http://schemas.microsoft.com/office/drawing/2014/main" id="{5E032665-3E00-4651-96A3-87E7EBCA645D}"/>
              </a:ext>
            </a:extLst>
          </p:cNvPr>
          <p:cNvSpPr>
            <a:spLocks xmlns:a="http://schemas.openxmlformats.org/drawingml/2006/main" noGrp="1"/>
          </p:cNvSpPr>
          <p:nvPr/>
        </p:nvSpPr>
        <p:spPr>
          <a:xfrm xmlns:a="http://schemas.openxmlformats.org/drawingml/2006/main">
            <a:off x="400050" y="11811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25"/>
          </a:bodyPr>
          <a:lstStyle xmlns:a="http://schemas.openxmlformats.org/drawingml/2006/main"/>
          <a:p xmlns:a="http://schemas.openxmlformats.org/drawingml/2006/main">
            <a:pPr algn="l">
              <a:lnSpc>
                <a:spcPct val="118000"/>
              </a:lnSpc>
              <a:buNone/>
              <a:defRPr sz="1575" b="0">
                <a:solidFill>
                  <a:srgbClr val="222222"/>
                </a:solidFill>
                <a:latin typeface="Helvetica Neue"/>
                <a:ea typeface="Helvetica Neue"/>
                <a:cs typeface="Helvetica Neue"/>
              </a:defRPr>
            </a:pPr>
            <a:r>
              <a:rPr sz="1575" b="0">
                <a:solidFill>
                  <a:srgbClr val="222222"/>
                </a:solidFill>
                <a:latin typeface="Helvetica Neue"/>
                <a:ea typeface="Helvetica Neue"/>
                <a:cs typeface="Helvetica Neue"/>
              </a:rPr>
              <a:t>Le cas d’usage n’essaie pas de remplacer le jugement financier. Il réduit les tâches de reprise, améliore la lisibilité des écarts et prépare mieux les arbitrages.</a:t>
            </a:r>
          </a:p>
        </p:txBody>
      </p:sp>
      <p:sp>
        <p:nvSpPr>
          <p:cNvPr id="5" name="before-panel">
            <a:extLst xmlns:a="http://schemas.openxmlformats.org/drawingml/2006/main">
              <a:ext uri="{FF2B5EF4-FFF2-40B4-BE49-F238E27FC236}">
                <a16:creationId xmlns:a16="http://schemas.microsoft.com/office/drawing/2014/main" id="{BF31BA90-495C-41E6-B08A-40A64C5589D9}"/>
              </a:ext>
            </a:extLst>
          </p:cNvPr>
          <p:cNvSpPr>
            <a:spLocks xmlns:a="http://schemas.openxmlformats.org/drawingml/2006/main" noGrp="1"/>
          </p:cNvSpPr>
          <p:nvPr/>
        </p:nvSpPr>
        <p:spPr>
          <a:xfrm xmlns:a="http://schemas.openxmlformats.org/drawingml/2006/main">
            <a:off x="400050" y="2190750"/>
            <a:ext cx="5534025" cy="26479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before-title">
            <a:extLst xmlns:a="http://schemas.openxmlformats.org/drawingml/2006/main">
              <a:ext uri="{FF2B5EF4-FFF2-40B4-BE49-F238E27FC236}">
                <a16:creationId xmlns:a16="http://schemas.microsoft.com/office/drawing/2014/main" id="{1D30D9EF-DECC-4CF7-B51A-58DB08F0D97C}"/>
              </a:ext>
            </a:extLst>
          </p:cNvPr>
          <p:cNvSpPr>
            <a:spLocks xmlns:a="http://schemas.openxmlformats.org/drawingml/2006/main" noGrp="1"/>
          </p:cNvSpPr>
          <p:nvPr/>
        </p:nvSpPr>
        <p:spPr>
          <a:xfrm xmlns:a="http://schemas.openxmlformats.org/drawingml/2006/main">
            <a:off x="695325" y="24574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449"/>
          </a:bodyPr>
          <a:lstStyle xmlns:a="http://schemas.openxmlformats.org/drawingml/2006/main"/>
          <a:p xmlns:a="http://schemas.openxmlformats.org/drawingml/2006/main">
            <a:pPr algn="l">
              <a:lnSpc>
                <a:spcPct val="108000"/>
              </a:lnSpc>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Avant</a:t>
            </a:r>
          </a:p>
        </p:txBody>
      </p:sp>
      <p:sp>
        <p:nvSpPr>
          <p:cNvPr id="7" name="before-bullets">
            <a:extLst xmlns:a="http://schemas.openxmlformats.org/drawingml/2006/main">
              <a:ext uri="{FF2B5EF4-FFF2-40B4-BE49-F238E27FC236}">
                <a16:creationId xmlns:a16="http://schemas.microsoft.com/office/drawing/2014/main" id="{3ED9379E-BDA5-40B6-851D-D72A7F812CAA}"/>
              </a:ext>
            </a:extLst>
          </p:cNvPr>
          <p:cNvSpPr>
            <a:spLocks xmlns:a="http://schemas.openxmlformats.org/drawingml/2006/main" noGrp="1"/>
          </p:cNvSpPr>
          <p:nvPr/>
        </p:nvSpPr>
        <p:spPr>
          <a:xfrm xmlns:a="http://schemas.openxmlformats.org/drawingml/2006/main">
            <a:off x="695325" y="2990850"/>
            <a:ext cx="4857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25"/>
          </a:bodyPr>
          <a:lstStyle xmlns:a="http://schemas.openxmlformats.org/drawingml/2006/main"/>
          <a:p xmlns:a="http://schemas.openxmlformats.org/drawingml/2006/main">
            <a:pPr marL="24" indent="-14" algn="l">
              <a:lnSpc>
                <a:spcPct val="115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Beaucoup de temps passé à reformater et commenter les chiffres.</a:t>
            </a:r>
          </a:p>
          <a:p xmlns:a="http://schemas.openxmlformats.org/drawingml/2006/main">
            <a:pPr marL="24" indent="-14" algn="l">
              <a:lnSpc>
                <a:spcPct val="115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Détection plus tardive des anomalies et des justificatifs manquants.</a:t>
            </a:r>
          </a:p>
          <a:p xmlns:a="http://schemas.openxmlformats.org/drawingml/2006/main">
            <a:pPr marL="24" indent="-14" algn="l">
              <a:lnSpc>
                <a:spcPct val="115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Notes de synthèse variables selon les équipes et les périodes.</a:t>
            </a:r>
          </a:p>
          <a:p xmlns:a="http://schemas.openxmlformats.org/drawingml/2006/main">
            <a:pPr marL="24" indent="-14" algn="l">
              <a:lnSpc>
                <a:spcPct val="115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Information parfois trop brute ou trop tardive pour le comité.</a:t>
            </a:r>
          </a:p>
        </p:txBody>
      </p:sp>
      <p:sp>
        <p:nvSpPr>
          <p:cNvPr id="8" name="after-panel">
            <a:extLst xmlns:a="http://schemas.openxmlformats.org/drawingml/2006/main">
              <a:ext uri="{FF2B5EF4-FFF2-40B4-BE49-F238E27FC236}">
                <a16:creationId xmlns:a16="http://schemas.microsoft.com/office/drawing/2014/main" id="{86952376-4616-441B-A70A-C1B96177CF74}"/>
              </a:ext>
            </a:extLst>
          </p:cNvPr>
          <p:cNvSpPr>
            <a:spLocks xmlns:a="http://schemas.openxmlformats.org/drawingml/2006/main" noGrp="1"/>
          </p:cNvSpPr>
          <p:nvPr/>
        </p:nvSpPr>
        <p:spPr>
          <a:xfrm xmlns:a="http://schemas.openxmlformats.org/drawingml/2006/main">
            <a:off x="6257925" y="2190750"/>
            <a:ext cx="5534025" cy="26479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after-title">
            <a:extLst xmlns:a="http://schemas.openxmlformats.org/drawingml/2006/main">
              <a:ext uri="{FF2B5EF4-FFF2-40B4-BE49-F238E27FC236}">
                <a16:creationId xmlns:a16="http://schemas.microsoft.com/office/drawing/2014/main" id="{727DE855-58BA-463F-BF61-D642A11514F3}"/>
              </a:ext>
            </a:extLst>
          </p:cNvPr>
          <p:cNvSpPr>
            <a:spLocks xmlns:a="http://schemas.openxmlformats.org/drawingml/2006/main" noGrp="1"/>
          </p:cNvSpPr>
          <p:nvPr/>
        </p:nvSpPr>
        <p:spPr>
          <a:xfrm xmlns:a="http://schemas.openxmlformats.org/drawingml/2006/main">
            <a:off x="6562725" y="24574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449"/>
          </a:bodyPr>
          <a:lstStyle xmlns:a="http://schemas.openxmlformats.org/drawingml/2006/main"/>
          <a:p xmlns:a="http://schemas.openxmlformats.org/drawingml/2006/main">
            <a:pPr algn="l">
              <a:lnSpc>
                <a:spcPct val="108000"/>
              </a:lnSpc>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Après</a:t>
            </a:r>
          </a:p>
        </p:txBody>
      </p:sp>
      <p:sp>
        <p:nvSpPr>
          <p:cNvPr id="10" name="after-bullets">
            <a:extLst xmlns:a="http://schemas.openxmlformats.org/drawingml/2006/main">
              <a:ext uri="{FF2B5EF4-FFF2-40B4-BE49-F238E27FC236}">
                <a16:creationId xmlns:a16="http://schemas.microsoft.com/office/drawing/2014/main" id="{6FA4707D-97D5-46D5-9A30-455F52CDEED3}"/>
              </a:ext>
            </a:extLst>
          </p:cNvPr>
          <p:cNvSpPr>
            <a:spLocks xmlns:a="http://schemas.openxmlformats.org/drawingml/2006/main" noGrp="1"/>
          </p:cNvSpPr>
          <p:nvPr/>
        </p:nvSpPr>
        <p:spPr>
          <a:xfrm xmlns:a="http://schemas.openxmlformats.org/drawingml/2006/main">
            <a:off x="6562725" y="2990850"/>
            <a:ext cx="4857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92"/>
          </a:bodyPr>
          <a:lstStyle xmlns:a="http://schemas.openxmlformats.org/drawingml/2006/main"/>
          <a:p xmlns:a="http://schemas.openxmlformats.org/drawingml/2006/main">
            <a:pPr marL="24" indent="-14" algn="l">
              <a:lnSpc>
                <a:spcPct val="115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Moins de temps perdu à reprendre la forme des données déjà disponibles.</a:t>
            </a:r>
          </a:p>
          <a:p xmlns:a="http://schemas.openxmlformats.org/drawingml/2006/main">
            <a:pPr marL="24" indent="-14" algn="l">
              <a:lnSpc>
                <a:spcPct val="115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Détection plus précoce des anomalies et des écarts importants.</a:t>
            </a:r>
          </a:p>
          <a:p xmlns:a="http://schemas.openxmlformats.org/drawingml/2006/main">
            <a:pPr marL="24" indent="-14" algn="l">
              <a:lnSpc>
                <a:spcPct val="115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Notes de synthèse plus homogènes entre comptabilité, contrôle et audit.</a:t>
            </a:r>
          </a:p>
          <a:p xmlns:a="http://schemas.openxmlformats.org/drawingml/2006/main">
            <a:pPr marL="24" indent="-14" algn="l">
              <a:lnSpc>
                <a:spcPct val="115000"/>
              </a:lnSpc>
              <a:buNone/>
              <a:defRPr sz="1350" b="0">
                <a:solidFill>
                  <a:srgbClr val="222222"/>
                </a:solidFill>
                <a:latin typeface="Helvetica Neue"/>
                <a:ea typeface="Helvetica Neue"/>
                <a:cs typeface="Helvetica Neue"/>
              </a:defRPr>
            </a:pPr>
            <a:r>
              <a:rPr sz="1350" b="0">
                <a:solidFill>
                  <a:srgbClr val="222222"/>
                </a:solidFill>
                <a:latin typeface="Helvetica Neue"/>
                <a:ea typeface="Helvetica Neue"/>
                <a:cs typeface="Helvetica Neue"/>
              </a:rPr>
              <a:t>Meilleure préparation des comités et des arbitrages managériaux.</a:t>
            </a:r>
          </a:p>
        </p:txBody>
      </p:sp>
      <p:sp>
        <p:nvSpPr>
          <p:cNvPr id="11" name="benefits-footer">
            <a:extLst xmlns:a="http://schemas.openxmlformats.org/drawingml/2006/main">
              <a:ext uri="{FF2B5EF4-FFF2-40B4-BE49-F238E27FC236}">
                <a16:creationId xmlns:a16="http://schemas.microsoft.com/office/drawing/2014/main" id="{ED09CD28-7E34-413E-BC9A-981AC8657017}"/>
              </a:ext>
            </a:extLst>
          </p:cNvPr>
          <p:cNvSpPr>
            <a:spLocks xmlns:a="http://schemas.openxmlformats.org/drawingml/2006/main" noGrp="1"/>
          </p:cNvSpPr>
          <p:nvPr/>
        </p:nvSpPr>
        <p:spPr>
          <a:xfrm xmlns:a="http://schemas.openxmlformats.org/drawingml/2006/main">
            <a:off x="400050" y="5334000"/>
            <a:ext cx="1139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Contrôle humain maintenu sur tous les usages sensibles et sur toute diffusion officielle.</a:t>
            </a:r>
          </a:p>
        </p:txBody>
      </p:sp>
      <p:sp>
        <p:nvSpPr>
          <p:cNvPr id="12" name="footer-04">
            <a:extLst xmlns:a="http://schemas.openxmlformats.org/drawingml/2006/main">
              <a:ext uri="{FF2B5EF4-FFF2-40B4-BE49-F238E27FC236}">
                <a16:creationId xmlns:a16="http://schemas.microsoft.com/office/drawing/2014/main" id="{378BD9D6-49EE-4886-A7B8-C78A2843B183}"/>
              </a:ext>
            </a:extLst>
          </p:cNvPr>
          <p:cNvSpPr>
            <a:spLocks xmlns:a="http://schemas.openxmlformats.org/drawingml/2006/main" noGrp="1"/>
          </p:cNvSpPr>
          <p:nvPr/>
        </p:nvSpPr>
        <p:spPr>
          <a:xfrm xmlns:a="http://schemas.openxmlformats.org/drawingml/2006/main">
            <a:off x="11220450" y="62769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0">
                <a:solidFill>
                  <a:srgbClr val="555555"/>
                </a:solidFill>
                <a:latin typeface="Helvetica Neue"/>
                <a:ea typeface="Helvetica Neue"/>
                <a:cs typeface="Helvetica Neue"/>
              </a:defRPr>
            </a:pPr>
            <a:r>
              <a:rPr sz="1050" b="0">
                <a:solidFill>
                  <a:srgbClr val="555555"/>
                </a:solidFill>
                <a:latin typeface="Helvetica Neue"/>
                <a:ea typeface="Helvetica Neue"/>
                <a:cs typeface="Helvetica Neue"/>
              </a:rPr>
              <a:t>05</a:t>
            </a:r>
          </a:p>
        </p:txBody>
      </p:sp>
    </p:spTree>
    <p:extLst>
      <p:ext uri="{BB962C8B-B14F-4D97-AF65-F5344CB8AC3E}">
        <p14:creationId xmlns:p14="http://schemas.microsoft.com/office/powerpoint/2010/main" val="2258027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ection-Pilotage">
            <a:extLst xmlns:a="http://schemas.openxmlformats.org/drawingml/2006/main">
              <a:ext uri="{FF2B5EF4-FFF2-40B4-BE49-F238E27FC236}">
                <a16:creationId xmlns:a16="http://schemas.microsoft.com/office/drawing/2014/main" id="{5AC7B388-201F-4CD8-BC20-D93B6E28C49C}"/>
              </a:ext>
            </a:extLst>
          </p:cNvPr>
          <p:cNvSpPr>
            <a:spLocks xmlns:a="http://schemas.openxmlformats.org/drawingml/2006/main" noGrp="1"/>
          </p:cNvSpPr>
          <p:nvPr/>
        </p:nvSpPr>
        <p:spPr>
          <a:xfrm xmlns:a="http://schemas.openxmlformats.org/drawingml/2006/main">
            <a:off x="400050" y="762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a:solidFill>
                  <a:srgbClr val="555555"/>
                </a:solidFill>
                <a:latin typeface="Helvetica Neue"/>
                <a:ea typeface="Helvetica Neue"/>
                <a:cs typeface="Helvetica Neue"/>
              </a:defRPr>
            </a:pPr>
            <a:r>
              <a:rPr sz="900" b="1">
                <a:solidFill>
                  <a:srgbClr val="555555"/>
                </a:solidFill>
                <a:latin typeface="Helvetica Neue"/>
                <a:ea typeface="Helvetica Neue"/>
                <a:cs typeface="Helvetica Neue"/>
              </a:rPr>
              <a:t>Pilotage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70ca22b10864d10"/>
          <a:stretch xmlns:a="http://schemas.openxmlformats.org/drawingml/2006/main"/>
        </p:blipFill>
        <p:spPr>
          <a:xfrm xmlns:a="http://schemas.openxmlformats.org/drawingml/2006/main">
            <a:off x="10049653" y="152400"/>
            <a:ext cx="1046195" cy="495300"/>
          </a:xfrm>
          <a:prstGeom xmlns:a="http://schemas.openxmlformats.org/drawingml/2006/main" prst="rect">
            <a:avLst/>
          </a:prstGeom>
        </p:spPr>
      </p:pic>
      <p:sp>
        <p:nvSpPr>
          <p:cNvPr id="3" name="kpi-title">
            <a:extLst xmlns:a="http://schemas.openxmlformats.org/drawingml/2006/main">
              <a:ext uri="{FF2B5EF4-FFF2-40B4-BE49-F238E27FC236}">
                <a16:creationId xmlns:a16="http://schemas.microsoft.com/office/drawing/2014/main" id="{9A7C8067-8DEF-44DC-A61A-ECE74F2A5D95}"/>
              </a:ext>
            </a:extLst>
          </p:cNvPr>
          <p:cNvSpPr>
            <a:spLocks xmlns:a="http://schemas.openxmlformats.org/drawingml/2006/main" noGrp="1"/>
          </p:cNvSpPr>
          <p:nvPr/>
        </p:nvSpPr>
        <p:spPr>
          <a:xfrm xmlns:a="http://schemas.openxmlformats.org/drawingml/2006/main">
            <a:off x="400050" y="3429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75" b="0">
                <a:solidFill>
                  <a:srgbClr val="000000"/>
                </a:solidFill>
                <a:latin typeface="Helvetica Neue"/>
                <a:ea typeface="Helvetica Neue"/>
                <a:cs typeface="Helvetica Neue"/>
              </a:defRPr>
            </a:pPr>
            <a:r>
              <a:rPr sz="2775" b="0">
                <a:solidFill>
                  <a:srgbClr val="000000"/>
                </a:solidFill>
                <a:latin typeface="Helvetica Neue"/>
                <a:ea typeface="Helvetica Neue"/>
                <a:cs typeface="Helvetica Neue"/>
              </a:rPr>
              <a:t>Les KPI de pilotage sont simples et immédiatement lisibles</a:t>
            </a:r>
          </a:p>
        </p:txBody>
      </p:sp>
      <p:sp>
        <p:nvSpPr>
          <p:cNvPr id="4" name="kpi-intro">
            <a:extLst xmlns:a="http://schemas.openxmlformats.org/drawingml/2006/main">
              <a:ext uri="{FF2B5EF4-FFF2-40B4-BE49-F238E27FC236}">
                <a16:creationId xmlns:a16="http://schemas.microsoft.com/office/drawing/2014/main" id="{DC9823C7-5F92-4366-97AA-9860132AA781}"/>
              </a:ext>
            </a:extLst>
          </p:cNvPr>
          <p:cNvSpPr>
            <a:spLocks xmlns:a="http://schemas.openxmlformats.org/drawingml/2006/main" noGrp="1"/>
          </p:cNvSpPr>
          <p:nvPr/>
        </p:nvSpPr>
        <p:spPr>
          <a:xfrm xmlns:a="http://schemas.openxmlformats.org/drawingml/2006/main">
            <a:off x="400050" y="10096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1"/>
          </a:bodyPr>
          <a:lstStyle xmlns:a="http://schemas.openxmlformats.org/drawingml/2006/main"/>
          <a:p xmlns:a="http://schemas.openxmlformats.org/drawingml/2006/main">
            <a:pPr algn="l">
              <a:lnSpc>
                <a:spcPct val="114000"/>
              </a:lnSpc>
              <a:buNone/>
              <a:defRPr sz="1575" b="0">
                <a:solidFill>
                  <a:srgbClr val="222222"/>
                </a:solidFill>
                <a:latin typeface="Helvetica Neue"/>
                <a:ea typeface="Helvetica Neue"/>
                <a:cs typeface="Helvetica Neue"/>
              </a:defRPr>
            </a:pPr>
            <a:r>
              <a:rPr sz="1575" b="0">
                <a:solidFill>
                  <a:srgbClr val="222222"/>
                </a:solidFill>
                <a:latin typeface="Helvetica Neue"/>
                <a:ea typeface="Helvetica Neue"/>
                <a:cs typeface="Helvetica Neue"/>
              </a:rPr>
              <a:t>Ils permettent de mesurer rapidement l’utilité du pilote, sans attendre un projet complexe ou une transformation globale.</a:t>
            </a:r>
          </a:p>
        </p:txBody>
      </p:sp>
      <p:sp>
        <p:nvSpPr>
          <p:cNvPr id="5" name="kpi-card-42">
            <a:extLst xmlns:a="http://schemas.openxmlformats.org/drawingml/2006/main">
              <a:ext uri="{FF2B5EF4-FFF2-40B4-BE49-F238E27FC236}">
                <a16:creationId xmlns:a16="http://schemas.microsoft.com/office/drawing/2014/main" id="{7A79BFAE-F4E3-478C-982F-FAE895DF8E9E}"/>
              </a:ext>
            </a:extLst>
          </p:cNvPr>
          <p:cNvSpPr>
            <a:spLocks xmlns:a="http://schemas.openxmlformats.org/drawingml/2006/main" noGrp="1"/>
          </p:cNvSpPr>
          <p:nvPr/>
        </p:nvSpPr>
        <p:spPr>
          <a:xfrm xmlns:a="http://schemas.openxmlformats.org/drawingml/2006/main">
            <a:off x="400050" y="1981200"/>
            <a:ext cx="2590800" cy="2971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kpi-label-42">
            <a:extLst xmlns:a="http://schemas.openxmlformats.org/drawingml/2006/main">
              <a:ext uri="{FF2B5EF4-FFF2-40B4-BE49-F238E27FC236}">
                <a16:creationId xmlns:a16="http://schemas.microsoft.com/office/drawing/2014/main" id="{53D7003D-5472-4AFE-9667-C8E3A7DE1CB5}"/>
              </a:ext>
            </a:extLst>
          </p:cNvPr>
          <p:cNvSpPr>
            <a:spLocks xmlns:a="http://schemas.openxmlformats.org/drawingml/2006/main" noGrp="1"/>
          </p:cNvSpPr>
          <p:nvPr/>
        </p:nvSpPr>
        <p:spPr>
          <a:xfrm xmlns:a="http://schemas.openxmlformats.org/drawingml/2006/main">
            <a:off x="628650" y="220980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300" b="0">
                <a:solidFill>
                  <a:srgbClr val="000000"/>
                </a:solidFill>
                <a:latin typeface="Helvetica Neue"/>
                <a:ea typeface="Helvetica Neue"/>
                <a:cs typeface="Helvetica Neue"/>
              </a:defRPr>
            </a:pPr>
            <a:r>
              <a:rPr sz="3300" b="0">
                <a:solidFill>
                  <a:srgbClr val="000000"/>
                </a:solidFill>
                <a:latin typeface="Helvetica Neue"/>
                <a:ea typeface="Helvetica Neue"/>
                <a:cs typeface="Helvetica Neue"/>
              </a:rPr>
              <a:t>Temps</a:t>
            </a:r>
          </a:p>
        </p:txBody>
      </p:sp>
      <p:sp>
        <p:nvSpPr>
          <p:cNvPr id="7" name="kpi-card-title-42">
            <a:extLst xmlns:a="http://schemas.openxmlformats.org/drawingml/2006/main">
              <a:ext uri="{FF2B5EF4-FFF2-40B4-BE49-F238E27FC236}">
                <a16:creationId xmlns:a16="http://schemas.microsoft.com/office/drawing/2014/main" id="{E9E8E0E1-D294-4723-BC78-46609181F1B6}"/>
              </a:ext>
            </a:extLst>
          </p:cNvPr>
          <p:cNvSpPr>
            <a:spLocks xmlns:a="http://schemas.openxmlformats.org/drawingml/2006/main" noGrp="1"/>
          </p:cNvSpPr>
          <p:nvPr/>
        </p:nvSpPr>
        <p:spPr>
          <a:xfrm xmlns:a="http://schemas.openxmlformats.org/drawingml/2006/main">
            <a:off x="628650" y="29527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94"/>
          </a:bodyPr>
          <a:lstStyle xmlns:a="http://schemas.openxmlformats.org/drawingml/2006/main"/>
          <a:p xmlns:a="http://schemas.openxmlformats.org/drawingml/2006/main">
            <a:pPr algn="l">
              <a:lnSpc>
                <a:spcPct val="104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Temps de préparation du reporting</a:t>
            </a:r>
          </a:p>
        </p:txBody>
      </p:sp>
      <p:sp>
        <p:nvSpPr>
          <p:cNvPr id="8" name="kpi-card-body-42">
            <a:extLst xmlns:a="http://schemas.openxmlformats.org/drawingml/2006/main">
              <a:ext uri="{FF2B5EF4-FFF2-40B4-BE49-F238E27FC236}">
                <a16:creationId xmlns:a16="http://schemas.microsoft.com/office/drawing/2014/main" id="{449A47AD-D265-4A4E-ACF7-32FE8A4260EB}"/>
              </a:ext>
            </a:extLst>
          </p:cNvPr>
          <p:cNvSpPr>
            <a:spLocks xmlns:a="http://schemas.openxmlformats.org/drawingml/2006/main" noGrp="1"/>
          </p:cNvSpPr>
          <p:nvPr/>
        </p:nvSpPr>
        <p:spPr>
          <a:xfrm xmlns:a="http://schemas.openxmlformats.org/drawingml/2006/main">
            <a:off x="628650" y="39624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3"/>
          </a:bodyPr>
          <a:lstStyle xmlns:a="http://schemas.openxmlformats.org/drawingml/2006/main"/>
          <a:p xmlns:a="http://schemas.openxmlformats.org/drawingml/2006/main">
            <a:pPr algn="l">
              <a:lnSpc>
                <a:spcPct val="116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Mesurer le temps économisé sur la collecte, la relecture, le commentaire et la mise en forme.</a:t>
            </a:r>
          </a:p>
        </p:txBody>
      </p:sp>
      <p:sp>
        <p:nvSpPr>
          <p:cNvPr id="9" name="kpi-card-350">
            <a:extLst xmlns:a="http://schemas.openxmlformats.org/drawingml/2006/main">
              <a:ext uri="{FF2B5EF4-FFF2-40B4-BE49-F238E27FC236}">
                <a16:creationId xmlns:a16="http://schemas.microsoft.com/office/drawing/2014/main" id="{B6C2DA49-BC07-4C51-8BEF-9EBBD71F55FD}"/>
              </a:ext>
            </a:extLst>
          </p:cNvPr>
          <p:cNvSpPr>
            <a:spLocks xmlns:a="http://schemas.openxmlformats.org/drawingml/2006/main" noGrp="1"/>
          </p:cNvSpPr>
          <p:nvPr/>
        </p:nvSpPr>
        <p:spPr>
          <a:xfrm xmlns:a="http://schemas.openxmlformats.org/drawingml/2006/main">
            <a:off x="3333750" y="1981200"/>
            <a:ext cx="2590800" cy="2971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kpi-label-350">
            <a:extLst xmlns:a="http://schemas.openxmlformats.org/drawingml/2006/main">
              <a:ext uri="{FF2B5EF4-FFF2-40B4-BE49-F238E27FC236}">
                <a16:creationId xmlns:a16="http://schemas.microsoft.com/office/drawing/2014/main" id="{C6A4DFAA-409C-4FFC-8FF9-82E872BE61FF}"/>
              </a:ext>
            </a:extLst>
          </p:cNvPr>
          <p:cNvSpPr>
            <a:spLocks xmlns:a="http://schemas.openxmlformats.org/drawingml/2006/main" noGrp="1"/>
          </p:cNvSpPr>
          <p:nvPr/>
        </p:nvSpPr>
        <p:spPr>
          <a:xfrm xmlns:a="http://schemas.openxmlformats.org/drawingml/2006/main">
            <a:off x="3562350" y="220980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300" b="0">
                <a:solidFill>
                  <a:srgbClr val="000000"/>
                </a:solidFill>
                <a:latin typeface="Helvetica Neue"/>
                <a:ea typeface="Helvetica Neue"/>
                <a:cs typeface="Helvetica Neue"/>
              </a:defRPr>
            </a:pPr>
            <a:r>
              <a:rPr sz="3300" b="0">
                <a:solidFill>
                  <a:srgbClr val="000000"/>
                </a:solidFill>
                <a:latin typeface="Helvetica Neue"/>
                <a:ea typeface="Helvetica Neue"/>
                <a:cs typeface="Helvetica Neue"/>
              </a:rPr>
              <a:t>Délai</a:t>
            </a:r>
          </a:p>
        </p:txBody>
      </p:sp>
      <p:sp>
        <p:nvSpPr>
          <p:cNvPr id="11" name="kpi-card-title-350">
            <a:extLst xmlns:a="http://schemas.openxmlformats.org/drawingml/2006/main">
              <a:ext uri="{FF2B5EF4-FFF2-40B4-BE49-F238E27FC236}">
                <a16:creationId xmlns:a16="http://schemas.microsoft.com/office/drawing/2014/main" id="{0CB83E94-0475-4698-9CDC-E1CB5D135B99}"/>
              </a:ext>
            </a:extLst>
          </p:cNvPr>
          <p:cNvSpPr>
            <a:spLocks xmlns:a="http://schemas.openxmlformats.org/drawingml/2006/main" noGrp="1"/>
          </p:cNvSpPr>
          <p:nvPr/>
        </p:nvSpPr>
        <p:spPr>
          <a:xfrm xmlns:a="http://schemas.openxmlformats.org/drawingml/2006/main">
            <a:off x="3562350" y="29527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Délai de détection des anomalies</a:t>
            </a:r>
          </a:p>
        </p:txBody>
      </p:sp>
      <p:sp>
        <p:nvSpPr>
          <p:cNvPr id="12" name="kpi-card-body-350">
            <a:extLst xmlns:a="http://schemas.openxmlformats.org/drawingml/2006/main">
              <a:ext uri="{FF2B5EF4-FFF2-40B4-BE49-F238E27FC236}">
                <a16:creationId xmlns:a16="http://schemas.microsoft.com/office/drawing/2014/main" id="{48058AA2-18CB-439B-B254-13287F6D06BD}"/>
              </a:ext>
            </a:extLst>
          </p:cNvPr>
          <p:cNvSpPr>
            <a:spLocks xmlns:a="http://schemas.openxmlformats.org/drawingml/2006/main" noGrp="1"/>
          </p:cNvSpPr>
          <p:nvPr/>
        </p:nvSpPr>
        <p:spPr>
          <a:xfrm xmlns:a="http://schemas.openxmlformats.org/drawingml/2006/main">
            <a:off x="3562350" y="39624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868"/>
          </a:bodyPr>
          <a:lstStyle xmlns:a="http://schemas.openxmlformats.org/drawingml/2006/main"/>
          <a:p xmlns:a="http://schemas.openxmlformats.org/drawingml/2006/main">
            <a:pPr algn="l">
              <a:lnSpc>
                <a:spcPct val="116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Suivre la rapidité avec laquelle les écarts et les exceptions remontent avant la validation finale.</a:t>
            </a:r>
          </a:p>
        </p:txBody>
      </p:sp>
      <p:sp>
        <p:nvSpPr>
          <p:cNvPr id="13" name="kpi-card-658">
            <a:extLst xmlns:a="http://schemas.openxmlformats.org/drawingml/2006/main">
              <a:ext uri="{FF2B5EF4-FFF2-40B4-BE49-F238E27FC236}">
                <a16:creationId xmlns:a16="http://schemas.microsoft.com/office/drawing/2014/main" id="{87EE8AD0-8FD5-4FF8-8136-B04B5BF9F841}"/>
              </a:ext>
            </a:extLst>
          </p:cNvPr>
          <p:cNvSpPr>
            <a:spLocks xmlns:a="http://schemas.openxmlformats.org/drawingml/2006/main" noGrp="1"/>
          </p:cNvSpPr>
          <p:nvPr/>
        </p:nvSpPr>
        <p:spPr>
          <a:xfrm xmlns:a="http://schemas.openxmlformats.org/drawingml/2006/main">
            <a:off x="6267450" y="1981200"/>
            <a:ext cx="2590800" cy="2971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4" name="kpi-label-658">
            <a:extLst xmlns:a="http://schemas.openxmlformats.org/drawingml/2006/main">
              <a:ext uri="{FF2B5EF4-FFF2-40B4-BE49-F238E27FC236}">
                <a16:creationId xmlns:a16="http://schemas.microsoft.com/office/drawing/2014/main" id="{A80CBF31-BD11-4CDD-AB6B-5F315FC7538E}"/>
              </a:ext>
            </a:extLst>
          </p:cNvPr>
          <p:cNvSpPr>
            <a:spLocks xmlns:a="http://schemas.openxmlformats.org/drawingml/2006/main" noGrp="1"/>
          </p:cNvSpPr>
          <p:nvPr/>
        </p:nvSpPr>
        <p:spPr>
          <a:xfrm xmlns:a="http://schemas.openxmlformats.org/drawingml/2006/main">
            <a:off x="6496050" y="220980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300" b="0">
                <a:solidFill>
                  <a:srgbClr val="000000"/>
                </a:solidFill>
                <a:latin typeface="Helvetica Neue"/>
                <a:ea typeface="Helvetica Neue"/>
                <a:cs typeface="Helvetica Neue"/>
              </a:defRPr>
            </a:pPr>
            <a:r>
              <a:rPr sz="3300" b="0">
                <a:solidFill>
                  <a:srgbClr val="000000"/>
                </a:solidFill>
                <a:latin typeface="Helvetica Neue"/>
                <a:ea typeface="Helvetica Neue"/>
                <a:cs typeface="Helvetica Neue"/>
              </a:rPr>
              <a:t>Nombre</a:t>
            </a:r>
          </a:p>
        </p:txBody>
      </p:sp>
      <p:sp>
        <p:nvSpPr>
          <p:cNvPr id="15" name="kpi-card-title-658">
            <a:extLst xmlns:a="http://schemas.openxmlformats.org/drawingml/2006/main">
              <a:ext uri="{FF2B5EF4-FFF2-40B4-BE49-F238E27FC236}">
                <a16:creationId xmlns:a16="http://schemas.microsoft.com/office/drawing/2014/main" id="{ABFC89F2-A4D8-46D3-B175-354992CE9733}"/>
              </a:ext>
            </a:extLst>
          </p:cNvPr>
          <p:cNvSpPr>
            <a:spLocks xmlns:a="http://schemas.openxmlformats.org/drawingml/2006/main" noGrp="1"/>
          </p:cNvSpPr>
          <p:nvPr/>
        </p:nvSpPr>
        <p:spPr>
          <a:xfrm xmlns:a="http://schemas.openxmlformats.org/drawingml/2006/main">
            <a:off x="6496050" y="29527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l">
              <a:lnSpc>
                <a:spcPct val="104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Nombre d’écarts identifiés avant validation finale</a:t>
            </a:r>
          </a:p>
        </p:txBody>
      </p:sp>
      <p:sp>
        <p:nvSpPr>
          <p:cNvPr id="16" name="kpi-card-body-658">
            <a:extLst xmlns:a="http://schemas.openxmlformats.org/drawingml/2006/main">
              <a:ext uri="{FF2B5EF4-FFF2-40B4-BE49-F238E27FC236}">
                <a16:creationId xmlns:a16="http://schemas.microsoft.com/office/drawing/2014/main" id="{A69C6B54-F0EF-4C3F-9B52-3A83BF83438D}"/>
              </a:ext>
            </a:extLst>
          </p:cNvPr>
          <p:cNvSpPr>
            <a:spLocks xmlns:a="http://schemas.openxmlformats.org/drawingml/2006/main" noGrp="1"/>
          </p:cNvSpPr>
          <p:nvPr/>
        </p:nvSpPr>
        <p:spPr>
          <a:xfrm xmlns:a="http://schemas.openxmlformats.org/drawingml/2006/main">
            <a:off x="6496050" y="39624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32"/>
          </a:bodyPr>
          <a:lstStyle xmlns:a="http://schemas.openxmlformats.org/drawingml/2006/main"/>
          <a:p xmlns:a="http://schemas.openxmlformats.org/drawingml/2006/main">
            <a:pPr algn="l">
              <a:lnSpc>
                <a:spcPct val="116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Vérifier que les anomalies utiles sont repérées plus tôt et de manière plus homogène.</a:t>
            </a:r>
          </a:p>
        </p:txBody>
      </p:sp>
      <p:sp>
        <p:nvSpPr>
          <p:cNvPr id="17" name="kpi-card-966">
            <a:extLst xmlns:a="http://schemas.openxmlformats.org/drawingml/2006/main">
              <a:ext uri="{FF2B5EF4-FFF2-40B4-BE49-F238E27FC236}">
                <a16:creationId xmlns:a16="http://schemas.microsoft.com/office/drawing/2014/main" id="{CF8E6FBE-F52E-459F-AC01-9DEA81D9BF19}"/>
              </a:ext>
            </a:extLst>
          </p:cNvPr>
          <p:cNvSpPr>
            <a:spLocks xmlns:a="http://schemas.openxmlformats.org/drawingml/2006/main" noGrp="1"/>
          </p:cNvSpPr>
          <p:nvPr/>
        </p:nvSpPr>
        <p:spPr>
          <a:xfrm xmlns:a="http://schemas.openxmlformats.org/drawingml/2006/main">
            <a:off x="9201150" y="1981200"/>
            <a:ext cx="2590800" cy="2971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8" name="kpi-label-966">
            <a:extLst xmlns:a="http://schemas.openxmlformats.org/drawingml/2006/main">
              <a:ext uri="{FF2B5EF4-FFF2-40B4-BE49-F238E27FC236}">
                <a16:creationId xmlns:a16="http://schemas.microsoft.com/office/drawing/2014/main" id="{BA58F919-E084-407C-91E0-4AA2D0751197}"/>
              </a:ext>
            </a:extLst>
          </p:cNvPr>
          <p:cNvSpPr>
            <a:spLocks xmlns:a="http://schemas.openxmlformats.org/drawingml/2006/main" noGrp="1"/>
          </p:cNvSpPr>
          <p:nvPr/>
        </p:nvSpPr>
        <p:spPr>
          <a:xfrm xmlns:a="http://schemas.openxmlformats.org/drawingml/2006/main">
            <a:off x="9429750" y="220980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300" b="0">
                <a:solidFill>
                  <a:srgbClr val="000000"/>
                </a:solidFill>
                <a:latin typeface="Helvetica Neue"/>
                <a:ea typeface="Helvetica Neue"/>
                <a:cs typeface="Helvetica Neue"/>
              </a:defRPr>
            </a:pPr>
            <a:r>
              <a:rPr sz="3300" b="0">
                <a:solidFill>
                  <a:srgbClr val="000000"/>
                </a:solidFill>
                <a:latin typeface="Helvetica Neue"/>
                <a:ea typeface="Helvetica Neue"/>
                <a:cs typeface="Helvetica Neue"/>
              </a:rPr>
              <a:t>Temps</a:t>
            </a:r>
          </a:p>
        </p:txBody>
      </p:sp>
      <p:sp>
        <p:nvSpPr>
          <p:cNvPr id="19" name="kpi-card-title-966">
            <a:extLst xmlns:a="http://schemas.openxmlformats.org/drawingml/2006/main">
              <a:ext uri="{FF2B5EF4-FFF2-40B4-BE49-F238E27FC236}">
                <a16:creationId xmlns:a16="http://schemas.microsoft.com/office/drawing/2014/main" id="{192AF48F-F685-482D-8317-EC5586D8874A}"/>
              </a:ext>
            </a:extLst>
          </p:cNvPr>
          <p:cNvSpPr>
            <a:spLocks xmlns:a="http://schemas.openxmlformats.org/drawingml/2006/main" noGrp="1"/>
          </p:cNvSpPr>
          <p:nvPr/>
        </p:nvSpPr>
        <p:spPr>
          <a:xfrm xmlns:a="http://schemas.openxmlformats.org/drawingml/2006/main">
            <a:off x="9429750" y="29527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94"/>
          </a:bodyPr>
          <a:lstStyle xmlns:a="http://schemas.openxmlformats.org/drawingml/2006/main"/>
          <a:p xmlns:a="http://schemas.openxmlformats.org/drawingml/2006/main">
            <a:pPr algn="l">
              <a:lnSpc>
                <a:spcPct val="104000"/>
              </a:lnSpc>
              <a:buNone/>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Temps de préparation des notes de comité</a:t>
            </a:r>
          </a:p>
        </p:txBody>
      </p:sp>
      <p:sp>
        <p:nvSpPr>
          <p:cNvPr id="20" name="kpi-card-body-966">
            <a:extLst xmlns:a="http://schemas.openxmlformats.org/drawingml/2006/main">
              <a:ext uri="{FF2B5EF4-FFF2-40B4-BE49-F238E27FC236}">
                <a16:creationId xmlns:a16="http://schemas.microsoft.com/office/drawing/2014/main" id="{539DA3A6-DFC8-4FE2-AC41-ECA984A882AF}"/>
              </a:ext>
            </a:extLst>
          </p:cNvPr>
          <p:cNvSpPr>
            <a:spLocks xmlns:a="http://schemas.openxmlformats.org/drawingml/2006/main" noGrp="1"/>
          </p:cNvSpPr>
          <p:nvPr/>
        </p:nvSpPr>
        <p:spPr>
          <a:xfrm xmlns:a="http://schemas.openxmlformats.org/drawingml/2006/main">
            <a:off x="9429750" y="39624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79"/>
          </a:bodyPr>
          <a:lstStyle xmlns:a="http://schemas.openxmlformats.org/drawingml/2006/main"/>
          <a:p xmlns:a="http://schemas.openxmlformats.org/drawingml/2006/main">
            <a:pPr algn="l">
              <a:lnSpc>
                <a:spcPct val="116000"/>
              </a:lnSpc>
              <a:buNone/>
              <a:defRPr sz="1275" b="0">
                <a:solidFill>
                  <a:srgbClr val="222222"/>
                </a:solidFill>
                <a:latin typeface="Helvetica Neue"/>
                <a:ea typeface="Helvetica Neue"/>
                <a:cs typeface="Helvetica Neue"/>
              </a:defRPr>
            </a:pPr>
            <a:r>
              <a:rPr sz="1275" b="0">
                <a:solidFill>
                  <a:srgbClr val="222222"/>
                </a:solidFill>
                <a:latin typeface="Helvetica Neue"/>
                <a:ea typeface="Helvetica Neue"/>
                <a:cs typeface="Helvetica Neue"/>
              </a:rPr>
              <a:t>Mesurer la fluidité de production des notes de synthèse et des commentaires managériaux.</a:t>
            </a:r>
          </a:p>
        </p:txBody>
      </p:sp>
      <p:sp>
        <p:nvSpPr>
          <p:cNvPr id="21" name="kpi-foot-bar">
            <a:extLst xmlns:a="http://schemas.openxmlformats.org/drawingml/2006/main">
              <a:ext uri="{FF2B5EF4-FFF2-40B4-BE49-F238E27FC236}">
                <a16:creationId xmlns:a16="http://schemas.microsoft.com/office/drawing/2014/main" id="{D5FB4037-67B2-44B3-919D-4B4DA212EA54}"/>
              </a:ext>
            </a:extLst>
          </p:cNvPr>
          <p:cNvSpPr>
            <a:spLocks xmlns:a="http://schemas.openxmlformats.org/drawingml/2006/main" noGrp="1"/>
          </p:cNvSpPr>
          <p:nvPr/>
        </p:nvSpPr>
        <p:spPr>
          <a:xfrm xmlns:a="http://schemas.openxmlformats.org/drawingml/2006/main">
            <a:off x="0" y="5524500"/>
            <a:ext cx="12192000" cy="1333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kpi-guardrail">
            <a:extLst xmlns:a="http://schemas.openxmlformats.org/drawingml/2006/main">
              <a:ext uri="{FF2B5EF4-FFF2-40B4-BE49-F238E27FC236}">
                <a16:creationId xmlns:a16="http://schemas.microsoft.com/office/drawing/2014/main" id="{9D49F381-C9E5-4DA5-AEA1-E116FF1F93CB}"/>
              </a:ext>
            </a:extLst>
          </p:cNvPr>
          <p:cNvSpPr>
            <a:spLocks xmlns:a="http://schemas.openxmlformats.org/drawingml/2006/main" noGrp="1"/>
          </p:cNvSpPr>
          <p:nvPr/>
        </p:nvSpPr>
        <p:spPr>
          <a:xfrm xmlns:a="http://schemas.openxmlformats.org/drawingml/2006/main">
            <a:off x="400050" y="58674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320"/>
          </a:bodyPr>
          <a:lstStyle xmlns:a="http://schemas.openxmlformats.org/drawingml/2006/main"/>
          <a:p xmlns:a="http://schemas.openxmlformats.org/drawingml/2006/main">
            <a:pPr algn="l">
              <a:lnSpc>
                <a:spcPct val="108000"/>
              </a:lnSpc>
              <a:buNone/>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Validation humaine obligatoire avant toute diffusion officielle.</a:t>
            </a:r>
          </a:p>
        </p:txBody>
      </p:sp>
      <p:sp>
        <p:nvSpPr>
          <p:cNvPr id="23" name="kpi-footnote">
            <a:extLst xmlns:a="http://schemas.openxmlformats.org/drawingml/2006/main">
              <a:ext uri="{FF2B5EF4-FFF2-40B4-BE49-F238E27FC236}">
                <a16:creationId xmlns:a16="http://schemas.microsoft.com/office/drawing/2014/main" id="{D014ED3B-92BA-4CC4-9C9C-144D38D3657E}"/>
              </a:ext>
            </a:extLst>
          </p:cNvPr>
          <p:cNvSpPr>
            <a:spLocks xmlns:a="http://schemas.openxmlformats.org/drawingml/2006/main" noGrp="1"/>
          </p:cNvSpPr>
          <p:nvPr/>
        </p:nvSpPr>
        <p:spPr>
          <a:xfrm xmlns:a="http://schemas.openxmlformats.org/drawingml/2006/main">
            <a:off x="6257925" y="586740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15000"/>
              </a:lnSpc>
              <a:buNone/>
              <a:defRPr sz="1500" b="0">
                <a:solidFill>
                  <a:srgbClr val="222222"/>
                </a:solidFill>
                <a:latin typeface="Helvetica Neue"/>
                <a:ea typeface="Helvetica Neue"/>
                <a:cs typeface="Helvetica Neue"/>
              </a:defRPr>
            </a:pPr>
            <a:r>
              <a:rPr sz="1500" b="0">
                <a:solidFill>
                  <a:srgbClr val="222222"/>
                </a:solidFill>
                <a:latin typeface="Helvetica Neue"/>
                <a:ea typeface="Helvetica Neue"/>
                <a:cs typeface="Helvetica Neue"/>
              </a:rPr>
              <a:t>Ces indicateurs peuvent être renseignés dès le pilote, puis affinés selon le contexte de chaque banque participante.</a:t>
            </a:r>
          </a:p>
        </p:txBody>
      </p:sp>
      <p:sp>
        <p:nvSpPr>
          <p:cNvPr id="24" name="footer-05">
            <a:extLst xmlns:a="http://schemas.openxmlformats.org/drawingml/2006/main">
              <a:ext uri="{FF2B5EF4-FFF2-40B4-BE49-F238E27FC236}">
                <a16:creationId xmlns:a16="http://schemas.microsoft.com/office/drawing/2014/main" id="{6C9BFE8B-E108-44C3-A39E-F7883AF2F4BA}"/>
              </a:ext>
            </a:extLst>
          </p:cNvPr>
          <p:cNvSpPr>
            <a:spLocks xmlns:a="http://schemas.openxmlformats.org/drawingml/2006/main" noGrp="1"/>
          </p:cNvSpPr>
          <p:nvPr/>
        </p:nvSpPr>
        <p:spPr>
          <a:xfrm xmlns:a="http://schemas.openxmlformats.org/drawingml/2006/main">
            <a:off x="11220450" y="62769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0">
                <a:solidFill>
                  <a:srgbClr val="555555"/>
                </a:solidFill>
                <a:latin typeface="Helvetica Neue"/>
                <a:ea typeface="Helvetica Neue"/>
                <a:cs typeface="Helvetica Neue"/>
              </a:defRPr>
            </a:pPr>
            <a:r>
              <a:rPr sz="1050" b="0">
                <a:solidFill>
                  <a:srgbClr val="555555"/>
                </a:solidFill>
                <a:latin typeface="Helvetica Neue"/>
                <a:ea typeface="Helvetica Neue"/>
                <a:cs typeface="Helvetica Neue"/>
              </a:rPr>
              <a:t>06</a:t>
            </a:r>
          </a:p>
        </p:txBody>
      </p:sp>
    </p:spTree>
    <p:extLst>
      <p:ext uri="{BB962C8B-B14F-4D97-AF65-F5344CB8AC3E}">
        <p14:creationId xmlns:p14="http://schemas.microsoft.com/office/powerpoint/2010/main" val="18749537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2026-07-06T14:13:50.3020000Z</dcterms:created>
  <dcterms:modified xsi:type="dcterms:W3CDTF">2026-07-06T14:13:50.3020000Z</dcterms:modified>
</coreProperties>
</file>