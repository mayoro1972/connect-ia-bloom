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b28063030b44e1" /><Relationship Type="http://schemas.openxmlformats.org/officeDocument/2006/relationships/extended-properties" Target="/docProps/app.xml" Id="R7206e7b16e6a4fb4" /><Relationship Type="http://schemas.openxmlformats.org/officeDocument/2006/relationships/officeDocument" Target="/ppt/presentation.xml" Id="R8d21d2914ca24771" /></Relationships>
</file>

<file path=ppt/presentation.xml><?xml version="1.0" encoding="utf-8"?>
<p:presentation xmlns:p="http://schemas.openxmlformats.org/presentationml/2006/main">
  <p:sldMasterIdLst>
    <p:sldMasterId xmlns:r="http://schemas.openxmlformats.org/officeDocument/2006/relationships" id="2147483648" r:id="R0c40452cb4664f2f"/>
  </p:sldMasterIdLst>
  <p:notesMasterIdLst>
    <p:notesMasterId xmlns:r="http://schemas.openxmlformats.org/officeDocument/2006/relationships" r:id="R0fbbe842460c4a67"/>
  </p:notesMasterIdLst>
  <p:sldIdLst>
    <p:sldId xmlns:r="http://schemas.openxmlformats.org/officeDocument/2006/relationships" id="256" r:id="Rba31183568b14d0a"/>
    <p:sldId xmlns:r="http://schemas.openxmlformats.org/officeDocument/2006/relationships" id="257" r:id="Ra9b6f0a1a2df40e1"/>
    <p:sldId xmlns:r="http://schemas.openxmlformats.org/officeDocument/2006/relationships" id="258" r:id="R2604305ab1a34e64"/>
    <p:sldId xmlns:r="http://schemas.openxmlformats.org/officeDocument/2006/relationships" id="259" r:id="R877d6dda6e11478a"/>
    <p:sldId xmlns:r="http://schemas.openxmlformats.org/officeDocument/2006/relationships" id="260" r:id="R9d972bceabf44d71"/>
    <p:sldId xmlns:r="http://schemas.openxmlformats.org/officeDocument/2006/relationships" id="261" r:id="Rc8194fd6ad994d00"/>
    <p:sldId xmlns:r="http://schemas.openxmlformats.org/officeDocument/2006/relationships" id="262" r:id="R181e1a1e1de14f31"/>
    <p:sldId xmlns:r="http://schemas.openxmlformats.org/officeDocument/2006/relationships" id="263" r:id="R63a48b5d072447aa"/>
    <p:sldId xmlns:r="http://schemas.openxmlformats.org/officeDocument/2006/relationships" id="264" r:id="R7feb148d61714790"/>
    <p:sldId xmlns:r="http://schemas.openxmlformats.org/officeDocument/2006/relationships" id="265" r:id="R2fdb5aef29ba40b9"/>
    <p:sldId xmlns:r="http://schemas.openxmlformats.org/officeDocument/2006/relationships" id="266" r:id="Rd3f3c160e7c0484c"/>
    <p:sldId xmlns:r="http://schemas.openxmlformats.org/officeDocument/2006/relationships" id="267" r:id="R84f4163319cf4acb"/>
    <p:sldId xmlns:r="http://schemas.openxmlformats.org/officeDocument/2006/relationships" id="268" r:id="R6174490c63da476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0c40452cb4664f2f" /><Relationship Type="http://schemas.openxmlformats.org/officeDocument/2006/relationships/theme" Target="/ppt/theme/theme1.xml" Id="R9daaa4ee9dec44c7" /><Relationship Type="http://schemas.openxmlformats.org/officeDocument/2006/relationships/notesMaster" Target="/ppt/notesMasters/notesMaster1.xml" Id="R0fbbe842460c4a67" /><Relationship Type="http://schemas.openxmlformats.org/officeDocument/2006/relationships/presProps" Target="/ppt/presProps.xml" Id="Rd7e0571b0dac4d55" /><Relationship Type="http://schemas.openxmlformats.org/officeDocument/2006/relationships/viewProps" Target="/ppt/viewProps.xml" Id="Rf959e875bf97491f" /><Relationship Type="http://schemas.openxmlformats.org/officeDocument/2006/relationships/tableStyles" Target="/ppt/tableStyles.xml" Id="R727c294ed6db44a5" /><Relationship Type="http://schemas.openxmlformats.org/officeDocument/2006/relationships/slide" Target="/ppt/slides/slide1.xml" Id="Rba31183568b14d0a" /><Relationship Type="http://schemas.openxmlformats.org/officeDocument/2006/relationships/slide" Target="/ppt/slides/slide2.xml" Id="Ra9b6f0a1a2df40e1" /><Relationship Type="http://schemas.openxmlformats.org/officeDocument/2006/relationships/slide" Target="/ppt/slides/slide3.xml" Id="R2604305ab1a34e64" /><Relationship Type="http://schemas.openxmlformats.org/officeDocument/2006/relationships/slide" Target="/ppt/slides/slide4.xml" Id="R877d6dda6e11478a" /><Relationship Type="http://schemas.openxmlformats.org/officeDocument/2006/relationships/slide" Target="/ppt/slides/slide5.xml" Id="R9d972bceabf44d71" /><Relationship Type="http://schemas.openxmlformats.org/officeDocument/2006/relationships/slide" Target="/ppt/slides/slide6.xml" Id="Rc8194fd6ad994d00" /><Relationship Type="http://schemas.openxmlformats.org/officeDocument/2006/relationships/slide" Target="/ppt/slides/slide7.xml" Id="R181e1a1e1de14f31" /><Relationship Type="http://schemas.openxmlformats.org/officeDocument/2006/relationships/slide" Target="/ppt/slides/slide8.xml" Id="R63a48b5d072447aa" /><Relationship Type="http://schemas.openxmlformats.org/officeDocument/2006/relationships/slide" Target="/ppt/slides/slide9.xml" Id="R7feb148d61714790" /><Relationship Type="http://schemas.openxmlformats.org/officeDocument/2006/relationships/slide" Target="/ppt/slides/slide10.xml" Id="R2fdb5aef29ba40b9" /><Relationship Type="http://schemas.openxmlformats.org/officeDocument/2006/relationships/slide" Target="/ppt/slides/slide11.xml" Id="Rd3f3c160e7c0484c" /><Relationship Type="http://schemas.openxmlformats.org/officeDocument/2006/relationships/slide" Target="/ppt/slides/slide12.xml" Id="R84f4163319cf4acb" /><Relationship Type="http://schemas.openxmlformats.org/officeDocument/2006/relationships/slide" Target="/ppt/slides/slide13.xml" Id="R6174490c63da47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b0006463e2741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200738ebdb431c" /><Relationship Type="http://schemas.openxmlformats.org/officeDocument/2006/relationships/notesMaster" Target="/ppt/notesMasters/notesMaster1.xml" Id="R55ffcb83954a4b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becc8858b94a97" /><Relationship Type="http://schemas.openxmlformats.org/officeDocument/2006/relationships/notesMaster" Target="/ppt/notesMasters/notesMaster1.xml" Id="Refb12d337f1f46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e064254f314a65" /><Relationship Type="http://schemas.openxmlformats.org/officeDocument/2006/relationships/notesMaster" Target="/ppt/notesMasters/notesMaster1.xml" Id="R2da3fe15f6a648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eb5407b96a422f" /><Relationship Type="http://schemas.openxmlformats.org/officeDocument/2006/relationships/notesMaster" Target="/ppt/notesMasters/notesMaster1.xml" Id="R2b6875723e104e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dc111615f147ca" /><Relationship Type="http://schemas.openxmlformats.org/officeDocument/2006/relationships/notesMaster" Target="/ppt/notesMasters/notesMaster1.xml" Id="R1637899438a243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44845228974b86" /><Relationship Type="http://schemas.openxmlformats.org/officeDocument/2006/relationships/notesMaster" Target="/ppt/notesMasters/notesMaster1.xml" Id="R9a6de4d4f39146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1632c35f9e4761" /><Relationship Type="http://schemas.openxmlformats.org/officeDocument/2006/relationships/notesMaster" Target="/ppt/notesMasters/notesMaster1.xml" Id="Rcd2d73d35a2944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01b7a553324ea8" /><Relationship Type="http://schemas.openxmlformats.org/officeDocument/2006/relationships/notesMaster" Target="/ppt/notesMasters/notesMaster1.xml" Id="R3765a658544940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fd76584b98475e" /><Relationship Type="http://schemas.openxmlformats.org/officeDocument/2006/relationships/notesMaster" Target="/ppt/notesMasters/notesMaster1.xml" Id="Rdfc30f487f254d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ab972922584b7b" /><Relationship Type="http://schemas.openxmlformats.org/officeDocument/2006/relationships/notesMaster" Target="/ppt/notesMasters/notesMaster1.xml" Id="R46c146dec70649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2d88eb445c4510" /><Relationship Type="http://schemas.openxmlformats.org/officeDocument/2006/relationships/notesMaster" Target="/ppt/notesMasters/notesMaster1.xml" Id="R78d9581a7b1d45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bd67477dfb4ae5" /><Relationship Type="http://schemas.openxmlformats.org/officeDocument/2006/relationships/notesMaster" Target="/ppt/notesMasters/notesMaster1.xml" Id="R68b6435fa6bd44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ab864bff684e8f" /><Relationship Type="http://schemas.openxmlformats.org/officeDocument/2006/relationships/notesMaster" Target="/ppt/notesMasters/notesMaster1.xml" Id="R3c81107301634e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0db3c2597b452c"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04e5d0727c3e4903" /><Relationship Type="http://schemas.openxmlformats.org/officeDocument/2006/relationships/slideLayout" Target="/ppt/slideLayouts/slideLayout2.xml" Id="R064a50f899b047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4a50f899b047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3d629c8affdb48e4" /><Relationship Type="http://schemas.openxmlformats.org/officeDocument/2006/relationships/notesSlide" Target="/ppt/notesSlides/notesSlide1.xml" Id="R9a81562f42074a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0c0458f17774853" /><Relationship Type="http://schemas.openxmlformats.org/officeDocument/2006/relationships/notesSlide" Target="/ppt/notesSlides/notesSlide2.xml" Id="R34b122516dd148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c08dd2bbce243df" /><Relationship Type="http://schemas.openxmlformats.org/officeDocument/2006/relationships/notesSlide" Target="/ppt/notesSlides/notesSlide3.xml" Id="R9433c13f611b45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1dc335a977548a0" /><Relationship Type="http://schemas.openxmlformats.org/officeDocument/2006/relationships/image" Target="/ppt/media/image.png" Id="R2cbbdfc14818470e" /><Relationship Type="http://schemas.openxmlformats.org/officeDocument/2006/relationships/image" Target="/ppt/media/image.svg" Id="R3e28898bfa9c43cd" /><Relationship Type="http://schemas.openxmlformats.org/officeDocument/2006/relationships/image" Target="/ppt/media/image2.png" Id="R1e15f66bb05f48dc" /><Relationship Type="http://schemas.openxmlformats.org/officeDocument/2006/relationships/image" Target="/ppt/media/image2.svg" Id="Rce68a5c814464fac" /><Relationship Type="http://schemas.openxmlformats.org/officeDocument/2006/relationships/image" Target="/ppt/media/image3.png" Id="Rcb608d2d982f4d3f" /><Relationship Type="http://schemas.openxmlformats.org/officeDocument/2006/relationships/image" Target="/ppt/media/image3.svg" Id="R10a07b26301e436c" /><Relationship Type="http://schemas.openxmlformats.org/officeDocument/2006/relationships/image" Target="/ppt/media/image4.png" Id="R96946b0011ff404a" /><Relationship Type="http://schemas.openxmlformats.org/officeDocument/2006/relationships/image" Target="/ppt/media/image4.svg" Id="R2d3d9b334ca44696" /><Relationship Type="http://schemas.openxmlformats.org/officeDocument/2006/relationships/notesSlide" Target="/ppt/notesSlides/notesSlide4.xml" Id="Rd2fe285236674e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f07004cbe554e2f" /><Relationship Type="http://schemas.openxmlformats.org/officeDocument/2006/relationships/image" Target="/ppt/media/image5.png" Id="R6360ef633bad423c" /><Relationship Type="http://schemas.openxmlformats.org/officeDocument/2006/relationships/image" Target="/ppt/media/image5.svg" Id="R1c01bed34d284a12" /><Relationship Type="http://schemas.openxmlformats.org/officeDocument/2006/relationships/image" Target="/ppt/media/image6.png" Id="R44e51b1cc2694bd9" /><Relationship Type="http://schemas.openxmlformats.org/officeDocument/2006/relationships/image" Target="/ppt/media/image6.svg" Id="Rd69bb85286f44a68" /><Relationship Type="http://schemas.openxmlformats.org/officeDocument/2006/relationships/image" Target="/ppt/media/image7.png" Id="Rac5821d2bde34759" /><Relationship Type="http://schemas.openxmlformats.org/officeDocument/2006/relationships/image" Target="/ppt/media/image7.svg" Id="R7ca601abd22e4f36" /><Relationship Type="http://schemas.openxmlformats.org/officeDocument/2006/relationships/image" Target="/ppt/media/image8.png" Id="Rbe8e49414a4243d2" /><Relationship Type="http://schemas.openxmlformats.org/officeDocument/2006/relationships/image" Target="/ppt/media/image8.svg" Id="R060547152bf94338" /><Relationship Type="http://schemas.openxmlformats.org/officeDocument/2006/relationships/notesSlide" Target="/ppt/notesSlides/notesSlide5.xml" Id="R34c539c3515843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cd09f25fa414933" /><Relationship Type="http://schemas.openxmlformats.org/officeDocument/2006/relationships/notesSlide" Target="/ppt/notesSlides/notesSlide6.xml" Id="R53cb7c9e304e42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7d5afd467964991" /><Relationship Type="http://schemas.openxmlformats.org/officeDocument/2006/relationships/image" Target="/ppt/media/image9.png" Id="R7b4c74ad65014f6b" /><Relationship Type="http://schemas.openxmlformats.org/officeDocument/2006/relationships/image" Target="/ppt/media/image9.svg" Id="Rc730bdd8bba446c3" /><Relationship Type="http://schemas.openxmlformats.org/officeDocument/2006/relationships/image" Target="/ppt/media/image10.png" Id="Rf2e051516cbc4072" /><Relationship Type="http://schemas.openxmlformats.org/officeDocument/2006/relationships/image" Target="/ppt/media/image10.svg" Id="Rb34c01da902148ad" /><Relationship Type="http://schemas.openxmlformats.org/officeDocument/2006/relationships/image" Target="/ppt/media/image11.png" Id="Rf45d6353d6f74731" /><Relationship Type="http://schemas.openxmlformats.org/officeDocument/2006/relationships/image" Target="/ppt/media/image11.svg" Id="Rc8f1560a791b417c" /><Relationship Type="http://schemas.openxmlformats.org/officeDocument/2006/relationships/image" Target="/ppt/media/image12.png" Id="Rc18013ba656d48c0" /><Relationship Type="http://schemas.openxmlformats.org/officeDocument/2006/relationships/image" Target="/ppt/media/image12.svg" Id="R9305810ef2974d19" /><Relationship Type="http://schemas.openxmlformats.org/officeDocument/2006/relationships/notesSlide" Target="/ppt/notesSlides/notesSlide7.xml" Id="R2a28a44ed44244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87e6b5ed09d46b4" /><Relationship Type="http://schemas.openxmlformats.org/officeDocument/2006/relationships/notesSlide" Target="/ppt/notesSlides/notesSlide8.xml" Id="R39180aae4d3442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8d77b4e0d8e41ca" /><Relationship Type="http://schemas.openxmlformats.org/officeDocument/2006/relationships/image" Target="/ppt/media/image13.png" Id="Rfa331de90d7d4311" /><Relationship Type="http://schemas.openxmlformats.org/officeDocument/2006/relationships/image" Target="/ppt/media/image13.svg" Id="Rb6e480f2c5ba4bcc" /><Relationship Type="http://schemas.openxmlformats.org/officeDocument/2006/relationships/image" Target="/ppt/media/image14.png" Id="R19c39e16712b46fe" /><Relationship Type="http://schemas.openxmlformats.org/officeDocument/2006/relationships/image" Target="/ppt/media/image14.svg" Id="Rea28586b22bf4085" /><Relationship Type="http://schemas.openxmlformats.org/officeDocument/2006/relationships/notesSlide" Target="/ppt/notesSlides/notesSlide9.xml" Id="Redae6b9d9ca843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8f3bda7c745470a" /><Relationship Type="http://schemas.openxmlformats.org/officeDocument/2006/relationships/image" Target="/ppt/media/image15.png" Id="R0841f53257954689" /><Relationship Type="http://schemas.openxmlformats.org/officeDocument/2006/relationships/image" Target="/ppt/media/image15.svg" Id="Ree21aadf76554f58" /><Relationship Type="http://schemas.openxmlformats.org/officeDocument/2006/relationships/image" Target="/ppt/media/image16.png" Id="Re9b15cba68464513" /><Relationship Type="http://schemas.openxmlformats.org/officeDocument/2006/relationships/image" Target="/ppt/media/image16.svg" Id="Rfa2728fd85f74aa9" /><Relationship Type="http://schemas.openxmlformats.org/officeDocument/2006/relationships/notesSlide" Target="/ppt/notesSlides/notesSlide10.xml" Id="R14977486072e49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cefd2d142a348fe" /><Relationship Type="http://schemas.openxmlformats.org/officeDocument/2006/relationships/notesSlide" Target="/ppt/notesSlides/notesSlide11.xml" Id="R36ace677f92646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776d41daebf4678" /><Relationship Type="http://schemas.openxmlformats.org/officeDocument/2006/relationships/notesSlide" Target="/ppt/notesSlides/notesSlide12.xml" Id="R9dffd286be6d45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f373bfe3c804337" /><Relationship Type="http://schemas.openxmlformats.org/officeDocument/2006/relationships/image" Target="/ppt/media/image17.png" Id="R97567850423d4106" /><Relationship Type="http://schemas.openxmlformats.org/officeDocument/2006/relationships/image" Target="/ppt/media/image17.svg" Id="Rfcdf952276d34bfa" /><Relationship Type="http://schemas.openxmlformats.org/officeDocument/2006/relationships/notesSlide" Target="/ppt/notesSlides/notesSlide13.xml" Id="R2a80c47c7119454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8AD734-E057-4518-A6FA-7C4A28C5F6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72BE56C-1963-4A2D-9455-3CA774DEB38C}"/>
              </a:ext>
            </a:extLst>
          </p:cNvPr>
          <p:cNvSpPr>
            <a:spLocks xmlns:a="http://schemas.openxmlformats.org/drawingml/2006/main" noGrp="1"/>
          </p:cNvSpPr>
          <p:nvPr/>
        </p:nvSpPr>
        <p:spPr>
          <a:xfrm xmlns:a="http://schemas.openxmlformats.org/drawingml/2006/main">
            <a:off x="552450" y="781050"/>
            <a:ext cx="6438900" cy="53340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 name="">
            <a:extLst xmlns:a="http://schemas.openxmlformats.org/drawingml/2006/main">
              <a:ext uri="{FF2B5EF4-FFF2-40B4-BE49-F238E27FC236}">
                <a16:creationId xmlns:a16="http://schemas.microsoft.com/office/drawing/2014/main" id="{A073B63E-A3B9-4500-A1EC-615ACF35C5A8}"/>
              </a:ext>
            </a:extLst>
          </p:cNvPr>
          <p:cNvSpPr>
            <a:spLocks xmlns:a="http://schemas.openxmlformats.org/drawingml/2006/main" noGrp="1"/>
          </p:cNvSpPr>
          <p:nvPr/>
        </p:nvSpPr>
        <p:spPr>
          <a:xfrm xmlns:a="http://schemas.openxmlformats.org/drawingml/2006/main">
            <a:off x="7372350" y="781050"/>
            <a:ext cx="4267200" cy="5334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4" name="">
            <a:extLst xmlns:a="http://schemas.openxmlformats.org/drawingml/2006/main">
              <a:ext uri="{FF2B5EF4-FFF2-40B4-BE49-F238E27FC236}">
                <a16:creationId xmlns:a16="http://schemas.microsoft.com/office/drawing/2014/main" id="{B6001603-5A9A-42B5-8D5D-1007D2E6C6FC}"/>
              </a:ext>
            </a:extLst>
          </p:cNvPr>
          <p:cNvSpPr>
            <a:spLocks xmlns:a="http://schemas.openxmlformats.org/drawingml/2006/main" noGrp="1"/>
          </p:cNvSpPr>
          <p:nvPr/>
        </p:nvSpPr>
        <p:spPr>
          <a:xfrm xmlns:a="http://schemas.openxmlformats.org/drawingml/2006/main">
            <a:off x="7372350" y="781050"/>
            <a:ext cx="95250" cy="53340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5" name="">
            <a:extLst xmlns:a="http://schemas.openxmlformats.org/drawingml/2006/main">
              <a:ext uri="{FF2B5EF4-FFF2-40B4-BE49-F238E27FC236}">
                <a16:creationId xmlns:a16="http://schemas.microsoft.com/office/drawing/2014/main" id="{3A5296AE-C3DA-44A0-B45D-4DEEE6A38718}"/>
              </a:ext>
            </a:extLst>
          </p:cNvPr>
          <p:cNvSpPr>
            <a:spLocks xmlns:a="http://schemas.openxmlformats.org/drawingml/2006/main" noGrp="1"/>
          </p:cNvSpPr>
          <p:nvPr/>
        </p:nvSpPr>
        <p:spPr>
          <a:xfrm xmlns:a="http://schemas.openxmlformats.org/drawingml/2006/main">
            <a:off x="800100" y="1047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MODÈLE STANDARD | PROSPECTION B2B</a:t>
            </a:r>
          </a:p>
        </p:txBody>
      </p:sp>
      <p:sp>
        <p:nvSpPr>
          <p:cNvPr id="6" name="">
            <a:extLst xmlns:a="http://schemas.openxmlformats.org/drawingml/2006/main">
              <a:ext uri="{FF2B5EF4-FFF2-40B4-BE49-F238E27FC236}">
                <a16:creationId xmlns:a16="http://schemas.microsoft.com/office/drawing/2014/main" id="{497E197C-1FC7-4470-A075-1C83F2896374}"/>
              </a:ext>
            </a:extLst>
          </p:cNvPr>
          <p:cNvSpPr>
            <a:spLocks xmlns:a="http://schemas.openxmlformats.org/drawingml/2006/main" noGrp="1"/>
          </p:cNvSpPr>
          <p:nvPr/>
        </p:nvSpPr>
        <p:spPr>
          <a:xfrm xmlns:a="http://schemas.openxmlformats.org/drawingml/2006/main">
            <a:off x="800100" y="1409700"/>
            <a:ext cx="53340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Transformer l'IA</a:t>
            </a:r>
          </a:p>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en gains visibles</a:t>
            </a:r>
          </a:p>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pour votre organisation</a:t>
            </a:r>
          </a:p>
        </p:txBody>
      </p:sp>
      <p:sp>
        <p:nvSpPr>
          <p:cNvPr id="7" name="">
            <a:extLst xmlns:a="http://schemas.openxmlformats.org/drawingml/2006/main">
              <a:ext uri="{FF2B5EF4-FFF2-40B4-BE49-F238E27FC236}">
                <a16:creationId xmlns:a16="http://schemas.microsoft.com/office/drawing/2014/main" id="{2359DE7F-71C7-4996-AF2D-E10EEC9C6075}"/>
              </a:ext>
            </a:extLst>
          </p:cNvPr>
          <p:cNvSpPr>
            <a:spLocks xmlns:a="http://schemas.openxmlformats.org/drawingml/2006/main" noGrp="1"/>
          </p:cNvSpPr>
          <p:nvPr/>
        </p:nvSpPr>
        <p:spPr>
          <a:xfrm xmlns:a="http://schemas.openxmlformats.org/drawingml/2006/main">
            <a:off x="800100" y="3086100"/>
            <a:ext cx="5524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17086"/>
                </a:solidFill>
                <a:latin typeface="Aptos"/>
                <a:ea typeface="Aptos"/>
                <a:cs typeface="Aptos"/>
              </a:defRPr>
            </a:pPr>
            <a:r>
              <a:rPr sz="1200" b="0">
                <a:solidFill>
                  <a:srgbClr val="617086"/>
                </a:solidFill>
                <a:latin typeface="Aptos"/>
                <a:ea typeface="Aptos"/>
                <a:cs typeface="Aptos"/>
              </a:rPr>
              <a:t>Une proposition construite à partir du ROI de référence TransferAI, mais traduite dans le contexte du prospect autour de quatre terrains d'impact : pilotage commercial, opérations, relation client et procédures internes.</a:t>
            </a:r>
          </a:p>
        </p:txBody>
      </p:sp>
      <p:sp>
        <p:nvSpPr>
          <p:cNvPr id="8" name="">
            <a:extLst xmlns:a="http://schemas.openxmlformats.org/drawingml/2006/main">
              <a:ext uri="{FF2B5EF4-FFF2-40B4-BE49-F238E27FC236}">
                <a16:creationId xmlns:a16="http://schemas.microsoft.com/office/drawing/2014/main" id="{6C50F5E2-D333-4249-B479-582C964DF196}"/>
              </a:ext>
            </a:extLst>
          </p:cNvPr>
          <p:cNvSpPr>
            <a:spLocks xmlns:a="http://schemas.openxmlformats.org/drawingml/2006/main" noGrp="1"/>
          </p:cNvSpPr>
          <p:nvPr/>
        </p:nvSpPr>
        <p:spPr>
          <a:xfrm xmlns:a="http://schemas.openxmlformats.org/drawingml/2006/main">
            <a:off x="800100" y="4038600"/>
            <a:ext cx="3905250" cy="285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9" name="">
            <a:extLst xmlns:a="http://schemas.openxmlformats.org/drawingml/2006/main">
              <a:ext uri="{FF2B5EF4-FFF2-40B4-BE49-F238E27FC236}">
                <a16:creationId xmlns:a16="http://schemas.microsoft.com/office/drawing/2014/main" id="{95FE444C-5213-4ECE-B9CB-89AD4F8DAD46}"/>
              </a:ext>
            </a:extLst>
          </p:cNvPr>
          <p:cNvSpPr>
            <a:spLocks xmlns:a="http://schemas.openxmlformats.org/drawingml/2006/main" noGrp="1"/>
          </p:cNvSpPr>
          <p:nvPr/>
        </p:nvSpPr>
        <p:spPr>
          <a:xfrm xmlns:a="http://schemas.openxmlformats.org/drawingml/2006/main">
            <a:off x="952500" y="4105275"/>
            <a:ext cx="3619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TransferAI est le hub IA de Nettelecom CI.</a:t>
            </a:r>
          </a:p>
        </p:txBody>
      </p:sp>
      <p:sp>
        <p:nvSpPr>
          <p:cNvPr id="10" name="">
            <a:extLst xmlns:a="http://schemas.openxmlformats.org/drawingml/2006/main">
              <a:ext uri="{FF2B5EF4-FFF2-40B4-BE49-F238E27FC236}">
                <a16:creationId xmlns:a16="http://schemas.microsoft.com/office/drawing/2014/main" id="{147657E2-CAF2-4FD5-A56F-3AF234A78D4D}"/>
              </a:ext>
            </a:extLst>
          </p:cNvPr>
          <p:cNvSpPr>
            <a:spLocks xmlns:a="http://schemas.openxmlformats.org/drawingml/2006/main" noGrp="1"/>
          </p:cNvSpPr>
          <p:nvPr/>
        </p:nvSpPr>
        <p:spPr>
          <a:xfrm xmlns:a="http://schemas.openxmlformats.org/drawingml/2006/main">
            <a:off x="800100" y="44386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Point d'entrée recommandé</a:t>
            </a:r>
          </a:p>
        </p:txBody>
      </p:sp>
      <p:sp>
        <p:nvSpPr>
          <p:cNvPr id="11" name="">
            <a:extLst xmlns:a="http://schemas.openxmlformats.org/drawingml/2006/main">
              <a:ext uri="{FF2B5EF4-FFF2-40B4-BE49-F238E27FC236}">
                <a16:creationId xmlns:a16="http://schemas.microsoft.com/office/drawing/2014/main" id="{45B3AA18-0AE3-4472-907D-2C85B7D90A88}"/>
              </a:ext>
            </a:extLst>
          </p:cNvPr>
          <p:cNvSpPr>
            <a:spLocks xmlns:a="http://schemas.openxmlformats.org/drawingml/2006/main" noGrp="1"/>
          </p:cNvSpPr>
          <p:nvPr/>
        </p:nvSpPr>
        <p:spPr>
          <a:xfrm xmlns:a="http://schemas.openxmlformats.org/drawingml/2006/main">
            <a:off x="800100" y="4648200"/>
            <a:ext cx="52197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A3554"/>
                </a:solidFill>
                <a:latin typeface="Aptos"/>
                <a:ea typeface="Aptos"/>
                <a:cs typeface="Aptos"/>
              </a:defRPr>
            </a:pPr>
            <a:r>
              <a:rPr sz="1050" b="1">
                <a:solidFill>
                  <a:srgbClr val="1A3554"/>
                </a:solidFill>
                <a:latin typeface="Aptos"/>
                <a:ea typeface="Aptos"/>
                <a:cs typeface="Aptos"/>
              </a:rPr>
              <a:t>Audit IA gratuit + échange expert de 30 minutes pour qualifier les priorités, les KPI et la bonne séquence de déploiement.</a:t>
            </a:r>
          </a:p>
        </p:txBody>
      </p:sp>
      <p:sp>
        <p:nvSpPr>
          <p:cNvPr id="12" name="">
            <a:extLst xmlns:a="http://schemas.openxmlformats.org/drawingml/2006/main">
              <a:ext uri="{FF2B5EF4-FFF2-40B4-BE49-F238E27FC236}">
                <a16:creationId xmlns:a16="http://schemas.microsoft.com/office/drawing/2014/main" id="{0E21F1F4-1114-4DCC-BA1C-0E183969903E}"/>
              </a:ext>
            </a:extLst>
          </p:cNvPr>
          <p:cNvSpPr>
            <a:spLocks xmlns:a="http://schemas.openxmlformats.org/drawingml/2006/main" noGrp="1"/>
          </p:cNvSpPr>
          <p:nvPr/>
        </p:nvSpPr>
        <p:spPr>
          <a:xfrm xmlns:a="http://schemas.openxmlformats.org/drawingml/2006/main">
            <a:off x="8001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3" name="">
            <a:extLst xmlns:a="http://schemas.openxmlformats.org/drawingml/2006/main">
              <a:ext uri="{FF2B5EF4-FFF2-40B4-BE49-F238E27FC236}">
                <a16:creationId xmlns:a16="http://schemas.microsoft.com/office/drawing/2014/main" id="{2B9B1AF5-27BD-41DF-A8BE-B5BE81637EBE}"/>
              </a:ext>
            </a:extLst>
          </p:cNvPr>
          <p:cNvSpPr>
            <a:spLocks xmlns:a="http://schemas.openxmlformats.org/drawingml/2006/main" noGrp="1"/>
          </p:cNvSpPr>
          <p:nvPr/>
        </p:nvSpPr>
        <p:spPr>
          <a:xfrm xmlns:a="http://schemas.openxmlformats.org/drawingml/2006/main">
            <a:off x="952500" y="5314950"/>
            <a:ext cx="28575" cy="609600"/>
          </a:xfrm>
          <a:prstGeom xmlns:a="http://schemas.openxmlformats.org/drawingml/2006/main" prst="rect">
            <a:avLst/>
          </a:prstGeom>
          <a:solidFill xmlns:a="http://schemas.openxmlformats.org/drawingml/2006/main">
            <a:srgbClr val="E76F1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7F9698C-1298-4F0A-9DCE-6948134C86BA}"/>
              </a:ext>
            </a:extLst>
          </p:cNvPr>
          <p:cNvSpPr>
            <a:spLocks xmlns:a="http://schemas.openxmlformats.org/drawingml/2006/main" noGrp="1"/>
          </p:cNvSpPr>
          <p:nvPr/>
        </p:nvSpPr>
        <p:spPr>
          <a:xfrm xmlns:a="http://schemas.openxmlformats.org/drawingml/2006/main">
            <a:off x="10858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J+15</a:t>
            </a:r>
          </a:p>
        </p:txBody>
      </p:sp>
      <p:sp>
        <p:nvSpPr>
          <p:cNvPr id="15" name="">
            <a:extLst xmlns:a="http://schemas.openxmlformats.org/drawingml/2006/main">
              <a:ext uri="{FF2B5EF4-FFF2-40B4-BE49-F238E27FC236}">
                <a16:creationId xmlns:a16="http://schemas.microsoft.com/office/drawing/2014/main" id="{831831DF-105A-4268-A334-450FF03BF783}"/>
              </a:ext>
            </a:extLst>
          </p:cNvPr>
          <p:cNvSpPr>
            <a:spLocks xmlns:a="http://schemas.openxmlformats.org/drawingml/2006/main" noGrp="1"/>
          </p:cNvSpPr>
          <p:nvPr/>
        </p:nvSpPr>
        <p:spPr>
          <a:xfrm xmlns:a="http://schemas.openxmlformats.org/drawingml/2006/main">
            <a:off x="10858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premier livrable</a:t>
            </a:r>
          </a:p>
        </p:txBody>
      </p:sp>
      <p:sp>
        <p:nvSpPr>
          <p:cNvPr id="16" name="">
            <a:extLst xmlns:a="http://schemas.openxmlformats.org/drawingml/2006/main">
              <a:ext uri="{FF2B5EF4-FFF2-40B4-BE49-F238E27FC236}">
                <a16:creationId xmlns:a16="http://schemas.microsoft.com/office/drawing/2014/main" id="{D9A9FB8C-EED6-4AC1-A0C0-7F35FB8E9BD4}"/>
              </a:ext>
            </a:extLst>
          </p:cNvPr>
          <p:cNvSpPr>
            <a:spLocks xmlns:a="http://schemas.openxmlformats.org/drawingml/2006/main" noGrp="1"/>
          </p:cNvSpPr>
          <p:nvPr/>
        </p:nvSpPr>
        <p:spPr>
          <a:xfrm xmlns:a="http://schemas.openxmlformats.org/drawingml/2006/main">
            <a:off x="10858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lecture claire des gains rapides</a:t>
            </a:r>
          </a:p>
        </p:txBody>
      </p:sp>
      <p:sp>
        <p:nvSpPr>
          <p:cNvPr id="17" name="">
            <a:extLst xmlns:a="http://schemas.openxmlformats.org/drawingml/2006/main">
              <a:ext uri="{FF2B5EF4-FFF2-40B4-BE49-F238E27FC236}">
                <a16:creationId xmlns:a16="http://schemas.microsoft.com/office/drawing/2014/main" id="{EDF57243-85A4-4465-BCF9-1C88FA70A583}"/>
              </a:ext>
            </a:extLst>
          </p:cNvPr>
          <p:cNvSpPr>
            <a:spLocks xmlns:a="http://schemas.openxmlformats.org/drawingml/2006/main" noGrp="1"/>
          </p:cNvSpPr>
          <p:nvPr/>
        </p:nvSpPr>
        <p:spPr>
          <a:xfrm xmlns:a="http://schemas.openxmlformats.org/drawingml/2006/main">
            <a:off x="22479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115C906F-F40C-458E-A195-D785D4FA58BB}"/>
              </a:ext>
            </a:extLst>
          </p:cNvPr>
          <p:cNvSpPr>
            <a:spLocks xmlns:a="http://schemas.openxmlformats.org/drawingml/2006/main" noGrp="1"/>
          </p:cNvSpPr>
          <p:nvPr/>
        </p:nvSpPr>
        <p:spPr>
          <a:xfrm xmlns:a="http://schemas.openxmlformats.org/drawingml/2006/main">
            <a:off x="2400300" y="5314950"/>
            <a:ext cx="28575" cy="609600"/>
          </a:xfrm>
          <a:prstGeom xmlns:a="http://schemas.openxmlformats.org/drawingml/2006/main" prst="rect">
            <a:avLst/>
          </a:prstGeom>
          <a:solidFill xmlns:a="http://schemas.openxmlformats.org/drawingml/2006/main">
            <a:srgbClr val="1C8A7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AAAA8F61-6F3D-49A2-B797-7201E893D9F1}"/>
              </a:ext>
            </a:extLst>
          </p:cNvPr>
          <p:cNvSpPr>
            <a:spLocks xmlns:a="http://schemas.openxmlformats.org/drawingml/2006/main" noGrp="1"/>
          </p:cNvSpPr>
          <p:nvPr/>
        </p:nvSpPr>
        <p:spPr>
          <a:xfrm xmlns:a="http://schemas.openxmlformats.org/drawingml/2006/main">
            <a:off x="25336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13</a:t>
            </a:r>
          </a:p>
        </p:txBody>
      </p:sp>
      <p:sp>
        <p:nvSpPr>
          <p:cNvPr id="20" name="">
            <a:extLst xmlns:a="http://schemas.openxmlformats.org/drawingml/2006/main">
              <a:ext uri="{FF2B5EF4-FFF2-40B4-BE49-F238E27FC236}">
                <a16:creationId xmlns:a16="http://schemas.microsoft.com/office/drawing/2014/main" id="{157A012C-4997-425D-AC83-FE3B470F3C11}"/>
              </a:ext>
            </a:extLst>
          </p:cNvPr>
          <p:cNvSpPr>
            <a:spLocks xmlns:a="http://schemas.openxmlformats.org/drawingml/2006/main" noGrp="1"/>
          </p:cNvSpPr>
          <p:nvPr/>
        </p:nvSpPr>
        <p:spPr>
          <a:xfrm xmlns:a="http://schemas.openxmlformats.org/drawingml/2006/main">
            <a:off x="25336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experts IA</a:t>
            </a:r>
          </a:p>
        </p:txBody>
      </p:sp>
      <p:sp>
        <p:nvSpPr>
          <p:cNvPr id="21" name="">
            <a:extLst xmlns:a="http://schemas.openxmlformats.org/drawingml/2006/main">
              <a:ext uri="{FF2B5EF4-FFF2-40B4-BE49-F238E27FC236}">
                <a16:creationId xmlns:a16="http://schemas.microsoft.com/office/drawing/2014/main" id="{46A763E0-FA5B-4B1A-B2D8-2C0008048373}"/>
              </a:ext>
            </a:extLst>
          </p:cNvPr>
          <p:cNvSpPr>
            <a:spLocks xmlns:a="http://schemas.openxmlformats.org/drawingml/2006/main" noGrp="1"/>
          </p:cNvSpPr>
          <p:nvPr/>
        </p:nvSpPr>
        <p:spPr>
          <a:xfrm xmlns:a="http://schemas.openxmlformats.org/drawingml/2006/main">
            <a:off x="25336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mobilisés via TransferAI</a:t>
            </a:r>
          </a:p>
        </p:txBody>
      </p:sp>
      <p:sp>
        <p:nvSpPr>
          <p:cNvPr id="22" name="">
            <a:extLst xmlns:a="http://schemas.openxmlformats.org/drawingml/2006/main">
              <a:ext uri="{FF2B5EF4-FFF2-40B4-BE49-F238E27FC236}">
                <a16:creationId xmlns:a16="http://schemas.microsoft.com/office/drawing/2014/main" id="{A0CFF7F3-913D-4E8D-8B87-3668C6704B7A}"/>
              </a:ext>
            </a:extLst>
          </p:cNvPr>
          <p:cNvSpPr>
            <a:spLocks xmlns:a="http://schemas.openxmlformats.org/drawingml/2006/main" noGrp="1"/>
          </p:cNvSpPr>
          <p:nvPr/>
        </p:nvSpPr>
        <p:spPr>
          <a:xfrm xmlns:a="http://schemas.openxmlformats.org/drawingml/2006/main">
            <a:off x="36957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3" name="">
            <a:extLst xmlns:a="http://schemas.openxmlformats.org/drawingml/2006/main">
              <a:ext uri="{FF2B5EF4-FFF2-40B4-BE49-F238E27FC236}">
                <a16:creationId xmlns:a16="http://schemas.microsoft.com/office/drawing/2014/main" id="{86D29C1F-5D12-48F8-85F6-8EF70D175D86}"/>
              </a:ext>
            </a:extLst>
          </p:cNvPr>
          <p:cNvSpPr>
            <a:spLocks xmlns:a="http://schemas.openxmlformats.org/drawingml/2006/main" noGrp="1"/>
          </p:cNvSpPr>
          <p:nvPr/>
        </p:nvSpPr>
        <p:spPr>
          <a:xfrm xmlns:a="http://schemas.openxmlformats.org/drawingml/2006/main">
            <a:off x="3848100" y="5314950"/>
            <a:ext cx="28575" cy="609600"/>
          </a:xfrm>
          <a:prstGeom xmlns:a="http://schemas.openxmlformats.org/drawingml/2006/main" prst="rect">
            <a:avLst/>
          </a:prstGeom>
          <a:solidFill xmlns:a="http://schemas.openxmlformats.org/drawingml/2006/main">
            <a:srgbClr val="163556"/>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50FD1D3-4170-45A8-9AA6-5AF60E9B429E}"/>
              </a:ext>
            </a:extLst>
          </p:cNvPr>
          <p:cNvSpPr>
            <a:spLocks xmlns:a="http://schemas.openxmlformats.org/drawingml/2006/main" noGrp="1"/>
          </p:cNvSpPr>
          <p:nvPr/>
        </p:nvSpPr>
        <p:spPr>
          <a:xfrm xmlns:a="http://schemas.openxmlformats.org/drawingml/2006/main">
            <a:off x="39814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+30 %</a:t>
            </a:r>
          </a:p>
        </p:txBody>
      </p:sp>
      <p:sp>
        <p:nvSpPr>
          <p:cNvPr id="25" name="">
            <a:extLst xmlns:a="http://schemas.openxmlformats.org/drawingml/2006/main">
              <a:ext uri="{FF2B5EF4-FFF2-40B4-BE49-F238E27FC236}">
                <a16:creationId xmlns:a16="http://schemas.microsoft.com/office/drawing/2014/main" id="{B1C4A4D4-A100-4732-AF11-E2B991C2E694}"/>
              </a:ext>
            </a:extLst>
          </p:cNvPr>
          <p:cNvSpPr>
            <a:spLocks xmlns:a="http://schemas.openxmlformats.org/drawingml/2006/main" noGrp="1"/>
          </p:cNvSpPr>
          <p:nvPr/>
        </p:nvSpPr>
        <p:spPr>
          <a:xfrm xmlns:a="http://schemas.openxmlformats.org/drawingml/2006/main">
            <a:off x="39814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productivité benchmark</a:t>
            </a:r>
          </a:p>
        </p:txBody>
      </p:sp>
      <p:sp>
        <p:nvSpPr>
          <p:cNvPr id="26" name="">
            <a:extLst xmlns:a="http://schemas.openxmlformats.org/drawingml/2006/main">
              <a:ext uri="{FF2B5EF4-FFF2-40B4-BE49-F238E27FC236}">
                <a16:creationId xmlns:a16="http://schemas.microsoft.com/office/drawing/2014/main" id="{C6E80BF0-61D3-4831-B196-E7EA7C9A7AE3}"/>
              </a:ext>
            </a:extLst>
          </p:cNvPr>
          <p:cNvSpPr>
            <a:spLocks xmlns:a="http://schemas.openxmlformats.org/drawingml/2006/main" noGrp="1"/>
          </p:cNvSpPr>
          <p:nvPr/>
        </p:nvSpPr>
        <p:spPr>
          <a:xfrm xmlns:a="http://schemas.openxmlformats.org/drawingml/2006/main">
            <a:off x="39814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sur des flux répétitifs comparables</a:t>
            </a:r>
          </a:p>
        </p:txBody>
      </p:sp>
      <p:sp>
        <p:nvSpPr>
          <p:cNvPr id="27" name="">
            <a:extLst xmlns:a="http://schemas.openxmlformats.org/drawingml/2006/main">
              <a:ext uri="{FF2B5EF4-FFF2-40B4-BE49-F238E27FC236}">
                <a16:creationId xmlns:a16="http://schemas.microsoft.com/office/drawing/2014/main" id="{5DB46B3E-1E66-4E22-98FA-817CC7A13630}"/>
              </a:ext>
            </a:extLst>
          </p:cNvPr>
          <p:cNvSpPr>
            <a:spLocks xmlns:a="http://schemas.openxmlformats.org/drawingml/2006/main" noGrp="1"/>
          </p:cNvSpPr>
          <p:nvPr/>
        </p:nvSpPr>
        <p:spPr>
          <a:xfrm xmlns:a="http://schemas.openxmlformats.org/drawingml/2006/main">
            <a:off x="51435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8" name="">
            <a:extLst xmlns:a="http://schemas.openxmlformats.org/drawingml/2006/main">
              <a:ext uri="{FF2B5EF4-FFF2-40B4-BE49-F238E27FC236}">
                <a16:creationId xmlns:a16="http://schemas.microsoft.com/office/drawing/2014/main" id="{C160A829-15CD-407C-B350-1BA0B6C8B1F9}"/>
              </a:ext>
            </a:extLst>
          </p:cNvPr>
          <p:cNvSpPr>
            <a:spLocks xmlns:a="http://schemas.openxmlformats.org/drawingml/2006/main" noGrp="1"/>
          </p:cNvSpPr>
          <p:nvPr/>
        </p:nvSpPr>
        <p:spPr>
          <a:xfrm xmlns:a="http://schemas.openxmlformats.org/drawingml/2006/main">
            <a:off x="5295900" y="5314950"/>
            <a:ext cx="28575" cy="609600"/>
          </a:xfrm>
          <a:prstGeom xmlns:a="http://schemas.openxmlformats.org/drawingml/2006/main" prst="rect">
            <a:avLst/>
          </a:prstGeom>
          <a:solidFill xmlns:a="http://schemas.openxmlformats.org/drawingml/2006/main">
            <a:srgbClr val="C88C3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EB836E4A-48AE-469F-ADF8-DC88E16B0E71}"/>
              </a:ext>
            </a:extLst>
          </p:cNvPr>
          <p:cNvSpPr>
            <a:spLocks xmlns:a="http://schemas.openxmlformats.org/drawingml/2006/main" noGrp="1"/>
          </p:cNvSpPr>
          <p:nvPr/>
        </p:nvSpPr>
        <p:spPr>
          <a:xfrm xmlns:a="http://schemas.openxmlformats.org/drawingml/2006/main">
            <a:off x="54292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-45 %</a:t>
            </a:r>
          </a:p>
        </p:txBody>
      </p:sp>
      <p:sp>
        <p:nvSpPr>
          <p:cNvPr id="30" name="">
            <a:extLst xmlns:a="http://schemas.openxmlformats.org/drawingml/2006/main">
              <a:ext uri="{FF2B5EF4-FFF2-40B4-BE49-F238E27FC236}">
                <a16:creationId xmlns:a16="http://schemas.microsoft.com/office/drawing/2014/main" id="{7CD390D0-D688-4B28-B481-F69C67F75E38}"/>
              </a:ext>
            </a:extLst>
          </p:cNvPr>
          <p:cNvSpPr>
            <a:spLocks xmlns:a="http://schemas.openxmlformats.org/drawingml/2006/main" noGrp="1"/>
          </p:cNvSpPr>
          <p:nvPr/>
        </p:nvSpPr>
        <p:spPr>
          <a:xfrm xmlns:a="http://schemas.openxmlformats.org/drawingml/2006/main">
            <a:off x="54292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effort de formation</a:t>
            </a:r>
          </a:p>
        </p:txBody>
      </p:sp>
      <p:sp>
        <p:nvSpPr>
          <p:cNvPr id="31" name="">
            <a:extLst xmlns:a="http://schemas.openxmlformats.org/drawingml/2006/main">
              <a:ext uri="{FF2B5EF4-FFF2-40B4-BE49-F238E27FC236}">
                <a16:creationId xmlns:a16="http://schemas.microsoft.com/office/drawing/2014/main" id="{844C9C24-2E49-4C2E-BBA5-0915C5BCC1EA}"/>
              </a:ext>
            </a:extLst>
          </p:cNvPr>
          <p:cNvSpPr>
            <a:spLocks xmlns:a="http://schemas.openxmlformats.org/drawingml/2006/main" noGrp="1"/>
          </p:cNvSpPr>
          <p:nvPr/>
        </p:nvSpPr>
        <p:spPr>
          <a:xfrm xmlns:a="http://schemas.openxmlformats.org/drawingml/2006/main">
            <a:off x="54292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benchmark onboarding / diffusion</a:t>
            </a:r>
          </a:p>
        </p:txBody>
      </p:sp>
      <p:sp>
        <p:nvSpPr>
          <p:cNvPr id="32" name="">
            <a:extLst xmlns:a="http://schemas.openxmlformats.org/drawingml/2006/main">
              <a:ext uri="{FF2B5EF4-FFF2-40B4-BE49-F238E27FC236}">
                <a16:creationId xmlns:a16="http://schemas.microsoft.com/office/drawing/2014/main" id="{C6B41325-1ECB-477D-AB1E-5E21786AC93C}"/>
              </a:ext>
            </a:extLst>
          </p:cNvPr>
          <p:cNvSpPr>
            <a:spLocks xmlns:a="http://schemas.openxmlformats.org/drawingml/2006/main" noGrp="1"/>
          </p:cNvSpPr>
          <p:nvPr/>
        </p:nvSpPr>
        <p:spPr>
          <a:xfrm xmlns:a="http://schemas.openxmlformats.org/drawingml/2006/main">
            <a:off x="77343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PROPOSONS</a:t>
            </a:r>
          </a:p>
        </p:txBody>
      </p:sp>
      <p:sp>
        <p:nvSpPr>
          <p:cNvPr id="33" name="">
            <a:extLst xmlns:a="http://schemas.openxmlformats.org/drawingml/2006/main">
              <a:ext uri="{FF2B5EF4-FFF2-40B4-BE49-F238E27FC236}">
                <a16:creationId xmlns:a16="http://schemas.microsoft.com/office/drawing/2014/main" id="{ED6D60BC-4B8B-490E-A7F6-BA279CD3CD04}"/>
              </a:ext>
            </a:extLst>
          </p:cNvPr>
          <p:cNvSpPr>
            <a:spLocks xmlns:a="http://schemas.openxmlformats.org/drawingml/2006/main" noGrp="1"/>
          </p:cNvSpPr>
          <p:nvPr/>
        </p:nvSpPr>
        <p:spPr>
          <a:xfrm xmlns:a="http://schemas.openxmlformats.org/drawingml/2006/main">
            <a:off x="7734300" y="1466850"/>
            <a:ext cx="3238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Une offre exécutive,</a:t>
            </a:r>
          </a:p>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métier et mesurable.</a:t>
            </a:r>
          </a:p>
        </p:txBody>
      </p:sp>
      <p:sp>
        <p:nvSpPr>
          <p:cNvPr id="34" name="">
            <a:extLst xmlns:a="http://schemas.openxmlformats.org/drawingml/2006/main">
              <a:ext uri="{FF2B5EF4-FFF2-40B4-BE49-F238E27FC236}">
                <a16:creationId xmlns:a16="http://schemas.microsoft.com/office/drawing/2014/main" id="{BB5EAE47-9775-43EE-89A6-7B15BD95C734}"/>
              </a:ext>
            </a:extLst>
          </p:cNvPr>
          <p:cNvSpPr>
            <a:spLocks xmlns:a="http://schemas.openxmlformats.org/drawingml/2006/main" noGrp="1"/>
          </p:cNvSpPr>
          <p:nvPr/>
        </p:nvSpPr>
        <p:spPr>
          <a:xfrm xmlns:a="http://schemas.openxmlformats.org/drawingml/2006/main">
            <a:off x="7734300" y="2628900"/>
            <a:ext cx="32194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Partir des vrais irritants métier du prospect</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Cadrer des cas d'usage utiles avant tout déploiement</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Former les bonnes équipes au bon niveau</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Lancer un pilote avec mesure du ROI</a:t>
            </a:r>
          </a:p>
        </p:txBody>
      </p:sp>
      <p:sp>
        <p:nvSpPr>
          <p:cNvPr id="35" name="">
            <a:extLst xmlns:a="http://schemas.openxmlformats.org/drawingml/2006/main">
              <a:ext uri="{FF2B5EF4-FFF2-40B4-BE49-F238E27FC236}">
                <a16:creationId xmlns:a16="http://schemas.microsoft.com/office/drawing/2014/main" id="{A32EA5F5-548E-4187-96FC-C5FF2484E08E}"/>
              </a:ext>
            </a:extLst>
          </p:cNvPr>
          <p:cNvSpPr>
            <a:spLocks xmlns:a="http://schemas.openxmlformats.org/drawingml/2006/main" noGrp="1"/>
          </p:cNvSpPr>
          <p:nvPr/>
        </p:nvSpPr>
        <p:spPr>
          <a:xfrm xmlns:a="http://schemas.openxmlformats.org/drawingml/2006/main">
            <a:off x="7734300" y="4095750"/>
            <a:ext cx="314325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36" name="">
            <a:extLst xmlns:a="http://schemas.openxmlformats.org/drawingml/2006/main">
              <a:ext uri="{FF2B5EF4-FFF2-40B4-BE49-F238E27FC236}">
                <a16:creationId xmlns:a16="http://schemas.microsoft.com/office/drawing/2014/main" id="{3F6BC2DD-1A28-4BC9-9BBB-F3E8D0DB4AB0}"/>
              </a:ext>
            </a:extLst>
          </p:cNvPr>
          <p:cNvSpPr>
            <a:spLocks xmlns:a="http://schemas.openxmlformats.org/drawingml/2006/main" noGrp="1"/>
          </p:cNvSpPr>
          <p:nvPr/>
        </p:nvSpPr>
        <p:spPr>
          <a:xfrm xmlns:a="http://schemas.openxmlformats.org/drawingml/2006/main">
            <a:off x="7943850" y="4267200"/>
            <a:ext cx="857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D7E5F3"/>
                </a:solidFill>
                <a:latin typeface="Aptos"/>
                <a:ea typeface="Aptos"/>
                <a:cs typeface="Aptos"/>
              </a:defRPr>
            </a:pPr>
            <a:r>
              <a:rPr sz="713" b="1">
                <a:solidFill>
                  <a:srgbClr val="D7E5F3"/>
                </a:solidFill>
                <a:latin typeface="Aptos"/>
                <a:ea typeface="Aptos"/>
                <a:cs typeface="Aptos"/>
              </a:rPr>
              <a:t>Promesse</a:t>
            </a:r>
          </a:p>
        </p:txBody>
      </p:sp>
      <p:sp>
        <p:nvSpPr>
          <p:cNvPr id="37" name="">
            <a:extLst xmlns:a="http://schemas.openxmlformats.org/drawingml/2006/main">
              <a:ext uri="{FF2B5EF4-FFF2-40B4-BE49-F238E27FC236}">
                <a16:creationId xmlns:a16="http://schemas.microsoft.com/office/drawing/2014/main" id="{93FADAF7-C1E4-4832-AAA8-42F43C87BD10}"/>
              </a:ext>
            </a:extLst>
          </p:cNvPr>
          <p:cNvSpPr>
            <a:spLocks xmlns:a="http://schemas.openxmlformats.org/drawingml/2006/main" noGrp="1"/>
          </p:cNvSpPr>
          <p:nvPr/>
        </p:nvSpPr>
        <p:spPr>
          <a:xfrm xmlns:a="http://schemas.openxmlformats.org/drawingml/2006/main">
            <a:off x="7943850" y="4476750"/>
            <a:ext cx="27241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Faire de l'IA un levier de pilotage, de rigueur opérationnelle et de qualité de service pour le prospect.</a:t>
            </a:r>
          </a:p>
        </p:txBody>
      </p:sp>
      <p:sp>
        <p:nvSpPr>
          <p:cNvPr id="38" name="">
            <a:extLst xmlns:a="http://schemas.openxmlformats.org/drawingml/2006/main">
              <a:ext uri="{FF2B5EF4-FFF2-40B4-BE49-F238E27FC236}">
                <a16:creationId xmlns:a16="http://schemas.microsoft.com/office/drawing/2014/main" id="{912791CA-2401-4D68-A728-44F5E207A6EF}"/>
              </a:ext>
            </a:extLst>
          </p:cNvPr>
          <p:cNvSpPr>
            <a:spLocks xmlns:a="http://schemas.openxmlformats.org/drawingml/2006/main" noGrp="1"/>
          </p:cNvSpPr>
          <p:nvPr/>
        </p:nvSpPr>
        <p:spPr>
          <a:xfrm xmlns:a="http://schemas.openxmlformats.org/drawingml/2006/main">
            <a:off x="7734300" y="5200650"/>
            <a:ext cx="3143250" cy="8191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39" name="">
            <a:extLst xmlns:a="http://schemas.openxmlformats.org/drawingml/2006/main">
              <a:ext uri="{FF2B5EF4-FFF2-40B4-BE49-F238E27FC236}">
                <a16:creationId xmlns:a16="http://schemas.microsoft.com/office/drawing/2014/main" id="{D81A5CE7-FD0F-45DB-9495-06255EA7FBC2}"/>
              </a:ext>
            </a:extLst>
          </p:cNvPr>
          <p:cNvSpPr>
            <a:spLocks xmlns:a="http://schemas.openxmlformats.org/drawingml/2006/main" noGrp="1"/>
          </p:cNvSpPr>
          <p:nvPr/>
        </p:nvSpPr>
        <p:spPr>
          <a:xfrm xmlns:a="http://schemas.openxmlformats.org/drawingml/2006/main">
            <a:off x="7924800" y="5353050"/>
            <a:ext cx="27813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D7E5F3"/>
                </a:solidFill>
                <a:latin typeface="Aptos"/>
                <a:ea typeface="Aptos"/>
                <a:cs typeface="Aptos"/>
              </a:defRPr>
            </a:pPr>
            <a:r>
              <a:rPr sz="788" b="0">
                <a:solidFill>
                  <a:srgbClr val="D7E5F3"/>
                </a:solidFill>
                <a:latin typeface="Aptos"/>
                <a:ea typeface="Aptos"/>
                <a:cs typeface="Aptos"/>
              </a:rPr>
              <a:t>Important : les chiffres de ROI affichés dans ce deck sont des benchmarks de référence TransferAI, à confirmer sur les données du prospect pendant l'audit.</a:t>
            </a:r>
          </a:p>
        </p:txBody>
      </p:sp>
      <p:sp>
        <p:nvSpPr>
          <p:cNvPr id="40" name="">
            <a:extLst xmlns:a="http://schemas.openxmlformats.org/drawingml/2006/main">
              <a:ext uri="{FF2B5EF4-FFF2-40B4-BE49-F238E27FC236}">
                <a16:creationId xmlns:a16="http://schemas.microsoft.com/office/drawing/2014/main" id="{E0D964EE-BDA6-4A82-A934-7B1826106957}"/>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3E725BA4-430C-4644-ACCD-65FC98547A72}"/>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42" name="">
            <a:extLst xmlns:a="http://schemas.openxmlformats.org/drawingml/2006/main">
              <a:ext uri="{FF2B5EF4-FFF2-40B4-BE49-F238E27FC236}">
                <a16:creationId xmlns:a16="http://schemas.microsoft.com/office/drawing/2014/main" id="{DF77321F-E088-4337-B1F1-4C0956E20356}"/>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01</a:t>
            </a:r>
          </a:p>
        </p:txBody>
      </p:sp>
    </p:spTree>
    <p:extLst>
      <p:ext uri="{BB962C8B-B14F-4D97-AF65-F5344CB8AC3E}">
        <p14:creationId xmlns:p14="http://schemas.microsoft.com/office/powerpoint/2010/main" val="76054169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2A7D8B-5695-4A7F-8CC7-D3FDF0D4CC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5ADAF2C-96A8-4AE1-A4FA-FACBDCAFAA40}"/>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SOMMAIRE</a:t>
            </a:r>
          </a:p>
        </p:txBody>
      </p:sp>
      <p:sp>
        <p:nvSpPr>
          <p:cNvPr id="3" name="">
            <a:extLst xmlns:a="http://schemas.openxmlformats.org/drawingml/2006/main">
              <a:ext uri="{FF2B5EF4-FFF2-40B4-BE49-F238E27FC236}">
                <a16:creationId xmlns:a16="http://schemas.microsoft.com/office/drawing/2014/main" id="{65C6A9E8-AC5A-49F7-8EFA-54ADD6AB1E21}"/>
              </a:ext>
            </a:extLst>
          </p:cNvPr>
          <p:cNvSpPr>
            <a:spLocks xmlns:a="http://schemas.openxmlformats.org/drawingml/2006/main" noGrp="1"/>
          </p:cNvSpPr>
          <p:nvPr/>
        </p:nvSpPr>
        <p:spPr>
          <a:xfrm xmlns:a="http://schemas.openxmlformats.org/drawingml/2006/main">
            <a:off x="685800" y="819150"/>
            <a:ext cx="8763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 parcours de lecture recommandé pour un deck de prospection executive</a:t>
            </a:r>
          </a:p>
        </p:txBody>
      </p:sp>
      <p:sp>
        <p:nvSpPr>
          <p:cNvPr id="4" name="">
            <a:extLst xmlns:a="http://schemas.openxmlformats.org/drawingml/2006/main">
              <a:ext uri="{FF2B5EF4-FFF2-40B4-BE49-F238E27FC236}">
                <a16:creationId xmlns:a16="http://schemas.microsoft.com/office/drawing/2014/main" id="{B93C3C85-9C78-46D3-B4B5-4EB3E3ECDFBE}"/>
              </a:ext>
            </a:extLst>
          </p:cNvPr>
          <p:cNvSpPr>
            <a:spLocks xmlns:a="http://schemas.openxmlformats.org/drawingml/2006/main" noGrp="1"/>
          </p:cNvSpPr>
          <p:nvPr/>
        </p:nvSpPr>
        <p:spPr>
          <a:xfrm xmlns:a="http://schemas.openxmlformats.org/drawingml/2006/main">
            <a:off x="685800" y="1676400"/>
            <a:ext cx="914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Le sommaire rassure la direction, structure la lecture en PDF et prépare les deux temps forts du deck : ce que nous avons compris, puis ce que nous recommandons.</a:t>
            </a:r>
          </a:p>
        </p:txBody>
      </p:sp>
      <p:sp>
        <p:nvSpPr>
          <p:cNvPr id="5" name="">
            <a:extLst xmlns:a="http://schemas.openxmlformats.org/drawingml/2006/main">
              <a:ext uri="{FF2B5EF4-FFF2-40B4-BE49-F238E27FC236}">
                <a16:creationId xmlns:a16="http://schemas.microsoft.com/office/drawing/2014/main" id="{70891ABB-DA5E-4F5F-8497-1F00CA1CB96A}"/>
              </a:ext>
            </a:extLst>
          </p:cNvPr>
          <p:cNvSpPr>
            <a:spLocks xmlns:a="http://schemas.openxmlformats.org/drawingml/2006/main" noGrp="1"/>
          </p:cNvSpPr>
          <p:nvPr/>
        </p:nvSpPr>
        <p:spPr>
          <a:xfrm xmlns:a="http://schemas.openxmlformats.org/drawingml/2006/main">
            <a:off x="685800" y="2324100"/>
            <a:ext cx="5448300" cy="3162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2177463E-84A7-4AFA-BB72-104563E475CB}"/>
              </a:ext>
            </a:extLst>
          </p:cNvPr>
          <p:cNvSpPr>
            <a:spLocks xmlns:a="http://schemas.openxmlformats.org/drawingml/2006/main" noGrp="1"/>
          </p:cNvSpPr>
          <p:nvPr/>
        </p:nvSpPr>
        <p:spPr>
          <a:xfrm xmlns:a="http://schemas.openxmlformats.org/drawingml/2006/main">
            <a:off x="914400" y="2552700"/>
            <a:ext cx="1524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Chemin de lecture</a:t>
            </a:r>
          </a:p>
        </p:txBody>
      </p:sp>
      <p:sp>
        <p:nvSpPr>
          <p:cNvPr id="7" name="">
            <a:extLst xmlns:a="http://schemas.openxmlformats.org/drawingml/2006/main">
              <a:ext uri="{FF2B5EF4-FFF2-40B4-BE49-F238E27FC236}">
                <a16:creationId xmlns:a16="http://schemas.microsoft.com/office/drawing/2014/main" id="{08AABBC8-672F-47C9-A107-59C53E66EF37}"/>
              </a:ext>
            </a:extLst>
          </p:cNvPr>
          <p:cNvSpPr>
            <a:spLocks xmlns:a="http://schemas.openxmlformats.org/drawingml/2006/main" noGrp="1"/>
          </p:cNvSpPr>
          <p:nvPr/>
        </p:nvSpPr>
        <p:spPr>
          <a:xfrm xmlns:a="http://schemas.openxmlformats.org/drawingml/2006/main">
            <a:off x="876300" y="2914650"/>
            <a:ext cx="342900" cy="3429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sp>
        <p:nvSpPr>
          <p:cNvPr id="8" name="">
            <a:extLst xmlns:a="http://schemas.openxmlformats.org/drawingml/2006/main">
              <a:ext uri="{FF2B5EF4-FFF2-40B4-BE49-F238E27FC236}">
                <a16:creationId xmlns:a16="http://schemas.microsoft.com/office/drawing/2014/main" id="{60FB53DD-27A8-45FE-9F05-24411C5C2643}"/>
              </a:ext>
            </a:extLst>
          </p:cNvPr>
          <p:cNvSpPr>
            <a:spLocks xmlns:a="http://schemas.openxmlformats.org/drawingml/2006/main" noGrp="1"/>
          </p:cNvSpPr>
          <p:nvPr/>
        </p:nvSpPr>
        <p:spPr>
          <a:xfrm xmlns:a="http://schemas.openxmlformats.org/drawingml/2006/main">
            <a:off x="876300" y="29908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E0F46671-45D7-4DA7-ABDB-EC0BD25DA0D5}"/>
              </a:ext>
            </a:extLst>
          </p:cNvPr>
          <p:cNvSpPr>
            <a:spLocks xmlns:a="http://schemas.openxmlformats.org/drawingml/2006/main" noGrp="1"/>
          </p:cNvSpPr>
          <p:nvPr/>
        </p:nvSpPr>
        <p:spPr>
          <a:xfrm xmlns:a="http://schemas.openxmlformats.org/drawingml/2006/main">
            <a:off x="1390650" y="2876550"/>
            <a:ext cx="4476750" cy="457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6288E0A5-4D19-4D2E-914A-08ECF3218EC9}"/>
              </a:ext>
            </a:extLst>
          </p:cNvPr>
          <p:cNvSpPr>
            <a:spLocks xmlns:a="http://schemas.openxmlformats.org/drawingml/2006/main" noGrp="1"/>
          </p:cNvSpPr>
          <p:nvPr/>
        </p:nvSpPr>
        <p:spPr>
          <a:xfrm xmlns:a="http://schemas.openxmlformats.org/drawingml/2006/main">
            <a:off x="1581150" y="29718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Contexte et promesse</a:t>
            </a:r>
          </a:p>
        </p:txBody>
      </p:sp>
      <p:sp>
        <p:nvSpPr>
          <p:cNvPr id="11" name="">
            <a:extLst xmlns:a="http://schemas.openxmlformats.org/drawingml/2006/main">
              <a:ext uri="{FF2B5EF4-FFF2-40B4-BE49-F238E27FC236}">
                <a16:creationId xmlns:a16="http://schemas.microsoft.com/office/drawing/2014/main" id="{136E6DE2-5580-4C47-A04D-3FA511C6112D}"/>
              </a:ext>
            </a:extLst>
          </p:cNvPr>
          <p:cNvSpPr>
            <a:spLocks xmlns:a="http://schemas.openxmlformats.org/drawingml/2006/main" noGrp="1"/>
          </p:cNvSpPr>
          <p:nvPr/>
        </p:nvSpPr>
        <p:spPr>
          <a:xfrm xmlns:a="http://schemas.openxmlformats.org/drawingml/2006/main">
            <a:off x="3733800" y="29718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que l'on cherche à débloquer</a:t>
            </a:r>
          </a:p>
        </p:txBody>
      </p:sp>
      <p:sp>
        <p:nvSpPr>
          <p:cNvPr id="12" name="">
            <a:extLst xmlns:a="http://schemas.openxmlformats.org/drawingml/2006/main">
              <a:ext uri="{FF2B5EF4-FFF2-40B4-BE49-F238E27FC236}">
                <a16:creationId xmlns:a16="http://schemas.microsoft.com/office/drawing/2014/main" id="{B99C7785-AB29-4583-AEA6-78327080FCCE}"/>
              </a:ext>
            </a:extLst>
          </p:cNvPr>
          <p:cNvSpPr>
            <a:spLocks xmlns:a="http://schemas.openxmlformats.org/drawingml/2006/main" noGrp="1"/>
          </p:cNvSpPr>
          <p:nvPr/>
        </p:nvSpPr>
        <p:spPr>
          <a:xfrm xmlns:a="http://schemas.openxmlformats.org/drawingml/2006/main">
            <a:off x="876300" y="3467100"/>
            <a:ext cx="342900" cy="3429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sp>
        <p:nvSpPr>
          <p:cNvPr id="13" name="">
            <a:extLst xmlns:a="http://schemas.openxmlformats.org/drawingml/2006/main">
              <a:ext uri="{FF2B5EF4-FFF2-40B4-BE49-F238E27FC236}">
                <a16:creationId xmlns:a16="http://schemas.microsoft.com/office/drawing/2014/main" id="{B46C9942-70F5-4C31-9C10-4DD60F4585F5}"/>
              </a:ext>
            </a:extLst>
          </p:cNvPr>
          <p:cNvSpPr>
            <a:spLocks xmlns:a="http://schemas.openxmlformats.org/drawingml/2006/main" noGrp="1"/>
          </p:cNvSpPr>
          <p:nvPr/>
        </p:nvSpPr>
        <p:spPr>
          <a:xfrm xmlns:a="http://schemas.openxmlformats.org/drawingml/2006/main">
            <a:off x="876300" y="354330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9A639B1D-B14D-46BB-A3FA-C53ECB4CA59B}"/>
              </a:ext>
            </a:extLst>
          </p:cNvPr>
          <p:cNvSpPr>
            <a:spLocks xmlns:a="http://schemas.openxmlformats.org/drawingml/2006/main" noGrp="1"/>
          </p:cNvSpPr>
          <p:nvPr/>
        </p:nvSpPr>
        <p:spPr>
          <a:xfrm xmlns:a="http://schemas.openxmlformats.org/drawingml/2006/main">
            <a:off x="1390650" y="342900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5" name="">
            <a:extLst xmlns:a="http://schemas.openxmlformats.org/drawingml/2006/main">
              <a:ext uri="{FF2B5EF4-FFF2-40B4-BE49-F238E27FC236}">
                <a16:creationId xmlns:a16="http://schemas.microsoft.com/office/drawing/2014/main" id="{CC4666DF-D3C6-45FC-9A74-D387C56A579F}"/>
              </a:ext>
            </a:extLst>
          </p:cNvPr>
          <p:cNvSpPr>
            <a:spLocks xmlns:a="http://schemas.openxmlformats.org/drawingml/2006/main" noGrp="1"/>
          </p:cNvSpPr>
          <p:nvPr/>
        </p:nvSpPr>
        <p:spPr>
          <a:xfrm xmlns:a="http://schemas.openxmlformats.org/drawingml/2006/main">
            <a:off x="1581150" y="35242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Crédibilité TransferAI</a:t>
            </a:r>
          </a:p>
        </p:txBody>
      </p:sp>
      <p:sp>
        <p:nvSpPr>
          <p:cNvPr id="16" name="">
            <a:extLst xmlns:a="http://schemas.openxmlformats.org/drawingml/2006/main">
              <a:ext uri="{FF2B5EF4-FFF2-40B4-BE49-F238E27FC236}">
                <a16:creationId xmlns:a16="http://schemas.microsoft.com/office/drawing/2014/main" id="{7E7567B3-DF82-4AD6-B19C-3DAE20E91492}"/>
              </a:ext>
            </a:extLst>
          </p:cNvPr>
          <p:cNvSpPr>
            <a:spLocks xmlns:a="http://schemas.openxmlformats.org/drawingml/2006/main" noGrp="1"/>
          </p:cNvSpPr>
          <p:nvPr/>
        </p:nvSpPr>
        <p:spPr>
          <a:xfrm xmlns:a="http://schemas.openxmlformats.org/drawingml/2006/main">
            <a:off x="3733800" y="352425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qui porte l'exécution</a:t>
            </a:r>
          </a:p>
        </p:txBody>
      </p:sp>
      <p:sp>
        <p:nvSpPr>
          <p:cNvPr id="17" name="">
            <a:extLst xmlns:a="http://schemas.openxmlformats.org/drawingml/2006/main">
              <a:ext uri="{FF2B5EF4-FFF2-40B4-BE49-F238E27FC236}">
                <a16:creationId xmlns:a16="http://schemas.microsoft.com/office/drawing/2014/main" id="{298B0B65-7A2A-4201-BD14-CD46CCFAC9EB}"/>
              </a:ext>
            </a:extLst>
          </p:cNvPr>
          <p:cNvSpPr>
            <a:spLocks xmlns:a="http://schemas.openxmlformats.org/drawingml/2006/main" noGrp="1"/>
          </p:cNvSpPr>
          <p:nvPr/>
        </p:nvSpPr>
        <p:spPr>
          <a:xfrm xmlns:a="http://schemas.openxmlformats.org/drawingml/2006/main">
            <a:off x="876300" y="4019550"/>
            <a:ext cx="342900" cy="3429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sp>
        <p:nvSpPr>
          <p:cNvPr id="18" name="">
            <a:extLst xmlns:a="http://schemas.openxmlformats.org/drawingml/2006/main">
              <a:ext uri="{FF2B5EF4-FFF2-40B4-BE49-F238E27FC236}">
                <a16:creationId xmlns:a16="http://schemas.microsoft.com/office/drawing/2014/main" id="{C5B35C05-5D36-40C7-9F1C-1AD39D05BFCE}"/>
              </a:ext>
            </a:extLst>
          </p:cNvPr>
          <p:cNvSpPr>
            <a:spLocks xmlns:a="http://schemas.openxmlformats.org/drawingml/2006/main" noGrp="1"/>
          </p:cNvSpPr>
          <p:nvPr/>
        </p:nvSpPr>
        <p:spPr>
          <a:xfrm xmlns:a="http://schemas.openxmlformats.org/drawingml/2006/main">
            <a:off x="876300" y="40957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03</a:t>
            </a:r>
          </a:p>
        </p:txBody>
      </p:sp>
      <p:sp>
        <p:nvSpPr>
          <p:cNvPr id="19" name="">
            <a:extLst xmlns:a="http://schemas.openxmlformats.org/drawingml/2006/main">
              <a:ext uri="{FF2B5EF4-FFF2-40B4-BE49-F238E27FC236}">
                <a16:creationId xmlns:a16="http://schemas.microsoft.com/office/drawing/2014/main" id="{22F282C9-B2FA-4630-9102-5EBB4F5E7679}"/>
              </a:ext>
            </a:extLst>
          </p:cNvPr>
          <p:cNvSpPr>
            <a:spLocks xmlns:a="http://schemas.openxmlformats.org/drawingml/2006/main" noGrp="1"/>
          </p:cNvSpPr>
          <p:nvPr/>
        </p:nvSpPr>
        <p:spPr>
          <a:xfrm xmlns:a="http://schemas.openxmlformats.org/drawingml/2006/main">
            <a:off x="1390650" y="398145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0" name="">
            <a:extLst xmlns:a="http://schemas.openxmlformats.org/drawingml/2006/main">
              <a:ext uri="{FF2B5EF4-FFF2-40B4-BE49-F238E27FC236}">
                <a16:creationId xmlns:a16="http://schemas.microsoft.com/office/drawing/2014/main" id="{62DF93F1-2F7B-42B6-8DA8-D96ED66B2A14}"/>
              </a:ext>
            </a:extLst>
          </p:cNvPr>
          <p:cNvSpPr>
            <a:spLocks xmlns:a="http://schemas.openxmlformats.org/drawingml/2006/main" noGrp="1"/>
          </p:cNvSpPr>
          <p:nvPr/>
        </p:nvSpPr>
        <p:spPr>
          <a:xfrm xmlns:a="http://schemas.openxmlformats.org/drawingml/2006/main">
            <a:off x="1581150" y="40767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Priorités métier du prospect</a:t>
            </a:r>
          </a:p>
        </p:txBody>
      </p:sp>
      <p:sp>
        <p:nvSpPr>
          <p:cNvPr id="21" name="">
            <a:extLst xmlns:a="http://schemas.openxmlformats.org/drawingml/2006/main">
              <a:ext uri="{FF2B5EF4-FFF2-40B4-BE49-F238E27FC236}">
                <a16:creationId xmlns:a16="http://schemas.microsoft.com/office/drawing/2014/main" id="{9B1B5714-714B-4CB2-9514-6F99025E1A75}"/>
              </a:ext>
            </a:extLst>
          </p:cNvPr>
          <p:cNvSpPr>
            <a:spLocks xmlns:a="http://schemas.openxmlformats.org/drawingml/2006/main" noGrp="1"/>
          </p:cNvSpPr>
          <p:nvPr/>
        </p:nvSpPr>
        <p:spPr>
          <a:xfrm xmlns:a="http://schemas.openxmlformats.org/drawingml/2006/main">
            <a:off x="3733800" y="40767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où la valeur devient visible</a:t>
            </a:r>
          </a:p>
        </p:txBody>
      </p:sp>
      <p:sp>
        <p:nvSpPr>
          <p:cNvPr id="22" name="">
            <a:extLst xmlns:a="http://schemas.openxmlformats.org/drawingml/2006/main">
              <a:ext uri="{FF2B5EF4-FFF2-40B4-BE49-F238E27FC236}">
                <a16:creationId xmlns:a16="http://schemas.microsoft.com/office/drawing/2014/main" id="{13447A07-F2E0-4117-AB67-BE5B4C011AA2}"/>
              </a:ext>
            </a:extLst>
          </p:cNvPr>
          <p:cNvSpPr>
            <a:spLocks xmlns:a="http://schemas.openxmlformats.org/drawingml/2006/main" noGrp="1"/>
          </p:cNvSpPr>
          <p:nvPr/>
        </p:nvSpPr>
        <p:spPr>
          <a:xfrm xmlns:a="http://schemas.openxmlformats.org/drawingml/2006/main">
            <a:off x="876300" y="4572000"/>
            <a:ext cx="342900" cy="3429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sp>
        <p:nvSpPr>
          <p:cNvPr id="23" name="">
            <a:extLst xmlns:a="http://schemas.openxmlformats.org/drawingml/2006/main">
              <a:ext uri="{FF2B5EF4-FFF2-40B4-BE49-F238E27FC236}">
                <a16:creationId xmlns:a16="http://schemas.microsoft.com/office/drawing/2014/main" id="{086B0ECC-B609-47C8-B86F-9B6FA2DE762D}"/>
              </a:ext>
            </a:extLst>
          </p:cNvPr>
          <p:cNvSpPr>
            <a:spLocks xmlns:a="http://schemas.openxmlformats.org/drawingml/2006/main" noGrp="1"/>
          </p:cNvSpPr>
          <p:nvPr/>
        </p:nvSpPr>
        <p:spPr>
          <a:xfrm xmlns:a="http://schemas.openxmlformats.org/drawingml/2006/main">
            <a:off x="876300" y="464820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412897F5-4AE9-42BA-9B70-80DEE7118374}"/>
              </a:ext>
            </a:extLst>
          </p:cNvPr>
          <p:cNvSpPr>
            <a:spLocks xmlns:a="http://schemas.openxmlformats.org/drawingml/2006/main" noGrp="1"/>
          </p:cNvSpPr>
          <p:nvPr/>
        </p:nvSpPr>
        <p:spPr>
          <a:xfrm xmlns:a="http://schemas.openxmlformats.org/drawingml/2006/main">
            <a:off x="1390650" y="453390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5" name="">
            <a:extLst xmlns:a="http://schemas.openxmlformats.org/drawingml/2006/main">
              <a:ext uri="{FF2B5EF4-FFF2-40B4-BE49-F238E27FC236}">
                <a16:creationId xmlns:a16="http://schemas.microsoft.com/office/drawing/2014/main" id="{9FC110FD-DCB3-4B78-BF7A-7FD341102970}"/>
              </a:ext>
            </a:extLst>
          </p:cNvPr>
          <p:cNvSpPr>
            <a:spLocks xmlns:a="http://schemas.openxmlformats.org/drawingml/2006/main" noGrp="1"/>
          </p:cNvSpPr>
          <p:nvPr/>
        </p:nvSpPr>
        <p:spPr>
          <a:xfrm xmlns:a="http://schemas.openxmlformats.org/drawingml/2006/main">
            <a:off x="1581150" y="46291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ROI de référence et KPI</a:t>
            </a:r>
          </a:p>
        </p:txBody>
      </p:sp>
      <p:sp>
        <p:nvSpPr>
          <p:cNvPr id="26" name="">
            <a:extLst xmlns:a="http://schemas.openxmlformats.org/drawingml/2006/main">
              <a:ext uri="{FF2B5EF4-FFF2-40B4-BE49-F238E27FC236}">
                <a16:creationId xmlns:a16="http://schemas.microsoft.com/office/drawing/2014/main" id="{881F95BE-DEF7-478F-8265-F3A113FD1E49}"/>
              </a:ext>
            </a:extLst>
          </p:cNvPr>
          <p:cNvSpPr>
            <a:spLocks xmlns:a="http://schemas.openxmlformats.org/drawingml/2006/main" noGrp="1"/>
          </p:cNvSpPr>
          <p:nvPr/>
        </p:nvSpPr>
        <p:spPr>
          <a:xfrm xmlns:a="http://schemas.openxmlformats.org/drawingml/2006/main">
            <a:off x="3733800" y="462915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qu'il faut mesurer</a:t>
            </a:r>
          </a:p>
        </p:txBody>
      </p:sp>
      <p:sp>
        <p:nvSpPr>
          <p:cNvPr id="27" name="">
            <a:extLst xmlns:a="http://schemas.openxmlformats.org/drawingml/2006/main">
              <a:ext uri="{FF2B5EF4-FFF2-40B4-BE49-F238E27FC236}">
                <a16:creationId xmlns:a16="http://schemas.microsoft.com/office/drawing/2014/main" id="{E287FC87-DFAB-495C-8387-93D4A3652BD6}"/>
              </a:ext>
            </a:extLst>
          </p:cNvPr>
          <p:cNvSpPr>
            <a:spLocks xmlns:a="http://schemas.openxmlformats.org/drawingml/2006/main" noGrp="1"/>
          </p:cNvSpPr>
          <p:nvPr/>
        </p:nvSpPr>
        <p:spPr>
          <a:xfrm xmlns:a="http://schemas.openxmlformats.org/drawingml/2006/main">
            <a:off x="876300" y="5124450"/>
            <a:ext cx="342900" cy="3429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sp>
        <p:nvSpPr>
          <p:cNvPr id="28" name="">
            <a:extLst xmlns:a="http://schemas.openxmlformats.org/drawingml/2006/main">
              <a:ext uri="{FF2B5EF4-FFF2-40B4-BE49-F238E27FC236}">
                <a16:creationId xmlns:a16="http://schemas.microsoft.com/office/drawing/2014/main" id="{FDD521BE-5F66-4E76-A310-47F44D104BF9}"/>
              </a:ext>
            </a:extLst>
          </p:cNvPr>
          <p:cNvSpPr>
            <a:spLocks xmlns:a="http://schemas.openxmlformats.org/drawingml/2006/main" noGrp="1"/>
          </p:cNvSpPr>
          <p:nvPr/>
        </p:nvSpPr>
        <p:spPr>
          <a:xfrm xmlns:a="http://schemas.openxmlformats.org/drawingml/2006/main">
            <a:off x="876300" y="52006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26C13D7C-C7F1-4E6D-BEA6-686506BFD897}"/>
              </a:ext>
            </a:extLst>
          </p:cNvPr>
          <p:cNvSpPr>
            <a:spLocks xmlns:a="http://schemas.openxmlformats.org/drawingml/2006/main" noGrp="1"/>
          </p:cNvSpPr>
          <p:nvPr/>
        </p:nvSpPr>
        <p:spPr>
          <a:xfrm xmlns:a="http://schemas.openxmlformats.org/drawingml/2006/main">
            <a:off x="1390650" y="508635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B02A4356-D02F-4961-AC62-D1C655FEA766}"/>
              </a:ext>
            </a:extLst>
          </p:cNvPr>
          <p:cNvSpPr>
            <a:spLocks xmlns:a="http://schemas.openxmlformats.org/drawingml/2006/main" noGrp="1"/>
          </p:cNvSpPr>
          <p:nvPr/>
        </p:nvSpPr>
        <p:spPr>
          <a:xfrm xmlns:a="http://schemas.openxmlformats.org/drawingml/2006/main">
            <a:off x="1581150" y="51816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Cas d'usage et feuille de route</a:t>
            </a:r>
          </a:p>
        </p:txBody>
      </p:sp>
      <p:sp>
        <p:nvSpPr>
          <p:cNvPr id="31" name="">
            <a:extLst xmlns:a="http://schemas.openxmlformats.org/drawingml/2006/main">
              <a:ext uri="{FF2B5EF4-FFF2-40B4-BE49-F238E27FC236}">
                <a16:creationId xmlns:a16="http://schemas.microsoft.com/office/drawing/2014/main" id="{69A1076C-F5FB-410A-940F-C897312DD435}"/>
              </a:ext>
            </a:extLst>
          </p:cNvPr>
          <p:cNvSpPr>
            <a:spLocks xmlns:a="http://schemas.openxmlformats.org/drawingml/2006/main" noGrp="1"/>
          </p:cNvSpPr>
          <p:nvPr/>
        </p:nvSpPr>
        <p:spPr>
          <a:xfrm xmlns:a="http://schemas.openxmlformats.org/drawingml/2006/main">
            <a:off x="3733800" y="51816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que l'on recommande</a:t>
            </a:r>
          </a:p>
        </p:txBody>
      </p:sp>
      <p:sp>
        <p:nvSpPr>
          <p:cNvPr id="32" name="">
            <a:extLst xmlns:a="http://schemas.openxmlformats.org/drawingml/2006/main">
              <a:ext uri="{FF2B5EF4-FFF2-40B4-BE49-F238E27FC236}">
                <a16:creationId xmlns:a16="http://schemas.microsoft.com/office/drawing/2014/main" id="{226BDAED-8E72-4FBC-8F0D-98017E91E91F}"/>
              </a:ext>
            </a:extLst>
          </p:cNvPr>
          <p:cNvSpPr>
            <a:spLocks xmlns:a="http://schemas.openxmlformats.org/drawingml/2006/main" noGrp="1"/>
          </p:cNvSpPr>
          <p:nvPr/>
        </p:nvSpPr>
        <p:spPr>
          <a:xfrm xmlns:a="http://schemas.openxmlformats.org/drawingml/2006/main">
            <a:off x="6610350" y="2324100"/>
            <a:ext cx="4895850" cy="31623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3" name="">
            <a:extLst xmlns:a="http://schemas.openxmlformats.org/drawingml/2006/main">
              <a:ext uri="{FF2B5EF4-FFF2-40B4-BE49-F238E27FC236}">
                <a16:creationId xmlns:a16="http://schemas.microsoft.com/office/drawing/2014/main" id="{48965B2F-FB2E-405E-A4A9-CDC1F691F064}"/>
              </a:ext>
            </a:extLst>
          </p:cNvPr>
          <p:cNvSpPr>
            <a:spLocks xmlns:a="http://schemas.openxmlformats.org/drawingml/2006/main" noGrp="1"/>
          </p:cNvSpPr>
          <p:nvPr/>
        </p:nvSpPr>
        <p:spPr>
          <a:xfrm xmlns:a="http://schemas.openxmlformats.org/drawingml/2006/main">
            <a:off x="6896100" y="25908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LECTURE DÉCISIONNELLE</a:t>
            </a:r>
          </a:p>
        </p:txBody>
      </p:sp>
      <p:sp>
        <p:nvSpPr>
          <p:cNvPr id="34" name="">
            <a:extLst xmlns:a="http://schemas.openxmlformats.org/drawingml/2006/main">
              <a:ext uri="{FF2B5EF4-FFF2-40B4-BE49-F238E27FC236}">
                <a16:creationId xmlns:a16="http://schemas.microsoft.com/office/drawing/2014/main" id="{44555F9D-F594-48B3-92C3-9E20D434AAF5}"/>
              </a:ext>
            </a:extLst>
          </p:cNvPr>
          <p:cNvSpPr>
            <a:spLocks xmlns:a="http://schemas.openxmlformats.org/drawingml/2006/main" noGrp="1"/>
          </p:cNvSpPr>
          <p:nvPr/>
        </p:nvSpPr>
        <p:spPr>
          <a:xfrm xmlns:a="http://schemas.openxmlformats.org/drawingml/2006/main">
            <a:off x="6896100" y="2895600"/>
            <a:ext cx="2857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Un deck court,</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mais guidé comme</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une décision.</a:t>
            </a:r>
          </a:p>
        </p:txBody>
      </p:sp>
      <p:sp>
        <p:nvSpPr>
          <p:cNvPr id="35" name="">
            <a:extLst xmlns:a="http://schemas.openxmlformats.org/drawingml/2006/main">
              <a:ext uri="{FF2B5EF4-FFF2-40B4-BE49-F238E27FC236}">
                <a16:creationId xmlns:a16="http://schemas.microsoft.com/office/drawing/2014/main" id="{F8B1DA31-BE44-4195-8E55-147078ABE9CE}"/>
              </a:ext>
            </a:extLst>
          </p:cNvPr>
          <p:cNvSpPr>
            <a:spLocks xmlns:a="http://schemas.openxmlformats.org/drawingml/2006/main" noGrp="1"/>
          </p:cNvSpPr>
          <p:nvPr/>
        </p:nvSpPr>
        <p:spPr>
          <a:xfrm xmlns:a="http://schemas.openxmlformats.org/drawingml/2006/main">
            <a:off x="6896100" y="4133850"/>
            <a:ext cx="29146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1. Comprendre les irritants métier.</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2. Donner un benchmark ROI crédible.</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3. Recommander un premier pilote mesurable.</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4. Finir sur une prochaine étape simple : audit IA + échange expert de 30 minutes.</a:t>
            </a:r>
          </a:p>
        </p:txBody>
      </p:sp>
      <p:sp>
        <p:nvSpPr>
          <p:cNvPr id="36" name="">
            <a:extLst xmlns:a="http://schemas.openxmlformats.org/drawingml/2006/main">
              <a:ext uri="{FF2B5EF4-FFF2-40B4-BE49-F238E27FC236}">
                <a16:creationId xmlns:a16="http://schemas.microsoft.com/office/drawing/2014/main" id="{D71DB615-0074-42C2-9646-6D8BC077E717}"/>
              </a:ext>
            </a:extLst>
          </p:cNvPr>
          <p:cNvSpPr>
            <a:spLocks xmlns:a="http://schemas.openxmlformats.org/drawingml/2006/main" noGrp="1"/>
          </p:cNvSpPr>
          <p:nvPr/>
        </p:nvSpPr>
        <p:spPr>
          <a:xfrm xmlns:a="http://schemas.openxmlformats.org/drawingml/2006/main">
            <a:off x="9925050" y="2895600"/>
            <a:ext cx="1257300" cy="9144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37" name="">
            <a:extLst xmlns:a="http://schemas.openxmlformats.org/drawingml/2006/main">
              <a:ext uri="{FF2B5EF4-FFF2-40B4-BE49-F238E27FC236}">
                <a16:creationId xmlns:a16="http://schemas.microsoft.com/office/drawing/2014/main" id="{0B0B6DBA-EA84-4673-BAF9-E788E62A0E42}"/>
              </a:ext>
            </a:extLst>
          </p:cNvPr>
          <p:cNvSpPr>
            <a:spLocks xmlns:a="http://schemas.openxmlformats.org/drawingml/2006/main" noGrp="1"/>
          </p:cNvSpPr>
          <p:nvPr/>
        </p:nvSpPr>
        <p:spPr>
          <a:xfrm xmlns:a="http://schemas.openxmlformats.org/drawingml/2006/main">
            <a:off x="10096500" y="3181350"/>
            <a:ext cx="914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PDF ready</a:t>
            </a:r>
          </a:p>
        </p:txBody>
      </p:sp>
      <p:sp>
        <p:nvSpPr>
          <p:cNvPr id="38" name="">
            <a:extLst xmlns:a="http://schemas.openxmlformats.org/drawingml/2006/main">
              <a:ext uri="{FF2B5EF4-FFF2-40B4-BE49-F238E27FC236}">
                <a16:creationId xmlns:a16="http://schemas.microsoft.com/office/drawing/2014/main" id="{4425B43C-A9C1-471F-856F-587F400929FB}"/>
              </a:ext>
            </a:extLst>
          </p:cNvPr>
          <p:cNvSpPr>
            <a:spLocks xmlns:a="http://schemas.openxmlformats.org/drawingml/2006/main" noGrp="1"/>
          </p:cNvSpPr>
          <p:nvPr/>
        </p:nvSpPr>
        <p:spPr>
          <a:xfrm xmlns:a="http://schemas.openxmlformats.org/drawingml/2006/main">
            <a:off x="10077450" y="3429000"/>
            <a:ext cx="95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lecture rapide DG</a:t>
            </a:r>
          </a:p>
        </p:txBody>
      </p:sp>
      <p:sp>
        <p:nvSpPr>
          <p:cNvPr id="39" name="">
            <a:extLst xmlns:a="http://schemas.openxmlformats.org/drawingml/2006/main">
              <a:ext uri="{FF2B5EF4-FFF2-40B4-BE49-F238E27FC236}">
                <a16:creationId xmlns:a16="http://schemas.microsoft.com/office/drawing/2014/main" id="{C392EDE8-9EF6-4EC3-80BF-8F5BC1FF63B9}"/>
              </a:ext>
            </a:extLst>
          </p:cNvPr>
          <p:cNvSpPr>
            <a:spLocks xmlns:a="http://schemas.openxmlformats.org/drawingml/2006/main" noGrp="1"/>
          </p:cNvSpPr>
          <p:nvPr/>
        </p:nvSpPr>
        <p:spPr>
          <a:xfrm xmlns:a="http://schemas.openxmlformats.org/drawingml/2006/main">
            <a:off x="9925050" y="3981450"/>
            <a:ext cx="1257300" cy="9144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40" name="">
            <a:extLst xmlns:a="http://schemas.openxmlformats.org/drawingml/2006/main">
              <a:ext uri="{FF2B5EF4-FFF2-40B4-BE49-F238E27FC236}">
                <a16:creationId xmlns:a16="http://schemas.microsoft.com/office/drawing/2014/main" id="{1B3C9908-2DBC-49D8-A315-99E2E580853F}"/>
              </a:ext>
            </a:extLst>
          </p:cNvPr>
          <p:cNvSpPr>
            <a:spLocks xmlns:a="http://schemas.openxmlformats.org/drawingml/2006/main" noGrp="1"/>
          </p:cNvSpPr>
          <p:nvPr/>
        </p:nvSpPr>
        <p:spPr>
          <a:xfrm xmlns:a="http://schemas.openxmlformats.org/drawingml/2006/main">
            <a:off x="10096500" y="4267200"/>
            <a:ext cx="914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 temps</a:t>
            </a:r>
          </a:p>
        </p:txBody>
      </p:sp>
      <p:sp>
        <p:nvSpPr>
          <p:cNvPr id="41" name="">
            <a:extLst xmlns:a="http://schemas.openxmlformats.org/drawingml/2006/main">
              <a:ext uri="{FF2B5EF4-FFF2-40B4-BE49-F238E27FC236}">
                <a16:creationId xmlns:a16="http://schemas.microsoft.com/office/drawing/2014/main" id="{2E96E152-D93F-4931-B662-9BC0184DA365}"/>
              </a:ext>
            </a:extLst>
          </p:cNvPr>
          <p:cNvSpPr>
            <a:spLocks xmlns:a="http://schemas.openxmlformats.org/drawingml/2006/main" noGrp="1"/>
          </p:cNvSpPr>
          <p:nvPr/>
        </p:nvSpPr>
        <p:spPr>
          <a:xfrm xmlns:a="http://schemas.openxmlformats.org/drawingml/2006/main">
            <a:off x="10020300" y="4514850"/>
            <a:ext cx="1066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comprendre puis recommander</a:t>
            </a:r>
          </a:p>
        </p:txBody>
      </p:sp>
      <p:sp>
        <p:nvSpPr>
          <p:cNvPr id="42" name="">
            <a:extLst xmlns:a="http://schemas.openxmlformats.org/drawingml/2006/main">
              <a:ext uri="{FF2B5EF4-FFF2-40B4-BE49-F238E27FC236}">
                <a16:creationId xmlns:a16="http://schemas.microsoft.com/office/drawing/2014/main" id="{F72FC10F-5FB8-4F86-A935-18DE909EE18B}"/>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DB630188-1048-4054-B47B-C94C7E5954CB}"/>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44" name="">
            <a:extLst xmlns:a="http://schemas.openxmlformats.org/drawingml/2006/main">
              <a:ext uri="{FF2B5EF4-FFF2-40B4-BE49-F238E27FC236}">
                <a16:creationId xmlns:a16="http://schemas.microsoft.com/office/drawing/2014/main" id="{917AB9C7-69DB-4B65-9411-DCB00C4AB715}"/>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02</a:t>
            </a:r>
          </a:p>
        </p:txBody>
      </p:sp>
    </p:spTree>
    <p:extLst>
      <p:ext uri="{BB962C8B-B14F-4D97-AF65-F5344CB8AC3E}">
        <p14:creationId xmlns:p14="http://schemas.microsoft.com/office/powerpoint/2010/main" val="5461825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497EAC-2BD5-4728-BDD2-B36C2167E8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F3177E4-F615-4B05-A53E-E55201BD51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EA75F049-038D-4FD1-9693-901DB153E798}"/>
              </a:ext>
            </a:extLst>
          </p:cNvPr>
          <p:cNvSpPr>
            <a:spLocks xmlns:a="http://schemas.openxmlformats.org/drawingml/2006/main" noGrp="1"/>
          </p:cNvSpPr>
          <p:nvPr/>
        </p:nvSpPr>
        <p:spPr>
          <a:xfrm xmlns:a="http://schemas.openxmlformats.org/drawingml/2006/main">
            <a:off x="685800" y="1066800"/>
            <a:ext cx="76200" cy="432435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4" name="">
            <a:extLst xmlns:a="http://schemas.openxmlformats.org/drawingml/2006/main">
              <a:ext uri="{FF2B5EF4-FFF2-40B4-BE49-F238E27FC236}">
                <a16:creationId xmlns:a16="http://schemas.microsoft.com/office/drawing/2014/main" id="{5A51DB00-C664-4569-8C7E-D8DF5C28F20D}"/>
              </a:ext>
            </a:extLst>
          </p:cNvPr>
          <p:cNvSpPr>
            <a:spLocks xmlns:a="http://schemas.openxmlformats.org/drawingml/2006/main" noGrp="1"/>
          </p:cNvSpPr>
          <p:nvPr/>
        </p:nvSpPr>
        <p:spPr>
          <a:xfrm xmlns:a="http://schemas.openxmlformats.org/drawingml/2006/main">
            <a:off x="9906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AVONS COMPRIS</a:t>
            </a:r>
          </a:p>
        </p:txBody>
      </p:sp>
      <p:sp>
        <p:nvSpPr>
          <p:cNvPr id="5" name="">
            <a:extLst xmlns:a="http://schemas.openxmlformats.org/drawingml/2006/main">
              <a:ext uri="{FF2B5EF4-FFF2-40B4-BE49-F238E27FC236}">
                <a16:creationId xmlns:a16="http://schemas.microsoft.com/office/drawing/2014/main" id="{6A63C45D-50A6-43C1-BBEF-1598A3CB1E2F}"/>
              </a:ext>
            </a:extLst>
          </p:cNvPr>
          <p:cNvSpPr>
            <a:spLocks xmlns:a="http://schemas.openxmlformats.org/drawingml/2006/main" noGrp="1"/>
          </p:cNvSpPr>
          <p:nvPr/>
        </p:nvSpPr>
        <p:spPr>
          <a:xfrm xmlns:a="http://schemas.openxmlformats.org/drawingml/2006/main">
            <a:off x="990600" y="1524000"/>
            <a:ext cx="6096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slides qui cadrent</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enjeux avant de</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parler solution.</a:t>
            </a:r>
          </a:p>
        </p:txBody>
      </p:sp>
      <p:sp>
        <p:nvSpPr>
          <p:cNvPr id="6" name="">
            <a:extLst xmlns:a="http://schemas.openxmlformats.org/drawingml/2006/main">
              <a:ext uri="{FF2B5EF4-FFF2-40B4-BE49-F238E27FC236}">
                <a16:creationId xmlns:a16="http://schemas.microsoft.com/office/drawing/2014/main" id="{B2DA988D-F07D-4903-95DE-FD6ED66EBE46}"/>
              </a:ext>
            </a:extLst>
          </p:cNvPr>
          <p:cNvSpPr>
            <a:spLocks xmlns:a="http://schemas.openxmlformats.org/drawingml/2006/main" noGrp="1"/>
          </p:cNvSpPr>
          <p:nvPr/>
        </p:nvSpPr>
        <p:spPr>
          <a:xfrm xmlns:a="http://schemas.openxmlformats.org/drawingml/2006/main">
            <a:off x="990600" y="3086100"/>
            <a:ext cx="5334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7E5F3"/>
                </a:solidFill>
                <a:latin typeface="Aptos"/>
                <a:ea typeface="Aptos"/>
                <a:cs typeface="Aptos"/>
              </a:defRPr>
            </a:pPr>
            <a:r>
              <a:rPr sz="1200" b="0">
                <a:solidFill>
                  <a:srgbClr val="D7E5F3"/>
                </a:solidFill>
                <a:latin typeface="Aptos"/>
                <a:ea typeface="Aptos"/>
                <a:cs typeface="Aptos"/>
              </a:rPr>
              <a:t>Cette première partie du deck doit montrer que nous comprenons les priorités métier, les irritants visibles et les KPI qui feront foi pour la direction.</a:t>
            </a:r>
          </a:p>
        </p:txBody>
      </p:sp>
      <p:sp>
        <p:nvSpPr>
          <p:cNvPr id="7" name="">
            <a:extLst xmlns:a="http://schemas.openxmlformats.org/drawingml/2006/main">
              <a:ext uri="{FF2B5EF4-FFF2-40B4-BE49-F238E27FC236}">
                <a16:creationId xmlns:a16="http://schemas.microsoft.com/office/drawing/2014/main" id="{B4A680AA-FF91-486E-BBED-77C66130E2E1}"/>
              </a:ext>
            </a:extLst>
          </p:cNvPr>
          <p:cNvSpPr>
            <a:spLocks xmlns:a="http://schemas.openxmlformats.org/drawingml/2006/main" noGrp="1"/>
          </p:cNvSpPr>
          <p:nvPr/>
        </p:nvSpPr>
        <p:spPr>
          <a:xfrm xmlns:a="http://schemas.openxmlformats.org/drawingml/2006/main">
            <a:off x="7410450" y="1257300"/>
            <a:ext cx="3752850" cy="16192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8" name="">
            <a:extLst xmlns:a="http://schemas.openxmlformats.org/drawingml/2006/main">
              <a:ext uri="{FF2B5EF4-FFF2-40B4-BE49-F238E27FC236}">
                <a16:creationId xmlns:a16="http://schemas.microsoft.com/office/drawing/2014/main" id="{7FE8C54C-3391-4485-9307-2A22B3604D25}"/>
              </a:ext>
            </a:extLst>
          </p:cNvPr>
          <p:cNvSpPr>
            <a:spLocks xmlns:a="http://schemas.openxmlformats.org/drawingml/2006/main" noGrp="1"/>
          </p:cNvSpPr>
          <p:nvPr/>
        </p:nvSpPr>
        <p:spPr>
          <a:xfrm xmlns:a="http://schemas.openxmlformats.org/drawingml/2006/main">
            <a:off x="7658100" y="148590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7E5F3"/>
                </a:solidFill>
                <a:latin typeface="Aptos"/>
                <a:ea typeface="Aptos"/>
                <a:cs typeface="Aptos"/>
              </a:defRPr>
            </a:pPr>
            <a:r>
              <a:rPr sz="750" b="1">
                <a:solidFill>
                  <a:srgbClr val="D7E5F3"/>
                </a:solidFill>
                <a:latin typeface="Aptos"/>
                <a:ea typeface="Aptos"/>
                <a:cs typeface="Aptos"/>
              </a:rPr>
              <a:t>Cette section doit prouver</a:t>
            </a:r>
          </a:p>
        </p:txBody>
      </p:sp>
      <p:sp>
        <p:nvSpPr>
          <p:cNvPr id="9" name="">
            <a:extLst xmlns:a="http://schemas.openxmlformats.org/drawingml/2006/main">
              <a:ext uri="{FF2B5EF4-FFF2-40B4-BE49-F238E27FC236}">
                <a16:creationId xmlns:a16="http://schemas.microsoft.com/office/drawing/2014/main" id="{7B9A5F78-1C64-497B-8FE7-DC48841F5534}"/>
              </a:ext>
            </a:extLst>
          </p:cNvPr>
          <p:cNvSpPr>
            <a:spLocks xmlns:a="http://schemas.openxmlformats.org/drawingml/2006/main" noGrp="1"/>
          </p:cNvSpPr>
          <p:nvPr/>
        </p:nvSpPr>
        <p:spPr>
          <a:xfrm xmlns:a="http://schemas.openxmlformats.org/drawingml/2006/main">
            <a:off x="7658100" y="1733550"/>
            <a:ext cx="32575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Nous ne venons pas avec un catalogue. Nous partons des flux qui coûtent déjà du temps, de la rigueur et de la qualité de service.</a:t>
            </a:r>
          </a:p>
        </p:txBody>
      </p:sp>
      <p:sp>
        <p:nvSpPr>
          <p:cNvPr id="10" name="">
            <a:extLst xmlns:a="http://schemas.openxmlformats.org/drawingml/2006/main">
              <a:ext uri="{FF2B5EF4-FFF2-40B4-BE49-F238E27FC236}">
                <a16:creationId xmlns:a16="http://schemas.microsoft.com/office/drawing/2014/main" id="{D03941C4-59F4-4C74-9545-A1F6AE629F18}"/>
              </a:ext>
            </a:extLst>
          </p:cNvPr>
          <p:cNvSpPr>
            <a:spLocks xmlns:a="http://schemas.openxmlformats.org/drawingml/2006/main" noGrp="1"/>
          </p:cNvSpPr>
          <p:nvPr/>
        </p:nvSpPr>
        <p:spPr>
          <a:xfrm xmlns:a="http://schemas.openxmlformats.org/drawingml/2006/main">
            <a:off x="7410450" y="3200400"/>
            <a:ext cx="3752850" cy="16954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11" name="">
            <a:extLst xmlns:a="http://schemas.openxmlformats.org/drawingml/2006/main">
              <a:ext uri="{FF2B5EF4-FFF2-40B4-BE49-F238E27FC236}">
                <a16:creationId xmlns:a16="http://schemas.microsoft.com/office/drawing/2014/main" id="{E41505DE-D234-4C06-A326-E85B01688E0F}"/>
              </a:ext>
            </a:extLst>
          </p:cNvPr>
          <p:cNvSpPr>
            <a:spLocks xmlns:a="http://schemas.openxmlformats.org/drawingml/2006/main" noGrp="1"/>
          </p:cNvSpPr>
          <p:nvPr/>
        </p:nvSpPr>
        <p:spPr>
          <a:xfrm xmlns:a="http://schemas.openxmlformats.org/drawingml/2006/main">
            <a:off x="7658100" y="34290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Promesse de lecture</a:t>
            </a:r>
          </a:p>
        </p:txBody>
      </p:sp>
      <p:sp>
        <p:nvSpPr>
          <p:cNvPr id="12" name="">
            <a:extLst xmlns:a="http://schemas.openxmlformats.org/drawingml/2006/main">
              <a:ext uri="{FF2B5EF4-FFF2-40B4-BE49-F238E27FC236}">
                <a16:creationId xmlns:a16="http://schemas.microsoft.com/office/drawing/2014/main" id="{F597529B-4121-4073-AE2A-9E0D4EA8C4B8}"/>
              </a:ext>
            </a:extLst>
          </p:cNvPr>
          <p:cNvSpPr>
            <a:spLocks xmlns:a="http://schemas.openxmlformats.org/drawingml/2006/main" noGrp="1"/>
          </p:cNvSpPr>
          <p:nvPr/>
        </p:nvSpPr>
        <p:spPr>
          <a:xfrm xmlns:a="http://schemas.openxmlformats.org/drawingml/2006/main">
            <a:off x="7658100" y="3714750"/>
            <a:ext cx="3105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Comprendre avant de recommander.</a:t>
            </a:r>
          </a:p>
        </p:txBody>
      </p:sp>
      <p:sp>
        <p:nvSpPr>
          <p:cNvPr id="13" name="">
            <a:extLst xmlns:a="http://schemas.openxmlformats.org/drawingml/2006/main">
              <a:ext uri="{FF2B5EF4-FFF2-40B4-BE49-F238E27FC236}">
                <a16:creationId xmlns:a16="http://schemas.microsoft.com/office/drawing/2014/main" id="{2CE3F60E-A045-4573-9C2A-F3E694DF0222}"/>
              </a:ext>
            </a:extLst>
          </p:cNvPr>
          <p:cNvSpPr>
            <a:spLocks xmlns:a="http://schemas.openxmlformats.org/drawingml/2006/main" noGrp="1"/>
          </p:cNvSpPr>
          <p:nvPr/>
        </p:nvSpPr>
        <p:spPr>
          <a:xfrm xmlns:a="http://schemas.openxmlformats.org/drawingml/2006/main">
            <a:off x="7658100" y="4305300"/>
            <a:ext cx="3200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7E5F3"/>
                </a:solidFill>
                <a:latin typeface="Aptos"/>
                <a:ea typeface="Aptos"/>
                <a:cs typeface="Aptos"/>
              </a:defRPr>
            </a:pPr>
            <a:r>
              <a:rPr sz="900" b="0">
                <a:solidFill>
                  <a:srgbClr val="D7E5F3"/>
                </a:solidFill>
                <a:latin typeface="Aptos"/>
                <a:ea typeface="Aptos"/>
                <a:cs typeface="Aptos"/>
              </a:rPr>
              <a:t>La crédibilité commerciale se joue ici : ancrage local, preuve d'exécution et lecture métier nette.</a:t>
            </a:r>
          </a:p>
        </p:txBody>
      </p:sp>
      <p:sp>
        <p:nvSpPr>
          <p:cNvPr id="14" name="">
            <a:extLst xmlns:a="http://schemas.openxmlformats.org/drawingml/2006/main">
              <a:ext uri="{FF2B5EF4-FFF2-40B4-BE49-F238E27FC236}">
                <a16:creationId xmlns:a16="http://schemas.microsoft.com/office/drawing/2014/main" id="{D360C62D-CEF8-44DA-8BAF-4EF8783BC044}"/>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1E9C41C-4782-45F8-B6DB-A64F94CD8569}"/>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16" name="">
            <a:extLst xmlns:a="http://schemas.openxmlformats.org/drawingml/2006/main">
              <a:ext uri="{FF2B5EF4-FFF2-40B4-BE49-F238E27FC236}">
                <a16:creationId xmlns:a16="http://schemas.microsoft.com/office/drawing/2014/main" id="{3924BB1B-C710-4623-8F40-8F680A06491A}"/>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03</a:t>
            </a:r>
          </a:p>
        </p:txBody>
      </p:sp>
    </p:spTree>
    <p:extLst>
      <p:ext uri="{BB962C8B-B14F-4D97-AF65-F5344CB8AC3E}">
        <p14:creationId xmlns:p14="http://schemas.microsoft.com/office/powerpoint/2010/main" val="17817965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F9D74CF-9277-4677-B6F2-50692BB587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E0C7BEE-1D8C-4124-921D-1A073138AD6D}"/>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QUI SOMMES-NOUS</a:t>
            </a:r>
          </a:p>
        </p:txBody>
      </p:sp>
      <p:sp>
        <p:nvSpPr>
          <p:cNvPr id="3" name="">
            <a:extLst xmlns:a="http://schemas.openxmlformats.org/drawingml/2006/main">
              <a:ext uri="{FF2B5EF4-FFF2-40B4-BE49-F238E27FC236}">
                <a16:creationId xmlns:a16="http://schemas.microsoft.com/office/drawing/2014/main" id="{05435C9E-F6EB-4ED8-948C-F7C5DF5C9A2B}"/>
              </a:ext>
            </a:extLst>
          </p:cNvPr>
          <p:cNvSpPr>
            <a:spLocks xmlns:a="http://schemas.openxmlformats.org/drawingml/2006/main" noGrp="1"/>
          </p:cNvSpPr>
          <p:nvPr/>
        </p:nvSpPr>
        <p:spPr>
          <a:xfrm xmlns:a="http://schemas.openxmlformats.org/drawingml/2006/main">
            <a:off x="685800" y="8191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TransferAI, le hub IA de Nettelecom CI</a:t>
            </a:r>
          </a:p>
        </p:txBody>
      </p:sp>
      <p:sp>
        <p:nvSpPr>
          <p:cNvPr id="4" name="">
            <a:extLst xmlns:a="http://schemas.openxmlformats.org/drawingml/2006/main">
              <a:ext uri="{FF2B5EF4-FFF2-40B4-BE49-F238E27FC236}">
                <a16:creationId xmlns:a16="http://schemas.microsoft.com/office/drawing/2014/main" id="{5400C759-FED8-4B14-B174-6AB721050F1B}"/>
              </a:ext>
            </a:extLst>
          </p:cNvPr>
          <p:cNvSpPr>
            <a:spLocks xmlns:a="http://schemas.openxmlformats.org/drawingml/2006/main" noGrp="1"/>
          </p:cNvSpPr>
          <p:nvPr/>
        </p:nvSpPr>
        <p:spPr>
          <a:xfrm xmlns:a="http://schemas.openxmlformats.org/drawingml/2006/main">
            <a:off x="685800" y="1676400"/>
            <a:ext cx="923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La proposition gagne en crédibilité si nous expliquons clairement qui porte l'offre, avec quelle profondeur d'expertise et dans quel cadre d'exécution.</a:t>
            </a:r>
          </a:p>
        </p:txBody>
      </p:sp>
      <p:sp>
        <p:nvSpPr>
          <p:cNvPr id="5" name="">
            <a:extLst xmlns:a="http://schemas.openxmlformats.org/drawingml/2006/main">
              <a:ext uri="{FF2B5EF4-FFF2-40B4-BE49-F238E27FC236}">
                <a16:creationId xmlns:a16="http://schemas.microsoft.com/office/drawing/2014/main" id="{544308AE-E4F6-476D-BA5A-EE21AE53E1B2}"/>
              </a:ext>
            </a:extLst>
          </p:cNvPr>
          <p:cNvSpPr>
            <a:spLocks xmlns:a="http://schemas.openxmlformats.org/drawingml/2006/main" noGrp="1"/>
          </p:cNvSpPr>
          <p:nvPr/>
        </p:nvSpPr>
        <p:spPr>
          <a:xfrm xmlns:a="http://schemas.openxmlformats.org/drawingml/2006/main">
            <a:off x="685800" y="2171700"/>
            <a:ext cx="4114800" cy="32385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6" name="">
            <a:extLst xmlns:a="http://schemas.openxmlformats.org/drawingml/2006/main">
              <a:ext uri="{FF2B5EF4-FFF2-40B4-BE49-F238E27FC236}">
                <a16:creationId xmlns:a16="http://schemas.microsoft.com/office/drawing/2014/main" id="{3177B6DF-99A4-4642-A476-C0CDC576EBFC}"/>
              </a:ext>
            </a:extLst>
          </p:cNvPr>
          <p:cNvSpPr>
            <a:spLocks xmlns:a="http://schemas.openxmlformats.org/drawingml/2006/main" noGrp="1"/>
          </p:cNvSpPr>
          <p:nvPr/>
        </p:nvSpPr>
        <p:spPr>
          <a:xfrm xmlns:a="http://schemas.openxmlformats.org/drawingml/2006/main">
            <a:off x="933450" y="240030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D7E5F3"/>
                </a:solidFill>
                <a:latin typeface="Aptos"/>
                <a:ea typeface="Aptos"/>
                <a:cs typeface="Aptos"/>
              </a:defRPr>
            </a:pPr>
            <a:r>
              <a:rPr sz="825" b="1">
                <a:solidFill>
                  <a:srgbClr val="D7E5F3"/>
                </a:solidFill>
                <a:latin typeface="Aptos"/>
                <a:ea typeface="Aptos"/>
                <a:cs typeface="Aptos"/>
              </a:rPr>
              <a:t>TransferAI</a:t>
            </a:r>
          </a:p>
        </p:txBody>
      </p:sp>
      <p:sp>
        <p:nvSpPr>
          <p:cNvPr id="7" name="">
            <a:extLst xmlns:a="http://schemas.openxmlformats.org/drawingml/2006/main">
              <a:ext uri="{FF2B5EF4-FFF2-40B4-BE49-F238E27FC236}">
                <a16:creationId xmlns:a16="http://schemas.microsoft.com/office/drawing/2014/main" id="{B134DE56-3A7A-4F60-B71D-7B17A3D55B6A}"/>
              </a:ext>
            </a:extLst>
          </p:cNvPr>
          <p:cNvSpPr>
            <a:spLocks xmlns:a="http://schemas.openxmlformats.org/drawingml/2006/main" noGrp="1"/>
          </p:cNvSpPr>
          <p:nvPr/>
        </p:nvSpPr>
        <p:spPr>
          <a:xfrm xmlns:a="http://schemas.openxmlformats.org/drawingml/2006/main">
            <a:off x="933450" y="2724150"/>
            <a:ext cx="257175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Le hub IA</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opérationnel de</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Nettelecom CI</a:t>
            </a:r>
          </a:p>
        </p:txBody>
      </p:sp>
      <p:sp>
        <p:nvSpPr>
          <p:cNvPr id="8" name="">
            <a:extLst xmlns:a="http://schemas.openxmlformats.org/drawingml/2006/main">
              <a:ext uri="{FF2B5EF4-FFF2-40B4-BE49-F238E27FC236}">
                <a16:creationId xmlns:a16="http://schemas.microsoft.com/office/drawing/2014/main" id="{2F193F37-60AD-4193-8C75-9B440D2A9476}"/>
              </a:ext>
            </a:extLst>
          </p:cNvPr>
          <p:cNvSpPr>
            <a:spLocks xmlns:a="http://schemas.openxmlformats.org/drawingml/2006/main" noGrp="1"/>
          </p:cNvSpPr>
          <p:nvPr/>
        </p:nvSpPr>
        <p:spPr>
          <a:xfrm xmlns:a="http://schemas.openxmlformats.org/drawingml/2006/main">
            <a:off x="933450" y="3886200"/>
            <a:ext cx="27241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D7E5F3"/>
                </a:solidFill>
                <a:latin typeface="Aptos"/>
                <a:ea typeface="Aptos"/>
                <a:cs typeface="Aptos"/>
              </a:defRPr>
            </a:pPr>
            <a:r>
              <a:rPr sz="1013" b="0">
                <a:solidFill>
                  <a:srgbClr val="D7E5F3"/>
                </a:solidFill>
                <a:latin typeface="Aptos"/>
                <a:ea typeface="Aptos"/>
                <a:cs typeface="Aptos"/>
              </a:rPr>
              <a:t>Nous positionnons TransferAI comme la structure qui relie stratégie, automatisation, data, formation et gouvernance pour transformer l'IA en exécution métier.</a:t>
            </a:r>
          </a:p>
        </p:txBody>
      </p:sp>
      <p:sp>
        <p:nvSpPr>
          <p:cNvPr id="9" name="">
            <a:extLst xmlns:a="http://schemas.openxmlformats.org/drawingml/2006/main">
              <a:ext uri="{FF2B5EF4-FFF2-40B4-BE49-F238E27FC236}">
                <a16:creationId xmlns:a16="http://schemas.microsoft.com/office/drawing/2014/main" id="{50CC29BC-2F0E-497C-914F-FAF984F64C4F}"/>
              </a:ext>
            </a:extLst>
          </p:cNvPr>
          <p:cNvSpPr>
            <a:spLocks xmlns:a="http://schemas.openxmlformats.org/drawingml/2006/main" noGrp="1"/>
          </p:cNvSpPr>
          <p:nvPr/>
        </p:nvSpPr>
        <p:spPr>
          <a:xfrm xmlns:a="http://schemas.openxmlformats.org/drawingml/2006/main">
            <a:off x="933450" y="4876800"/>
            <a:ext cx="2762250" cy="4000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10" name="">
            <a:extLst xmlns:a="http://schemas.openxmlformats.org/drawingml/2006/main">
              <a:ext uri="{FF2B5EF4-FFF2-40B4-BE49-F238E27FC236}">
                <a16:creationId xmlns:a16="http://schemas.microsoft.com/office/drawing/2014/main" id="{FD736D49-B68C-410C-B941-8EEEC53EB796}"/>
              </a:ext>
            </a:extLst>
          </p:cNvPr>
          <p:cNvSpPr>
            <a:spLocks xmlns:a="http://schemas.openxmlformats.org/drawingml/2006/main" noGrp="1"/>
          </p:cNvSpPr>
          <p:nvPr/>
        </p:nvSpPr>
        <p:spPr>
          <a:xfrm xmlns:a="http://schemas.openxmlformats.org/drawingml/2006/main">
            <a:off x="1085850" y="4991100"/>
            <a:ext cx="2457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Pour le prospect : un interlocuteur IA structuré, pas un simple catalogue.</a:t>
            </a:r>
          </a:p>
        </p:txBody>
      </p:sp>
      <p:sp>
        <p:nvSpPr>
          <p:cNvPr id="11" name="">
            <a:extLst xmlns:a="http://schemas.openxmlformats.org/drawingml/2006/main">
              <a:ext uri="{FF2B5EF4-FFF2-40B4-BE49-F238E27FC236}">
                <a16:creationId xmlns:a16="http://schemas.microsoft.com/office/drawing/2014/main" id="{A0AA3C4C-8D54-4C89-AC99-21DAD39EAACB}"/>
              </a:ext>
            </a:extLst>
          </p:cNvPr>
          <p:cNvSpPr>
            <a:spLocks xmlns:a="http://schemas.openxmlformats.org/drawingml/2006/main" noGrp="1"/>
          </p:cNvSpPr>
          <p:nvPr/>
        </p:nvSpPr>
        <p:spPr>
          <a:xfrm xmlns:a="http://schemas.openxmlformats.org/drawingml/2006/main">
            <a:off x="5086350" y="2171700"/>
            <a:ext cx="28575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2" name="">
            <a:extLst xmlns:a="http://schemas.openxmlformats.org/drawingml/2006/main">
              <a:ext uri="{FF2B5EF4-FFF2-40B4-BE49-F238E27FC236}">
                <a16:creationId xmlns:a16="http://schemas.microsoft.com/office/drawing/2014/main" id="{3E4E18C8-6ADB-43B6-A74E-FEADE1F8FB27}"/>
              </a:ext>
            </a:extLst>
          </p:cNvPr>
          <p:cNvSpPr>
            <a:spLocks xmlns:a="http://schemas.openxmlformats.org/drawingml/2006/main" noGrp="1"/>
          </p:cNvSpPr>
          <p:nvPr/>
        </p:nvSpPr>
        <p:spPr>
          <a:xfrm xmlns:a="http://schemas.openxmlformats.org/drawingml/2006/main">
            <a:off x="5295900" y="23812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cbbdfc14818470e">
            <a:extLst>
              <a:ext uri="{96DAC541-7B7A-43D3-8B79-37D633B846F1}">
                <asvg:svgBlip xmlns:asvg="http://schemas.microsoft.com/office/drawing/2016/SVG/main" r:embed="R3e28898bfa9c43cd"/>
              </a:ext>
            </a:extLst>
          </a:blip>
          <a:stretch xmlns:a="http://schemas.openxmlformats.org/drawingml/2006/main"/>
        </p:blipFill>
        <p:spPr>
          <a:xfrm xmlns:a="http://schemas.openxmlformats.org/drawingml/2006/main">
            <a:off x="5391150" y="2476500"/>
            <a:ext cx="228600" cy="2286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6750D03-9999-495C-8287-DDB7DFE74B7F}"/>
              </a:ext>
            </a:extLst>
          </p:cNvPr>
          <p:cNvSpPr>
            <a:spLocks xmlns:a="http://schemas.openxmlformats.org/drawingml/2006/main" noGrp="1"/>
          </p:cNvSpPr>
          <p:nvPr/>
        </p:nvSpPr>
        <p:spPr>
          <a:xfrm xmlns:a="http://schemas.openxmlformats.org/drawingml/2006/main">
            <a:off x="5829300" y="23812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13 experts en IA</a:t>
            </a:r>
          </a:p>
        </p:txBody>
      </p:sp>
      <p:sp>
        <p:nvSpPr>
          <p:cNvPr id="15" name="">
            <a:extLst xmlns:a="http://schemas.openxmlformats.org/drawingml/2006/main">
              <a:ext uri="{FF2B5EF4-FFF2-40B4-BE49-F238E27FC236}">
                <a16:creationId xmlns:a16="http://schemas.microsoft.com/office/drawing/2014/main" id="{6A10DDEC-6425-4188-BCCC-CA809DF15343}"/>
              </a:ext>
            </a:extLst>
          </p:cNvPr>
          <p:cNvSpPr>
            <a:spLocks xmlns:a="http://schemas.openxmlformats.org/drawingml/2006/main" noGrp="1"/>
          </p:cNvSpPr>
          <p:nvPr/>
        </p:nvSpPr>
        <p:spPr>
          <a:xfrm xmlns:a="http://schemas.openxmlformats.org/drawingml/2006/main">
            <a:off x="5295900" y="2857500"/>
            <a:ext cx="22479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Une équipe de 13 experts en IA, mobilisable sur des enjeux de diagnostic, d'automatisation, de pilotage, de formation et de gouvernance.</a:t>
            </a:r>
          </a:p>
        </p:txBody>
      </p:sp>
      <p:sp>
        <p:nvSpPr>
          <p:cNvPr id="16" name="">
            <a:extLst xmlns:a="http://schemas.openxmlformats.org/drawingml/2006/main">
              <a:ext uri="{FF2B5EF4-FFF2-40B4-BE49-F238E27FC236}">
                <a16:creationId xmlns:a16="http://schemas.microsoft.com/office/drawing/2014/main" id="{F165B02F-A06C-4EA5-90A9-916134A7AE79}"/>
              </a:ext>
            </a:extLst>
          </p:cNvPr>
          <p:cNvSpPr>
            <a:spLocks xmlns:a="http://schemas.openxmlformats.org/drawingml/2006/main" noGrp="1"/>
          </p:cNvSpPr>
          <p:nvPr/>
        </p:nvSpPr>
        <p:spPr>
          <a:xfrm xmlns:a="http://schemas.openxmlformats.org/drawingml/2006/main">
            <a:off x="8153400" y="2171700"/>
            <a:ext cx="33528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7" name="">
            <a:extLst xmlns:a="http://schemas.openxmlformats.org/drawingml/2006/main">
              <a:ext uri="{FF2B5EF4-FFF2-40B4-BE49-F238E27FC236}">
                <a16:creationId xmlns:a16="http://schemas.microsoft.com/office/drawing/2014/main" id="{706D9AA1-8F65-49F7-AE30-60436C78F4D1}"/>
              </a:ext>
            </a:extLst>
          </p:cNvPr>
          <p:cNvSpPr>
            <a:spLocks xmlns:a="http://schemas.openxmlformats.org/drawingml/2006/main" noGrp="1"/>
          </p:cNvSpPr>
          <p:nvPr/>
        </p:nvSpPr>
        <p:spPr>
          <a:xfrm xmlns:a="http://schemas.openxmlformats.org/drawingml/2006/main">
            <a:off x="8362950" y="23812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e15f66bb05f48dc">
            <a:extLst>
              <a:ext uri="{96DAC541-7B7A-43D3-8B79-37D633B846F1}">
                <asvg:svgBlip xmlns:asvg="http://schemas.microsoft.com/office/drawing/2016/SVG/main" r:embed="Rce68a5c814464fac"/>
              </a:ext>
            </a:extLst>
          </a:blip>
          <a:stretch xmlns:a="http://schemas.openxmlformats.org/drawingml/2006/main"/>
        </p:blipFill>
        <p:spPr>
          <a:xfrm xmlns:a="http://schemas.openxmlformats.org/drawingml/2006/main">
            <a:off x="8458200" y="2476500"/>
            <a:ext cx="228600" cy="2286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92DDB0A6-C6F1-41E8-82F6-346D61A1DA76}"/>
              </a:ext>
            </a:extLst>
          </p:cNvPr>
          <p:cNvSpPr>
            <a:spLocks xmlns:a="http://schemas.openxmlformats.org/drawingml/2006/main" noGrp="1"/>
          </p:cNvSpPr>
          <p:nvPr/>
        </p:nvSpPr>
        <p:spPr>
          <a:xfrm xmlns:a="http://schemas.openxmlformats.org/drawingml/2006/main">
            <a:off x="8896350" y="2381250"/>
            <a:ext cx="2190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Différents secteurs couverts</a:t>
            </a:r>
          </a:p>
        </p:txBody>
      </p:sp>
      <p:sp>
        <p:nvSpPr>
          <p:cNvPr id="20" name="">
            <a:extLst xmlns:a="http://schemas.openxmlformats.org/drawingml/2006/main">
              <a:ext uri="{FF2B5EF4-FFF2-40B4-BE49-F238E27FC236}">
                <a16:creationId xmlns:a16="http://schemas.microsoft.com/office/drawing/2014/main" id="{DDD2BD3A-7CA1-4A14-976D-EE849DD50728}"/>
              </a:ext>
            </a:extLst>
          </p:cNvPr>
          <p:cNvSpPr>
            <a:spLocks xmlns:a="http://schemas.openxmlformats.org/drawingml/2006/main" noGrp="1"/>
          </p:cNvSpPr>
          <p:nvPr/>
        </p:nvSpPr>
        <p:spPr>
          <a:xfrm xmlns:a="http://schemas.openxmlformats.org/drawingml/2006/main">
            <a:off x="8362950" y="2857500"/>
            <a:ext cx="27432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TransferAI rassemble des expertises IA appliquées dans différents secteurs d'activité, ce qui permet de relier les usages technologiques aux contraintes métier.</a:t>
            </a:r>
          </a:p>
        </p:txBody>
      </p:sp>
      <p:sp>
        <p:nvSpPr>
          <p:cNvPr id="21" name="">
            <a:extLst xmlns:a="http://schemas.openxmlformats.org/drawingml/2006/main">
              <a:ext uri="{FF2B5EF4-FFF2-40B4-BE49-F238E27FC236}">
                <a16:creationId xmlns:a16="http://schemas.microsoft.com/office/drawing/2014/main" id="{FB243F8E-C292-44DB-9C68-79B69E36AD07}"/>
              </a:ext>
            </a:extLst>
          </p:cNvPr>
          <p:cNvSpPr>
            <a:spLocks xmlns:a="http://schemas.openxmlformats.org/drawingml/2006/main" noGrp="1"/>
          </p:cNvSpPr>
          <p:nvPr/>
        </p:nvSpPr>
        <p:spPr>
          <a:xfrm xmlns:a="http://schemas.openxmlformats.org/drawingml/2006/main">
            <a:off x="5086350" y="3790950"/>
            <a:ext cx="28575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10CA9F11-635B-4DCB-8CED-168043251120}"/>
              </a:ext>
            </a:extLst>
          </p:cNvPr>
          <p:cNvSpPr>
            <a:spLocks xmlns:a="http://schemas.openxmlformats.org/drawingml/2006/main" noGrp="1"/>
          </p:cNvSpPr>
          <p:nvPr/>
        </p:nvSpPr>
        <p:spPr>
          <a:xfrm xmlns:a="http://schemas.openxmlformats.org/drawingml/2006/main">
            <a:off x="5295900" y="400050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b608d2d982f4d3f">
            <a:extLst>
              <a:ext uri="{96DAC541-7B7A-43D3-8B79-37D633B846F1}">
                <asvg:svgBlip xmlns:asvg="http://schemas.microsoft.com/office/drawing/2016/SVG/main" r:embed="R10a07b26301e436c"/>
              </a:ext>
            </a:extLst>
          </a:blip>
          <a:stretch xmlns:a="http://schemas.openxmlformats.org/drawingml/2006/main"/>
        </p:blipFill>
        <p:spPr>
          <a:xfrm xmlns:a="http://schemas.openxmlformats.org/drawingml/2006/main">
            <a:off x="5391150" y="409575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90E016F-B7D1-45B2-BF2B-031464FE590D}"/>
              </a:ext>
            </a:extLst>
          </p:cNvPr>
          <p:cNvSpPr>
            <a:spLocks xmlns:a="http://schemas.openxmlformats.org/drawingml/2006/main" noGrp="1"/>
          </p:cNvSpPr>
          <p:nvPr/>
        </p:nvSpPr>
        <p:spPr>
          <a:xfrm xmlns:a="http://schemas.openxmlformats.org/drawingml/2006/main">
            <a:off x="5829300" y="40005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Une logique d'exécution</a:t>
            </a:r>
          </a:p>
        </p:txBody>
      </p:sp>
      <p:sp>
        <p:nvSpPr>
          <p:cNvPr id="25" name="">
            <a:extLst xmlns:a="http://schemas.openxmlformats.org/drawingml/2006/main">
              <a:ext uri="{FF2B5EF4-FFF2-40B4-BE49-F238E27FC236}">
                <a16:creationId xmlns:a16="http://schemas.microsoft.com/office/drawing/2014/main" id="{DF95F99C-8F34-4FE8-AD1F-6F53B1B684CD}"/>
              </a:ext>
            </a:extLst>
          </p:cNvPr>
          <p:cNvSpPr>
            <a:spLocks xmlns:a="http://schemas.openxmlformats.org/drawingml/2006/main" noGrp="1"/>
          </p:cNvSpPr>
          <p:nvPr/>
        </p:nvSpPr>
        <p:spPr>
          <a:xfrm xmlns:a="http://schemas.openxmlformats.org/drawingml/2006/main">
            <a:off x="5295900" y="4476750"/>
            <a:ext cx="22479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Notre rôle n'est pas seulement de présenter l'IA. Nous cadrons, priorisons, formons et transformons un besoin flou en pilote métier mesurable.</a:t>
            </a:r>
          </a:p>
        </p:txBody>
      </p:sp>
      <p:sp>
        <p:nvSpPr>
          <p:cNvPr id="26" name="">
            <a:extLst xmlns:a="http://schemas.openxmlformats.org/drawingml/2006/main">
              <a:ext uri="{FF2B5EF4-FFF2-40B4-BE49-F238E27FC236}">
                <a16:creationId xmlns:a16="http://schemas.microsoft.com/office/drawing/2014/main" id="{600985D4-BBC8-420C-9281-27F4380617EB}"/>
              </a:ext>
            </a:extLst>
          </p:cNvPr>
          <p:cNvSpPr>
            <a:spLocks xmlns:a="http://schemas.openxmlformats.org/drawingml/2006/main" noGrp="1"/>
          </p:cNvSpPr>
          <p:nvPr/>
        </p:nvSpPr>
        <p:spPr>
          <a:xfrm xmlns:a="http://schemas.openxmlformats.org/drawingml/2006/main">
            <a:off x="8153400" y="3790950"/>
            <a:ext cx="33528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7" name="">
            <a:extLst xmlns:a="http://schemas.openxmlformats.org/drawingml/2006/main">
              <a:ext uri="{FF2B5EF4-FFF2-40B4-BE49-F238E27FC236}">
                <a16:creationId xmlns:a16="http://schemas.microsoft.com/office/drawing/2014/main" id="{70A08176-3DBF-407E-9C50-4DA8410321C1}"/>
              </a:ext>
            </a:extLst>
          </p:cNvPr>
          <p:cNvSpPr>
            <a:spLocks xmlns:a="http://schemas.openxmlformats.org/drawingml/2006/main" noGrp="1"/>
          </p:cNvSpPr>
          <p:nvPr/>
        </p:nvSpPr>
        <p:spPr>
          <a:xfrm xmlns:a="http://schemas.openxmlformats.org/drawingml/2006/main">
            <a:off x="8362950" y="400050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6946b0011ff404a">
            <a:extLst>
              <a:ext uri="{96DAC541-7B7A-43D3-8B79-37D633B846F1}">
                <asvg:svgBlip xmlns:asvg="http://schemas.microsoft.com/office/drawing/2016/SVG/main" r:embed="R2d3d9b334ca44696"/>
              </a:ext>
            </a:extLst>
          </a:blip>
          <a:stretch xmlns:a="http://schemas.openxmlformats.org/drawingml/2006/main"/>
        </p:blipFill>
        <p:spPr>
          <a:xfrm xmlns:a="http://schemas.openxmlformats.org/drawingml/2006/main">
            <a:off x="8458200" y="4095750"/>
            <a:ext cx="228600" cy="2286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1C34A8A2-B25E-4C78-8997-1CBB77663FD8}"/>
              </a:ext>
            </a:extLst>
          </p:cNvPr>
          <p:cNvSpPr>
            <a:spLocks xmlns:a="http://schemas.openxmlformats.org/drawingml/2006/main" noGrp="1"/>
          </p:cNvSpPr>
          <p:nvPr/>
        </p:nvSpPr>
        <p:spPr>
          <a:xfrm xmlns:a="http://schemas.openxmlformats.org/drawingml/2006/main">
            <a:off x="8896350" y="400050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Un cadre compatible entreprise</a:t>
            </a:r>
          </a:p>
        </p:txBody>
      </p:sp>
      <p:sp>
        <p:nvSpPr>
          <p:cNvPr id="30" name="">
            <a:extLst xmlns:a="http://schemas.openxmlformats.org/drawingml/2006/main">
              <a:ext uri="{FF2B5EF4-FFF2-40B4-BE49-F238E27FC236}">
                <a16:creationId xmlns:a16="http://schemas.microsoft.com/office/drawing/2014/main" id="{B4009193-C3A8-4DF4-BEFE-92A4DE080E28}"/>
              </a:ext>
            </a:extLst>
          </p:cNvPr>
          <p:cNvSpPr>
            <a:spLocks xmlns:a="http://schemas.openxmlformats.org/drawingml/2006/main" noGrp="1"/>
          </p:cNvSpPr>
          <p:nvPr/>
        </p:nvSpPr>
        <p:spPr>
          <a:xfrm xmlns:a="http://schemas.openxmlformats.org/drawingml/2006/main">
            <a:off x="8362950" y="4476750"/>
            <a:ext cx="27432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Adossé à Nettelecom CI, TransferAI porte une approche sérieuse de la confidentialité, de la gouvernance des usages et de la supervision des pilotes.</a:t>
            </a:r>
          </a:p>
        </p:txBody>
      </p:sp>
      <p:sp>
        <p:nvSpPr>
          <p:cNvPr id="31" name="">
            <a:extLst xmlns:a="http://schemas.openxmlformats.org/drawingml/2006/main">
              <a:ext uri="{FF2B5EF4-FFF2-40B4-BE49-F238E27FC236}">
                <a16:creationId xmlns:a16="http://schemas.microsoft.com/office/drawing/2014/main" id="{582133E4-CF1F-4C22-9B4E-A99E3F5CF156}"/>
              </a:ext>
            </a:extLst>
          </p:cNvPr>
          <p:cNvSpPr>
            <a:spLocks xmlns:a="http://schemas.openxmlformats.org/drawingml/2006/main" noGrp="1"/>
          </p:cNvSpPr>
          <p:nvPr/>
        </p:nvSpPr>
        <p:spPr>
          <a:xfrm xmlns:a="http://schemas.openxmlformats.org/drawingml/2006/main">
            <a:off x="685800" y="5638800"/>
            <a:ext cx="10820400" cy="4762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2" name="">
            <a:extLst xmlns:a="http://schemas.openxmlformats.org/drawingml/2006/main">
              <a:ext uri="{FF2B5EF4-FFF2-40B4-BE49-F238E27FC236}">
                <a16:creationId xmlns:a16="http://schemas.microsoft.com/office/drawing/2014/main" id="{31C7EC3B-C935-4923-BBDB-A72462668973}"/>
              </a:ext>
            </a:extLst>
          </p:cNvPr>
          <p:cNvSpPr>
            <a:spLocks xmlns:a="http://schemas.openxmlformats.org/drawingml/2006/main" noGrp="1"/>
          </p:cNvSpPr>
          <p:nvPr/>
        </p:nvSpPr>
        <p:spPr>
          <a:xfrm xmlns:a="http://schemas.openxmlformats.org/drawingml/2006/main">
            <a:off x="895350" y="58102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Pourquoi l'ajouter tôt dans le deck</a:t>
            </a:r>
          </a:p>
        </p:txBody>
      </p:sp>
      <p:sp>
        <p:nvSpPr>
          <p:cNvPr id="33" name="">
            <a:extLst xmlns:a="http://schemas.openxmlformats.org/drawingml/2006/main">
              <a:ext uri="{FF2B5EF4-FFF2-40B4-BE49-F238E27FC236}">
                <a16:creationId xmlns:a16="http://schemas.microsoft.com/office/drawing/2014/main" id="{FDFE1607-F18C-4F58-B473-ECF0D40838B7}"/>
              </a:ext>
            </a:extLst>
          </p:cNvPr>
          <p:cNvSpPr>
            <a:spLocks xmlns:a="http://schemas.openxmlformats.org/drawingml/2006/main" noGrp="1"/>
          </p:cNvSpPr>
          <p:nvPr/>
        </p:nvSpPr>
        <p:spPr>
          <a:xfrm xmlns:a="http://schemas.openxmlformats.org/drawingml/2006/main">
            <a:off x="2952750" y="5772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Avant de parler ROI et cas d'usage, le prospect doit voir que TransferAI est une entité crédible, portée par Nettelecom CI et soutenue par 13 experts IA.</a:t>
            </a:r>
          </a:p>
        </p:txBody>
      </p:sp>
      <p:sp>
        <p:nvSpPr>
          <p:cNvPr id="34" name="">
            <a:extLst xmlns:a="http://schemas.openxmlformats.org/drawingml/2006/main">
              <a:ext uri="{FF2B5EF4-FFF2-40B4-BE49-F238E27FC236}">
                <a16:creationId xmlns:a16="http://schemas.microsoft.com/office/drawing/2014/main" id="{9B01F827-7E8E-4497-878A-B5047FFC138B}"/>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18A03FE2-30A7-4673-968E-6EA17AAE9C55}"/>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36" name="">
            <a:extLst xmlns:a="http://schemas.openxmlformats.org/drawingml/2006/main">
              <a:ext uri="{FF2B5EF4-FFF2-40B4-BE49-F238E27FC236}">
                <a16:creationId xmlns:a16="http://schemas.microsoft.com/office/drawing/2014/main" id="{E34B0F32-A3AD-4B21-A703-83C05C6A770D}"/>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04</a:t>
            </a:r>
          </a:p>
        </p:txBody>
      </p:sp>
    </p:spTree>
    <p:extLst>
      <p:ext uri="{BB962C8B-B14F-4D97-AF65-F5344CB8AC3E}">
        <p14:creationId xmlns:p14="http://schemas.microsoft.com/office/powerpoint/2010/main" val="139739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FC336D-F02E-417C-B93A-1E27149AAB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549665E-E43E-4AD6-821B-15F2AF9C3729}"/>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CONTEXTE PROSPECT</a:t>
            </a:r>
          </a:p>
        </p:txBody>
      </p:sp>
      <p:sp>
        <p:nvSpPr>
          <p:cNvPr id="3" name="">
            <a:extLst xmlns:a="http://schemas.openxmlformats.org/drawingml/2006/main">
              <a:ext uri="{FF2B5EF4-FFF2-40B4-BE49-F238E27FC236}">
                <a16:creationId xmlns:a16="http://schemas.microsoft.com/office/drawing/2014/main" id="{42DA1FD9-4034-41ED-8724-385C6244138D}"/>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Pourquoi cette proposition est adaptée à votre contexte</a:t>
            </a:r>
          </a:p>
        </p:txBody>
      </p:sp>
      <p:sp>
        <p:nvSpPr>
          <p:cNvPr id="4" name="">
            <a:extLst xmlns:a="http://schemas.openxmlformats.org/drawingml/2006/main">
              <a:ext uri="{FF2B5EF4-FFF2-40B4-BE49-F238E27FC236}">
                <a16:creationId xmlns:a16="http://schemas.microsoft.com/office/drawing/2014/main" id="{DBE787EB-D968-4742-80C1-8E64DD53C988}"/>
              </a:ext>
            </a:extLst>
          </p:cNvPr>
          <p:cNvSpPr>
            <a:spLocks xmlns:a="http://schemas.openxmlformats.org/drawingml/2006/main" noGrp="1"/>
          </p:cNvSpPr>
          <p:nvPr/>
        </p:nvSpPr>
        <p:spPr>
          <a:xfrm xmlns:a="http://schemas.openxmlformats.org/drawingml/2006/main">
            <a:off x="685800" y="1676400"/>
            <a:ext cx="9048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L'objectif n'est pas d'ajouter un outil de plus. Il s'agit de mieux piloter, mieux coordonner et mieux diffuser l'information utile dans des flux qui coûtent du temps et de la discipline.</a:t>
            </a:r>
          </a:p>
        </p:txBody>
      </p:sp>
      <p:sp>
        <p:nvSpPr>
          <p:cNvPr id="5" name="">
            <a:extLst xmlns:a="http://schemas.openxmlformats.org/drawingml/2006/main">
              <a:ext uri="{FF2B5EF4-FFF2-40B4-BE49-F238E27FC236}">
                <a16:creationId xmlns:a16="http://schemas.microsoft.com/office/drawing/2014/main" id="{CF047B8A-61C2-4C4E-B2F3-B10521691379}"/>
              </a:ext>
            </a:extLst>
          </p:cNvPr>
          <p:cNvSpPr>
            <a:spLocks xmlns:a="http://schemas.openxmlformats.org/drawingml/2006/main" noGrp="1"/>
          </p:cNvSpPr>
          <p:nvPr/>
        </p:nvSpPr>
        <p:spPr>
          <a:xfrm xmlns:a="http://schemas.openxmlformats.org/drawingml/2006/main">
            <a:off x="68580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66D07486-87C9-48A9-9305-276B6E5D9666}"/>
              </a:ext>
            </a:extLst>
          </p:cNvPr>
          <p:cNvSpPr>
            <a:spLocks xmlns:a="http://schemas.openxmlformats.org/drawingml/2006/main" noGrp="1"/>
          </p:cNvSpPr>
          <p:nvPr/>
        </p:nvSpPr>
        <p:spPr>
          <a:xfrm xmlns:a="http://schemas.openxmlformats.org/drawingml/2006/main">
            <a:off x="857250" y="25336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360ef633bad423c">
            <a:extLst>
              <a:ext uri="{96DAC541-7B7A-43D3-8B79-37D633B846F1}">
                <asvg:svgBlip xmlns:asvg="http://schemas.microsoft.com/office/drawing/2016/SVG/main" r:embed="R1c01bed34d284a12"/>
              </a:ext>
            </a:extLst>
          </a:blip>
          <a:stretch xmlns:a="http://schemas.openxmlformats.org/drawingml/2006/main"/>
        </p:blipFill>
        <p:spPr>
          <a:xfrm xmlns:a="http://schemas.openxmlformats.org/drawingml/2006/main">
            <a:off x="952500" y="262890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8F95707-91DC-404F-9A7F-202D731CDF6C}"/>
              </a:ext>
            </a:extLst>
          </p:cNvPr>
          <p:cNvSpPr>
            <a:spLocks xmlns:a="http://schemas.openxmlformats.org/drawingml/2006/main" noGrp="1"/>
          </p:cNvSpPr>
          <p:nvPr/>
        </p:nvSpPr>
        <p:spPr>
          <a:xfrm xmlns:a="http://schemas.openxmlformats.org/drawingml/2006/main">
            <a:off x="140970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Comptes professionnels</a:t>
            </a:r>
          </a:p>
        </p:txBody>
      </p:sp>
      <p:sp>
        <p:nvSpPr>
          <p:cNvPr id="9" name="">
            <a:extLst xmlns:a="http://schemas.openxmlformats.org/drawingml/2006/main">
              <a:ext uri="{FF2B5EF4-FFF2-40B4-BE49-F238E27FC236}">
                <a16:creationId xmlns:a16="http://schemas.microsoft.com/office/drawing/2014/main" id="{D333DF36-E7C3-47CD-AAC0-5A29C33514A1}"/>
              </a:ext>
            </a:extLst>
          </p:cNvPr>
          <p:cNvSpPr>
            <a:spLocks xmlns:a="http://schemas.openxmlformats.org/drawingml/2006/main" noGrp="1"/>
          </p:cNvSpPr>
          <p:nvPr/>
        </p:nvSpPr>
        <p:spPr>
          <a:xfrm xmlns:a="http://schemas.openxmlformats.org/drawingml/2006/main">
            <a:off x="89535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03384AFE-9885-4A4D-9B1E-7562FB1D035E}"/>
              </a:ext>
            </a:extLst>
          </p:cNvPr>
          <p:cNvSpPr>
            <a:spLocks xmlns:a="http://schemas.openxmlformats.org/drawingml/2006/main" noGrp="1"/>
          </p:cNvSpPr>
          <p:nvPr/>
        </p:nvSpPr>
        <p:spPr>
          <a:xfrm xmlns:a="http://schemas.openxmlformats.org/drawingml/2006/main">
            <a:off x="89535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Revues de portefeuille, relances et suivi d'encaissement souvent préparés à la main.</a:t>
            </a:r>
          </a:p>
        </p:txBody>
      </p:sp>
      <p:sp>
        <p:nvSpPr>
          <p:cNvPr id="11" name="">
            <a:extLst xmlns:a="http://schemas.openxmlformats.org/drawingml/2006/main">
              <a:ext uri="{FF2B5EF4-FFF2-40B4-BE49-F238E27FC236}">
                <a16:creationId xmlns:a16="http://schemas.microsoft.com/office/drawing/2014/main" id="{68AD3FED-FEAE-4243-8D74-73FBB8C8200D}"/>
              </a:ext>
            </a:extLst>
          </p:cNvPr>
          <p:cNvSpPr>
            <a:spLocks xmlns:a="http://schemas.openxmlformats.org/drawingml/2006/main" noGrp="1"/>
          </p:cNvSpPr>
          <p:nvPr/>
        </p:nvSpPr>
        <p:spPr>
          <a:xfrm xmlns:a="http://schemas.openxmlformats.org/drawingml/2006/main">
            <a:off x="89535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FB83A19D-DD97-444A-B004-F27F2828629B}"/>
              </a:ext>
            </a:extLst>
          </p:cNvPr>
          <p:cNvSpPr>
            <a:spLocks xmlns:a="http://schemas.openxmlformats.org/drawingml/2006/main" noGrp="1"/>
          </p:cNvSpPr>
          <p:nvPr/>
        </p:nvSpPr>
        <p:spPr>
          <a:xfrm xmlns:a="http://schemas.openxmlformats.org/drawingml/2006/main">
            <a:off x="89535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Portefeuille plus lisible, relances mieux priorisées et synthèses plus rapides pour la direction.</a:t>
            </a:r>
          </a:p>
        </p:txBody>
      </p:sp>
      <p:sp>
        <p:nvSpPr>
          <p:cNvPr id="13" name="">
            <a:extLst xmlns:a="http://schemas.openxmlformats.org/drawingml/2006/main">
              <a:ext uri="{FF2B5EF4-FFF2-40B4-BE49-F238E27FC236}">
                <a16:creationId xmlns:a16="http://schemas.microsoft.com/office/drawing/2014/main" id="{3D75878A-2E5F-458E-8174-448015493F66}"/>
              </a:ext>
            </a:extLst>
          </p:cNvPr>
          <p:cNvSpPr>
            <a:spLocks xmlns:a="http://schemas.openxmlformats.org/drawingml/2006/main" noGrp="1"/>
          </p:cNvSpPr>
          <p:nvPr/>
        </p:nvSpPr>
        <p:spPr>
          <a:xfrm xmlns:a="http://schemas.openxmlformats.org/drawingml/2006/main">
            <a:off x="344805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6FCD7172-7CEF-4BA4-9591-870C4CCE4197}"/>
              </a:ext>
            </a:extLst>
          </p:cNvPr>
          <p:cNvSpPr>
            <a:spLocks xmlns:a="http://schemas.openxmlformats.org/drawingml/2006/main" noGrp="1"/>
          </p:cNvSpPr>
          <p:nvPr/>
        </p:nvSpPr>
        <p:spPr>
          <a:xfrm xmlns:a="http://schemas.openxmlformats.org/drawingml/2006/main">
            <a:off x="3619500" y="25336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4e51b1cc2694bd9">
            <a:extLst>
              <a:ext uri="{96DAC541-7B7A-43D3-8B79-37D633B846F1}">
                <asvg:svgBlip xmlns:asvg="http://schemas.microsoft.com/office/drawing/2016/SVG/main" r:embed="Rd69bb85286f44a68"/>
              </a:ext>
            </a:extLst>
          </a:blip>
          <a:stretch xmlns:a="http://schemas.openxmlformats.org/drawingml/2006/main"/>
        </p:blipFill>
        <p:spPr>
          <a:xfrm xmlns:a="http://schemas.openxmlformats.org/drawingml/2006/main">
            <a:off x="3714750" y="262890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8CF862A-30DF-4EDE-9C01-8C854109DAFE}"/>
              </a:ext>
            </a:extLst>
          </p:cNvPr>
          <p:cNvSpPr>
            <a:spLocks xmlns:a="http://schemas.openxmlformats.org/drawingml/2006/main" noGrp="1"/>
          </p:cNvSpPr>
          <p:nvPr/>
        </p:nvSpPr>
        <p:spPr>
          <a:xfrm xmlns:a="http://schemas.openxmlformats.org/drawingml/2006/main">
            <a:off x="417195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Flotte et carburant</a:t>
            </a:r>
          </a:p>
        </p:txBody>
      </p:sp>
      <p:sp>
        <p:nvSpPr>
          <p:cNvPr id="17" name="">
            <a:extLst xmlns:a="http://schemas.openxmlformats.org/drawingml/2006/main">
              <a:ext uri="{FF2B5EF4-FFF2-40B4-BE49-F238E27FC236}">
                <a16:creationId xmlns:a16="http://schemas.microsoft.com/office/drawing/2014/main" id="{F6DB2CC8-07E2-4D45-86CD-FA8844320C97}"/>
              </a:ext>
            </a:extLst>
          </p:cNvPr>
          <p:cNvSpPr>
            <a:spLocks xmlns:a="http://schemas.openxmlformats.org/drawingml/2006/main" noGrp="1"/>
          </p:cNvSpPr>
          <p:nvPr/>
        </p:nvSpPr>
        <p:spPr>
          <a:xfrm xmlns:a="http://schemas.openxmlformats.org/drawingml/2006/main">
            <a:off x="365760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8" name="">
            <a:extLst xmlns:a="http://schemas.openxmlformats.org/drawingml/2006/main">
              <a:ext uri="{FF2B5EF4-FFF2-40B4-BE49-F238E27FC236}">
                <a16:creationId xmlns:a16="http://schemas.microsoft.com/office/drawing/2014/main" id="{42B6482B-565D-40CC-944A-E7E054C6CCAD}"/>
              </a:ext>
            </a:extLst>
          </p:cNvPr>
          <p:cNvSpPr>
            <a:spLocks xmlns:a="http://schemas.openxmlformats.org/drawingml/2006/main" noGrp="1"/>
          </p:cNvSpPr>
          <p:nvPr/>
        </p:nvSpPr>
        <p:spPr>
          <a:xfrm xmlns:a="http://schemas.openxmlformats.org/drawingml/2006/main">
            <a:off x="365760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Consommations, cartes et anomalies difficilement consolidées dans un même pilotage.</a:t>
            </a:r>
          </a:p>
        </p:txBody>
      </p:sp>
      <p:sp>
        <p:nvSpPr>
          <p:cNvPr id="19" name="">
            <a:extLst xmlns:a="http://schemas.openxmlformats.org/drawingml/2006/main">
              <a:ext uri="{FF2B5EF4-FFF2-40B4-BE49-F238E27FC236}">
                <a16:creationId xmlns:a16="http://schemas.microsoft.com/office/drawing/2014/main" id="{F8D6C2AE-B457-44BA-864B-1D0C0884386B}"/>
              </a:ext>
            </a:extLst>
          </p:cNvPr>
          <p:cNvSpPr>
            <a:spLocks xmlns:a="http://schemas.openxmlformats.org/drawingml/2006/main" noGrp="1"/>
          </p:cNvSpPr>
          <p:nvPr/>
        </p:nvSpPr>
        <p:spPr>
          <a:xfrm xmlns:a="http://schemas.openxmlformats.org/drawingml/2006/main">
            <a:off x="365760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0" name="">
            <a:extLst xmlns:a="http://schemas.openxmlformats.org/drawingml/2006/main">
              <a:ext uri="{FF2B5EF4-FFF2-40B4-BE49-F238E27FC236}">
                <a16:creationId xmlns:a16="http://schemas.microsoft.com/office/drawing/2014/main" id="{1344EBC0-B01B-488F-8A39-1DF0161939E5}"/>
              </a:ext>
            </a:extLst>
          </p:cNvPr>
          <p:cNvSpPr>
            <a:spLocks xmlns:a="http://schemas.openxmlformats.org/drawingml/2006/main" noGrp="1"/>
          </p:cNvSpPr>
          <p:nvPr/>
        </p:nvSpPr>
        <p:spPr>
          <a:xfrm xmlns:a="http://schemas.openxmlformats.org/drawingml/2006/main">
            <a:off x="365760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Suivi plus fiable des coûts, alertes sur écarts et comparaison par véhicule, site ou période.</a:t>
            </a:r>
          </a:p>
        </p:txBody>
      </p:sp>
      <p:sp>
        <p:nvSpPr>
          <p:cNvPr id="21" name="">
            <a:extLst xmlns:a="http://schemas.openxmlformats.org/drawingml/2006/main">
              <a:ext uri="{FF2B5EF4-FFF2-40B4-BE49-F238E27FC236}">
                <a16:creationId xmlns:a16="http://schemas.microsoft.com/office/drawing/2014/main" id="{700A173F-758B-4A45-9149-003FF68A7C18}"/>
              </a:ext>
            </a:extLst>
          </p:cNvPr>
          <p:cNvSpPr>
            <a:spLocks xmlns:a="http://schemas.openxmlformats.org/drawingml/2006/main" noGrp="1"/>
          </p:cNvSpPr>
          <p:nvPr/>
        </p:nvSpPr>
        <p:spPr>
          <a:xfrm xmlns:a="http://schemas.openxmlformats.org/drawingml/2006/main">
            <a:off x="621030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6461CE8A-836D-4F71-8DF1-B4640ECDBC31}"/>
              </a:ext>
            </a:extLst>
          </p:cNvPr>
          <p:cNvSpPr>
            <a:spLocks xmlns:a="http://schemas.openxmlformats.org/drawingml/2006/main" noGrp="1"/>
          </p:cNvSpPr>
          <p:nvPr/>
        </p:nvSpPr>
        <p:spPr>
          <a:xfrm xmlns:a="http://schemas.openxmlformats.org/drawingml/2006/main">
            <a:off x="6381750" y="253365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c5821d2bde34759">
            <a:extLst>
              <a:ext uri="{96DAC541-7B7A-43D3-8B79-37D633B846F1}">
                <asvg:svgBlip xmlns:asvg="http://schemas.microsoft.com/office/drawing/2016/SVG/main" r:embed="R7ca601abd22e4f36"/>
              </a:ext>
            </a:extLst>
          </a:blip>
          <a:stretch xmlns:a="http://schemas.openxmlformats.org/drawingml/2006/main"/>
        </p:blipFill>
        <p:spPr>
          <a:xfrm xmlns:a="http://schemas.openxmlformats.org/drawingml/2006/main">
            <a:off x="6477000" y="262890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5F021749-5DF2-4B3E-9A46-171518E88F81}"/>
              </a:ext>
            </a:extLst>
          </p:cNvPr>
          <p:cNvSpPr>
            <a:spLocks xmlns:a="http://schemas.openxmlformats.org/drawingml/2006/main" noGrp="1"/>
          </p:cNvSpPr>
          <p:nvPr/>
        </p:nvSpPr>
        <p:spPr>
          <a:xfrm xmlns:a="http://schemas.openxmlformats.org/drawingml/2006/main">
            <a:off x="693420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Service client / auto</a:t>
            </a:r>
          </a:p>
        </p:txBody>
      </p:sp>
      <p:sp>
        <p:nvSpPr>
          <p:cNvPr id="25" name="">
            <a:extLst xmlns:a="http://schemas.openxmlformats.org/drawingml/2006/main">
              <a:ext uri="{FF2B5EF4-FFF2-40B4-BE49-F238E27FC236}">
                <a16:creationId xmlns:a16="http://schemas.microsoft.com/office/drawing/2014/main" id="{8011FB9F-95CA-4ED4-9F91-1978841B8635}"/>
              </a:ext>
            </a:extLst>
          </p:cNvPr>
          <p:cNvSpPr>
            <a:spLocks xmlns:a="http://schemas.openxmlformats.org/drawingml/2006/main" noGrp="1"/>
          </p:cNvSpPr>
          <p:nvPr/>
        </p:nvSpPr>
        <p:spPr>
          <a:xfrm xmlns:a="http://schemas.openxmlformats.org/drawingml/2006/main">
            <a:off x="641985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26" name="">
            <a:extLst xmlns:a="http://schemas.openxmlformats.org/drawingml/2006/main">
              <a:ext uri="{FF2B5EF4-FFF2-40B4-BE49-F238E27FC236}">
                <a16:creationId xmlns:a16="http://schemas.microsoft.com/office/drawing/2014/main" id="{B621868B-AAF7-43C2-B227-8930AFB9558B}"/>
              </a:ext>
            </a:extLst>
          </p:cNvPr>
          <p:cNvSpPr>
            <a:spLocks xmlns:a="http://schemas.openxmlformats.org/drawingml/2006/main" noGrp="1"/>
          </p:cNvSpPr>
          <p:nvPr/>
        </p:nvSpPr>
        <p:spPr>
          <a:xfrm xmlns:a="http://schemas.openxmlformats.org/drawingml/2006/main">
            <a:off x="641985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Rappels, demandes et réponses pas toujours homogènes ni suffisamment tracés.</a:t>
            </a:r>
          </a:p>
        </p:txBody>
      </p:sp>
      <p:sp>
        <p:nvSpPr>
          <p:cNvPr id="27" name="">
            <a:extLst xmlns:a="http://schemas.openxmlformats.org/drawingml/2006/main">
              <a:ext uri="{FF2B5EF4-FFF2-40B4-BE49-F238E27FC236}">
                <a16:creationId xmlns:a16="http://schemas.microsoft.com/office/drawing/2014/main" id="{66A52C21-1F2D-4A83-B972-ADD8562EA0CF}"/>
              </a:ext>
            </a:extLst>
          </p:cNvPr>
          <p:cNvSpPr>
            <a:spLocks xmlns:a="http://schemas.openxmlformats.org/drawingml/2006/main" noGrp="1"/>
          </p:cNvSpPr>
          <p:nvPr/>
        </p:nvSpPr>
        <p:spPr>
          <a:xfrm xmlns:a="http://schemas.openxmlformats.org/drawingml/2006/main">
            <a:off x="641985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8" name="">
            <a:extLst xmlns:a="http://schemas.openxmlformats.org/drawingml/2006/main">
              <a:ext uri="{FF2B5EF4-FFF2-40B4-BE49-F238E27FC236}">
                <a16:creationId xmlns:a16="http://schemas.microsoft.com/office/drawing/2014/main" id="{5C310FDA-45D7-4893-8C89-AA2DE8BAEDBE}"/>
              </a:ext>
            </a:extLst>
          </p:cNvPr>
          <p:cNvSpPr>
            <a:spLocks xmlns:a="http://schemas.openxmlformats.org/drawingml/2006/main" noGrp="1"/>
          </p:cNvSpPr>
          <p:nvPr/>
        </p:nvSpPr>
        <p:spPr>
          <a:xfrm xmlns:a="http://schemas.openxmlformats.org/drawingml/2006/main">
            <a:off x="641985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Réponses plus rapides, scripts mieux cadrés et meilleure continuité dans le suivi client.</a:t>
            </a:r>
          </a:p>
        </p:txBody>
      </p:sp>
      <p:sp>
        <p:nvSpPr>
          <p:cNvPr id="29" name="">
            <a:extLst xmlns:a="http://schemas.openxmlformats.org/drawingml/2006/main">
              <a:ext uri="{FF2B5EF4-FFF2-40B4-BE49-F238E27FC236}">
                <a16:creationId xmlns:a16="http://schemas.microsoft.com/office/drawing/2014/main" id="{1D9E3A01-48F7-4C82-95EA-D07D6391EA3F}"/>
              </a:ext>
            </a:extLst>
          </p:cNvPr>
          <p:cNvSpPr>
            <a:spLocks xmlns:a="http://schemas.openxmlformats.org/drawingml/2006/main" noGrp="1"/>
          </p:cNvSpPr>
          <p:nvPr/>
        </p:nvSpPr>
        <p:spPr>
          <a:xfrm xmlns:a="http://schemas.openxmlformats.org/drawingml/2006/main">
            <a:off x="8972550" y="2362200"/>
            <a:ext cx="25336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1920A4CE-1BA7-4161-9FB6-D27795522055}"/>
              </a:ext>
            </a:extLst>
          </p:cNvPr>
          <p:cNvSpPr>
            <a:spLocks xmlns:a="http://schemas.openxmlformats.org/drawingml/2006/main" noGrp="1"/>
          </p:cNvSpPr>
          <p:nvPr/>
        </p:nvSpPr>
        <p:spPr>
          <a:xfrm xmlns:a="http://schemas.openxmlformats.org/drawingml/2006/main">
            <a:off x="9144000" y="253365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e8e49414a4243d2">
            <a:extLst>
              <a:ext uri="{96DAC541-7B7A-43D3-8B79-37D633B846F1}">
                <asvg:svgBlip xmlns:asvg="http://schemas.microsoft.com/office/drawing/2016/SVG/main" r:embed="R060547152bf94338"/>
              </a:ext>
            </a:extLst>
          </a:blip>
          <a:stretch xmlns:a="http://schemas.openxmlformats.org/drawingml/2006/main"/>
        </p:blipFill>
        <p:spPr>
          <a:xfrm xmlns:a="http://schemas.openxmlformats.org/drawingml/2006/main">
            <a:off x="9239250" y="2628900"/>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3C6A3223-7569-41F6-8F25-87A9CE547566}"/>
              </a:ext>
            </a:extLst>
          </p:cNvPr>
          <p:cNvSpPr>
            <a:spLocks xmlns:a="http://schemas.openxmlformats.org/drawingml/2006/main" noGrp="1"/>
          </p:cNvSpPr>
          <p:nvPr/>
        </p:nvSpPr>
        <p:spPr>
          <a:xfrm xmlns:a="http://schemas.openxmlformats.org/drawingml/2006/main">
            <a:off x="9696450" y="25717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Procédures internes</a:t>
            </a:r>
          </a:p>
        </p:txBody>
      </p:sp>
      <p:sp>
        <p:nvSpPr>
          <p:cNvPr id="33" name="">
            <a:extLst xmlns:a="http://schemas.openxmlformats.org/drawingml/2006/main">
              <a:ext uri="{FF2B5EF4-FFF2-40B4-BE49-F238E27FC236}">
                <a16:creationId xmlns:a16="http://schemas.microsoft.com/office/drawing/2014/main" id="{1ECDCB68-7359-4DB0-8BEC-4CF489877942}"/>
              </a:ext>
            </a:extLst>
          </p:cNvPr>
          <p:cNvSpPr>
            <a:spLocks xmlns:a="http://schemas.openxmlformats.org/drawingml/2006/main" noGrp="1"/>
          </p:cNvSpPr>
          <p:nvPr/>
        </p:nvSpPr>
        <p:spPr>
          <a:xfrm xmlns:a="http://schemas.openxmlformats.org/drawingml/2006/main">
            <a:off x="918210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34" name="">
            <a:extLst xmlns:a="http://schemas.openxmlformats.org/drawingml/2006/main">
              <a:ext uri="{FF2B5EF4-FFF2-40B4-BE49-F238E27FC236}">
                <a16:creationId xmlns:a16="http://schemas.microsoft.com/office/drawing/2014/main" id="{3606FA06-658C-42AB-A5FC-D5C7A9DA9205}"/>
              </a:ext>
            </a:extLst>
          </p:cNvPr>
          <p:cNvSpPr>
            <a:spLocks xmlns:a="http://schemas.openxmlformats.org/drawingml/2006/main" noGrp="1"/>
          </p:cNvSpPr>
          <p:nvPr/>
        </p:nvSpPr>
        <p:spPr>
          <a:xfrm xmlns:a="http://schemas.openxmlformats.org/drawingml/2006/main">
            <a:off x="9182100" y="3162300"/>
            <a:ext cx="2114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Les bonnes pratiques existent, mais restent dispersées dans les équipes et les documents.</a:t>
            </a:r>
          </a:p>
        </p:txBody>
      </p:sp>
      <p:sp>
        <p:nvSpPr>
          <p:cNvPr id="35" name="">
            <a:extLst xmlns:a="http://schemas.openxmlformats.org/drawingml/2006/main">
              <a:ext uri="{FF2B5EF4-FFF2-40B4-BE49-F238E27FC236}">
                <a16:creationId xmlns:a16="http://schemas.microsoft.com/office/drawing/2014/main" id="{963EFAD3-19B9-44FE-B9DE-966EE457D81B}"/>
              </a:ext>
            </a:extLst>
          </p:cNvPr>
          <p:cNvSpPr>
            <a:spLocks xmlns:a="http://schemas.openxmlformats.org/drawingml/2006/main" noGrp="1"/>
          </p:cNvSpPr>
          <p:nvPr/>
        </p:nvSpPr>
        <p:spPr>
          <a:xfrm xmlns:a="http://schemas.openxmlformats.org/drawingml/2006/main">
            <a:off x="918210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36" name="">
            <a:extLst xmlns:a="http://schemas.openxmlformats.org/drawingml/2006/main">
              <a:ext uri="{FF2B5EF4-FFF2-40B4-BE49-F238E27FC236}">
                <a16:creationId xmlns:a16="http://schemas.microsoft.com/office/drawing/2014/main" id="{AC983B1D-0B23-4976-81F1-32B42338DB3C}"/>
              </a:ext>
            </a:extLst>
          </p:cNvPr>
          <p:cNvSpPr>
            <a:spLocks xmlns:a="http://schemas.openxmlformats.org/drawingml/2006/main" noGrp="1"/>
          </p:cNvSpPr>
          <p:nvPr/>
        </p:nvSpPr>
        <p:spPr>
          <a:xfrm xmlns:a="http://schemas.openxmlformats.org/drawingml/2006/main">
            <a:off x="9182100" y="3771900"/>
            <a:ext cx="2114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Accès plus rapide aux procédures, onboarding plus court et exécution plus cohérente.</a:t>
            </a:r>
          </a:p>
        </p:txBody>
      </p:sp>
      <p:sp>
        <p:nvSpPr>
          <p:cNvPr id="37" name="">
            <a:extLst xmlns:a="http://schemas.openxmlformats.org/drawingml/2006/main">
              <a:ext uri="{FF2B5EF4-FFF2-40B4-BE49-F238E27FC236}">
                <a16:creationId xmlns:a16="http://schemas.microsoft.com/office/drawing/2014/main" id="{DAE099AE-AB52-4F54-BE1A-10C038307A9A}"/>
              </a:ext>
            </a:extLst>
          </p:cNvPr>
          <p:cNvSpPr>
            <a:spLocks xmlns:a="http://schemas.openxmlformats.org/drawingml/2006/main" noGrp="1"/>
          </p:cNvSpPr>
          <p:nvPr/>
        </p:nvSpPr>
        <p:spPr>
          <a:xfrm xmlns:a="http://schemas.openxmlformats.org/drawingml/2006/main">
            <a:off x="685800" y="4438650"/>
            <a:ext cx="10820400" cy="12954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8" name="">
            <a:extLst xmlns:a="http://schemas.openxmlformats.org/drawingml/2006/main">
              <a:ext uri="{FF2B5EF4-FFF2-40B4-BE49-F238E27FC236}">
                <a16:creationId xmlns:a16="http://schemas.microsoft.com/office/drawing/2014/main" id="{3C574E8B-24CE-4D79-BDF9-6FBFFD94D4AE}"/>
              </a:ext>
            </a:extLst>
          </p:cNvPr>
          <p:cNvSpPr>
            <a:spLocks xmlns:a="http://schemas.openxmlformats.org/drawingml/2006/main" noGrp="1"/>
          </p:cNvSpPr>
          <p:nvPr/>
        </p:nvSpPr>
        <p:spPr>
          <a:xfrm xmlns:a="http://schemas.openxmlformats.org/drawingml/2006/main">
            <a:off x="933450" y="46863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Le bon angle commercial</a:t>
            </a:r>
          </a:p>
        </p:txBody>
      </p:sp>
      <p:sp>
        <p:nvSpPr>
          <p:cNvPr id="39" name="">
            <a:extLst xmlns:a="http://schemas.openxmlformats.org/drawingml/2006/main">
              <a:ext uri="{FF2B5EF4-FFF2-40B4-BE49-F238E27FC236}">
                <a16:creationId xmlns:a16="http://schemas.microsoft.com/office/drawing/2014/main" id="{C276D565-BC4F-43A3-B3A6-5DDEEF4A7160}"/>
              </a:ext>
            </a:extLst>
          </p:cNvPr>
          <p:cNvSpPr>
            <a:spLocks xmlns:a="http://schemas.openxmlformats.org/drawingml/2006/main" noGrp="1"/>
          </p:cNvSpPr>
          <p:nvPr/>
        </p:nvSpPr>
        <p:spPr>
          <a:xfrm xmlns:a="http://schemas.openxmlformats.org/drawingml/2006/main">
            <a:off x="933450" y="4953000"/>
            <a:ext cx="5334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Partir des flux métier qui freinent déjà l'exécution.</a:t>
            </a:r>
          </a:p>
        </p:txBody>
      </p:sp>
      <p:sp>
        <p:nvSpPr>
          <p:cNvPr id="40" name="">
            <a:extLst xmlns:a="http://schemas.openxmlformats.org/drawingml/2006/main">
              <a:ext uri="{FF2B5EF4-FFF2-40B4-BE49-F238E27FC236}">
                <a16:creationId xmlns:a16="http://schemas.microsoft.com/office/drawing/2014/main" id="{D57C7A6E-BD7D-4997-A93C-43DD631717B2}"/>
              </a:ext>
            </a:extLst>
          </p:cNvPr>
          <p:cNvSpPr>
            <a:spLocks xmlns:a="http://schemas.openxmlformats.org/drawingml/2006/main" noGrp="1"/>
          </p:cNvSpPr>
          <p:nvPr/>
        </p:nvSpPr>
        <p:spPr>
          <a:xfrm xmlns:a="http://schemas.openxmlformats.org/drawingml/2006/main">
            <a:off x="6477000" y="4876800"/>
            <a:ext cx="4762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D7E5F3"/>
                </a:solidFill>
                <a:latin typeface="Aptos"/>
                <a:ea typeface="Aptos"/>
                <a:cs typeface="Aptos"/>
              </a:defRPr>
            </a:pPr>
            <a:r>
              <a:rPr sz="1013" b="0">
                <a:solidFill>
                  <a:srgbClr val="D7E5F3"/>
                </a:solidFill>
                <a:latin typeface="Aptos"/>
                <a:ea typeface="Aptos"/>
                <a:cs typeface="Aptos"/>
              </a:rPr>
              <a:t>La crédibilité ne viendra pas d'un catalogue de formations. Elle viendra d'une proposition qui relie diagnostic, cas d'usage, gouvernance, formation ciblée et premiers gains visibles.</a:t>
            </a:r>
          </a:p>
        </p:txBody>
      </p:sp>
      <p:sp>
        <p:nvSpPr>
          <p:cNvPr id="41" name="">
            <a:extLst xmlns:a="http://schemas.openxmlformats.org/drawingml/2006/main">
              <a:ext uri="{FF2B5EF4-FFF2-40B4-BE49-F238E27FC236}">
                <a16:creationId xmlns:a16="http://schemas.microsoft.com/office/drawing/2014/main" id="{20F21117-AE50-45B0-BA3B-2D29AA660AF7}"/>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F10B50C8-1311-4D2A-A018-0A0EA4F53093}"/>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43" name="">
            <a:extLst xmlns:a="http://schemas.openxmlformats.org/drawingml/2006/main">
              <a:ext uri="{FF2B5EF4-FFF2-40B4-BE49-F238E27FC236}">
                <a16:creationId xmlns:a16="http://schemas.microsoft.com/office/drawing/2014/main" id="{CEE85DE9-B01E-4790-94CF-9B112E881412}"/>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05</a:t>
            </a:r>
          </a:p>
        </p:txBody>
      </p:sp>
    </p:spTree>
    <p:extLst>
      <p:ext uri="{BB962C8B-B14F-4D97-AF65-F5344CB8AC3E}">
        <p14:creationId xmlns:p14="http://schemas.microsoft.com/office/powerpoint/2010/main" val="19835546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076F2B-4748-420B-9E30-938C2FD62F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BADBFD9-EE2C-46A4-BCA8-174B8AB9515C}"/>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DA8C7517-D003-4A61-8BB2-AB4319ECB3F6}"/>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ROI DE RÉFÉRENCE</a:t>
            </a:r>
          </a:p>
        </p:txBody>
      </p:sp>
      <p:sp>
        <p:nvSpPr>
          <p:cNvPr id="4" name="">
            <a:extLst xmlns:a="http://schemas.openxmlformats.org/drawingml/2006/main">
              <a:ext uri="{FF2B5EF4-FFF2-40B4-BE49-F238E27FC236}">
                <a16:creationId xmlns:a16="http://schemas.microsoft.com/office/drawing/2014/main" id="{48BF1F47-3773-4DD3-8606-A4BCF9D417F2}"/>
              </a:ext>
            </a:extLst>
          </p:cNvPr>
          <p:cNvSpPr>
            <a:spLocks xmlns:a="http://schemas.openxmlformats.org/drawingml/2006/main" noGrp="1"/>
          </p:cNvSpPr>
          <p:nvPr/>
        </p:nvSpPr>
        <p:spPr>
          <a:xfrm xmlns:a="http://schemas.openxmlformats.org/drawingml/2006/main">
            <a:off x="685800" y="723900"/>
            <a:ext cx="9867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Le ROI devient utile seulement s'il est traduit dans le contexte du prospect</a:t>
            </a:r>
          </a:p>
        </p:txBody>
      </p:sp>
      <p:sp>
        <p:nvSpPr>
          <p:cNvPr id="5" name="">
            <a:extLst xmlns:a="http://schemas.openxmlformats.org/drawingml/2006/main">
              <a:ext uri="{FF2B5EF4-FFF2-40B4-BE49-F238E27FC236}">
                <a16:creationId xmlns:a16="http://schemas.microsoft.com/office/drawing/2014/main" id="{65DD5C38-5426-44F5-910A-669D2E4F46E6}"/>
              </a:ext>
            </a:extLst>
          </p:cNvPr>
          <p:cNvSpPr>
            <a:spLocks xmlns:a="http://schemas.openxmlformats.org/drawingml/2006/main" noGrp="1"/>
          </p:cNvSpPr>
          <p:nvPr/>
        </p:nvSpPr>
        <p:spPr>
          <a:xfrm xmlns:a="http://schemas.openxmlformats.org/drawingml/2006/main">
            <a:off x="685800" y="1409700"/>
            <a:ext cx="2514600" cy="11049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6" name="">
            <a:extLst xmlns:a="http://schemas.openxmlformats.org/drawingml/2006/main">
              <a:ext uri="{FF2B5EF4-FFF2-40B4-BE49-F238E27FC236}">
                <a16:creationId xmlns:a16="http://schemas.microsoft.com/office/drawing/2014/main" id="{37875B29-6784-4BDF-A453-6D1CF3B46E2D}"/>
              </a:ext>
            </a:extLst>
          </p:cNvPr>
          <p:cNvSpPr>
            <a:spLocks xmlns:a="http://schemas.openxmlformats.org/drawingml/2006/main" noGrp="1"/>
          </p:cNvSpPr>
          <p:nvPr/>
        </p:nvSpPr>
        <p:spPr>
          <a:xfrm xmlns:a="http://schemas.openxmlformats.org/drawingml/2006/main">
            <a:off x="8572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+30 %</a:t>
            </a:r>
          </a:p>
        </p:txBody>
      </p:sp>
      <p:sp>
        <p:nvSpPr>
          <p:cNvPr id="7" name="">
            <a:extLst xmlns:a="http://schemas.openxmlformats.org/drawingml/2006/main">
              <a:ext uri="{FF2B5EF4-FFF2-40B4-BE49-F238E27FC236}">
                <a16:creationId xmlns:a16="http://schemas.microsoft.com/office/drawing/2014/main" id="{C0255259-4823-4B70-8C4A-6CC2231618FE}"/>
              </a:ext>
            </a:extLst>
          </p:cNvPr>
          <p:cNvSpPr>
            <a:spLocks xmlns:a="http://schemas.openxmlformats.org/drawingml/2006/main" noGrp="1"/>
          </p:cNvSpPr>
          <p:nvPr/>
        </p:nvSpPr>
        <p:spPr>
          <a:xfrm xmlns:a="http://schemas.openxmlformats.org/drawingml/2006/main">
            <a:off x="8572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productivité benchmark</a:t>
            </a:r>
          </a:p>
        </p:txBody>
      </p:sp>
      <p:sp>
        <p:nvSpPr>
          <p:cNvPr id="8" name="">
            <a:extLst xmlns:a="http://schemas.openxmlformats.org/drawingml/2006/main">
              <a:ext uri="{FF2B5EF4-FFF2-40B4-BE49-F238E27FC236}">
                <a16:creationId xmlns:a16="http://schemas.microsoft.com/office/drawing/2014/main" id="{9F098CC6-AAE0-44C0-93F1-CC9FE08B2DA2}"/>
              </a:ext>
            </a:extLst>
          </p:cNvPr>
          <p:cNvSpPr>
            <a:spLocks xmlns:a="http://schemas.openxmlformats.org/drawingml/2006/main" noGrp="1"/>
          </p:cNvSpPr>
          <p:nvPr/>
        </p:nvSpPr>
        <p:spPr>
          <a:xfrm xmlns:a="http://schemas.openxmlformats.org/drawingml/2006/main">
            <a:off x="8572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tâches répétitives, reporting, préparation de synthèses</a:t>
            </a:r>
          </a:p>
        </p:txBody>
      </p:sp>
      <p:sp>
        <p:nvSpPr>
          <p:cNvPr id="9" name="">
            <a:extLst xmlns:a="http://schemas.openxmlformats.org/drawingml/2006/main">
              <a:ext uri="{FF2B5EF4-FFF2-40B4-BE49-F238E27FC236}">
                <a16:creationId xmlns:a16="http://schemas.microsoft.com/office/drawing/2014/main" id="{7E29DB93-8A02-4B0A-BAFF-25933CED717B}"/>
              </a:ext>
            </a:extLst>
          </p:cNvPr>
          <p:cNvSpPr>
            <a:spLocks xmlns:a="http://schemas.openxmlformats.org/drawingml/2006/main" noGrp="1"/>
          </p:cNvSpPr>
          <p:nvPr/>
        </p:nvSpPr>
        <p:spPr>
          <a:xfrm xmlns:a="http://schemas.openxmlformats.org/drawingml/2006/main">
            <a:off x="3390900" y="1409700"/>
            <a:ext cx="2514600" cy="11049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10" name="">
            <a:extLst xmlns:a="http://schemas.openxmlformats.org/drawingml/2006/main">
              <a:ext uri="{FF2B5EF4-FFF2-40B4-BE49-F238E27FC236}">
                <a16:creationId xmlns:a16="http://schemas.microsoft.com/office/drawing/2014/main" id="{76AFABBE-A6CA-4DF4-90E0-1BB99F201718}"/>
              </a:ext>
            </a:extLst>
          </p:cNvPr>
          <p:cNvSpPr>
            <a:spLocks xmlns:a="http://schemas.openxmlformats.org/drawingml/2006/main" noGrp="1"/>
          </p:cNvSpPr>
          <p:nvPr/>
        </p:nvSpPr>
        <p:spPr>
          <a:xfrm xmlns:a="http://schemas.openxmlformats.org/drawingml/2006/main">
            <a:off x="35623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-45 %</a:t>
            </a:r>
          </a:p>
        </p:txBody>
      </p:sp>
      <p:sp>
        <p:nvSpPr>
          <p:cNvPr id="11" name="">
            <a:extLst xmlns:a="http://schemas.openxmlformats.org/drawingml/2006/main">
              <a:ext uri="{FF2B5EF4-FFF2-40B4-BE49-F238E27FC236}">
                <a16:creationId xmlns:a16="http://schemas.microsoft.com/office/drawing/2014/main" id="{6498A63E-C967-4A58-B2A8-53CD86B8B4D6}"/>
              </a:ext>
            </a:extLst>
          </p:cNvPr>
          <p:cNvSpPr>
            <a:spLocks xmlns:a="http://schemas.openxmlformats.org/drawingml/2006/main" noGrp="1"/>
          </p:cNvSpPr>
          <p:nvPr/>
        </p:nvSpPr>
        <p:spPr>
          <a:xfrm xmlns:a="http://schemas.openxmlformats.org/drawingml/2006/main">
            <a:off x="35623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effort de formation</a:t>
            </a:r>
          </a:p>
        </p:txBody>
      </p:sp>
      <p:sp>
        <p:nvSpPr>
          <p:cNvPr id="12" name="">
            <a:extLst xmlns:a="http://schemas.openxmlformats.org/drawingml/2006/main">
              <a:ext uri="{FF2B5EF4-FFF2-40B4-BE49-F238E27FC236}">
                <a16:creationId xmlns:a16="http://schemas.microsoft.com/office/drawing/2014/main" id="{4C10E62B-098E-46F1-8E50-B0AD9DF2DEF3}"/>
              </a:ext>
            </a:extLst>
          </p:cNvPr>
          <p:cNvSpPr>
            <a:spLocks xmlns:a="http://schemas.openxmlformats.org/drawingml/2006/main" noGrp="1"/>
          </p:cNvSpPr>
          <p:nvPr/>
        </p:nvSpPr>
        <p:spPr>
          <a:xfrm xmlns:a="http://schemas.openxmlformats.org/drawingml/2006/main">
            <a:off x="35623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onboarding, diffusion de pratiques et transfert de savoir</a:t>
            </a:r>
          </a:p>
        </p:txBody>
      </p:sp>
      <p:sp>
        <p:nvSpPr>
          <p:cNvPr id="13" name="">
            <a:extLst xmlns:a="http://schemas.openxmlformats.org/drawingml/2006/main">
              <a:ext uri="{FF2B5EF4-FFF2-40B4-BE49-F238E27FC236}">
                <a16:creationId xmlns:a16="http://schemas.microsoft.com/office/drawing/2014/main" id="{DE5D1AE9-98D0-49FC-A36E-DE3B44089BF0}"/>
              </a:ext>
            </a:extLst>
          </p:cNvPr>
          <p:cNvSpPr>
            <a:spLocks xmlns:a="http://schemas.openxmlformats.org/drawingml/2006/main" noGrp="1"/>
          </p:cNvSpPr>
          <p:nvPr/>
        </p:nvSpPr>
        <p:spPr>
          <a:xfrm xmlns:a="http://schemas.openxmlformats.org/drawingml/2006/main">
            <a:off x="6096000" y="1409700"/>
            <a:ext cx="2514600" cy="110490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14" name="">
            <a:extLst xmlns:a="http://schemas.openxmlformats.org/drawingml/2006/main">
              <a:ext uri="{FF2B5EF4-FFF2-40B4-BE49-F238E27FC236}">
                <a16:creationId xmlns:a16="http://schemas.microsoft.com/office/drawing/2014/main" id="{0CBE4120-DD4B-4FA8-A185-706F3218D14A}"/>
              </a:ext>
            </a:extLst>
          </p:cNvPr>
          <p:cNvSpPr>
            <a:spLocks xmlns:a="http://schemas.openxmlformats.org/drawingml/2006/main" noGrp="1"/>
          </p:cNvSpPr>
          <p:nvPr/>
        </p:nvSpPr>
        <p:spPr>
          <a:xfrm xmlns:a="http://schemas.openxmlformats.org/drawingml/2006/main">
            <a:off x="62674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J+15</a:t>
            </a:r>
          </a:p>
        </p:txBody>
      </p:sp>
      <p:sp>
        <p:nvSpPr>
          <p:cNvPr id="15" name="">
            <a:extLst xmlns:a="http://schemas.openxmlformats.org/drawingml/2006/main">
              <a:ext uri="{FF2B5EF4-FFF2-40B4-BE49-F238E27FC236}">
                <a16:creationId xmlns:a16="http://schemas.microsoft.com/office/drawing/2014/main" id="{6759ED68-48C1-463E-AD27-08564F05CE43}"/>
              </a:ext>
            </a:extLst>
          </p:cNvPr>
          <p:cNvSpPr>
            <a:spLocks xmlns:a="http://schemas.openxmlformats.org/drawingml/2006/main" noGrp="1"/>
          </p:cNvSpPr>
          <p:nvPr/>
        </p:nvSpPr>
        <p:spPr>
          <a:xfrm xmlns:a="http://schemas.openxmlformats.org/drawingml/2006/main">
            <a:off x="62674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premier livrable</a:t>
            </a:r>
          </a:p>
        </p:txBody>
      </p:sp>
      <p:sp>
        <p:nvSpPr>
          <p:cNvPr id="16" name="">
            <a:extLst xmlns:a="http://schemas.openxmlformats.org/drawingml/2006/main">
              <a:ext uri="{FF2B5EF4-FFF2-40B4-BE49-F238E27FC236}">
                <a16:creationId xmlns:a16="http://schemas.microsoft.com/office/drawing/2014/main" id="{4A175E64-8A36-4943-ABA6-7EBEBBDB50A4}"/>
              </a:ext>
            </a:extLst>
          </p:cNvPr>
          <p:cNvSpPr>
            <a:spLocks xmlns:a="http://schemas.openxmlformats.org/drawingml/2006/main" noGrp="1"/>
          </p:cNvSpPr>
          <p:nvPr/>
        </p:nvSpPr>
        <p:spPr>
          <a:xfrm xmlns:a="http://schemas.openxmlformats.org/drawingml/2006/main">
            <a:off x="62674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audit, cadrage et priorisation ROI</a:t>
            </a:r>
          </a:p>
        </p:txBody>
      </p:sp>
      <p:sp>
        <p:nvSpPr>
          <p:cNvPr id="17" name="">
            <a:extLst xmlns:a="http://schemas.openxmlformats.org/drawingml/2006/main">
              <a:ext uri="{FF2B5EF4-FFF2-40B4-BE49-F238E27FC236}">
                <a16:creationId xmlns:a16="http://schemas.microsoft.com/office/drawing/2014/main" id="{FFBD3055-8A91-48BB-BF82-65147E1009AA}"/>
              </a:ext>
            </a:extLst>
          </p:cNvPr>
          <p:cNvSpPr>
            <a:spLocks xmlns:a="http://schemas.openxmlformats.org/drawingml/2006/main" noGrp="1"/>
          </p:cNvSpPr>
          <p:nvPr/>
        </p:nvSpPr>
        <p:spPr>
          <a:xfrm xmlns:a="http://schemas.openxmlformats.org/drawingml/2006/main">
            <a:off x="8801100" y="1409700"/>
            <a:ext cx="2705100" cy="1104900"/>
          </a:xfrm>
          <a:prstGeom xmlns:a="http://schemas.openxmlformats.org/drawingml/2006/main" prst="rect">
            <a:avLst/>
          </a:prstGeom>
          <a:solidFill xmlns:a="http://schemas.openxmlformats.org/drawingml/2006/main">
            <a:srgbClr val="C88C3A"/>
          </a:solidFill>
          <a:ln xmlns:a="http://schemas.openxmlformats.org/drawingml/2006/main" w="0">
            <a:solidFill>
              <a:srgbClr val="C88C3A"/>
            </a:solidFill>
            <a:prstDash val="solid"/>
          </a:ln>
        </p:spPr>
      </p:sp>
      <p:sp>
        <p:nvSpPr>
          <p:cNvPr id="18" name="">
            <a:extLst xmlns:a="http://schemas.openxmlformats.org/drawingml/2006/main">
              <a:ext uri="{FF2B5EF4-FFF2-40B4-BE49-F238E27FC236}">
                <a16:creationId xmlns:a16="http://schemas.microsoft.com/office/drawing/2014/main" id="{5C7DCB68-9F42-471B-BE0F-B26BAF7E1505}"/>
              </a:ext>
            </a:extLst>
          </p:cNvPr>
          <p:cNvSpPr>
            <a:spLocks xmlns:a="http://schemas.openxmlformats.org/drawingml/2006/main" noGrp="1"/>
          </p:cNvSpPr>
          <p:nvPr/>
        </p:nvSpPr>
        <p:spPr>
          <a:xfrm xmlns:a="http://schemas.openxmlformats.org/drawingml/2006/main">
            <a:off x="8972550" y="1581150"/>
            <a:ext cx="2362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3,2x</a:t>
            </a:r>
          </a:p>
        </p:txBody>
      </p:sp>
      <p:sp>
        <p:nvSpPr>
          <p:cNvPr id="19" name="">
            <a:extLst xmlns:a="http://schemas.openxmlformats.org/drawingml/2006/main">
              <a:ext uri="{FF2B5EF4-FFF2-40B4-BE49-F238E27FC236}">
                <a16:creationId xmlns:a16="http://schemas.microsoft.com/office/drawing/2014/main" id="{438DF09B-B082-458D-9B37-33458CB5734A}"/>
              </a:ext>
            </a:extLst>
          </p:cNvPr>
          <p:cNvSpPr>
            <a:spLocks xmlns:a="http://schemas.openxmlformats.org/drawingml/2006/main" noGrp="1"/>
          </p:cNvSpPr>
          <p:nvPr/>
        </p:nvSpPr>
        <p:spPr>
          <a:xfrm xmlns:a="http://schemas.openxmlformats.org/drawingml/2006/main">
            <a:off x="8972550" y="2019300"/>
            <a:ext cx="2362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potentiel de ROI</a:t>
            </a:r>
          </a:p>
        </p:txBody>
      </p:sp>
      <p:sp>
        <p:nvSpPr>
          <p:cNvPr id="20" name="">
            <a:extLst xmlns:a="http://schemas.openxmlformats.org/drawingml/2006/main">
              <a:ext uri="{FF2B5EF4-FFF2-40B4-BE49-F238E27FC236}">
                <a16:creationId xmlns:a16="http://schemas.microsoft.com/office/drawing/2014/main" id="{CC35C5E5-40E6-468E-912B-DD6480A4BDFD}"/>
              </a:ext>
            </a:extLst>
          </p:cNvPr>
          <p:cNvSpPr>
            <a:spLocks xmlns:a="http://schemas.openxmlformats.org/drawingml/2006/main" noGrp="1"/>
          </p:cNvSpPr>
          <p:nvPr/>
        </p:nvSpPr>
        <p:spPr>
          <a:xfrm xmlns:a="http://schemas.openxmlformats.org/drawingml/2006/main">
            <a:off x="8972550" y="2228850"/>
            <a:ext cx="2362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référence : projets comparables TransferAI</a:t>
            </a:r>
          </a:p>
        </p:txBody>
      </p:sp>
      <p:sp>
        <p:nvSpPr>
          <p:cNvPr id="21" name="">
            <a:extLst xmlns:a="http://schemas.openxmlformats.org/drawingml/2006/main">
              <a:ext uri="{FF2B5EF4-FFF2-40B4-BE49-F238E27FC236}">
                <a16:creationId xmlns:a16="http://schemas.microsoft.com/office/drawing/2014/main" id="{B713D782-464F-4BFF-BC49-89876DEA6CED}"/>
              </a:ext>
            </a:extLst>
          </p:cNvPr>
          <p:cNvSpPr>
            <a:spLocks xmlns:a="http://schemas.openxmlformats.org/drawingml/2006/main" noGrp="1"/>
          </p:cNvSpPr>
          <p:nvPr/>
        </p:nvSpPr>
        <p:spPr>
          <a:xfrm xmlns:a="http://schemas.openxmlformats.org/drawingml/2006/main">
            <a:off x="685800" y="3048000"/>
            <a:ext cx="47625" cy="457200"/>
          </a:xfrm>
          <a:prstGeom xmlns:a="http://schemas.openxmlformats.org/drawingml/2006/main" prst="rect">
            <a:avLst/>
          </a:prstGeom>
          <a:solidFill xmlns:a="http://schemas.openxmlformats.org/drawingml/2006/main">
            <a:srgbClr val="E76F1D"/>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4EA28396-12DC-4EF5-9439-315E318B861F}"/>
              </a:ext>
            </a:extLst>
          </p:cNvPr>
          <p:cNvSpPr>
            <a:spLocks xmlns:a="http://schemas.openxmlformats.org/drawingml/2006/main" noGrp="1"/>
          </p:cNvSpPr>
          <p:nvPr/>
        </p:nvSpPr>
        <p:spPr>
          <a:xfrm xmlns:a="http://schemas.openxmlformats.org/drawingml/2006/main">
            <a:off x="876300" y="29527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Comptes professionnels</a:t>
            </a:r>
          </a:p>
        </p:txBody>
      </p:sp>
      <p:sp>
        <p:nvSpPr>
          <p:cNvPr id="23" name="">
            <a:extLst xmlns:a="http://schemas.openxmlformats.org/drawingml/2006/main">
              <a:ext uri="{FF2B5EF4-FFF2-40B4-BE49-F238E27FC236}">
                <a16:creationId xmlns:a16="http://schemas.microsoft.com/office/drawing/2014/main" id="{D6A3E5A8-019D-4DB5-8068-9BE0489FD07C}"/>
              </a:ext>
            </a:extLst>
          </p:cNvPr>
          <p:cNvSpPr>
            <a:spLocks xmlns:a="http://schemas.openxmlformats.org/drawingml/2006/main" noGrp="1"/>
          </p:cNvSpPr>
          <p:nvPr/>
        </p:nvSpPr>
        <p:spPr>
          <a:xfrm xmlns:a="http://schemas.openxmlformats.org/drawingml/2006/main">
            <a:off x="876300" y="320040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Automatiser la préparation des relances, standardiser les revues de portefeuille et mieux signaler les comptes à risque ou en retard.</a:t>
            </a:r>
          </a:p>
        </p:txBody>
      </p:sp>
      <p:sp>
        <p:nvSpPr>
          <p:cNvPr id="24" name="">
            <a:extLst xmlns:a="http://schemas.openxmlformats.org/drawingml/2006/main">
              <a:ext uri="{FF2B5EF4-FFF2-40B4-BE49-F238E27FC236}">
                <a16:creationId xmlns:a16="http://schemas.microsoft.com/office/drawing/2014/main" id="{94422770-0B61-432F-B1A5-6FAA54EBCE5A}"/>
              </a:ext>
            </a:extLst>
          </p:cNvPr>
          <p:cNvSpPr>
            <a:spLocks xmlns:a="http://schemas.openxmlformats.org/drawingml/2006/main" noGrp="1"/>
          </p:cNvSpPr>
          <p:nvPr/>
        </p:nvSpPr>
        <p:spPr>
          <a:xfrm xmlns:a="http://schemas.openxmlformats.org/drawingml/2006/main">
            <a:off x="6096000" y="293370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5" name="">
            <a:extLst xmlns:a="http://schemas.openxmlformats.org/drawingml/2006/main">
              <a:ext uri="{FF2B5EF4-FFF2-40B4-BE49-F238E27FC236}">
                <a16:creationId xmlns:a16="http://schemas.microsoft.com/office/drawing/2014/main" id="{115F5051-30BC-4526-B785-F8F5DB512C79}"/>
              </a:ext>
            </a:extLst>
          </p:cNvPr>
          <p:cNvSpPr>
            <a:spLocks xmlns:a="http://schemas.openxmlformats.org/drawingml/2006/main" noGrp="1"/>
          </p:cNvSpPr>
          <p:nvPr/>
        </p:nvSpPr>
        <p:spPr>
          <a:xfrm xmlns:a="http://schemas.openxmlformats.org/drawingml/2006/main">
            <a:off x="6305550" y="30480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26" name="">
            <a:extLst xmlns:a="http://schemas.openxmlformats.org/drawingml/2006/main">
              <a:ext uri="{FF2B5EF4-FFF2-40B4-BE49-F238E27FC236}">
                <a16:creationId xmlns:a16="http://schemas.microsoft.com/office/drawing/2014/main" id="{096CF8B6-3A68-4493-8EC2-EA55FB3192BD}"/>
              </a:ext>
            </a:extLst>
          </p:cNvPr>
          <p:cNvSpPr>
            <a:spLocks xmlns:a="http://schemas.openxmlformats.org/drawingml/2006/main" noGrp="1"/>
          </p:cNvSpPr>
          <p:nvPr/>
        </p:nvSpPr>
        <p:spPr>
          <a:xfrm xmlns:a="http://schemas.openxmlformats.org/drawingml/2006/main">
            <a:off x="6305550" y="321945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délai moyen de relance, temps de préparation des revues clients, évolution des encours en retard</a:t>
            </a:r>
          </a:p>
        </p:txBody>
      </p:sp>
      <p:sp>
        <p:nvSpPr>
          <p:cNvPr id="27" name="">
            <a:extLst xmlns:a="http://schemas.openxmlformats.org/drawingml/2006/main">
              <a:ext uri="{FF2B5EF4-FFF2-40B4-BE49-F238E27FC236}">
                <a16:creationId xmlns:a16="http://schemas.microsoft.com/office/drawing/2014/main" id="{A8A84007-3D1C-49EB-B05C-31750797FC08}"/>
              </a:ext>
            </a:extLst>
          </p:cNvPr>
          <p:cNvSpPr>
            <a:spLocks xmlns:a="http://schemas.openxmlformats.org/drawingml/2006/main" noGrp="1"/>
          </p:cNvSpPr>
          <p:nvPr/>
        </p:nvSpPr>
        <p:spPr>
          <a:xfrm xmlns:a="http://schemas.openxmlformats.org/drawingml/2006/main">
            <a:off x="685800" y="3829050"/>
            <a:ext cx="47625" cy="457200"/>
          </a:xfrm>
          <a:prstGeom xmlns:a="http://schemas.openxmlformats.org/drawingml/2006/main" prst="rect">
            <a:avLst/>
          </a:prstGeom>
          <a:solidFill xmlns:a="http://schemas.openxmlformats.org/drawingml/2006/main">
            <a:srgbClr val="1C8A78"/>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CED2A5A3-F791-4EA6-AA8B-944330F025C8}"/>
              </a:ext>
            </a:extLst>
          </p:cNvPr>
          <p:cNvSpPr>
            <a:spLocks xmlns:a="http://schemas.openxmlformats.org/drawingml/2006/main" noGrp="1"/>
          </p:cNvSpPr>
          <p:nvPr/>
        </p:nvSpPr>
        <p:spPr>
          <a:xfrm xmlns:a="http://schemas.openxmlformats.org/drawingml/2006/main">
            <a:off x="876300" y="373380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Flotte et cartes carburant</a:t>
            </a:r>
          </a:p>
        </p:txBody>
      </p:sp>
      <p:sp>
        <p:nvSpPr>
          <p:cNvPr id="29" name="">
            <a:extLst xmlns:a="http://schemas.openxmlformats.org/drawingml/2006/main">
              <a:ext uri="{FF2B5EF4-FFF2-40B4-BE49-F238E27FC236}">
                <a16:creationId xmlns:a16="http://schemas.microsoft.com/office/drawing/2014/main" id="{E3AF7A9B-BBF1-4BF9-9A5B-2DF8D03F4531}"/>
              </a:ext>
            </a:extLst>
          </p:cNvPr>
          <p:cNvSpPr>
            <a:spLocks xmlns:a="http://schemas.openxmlformats.org/drawingml/2006/main" noGrp="1"/>
          </p:cNvSpPr>
          <p:nvPr/>
        </p:nvSpPr>
        <p:spPr>
          <a:xfrm xmlns:a="http://schemas.openxmlformats.org/drawingml/2006/main">
            <a:off x="876300" y="398145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Consolider les consommations, rapprocher les sources et produire des alertes simples sur les anomalies ou les dépassements inhabituels.</a:t>
            </a:r>
          </a:p>
        </p:txBody>
      </p:sp>
      <p:sp>
        <p:nvSpPr>
          <p:cNvPr id="30" name="">
            <a:extLst xmlns:a="http://schemas.openxmlformats.org/drawingml/2006/main">
              <a:ext uri="{FF2B5EF4-FFF2-40B4-BE49-F238E27FC236}">
                <a16:creationId xmlns:a16="http://schemas.microsoft.com/office/drawing/2014/main" id="{B75A0AA0-312D-4FF8-83AE-D6D78CC4BB3D}"/>
              </a:ext>
            </a:extLst>
          </p:cNvPr>
          <p:cNvSpPr>
            <a:spLocks xmlns:a="http://schemas.openxmlformats.org/drawingml/2006/main" noGrp="1"/>
          </p:cNvSpPr>
          <p:nvPr/>
        </p:nvSpPr>
        <p:spPr>
          <a:xfrm xmlns:a="http://schemas.openxmlformats.org/drawingml/2006/main">
            <a:off x="6096000" y="371475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1" name="">
            <a:extLst xmlns:a="http://schemas.openxmlformats.org/drawingml/2006/main">
              <a:ext uri="{FF2B5EF4-FFF2-40B4-BE49-F238E27FC236}">
                <a16:creationId xmlns:a16="http://schemas.microsoft.com/office/drawing/2014/main" id="{A2E45886-1FEF-4BEA-B0AF-20EE5D2211AA}"/>
              </a:ext>
            </a:extLst>
          </p:cNvPr>
          <p:cNvSpPr>
            <a:spLocks xmlns:a="http://schemas.openxmlformats.org/drawingml/2006/main" noGrp="1"/>
          </p:cNvSpPr>
          <p:nvPr/>
        </p:nvSpPr>
        <p:spPr>
          <a:xfrm xmlns:a="http://schemas.openxmlformats.org/drawingml/2006/main">
            <a:off x="6305550" y="38290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32" name="">
            <a:extLst xmlns:a="http://schemas.openxmlformats.org/drawingml/2006/main">
              <a:ext uri="{FF2B5EF4-FFF2-40B4-BE49-F238E27FC236}">
                <a16:creationId xmlns:a16="http://schemas.microsoft.com/office/drawing/2014/main" id="{A14BFB7F-8149-46B4-8AF8-50956EEF8DE2}"/>
              </a:ext>
            </a:extLst>
          </p:cNvPr>
          <p:cNvSpPr>
            <a:spLocks xmlns:a="http://schemas.openxmlformats.org/drawingml/2006/main" noGrp="1"/>
          </p:cNvSpPr>
          <p:nvPr/>
        </p:nvSpPr>
        <p:spPr>
          <a:xfrm xmlns:a="http://schemas.openxmlformats.org/drawingml/2006/main">
            <a:off x="6305550" y="400050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temps de production du reporting flotte, nombre d'anomalies détectées, variation des coûts carburant</a:t>
            </a:r>
          </a:p>
        </p:txBody>
      </p:sp>
      <p:sp>
        <p:nvSpPr>
          <p:cNvPr id="33" name="">
            <a:extLst xmlns:a="http://schemas.openxmlformats.org/drawingml/2006/main">
              <a:ext uri="{FF2B5EF4-FFF2-40B4-BE49-F238E27FC236}">
                <a16:creationId xmlns:a16="http://schemas.microsoft.com/office/drawing/2014/main" id="{5DE6D640-44EC-44EA-A4D6-CFC48BF67316}"/>
              </a:ext>
            </a:extLst>
          </p:cNvPr>
          <p:cNvSpPr>
            <a:spLocks xmlns:a="http://schemas.openxmlformats.org/drawingml/2006/main" noGrp="1"/>
          </p:cNvSpPr>
          <p:nvPr/>
        </p:nvSpPr>
        <p:spPr>
          <a:xfrm xmlns:a="http://schemas.openxmlformats.org/drawingml/2006/main">
            <a:off x="685800" y="4610100"/>
            <a:ext cx="47625" cy="457200"/>
          </a:xfrm>
          <a:prstGeom xmlns:a="http://schemas.openxmlformats.org/drawingml/2006/main" prst="rect">
            <a:avLst/>
          </a:prstGeom>
          <a:solidFill xmlns:a="http://schemas.openxmlformats.org/drawingml/2006/main">
            <a:srgbClr val="163556"/>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3F681B10-CD22-4E53-8608-DC88651145ED}"/>
              </a:ext>
            </a:extLst>
          </p:cNvPr>
          <p:cNvSpPr>
            <a:spLocks xmlns:a="http://schemas.openxmlformats.org/drawingml/2006/main" noGrp="1"/>
          </p:cNvSpPr>
          <p:nvPr/>
        </p:nvSpPr>
        <p:spPr>
          <a:xfrm xmlns:a="http://schemas.openxmlformats.org/drawingml/2006/main">
            <a:off x="876300" y="45148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Service client et procédures</a:t>
            </a:r>
          </a:p>
        </p:txBody>
      </p:sp>
      <p:sp>
        <p:nvSpPr>
          <p:cNvPr id="35" name="">
            <a:extLst xmlns:a="http://schemas.openxmlformats.org/drawingml/2006/main">
              <a:ext uri="{FF2B5EF4-FFF2-40B4-BE49-F238E27FC236}">
                <a16:creationId xmlns:a16="http://schemas.microsoft.com/office/drawing/2014/main" id="{2882F48E-11E9-4D32-B0A7-3F773A89B2EA}"/>
              </a:ext>
            </a:extLst>
          </p:cNvPr>
          <p:cNvSpPr>
            <a:spLocks xmlns:a="http://schemas.openxmlformats.org/drawingml/2006/main" noGrp="1"/>
          </p:cNvSpPr>
          <p:nvPr/>
        </p:nvSpPr>
        <p:spPr>
          <a:xfrm xmlns:a="http://schemas.openxmlformats.org/drawingml/2006/main">
            <a:off x="876300" y="476250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Rendre les réponses plus cohérentes, accélérer l'accès aux standards et réduire le temps de montée en main des équipes.</a:t>
            </a:r>
          </a:p>
        </p:txBody>
      </p:sp>
      <p:sp>
        <p:nvSpPr>
          <p:cNvPr id="36" name="">
            <a:extLst xmlns:a="http://schemas.openxmlformats.org/drawingml/2006/main">
              <a:ext uri="{FF2B5EF4-FFF2-40B4-BE49-F238E27FC236}">
                <a16:creationId xmlns:a16="http://schemas.microsoft.com/office/drawing/2014/main" id="{25C00EF8-F0C7-41EE-B3B7-75DE2991A767}"/>
              </a:ext>
            </a:extLst>
          </p:cNvPr>
          <p:cNvSpPr>
            <a:spLocks xmlns:a="http://schemas.openxmlformats.org/drawingml/2006/main" noGrp="1"/>
          </p:cNvSpPr>
          <p:nvPr/>
        </p:nvSpPr>
        <p:spPr>
          <a:xfrm xmlns:a="http://schemas.openxmlformats.org/drawingml/2006/main">
            <a:off x="6096000" y="449580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7" name="">
            <a:extLst xmlns:a="http://schemas.openxmlformats.org/drawingml/2006/main">
              <a:ext uri="{FF2B5EF4-FFF2-40B4-BE49-F238E27FC236}">
                <a16:creationId xmlns:a16="http://schemas.microsoft.com/office/drawing/2014/main" id="{CE403D12-C0CF-47AC-9A56-B3EE5E8DFE3E}"/>
              </a:ext>
            </a:extLst>
          </p:cNvPr>
          <p:cNvSpPr>
            <a:spLocks xmlns:a="http://schemas.openxmlformats.org/drawingml/2006/main" noGrp="1"/>
          </p:cNvSpPr>
          <p:nvPr/>
        </p:nvSpPr>
        <p:spPr>
          <a:xfrm xmlns:a="http://schemas.openxmlformats.org/drawingml/2006/main">
            <a:off x="6305550" y="46101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38" name="">
            <a:extLst xmlns:a="http://schemas.openxmlformats.org/drawingml/2006/main">
              <a:ext uri="{FF2B5EF4-FFF2-40B4-BE49-F238E27FC236}">
                <a16:creationId xmlns:a16="http://schemas.microsoft.com/office/drawing/2014/main" id="{E30C5B7A-6856-46DA-B238-594D1965F989}"/>
              </a:ext>
            </a:extLst>
          </p:cNvPr>
          <p:cNvSpPr>
            <a:spLocks xmlns:a="http://schemas.openxmlformats.org/drawingml/2006/main" noGrp="1"/>
          </p:cNvSpPr>
          <p:nvPr/>
        </p:nvSpPr>
        <p:spPr>
          <a:xfrm xmlns:a="http://schemas.openxmlformats.org/drawingml/2006/main">
            <a:off x="6305550" y="478155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délai de réponse, temps d'onboarding, usage de la base procédures / FAQ interne</a:t>
            </a:r>
          </a:p>
        </p:txBody>
      </p:sp>
      <p:sp>
        <p:nvSpPr>
          <p:cNvPr id="39" name="">
            <a:extLst xmlns:a="http://schemas.openxmlformats.org/drawingml/2006/main">
              <a:ext uri="{FF2B5EF4-FFF2-40B4-BE49-F238E27FC236}">
                <a16:creationId xmlns:a16="http://schemas.microsoft.com/office/drawing/2014/main" id="{D463B3FA-C646-486B-B62A-801F2380F1B0}"/>
              </a:ext>
            </a:extLst>
          </p:cNvPr>
          <p:cNvSpPr>
            <a:spLocks xmlns:a="http://schemas.openxmlformats.org/drawingml/2006/main" noGrp="1"/>
          </p:cNvSpPr>
          <p:nvPr/>
        </p:nvSpPr>
        <p:spPr>
          <a:xfrm xmlns:a="http://schemas.openxmlformats.org/drawingml/2006/main">
            <a:off x="685800" y="5562600"/>
            <a:ext cx="10820400" cy="5143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40" name="">
            <a:extLst xmlns:a="http://schemas.openxmlformats.org/drawingml/2006/main">
              <a:ext uri="{FF2B5EF4-FFF2-40B4-BE49-F238E27FC236}">
                <a16:creationId xmlns:a16="http://schemas.microsoft.com/office/drawing/2014/main" id="{7AA8C5D3-1FF4-441A-9FA0-209504525C40}"/>
              </a:ext>
            </a:extLst>
          </p:cNvPr>
          <p:cNvSpPr>
            <a:spLocks xmlns:a="http://schemas.openxmlformats.org/drawingml/2006/main" noGrp="1"/>
          </p:cNvSpPr>
          <p:nvPr/>
        </p:nvSpPr>
        <p:spPr>
          <a:xfrm xmlns:a="http://schemas.openxmlformats.org/drawingml/2006/main">
            <a:off x="895350" y="5734050"/>
            <a:ext cx="857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Important</a:t>
            </a:r>
          </a:p>
        </p:txBody>
      </p:sp>
      <p:sp>
        <p:nvSpPr>
          <p:cNvPr id="41" name="">
            <a:extLst xmlns:a="http://schemas.openxmlformats.org/drawingml/2006/main">
              <a:ext uri="{FF2B5EF4-FFF2-40B4-BE49-F238E27FC236}">
                <a16:creationId xmlns:a16="http://schemas.microsoft.com/office/drawing/2014/main" id="{AB61AD0A-1757-4360-9869-7DA03886DEA0}"/>
              </a:ext>
            </a:extLst>
          </p:cNvPr>
          <p:cNvSpPr>
            <a:spLocks xmlns:a="http://schemas.openxmlformats.org/drawingml/2006/main" noGrp="1"/>
          </p:cNvSpPr>
          <p:nvPr/>
        </p:nvSpPr>
        <p:spPr>
          <a:xfrm xmlns:a="http://schemas.openxmlformats.org/drawingml/2006/main">
            <a:off x="1790700" y="5695950"/>
            <a:ext cx="933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Les chiffres affichés ci-dessus sont un référentiel ROI TransferAI sur des déploiements comparables. Les gains réels seront calibrés sur les volumes, les processus et les données du prospect pendant l'audit initial.</a:t>
            </a:r>
          </a:p>
        </p:txBody>
      </p:sp>
      <p:sp>
        <p:nvSpPr>
          <p:cNvPr id="42" name="">
            <a:extLst xmlns:a="http://schemas.openxmlformats.org/drawingml/2006/main">
              <a:ext uri="{FF2B5EF4-FFF2-40B4-BE49-F238E27FC236}">
                <a16:creationId xmlns:a16="http://schemas.microsoft.com/office/drawing/2014/main" id="{1BD7EBE1-9A62-4384-B984-EC6656DA6081}"/>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E95BF332-CD6B-498B-B605-E0579931CFEF}"/>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44" name="">
            <a:extLst xmlns:a="http://schemas.openxmlformats.org/drawingml/2006/main">
              <a:ext uri="{FF2B5EF4-FFF2-40B4-BE49-F238E27FC236}">
                <a16:creationId xmlns:a16="http://schemas.microsoft.com/office/drawing/2014/main" id="{8E936374-95F3-471D-9897-50561F9B5BA6}"/>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06</a:t>
            </a:r>
          </a:p>
        </p:txBody>
      </p:sp>
    </p:spTree>
    <p:extLst>
      <p:ext uri="{BB962C8B-B14F-4D97-AF65-F5344CB8AC3E}">
        <p14:creationId xmlns:p14="http://schemas.microsoft.com/office/powerpoint/2010/main" val="190439476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AEB55A-9CC8-4876-8A3F-19F0770ABC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6D6AA12-9C63-4A62-A9F7-D2C379E76726}"/>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CAS D'USAGE PRIORITAIRES</a:t>
            </a:r>
          </a:p>
        </p:txBody>
      </p:sp>
      <p:sp>
        <p:nvSpPr>
          <p:cNvPr id="3" name="">
            <a:extLst xmlns:a="http://schemas.openxmlformats.org/drawingml/2006/main">
              <a:ext uri="{FF2B5EF4-FFF2-40B4-BE49-F238E27FC236}">
                <a16:creationId xmlns:a16="http://schemas.microsoft.com/office/drawing/2014/main" id="{AAC81CF7-D9B6-49AE-B0DD-373111D225ED}"/>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4 cas d'usage à mettre au centre de la proposition</a:t>
            </a:r>
          </a:p>
        </p:txBody>
      </p:sp>
      <p:sp>
        <p:nvSpPr>
          <p:cNvPr id="4" name="">
            <a:extLst xmlns:a="http://schemas.openxmlformats.org/drawingml/2006/main">
              <a:ext uri="{FF2B5EF4-FFF2-40B4-BE49-F238E27FC236}">
                <a16:creationId xmlns:a16="http://schemas.microsoft.com/office/drawing/2014/main" id="{4C1E22A1-6593-428C-B8AA-2F6B2520D1B9}"/>
              </a:ext>
            </a:extLst>
          </p:cNvPr>
          <p:cNvSpPr>
            <a:spLocks xmlns:a="http://schemas.openxmlformats.org/drawingml/2006/main" noGrp="1"/>
          </p:cNvSpPr>
          <p:nvPr/>
        </p:nvSpPr>
        <p:spPr>
          <a:xfrm xmlns:a="http://schemas.openxmlformats.org/drawingml/2006/main">
            <a:off x="685800" y="16764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Chaque cas d'usage doit être présenté comme un flux métier visible, avec un avant, un après et des KPI de validation.</a:t>
            </a:r>
          </a:p>
        </p:txBody>
      </p:sp>
      <p:sp>
        <p:nvSpPr>
          <p:cNvPr id="5" name="">
            <a:extLst xmlns:a="http://schemas.openxmlformats.org/drawingml/2006/main">
              <a:ext uri="{FF2B5EF4-FFF2-40B4-BE49-F238E27FC236}">
                <a16:creationId xmlns:a16="http://schemas.microsoft.com/office/drawing/2014/main" id="{5A91FB9F-3BD9-441F-8713-18BF5BAC59D1}"/>
              </a:ext>
            </a:extLst>
          </p:cNvPr>
          <p:cNvSpPr>
            <a:spLocks xmlns:a="http://schemas.openxmlformats.org/drawingml/2006/main" noGrp="1"/>
          </p:cNvSpPr>
          <p:nvPr/>
        </p:nvSpPr>
        <p:spPr>
          <a:xfrm xmlns:a="http://schemas.openxmlformats.org/drawingml/2006/main">
            <a:off x="685800" y="2171700"/>
            <a:ext cx="51435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112F6048-CA81-4F6C-B6F9-2D05E56AF46D}"/>
              </a:ext>
            </a:extLst>
          </p:cNvPr>
          <p:cNvSpPr>
            <a:spLocks xmlns:a="http://schemas.openxmlformats.org/drawingml/2006/main" noGrp="1"/>
          </p:cNvSpPr>
          <p:nvPr/>
        </p:nvSpPr>
        <p:spPr>
          <a:xfrm xmlns:a="http://schemas.openxmlformats.org/drawingml/2006/main">
            <a:off x="857250" y="23431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b4c74ad65014f6b">
            <a:extLst>
              <a:ext uri="{96DAC541-7B7A-43D3-8B79-37D633B846F1}">
                <asvg:svgBlip xmlns:asvg="http://schemas.microsoft.com/office/drawing/2016/SVG/main" r:embed="Rc730bdd8bba446c3"/>
              </a:ext>
            </a:extLst>
          </a:blip>
          <a:stretch xmlns:a="http://schemas.openxmlformats.org/drawingml/2006/main"/>
        </p:blipFill>
        <p:spPr>
          <a:xfrm xmlns:a="http://schemas.openxmlformats.org/drawingml/2006/main">
            <a:off x="952500" y="243840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8E879AC-DF03-4663-87FC-603DCEF1CCF2}"/>
              </a:ext>
            </a:extLst>
          </p:cNvPr>
          <p:cNvSpPr>
            <a:spLocks xmlns:a="http://schemas.openxmlformats.org/drawingml/2006/main" noGrp="1"/>
          </p:cNvSpPr>
          <p:nvPr/>
        </p:nvSpPr>
        <p:spPr>
          <a:xfrm xmlns:a="http://schemas.openxmlformats.org/drawingml/2006/main">
            <a:off x="1409700" y="238125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1. Comptes professionnels et recouvrement</a:t>
            </a:r>
          </a:p>
        </p:txBody>
      </p:sp>
      <p:sp>
        <p:nvSpPr>
          <p:cNvPr id="9" name="">
            <a:extLst xmlns:a="http://schemas.openxmlformats.org/drawingml/2006/main">
              <a:ext uri="{FF2B5EF4-FFF2-40B4-BE49-F238E27FC236}">
                <a16:creationId xmlns:a16="http://schemas.microsoft.com/office/drawing/2014/main" id="{3BAE5035-4BA9-41A0-A1AB-AC00D4303175}"/>
              </a:ext>
            </a:extLst>
          </p:cNvPr>
          <p:cNvSpPr>
            <a:spLocks xmlns:a="http://schemas.openxmlformats.org/drawingml/2006/main" noGrp="1"/>
          </p:cNvSpPr>
          <p:nvPr/>
        </p:nvSpPr>
        <p:spPr>
          <a:xfrm xmlns:a="http://schemas.openxmlformats.org/drawingml/2006/main">
            <a:off x="895350" y="28003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1064BE89-3A52-4AEA-95D3-9AFC8660A9FA}"/>
              </a:ext>
            </a:extLst>
          </p:cNvPr>
          <p:cNvSpPr>
            <a:spLocks xmlns:a="http://schemas.openxmlformats.org/drawingml/2006/main" noGrp="1"/>
          </p:cNvSpPr>
          <p:nvPr/>
        </p:nvSpPr>
        <p:spPr>
          <a:xfrm xmlns:a="http://schemas.openxmlformats.org/drawingml/2006/main">
            <a:off x="895350" y="2971800"/>
            <a:ext cx="4724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Relances, revues de portefeuille et synthèses commerciales dispersées entre plusieurs supports.</a:t>
            </a:r>
          </a:p>
        </p:txBody>
      </p:sp>
      <p:sp>
        <p:nvSpPr>
          <p:cNvPr id="11" name="">
            <a:extLst xmlns:a="http://schemas.openxmlformats.org/drawingml/2006/main">
              <a:ext uri="{FF2B5EF4-FFF2-40B4-BE49-F238E27FC236}">
                <a16:creationId xmlns:a16="http://schemas.microsoft.com/office/drawing/2014/main" id="{77280FD8-148D-4DFA-BB25-364406FEE92F}"/>
              </a:ext>
            </a:extLst>
          </p:cNvPr>
          <p:cNvSpPr>
            <a:spLocks xmlns:a="http://schemas.openxmlformats.org/drawingml/2006/main" noGrp="1"/>
          </p:cNvSpPr>
          <p:nvPr/>
        </p:nvSpPr>
        <p:spPr>
          <a:xfrm xmlns:a="http://schemas.openxmlformats.org/drawingml/2006/main">
            <a:off x="895350" y="34099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6BBF1BB7-941A-40F5-91BD-5A73731F22D1}"/>
              </a:ext>
            </a:extLst>
          </p:cNvPr>
          <p:cNvSpPr>
            <a:spLocks xmlns:a="http://schemas.openxmlformats.org/drawingml/2006/main" noGrp="1"/>
          </p:cNvSpPr>
          <p:nvPr/>
        </p:nvSpPr>
        <p:spPr>
          <a:xfrm xmlns:a="http://schemas.openxmlformats.org/drawingml/2006/main">
            <a:off x="895350" y="3581400"/>
            <a:ext cx="4724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Assistant de préparation, synthèse portefeuille, priorisation des comptes à risque et routines de suivi mieux standardisées.</a:t>
            </a:r>
          </a:p>
        </p:txBody>
      </p:sp>
      <p:sp>
        <p:nvSpPr>
          <p:cNvPr id="13" name="">
            <a:extLst xmlns:a="http://schemas.openxmlformats.org/drawingml/2006/main">
              <a:ext uri="{FF2B5EF4-FFF2-40B4-BE49-F238E27FC236}">
                <a16:creationId xmlns:a16="http://schemas.microsoft.com/office/drawing/2014/main" id="{1881E6BA-8D6D-4E71-B9B1-3F39942A971B}"/>
              </a:ext>
            </a:extLst>
          </p:cNvPr>
          <p:cNvSpPr>
            <a:spLocks xmlns:a="http://schemas.openxmlformats.org/drawingml/2006/main" noGrp="1"/>
          </p:cNvSpPr>
          <p:nvPr/>
        </p:nvSpPr>
        <p:spPr>
          <a:xfrm xmlns:a="http://schemas.openxmlformats.org/drawingml/2006/main">
            <a:off x="6096000" y="2171700"/>
            <a:ext cx="54102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90AAB536-20DE-42AB-B664-CD8F3D81F80C}"/>
              </a:ext>
            </a:extLst>
          </p:cNvPr>
          <p:cNvSpPr>
            <a:spLocks xmlns:a="http://schemas.openxmlformats.org/drawingml/2006/main" noGrp="1"/>
          </p:cNvSpPr>
          <p:nvPr/>
        </p:nvSpPr>
        <p:spPr>
          <a:xfrm xmlns:a="http://schemas.openxmlformats.org/drawingml/2006/main">
            <a:off x="6267450" y="23431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2e051516cbc4072">
            <a:extLst>
              <a:ext uri="{96DAC541-7B7A-43D3-8B79-37D633B846F1}">
                <asvg:svgBlip xmlns:asvg="http://schemas.microsoft.com/office/drawing/2016/SVG/main" r:embed="Rb34c01da902148ad"/>
              </a:ext>
            </a:extLst>
          </a:blip>
          <a:stretch xmlns:a="http://schemas.openxmlformats.org/drawingml/2006/main"/>
        </p:blipFill>
        <p:spPr>
          <a:xfrm xmlns:a="http://schemas.openxmlformats.org/drawingml/2006/main">
            <a:off x="6362700" y="243840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0336AAA-FE4B-463E-9BFB-A25EB07BCDDC}"/>
              </a:ext>
            </a:extLst>
          </p:cNvPr>
          <p:cNvSpPr>
            <a:spLocks xmlns:a="http://schemas.openxmlformats.org/drawingml/2006/main" noGrp="1"/>
          </p:cNvSpPr>
          <p:nvPr/>
        </p:nvSpPr>
        <p:spPr>
          <a:xfrm xmlns:a="http://schemas.openxmlformats.org/drawingml/2006/main">
            <a:off x="6819900" y="2381250"/>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2. Flotte, cartes carburant et consommation</a:t>
            </a:r>
          </a:p>
        </p:txBody>
      </p:sp>
      <p:sp>
        <p:nvSpPr>
          <p:cNvPr id="17" name="">
            <a:extLst xmlns:a="http://schemas.openxmlformats.org/drawingml/2006/main">
              <a:ext uri="{FF2B5EF4-FFF2-40B4-BE49-F238E27FC236}">
                <a16:creationId xmlns:a16="http://schemas.microsoft.com/office/drawing/2014/main" id="{92B475DA-63A7-41AE-BEB3-81DB5B015529}"/>
              </a:ext>
            </a:extLst>
          </p:cNvPr>
          <p:cNvSpPr>
            <a:spLocks xmlns:a="http://schemas.openxmlformats.org/drawingml/2006/main" noGrp="1"/>
          </p:cNvSpPr>
          <p:nvPr/>
        </p:nvSpPr>
        <p:spPr>
          <a:xfrm xmlns:a="http://schemas.openxmlformats.org/drawingml/2006/main">
            <a:off x="6305550" y="28003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8" name="">
            <a:extLst xmlns:a="http://schemas.openxmlformats.org/drawingml/2006/main">
              <a:ext uri="{FF2B5EF4-FFF2-40B4-BE49-F238E27FC236}">
                <a16:creationId xmlns:a16="http://schemas.microsoft.com/office/drawing/2014/main" id="{AB3D582C-C3E1-4B03-BFF5-131F84FEAC98}"/>
              </a:ext>
            </a:extLst>
          </p:cNvPr>
          <p:cNvSpPr>
            <a:spLocks xmlns:a="http://schemas.openxmlformats.org/drawingml/2006/main" noGrp="1"/>
          </p:cNvSpPr>
          <p:nvPr/>
        </p:nvSpPr>
        <p:spPr>
          <a:xfrm xmlns:a="http://schemas.openxmlformats.org/drawingml/2006/main">
            <a:off x="6305550" y="2971800"/>
            <a:ext cx="4991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Vision fragmentée des consommations, des écarts et des commentaires d'analyse.</a:t>
            </a:r>
          </a:p>
        </p:txBody>
      </p:sp>
      <p:sp>
        <p:nvSpPr>
          <p:cNvPr id="19" name="">
            <a:extLst xmlns:a="http://schemas.openxmlformats.org/drawingml/2006/main">
              <a:ext uri="{FF2B5EF4-FFF2-40B4-BE49-F238E27FC236}">
                <a16:creationId xmlns:a16="http://schemas.microsoft.com/office/drawing/2014/main" id="{E15DD788-6908-4E4C-920C-0D08E5729E55}"/>
              </a:ext>
            </a:extLst>
          </p:cNvPr>
          <p:cNvSpPr>
            <a:spLocks xmlns:a="http://schemas.openxmlformats.org/drawingml/2006/main" noGrp="1"/>
          </p:cNvSpPr>
          <p:nvPr/>
        </p:nvSpPr>
        <p:spPr>
          <a:xfrm xmlns:a="http://schemas.openxmlformats.org/drawingml/2006/main">
            <a:off x="6305550" y="34099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0" name="">
            <a:extLst xmlns:a="http://schemas.openxmlformats.org/drawingml/2006/main">
              <a:ext uri="{FF2B5EF4-FFF2-40B4-BE49-F238E27FC236}">
                <a16:creationId xmlns:a16="http://schemas.microsoft.com/office/drawing/2014/main" id="{467A4E1A-ED00-4356-8A51-0D883242ED1B}"/>
              </a:ext>
            </a:extLst>
          </p:cNvPr>
          <p:cNvSpPr>
            <a:spLocks xmlns:a="http://schemas.openxmlformats.org/drawingml/2006/main" noGrp="1"/>
          </p:cNvSpPr>
          <p:nvPr/>
        </p:nvSpPr>
        <p:spPr>
          <a:xfrm xmlns:a="http://schemas.openxmlformats.org/drawingml/2006/main">
            <a:off x="6305550" y="3581400"/>
            <a:ext cx="4991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Tableau de bord consolidé, alertes simples sur anomalies et meilleure lecture des coûts par véhicule, site ou période.</a:t>
            </a:r>
          </a:p>
        </p:txBody>
      </p:sp>
      <p:sp>
        <p:nvSpPr>
          <p:cNvPr id="21" name="">
            <a:extLst xmlns:a="http://schemas.openxmlformats.org/drawingml/2006/main">
              <a:ext uri="{FF2B5EF4-FFF2-40B4-BE49-F238E27FC236}">
                <a16:creationId xmlns:a16="http://schemas.microsoft.com/office/drawing/2014/main" id="{4EB2681A-5500-41CD-9FA8-4715B101C240}"/>
              </a:ext>
            </a:extLst>
          </p:cNvPr>
          <p:cNvSpPr>
            <a:spLocks xmlns:a="http://schemas.openxmlformats.org/drawingml/2006/main" noGrp="1"/>
          </p:cNvSpPr>
          <p:nvPr/>
        </p:nvSpPr>
        <p:spPr>
          <a:xfrm xmlns:a="http://schemas.openxmlformats.org/drawingml/2006/main">
            <a:off x="685800" y="4038600"/>
            <a:ext cx="51435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5112F9D1-4D08-4C82-BDDF-2CAE72BE2B6B}"/>
              </a:ext>
            </a:extLst>
          </p:cNvPr>
          <p:cNvSpPr>
            <a:spLocks xmlns:a="http://schemas.openxmlformats.org/drawingml/2006/main" noGrp="1"/>
          </p:cNvSpPr>
          <p:nvPr/>
        </p:nvSpPr>
        <p:spPr>
          <a:xfrm xmlns:a="http://schemas.openxmlformats.org/drawingml/2006/main">
            <a:off x="857250" y="421005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45d6353d6f74731">
            <a:extLst>
              <a:ext uri="{96DAC541-7B7A-43D3-8B79-37D633B846F1}">
                <asvg:svgBlip xmlns:asvg="http://schemas.microsoft.com/office/drawing/2016/SVG/main" r:embed="Rc8f1560a791b417c"/>
              </a:ext>
            </a:extLst>
          </a:blip>
          <a:stretch xmlns:a="http://schemas.openxmlformats.org/drawingml/2006/main"/>
        </p:blipFill>
        <p:spPr>
          <a:xfrm xmlns:a="http://schemas.openxmlformats.org/drawingml/2006/main">
            <a:off x="952500" y="430530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A389ADEF-D1AC-4E92-AC43-DE2312D199FB}"/>
              </a:ext>
            </a:extLst>
          </p:cNvPr>
          <p:cNvSpPr>
            <a:spLocks xmlns:a="http://schemas.openxmlformats.org/drawingml/2006/main" noGrp="1"/>
          </p:cNvSpPr>
          <p:nvPr/>
        </p:nvSpPr>
        <p:spPr>
          <a:xfrm xmlns:a="http://schemas.openxmlformats.org/drawingml/2006/main">
            <a:off x="1409700" y="424815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3. Service client / service auto</a:t>
            </a:r>
          </a:p>
        </p:txBody>
      </p:sp>
      <p:sp>
        <p:nvSpPr>
          <p:cNvPr id="25" name="">
            <a:extLst xmlns:a="http://schemas.openxmlformats.org/drawingml/2006/main">
              <a:ext uri="{FF2B5EF4-FFF2-40B4-BE49-F238E27FC236}">
                <a16:creationId xmlns:a16="http://schemas.microsoft.com/office/drawing/2014/main" id="{A7130071-D368-48B3-8096-5AD913E51277}"/>
              </a:ext>
            </a:extLst>
          </p:cNvPr>
          <p:cNvSpPr>
            <a:spLocks xmlns:a="http://schemas.openxmlformats.org/drawingml/2006/main" noGrp="1"/>
          </p:cNvSpPr>
          <p:nvPr/>
        </p:nvSpPr>
        <p:spPr>
          <a:xfrm xmlns:a="http://schemas.openxmlformats.org/drawingml/2006/main">
            <a:off x="895350" y="46672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26" name="">
            <a:extLst xmlns:a="http://schemas.openxmlformats.org/drawingml/2006/main">
              <a:ext uri="{FF2B5EF4-FFF2-40B4-BE49-F238E27FC236}">
                <a16:creationId xmlns:a16="http://schemas.microsoft.com/office/drawing/2014/main" id="{178EE029-078F-4B01-AF04-EF75A1AEB675}"/>
              </a:ext>
            </a:extLst>
          </p:cNvPr>
          <p:cNvSpPr>
            <a:spLocks xmlns:a="http://schemas.openxmlformats.org/drawingml/2006/main" noGrp="1"/>
          </p:cNvSpPr>
          <p:nvPr/>
        </p:nvSpPr>
        <p:spPr>
          <a:xfrm xmlns:a="http://schemas.openxmlformats.org/drawingml/2006/main">
            <a:off x="895350" y="4838700"/>
            <a:ext cx="4724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Demandes récurrentes, scripts variables et historique pas toujours exploitable pour mieux servir.</a:t>
            </a:r>
          </a:p>
        </p:txBody>
      </p:sp>
      <p:sp>
        <p:nvSpPr>
          <p:cNvPr id="27" name="">
            <a:extLst xmlns:a="http://schemas.openxmlformats.org/drawingml/2006/main">
              <a:ext uri="{FF2B5EF4-FFF2-40B4-BE49-F238E27FC236}">
                <a16:creationId xmlns:a16="http://schemas.microsoft.com/office/drawing/2014/main" id="{553AA32B-CCC5-43DD-8FF9-2EA867BCE7FA}"/>
              </a:ext>
            </a:extLst>
          </p:cNvPr>
          <p:cNvSpPr>
            <a:spLocks xmlns:a="http://schemas.openxmlformats.org/drawingml/2006/main" noGrp="1"/>
          </p:cNvSpPr>
          <p:nvPr/>
        </p:nvSpPr>
        <p:spPr>
          <a:xfrm xmlns:a="http://schemas.openxmlformats.org/drawingml/2006/main">
            <a:off x="895350" y="5276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8" name="">
            <a:extLst xmlns:a="http://schemas.openxmlformats.org/drawingml/2006/main">
              <a:ext uri="{FF2B5EF4-FFF2-40B4-BE49-F238E27FC236}">
                <a16:creationId xmlns:a16="http://schemas.microsoft.com/office/drawing/2014/main" id="{726EBD0F-3180-4146-A93C-9B65B1E5D278}"/>
              </a:ext>
            </a:extLst>
          </p:cNvPr>
          <p:cNvSpPr>
            <a:spLocks xmlns:a="http://schemas.openxmlformats.org/drawingml/2006/main" noGrp="1"/>
          </p:cNvSpPr>
          <p:nvPr/>
        </p:nvSpPr>
        <p:spPr>
          <a:xfrm xmlns:a="http://schemas.openxmlformats.org/drawingml/2006/main">
            <a:off x="895350" y="5448300"/>
            <a:ext cx="4724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FAQ assistée, canevas de réponse, suivi plus continu et meilleur niveau de réactivité opérationnelle.</a:t>
            </a:r>
          </a:p>
        </p:txBody>
      </p:sp>
      <p:sp>
        <p:nvSpPr>
          <p:cNvPr id="29" name="">
            <a:extLst xmlns:a="http://schemas.openxmlformats.org/drawingml/2006/main">
              <a:ext uri="{FF2B5EF4-FFF2-40B4-BE49-F238E27FC236}">
                <a16:creationId xmlns:a16="http://schemas.microsoft.com/office/drawing/2014/main" id="{CAE6A661-F96A-45C8-9E95-ECE4A700D7BC}"/>
              </a:ext>
            </a:extLst>
          </p:cNvPr>
          <p:cNvSpPr>
            <a:spLocks xmlns:a="http://schemas.openxmlformats.org/drawingml/2006/main" noGrp="1"/>
          </p:cNvSpPr>
          <p:nvPr/>
        </p:nvSpPr>
        <p:spPr>
          <a:xfrm xmlns:a="http://schemas.openxmlformats.org/drawingml/2006/main">
            <a:off x="6096000" y="4038600"/>
            <a:ext cx="54102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182F6AA9-FBD5-4AA8-87B4-0F95B4DE3D9A}"/>
              </a:ext>
            </a:extLst>
          </p:cNvPr>
          <p:cNvSpPr>
            <a:spLocks xmlns:a="http://schemas.openxmlformats.org/drawingml/2006/main" noGrp="1"/>
          </p:cNvSpPr>
          <p:nvPr/>
        </p:nvSpPr>
        <p:spPr>
          <a:xfrm xmlns:a="http://schemas.openxmlformats.org/drawingml/2006/main">
            <a:off x="6267450" y="421005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18013ba656d48c0">
            <a:extLst>
              <a:ext uri="{96DAC541-7B7A-43D3-8B79-37D633B846F1}">
                <asvg:svgBlip xmlns:asvg="http://schemas.microsoft.com/office/drawing/2016/SVG/main" r:embed="R9305810ef2974d19"/>
              </a:ext>
            </a:extLst>
          </a:blip>
          <a:stretch xmlns:a="http://schemas.openxmlformats.org/drawingml/2006/main"/>
        </p:blipFill>
        <p:spPr>
          <a:xfrm xmlns:a="http://schemas.openxmlformats.org/drawingml/2006/main">
            <a:off x="6362700" y="4305300"/>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8CF4C9DE-2DC1-46F5-925E-830784F5D3EE}"/>
              </a:ext>
            </a:extLst>
          </p:cNvPr>
          <p:cNvSpPr>
            <a:spLocks xmlns:a="http://schemas.openxmlformats.org/drawingml/2006/main" noGrp="1"/>
          </p:cNvSpPr>
          <p:nvPr/>
        </p:nvSpPr>
        <p:spPr>
          <a:xfrm xmlns:a="http://schemas.openxmlformats.org/drawingml/2006/main">
            <a:off x="6819900" y="4248150"/>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4. Procédures internes et base de connaissances</a:t>
            </a:r>
          </a:p>
        </p:txBody>
      </p:sp>
      <p:sp>
        <p:nvSpPr>
          <p:cNvPr id="33" name="">
            <a:extLst xmlns:a="http://schemas.openxmlformats.org/drawingml/2006/main">
              <a:ext uri="{FF2B5EF4-FFF2-40B4-BE49-F238E27FC236}">
                <a16:creationId xmlns:a16="http://schemas.microsoft.com/office/drawing/2014/main" id="{D0410954-21D4-4B6B-A0CA-E7E37052AFBD}"/>
              </a:ext>
            </a:extLst>
          </p:cNvPr>
          <p:cNvSpPr>
            <a:spLocks xmlns:a="http://schemas.openxmlformats.org/drawingml/2006/main" noGrp="1"/>
          </p:cNvSpPr>
          <p:nvPr/>
        </p:nvSpPr>
        <p:spPr>
          <a:xfrm xmlns:a="http://schemas.openxmlformats.org/drawingml/2006/main">
            <a:off x="6305550" y="46672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34" name="">
            <a:extLst xmlns:a="http://schemas.openxmlformats.org/drawingml/2006/main">
              <a:ext uri="{FF2B5EF4-FFF2-40B4-BE49-F238E27FC236}">
                <a16:creationId xmlns:a16="http://schemas.microsoft.com/office/drawing/2014/main" id="{79B99DFA-6BA6-4AEE-BD12-56B928E97A0F}"/>
              </a:ext>
            </a:extLst>
          </p:cNvPr>
          <p:cNvSpPr>
            <a:spLocks xmlns:a="http://schemas.openxmlformats.org/drawingml/2006/main" noGrp="1"/>
          </p:cNvSpPr>
          <p:nvPr/>
        </p:nvSpPr>
        <p:spPr>
          <a:xfrm xmlns:a="http://schemas.openxmlformats.org/drawingml/2006/main">
            <a:off x="6305550" y="4838700"/>
            <a:ext cx="4991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Procédures, standards et bonnes réponses éparpillés, donc difficilement réutilisables à grande échelle.</a:t>
            </a:r>
          </a:p>
        </p:txBody>
      </p:sp>
      <p:sp>
        <p:nvSpPr>
          <p:cNvPr id="35" name="">
            <a:extLst xmlns:a="http://schemas.openxmlformats.org/drawingml/2006/main">
              <a:ext uri="{FF2B5EF4-FFF2-40B4-BE49-F238E27FC236}">
                <a16:creationId xmlns:a16="http://schemas.microsoft.com/office/drawing/2014/main" id="{0B0CDCBE-0C20-482B-8FC1-9E948C228150}"/>
              </a:ext>
            </a:extLst>
          </p:cNvPr>
          <p:cNvSpPr>
            <a:spLocks xmlns:a="http://schemas.openxmlformats.org/drawingml/2006/main" noGrp="1"/>
          </p:cNvSpPr>
          <p:nvPr/>
        </p:nvSpPr>
        <p:spPr>
          <a:xfrm xmlns:a="http://schemas.openxmlformats.org/drawingml/2006/main">
            <a:off x="6305550" y="5276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36" name="">
            <a:extLst xmlns:a="http://schemas.openxmlformats.org/drawingml/2006/main">
              <a:ext uri="{FF2B5EF4-FFF2-40B4-BE49-F238E27FC236}">
                <a16:creationId xmlns:a16="http://schemas.microsoft.com/office/drawing/2014/main" id="{E9D988CB-3EB8-4EB8-91E8-C31E84C89C87}"/>
              </a:ext>
            </a:extLst>
          </p:cNvPr>
          <p:cNvSpPr>
            <a:spLocks xmlns:a="http://schemas.openxmlformats.org/drawingml/2006/main" noGrp="1"/>
          </p:cNvSpPr>
          <p:nvPr/>
        </p:nvSpPr>
        <p:spPr>
          <a:xfrm xmlns:a="http://schemas.openxmlformats.org/drawingml/2006/main">
            <a:off x="6305550" y="5448300"/>
            <a:ext cx="4991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Base interne plus accessible, exécution plus homogène et réduction du temps de recherche pour les équipes.</a:t>
            </a:r>
          </a:p>
        </p:txBody>
      </p:sp>
      <p:sp>
        <p:nvSpPr>
          <p:cNvPr id="37" name="">
            <a:extLst xmlns:a="http://schemas.openxmlformats.org/drawingml/2006/main">
              <a:ext uri="{FF2B5EF4-FFF2-40B4-BE49-F238E27FC236}">
                <a16:creationId xmlns:a16="http://schemas.microsoft.com/office/drawing/2014/main" id="{1976470E-C357-4489-A3B3-2705D74D633D}"/>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64E6424D-5353-47B6-9FE4-8EC32F9D9CD5}"/>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39" name="">
            <a:extLst xmlns:a="http://schemas.openxmlformats.org/drawingml/2006/main">
              <a:ext uri="{FF2B5EF4-FFF2-40B4-BE49-F238E27FC236}">
                <a16:creationId xmlns:a16="http://schemas.microsoft.com/office/drawing/2014/main" id="{3D789A9C-1E3A-44DD-BB8E-2A9ADAF1FD78}"/>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07</a:t>
            </a:r>
          </a:p>
        </p:txBody>
      </p:sp>
    </p:spTree>
    <p:extLst>
      <p:ext uri="{BB962C8B-B14F-4D97-AF65-F5344CB8AC3E}">
        <p14:creationId xmlns:p14="http://schemas.microsoft.com/office/powerpoint/2010/main" val="145572726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ED7025-06FA-4A3E-827D-0BCA7534FD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40BBF64-0DB1-4479-9FBC-D1C9D0BCCB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46784E7D-08EB-416B-9995-180EE33A4E76}"/>
              </a:ext>
            </a:extLst>
          </p:cNvPr>
          <p:cNvSpPr>
            <a:spLocks xmlns:a="http://schemas.openxmlformats.org/drawingml/2006/main" noGrp="1"/>
          </p:cNvSpPr>
          <p:nvPr/>
        </p:nvSpPr>
        <p:spPr>
          <a:xfrm xmlns:a="http://schemas.openxmlformats.org/drawingml/2006/main">
            <a:off x="685800" y="1066800"/>
            <a:ext cx="76200" cy="432435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4" name="">
            <a:extLst xmlns:a="http://schemas.openxmlformats.org/drawingml/2006/main">
              <a:ext uri="{FF2B5EF4-FFF2-40B4-BE49-F238E27FC236}">
                <a16:creationId xmlns:a16="http://schemas.microsoft.com/office/drawing/2014/main" id="{F3858D50-1BF4-4BA4-9FAA-DACD3A550B55}"/>
              </a:ext>
            </a:extLst>
          </p:cNvPr>
          <p:cNvSpPr>
            <a:spLocks xmlns:a="http://schemas.openxmlformats.org/drawingml/2006/main" noGrp="1"/>
          </p:cNvSpPr>
          <p:nvPr/>
        </p:nvSpPr>
        <p:spPr>
          <a:xfrm xmlns:a="http://schemas.openxmlformats.org/drawingml/2006/main">
            <a:off x="9906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RECOMMANDONS</a:t>
            </a:r>
          </a:p>
        </p:txBody>
      </p:sp>
      <p:sp>
        <p:nvSpPr>
          <p:cNvPr id="5" name="">
            <a:extLst xmlns:a="http://schemas.openxmlformats.org/drawingml/2006/main">
              <a:ext uri="{FF2B5EF4-FFF2-40B4-BE49-F238E27FC236}">
                <a16:creationId xmlns:a16="http://schemas.microsoft.com/office/drawing/2014/main" id="{E3104874-FAE8-43A0-A4B7-F93E16F23174}"/>
              </a:ext>
            </a:extLst>
          </p:cNvPr>
          <p:cNvSpPr>
            <a:spLocks xmlns:a="http://schemas.openxmlformats.org/drawingml/2006/main" noGrp="1"/>
          </p:cNvSpPr>
          <p:nvPr/>
        </p:nvSpPr>
        <p:spPr>
          <a:xfrm xmlns:a="http://schemas.openxmlformats.org/drawingml/2006/main">
            <a:off x="990600" y="1524000"/>
            <a:ext cx="6096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slides qui transforment</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irritants en pilote</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mesurable.</a:t>
            </a:r>
          </a:p>
        </p:txBody>
      </p:sp>
      <p:sp>
        <p:nvSpPr>
          <p:cNvPr id="6" name="">
            <a:extLst xmlns:a="http://schemas.openxmlformats.org/drawingml/2006/main">
              <a:ext uri="{FF2B5EF4-FFF2-40B4-BE49-F238E27FC236}">
                <a16:creationId xmlns:a16="http://schemas.microsoft.com/office/drawing/2014/main" id="{E9F0B39D-45B3-4378-8760-5EC74DAE665D}"/>
              </a:ext>
            </a:extLst>
          </p:cNvPr>
          <p:cNvSpPr>
            <a:spLocks xmlns:a="http://schemas.openxmlformats.org/drawingml/2006/main" noGrp="1"/>
          </p:cNvSpPr>
          <p:nvPr/>
        </p:nvSpPr>
        <p:spPr>
          <a:xfrm xmlns:a="http://schemas.openxmlformats.org/drawingml/2006/main">
            <a:off x="990600" y="3086100"/>
            <a:ext cx="5334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7E5F3"/>
                </a:solidFill>
                <a:latin typeface="Aptos"/>
                <a:ea typeface="Aptos"/>
                <a:cs typeface="Aptos"/>
              </a:defRPr>
            </a:pPr>
            <a:r>
              <a:rPr sz="1200" b="0">
                <a:solidFill>
                  <a:srgbClr val="D7E5F3"/>
                </a:solidFill>
                <a:latin typeface="Aptos"/>
                <a:ea typeface="Aptos"/>
                <a:cs typeface="Aptos"/>
              </a:rPr>
              <a:t>Cette deuxième partie du deck convertit les cas d'usage en feuille de route, en gouvernance et en prochaine étape commerciale simple.</a:t>
            </a:r>
          </a:p>
        </p:txBody>
      </p:sp>
      <p:sp>
        <p:nvSpPr>
          <p:cNvPr id="7" name="">
            <a:extLst xmlns:a="http://schemas.openxmlformats.org/drawingml/2006/main">
              <a:ext uri="{FF2B5EF4-FFF2-40B4-BE49-F238E27FC236}">
                <a16:creationId xmlns:a16="http://schemas.microsoft.com/office/drawing/2014/main" id="{0B424E27-89EA-4356-9D6D-56216FE69E6C}"/>
              </a:ext>
            </a:extLst>
          </p:cNvPr>
          <p:cNvSpPr>
            <a:spLocks xmlns:a="http://schemas.openxmlformats.org/drawingml/2006/main" noGrp="1"/>
          </p:cNvSpPr>
          <p:nvPr/>
        </p:nvSpPr>
        <p:spPr>
          <a:xfrm xmlns:a="http://schemas.openxmlformats.org/drawingml/2006/main">
            <a:off x="7410450" y="1257300"/>
            <a:ext cx="3752850" cy="16192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8" name="">
            <a:extLst xmlns:a="http://schemas.openxmlformats.org/drawingml/2006/main">
              <a:ext uri="{FF2B5EF4-FFF2-40B4-BE49-F238E27FC236}">
                <a16:creationId xmlns:a16="http://schemas.microsoft.com/office/drawing/2014/main" id="{4F6D3CB2-7C0B-49BC-9C33-C53CC4638543}"/>
              </a:ext>
            </a:extLst>
          </p:cNvPr>
          <p:cNvSpPr>
            <a:spLocks xmlns:a="http://schemas.openxmlformats.org/drawingml/2006/main" noGrp="1"/>
          </p:cNvSpPr>
          <p:nvPr/>
        </p:nvSpPr>
        <p:spPr>
          <a:xfrm xmlns:a="http://schemas.openxmlformats.org/drawingml/2006/main">
            <a:off x="7658100" y="148590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7E5F3"/>
                </a:solidFill>
                <a:latin typeface="Aptos"/>
                <a:ea typeface="Aptos"/>
                <a:cs typeface="Aptos"/>
              </a:defRPr>
            </a:pPr>
            <a:r>
              <a:rPr sz="750" b="1">
                <a:solidFill>
                  <a:srgbClr val="D7E5F3"/>
                </a:solidFill>
                <a:latin typeface="Aptos"/>
                <a:ea typeface="Aptos"/>
                <a:cs typeface="Aptos"/>
              </a:rPr>
              <a:t>Ce que le prospect doit retenir</a:t>
            </a:r>
          </a:p>
        </p:txBody>
      </p:sp>
      <p:sp>
        <p:nvSpPr>
          <p:cNvPr id="9" name="">
            <a:extLst xmlns:a="http://schemas.openxmlformats.org/drawingml/2006/main">
              <a:ext uri="{FF2B5EF4-FFF2-40B4-BE49-F238E27FC236}">
                <a16:creationId xmlns:a16="http://schemas.microsoft.com/office/drawing/2014/main" id="{EF5D5AFD-2F9B-42D6-B254-E21919FA1A74}"/>
              </a:ext>
            </a:extLst>
          </p:cNvPr>
          <p:cNvSpPr>
            <a:spLocks xmlns:a="http://schemas.openxmlformats.org/drawingml/2006/main" noGrp="1"/>
          </p:cNvSpPr>
          <p:nvPr/>
        </p:nvSpPr>
        <p:spPr>
          <a:xfrm xmlns:a="http://schemas.openxmlformats.org/drawingml/2006/main">
            <a:off x="7658100" y="1733550"/>
            <a:ext cx="32575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TransferAI aide à choisir un premier terrain, à cadrer le pilote, à former les bonnes équipes et à mesurer si l'extension est justifiée.</a:t>
            </a:r>
          </a:p>
        </p:txBody>
      </p:sp>
      <p:sp>
        <p:nvSpPr>
          <p:cNvPr id="10" name="">
            <a:extLst xmlns:a="http://schemas.openxmlformats.org/drawingml/2006/main">
              <a:ext uri="{FF2B5EF4-FFF2-40B4-BE49-F238E27FC236}">
                <a16:creationId xmlns:a16="http://schemas.microsoft.com/office/drawing/2014/main" id="{480C295F-6318-4848-8D3D-0E79A7C4B11B}"/>
              </a:ext>
            </a:extLst>
          </p:cNvPr>
          <p:cNvSpPr>
            <a:spLocks xmlns:a="http://schemas.openxmlformats.org/drawingml/2006/main" noGrp="1"/>
          </p:cNvSpPr>
          <p:nvPr/>
        </p:nvSpPr>
        <p:spPr>
          <a:xfrm xmlns:a="http://schemas.openxmlformats.org/drawingml/2006/main">
            <a:off x="7410450" y="3200400"/>
            <a:ext cx="3752850" cy="16954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11" name="">
            <a:extLst xmlns:a="http://schemas.openxmlformats.org/drawingml/2006/main">
              <a:ext uri="{FF2B5EF4-FFF2-40B4-BE49-F238E27FC236}">
                <a16:creationId xmlns:a16="http://schemas.microsoft.com/office/drawing/2014/main" id="{F87B84B8-F657-4EDB-8902-BF765B22F99F}"/>
              </a:ext>
            </a:extLst>
          </p:cNvPr>
          <p:cNvSpPr>
            <a:spLocks xmlns:a="http://schemas.openxmlformats.org/drawingml/2006/main" noGrp="1"/>
          </p:cNvSpPr>
          <p:nvPr/>
        </p:nvSpPr>
        <p:spPr>
          <a:xfrm xmlns:a="http://schemas.openxmlformats.org/drawingml/2006/main">
            <a:off x="7658100" y="34290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Fil conducteur</a:t>
            </a:r>
          </a:p>
        </p:txBody>
      </p:sp>
      <p:sp>
        <p:nvSpPr>
          <p:cNvPr id="12" name="">
            <a:extLst xmlns:a="http://schemas.openxmlformats.org/drawingml/2006/main">
              <a:ext uri="{FF2B5EF4-FFF2-40B4-BE49-F238E27FC236}">
                <a16:creationId xmlns:a16="http://schemas.microsoft.com/office/drawing/2014/main" id="{11809C57-6F38-424D-84B1-2FDBDDC4405A}"/>
              </a:ext>
            </a:extLst>
          </p:cNvPr>
          <p:cNvSpPr>
            <a:spLocks xmlns:a="http://schemas.openxmlformats.org/drawingml/2006/main" noGrp="1"/>
          </p:cNvSpPr>
          <p:nvPr/>
        </p:nvSpPr>
        <p:spPr>
          <a:xfrm xmlns:a="http://schemas.openxmlformats.org/drawingml/2006/main">
            <a:off x="7658100" y="3714750"/>
            <a:ext cx="3105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Recommander sans surpromettre.</a:t>
            </a:r>
          </a:p>
        </p:txBody>
      </p:sp>
      <p:sp>
        <p:nvSpPr>
          <p:cNvPr id="13" name="">
            <a:extLst xmlns:a="http://schemas.openxmlformats.org/drawingml/2006/main">
              <a:ext uri="{FF2B5EF4-FFF2-40B4-BE49-F238E27FC236}">
                <a16:creationId xmlns:a16="http://schemas.microsoft.com/office/drawing/2014/main" id="{F2191CB0-6754-4F9D-A40F-471A7E138AA8}"/>
              </a:ext>
            </a:extLst>
          </p:cNvPr>
          <p:cNvSpPr>
            <a:spLocks xmlns:a="http://schemas.openxmlformats.org/drawingml/2006/main" noGrp="1"/>
          </p:cNvSpPr>
          <p:nvPr/>
        </p:nvSpPr>
        <p:spPr>
          <a:xfrm xmlns:a="http://schemas.openxmlformats.org/drawingml/2006/main">
            <a:off x="7658100" y="4305300"/>
            <a:ext cx="3200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7E5F3"/>
                </a:solidFill>
                <a:latin typeface="Aptos"/>
                <a:ea typeface="Aptos"/>
                <a:cs typeface="Aptos"/>
              </a:defRPr>
            </a:pPr>
            <a:r>
              <a:rPr sz="900" b="0">
                <a:solidFill>
                  <a:srgbClr val="D7E5F3"/>
                </a:solidFill>
                <a:latin typeface="Aptos"/>
                <a:ea typeface="Aptos"/>
                <a:cs typeface="Aptos"/>
              </a:rPr>
              <a:t>Un pilote utile, encadré et lisible vaut mieux qu'un grand plan flou ou trop large dès le départ.</a:t>
            </a:r>
          </a:p>
        </p:txBody>
      </p:sp>
      <p:sp>
        <p:nvSpPr>
          <p:cNvPr id="14" name="">
            <a:extLst xmlns:a="http://schemas.openxmlformats.org/drawingml/2006/main">
              <a:ext uri="{FF2B5EF4-FFF2-40B4-BE49-F238E27FC236}">
                <a16:creationId xmlns:a16="http://schemas.microsoft.com/office/drawing/2014/main" id="{24AE0B6A-6B05-4134-A267-8181821EAEC3}"/>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B1DF189-B61E-4A22-85DD-9619E8478D24}"/>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16" name="">
            <a:extLst xmlns:a="http://schemas.openxmlformats.org/drawingml/2006/main">
              <a:ext uri="{FF2B5EF4-FFF2-40B4-BE49-F238E27FC236}">
                <a16:creationId xmlns:a16="http://schemas.microsoft.com/office/drawing/2014/main" id="{0B23CA2D-6DED-405D-99D4-B311D4849FCF}"/>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08</a:t>
            </a:r>
          </a:p>
        </p:txBody>
      </p:sp>
    </p:spTree>
    <p:extLst>
      <p:ext uri="{BB962C8B-B14F-4D97-AF65-F5344CB8AC3E}">
        <p14:creationId xmlns:p14="http://schemas.microsoft.com/office/powerpoint/2010/main" val="45850687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DB830C-507D-4AA2-B4AF-0968FBD6A4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2BA4327-350F-4271-8590-20D20EE481EF}"/>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DÉTAIL DES CAS D'USAGE</a:t>
            </a:r>
          </a:p>
        </p:txBody>
      </p:sp>
      <p:sp>
        <p:nvSpPr>
          <p:cNvPr id="3" name="">
            <a:extLst xmlns:a="http://schemas.openxmlformats.org/drawingml/2006/main">
              <a:ext uri="{FF2B5EF4-FFF2-40B4-BE49-F238E27FC236}">
                <a16:creationId xmlns:a16="http://schemas.microsoft.com/office/drawing/2014/main" id="{4A4D7084-3141-40DD-9AF8-18D5BAA6F76F}"/>
              </a:ext>
            </a:extLst>
          </p:cNvPr>
          <p:cNvSpPr>
            <a:spLocks xmlns:a="http://schemas.openxmlformats.org/drawingml/2006/main" noGrp="1"/>
          </p:cNvSpPr>
          <p:nvPr/>
        </p:nvSpPr>
        <p:spPr>
          <a:xfrm xmlns:a="http://schemas.openxmlformats.org/drawingml/2006/main">
            <a:off x="685800" y="819150"/>
            <a:ext cx="8001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deux premiers terrains à lancer rapidement</a:t>
            </a:r>
          </a:p>
        </p:txBody>
      </p:sp>
      <p:sp>
        <p:nvSpPr>
          <p:cNvPr id="4" name="">
            <a:extLst xmlns:a="http://schemas.openxmlformats.org/drawingml/2006/main">
              <a:ext uri="{FF2B5EF4-FFF2-40B4-BE49-F238E27FC236}">
                <a16:creationId xmlns:a16="http://schemas.microsoft.com/office/drawing/2014/main" id="{59B78F55-E31B-448C-AB7D-468435487163}"/>
              </a:ext>
            </a:extLst>
          </p:cNvPr>
          <p:cNvSpPr>
            <a:spLocks xmlns:a="http://schemas.openxmlformats.org/drawingml/2006/main" noGrp="1"/>
          </p:cNvSpPr>
          <p:nvPr/>
        </p:nvSpPr>
        <p:spPr>
          <a:xfrm xmlns:a="http://schemas.openxmlformats.org/drawingml/2006/main">
            <a:off x="685800" y="16764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Nous recommandons de démarrer par deux flux où la valeur est plus facile à rendre visible pour la direction : comptes professionnels et flotte / cartes carburant.</a:t>
            </a:r>
          </a:p>
        </p:txBody>
      </p:sp>
      <p:sp>
        <p:nvSpPr>
          <p:cNvPr id="5" name="">
            <a:extLst xmlns:a="http://schemas.openxmlformats.org/drawingml/2006/main">
              <a:ext uri="{FF2B5EF4-FFF2-40B4-BE49-F238E27FC236}">
                <a16:creationId xmlns:a16="http://schemas.microsoft.com/office/drawing/2014/main" id="{A4858FD4-EC43-48FB-997B-B0237215ADA1}"/>
              </a:ext>
            </a:extLst>
          </p:cNvPr>
          <p:cNvSpPr>
            <a:spLocks xmlns:a="http://schemas.openxmlformats.org/drawingml/2006/main" noGrp="1"/>
          </p:cNvSpPr>
          <p:nvPr/>
        </p:nvSpPr>
        <p:spPr>
          <a:xfrm xmlns:a="http://schemas.openxmlformats.org/drawingml/2006/main">
            <a:off x="685800" y="2171700"/>
            <a:ext cx="5143500" cy="3105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60D7F8E1-F7E2-4065-B6CD-EDD92372E45D}"/>
              </a:ext>
            </a:extLst>
          </p:cNvPr>
          <p:cNvSpPr>
            <a:spLocks xmlns:a="http://schemas.openxmlformats.org/drawingml/2006/main" noGrp="1"/>
          </p:cNvSpPr>
          <p:nvPr/>
        </p:nvSpPr>
        <p:spPr>
          <a:xfrm xmlns:a="http://schemas.openxmlformats.org/drawingml/2006/main">
            <a:off x="895350" y="236220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a331de90d7d4311">
            <a:extLst>
              <a:ext uri="{96DAC541-7B7A-43D3-8B79-37D633B846F1}">
                <asvg:svgBlip xmlns:asvg="http://schemas.microsoft.com/office/drawing/2016/SVG/main" r:embed="Rb6e480f2c5ba4bcc"/>
              </a:ext>
            </a:extLst>
          </a:blip>
          <a:stretch xmlns:a="http://schemas.openxmlformats.org/drawingml/2006/main"/>
        </p:blipFill>
        <p:spPr>
          <a:xfrm xmlns:a="http://schemas.openxmlformats.org/drawingml/2006/main">
            <a:off x="990600" y="245745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D7271EC-9BE8-4015-A1B2-4760D190441C}"/>
              </a:ext>
            </a:extLst>
          </p:cNvPr>
          <p:cNvSpPr>
            <a:spLocks xmlns:a="http://schemas.openxmlformats.org/drawingml/2006/main" noGrp="1"/>
          </p:cNvSpPr>
          <p:nvPr/>
        </p:nvSpPr>
        <p:spPr>
          <a:xfrm xmlns:a="http://schemas.openxmlformats.org/drawingml/2006/main">
            <a:off x="1428750" y="2362200"/>
            <a:ext cx="3905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Comptes professionnels et recouvrement</a:t>
            </a:r>
          </a:p>
        </p:txBody>
      </p:sp>
      <p:sp>
        <p:nvSpPr>
          <p:cNvPr id="9" name="">
            <a:extLst xmlns:a="http://schemas.openxmlformats.org/drawingml/2006/main">
              <a:ext uri="{FF2B5EF4-FFF2-40B4-BE49-F238E27FC236}">
                <a16:creationId xmlns:a16="http://schemas.microsoft.com/office/drawing/2014/main" id="{682A9BBD-1AAF-4C0D-A94A-A9B85A3DF49D}"/>
              </a:ext>
            </a:extLst>
          </p:cNvPr>
          <p:cNvSpPr>
            <a:spLocks xmlns:a="http://schemas.openxmlformats.org/drawingml/2006/main" noGrp="1"/>
          </p:cNvSpPr>
          <p:nvPr/>
        </p:nvSpPr>
        <p:spPr>
          <a:xfrm xmlns:a="http://schemas.openxmlformats.org/drawingml/2006/main">
            <a:off x="895350" y="285750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816FE564-124B-4D7E-8E3F-E3988605C1EB}"/>
              </a:ext>
            </a:extLst>
          </p:cNvPr>
          <p:cNvSpPr>
            <a:spLocks xmlns:a="http://schemas.openxmlformats.org/drawingml/2006/main" noGrp="1"/>
          </p:cNvSpPr>
          <p:nvPr/>
        </p:nvSpPr>
        <p:spPr>
          <a:xfrm xmlns:a="http://schemas.openxmlformats.org/drawingml/2006/main">
            <a:off x="895350" y="308610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relances préparées à la main</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revues de portefeuille longues à consolider</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informations dispersées entre mails, fichiers et historique commercial</a:t>
            </a:r>
          </a:p>
        </p:txBody>
      </p:sp>
      <p:sp>
        <p:nvSpPr>
          <p:cNvPr id="11" name="">
            <a:extLst xmlns:a="http://schemas.openxmlformats.org/drawingml/2006/main">
              <a:ext uri="{FF2B5EF4-FFF2-40B4-BE49-F238E27FC236}">
                <a16:creationId xmlns:a16="http://schemas.microsoft.com/office/drawing/2014/main" id="{D643A04B-F336-4E24-9D75-3278FFE5A46D}"/>
              </a:ext>
            </a:extLst>
          </p:cNvPr>
          <p:cNvSpPr>
            <a:spLocks xmlns:a="http://schemas.openxmlformats.org/drawingml/2006/main" noGrp="1"/>
          </p:cNvSpPr>
          <p:nvPr/>
        </p:nvSpPr>
        <p:spPr>
          <a:xfrm xmlns:a="http://schemas.openxmlformats.org/drawingml/2006/main">
            <a:off x="895350" y="398145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C8A78"/>
                </a:solidFill>
                <a:latin typeface="Aptos"/>
                <a:ea typeface="Aptos"/>
                <a:cs typeface="Aptos"/>
              </a:defRPr>
            </a:pPr>
            <a:r>
              <a:rPr sz="750"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9B97C752-5703-4087-9B91-5A3A6259FCD0}"/>
              </a:ext>
            </a:extLst>
          </p:cNvPr>
          <p:cNvSpPr>
            <a:spLocks xmlns:a="http://schemas.openxmlformats.org/drawingml/2006/main" noGrp="1"/>
          </p:cNvSpPr>
          <p:nvPr/>
        </p:nvSpPr>
        <p:spPr>
          <a:xfrm xmlns:a="http://schemas.openxmlformats.org/drawingml/2006/main">
            <a:off x="895350" y="421005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canevas de relance et brouillons assistés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synthèse de portefeuille pré-préparée pour les revues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signalement des comptes sensibles ou des échéances critiques</a:t>
            </a:r>
          </a:p>
        </p:txBody>
      </p:sp>
      <p:sp>
        <p:nvSpPr>
          <p:cNvPr id="13" name="">
            <a:extLst xmlns:a="http://schemas.openxmlformats.org/drawingml/2006/main">
              <a:ext uri="{FF2B5EF4-FFF2-40B4-BE49-F238E27FC236}">
                <a16:creationId xmlns:a16="http://schemas.microsoft.com/office/drawing/2014/main" id="{A6F89896-1255-4A91-99CA-14A8A4F77CE2}"/>
              </a:ext>
            </a:extLst>
          </p:cNvPr>
          <p:cNvSpPr>
            <a:spLocks xmlns:a="http://schemas.openxmlformats.org/drawingml/2006/main" noGrp="1"/>
          </p:cNvSpPr>
          <p:nvPr/>
        </p:nvSpPr>
        <p:spPr>
          <a:xfrm xmlns:a="http://schemas.openxmlformats.org/drawingml/2006/main">
            <a:off x="895350" y="4972050"/>
            <a:ext cx="4667250" cy="3810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01281A5D-8B75-417B-80C2-9B36C7158270}"/>
              </a:ext>
            </a:extLst>
          </p:cNvPr>
          <p:cNvSpPr>
            <a:spLocks xmlns:a="http://schemas.openxmlformats.org/drawingml/2006/main" noGrp="1"/>
          </p:cNvSpPr>
          <p:nvPr/>
        </p:nvSpPr>
        <p:spPr>
          <a:xfrm xmlns:a="http://schemas.openxmlformats.org/drawingml/2006/main">
            <a:off x="1047750" y="5086350"/>
            <a:ext cx="434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délai de relance | temps de préparation des revues | visibilité sur les encours en retard</a:t>
            </a:r>
          </a:p>
        </p:txBody>
      </p:sp>
      <p:sp>
        <p:nvSpPr>
          <p:cNvPr id="15" name="">
            <a:extLst xmlns:a="http://schemas.openxmlformats.org/drawingml/2006/main">
              <a:ext uri="{FF2B5EF4-FFF2-40B4-BE49-F238E27FC236}">
                <a16:creationId xmlns:a16="http://schemas.microsoft.com/office/drawing/2014/main" id="{3F767A70-A96F-4748-8391-7D33DBAC072D}"/>
              </a:ext>
            </a:extLst>
          </p:cNvPr>
          <p:cNvSpPr>
            <a:spLocks xmlns:a="http://schemas.openxmlformats.org/drawingml/2006/main" noGrp="1"/>
          </p:cNvSpPr>
          <p:nvPr/>
        </p:nvSpPr>
        <p:spPr>
          <a:xfrm xmlns:a="http://schemas.openxmlformats.org/drawingml/2006/main">
            <a:off x="6096000" y="2171700"/>
            <a:ext cx="5410200" cy="3105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6" name="">
            <a:extLst xmlns:a="http://schemas.openxmlformats.org/drawingml/2006/main">
              <a:ext uri="{FF2B5EF4-FFF2-40B4-BE49-F238E27FC236}">
                <a16:creationId xmlns:a16="http://schemas.microsoft.com/office/drawing/2014/main" id="{50422A0D-580D-4D41-B8CD-98518C89F0D2}"/>
              </a:ext>
            </a:extLst>
          </p:cNvPr>
          <p:cNvSpPr>
            <a:spLocks xmlns:a="http://schemas.openxmlformats.org/drawingml/2006/main" noGrp="1"/>
          </p:cNvSpPr>
          <p:nvPr/>
        </p:nvSpPr>
        <p:spPr>
          <a:xfrm xmlns:a="http://schemas.openxmlformats.org/drawingml/2006/main">
            <a:off x="6305550" y="236220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9c39e16712b46fe">
            <a:extLst>
              <a:ext uri="{96DAC541-7B7A-43D3-8B79-37D633B846F1}">
                <asvg:svgBlip xmlns:asvg="http://schemas.microsoft.com/office/drawing/2016/SVG/main" r:embed="Rea28586b22bf4085"/>
              </a:ext>
            </a:extLst>
          </a:blip>
          <a:stretch xmlns:a="http://schemas.openxmlformats.org/drawingml/2006/main"/>
        </p:blipFill>
        <p:spPr>
          <a:xfrm xmlns:a="http://schemas.openxmlformats.org/drawingml/2006/main">
            <a:off x="6400800" y="2457450"/>
            <a:ext cx="228600" cy="2286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47E6B76A-D455-42AD-AAA3-75E730A1D710}"/>
              </a:ext>
            </a:extLst>
          </p:cNvPr>
          <p:cNvSpPr>
            <a:spLocks xmlns:a="http://schemas.openxmlformats.org/drawingml/2006/main" noGrp="1"/>
          </p:cNvSpPr>
          <p:nvPr/>
        </p:nvSpPr>
        <p:spPr>
          <a:xfrm xmlns:a="http://schemas.openxmlformats.org/drawingml/2006/main">
            <a:off x="6838950" y="236220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Flotte, cartes carburant et consommation</a:t>
            </a:r>
          </a:p>
        </p:txBody>
      </p:sp>
      <p:sp>
        <p:nvSpPr>
          <p:cNvPr id="19" name="">
            <a:extLst xmlns:a="http://schemas.openxmlformats.org/drawingml/2006/main">
              <a:ext uri="{FF2B5EF4-FFF2-40B4-BE49-F238E27FC236}">
                <a16:creationId xmlns:a16="http://schemas.microsoft.com/office/drawing/2014/main" id="{F804563C-1C74-4F9D-B859-C29F16BAF1B7}"/>
              </a:ext>
            </a:extLst>
          </p:cNvPr>
          <p:cNvSpPr>
            <a:spLocks xmlns:a="http://schemas.openxmlformats.org/drawingml/2006/main" noGrp="1"/>
          </p:cNvSpPr>
          <p:nvPr/>
        </p:nvSpPr>
        <p:spPr>
          <a:xfrm xmlns:a="http://schemas.openxmlformats.org/drawingml/2006/main">
            <a:off x="6305550" y="285750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20" name="">
            <a:extLst xmlns:a="http://schemas.openxmlformats.org/drawingml/2006/main">
              <a:ext uri="{FF2B5EF4-FFF2-40B4-BE49-F238E27FC236}">
                <a16:creationId xmlns:a16="http://schemas.microsoft.com/office/drawing/2014/main" id="{8E361CCB-CB8C-4C70-B64B-3D8621013C4E}"/>
              </a:ext>
            </a:extLst>
          </p:cNvPr>
          <p:cNvSpPr>
            <a:spLocks xmlns:a="http://schemas.openxmlformats.org/drawingml/2006/main" noGrp="1"/>
          </p:cNvSpPr>
          <p:nvPr/>
        </p:nvSpPr>
        <p:spPr>
          <a:xfrm xmlns:a="http://schemas.openxmlformats.org/drawingml/2006/main">
            <a:off x="6305550" y="3086100"/>
            <a:ext cx="47434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reporting flotte et carburant peu harmonisé</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écarts détectés tardivement</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lecture difficile des coûts par site, véhicule ou période</a:t>
            </a:r>
          </a:p>
        </p:txBody>
      </p:sp>
      <p:sp>
        <p:nvSpPr>
          <p:cNvPr id="21" name="">
            <a:extLst xmlns:a="http://schemas.openxmlformats.org/drawingml/2006/main">
              <a:ext uri="{FF2B5EF4-FFF2-40B4-BE49-F238E27FC236}">
                <a16:creationId xmlns:a16="http://schemas.microsoft.com/office/drawing/2014/main" id="{6A4CC32F-E731-4A9F-8BC5-6DE765F10790}"/>
              </a:ext>
            </a:extLst>
          </p:cNvPr>
          <p:cNvSpPr>
            <a:spLocks xmlns:a="http://schemas.openxmlformats.org/drawingml/2006/main" noGrp="1"/>
          </p:cNvSpPr>
          <p:nvPr/>
        </p:nvSpPr>
        <p:spPr>
          <a:xfrm xmlns:a="http://schemas.openxmlformats.org/drawingml/2006/main">
            <a:off x="6305550" y="398145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C8A78"/>
                </a:solidFill>
                <a:latin typeface="Aptos"/>
                <a:ea typeface="Aptos"/>
                <a:cs typeface="Aptos"/>
              </a:defRPr>
            </a:pPr>
            <a:r>
              <a:rPr sz="750" b="1">
                <a:solidFill>
                  <a:srgbClr val="1C8A78"/>
                </a:solidFill>
                <a:latin typeface="Aptos"/>
                <a:ea typeface="Aptos"/>
                <a:cs typeface="Aptos"/>
              </a:rPr>
              <a:t>APRÈS</a:t>
            </a:r>
          </a:p>
        </p:txBody>
      </p:sp>
      <p:sp>
        <p:nvSpPr>
          <p:cNvPr id="22" name="">
            <a:extLst xmlns:a="http://schemas.openxmlformats.org/drawingml/2006/main">
              <a:ext uri="{FF2B5EF4-FFF2-40B4-BE49-F238E27FC236}">
                <a16:creationId xmlns:a16="http://schemas.microsoft.com/office/drawing/2014/main" id="{572CBE6D-1602-477F-BC70-3EB29B3D4D60}"/>
              </a:ext>
            </a:extLst>
          </p:cNvPr>
          <p:cNvSpPr>
            <a:spLocks xmlns:a="http://schemas.openxmlformats.org/drawingml/2006/main" noGrp="1"/>
          </p:cNvSpPr>
          <p:nvPr/>
        </p:nvSpPr>
        <p:spPr>
          <a:xfrm xmlns:a="http://schemas.openxmlformats.org/drawingml/2006/main">
            <a:off x="6305550" y="4210050"/>
            <a:ext cx="47434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tableau de bord consolidé</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alertes sur anomalies de consommation</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comparatifs plus simples pour arbitrer et commenter les écarts</a:t>
            </a:r>
          </a:p>
        </p:txBody>
      </p:sp>
      <p:sp>
        <p:nvSpPr>
          <p:cNvPr id="23" name="">
            <a:extLst xmlns:a="http://schemas.openxmlformats.org/drawingml/2006/main">
              <a:ext uri="{FF2B5EF4-FFF2-40B4-BE49-F238E27FC236}">
                <a16:creationId xmlns:a16="http://schemas.microsoft.com/office/drawing/2014/main" id="{45D112C0-7332-4AC7-ADD3-7B38551496B1}"/>
              </a:ext>
            </a:extLst>
          </p:cNvPr>
          <p:cNvSpPr>
            <a:spLocks xmlns:a="http://schemas.openxmlformats.org/drawingml/2006/main" noGrp="1"/>
          </p:cNvSpPr>
          <p:nvPr/>
        </p:nvSpPr>
        <p:spPr>
          <a:xfrm xmlns:a="http://schemas.openxmlformats.org/drawingml/2006/main">
            <a:off x="6305550" y="4972050"/>
            <a:ext cx="4743450" cy="3810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4" name="">
            <a:extLst xmlns:a="http://schemas.openxmlformats.org/drawingml/2006/main">
              <a:ext uri="{FF2B5EF4-FFF2-40B4-BE49-F238E27FC236}">
                <a16:creationId xmlns:a16="http://schemas.microsoft.com/office/drawing/2014/main" id="{E6AC8724-44FB-4E94-9A8C-D28712D77899}"/>
              </a:ext>
            </a:extLst>
          </p:cNvPr>
          <p:cNvSpPr>
            <a:spLocks xmlns:a="http://schemas.openxmlformats.org/drawingml/2006/main" noGrp="1"/>
          </p:cNvSpPr>
          <p:nvPr/>
        </p:nvSpPr>
        <p:spPr>
          <a:xfrm xmlns:a="http://schemas.openxmlformats.org/drawingml/2006/main">
            <a:off x="6457950" y="5086350"/>
            <a:ext cx="44386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temps de production du reporting | anomalies détectées | variation du coût carburant</a:t>
            </a:r>
          </a:p>
        </p:txBody>
      </p:sp>
      <p:sp>
        <p:nvSpPr>
          <p:cNvPr id="25" name="">
            <a:extLst xmlns:a="http://schemas.openxmlformats.org/drawingml/2006/main">
              <a:ext uri="{FF2B5EF4-FFF2-40B4-BE49-F238E27FC236}">
                <a16:creationId xmlns:a16="http://schemas.microsoft.com/office/drawing/2014/main" id="{6BC52419-96D0-420B-9F62-DB7A4D378264}"/>
              </a:ext>
            </a:extLst>
          </p:cNvPr>
          <p:cNvSpPr>
            <a:spLocks xmlns:a="http://schemas.openxmlformats.org/drawingml/2006/main" noGrp="1"/>
          </p:cNvSpPr>
          <p:nvPr/>
        </p:nvSpPr>
        <p:spPr>
          <a:xfrm xmlns:a="http://schemas.openxmlformats.org/drawingml/2006/main">
            <a:off x="685800" y="5619750"/>
            <a:ext cx="10820400" cy="5143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26" name="">
            <a:extLst xmlns:a="http://schemas.openxmlformats.org/drawingml/2006/main">
              <a:ext uri="{FF2B5EF4-FFF2-40B4-BE49-F238E27FC236}">
                <a16:creationId xmlns:a16="http://schemas.microsoft.com/office/drawing/2014/main" id="{F700578D-6E96-4D7A-913F-4B0E2768168C}"/>
              </a:ext>
            </a:extLst>
          </p:cNvPr>
          <p:cNvSpPr>
            <a:spLocks xmlns:a="http://schemas.openxmlformats.org/drawingml/2006/main" noGrp="1"/>
          </p:cNvSpPr>
          <p:nvPr/>
        </p:nvSpPr>
        <p:spPr>
          <a:xfrm xmlns:a="http://schemas.openxmlformats.org/drawingml/2006/main">
            <a:off x="914400" y="5772150"/>
            <a:ext cx="1036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Ces deux flux ont un avantage : ils parlent à la fois à la direction, aux opérations et aux équipes métier. Ils permettent donc de montrer très vite une valeur concrète, sans promettre une transformation trop large dès le départ.</a:t>
            </a:r>
          </a:p>
        </p:txBody>
      </p:sp>
      <p:sp>
        <p:nvSpPr>
          <p:cNvPr id="27" name="">
            <a:extLst xmlns:a="http://schemas.openxmlformats.org/drawingml/2006/main">
              <a:ext uri="{FF2B5EF4-FFF2-40B4-BE49-F238E27FC236}">
                <a16:creationId xmlns:a16="http://schemas.microsoft.com/office/drawing/2014/main" id="{9001158B-7962-4372-A1C2-CEAE8A9765CD}"/>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268A18F-EEC1-4AB0-A216-F143A67DF2D0}"/>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29" name="">
            <a:extLst xmlns:a="http://schemas.openxmlformats.org/drawingml/2006/main">
              <a:ext uri="{FF2B5EF4-FFF2-40B4-BE49-F238E27FC236}">
                <a16:creationId xmlns:a16="http://schemas.microsoft.com/office/drawing/2014/main" id="{C06C7996-5CF0-4CD9-AE8B-70FE417876CB}"/>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09</a:t>
            </a:r>
          </a:p>
        </p:txBody>
      </p:sp>
    </p:spTree>
    <p:extLst>
      <p:ext uri="{BB962C8B-B14F-4D97-AF65-F5344CB8AC3E}">
        <p14:creationId xmlns:p14="http://schemas.microsoft.com/office/powerpoint/2010/main" val="199631602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5FCBC1-1126-4875-B7D4-A81905D7C2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0B7E3E6-4AA3-4F1E-87D9-8098EBF8442B}"/>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DÉTAIL DES CAS D'USAGE</a:t>
            </a:r>
          </a:p>
        </p:txBody>
      </p:sp>
      <p:sp>
        <p:nvSpPr>
          <p:cNvPr id="3" name="">
            <a:extLst xmlns:a="http://schemas.openxmlformats.org/drawingml/2006/main">
              <a:ext uri="{FF2B5EF4-FFF2-40B4-BE49-F238E27FC236}">
                <a16:creationId xmlns:a16="http://schemas.microsoft.com/office/drawing/2014/main" id="{B1C8ECB0-69B0-487A-B62B-D5F2886A03CF}"/>
              </a:ext>
            </a:extLst>
          </p:cNvPr>
          <p:cNvSpPr>
            <a:spLocks xmlns:a="http://schemas.openxmlformats.org/drawingml/2006/main" noGrp="1"/>
          </p:cNvSpPr>
          <p:nvPr/>
        </p:nvSpPr>
        <p:spPr>
          <a:xfrm xmlns:a="http://schemas.openxmlformats.org/drawingml/2006/main">
            <a:off x="685800" y="819150"/>
            <a:ext cx="9334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cas d'usage qui renforcent la qualité de service et la standardisation</a:t>
            </a:r>
          </a:p>
        </p:txBody>
      </p:sp>
      <p:sp>
        <p:nvSpPr>
          <p:cNvPr id="4" name="">
            <a:extLst xmlns:a="http://schemas.openxmlformats.org/drawingml/2006/main">
              <a:ext uri="{FF2B5EF4-FFF2-40B4-BE49-F238E27FC236}">
                <a16:creationId xmlns:a16="http://schemas.microsoft.com/office/drawing/2014/main" id="{55C2B428-6BA1-49C5-9B18-FFCA337E07D6}"/>
              </a:ext>
            </a:extLst>
          </p:cNvPr>
          <p:cNvSpPr>
            <a:spLocks xmlns:a="http://schemas.openxmlformats.org/drawingml/2006/main" noGrp="1"/>
          </p:cNvSpPr>
          <p:nvPr/>
        </p:nvSpPr>
        <p:spPr>
          <a:xfrm xmlns:a="http://schemas.openxmlformats.org/drawingml/2006/main">
            <a:off x="685800" y="1676400"/>
            <a:ext cx="914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Ces deux usages rendent aussi la formation plus crédible : on apprend sur des situations réelles, pas sur des exemples génériques.</a:t>
            </a:r>
          </a:p>
        </p:txBody>
      </p:sp>
      <p:sp>
        <p:nvSpPr>
          <p:cNvPr id="5" name="">
            <a:extLst xmlns:a="http://schemas.openxmlformats.org/drawingml/2006/main">
              <a:ext uri="{FF2B5EF4-FFF2-40B4-BE49-F238E27FC236}">
                <a16:creationId xmlns:a16="http://schemas.microsoft.com/office/drawing/2014/main" id="{4AD2FC28-B2FC-4442-9DE2-0759A98D1D01}"/>
              </a:ext>
            </a:extLst>
          </p:cNvPr>
          <p:cNvSpPr>
            <a:spLocks xmlns:a="http://schemas.openxmlformats.org/drawingml/2006/main" noGrp="1"/>
          </p:cNvSpPr>
          <p:nvPr/>
        </p:nvSpPr>
        <p:spPr>
          <a:xfrm xmlns:a="http://schemas.openxmlformats.org/drawingml/2006/main">
            <a:off x="685800" y="2171700"/>
            <a:ext cx="5143500" cy="2933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13B814F2-C3D2-4496-A0CE-A57CB5EB4572}"/>
              </a:ext>
            </a:extLst>
          </p:cNvPr>
          <p:cNvSpPr>
            <a:spLocks xmlns:a="http://schemas.openxmlformats.org/drawingml/2006/main" noGrp="1"/>
          </p:cNvSpPr>
          <p:nvPr/>
        </p:nvSpPr>
        <p:spPr>
          <a:xfrm xmlns:a="http://schemas.openxmlformats.org/drawingml/2006/main">
            <a:off x="895350" y="236220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841f53257954689">
            <a:extLst>
              <a:ext uri="{96DAC541-7B7A-43D3-8B79-37D633B846F1}">
                <asvg:svgBlip xmlns:asvg="http://schemas.microsoft.com/office/drawing/2016/SVG/main" r:embed="Ree21aadf76554f58"/>
              </a:ext>
            </a:extLst>
          </a:blip>
          <a:stretch xmlns:a="http://schemas.openxmlformats.org/drawingml/2006/main"/>
        </p:blipFill>
        <p:spPr>
          <a:xfrm xmlns:a="http://schemas.openxmlformats.org/drawingml/2006/main">
            <a:off x="990600" y="245745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FEB272E-B5F6-4151-BAE8-76E28E4B610C}"/>
              </a:ext>
            </a:extLst>
          </p:cNvPr>
          <p:cNvSpPr>
            <a:spLocks xmlns:a="http://schemas.openxmlformats.org/drawingml/2006/main" noGrp="1"/>
          </p:cNvSpPr>
          <p:nvPr/>
        </p:nvSpPr>
        <p:spPr>
          <a:xfrm xmlns:a="http://schemas.openxmlformats.org/drawingml/2006/main">
            <a:off x="1428750" y="2362200"/>
            <a:ext cx="3714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Service client / service auto</a:t>
            </a:r>
          </a:p>
        </p:txBody>
      </p:sp>
      <p:sp>
        <p:nvSpPr>
          <p:cNvPr id="9" name="">
            <a:extLst xmlns:a="http://schemas.openxmlformats.org/drawingml/2006/main">
              <a:ext uri="{FF2B5EF4-FFF2-40B4-BE49-F238E27FC236}">
                <a16:creationId xmlns:a16="http://schemas.microsoft.com/office/drawing/2014/main" id="{2B505693-7B94-46D8-902A-1B2B1FC63721}"/>
              </a:ext>
            </a:extLst>
          </p:cNvPr>
          <p:cNvSpPr>
            <a:spLocks xmlns:a="http://schemas.openxmlformats.org/drawingml/2006/main" noGrp="1"/>
          </p:cNvSpPr>
          <p:nvPr/>
        </p:nvSpPr>
        <p:spPr>
          <a:xfrm xmlns:a="http://schemas.openxmlformats.org/drawingml/2006/main">
            <a:off x="895350" y="285750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Usages proposés</a:t>
            </a:r>
          </a:p>
        </p:txBody>
      </p:sp>
      <p:sp>
        <p:nvSpPr>
          <p:cNvPr id="10" name="">
            <a:extLst xmlns:a="http://schemas.openxmlformats.org/drawingml/2006/main">
              <a:ext uri="{FF2B5EF4-FFF2-40B4-BE49-F238E27FC236}">
                <a16:creationId xmlns:a16="http://schemas.microsoft.com/office/drawing/2014/main" id="{0F11C4FB-F7FF-41CC-9EDC-9F0750D921A5}"/>
              </a:ext>
            </a:extLst>
          </p:cNvPr>
          <p:cNvSpPr>
            <a:spLocks xmlns:a="http://schemas.openxmlformats.org/drawingml/2006/main" noGrp="1"/>
          </p:cNvSpPr>
          <p:nvPr/>
        </p:nvSpPr>
        <p:spPr>
          <a:xfrm xmlns:a="http://schemas.openxmlformats.org/drawingml/2006/main">
            <a:off x="895350" y="3086100"/>
            <a:ext cx="43434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FAQ assistée pour les questions récurrentes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canevas de réponse ou de rappel</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historique d'interactions mieux exploitable</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synthèses rapides avant rappel ou traitement</a:t>
            </a:r>
          </a:p>
        </p:txBody>
      </p:sp>
      <p:sp>
        <p:nvSpPr>
          <p:cNvPr id="11" name="">
            <a:extLst xmlns:a="http://schemas.openxmlformats.org/drawingml/2006/main">
              <a:ext uri="{FF2B5EF4-FFF2-40B4-BE49-F238E27FC236}">
                <a16:creationId xmlns:a16="http://schemas.microsoft.com/office/drawing/2014/main" id="{47CFB965-642B-4852-881F-286CD56A5172}"/>
              </a:ext>
            </a:extLst>
          </p:cNvPr>
          <p:cNvSpPr>
            <a:spLocks xmlns:a="http://schemas.openxmlformats.org/drawingml/2006/main" noGrp="1"/>
          </p:cNvSpPr>
          <p:nvPr/>
        </p:nvSpPr>
        <p:spPr>
          <a:xfrm xmlns:a="http://schemas.openxmlformats.org/drawingml/2006/main">
            <a:off x="895350" y="4114800"/>
            <a:ext cx="4667250" cy="8001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2" name="">
            <a:extLst xmlns:a="http://schemas.openxmlformats.org/drawingml/2006/main">
              <a:ext uri="{FF2B5EF4-FFF2-40B4-BE49-F238E27FC236}">
                <a16:creationId xmlns:a16="http://schemas.microsoft.com/office/drawing/2014/main" id="{225ABEDA-1D43-43CA-BCC9-85363F1C7152}"/>
              </a:ext>
            </a:extLst>
          </p:cNvPr>
          <p:cNvSpPr>
            <a:spLocks xmlns:a="http://schemas.openxmlformats.org/drawingml/2006/main" noGrp="1"/>
          </p:cNvSpPr>
          <p:nvPr/>
        </p:nvSpPr>
        <p:spPr>
          <a:xfrm xmlns:a="http://schemas.openxmlformats.org/drawingml/2006/main">
            <a:off x="1066800" y="4362450"/>
            <a:ext cx="4286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délai de réponse | qualité perçue | taux de réouverture / relance | standardisation des scripts</a:t>
            </a:r>
          </a:p>
        </p:txBody>
      </p:sp>
      <p:sp>
        <p:nvSpPr>
          <p:cNvPr id="13" name="">
            <a:extLst xmlns:a="http://schemas.openxmlformats.org/drawingml/2006/main">
              <a:ext uri="{FF2B5EF4-FFF2-40B4-BE49-F238E27FC236}">
                <a16:creationId xmlns:a16="http://schemas.microsoft.com/office/drawing/2014/main" id="{7968C911-7EB5-45CC-A87F-516481F7DD4A}"/>
              </a:ext>
            </a:extLst>
          </p:cNvPr>
          <p:cNvSpPr>
            <a:spLocks xmlns:a="http://schemas.openxmlformats.org/drawingml/2006/main" noGrp="1"/>
          </p:cNvSpPr>
          <p:nvPr/>
        </p:nvSpPr>
        <p:spPr>
          <a:xfrm xmlns:a="http://schemas.openxmlformats.org/drawingml/2006/main">
            <a:off x="6096000" y="2171700"/>
            <a:ext cx="5410200" cy="2933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1CB37773-13EB-4F46-BFAE-98D9587E49B7}"/>
              </a:ext>
            </a:extLst>
          </p:cNvPr>
          <p:cNvSpPr>
            <a:spLocks xmlns:a="http://schemas.openxmlformats.org/drawingml/2006/main" noGrp="1"/>
          </p:cNvSpPr>
          <p:nvPr/>
        </p:nvSpPr>
        <p:spPr>
          <a:xfrm xmlns:a="http://schemas.openxmlformats.org/drawingml/2006/main">
            <a:off x="6305550" y="236220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9b15cba68464513">
            <a:extLst>
              <a:ext uri="{96DAC541-7B7A-43D3-8B79-37D633B846F1}">
                <asvg:svgBlip xmlns:asvg="http://schemas.microsoft.com/office/drawing/2016/SVG/main" r:embed="Rfa2728fd85f74aa9"/>
              </a:ext>
            </a:extLst>
          </a:blip>
          <a:stretch xmlns:a="http://schemas.openxmlformats.org/drawingml/2006/main"/>
        </p:blipFill>
        <p:spPr>
          <a:xfrm xmlns:a="http://schemas.openxmlformats.org/drawingml/2006/main">
            <a:off x="6400800" y="245745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3EF26C8-2F4D-4861-A398-970CF293957A}"/>
              </a:ext>
            </a:extLst>
          </p:cNvPr>
          <p:cNvSpPr>
            <a:spLocks xmlns:a="http://schemas.openxmlformats.org/drawingml/2006/main" noGrp="1"/>
          </p:cNvSpPr>
          <p:nvPr/>
        </p:nvSpPr>
        <p:spPr>
          <a:xfrm xmlns:a="http://schemas.openxmlformats.org/drawingml/2006/main">
            <a:off x="6838950" y="2362200"/>
            <a:ext cx="4114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Procédures internes et base de connaissances</a:t>
            </a:r>
          </a:p>
        </p:txBody>
      </p:sp>
      <p:sp>
        <p:nvSpPr>
          <p:cNvPr id="17" name="">
            <a:extLst xmlns:a="http://schemas.openxmlformats.org/drawingml/2006/main">
              <a:ext uri="{FF2B5EF4-FFF2-40B4-BE49-F238E27FC236}">
                <a16:creationId xmlns:a16="http://schemas.microsoft.com/office/drawing/2014/main" id="{A0CD828F-F045-4C8B-86B4-80DFD60B11DA}"/>
              </a:ext>
            </a:extLst>
          </p:cNvPr>
          <p:cNvSpPr>
            <a:spLocks xmlns:a="http://schemas.openxmlformats.org/drawingml/2006/main" noGrp="1"/>
          </p:cNvSpPr>
          <p:nvPr/>
        </p:nvSpPr>
        <p:spPr>
          <a:xfrm xmlns:a="http://schemas.openxmlformats.org/drawingml/2006/main">
            <a:off x="6305550" y="285750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Usages proposés</a:t>
            </a:r>
          </a:p>
        </p:txBody>
      </p:sp>
      <p:sp>
        <p:nvSpPr>
          <p:cNvPr id="18" name="">
            <a:extLst xmlns:a="http://schemas.openxmlformats.org/drawingml/2006/main">
              <a:ext uri="{FF2B5EF4-FFF2-40B4-BE49-F238E27FC236}">
                <a16:creationId xmlns:a16="http://schemas.microsoft.com/office/drawing/2014/main" id="{E8C07FC1-03A3-4985-A252-DFB9BE92B07E}"/>
              </a:ext>
            </a:extLst>
          </p:cNvPr>
          <p:cNvSpPr>
            <a:spLocks xmlns:a="http://schemas.openxmlformats.org/drawingml/2006/main" noGrp="1"/>
          </p:cNvSpPr>
          <p:nvPr/>
        </p:nvSpPr>
        <p:spPr>
          <a:xfrm xmlns:a="http://schemas.openxmlformats.org/drawingml/2006/main">
            <a:off x="6305550" y="3086100"/>
            <a:ext cx="46672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base de procédures consultable rapidement</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réponses homogènes pour les équipes support et métier</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onboarding accéléré sur les standards, scripts et points de contrôle</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diffusion plus simple des mises à jour internes</a:t>
            </a:r>
          </a:p>
        </p:txBody>
      </p:sp>
      <p:sp>
        <p:nvSpPr>
          <p:cNvPr id="19" name="">
            <a:extLst xmlns:a="http://schemas.openxmlformats.org/drawingml/2006/main">
              <a:ext uri="{FF2B5EF4-FFF2-40B4-BE49-F238E27FC236}">
                <a16:creationId xmlns:a16="http://schemas.microsoft.com/office/drawing/2014/main" id="{FFDE5574-7A3A-4AFF-B470-53EC8395E7D1}"/>
              </a:ext>
            </a:extLst>
          </p:cNvPr>
          <p:cNvSpPr>
            <a:spLocks xmlns:a="http://schemas.openxmlformats.org/drawingml/2006/main" noGrp="1"/>
          </p:cNvSpPr>
          <p:nvPr/>
        </p:nvSpPr>
        <p:spPr>
          <a:xfrm xmlns:a="http://schemas.openxmlformats.org/drawingml/2006/main">
            <a:off x="6305550" y="4114800"/>
            <a:ext cx="4743450" cy="8001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0" name="">
            <a:extLst xmlns:a="http://schemas.openxmlformats.org/drawingml/2006/main">
              <a:ext uri="{FF2B5EF4-FFF2-40B4-BE49-F238E27FC236}">
                <a16:creationId xmlns:a16="http://schemas.microsoft.com/office/drawing/2014/main" id="{DA108B64-FD0E-416D-B143-9E6EFA3D4FEE}"/>
              </a:ext>
            </a:extLst>
          </p:cNvPr>
          <p:cNvSpPr>
            <a:spLocks xmlns:a="http://schemas.openxmlformats.org/drawingml/2006/main" noGrp="1"/>
          </p:cNvSpPr>
          <p:nvPr/>
        </p:nvSpPr>
        <p:spPr>
          <a:xfrm xmlns:a="http://schemas.openxmlformats.org/drawingml/2006/main">
            <a:off x="6477000" y="4362450"/>
            <a:ext cx="4381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temps de recherche d'information | temps d'onboarding | taux d'usage de la base interne</a:t>
            </a:r>
          </a:p>
        </p:txBody>
      </p:sp>
      <p:sp>
        <p:nvSpPr>
          <p:cNvPr id="21" name="">
            <a:extLst xmlns:a="http://schemas.openxmlformats.org/drawingml/2006/main">
              <a:ext uri="{FF2B5EF4-FFF2-40B4-BE49-F238E27FC236}">
                <a16:creationId xmlns:a16="http://schemas.microsoft.com/office/drawing/2014/main" id="{6DD0A785-E6AE-4785-B30D-D696B2EE1285}"/>
              </a:ext>
            </a:extLst>
          </p:cNvPr>
          <p:cNvSpPr>
            <a:spLocks xmlns:a="http://schemas.openxmlformats.org/drawingml/2006/main" noGrp="1"/>
          </p:cNvSpPr>
          <p:nvPr/>
        </p:nvSpPr>
        <p:spPr>
          <a:xfrm xmlns:a="http://schemas.openxmlformats.org/drawingml/2006/main">
            <a:off x="685800" y="5391150"/>
            <a:ext cx="10820400" cy="7620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22" name="">
            <a:extLst xmlns:a="http://schemas.openxmlformats.org/drawingml/2006/main">
              <a:ext uri="{FF2B5EF4-FFF2-40B4-BE49-F238E27FC236}">
                <a16:creationId xmlns:a16="http://schemas.microsoft.com/office/drawing/2014/main" id="{E3F186FE-44F3-464D-AC6C-831AC6B233A3}"/>
              </a:ext>
            </a:extLst>
          </p:cNvPr>
          <p:cNvSpPr>
            <a:spLocks xmlns:a="http://schemas.openxmlformats.org/drawingml/2006/main" noGrp="1"/>
          </p:cNvSpPr>
          <p:nvPr/>
        </p:nvSpPr>
        <p:spPr>
          <a:xfrm xmlns:a="http://schemas.openxmlformats.org/drawingml/2006/main">
            <a:off x="914400" y="5581650"/>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DF5EF"/>
                </a:solidFill>
                <a:latin typeface="Aptos"/>
                <a:ea typeface="Aptos"/>
                <a:cs typeface="Aptos"/>
              </a:defRPr>
            </a:pPr>
            <a:r>
              <a:rPr sz="750" b="1">
                <a:solidFill>
                  <a:srgbClr val="DDF5EF"/>
                </a:solidFill>
                <a:latin typeface="Aptos"/>
                <a:ea typeface="Aptos"/>
                <a:cs typeface="Aptos"/>
              </a:rPr>
              <a:t>Pourquoi cette slide compte</a:t>
            </a:r>
          </a:p>
        </p:txBody>
      </p:sp>
      <p:sp>
        <p:nvSpPr>
          <p:cNvPr id="23" name="">
            <a:extLst xmlns:a="http://schemas.openxmlformats.org/drawingml/2006/main">
              <a:ext uri="{FF2B5EF4-FFF2-40B4-BE49-F238E27FC236}">
                <a16:creationId xmlns:a16="http://schemas.microsoft.com/office/drawing/2014/main" id="{23E94ABE-7E3D-4F33-A1C5-6446D8CC1363}"/>
              </a:ext>
            </a:extLst>
          </p:cNvPr>
          <p:cNvSpPr>
            <a:spLocks xmlns:a="http://schemas.openxmlformats.org/drawingml/2006/main" noGrp="1"/>
          </p:cNvSpPr>
          <p:nvPr/>
        </p:nvSpPr>
        <p:spPr>
          <a:xfrm xmlns:a="http://schemas.openxmlformats.org/drawingml/2006/main">
            <a:off x="914400" y="5791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La formation devient crédible quand elle prépare des usages visibles.</a:t>
            </a:r>
          </a:p>
        </p:txBody>
      </p:sp>
      <p:sp>
        <p:nvSpPr>
          <p:cNvPr id="24" name="">
            <a:extLst xmlns:a="http://schemas.openxmlformats.org/drawingml/2006/main">
              <a:ext uri="{FF2B5EF4-FFF2-40B4-BE49-F238E27FC236}">
                <a16:creationId xmlns:a16="http://schemas.microsoft.com/office/drawing/2014/main" id="{375BD2AA-529F-4123-B57D-6BB38CBB0A5A}"/>
              </a:ext>
            </a:extLst>
          </p:cNvPr>
          <p:cNvSpPr>
            <a:spLocks xmlns:a="http://schemas.openxmlformats.org/drawingml/2006/main" noGrp="1"/>
          </p:cNvSpPr>
          <p:nvPr/>
        </p:nvSpPr>
        <p:spPr>
          <a:xfrm xmlns:a="http://schemas.openxmlformats.org/drawingml/2006/main">
            <a:off x="6667500" y="5734050"/>
            <a:ext cx="4476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Cela permet d'éviter un discours abstrait : les équipes voient tout de suite sur quels gestes métier l'IA doit les aider.</a:t>
            </a:r>
          </a:p>
        </p:txBody>
      </p:sp>
      <p:sp>
        <p:nvSpPr>
          <p:cNvPr id="25" name="">
            <a:extLst xmlns:a="http://schemas.openxmlformats.org/drawingml/2006/main">
              <a:ext uri="{FF2B5EF4-FFF2-40B4-BE49-F238E27FC236}">
                <a16:creationId xmlns:a16="http://schemas.microsoft.com/office/drawing/2014/main" id="{D78D565B-CFB6-4DA8-B36F-E08F485406AC}"/>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BA8BC90-6CCF-407D-A96D-F9F9EF5BF8FE}"/>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27" name="">
            <a:extLst xmlns:a="http://schemas.openxmlformats.org/drawingml/2006/main">
              <a:ext uri="{FF2B5EF4-FFF2-40B4-BE49-F238E27FC236}">
                <a16:creationId xmlns:a16="http://schemas.microsoft.com/office/drawing/2014/main" id="{BD18B760-B0D6-4D94-AD24-C25E974FD0F4}"/>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10</a:t>
            </a:r>
          </a:p>
        </p:txBody>
      </p:sp>
    </p:spTree>
    <p:extLst>
      <p:ext uri="{BB962C8B-B14F-4D97-AF65-F5344CB8AC3E}">
        <p14:creationId xmlns:p14="http://schemas.microsoft.com/office/powerpoint/2010/main" val="59856322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F73BE9-6FEE-4CB8-8B33-41D691A26E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FA015C8-89AE-44E5-8DAD-407058C00EF8}"/>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PARCOURS 90 JOURS</a:t>
            </a:r>
          </a:p>
        </p:txBody>
      </p:sp>
      <p:sp>
        <p:nvSpPr>
          <p:cNvPr id="3" name="">
            <a:extLst xmlns:a="http://schemas.openxmlformats.org/drawingml/2006/main">
              <a:ext uri="{FF2B5EF4-FFF2-40B4-BE49-F238E27FC236}">
                <a16:creationId xmlns:a16="http://schemas.microsoft.com/office/drawing/2014/main" id="{8D4CFEC2-2EE5-4F75-AAA4-C6ACADD61BC6}"/>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séquence recommandée pour passer du cadrage au pilote</a:t>
            </a:r>
          </a:p>
        </p:txBody>
      </p:sp>
      <p:sp>
        <p:nvSpPr>
          <p:cNvPr id="4" name="">
            <a:extLst xmlns:a="http://schemas.openxmlformats.org/drawingml/2006/main">
              <a:ext uri="{FF2B5EF4-FFF2-40B4-BE49-F238E27FC236}">
                <a16:creationId xmlns:a16="http://schemas.microsoft.com/office/drawing/2014/main" id="{9D75ACCB-EAC7-4080-A537-C1F79377D6B7}"/>
              </a:ext>
            </a:extLst>
          </p:cNvPr>
          <p:cNvSpPr>
            <a:spLocks xmlns:a="http://schemas.openxmlformats.org/drawingml/2006/main" noGrp="1"/>
          </p:cNvSpPr>
          <p:nvPr/>
        </p:nvSpPr>
        <p:spPr>
          <a:xfrm xmlns:a="http://schemas.openxmlformats.org/drawingml/2006/main">
            <a:off x="685800" y="1676400"/>
            <a:ext cx="8953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Le bon scénario n'est pas de tout vendre d'un bloc, mais d'enchaîner les étapes utiles dans le bon ordre, avec validation à chaque palier.</a:t>
            </a:r>
          </a:p>
        </p:txBody>
      </p:sp>
      <p:sp>
        <p:nvSpPr>
          <p:cNvPr id="5" name="">
            <a:extLst xmlns:a="http://schemas.openxmlformats.org/drawingml/2006/main">
              <a:ext uri="{FF2B5EF4-FFF2-40B4-BE49-F238E27FC236}">
                <a16:creationId xmlns:a16="http://schemas.microsoft.com/office/drawing/2014/main" id="{F35D2D5F-6172-4156-BF8B-A8659A23AA5F}"/>
              </a:ext>
            </a:extLst>
          </p:cNvPr>
          <p:cNvSpPr>
            <a:spLocks xmlns:a="http://schemas.openxmlformats.org/drawingml/2006/main" noGrp="1"/>
          </p:cNvSpPr>
          <p:nvPr/>
        </p:nvSpPr>
        <p:spPr>
          <a:xfrm xmlns:a="http://schemas.openxmlformats.org/drawingml/2006/main">
            <a:off x="685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F8B6388C-2B71-4759-AE83-702F4B774314}"/>
              </a:ext>
            </a:extLst>
          </p:cNvPr>
          <p:cNvSpPr>
            <a:spLocks xmlns:a="http://schemas.openxmlformats.org/drawingml/2006/main" noGrp="1"/>
          </p:cNvSpPr>
          <p:nvPr/>
        </p:nvSpPr>
        <p:spPr>
          <a:xfrm xmlns:a="http://schemas.openxmlformats.org/drawingml/2006/main">
            <a:off x="857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E76F1D"/>
                </a:solidFill>
                <a:latin typeface="Aptos Display"/>
                <a:ea typeface="Aptos Display"/>
                <a:cs typeface="Aptos Display"/>
              </a:defRPr>
            </a:pPr>
            <a:r>
              <a:rPr sz="1500" b="1">
                <a:solidFill>
                  <a:srgbClr val="E76F1D"/>
                </a:solidFill>
                <a:latin typeface="Aptos Display"/>
                <a:ea typeface="Aptos Display"/>
                <a:cs typeface="Aptos Display"/>
              </a:rPr>
              <a:t>01</a:t>
            </a:r>
          </a:p>
        </p:txBody>
      </p:sp>
      <p:sp>
        <p:nvSpPr>
          <p:cNvPr id="7" name="">
            <a:extLst xmlns:a="http://schemas.openxmlformats.org/drawingml/2006/main">
              <a:ext uri="{FF2B5EF4-FFF2-40B4-BE49-F238E27FC236}">
                <a16:creationId xmlns:a16="http://schemas.microsoft.com/office/drawing/2014/main" id="{228FCDCA-AC95-45B9-A1F7-75D106FC0FDD}"/>
              </a:ext>
            </a:extLst>
          </p:cNvPr>
          <p:cNvSpPr>
            <a:spLocks xmlns:a="http://schemas.openxmlformats.org/drawingml/2006/main" noGrp="1"/>
          </p:cNvSpPr>
          <p:nvPr/>
        </p:nvSpPr>
        <p:spPr>
          <a:xfrm xmlns:a="http://schemas.openxmlformats.org/drawingml/2006/main">
            <a:off x="857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J+0 | Audit et cadrage</a:t>
            </a:r>
          </a:p>
        </p:txBody>
      </p:sp>
      <p:sp>
        <p:nvSpPr>
          <p:cNvPr id="8" name="">
            <a:extLst xmlns:a="http://schemas.openxmlformats.org/drawingml/2006/main">
              <a:ext uri="{FF2B5EF4-FFF2-40B4-BE49-F238E27FC236}">
                <a16:creationId xmlns:a16="http://schemas.microsoft.com/office/drawing/2014/main" id="{DDC05E4A-9D07-4C32-A358-C538DC6A6FDC}"/>
              </a:ext>
            </a:extLst>
          </p:cNvPr>
          <p:cNvSpPr>
            <a:spLocks xmlns:a="http://schemas.openxmlformats.org/drawingml/2006/main" noGrp="1"/>
          </p:cNvSpPr>
          <p:nvPr/>
        </p:nvSpPr>
        <p:spPr>
          <a:xfrm xmlns:a="http://schemas.openxmlformats.org/drawingml/2006/main">
            <a:off x="857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Cartographier les irritants, choisir les cas d'usage prioritaires et définir les KPI de preuve.</a:t>
            </a:r>
          </a:p>
        </p:txBody>
      </p:sp>
      <p:sp>
        <p:nvSpPr>
          <p:cNvPr id="9" name="">
            <a:extLst xmlns:a="http://schemas.openxmlformats.org/drawingml/2006/main">
              <a:ext uri="{FF2B5EF4-FFF2-40B4-BE49-F238E27FC236}">
                <a16:creationId xmlns:a16="http://schemas.microsoft.com/office/drawing/2014/main" id="{759FC88A-5F2C-4388-B502-88F559FC2055}"/>
              </a:ext>
            </a:extLst>
          </p:cNvPr>
          <p:cNvSpPr>
            <a:spLocks xmlns:a="http://schemas.openxmlformats.org/drawingml/2006/main" noGrp="1"/>
          </p:cNvSpPr>
          <p:nvPr/>
        </p:nvSpPr>
        <p:spPr>
          <a:xfrm xmlns:a="http://schemas.openxmlformats.org/drawingml/2006/main">
            <a:off x="3352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4BD68B9F-8E11-4CF2-9D39-3E1593A23B00}"/>
              </a:ext>
            </a:extLst>
          </p:cNvPr>
          <p:cNvSpPr>
            <a:spLocks xmlns:a="http://schemas.openxmlformats.org/drawingml/2006/main" noGrp="1"/>
          </p:cNvSpPr>
          <p:nvPr/>
        </p:nvSpPr>
        <p:spPr>
          <a:xfrm xmlns:a="http://schemas.openxmlformats.org/drawingml/2006/main">
            <a:off x="3524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C8A78"/>
                </a:solidFill>
                <a:latin typeface="Aptos Display"/>
                <a:ea typeface="Aptos Display"/>
                <a:cs typeface="Aptos Display"/>
              </a:defRPr>
            </a:pPr>
            <a:r>
              <a:rPr sz="1500" b="1">
                <a:solidFill>
                  <a:srgbClr val="1C8A78"/>
                </a:solidFill>
                <a:latin typeface="Aptos Display"/>
                <a:ea typeface="Aptos Display"/>
                <a:cs typeface="Aptos Display"/>
              </a:rPr>
              <a:t>02</a:t>
            </a:r>
          </a:p>
        </p:txBody>
      </p:sp>
      <p:sp>
        <p:nvSpPr>
          <p:cNvPr id="11" name="">
            <a:extLst xmlns:a="http://schemas.openxmlformats.org/drawingml/2006/main">
              <a:ext uri="{FF2B5EF4-FFF2-40B4-BE49-F238E27FC236}">
                <a16:creationId xmlns:a16="http://schemas.microsoft.com/office/drawing/2014/main" id="{0A9F8EC6-DBDF-49B9-9280-EE5F2110424C}"/>
              </a:ext>
            </a:extLst>
          </p:cNvPr>
          <p:cNvSpPr>
            <a:spLocks xmlns:a="http://schemas.openxmlformats.org/drawingml/2006/main" noGrp="1"/>
          </p:cNvSpPr>
          <p:nvPr/>
        </p:nvSpPr>
        <p:spPr>
          <a:xfrm xmlns:a="http://schemas.openxmlformats.org/drawingml/2006/main">
            <a:off x="3524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J+15 | Prototype ciblé</a:t>
            </a:r>
          </a:p>
        </p:txBody>
      </p:sp>
      <p:sp>
        <p:nvSpPr>
          <p:cNvPr id="12" name="">
            <a:extLst xmlns:a="http://schemas.openxmlformats.org/drawingml/2006/main">
              <a:ext uri="{FF2B5EF4-FFF2-40B4-BE49-F238E27FC236}">
                <a16:creationId xmlns:a16="http://schemas.microsoft.com/office/drawing/2014/main" id="{72B40B08-6ADA-4ACA-BECA-16C302ED648F}"/>
              </a:ext>
            </a:extLst>
          </p:cNvPr>
          <p:cNvSpPr>
            <a:spLocks xmlns:a="http://schemas.openxmlformats.org/drawingml/2006/main" noGrp="1"/>
          </p:cNvSpPr>
          <p:nvPr/>
        </p:nvSpPr>
        <p:spPr>
          <a:xfrm xmlns:a="http://schemas.openxmlformats.org/drawingml/2006/main">
            <a:off x="3524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Produire un premier livrable exploitable : synthèse, tableau de bord, assistant ou routine de pilotage.</a:t>
            </a:r>
          </a:p>
        </p:txBody>
      </p:sp>
      <p:sp>
        <p:nvSpPr>
          <p:cNvPr id="13" name="">
            <a:extLst xmlns:a="http://schemas.openxmlformats.org/drawingml/2006/main">
              <a:ext uri="{FF2B5EF4-FFF2-40B4-BE49-F238E27FC236}">
                <a16:creationId xmlns:a16="http://schemas.microsoft.com/office/drawing/2014/main" id="{F219D8FE-284B-4F97-A639-47739857FBE2}"/>
              </a:ext>
            </a:extLst>
          </p:cNvPr>
          <p:cNvSpPr>
            <a:spLocks xmlns:a="http://schemas.openxmlformats.org/drawingml/2006/main" noGrp="1"/>
          </p:cNvSpPr>
          <p:nvPr/>
        </p:nvSpPr>
        <p:spPr>
          <a:xfrm xmlns:a="http://schemas.openxmlformats.org/drawingml/2006/main">
            <a:off x="6019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694A99F5-F7AD-46F9-9979-C1A96D615188}"/>
              </a:ext>
            </a:extLst>
          </p:cNvPr>
          <p:cNvSpPr>
            <a:spLocks xmlns:a="http://schemas.openxmlformats.org/drawingml/2006/main" noGrp="1"/>
          </p:cNvSpPr>
          <p:nvPr/>
        </p:nvSpPr>
        <p:spPr>
          <a:xfrm xmlns:a="http://schemas.openxmlformats.org/drawingml/2006/main">
            <a:off x="6191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3556"/>
                </a:solidFill>
                <a:latin typeface="Aptos Display"/>
                <a:ea typeface="Aptos Display"/>
                <a:cs typeface="Aptos Display"/>
              </a:defRPr>
            </a:pPr>
            <a:r>
              <a:rPr sz="1500" b="1">
                <a:solidFill>
                  <a:srgbClr val="163556"/>
                </a:solidFill>
                <a:latin typeface="Aptos Display"/>
                <a:ea typeface="Aptos Display"/>
                <a:cs typeface="Aptos Display"/>
              </a:rPr>
              <a:t>03</a:t>
            </a:r>
          </a:p>
        </p:txBody>
      </p:sp>
      <p:sp>
        <p:nvSpPr>
          <p:cNvPr id="15" name="">
            <a:extLst xmlns:a="http://schemas.openxmlformats.org/drawingml/2006/main">
              <a:ext uri="{FF2B5EF4-FFF2-40B4-BE49-F238E27FC236}">
                <a16:creationId xmlns:a16="http://schemas.microsoft.com/office/drawing/2014/main" id="{6260D3C7-BE2A-4F7C-B190-4FC88C309C82}"/>
              </a:ext>
            </a:extLst>
          </p:cNvPr>
          <p:cNvSpPr>
            <a:spLocks xmlns:a="http://schemas.openxmlformats.org/drawingml/2006/main" noGrp="1"/>
          </p:cNvSpPr>
          <p:nvPr/>
        </p:nvSpPr>
        <p:spPr>
          <a:xfrm xmlns:a="http://schemas.openxmlformats.org/drawingml/2006/main">
            <a:off x="6191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J+45 | Formation et pilote</a:t>
            </a:r>
          </a:p>
        </p:txBody>
      </p:sp>
      <p:sp>
        <p:nvSpPr>
          <p:cNvPr id="16" name="">
            <a:extLst xmlns:a="http://schemas.openxmlformats.org/drawingml/2006/main">
              <a:ext uri="{FF2B5EF4-FFF2-40B4-BE49-F238E27FC236}">
                <a16:creationId xmlns:a16="http://schemas.microsoft.com/office/drawing/2014/main" id="{6462B485-4FAC-458A-9FB1-1F7A4F88F35D}"/>
              </a:ext>
            </a:extLst>
          </p:cNvPr>
          <p:cNvSpPr>
            <a:spLocks xmlns:a="http://schemas.openxmlformats.org/drawingml/2006/main" noGrp="1"/>
          </p:cNvSpPr>
          <p:nvPr/>
        </p:nvSpPr>
        <p:spPr>
          <a:xfrm xmlns:a="http://schemas.openxmlformats.org/drawingml/2006/main">
            <a:off x="6191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Former la bonne population et lancer le pilote sur un flux concret, avec supervision et revue métier.</a:t>
            </a:r>
          </a:p>
        </p:txBody>
      </p:sp>
      <p:sp>
        <p:nvSpPr>
          <p:cNvPr id="17" name="">
            <a:extLst xmlns:a="http://schemas.openxmlformats.org/drawingml/2006/main">
              <a:ext uri="{FF2B5EF4-FFF2-40B4-BE49-F238E27FC236}">
                <a16:creationId xmlns:a16="http://schemas.microsoft.com/office/drawing/2014/main" id="{60F1B2DC-7E4F-4A90-B91B-367BBCE7B89C}"/>
              </a:ext>
            </a:extLst>
          </p:cNvPr>
          <p:cNvSpPr>
            <a:spLocks xmlns:a="http://schemas.openxmlformats.org/drawingml/2006/main" noGrp="1"/>
          </p:cNvSpPr>
          <p:nvPr/>
        </p:nvSpPr>
        <p:spPr>
          <a:xfrm xmlns:a="http://schemas.openxmlformats.org/drawingml/2006/main">
            <a:off x="8686800" y="2247900"/>
            <a:ext cx="2819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4BFD4210-164E-4DA7-803A-ECB7BC3E67A7}"/>
              </a:ext>
            </a:extLst>
          </p:cNvPr>
          <p:cNvSpPr>
            <a:spLocks xmlns:a="http://schemas.openxmlformats.org/drawingml/2006/main" noGrp="1"/>
          </p:cNvSpPr>
          <p:nvPr/>
        </p:nvSpPr>
        <p:spPr>
          <a:xfrm xmlns:a="http://schemas.openxmlformats.org/drawingml/2006/main">
            <a:off x="8858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C88C3A"/>
                </a:solidFill>
                <a:latin typeface="Aptos Display"/>
                <a:ea typeface="Aptos Display"/>
                <a:cs typeface="Aptos Display"/>
              </a:defRPr>
            </a:pPr>
            <a:r>
              <a:rPr sz="1500" b="1">
                <a:solidFill>
                  <a:srgbClr val="C88C3A"/>
                </a:solidFill>
                <a:latin typeface="Aptos Display"/>
                <a:ea typeface="Aptos Display"/>
                <a:cs typeface="Aptos Display"/>
              </a:rPr>
              <a:t>04</a:t>
            </a:r>
          </a:p>
        </p:txBody>
      </p:sp>
      <p:sp>
        <p:nvSpPr>
          <p:cNvPr id="19" name="">
            <a:extLst xmlns:a="http://schemas.openxmlformats.org/drawingml/2006/main">
              <a:ext uri="{FF2B5EF4-FFF2-40B4-BE49-F238E27FC236}">
                <a16:creationId xmlns:a16="http://schemas.microsoft.com/office/drawing/2014/main" id="{1343B039-74CE-4670-BDEA-98CC2B79370E}"/>
              </a:ext>
            </a:extLst>
          </p:cNvPr>
          <p:cNvSpPr>
            <a:spLocks xmlns:a="http://schemas.openxmlformats.org/drawingml/2006/main" noGrp="1"/>
          </p:cNvSpPr>
          <p:nvPr/>
        </p:nvSpPr>
        <p:spPr>
          <a:xfrm xmlns:a="http://schemas.openxmlformats.org/drawingml/2006/main">
            <a:off x="8858250" y="2762250"/>
            <a:ext cx="2476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J+90 | ROI et extension</a:t>
            </a:r>
          </a:p>
        </p:txBody>
      </p:sp>
      <p:sp>
        <p:nvSpPr>
          <p:cNvPr id="20" name="">
            <a:extLst xmlns:a="http://schemas.openxmlformats.org/drawingml/2006/main">
              <a:ext uri="{FF2B5EF4-FFF2-40B4-BE49-F238E27FC236}">
                <a16:creationId xmlns:a16="http://schemas.microsoft.com/office/drawing/2014/main" id="{C5183796-9377-4054-B616-DFF9A33206C6}"/>
              </a:ext>
            </a:extLst>
          </p:cNvPr>
          <p:cNvSpPr>
            <a:spLocks xmlns:a="http://schemas.openxmlformats.org/drawingml/2006/main" noGrp="1"/>
          </p:cNvSpPr>
          <p:nvPr/>
        </p:nvSpPr>
        <p:spPr>
          <a:xfrm xmlns:a="http://schemas.openxmlformats.org/drawingml/2006/main">
            <a:off x="8858250" y="3333750"/>
            <a:ext cx="247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Mesurer les premiers résultats, documenter les apprentissages et décider ce qui mérite d'être étendu.</a:t>
            </a:r>
          </a:p>
        </p:txBody>
      </p:sp>
      <p:sp>
        <p:nvSpPr>
          <p:cNvPr id="21" name="">
            <a:extLst xmlns:a="http://schemas.openxmlformats.org/drawingml/2006/main">
              <a:ext uri="{FF2B5EF4-FFF2-40B4-BE49-F238E27FC236}">
                <a16:creationId xmlns:a16="http://schemas.microsoft.com/office/drawing/2014/main" id="{0EDE387D-AAEC-4189-9062-E169B6D1C5D2}"/>
              </a:ext>
            </a:extLst>
          </p:cNvPr>
          <p:cNvSpPr>
            <a:spLocks xmlns:a="http://schemas.openxmlformats.org/drawingml/2006/main" noGrp="1"/>
          </p:cNvSpPr>
          <p:nvPr/>
        </p:nvSpPr>
        <p:spPr>
          <a:xfrm xmlns:a="http://schemas.openxmlformats.org/drawingml/2006/main">
            <a:off x="685800" y="4953000"/>
            <a:ext cx="10820400" cy="10668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22" name="">
            <a:extLst xmlns:a="http://schemas.openxmlformats.org/drawingml/2006/main">
              <a:ext uri="{FF2B5EF4-FFF2-40B4-BE49-F238E27FC236}">
                <a16:creationId xmlns:a16="http://schemas.microsoft.com/office/drawing/2014/main" id="{B2AC6D30-EA54-4638-B839-109A6396D21E}"/>
              </a:ext>
            </a:extLst>
          </p:cNvPr>
          <p:cNvSpPr>
            <a:spLocks xmlns:a="http://schemas.openxmlformats.org/drawingml/2006/main" noGrp="1"/>
          </p:cNvSpPr>
          <p:nvPr/>
        </p:nvSpPr>
        <p:spPr>
          <a:xfrm xmlns:a="http://schemas.openxmlformats.org/drawingml/2006/main">
            <a:off x="914400" y="5162550"/>
            <a:ext cx="2762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Ce que l'organisation obtient à chaque étape</a:t>
            </a:r>
          </a:p>
        </p:txBody>
      </p:sp>
      <p:sp>
        <p:nvSpPr>
          <p:cNvPr id="23" name="">
            <a:extLst xmlns:a="http://schemas.openxmlformats.org/drawingml/2006/main">
              <a:ext uri="{FF2B5EF4-FFF2-40B4-BE49-F238E27FC236}">
                <a16:creationId xmlns:a16="http://schemas.microsoft.com/office/drawing/2014/main" id="{11FD0D9D-E031-4FD3-8517-C26771207301}"/>
              </a:ext>
            </a:extLst>
          </p:cNvPr>
          <p:cNvSpPr>
            <a:spLocks xmlns:a="http://schemas.openxmlformats.org/drawingml/2006/main" noGrp="1"/>
          </p:cNvSpPr>
          <p:nvPr/>
        </p:nvSpPr>
        <p:spPr>
          <a:xfrm xmlns:a="http://schemas.openxmlformats.org/drawingml/2006/main">
            <a:off x="914400" y="5391150"/>
            <a:ext cx="2476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priorités mieux choisies</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cas d'usage mieux qualifiés</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formation plus ciblée</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décision plus simple sur le passage à l'échelle</a:t>
            </a:r>
          </a:p>
        </p:txBody>
      </p:sp>
      <p:sp>
        <p:nvSpPr>
          <p:cNvPr id="24" name="">
            <a:extLst xmlns:a="http://schemas.openxmlformats.org/drawingml/2006/main">
              <a:ext uri="{FF2B5EF4-FFF2-40B4-BE49-F238E27FC236}">
                <a16:creationId xmlns:a16="http://schemas.microsoft.com/office/drawing/2014/main" id="{CC4D774B-1FD5-4C90-B65A-8090F1D7E76D}"/>
              </a:ext>
            </a:extLst>
          </p:cNvPr>
          <p:cNvSpPr>
            <a:spLocks xmlns:a="http://schemas.openxmlformats.org/drawingml/2006/main" noGrp="1"/>
          </p:cNvSpPr>
          <p:nvPr/>
        </p:nvSpPr>
        <p:spPr>
          <a:xfrm xmlns:a="http://schemas.openxmlformats.org/drawingml/2006/main">
            <a:off x="3943350" y="5505450"/>
            <a:ext cx="7010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D7E5F3"/>
                </a:solidFill>
                <a:latin typeface="Aptos"/>
                <a:ea typeface="Aptos"/>
                <a:cs typeface="Aptos"/>
              </a:defRPr>
            </a:pPr>
            <a:r>
              <a:rPr sz="938" b="1">
                <a:solidFill>
                  <a:srgbClr val="D7E5F3"/>
                </a:solidFill>
                <a:latin typeface="Aptos"/>
                <a:ea typeface="Aptos"/>
                <a:cs typeface="Aptos"/>
              </a:rPr>
              <a:t>Principe de gouvernance : aucun passage à l'étape suivante sans validation des livrables, des accès et des usages autorisés.</a:t>
            </a:r>
          </a:p>
        </p:txBody>
      </p:sp>
      <p:sp>
        <p:nvSpPr>
          <p:cNvPr id="25" name="">
            <a:extLst xmlns:a="http://schemas.openxmlformats.org/drawingml/2006/main">
              <a:ext uri="{FF2B5EF4-FFF2-40B4-BE49-F238E27FC236}">
                <a16:creationId xmlns:a16="http://schemas.microsoft.com/office/drawing/2014/main" id="{1C4AC026-F5FC-454B-82A7-4B60C2019D3F}"/>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59E03FE-F734-4566-9B76-31FAB0D605B2}"/>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27" name="">
            <a:extLst xmlns:a="http://schemas.openxmlformats.org/drawingml/2006/main">
              <a:ext uri="{FF2B5EF4-FFF2-40B4-BE49-F238E27FC236}">
                <a16:creationId xmlns:a16="http://schemas.microsoft.com/office/drawing/2014/main" id="{4F2CCD57-9A24-44E3-BC17-D4EC7A132838}"/>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11</a:t>
            </a:r>
          </a:p>
        </p:txBody>
      </p:sp>
    </p:spTree>
    <p:extLst>
      <p:ext uri="{BB962C8B-B14F-4D97-AF65-F5344CB8AC3E}">
        <p14:creationId xmlns:p14="http://schemas.microsoft.com/office/powerpoint/2010/main" val="81826529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0A5F16-CBDE-4AAD-9C8E-5DBE8C5C40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5320604-96E0-47AE-BDDC-5648F7AE7530}"/>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OFFRE RECOMMANDÉE</a:t>
            </a:r>
          </a:p>
        </p:txBody>
      </p:sp>
      <p:sp>
        <p:nvSpPr>
          <p:cNvPr id="3" name="">
            <a:extLst xmlns:a="http://schemas.openxmlformats.org/drawingml/2006/main">
              <a:ext uri="{FF2B5EF4-FFF2-40B4-BE49-F238E27FC236}">
                <a16:creationId xmlns:a16="http://schemas.microsoft.com/office/drawing/2014/main" id="{EA85C1A2-5CA4-4D9B-9F0C-9F7722834476}"/>
              </a:ext>
            </a:extLst>
          </p:cNvPr>
          <p:cNvSpPr>
            <a:spLocks xmlns:a="http://schemas.openxmlformats.org/drawingml/2006/main" noGrp="1"/>
          </p:cNvSpPr>
          <p:nvPr/>
        </p:nvSpPr>
        <p:spPr>
          <a:xfrm xmlns:a="http://schemas.openxmlformats.org/drawingml/2006/main">
            <a:off x="685800" y="819150"/>
            <a:ext cx="8001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proposition TransferAI pour votre organisation</a:t>
            </a:r>
          </a:p>
        </p:txBody>
      </p:sp>
      <p:sp>
        <p:nvSpPr>
          <p:cNvPr id="4" name="">
            <a:extLst xmlns:a="http://schemas.openxmlformats.org/drawingml/2006/main">
              <a:ext uri="{FF2B5EF4-FFF2-40B4-BE49-F238E27FC236}">
                <a16:creationId xmlns:a16="http://schemas.microsoft.com/office/drawing/2014/main" id="{37FC2A1E-2190-439E-BBE2-2D2D77E95F61}"/>
              </a:ext>
            </a:extLst>
          </p:cNvPr>
          <p:cNvSpPr>
            <a:spLocks xmlns:a="http://schemas.openxmlformats.org/drawingml/2006/main" noGrp="1"/>
          </p:cNvSpPr>
          <p:nvPr/>
        </p:nvSpPr>
        <p:spPr>
          <a:xfrm xmlns:a="http://schemas.openxmlformats.org/drawingml/2006/main">
            <a:off x="685800" y="1676400"/>
            <a:ext cx="923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Notre valeur ne vient pas d'un outil unique, mais de l'enchaînement entre diagnostic, formation utile, gouvernance et premier terrain d'exécution.</a:t>
            </a:r>
          </a:p>
        </p:txBody>
      </p:sp>
      <p:sp>
        <p:nvSpPr>
          <p:cNvPr id="5" name="">
            <a:extLst xmlns:a="http://schemas.openxmlformats.org/drawingml/2006/main">
              <a:ext uri="{FF2B5EF4-FFF2-40B4-BE49-F238E27FC236}">
                <a16:creationId xmlns:a16="http://schemas.microsoft.com/office/drawing/2014/main" id="{3CB22FD3-6112-44F9-8F08-FDE87F9DA6D3}"/>
              </a:ext>
            </a:extLst>
          </p:cNvPr>
          <p:cNvSpPr>
            <a:spLocks xmlns:a="http://schemas.openxmlformats.org/drawingml/2006/main" noGrp="1"/>
          </p:cNvSpPr>
          <p:nvPr/>
        </p:nvSpPr>
        <p:spPr>
          <a:xfrm xmlns:a="http://schemas.openxmlformats.org/drawingml/2006/main">
            <a:off x="685800" y="2247900"/>
            <a:ext cx="5181600" cy="13335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6" name="">
            <a:extLst xmlns:a="http://schemas.openxmlformats.org/drawingml/2006/main">
              <a:ext uri="{FF2B5EF4-FFF2-40B4-BE49-F238E27FC236}">
                <a16:creationId xmlns:a16="http://schemas.microsoft.com/office/drawing/2014/main" id="{633D4576-5158-4DB5-A3EC-36A7675260FE}"/>
              </a:ext>
            </a:extLst>
          </p:cNvPr>
          <p:cNvSpPr>
            <a:spLocks xmlns:a="http://schemas.openxmlformats.org/drawingml/2006/main" noGrp="1"/>
          </p:cNvSpPr>
          <p:nvPr/>
        </p:nvSpPr>
        <p:spPr>
          <a:xfrm xmlns:a="http://schemas.openxmlformats.org/drawingml/2006/main">
            <a:off x="857250" y="2419350"/>
            <a:ext cx="4838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1. Audit, cadrage et feuille de route</a:t>
            </a:r>
          </a:p>
        </p:txBody>
      </p:sp>
      <p:sp>
        <p:nvSpPr>
          <p:cNvPr id="7" name="">
            <a:extLst xmlns:a="http://schemas.openxmlformats.org/drawingml/2006/main">
              <a:ext uri="{FF2B5EF4-FFF2-40B4-BE49-F238E27FC236}">
                <a16:creationId xmlns:a16="http://schemas.microsoft.com/office/drawing/2014/main" id="{F5EA30F4-CB6E-4E73-890E-FA09FAC6CC48}"/>
              </a:ext>
            </a:extLst>
          </p:cNvPr>
          <p:cNvSpPr>
            <a:spLocks xmlns:a="http://schemas.openxmlformats.org/drawingml/2006/main" noGrp="1"/>
          </p:cNvSpPr>
          <p:nvPr/>
        </p:nvSpPr>
        <p:spPr>
          <a:xfrm xmlns:a="http://schemas.openxmlformats.org/drawingml/2006/main">
            <a:off x="857250" y="2933700"/>
            <a:ext cx="4838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priorités métier</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cartographie des flux</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KPI de preuve et conditions de pilotage</a:t>
            </a:r>
          </a:p>
        </p:txBody>
      </p:sp>
      <p:sp>
        <p:nvSpPr>
          <p:cNvPr id="8" name="">
            <a:extLst xmlns:a="http://schemas.openxmlformats.org/drawingml/2006/main">
              <a:ext uri="{FF2B5EF4-FFF2-40B4-BE49-F238E27FC236}">
                <a16:creationId xmlns:a16="http://schemas.microsoft.com/office/drawing/2014/main" id="{1372C022-FE88-402E-9BAB-0187CF66246D}"/>
              </a:ext>
            </a:extLst>
          </p:cNvPr>
          <p:cNvSpPr>
            <a:spLocks xmlns:a="http://schemas.openxmlformats.org/drawingml/2006/main" noGrp="1"/>
          </p:cNvSpPr>
          <p:nvPr/>
        </p:nvSpPr>
        <p:spPr>
          <a:xfrm xmlns:a="http://schemas.openxmlformats.org/drawingml/2006/main">
            <a:off x="6096000" y="2247900"/>
            <a:ext cx="5410200" cy="133350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9" name="">
            <a:extLst xmlns:a="http://schemas.openxmlformats.org/drawingml/2006/main">
              <a:ext uri="{FF2B5EF4-FFF2-40B4-BE49-F238E27FC236}">
                <a16:creationId xmlns:a16="http://schemas.microsoft.com/office/drawing/2014/main" id="{DF92695C-DD39-49C1-912B-BACFC63B5835}"/>
              </a:ext>
            </a:extLst>
          </p:cNvPr>
          <p:cNvSpPr>
            <a:spLocks xmlns:a="http://schemas.openxmlformats.org/drawingml/2006/main" noGrp="1"/>
          </p:cNvSpPr>
          <p:nvPr/>
        </p:nvSpPr>
        <p:spPr>
          <a:xfrm xmlns:a="http://schemas.openxmlformats.org/drawingml/2006/main">
            <a:off x="6267450" y="2419350"/>
            <a:ext cx="5067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 Formation dirigeants et managers</a:t>
            </a:r>
          </a:p>
        </p:txBody>
      </p:sp>
      <p:sp>
        <p:nvSpPr>
          <p:cNvPr id="10" name="">
            <a:extLst xmlns:a="http://schemas.openxmlformats.org/drawingml/2006/main">
              <a:ext uri="{FF2B5EF4-FFF2-40B4-BE49-F238E27FC236}">
                <a16:creationId xmlns:a16="http://schemas.microsoft.com/office/drawing/2014/main" id="{0CFCD8F8-DA62-4EAA-9F34-A90B1C4B5749}"/>
              </a:ext>
            </a:extLst>
          </p:cNvPr>
          <p:cNvSpPr>
            <a:spLocks xmlns:a="http://schemas.openxmlformats.org/drawingml/2006/main" noGrp="1"/>
          </p:cNvSpPr>
          <p:nvPr/>
        </p:nvSpPr>
        <p:spPr>
          <a:xfrm xmlns:a="http://schemas.openxmlformats.org/drawingml/2006/main">
            <a:off x="6267450" y="2933700"/>
            <a:ext cx="5067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lecture exécutive des usages IA</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arbitrage, gouvernance et conduite du changement</a:t>
            </a:r>
          </a:p>
        </p:txBody>
      </p:sp>
      <p:sp>
        <p:nvSpPr>
          <p:cNvPr id="11" name="">
            <a:extLst xmlns:a="http://schemas.openxmlformats.org/drawingml/2006/main">
              <a:ext uri="{FF2B5EF4-FFF2-40B4-BE49-F238E27FC236}">
                <a16:creationId xmlns:a16="http://schemas.microsoft.com/office/drawing/2014/main" id="{72930773-808E-4E19-B85A-2AB81DE34115}"/>
              </a:ext>
            </a:extLst>
          </p:cNvPr>
          <p:cNvSpPr>
            <a:spLocks xmlns:a="http://schemas.openxmlformats.org/drawingml/2006/main" noGrp="1"/>
          </p:cNvSpPr>
          <p:nvPr/>
        </p:nvSpPr>
        <p:spPr>
          <a:xfrm xmlns:a="http://schemas.openxmlformats.org/drawingml/2006/main">
            <a:off x="685800" y="3810000"/>
            <a:ext cx="5181600" cy="13335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12" name="">
            <a:extLst xmlns:a="http://schemas.openxmlformats.org/drawingml/2006/main">
              <a:ext uri="{FF2B5EF4-FFF2-40B4-BE49-F238E27FC236}">
                <a16:creationId xmlns:a16="http://schemas.microsoft.com/office/drawing/2014/main" id="{B2F02468-406E-45AB-9A2F-EE4D77F50CD9}"/>
              </a:ext>
            </a:extLst>
          </p:cNvPr>
          <p:cNvSpPr>
            <a:spLocks xmlns:a="http://schemas.openxmlformats.org/drawingml/2006/main" noGrp="1"/>
          </p:cNvSpPr>
          <p:nvPr/>
        </p:nvSpPr>
        <p:spPr>
          <a:xfrm xmlns:a="http://schemas.openxmlformats.org/drawingml/2006/main">
            <a:off x="857250" y="3981450"/>
            <a:ext cx="4838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3. Formation équipes métier</a:t>
            </a:r>
          </a:p>
        </p:txBody>
      </p:sp>
      <p:sp>
        <p:nvSpPr>
          <p:cNvPr id="13" name="">
            <a:extLst xmlns:a="http://schemas.openxmlformats.org/drawingml/2006/main">
              <a:ext uri="{FF2B5EF4-FFF2-40B4-BE49-F238E27FC236}">
                <a16:creationId xmlns:a16="http://schemas.microsoft.com/office/drawing/2014/main" id="{D46455B1-035E-41D5-A3CE-EFE13ABC078F}"/>
              </a:ext>
            </a:extLst>
          </p:cNvPr>
          <p:cNvSpPr>
            <a:spLocks xmlns:a="http://schemas.openxmlformats.org/drawingml/2006/main" noGrp="1"/>
          </p:cNvSpPr>
          <p:nvPr/>
        </p:nvSpPr>
        <p:spPr>
          <a:xfrm xmlns:a="http://schemas.openxmlformats.org/drawingml/2006/main">
            <a:off x="857250" y="4495800"/>
            <a:ext cx="4838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comptes, flotte, relation client, support</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outils, scripts et routines liés aux vrais cas d'usage</a:t>
            </a:r>
          </a:p>
        </p:txBody>
      </p:sp>
      <p:sp>
        <p:nvSpPr>
          <p:cNvPr id="14" name="">
            <a:extLst xmlns:a="http://schemas.openxmlformats.org/drawingml/2006/main">
              <a:ext uri="{FF2B5EF4-FFF2-40B4-BE49-F238E27FC236}">
                <a16:creationId xmlns:a16="http://schemas.microsoft.com/office/drawing/2014/main" id="{ED2B7C4C-4BBC-44CC-88B4-71C90CF56A75}"/>
              </a:ext>
            </a:extLst>
          </p:cNvPr>
          <p:cNvSpPr>
            <a:spLocks xmlns:a="http://schemas.openxmlformats.org/drawingml/2006/main" noGrp="1"/>
          </p:cNvSpPr>
          <p:nvPr/>
        </p:nvSpPr>
        <p:spPr>
          <a:xfrm xmlns:a="http://schemas.openxmlformats.org/drawingml/2006/main">
            <a:off x="6096000" y="3810000"/>
            <a:ext cx="5410200" cy="1333500"/>
          </a:xfrm>
          <a:prstGeom xmlns:a="http://schemas.openxmlformats.org/drawingml/2006/main" prst="rect">
            <a:avLst/>
          </a:prstGeom>
          <a:solidFill xmlns:a="http://schemas.openxmlformats.org/drawingml/2006/main">
            <a:srgbClr val="C88C3A"/>
          </a:solidFill>
          <a:ln xmlns:a="http://schemas.openxmlformats.org/drawingml/2006/main" w="0">
            <a:solidFill>
              <a:srgbClr val="C88C3A"/>
            </a:solidFill>
            <a:prstDash val="solid"/>
          </a:ln>
        </p:spPr>
      </p:sp>
      <p:sp>
        <p:nvSpPr>
          <p:cNvPr id="15" name="">
            <a:extLst xmlns:a="http://schemas.openxmlformats.org/drawingml/2006/main">
              <a:ext uri="{FF2B5EF4-FFF2-40B4-BE49-F238E27FC236}">
                <a16:creationId xmlns:a16="http://schemas.microsoft.com/office/drawing/2014/main" id="{6319A6DE-7E9E-4F6F-9BDF-C3AE5A420976}"/>
              </a:ext>
            </a:extLst>
          </p:cNvPr>
          <p:cNvSpPr>
            <a:spLocks xmlns:a="http://schemas.openxmlformats.org/drawingml/2006/main" noGrp="1"/>
          </p:cNvSpPr>
          <p:nvPr/>
        </p:nvSpPr>
        <p:spPr>
          <a:xfrm xmlns:a="http://schemas.openxmlformats.org/drawingml/2006/main">
            <a:off x="6267450" y="3981450"/>
            <a:ext cx="5067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4. Pilote métier encadré</a:t>
            </a:r>
          </a:p>
        </p:txBody>
      </p:sp>
      <p:sp>
        <p:nvSpPr>
          <p:cNvPr id="16" name="">
            <a:extLst xmlns:a="http://schemas.openxmlformats.org/drawingml/2006/main">
              <a:ext uri="{FF2B5EF4-FFF2-40B4-BE49-F238E27FC236}">
                <a16:creationId xmlns:a16="http://schemas.microsoft.com/office/drawing/2014/main" id="{68DBFF60-A6DE-4E58-A773-2A70759681D5}"/>
              </a:ext>
            </a:extLst>
          </p:cNvPr>
          <p:cNvSpPr>
            <a:spLocks xmlns:a="http://schemas.openxmlformats.org/drawingml/2006/main" noGrp="1"/>
          </p:cNvSpPr>
          <p:nvPr/>
        </p:nvSpPr>
        <p:spPr>
          <a:xfrm xmlns:a="http://schemas.openxmlformats.org/drawingml/2006/main">
            <a:off x="6267450" y="4495800"/>
            <a:ext cx="5067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assistant ciblé, tableau de bord ou base interne</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supervision, mesure et décision d'extension</a:t>
            </a:r>
          </a:p>
        </p:txBody>
      </p:sp>
      <p:sp>
        <p:nvSpPr>
          <p:cNvPr id="17" name="">
            <a:extLst xmlns:a="http://schemas.openxmlformats.org/drawingml/2006/main">
              <a:ext uri="{FF2B5EF4-FFF2-40B4-BE49-F238E27FC236}">
                <a16:creationId xmlns:a16="http://schemas.microsoft.com/office/drawing/2014/main" id="{2D2BDE58-2779-41BF-BDA2-52E194AD8561}"/>
              </a:ext>
            </a:extLst>
          </p:cNvPr>
          <p:cNvSpPr>
            <a:spLocks xmlns:a="http://schemas.openxmlformats.org/drawingml/2006/main" noGrp="1"/>
          </p:cNvSpPr>
          <p:nvPr/>
        </p:nvSpPr>
        <p:spPr>
          <a:xfrm xmlns:a="http://schemas.openxmlformats.org/drawingml/2006/main">
            <a:off x="685800" y="5486400"/>
            <a:ext cx="10820400" cy="6286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3D65D4B3-ED23-45AE-9D63-52AB293A5C96}"/>
              </a:ext>
            </a:extLst>
          </p:cNvPr>
          <p:cNvSpPr>
            <a:spLocks xmlns:a="http://schemas.openxmlformats.org/drawingml/2006/main" noGrp="1"/>
          </p:cNvSpPr>
          <p:nvPr/>
        </p:nvSpPr>
        <p:spPr>
          <a:xfrm xmlns:a="http://schemas.openxmlformats.org/drawingml/2006/main">
            <a:off x="914400" y="56769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Recommandation de départ</a:t>
            </a:r>
          </a:p>
        </p:txBody>
      </p:sp>
      <p:sp>
        <p:nvSpPr>
          <p:cNvPr id="19" name="">
            <a:extLst xmlns:a="http://schemas.openxmlformats.org/drawingml/2006/main">
              <a:ext uri="{FF2B5EF4-FFF2-40B4-BE49-F238E27FC236}">
                <a16:creationId xmlns:a16="http://schemas.microsoft.com/office/drawing/2014/main" id="{C27BC7F8-2FE6-4C5B-AB1A-D3BB189CC53E}"/>
              </a:ext>
            </a:extLst>
          </p:cNvPr>
          <p:cNvSpPr>
            <a:spLocks xmlns:a="http://schemas.openxmlformats.org/drawingml/2006/main" noGrp="1"/>
          </p:cNvSpPr>
          <p:nvPr/>
        </p:nvSpPr>
        <p:spPr>
          <a:xfrm xmlns:a="http://schemas.openxmlformats.org/drawingml/2006/main">
            <a:off x="2819400" y="5638800"/>
            <a:ext cx="8248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A3554"/>
                </a:solidFill>
                <a:latin typeface="Aptos"/>
                <a:ea typeface="Aptos"/>
                <a:cs typeface="Aptos"/>
              </a:defRPr>
            </a:pPr>
            <a:r>
              <a:rPr sz="938" b="1">
                <a:solidFill>
                  <a:srgbClr val="1A3554"/>
                </a:solidFill>
                <a:latin typeface="Aptos"/>
                <a:ea typeface="Aptos"/>
                <a:cs typeface="Aptos"/>
              </a:rPr>
              <a:t>Commencer par deux flux à forte lisibilité de valeur : comptes professionnels + flotte / cartes carburant. Les autres cas d'usage restent dans la feuille de route, mais n'encombrent pas le pilote initial.</a:t>
            </a:r>
          </a:p>
        </p:txBody>
      </p:sp>
      <p:sp>
        <p:nvSpPr>
          <p:cNvPr id="20" name="">
            <a:extLst xmlns:a="http://schemas.openxmlformats.org/drawingml/2006/main">
              <a:ext uri="{FF2B5EF4-FFF2-40B4-BE49-F238E27FC236}">
                <a16:creationId xmlns:a16="http://schemas.microsoft.com/office/drawing/2014/main" id="{3A511BC2-F680-413B-9D14-416BA30E4AF9}"/>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F300F5D2-7600-4E53-953D-7EC6D12C2009}"/>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22" name="">
            <a:extLst xmlns:a="http://schemas.openxmlformats.org/drawingml/2006/main">
              <a:ext uri="{FF2B5EF4-FFF2-40B4-BE49-F238E27FC236}">
                <a16:creationId xmlns:a16="http://schemas.microsoft.com/office/drawing/2014/main" id="{457E5691-D230-4B54-B232-73DC4D356AD5}"/>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12</a:t>
            </a:r>
          </a:p>
        </p:txBody>
      </p:sp>
    </p:spTree>
    <p:extLst>
      <p:ext uri="{BB962C8B-B14F-4D97-AF65-F5344CB8AC3E}">
        <p14:creationId xmlns:p14="http://schemas.microsoft.com/office/powerpoint/2010/main" val="69833586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3D5400-C672-4935-A725-CB711C178A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9356E06-92AB-4A93-B2B8-7D1870506661}"/>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CONFIANCE ET PROCHAINE ÉTAPE</a:t>
            </a:r>
          </a:p>
        </p:txBody>
      </p:sp>
      <p:sp>
        <p:nvSpPr>
          <p:cNvPr id="3" name="">
            <a:extLst xmlns:a="http://schemas.openxmlformats.org/drawingml/2006/main">
              <a:ext uri="{FF2B5EF4-FFF2-40B4-BE49-F238E27FC236}">
                <a16:creationId xmlns:a16="http://schemas.microsoft.com/office/drawing/2014/main" id="{81FB4FB2-E73E-496A-A0E2-A6CBB39CF584}"/>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Proposer un pilote utile, gouverné et mesurable</a:t>
            </a:r>
          </a:p>
        </p:txBody>
      </p:sp>
      <p:sp>
        <p:nvSpPr>
          <p:cNvPr id="4" name="">
            <a:extLst xmlns:a="http://schemas.openxmlformats.org/drawingml/2006/main">
              <a:ext uri="{FF2B5EF4-FFF2-40B4-BE49-F238E27FC236}">
                <a16:creationId xmlns:a16="http://schemas.microsoft.com/office/drawing/2014/main" id="{44D0378A-D4F2-421A-B6F2-C54F290352B9}"/>
              </a:ext>
            </a:extLst>
          </p:cNvPr>
          <p:cNvSpPr>
            <a:spLocks xmlns:a="http://schemas.openxmlformats.org/drawingml/2006/main" noGrp="1"/>
          </p:cNvSpPr>
          <p:nvPr/>
        </p:nvSpPr>
        <p:spPr>
          <a:xfrm xmlns:a="http://schemas.openxmlformats.org/drawingml/2006/main">
            <a:off x="685800" y="1714500"/>
            <a:ext cx="4953000" cy="37147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5" name="">
            <a:extLst xmlns:a="http://schemas.openxmlformats.org/drawingml/2006/main">
              <a:ext uri="{FF2B5EF4-FFF2-40B4-BE49-F238E27FC236}">
                <a16:creationId xmlns:a16="http://schemas.microsoft.com/office/drawing/2014/main" id="{95FF3BE5-5CD8-40B6-B9FD-CEC1631E4990}"/>
              </a:ext>
            </a:extLst>
          </p:cNvPr>
          <p:cNvSpPr>
            <a:spLocks xmlns:a="http://schemas.openxmlformats.org/drawingml/2006/main" noGrp="1"/>
          </p:cNvSpPr>
          <p:nvPr/>
        </p:nvSpPr>
        <p:spPr>
          <a:xfrm xmlns:a="http://schemas.openxmlformats.org/drawingml/2006/main">
            <a:off x="895350" y="194310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7567850423d4106">
            <a:extLst>
              <a:ext uri="{96DAC541-7B7A-43D3-8B79-37D633B846F1}">
                <asvg:svgBlip xmlns:asvg="http://schemas.microsoft.com/office/drawing/2016/SVG/main" r:embed="Rfcdf952276d34bfa"/>
              </a:ext>
            </a:extLst>
          </a:blip>
          <a:stretch xmlns:a="http://schemas.openxmlformats.org/drawingml/2006/main"/>
        </p:blipFill>
        <p:spPr>
          <a:xfrm xmlns:a="http://schemas.openxmlformats.org/drawingml/2006/main">
            <a:off x="990600" y="2038350"/>
            <a:ext cx="228600" cy="228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ECE3039-B377-4D88-8416-F24C931E4F07}"/>
              </a:ext>
            </a:extLst>
          </p:cNvPr>
          <p:cNvSpPr>
            <a:spLocks xmlns:a="http://schemas.openxmlformats.org/drawingml/2006/main" noGrp="1"/>
          </p:cNvSpPr>
          <p:nvPr/>
        </p:nvSpPr>
        <p:spPr>
          <a:xfrm xmlns:a="http://schemas.openxmlformats.org/drawingml/2006/main">
            <a:off x="1428750" y="1943100"/>
            <a:ext cx="361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Le cadre de confiance à présenter au prospect</a:t>
            </a:r>
          </a:p>
        </p:txBody>
      </p:sp>
      <p:sp>
        <p:nvSpPr>
          <p:cNvPr id="8" name="">
            <a:extLst xmlns:a="http://schemas.openxmlformats.org/drawingml/2006/main">
              <a:ext uri="{FF2B5EF4-FFF2-40B4-BE49-F238E27FC236}">
                <a16:creationId xmlns:a16="http://schemas.microsoft.com/office/drawing/2014/main" id="{5820F933-545A-4567-BC2D-5CBC4DA22F64}"/>
              </a:ext>
            </a:extLst>
          </p:cNvPr>
          <p:cNvSpPr>
            <a:spLocks xmlns:a="http://schemas.openxmlformats.org/drawingml/2006/main" noGrp="1"/>
          </p:cNvSpPr>
          <p:nvPr/>
        </p:nvSpPr>
        <p:spPr>
          <a:xfrm xmlns:a="http://schemas.openxmlformats.org/drawingml/2006/main">
            <a:off x="895350" y="2495550"/>
            <a:ext cx="4267200" cy="1733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aucune donnée sensible n'est exposée sans règles d'usage, rôles et validation</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revue humaine avant toute automatisation critique</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traçabilité des accès et des sorties</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périmètre pilote strictement défini avant extension</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formation intégrée aux exigences de confidentialité et de supervision</a:t>
            </a:r>
          </a:p>
        </p:txBody>
      </p:sp>
      <p:sp>
        <p:nvSpPr>
          <p:cNvPr id="9" name="">
            <a:extLst xmlns:a="http://schemas.openxmlformats.org/drawingml/2006/main">
              <a:ext uri="{FF2B5EF4-FFF2-40B4-BE49-F238E27FC236}">
                <a16:creationId xmlns:a16="http://schemas.microsoft.com/office/drawing/2014/main" id="{7420DD47-32C3-466F-903F-6E2F2D993152}"/>
              </a:ext>
            </a:extLst>
          </p:cNvPr>
          <p:cNvSpPr>
            <a:spLocks xmlns:a="http://schemas.openxmlformats.org/drawingml/2006/main" noGrp="1"/>
          </p:cNvSpPr>
          <p:nvPr/>
        </p:nvSpPr>
        <p:spPr>
          <a:xfrm xmlns:a="http://schemas.openxmlformats.org/drawingml/2006/main">
            <a:off x="895350" y="4343400"/>
            <a:ext cx="4343400" cy="838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A11F2902-500A-4E62-A102-D1BC795C5D94}"/>
              </a:ext>
            </a:extLst>
          </p:cNvPr>
          <p:cNvSpPr>
            <a:spLocks xmlns:a="http://schemas.openxmlformats.org/drawingml/2006/main" noGrp="1"/>
          </p:cNvSpPr>
          <p:nvPr/>
        </p:nvSpPr>
        <p:spPr>
          <a:xfrm xmlns:a="http://schemas.openxmlformats.org/drawingml/2006/main">
            <a:off x="1085850" y="4514850"/>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Message fort</a:t>
            </a:r>
          </a:p>
        </p:txBody>
      </p:sp>
      <p:sp>
        <p:nvSpPr>
          <p:cNvPr id="11" name="">
            <a:extLst xmlns:a="http://schemas.openxmlformats.org/drawingml/2006/main">
              <a:ext uri="{FF2B5EF4-FFF2-40B4-BE49-F238E27FC236}">
                <a16:creationId xmlns:a16="http://schemas.microsoft.com/office/drawing/2014/main" id="{DA6910F6-9021-44EF-9350-F24EBB0998AA}"/>
              </a:ext>
            </a:extLst>
          </p:cNvPr>
          <p:cNvSpPr>
            <a:spLocks xmlns:a="http://schemas.openxmlformats.org/drawingml/2006/main" noGrp="1"/>
          </p:cNvSpPr>
          <p:nvPr/>
        </p:nvSpPr>
        <p:spPr>
          <a:xfrm xmlns:a="http://schemas.openxmlformats.org/drawingml/2006/main">
            <a:off x="1085850" y="4724400"/>
            <a:ext cx="3733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Une IA utile, maîtrisée et compatible avec vos exigences de confidentialité.</a:t>
            </a:r>
          </a:p>
        </p:txBody>
      </p:sp>
      <p:sp>
        <p:nvSpPr>
          <p:cNvPr id="12" name="">
            <a:extLst xmlns:a="http://schemas.openxmlformats.org/drawingml/2006/main">
              <a:ext uri="{FF2B5EF4-FFF2-40B4-BE49-F238E27FC236}">
                <a16:creationId xmlns:a16="http://schemas.microsoft.com/office/drawing/2014/main" id="{9C5C42A7-3F09-403B-AFE0-A1E5841B0D76}"/>
              </a:ext>
            </a:extLst>
          </p:cNvPr>
          <p:cNvSpPr>
            <a:spLocks xmlns:a="http://schemas.openxmlformats.org/drawingml/2006/main" noGrp="1"/>
          </p:cNvSpPr>
          <p:nvPr/>
        </p:nvSpPr>
        <p:spPr>
          <a:xfrm xmlns:a="http://schemas.openxmlformats.org/drawingml/2006/main">
            <a:off x="6096000" y="1714500"/>
            <a:ext cx="5410200" cy="37147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13" name="">
            <a:extLst xmlns:a="http://schemas.openxmlformats.org/drawingml/2006/main">
              <a:ext uri="{FF2B5EF4-FFF2-40B4-BE49-F238E27FC236}">
                <a16:creationId xmlns:a16="http://schemas.microsoft.com/office/drawing/2014/main" id="{F5A16E58-C2E6-450C-B86F-864128B2BF87}"/>
              </a:ext>
            </a:extLst>
          </p:cNvPr>
          <p:cNvSpPr>
            <a:spLocks xmlns:a="http://schemas.openxmlformats.org/drawingml/2006/main" noGrp="1"/>
          </p:cNvSpPr>
          <p:nvPr/>
        </p:nvSpPr>
        <p:spPr>
          <a:xfrm xmlns:a="http://schemas.openxmlformats.org/drawingml/2006/main">
            <a:off x="6362700" y="19812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PROCHAINE ÉTAPE</a:t>
            </a:r>
          </a:p>
        </p:txBody>
      </p:sp>
      <p:sp>
        <p:nvSpPr>
          <p:cNvPr id="14" name="">
            <a:extLst xmlns:a="http://schemas.openxmlformats.org/drawingml/2006/main">
              <a:ext uri="{FF2B5EF4-FFF2-40B4-BE49-F238E27FC236}">
                <a16:creationId xmlns:a16="http://schemas.microsoft.com/office/drawing/2014/main" id="{6C30A01B-2B82-4F2C-B2F5-4F04CB221577}"/>
              </a:ext>
            </a:extLst>
          </p:cNvPr>
          <p:cNvSpPr>
            <a:spLocks xmlns:a="http://schemas.openxmlformats.org/drawingml/2006/main" noGrp="1"/>
          </p:cNvSpPr>
          <p:nvPr/>
        </p:nvSpPr>
        <p:spPr>
          <a:xfrm xmlns:a="http://schemas.openxmlformats.org/drawingml/2006/main">
            <a:off x="6362700" y="224790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Sortie attendue du rendez-vous</a:t>
            </a:r>
          </a:p>
        </p:txBody>
      </p:sp>
      <p:sp>
        <p:nvSpPr>
          <p:cNvPr id="15" name="">
            <a:extLst xmlns:a="http://schemas.openxmlformats.org/drawingml/2006/main">
              <a:ext uri="{FF2B5EF4-FFF2-40B4-BE49-F238E27FC236}">
                <a16:creationId xmlns:a16="http://schemas.microsoft.com/office/drawing/2014/main" id="{C87E94BF-7093-4441-AEA7-8826F58EE60F}"/>
              </a:ext>
            </a:extLst>
          </p:cNvPr>
          <p:cNvSpPr>
            <a:spLocks xmlns:a="http://schemas.openxmlformats.org/drawingml/2006/main" noGrp="1"/>
          </p:cNvSpPr>
          <p:nvPr/>
        </p:nvSpPr>
        <p:spPr>
          <a:xfrm xmlns:a="http://schemas.openxmlformats.org/drawingml/2006/main">
            <a:off x="6362700" y="2724150"/>
            <a:ext cx="342900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1. Tenir un échange expert de 30 minutes</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2. Remplir ou envoyer le formulaire d'audit IA</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3. Recevoir une priorisation claire des cas d'usage</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4. Valider un premier pilote et ses KPI</a:t>
            </a:r>
          </a:p>
        </p:txBody>
      </p:sp>
      <p:sp>
        <p:nvSpPr>
          <p:cNvPr id="16" name="">
            <a:extLst xmlns:a="http://schemas.openxmlformats.org/drawingml/2006/main">
              <a:ext uri="{FF2B5EF4-FFF2-40B4-BE49-F238E27FC236}">
                <a16:creationId xmlns:a16="http://schemas.microsoft.com/office/drawing/2014/main" id="{F9BF61BB-C485-4AE9-ABFF-AF79C347208E}"/>
              </a:ext>
            </a:extLst>
          </p:cNvPr>
          <p:cNvSpPr>
            <a:spLocks xmlns:a="http://schemas.openxmlformats.org/drawingml/2006/main" noGrp="1"/>
          </p:cNvSpPr>
          <p:nvPr/>
        </p:nvSpPr>
        <p:spPr>
          <a:xfrm xmlns:a="http://schemas.openxmlformats.org/drawingml/2006/main">
            <a:off x="9906000" y="2400300"/>
            <a:ext cx="121920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17" name="">
            <a:extLst xmlns:a="http://schemas.openxmlformats.org/drawingml/2006/main">
              <a:ext uri="{FF2B5EF4-FFF2-40B4-BE49-F238E27FC236}">
                <a16:creationId xmlns:a16="http://schemas.microsoft.com/office/drawing/2014/main" id="{27D9A8D6-0CE1-4419-9B7C-ABCCBA8D616D}"/>
              </a:ext>
            </a:extLst>
          </p:cNvPr>
          <p:cNvSpPr>
            <a:spLocks xmlns:a="http://schemas.openxmlformats.org/drawingml/2006/main" noGrp="1"/>
          </p:cNvSpPr>
          <p:nvPr/>
        </p:nvSpPr>
        <p:spPr>
          <a:xfrm xmlns:a="http://schemas.openxmlformats.org/drawingml/2006/main">
            <a:off x="10077450" y="262890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30 min</a:t>
            </a:r>
          </a:p>
        </p:txBody>
      </p:sp>
      <p:sp>
        <p:nvSpPr>
          <p:cNvPr id="18" name="">
            <a:extLst xmlns:a="http://schemas.openxmlformats.org/drawingml/2006/main">
              <a:ext uri="{FF2B5EF4-FFF2-40B4-BE49-F238E27FC236}">
                <a16:creationId xmlns:a16="http://schemas.microsoft.com/office/drawing/2014/main" id="{8CB4B303-D128-4E43-8075-D6C704CB4D3F}"/>
              </a:ext>
            </a:extLst>
          </p:cNvPr>
          <p:cNvSpPr>
            <a:spLocks xmlns:a="http://schemas.openxmlformats.org/drawingml/2006/main" noGrp="1"/>
          </p:cNvSpPr>
          <p:nvPr/>
        </p:nvSpPr>
        <p:spPr>
          <a:xfrm xmlns:a="http://schemas.openxmlformats.org/drawingml/2006/main">
            <a:off x="10077450" y="2933700"/>
            <a:ext cx="87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échange expert</a:t>
            </a:r>
          </a:p>
        </p:txBody>
      </p:sp>
      <p:sp>
        <p:nvSpPr>
          <p:cNvPr id="19" name="">
            <a:extLst xmlns:a="http://schemas.openxmlformats.org/drawingml/2006/main">
              <a:ext uri="{FF2B5EF4-FFF2-40B4-BE49-F238E27FC236}">
                <a16:creationId xmlns:a16="http://schemas.microsoft.com/office/drawing/2014/main" id="{9A832B2B-8B89-44E0-B4D1-53921B582C94}"/>
              </a:ext>
            </a:extLst>
          </p:cNvPr>
          <p:cNvSpPr>
            <a:spLocks xmlns:a="http://schemas.openxmlformats.org/drawingml/2006/main" noGrp="1"/>
          </p:cNvSpPr>
          <p:nvPr/>
        </p:nvSpPr>
        <p:spPr>
          <a:xfrm xmlns:a="http://schemas.openxmlformats.org/drawingml/2006/main">
            <a:off x="9906000" y="3524250"/>
            <a:ext cx="121920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20" name="">
            <a:extLst xmlns:a="http://schemas.openxmlformats.org/drawingml/2006/main">
              <a:ext uri="{FF2B5EF4-FFF2-40B4-BE49-F238E27FC236}">
                <a16:creationId xmlns:a16="http://schemas.microsoft.com/office/drawing/2014/main" id="{E0A39090-5B5E-4892-A14E-3AA49B8DB99D}"/>
              </a:ext>
            </a:extLst>
          </p:cNvPr>
          <p:cNvSpPr>
            <a:spLocks xmlns:a="http://schemas.openxmlformats.org/drawingml/2006/main" noGrp="1"/>
          </p:cNvSpPr>
          <p:nvPr/>
        </p:nvSpPr>
        <p:spPr>
          <a:xfrm xmlns:a="http://schemas.openxmlformats.org/drawingml/2006/main">
            <a:off x="10077450" y="37528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J+15</a:t>
            </a:r>
          </a:p>
        </p:txBody>
      </p:sp>
      <p:sp>
        <p:nvSpPr>
          <p:cNvPr id="21" name="">
            <a:extLst xmlns:a="http://schemas.openxmlformats.org/drawingml/2006/main">
              <a:ext uri="{FF2B5EF4-FFF2-40B4-BE49-F238E27FC236}">
                <a16:creationId xmlns:a16="http://schemas.microsoft.com/office/drawing/2014/main" id="{0C7D2607-13AA-4018-B07F-6BE4223054E7}"/>
              </a:ext>
            </a:extLst>
          </p:cNvPr>
          <p:cNvSpPr>
            <a:spLocks xmlns:a="http://schemas.openxmlformats.org/drawingml/2006/main" noGrp="1"/>
          </p:cNvSpPr>
          <p:nvPr/>
        </p:nvSpPr>
        <p:spPr>
          <a:xfrm xmlns:a="http://schemas.openxmlformats.org/drawingml/2006/main">
            <a:off x="10077450" y="4057650"/>
            <a:ext cx="87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premier livrable</a:t>
            </a:r>
          </a:p>
        </p:txBody>
      </p:sp>
      <p:sp>
        <p:nvSpPr>
          <p:cNvPr id="22" name="">
            <a:extLst xmlns:a="http://schemas.openxmlformats.org/drawingml/2006/main">
              <a:ext uri="{FF2B5EF4-FFF2-40B4-BE49-F238E27FC236}">
                <a16:creationId xmlns:a16="http://schemas.microsoft.com/office/drawing/2014/main" id="{23DB441C-4951-41D3-9A3A-B42CE87ED811}"/>
              </a:ext>
            </a:extLst>
          </p:cNvPr>
          <p:cNvSpPr>
            <a:spLocks xmlns:a="http://schemas.openxmlformats.org/drawingml/2006/main" noGrp="1"/>
          </p:cNvSpPr>
          <p:nvPr/>
        </p:nvSpPr>
        <p:spPr>
          <a:xfrm xmlns:a="http://schemas.openxmlformats.org/drawingml/2006/main">
            <a:off x="6362700" y="4229100"/>
            <a:ext cx="4762500" cy="8001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23" name="">
            <a:extLst xmlns:a="http://schemas.openxmlformats.org/drawingml/2006/main">
              <a:ext uri="{FF2B5EF4-FFF2-40B4-BE49-F238E27FC236}">
                <a16:creationId xmlns:a16="http://schemas.microsoft.com/office/drawing/2014/main" id="{29DEC204-560A-42EB-9C4F-3E563437893A}"/>
              </a:ext>
            </a:extLst>
          </p:cNvPr>
          <p:cNvSpPr>
            <a:spLocks xmlns:a="http://schemas.openxmlformats.org/drawingml/2006/main" noGrp="1"/>
          </p:cNvSpPr>
          <p:nvPr/>
        </p:nvSpPr>
        <p:spPr>
          <a:xfrm xmlns:a="http://schemas.openxmlformats.org/drawingml/2006/main">
            <a:off x="6572250" y="4438650"/>
            <a:ext cx="4343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D7E5F3"/>
                </a:solidFill>
                <a:latin typeface="Aptos"/>
                <a:ea typeface="Aptos"/>
                <a:cs typeface="Aptos"/>
              </a:defRPr>
            </a:pPr>
            <a:r>
              <a:rPr sz="863" b="0">
                <a:solidFill>
                  <a:srgbClr val="D7E5F3"/>
                </a:solidFill>
                <a:latin typeface="Aptos"/>
                <a:ea typeface="Aptos"/>
                <a:cs typeface="Aptos"/>
              </a:rPr>
              <a:t>Formule courte à utiliser : TransferAI aide votre organisation à identifier les usages les plus utiles, à former les bonnes équipes et à choisir la bonne suite entre pilote, accompagnement et extension. Formulaire d'audit : www.transferai.ci/formulaire-audit-ia/index.html</a:t>
            </a:r>
          </a:p>
        </p:txBody>
      </p:sp>
      <p:sp>
        <p:nvSpPr>
          <p:cNvPr id="24" name="">
            <a:extLst xmlns:a="http://schemas.openxmlformats.org/drawingml/2006/main">
              <a:ext uri="{FF2B5EF4-FFF2-40B4-BE49-F238E27FC236}">
                <a16:creationId xmlns:a16="http://schemas.microsoft.com/office/drawing/2014/main" id="{5339B47D-DE99-4242-9C41-F639E860ECCE}"/>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7BFA0B6-3855-46C2-85BC-0EADEC4BC66D}"/>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standard prospection V3</a:t>
            </a:r>
          </a:p>
        </p:txBody>
      </p:sp>
      <p:sp>
        <p:nvSpPr>
          <p:cNvPr id="26" name="">
            <a:extLst xmlns:a="http://schemas.openxmlformats.org/drawingml/2006/main">
              <a:ext uri="{FF2B5EF4-FFF2-40B4-BE49-F238E27FC236}">
                <a16:creationId xmlns:a16="http://schemas.microsoft.com/office/drawing/2014/main" id="{AA91A597-589C-4A42-BCD8-75FD0111A473}"/>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13</a:t>
            </a:r>
          </a:p>
        </p:txBody>
      </p:sp>
    </p:spTree>
    <p:extLst>
      <p:ext uri="{BB962C8B-B14F-4D97-AF65-F5344CB8AC3E}">
        <p14:creationId xmlns:p14="http://schemas.microsoft.com/office/powerpoint/2010/main" val="2096374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2026-05-31T08:13:46.1780000Z</dcterms:created>
  <dcterms:modified xsi:type="dcterms:W3CDTF">2026-05-31T08:13:46.1780000Z</dcterms:modified>
</coreProperties>
</file>