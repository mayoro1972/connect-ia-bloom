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391cd08914c46e4" /><Relationship Type="http://schemas.openxmlformats.org/officeDocument/2006/relationships/extended-properties" Target="/docProps/app.xml" Id="Rc665885c3f144390" /><Relationship Type="http://schemas.openxmlformats.org/officeDocument/2006/relationships/officeDocument" Target="/ppt/presentation.xml" Id="Rca0fa2ce24d44ea8" /></Relationships>
</file>

<file path=ppt/presentation.xml><?xml version="1.0" encoding="utf-8"?>
<p:presentation xmlns:p="http://schemas.openxmlformats.org/presentationml/2006/main">
  <p:sldMasterIdLst>
    <p:sldMasterId xmlns:r="http://schemas.openxmlformats.org/officeDocument/2006/relationships" id="2147483648" r:id="Raca9604190314df9"/>
  </p:sldMasterIdLst>
  <p:notesMasterIdLst>
    <p:notesMasterId xmlns:r="http://schemas.openxmlformats.org/officeDocument/2006/relationships" r:id="Re662bdd226ab4958"/>
  </p:notesMasterIdLst>
  <p:sldIdLst>
    <p:sldId xmlns:r="http://schemas.openxmlformats.org/officeDocument/2006/relationships" id="256" r:id="Rd7056e5026464db9"/>
    <p:sldId xmlns:r="http://schemas.openxmlformats.org/officeDocument/2006/relationships" id="257" r:id="R26ae1f8712ce4d20"/>
    <p:sldId xmlns:r="http://schemas.openxmlformats.org/officeDocument/2006/relationships" id="258" r:id="R225fcf91e7734789"/>
    <p:sldId xmlns:r="http://schemas.openxmlformats.org/officeDocument/2006/relationships" id="259" r:id="R2f251c996182454a"/>
    <p:sldId xmlns:r="http://schemas.openxmlformats.org/officeDocument/2006/relationships" id="260" r:id="Rf8e1685b8c5f4052"/>
    <p:sldId xmlns:r="http://schemas.openxmlformats.org/officeDocument/2006/relationships" id="261" r:id="Reff25419b1ed48d0"/>
    <p:sldId xmlns:r="http://schemas.openxmlformats.org/officeDocument/2006/relationships" id="262" r:id="Rfdc1a1078b3d4c15"/>
    <p:sldId xmlns:r="http://schemas.openxmlformats.org/officeDocument/2006/relationships" id="263" r:id="R7cf8e10d7bae41e0"/>
    <p:sldId xmlns:r="http://schemas.openxmlformats.org/officeDocument/2006/relationships" id="264" r:id="Rb17a0419e1df4ee1"/>
    <p:sldId xmlns:r="http://schemas.openxmlformats.org/officeDocument/2006/relationships" id="265" r:id="R3f4a881b024c4267"/>
    <p:sldId xmlns:r="http://schemas.openxmlformats.org/officeDocument/2006/relationships" id="266" r:id="R1835f1d3858f4f2e"/>
    <p:sldId xmlns:r="http://schemas.openxmlformats.org/officeDocument/2006/relationships" id="267" r:id="R3f232eea2f554674"/>
    <p:sldId xmlns:r="http://schemas.openxmlformats.org/officeDocument/2006/relationships" id="268" r:id="R162cf532c1d7433d"/>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aca9604190314df9" /><Relationship Type="http://schemas.openxmlformats.org/officeDocument/2006/relationships/theme" Target="/ppt/theme/theme1.xml" Id="R9a36ebc8c6bf4685" /><Relationship Type="http://schemas.openxmlformats.org/officeDocument/2006/relationships/notesMaster" Target="/ppt/notesMasters/notesMaster1.xml" Id="Re662bdd226ab4958" /><Relationship Type="http://schemas.openxmlformats.org/officeDocument/2006/relationships/presProps" Target="/ppt/presProps.xml" Id="R91e87402eecb465f" /><Relationship Type="http://schemas.openxmlformats.org/officeDocument/2006/relationships/viewProps" Target="/ppt/viewProps.xml" Id="R8bdd99df304e4866" /><Relationship Type="http://schemas.openxmlformats.org/officeDocument/2006/relationships/tableStyles" Target="/ppt/tableStyles.xml" Id="Ra56a4e90143a4ef4" /><Relationship Type="http://schemas.openxmlformats.org/officeDocument/2006/relationships/slide" Target="/ppt/slides/slide1.xml" Id="Rd7056e5026464db9" /><Relationship Type="http://schemas.openxmlformats.org/officeDocument/2006/relationships/slide" Target="/ppt/slides/slide2.xml" Id="R26ae1f8712ce4d20" /><Relationship Type="http://schemas.openxmlformats.org/officeDocument/2006/relationships/slide" Target="/ppt/slides/slide3.xml" Id="R225fcf91e7734789" /><Relationship Type="http://schemas.openxmlformats.org/officeDocument/2006/relationships/slide" Target="/ppt/slides/slide4.xml" Id="R2f251c996182454a" /><Relationship Type="http://schemas.openxmlformats.org/officeDocument/2006/relationships/slide" Target="/ppt/slides/slide5.xml" Id="Rf8e1685b8c5f4052" /><Relationship Type="http://schemas.openxmlformats.org/officeDocument/2006/relationships/slide" Target="/ppt/slides/slide6.xml" Id="Reff25419b1ed48d0" /><Relationship Type="http://schemas.openxmlformats.org/officeDocument/2006/relationships/slide" Target="/ppt/slides/slide7.xml" Id="Rfdc1a1078b3d4c15" /><Relationship Type="http://schemas.openxmlformats.org/officeDocument/2006/relationships/slide" Target="/ppt/slides/slide8.xml" Id="R7cf8e10d7bae41e0" /><Relationship Type="http://schemas.openxmlformats.org/officeDocument/2006/relationships/slide" Target="/ppt/slides/slide9.xml" Id="Rb17a0419e1df4ee1" /><Relationship Type="http://schemas.openxmlformats.org/officeDocument/2006/relationships/slide" Target="/ppt/slides/slide10.xml" Id="R3f4a881b024c4267" /><Relationship Type="http://schemas.openxmlformats.org/officeDocument/2006/relationships/slide" Target="/ppt/slides/slide11.xml" Id="R1835f1d3858f4f2e" /><Relationship Type="http://schemas.openxmlformats.org/officeDocument/2006/relationships/slide" Target="/ppt/slides/slide12.xml" Id="R3f232eea2f554674" /><Relationship Type="http://schemas.openxmlformats.org/officeDocument/2006/relationships/slide" Target="/ppt/slides/slide13.xml" Id="R162cf532c1d743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559a8fb82c6c434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22e32ba6bd4ca5" /><Relationship Type="http://schemas.openxmlformats.org/officeDocument/2006/relationships/notesMaster" Target="/ppt/notesMasters/notesMaster1.xml" Id="R13aacf9f11eb4aeb" /></Relationships>
</file>

<file path=ppt/notesSlides/_rels/notesSlide2.xml.rels>&#65279;<?xml version="1.0" encoding="utf-8"?><Relationships xmlns="http://schemas.openxmlformats.org/package/2006/relationships"><Relationship Type="http://schemas.openxmlformats.org/officeDocument/2006/relationships/slide" Target="/ppt/slides/slide2.xml" Id="Rc2a4f5e417614c55" /><Relationship Type="http://schemas.openxmlformats.org/officeDocument/2006/relationships/notesMaster" Target="/ppt/notesMasters/notesMaster1.xml" Id="Rfa8e03981b3b49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5e78e915a8442dd" /><Relationship Type="http://schemas.openxmlformats.org/officeDocument/2006/relationships/notesMaster" Target="/ppt/notesMasters/notesMaster1.xml" Id="R38cc4bcc644141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baa31685df5940bc" /><Relationship Type="http://schemas.openxmlformats.org/officeDocument/2006/relationships/notesMaster" Target="/ppt/notesMasters/notesMaster1.xml" Id="R022278fac0fe4ec5" /></Relationships>
</file>

<file path=ppt/notesSlides/_rels/notesSlide5.xml.rels>&#65279;<?xml version="1.0" encoding="utf-8"?><Relationships xmlns="http://schemas.openxmlformats.org/package/2006/relationships"><Relationship Type="http://schemas.openxmlformats.org/officeDocument/2006/relationships/slide" Target="/ppt/slides/slide5.xml" Id="R25d5f0bfd2a74ed3" /><Relationship Type="http://schemas.openxmlformats.org/officeDocument/2006/relationships/notesMaster" Target="/ppt/notesMasters/notesMaster1.xml" Id="R02270693617a4e7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deca51087d45fc" /><Relationship Type="http://schemas.openxmlformats.org/officeDocument/2006/relationships/notesMaster" Target="/ppt/notesMasters/notesMaster1.xml" Id="Re728730f4e054660" /></Relationships>
</file>

<file path=ppt/notesSlides/_rels/notesSlide7.xml.rels>&#65279;<?xml version="1.0" encoding="utf-8"?><Relationships xmlns="http://schemas.openxmlformats.org/package/2006/relationships"><Relationship Type="http://schemas.openxmlformats.org/officeDocument/2006/relationships/slide" Target="/ppt/slides/slide7.xml" Id="R0ad284e533fe4dc4" /><Relationship Type="http://schemas.openxmlformats.org/officeDocument/2006/relationships/notesMaster" Target="/ppt/notesMasters/notesMaster1.xml" Id="R3ce9ce64e67a452e" /></Relationships>
</file>

<file path=ppt/notesSlides/_rels/notesSlide8.xml.rels>&#65279;<?xml version="1.0" encoding="utf-8"?><Relationships xmlns="http://schemas.openxmlformats.org/package/2006/relationships"><Relationship Type="http://schemas.openxmlformats.org/officeDocument/2006/relationships/slide" Target="/ppt/slides/slide8.xml" Id="R9239ecea03d7438b" /><Relationship Type="http://schemas.openxmlformats.org/officeDocument/2006/relationships/notesMaster" Target="/ppt/notesMasters/notesMaster1.xml" Id="R3fade0d70e6248e7" /></Relationships>
</file>

<file path=ppt/notesSlides/_rels/notesSlide9.xml.rels>&#65279;<?xml version="1.0" encoding="utf-8"?><Relationships xmlns="http://schemas.openxmlformats.org/package/2006/relationships"><Relationship Type="http://schemas.openxmlformats.org/officeDocument/2006/relationships/slide" Target="/ppt/slides/slide9.xml" Id="R1afd377967cc4e7d" /><Relationship Type="http://schemas.openxmlformats.org/officeDocument/2006/relationships/notesMaster" Target="/ppt/notesMasters/notesMaster1.xml" Id="Rdd2ed77619a249a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5bf92f809e14be6" /><Relationship Type="http://schemas.openxmlformats.org/officeDocument/2006/relationships/notesMaster" Target="/ppt/notesMasters/notesMaster1.xml" Id="Re6e03d96aa53400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0c93b0db1ee4bc6" /><Relationship Type="http://schemas.openxmlformats.org/officeDocument/2006/relationships/notesMaster" Target="/ppt/notesMasters/notesMaster1.xml" Id="R775dae124983484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4d35e5252454368" /><Relationship Type="http://schemas.openxmlformats.org/officeDocument/2006/relationships/notesMaster" Target="/ppt/notesMasters/notesMaster1.xml" Id="R23d70bf2b3464e8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5a4eb7dcae341b9" /><Relationship Type="http://schemas.openxmlformats.org/officeDocument/2006/relationships/notesMaster" Target="/ppt/notesMasters/notesMaster1.xml" Id="R3322c3371ef043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7a154396e9641f5"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03e8b5c858744dd3" /><Relationship Type="http://schemas.openxmlformats.org/officeDocument/2006/relationships/slideLayout" Target="/ppt/slideLayouts/slideLayout2.xml" Id="Rf1dfda48dcc24c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1dfda48dcc24c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f931df247a934592" /><Relationship Type="http://schemas.openxmlformats.org/officeDocument/2006/relationships/notesSlide" Target="/ppt/notesSlides/notesSlide1.xml" Id="R3d2b04bc39bb43a6"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9aca681df1d345c0" /><Relationship Type="http://schemas.openxmlformats.org/officeDocument/2006/relationships/notesSlide" Target="/ppt/notesSlides/notesSlide2.xml" Id="Rb03fad96df82463a"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269b7bf73144d12" /><Relationship Type="http://schemas.openxmlformats.org/officeDocument/2006/relationships/notesSlide" Target="/ppt/notesSlides/notesSlide3.xml" Id="Rd5422429280c49ef"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4d6265f6807d49e7" /><Relationship Type="http://schemas.openxmlformats.org/officeDocument/2006/relationships/image" Target="/ppt/media/image.png" Id="R31751d95f82d460a" /><Relationship Type="http://schemas.openxmlformats.org/officeDocument/2006/relationships/image" Target="/ppt/media/image.svg" Id="R9e1a504730db45a0" /><Relationship Type="http://schemas.openxmlformats.org/officeDocument/2006/relationships/image" Target="/ppt/media/image2.png" Id="R7ff7acc5df8c4a9b" /><Relationship Type="http://schemas.openxmlformats.org/officeDocument/2006/relationships/image" Target="/ppt/media/image2.svg" Id="R11ba98f279f2493e" /><Relationship Type="http://schemas.openxmlformats.org/officeDocument/2006/relationships/image" Target="/ppt/media/image3.png" Id="R784fa6b6c690471c" /><Relationship Type="http://schemas.openxmlformats.org/officeDocument/2006/relationships/image" Target="/ppt/media/image3.svg" Id="R0f196db0cdfc45d7" /><Relationship Type="http://schemas.openxmlformats.org/officeDocument/2006/relationships/image" Target="/ppt/media/image4.png" Id="Rce089b4c4c9a4848" /><Relationship Type="http://schemas.openxmlformats.org/officeDocument/2006/relationships/image" Target="/ppt/media/image4.svg" Id="Rcbd3070aae2a4039" /><Relationship Type="http://schemas.openxmlformats.org/officeDocument/2006/relationships/notesSlide" Target="/ppt/notesSlides/notesSlide4.xml" Id="Ra029f23585c547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c7b7195e2f7e4385" /><Relationship Type="http://schemas.openxmlformats.org/officeDocument/2006/relationships/image" Target="/ppt/media/image5.png" Id="R90f98bd6fe78416c" /><Relationship Type="http://schemas.openxmlformats.org/officeDocument/2006/relationships/image" Target="/ppt/media/image5.svg" Id="Ra8c87132a6164d37" /><Relationship Type="http://schemas.openxmlformats.org/officeDocument/2006/relationships/image" Target="/ppt/media/image6.png" Id="R9b1cc05f47534895" /><Relationship Type="http://schemas.openxmlformats.org/officeDocument/2006/relationships/image" Target="/ppt/media/image6.svg" Id="Rcea3bb052cfd4939" /><Relationship Type="http://schemas.openxmlformats.org/officeDocument/2006/relationships/image" Target="/ppt/media/image7.png" Id="Rdef26f8dc06244d6" /><Relationship Type="http://schemas.openxmlformats.org/officeDocument/2006/relationships/image" Target="/ppt/media/image7.svg" Id="R45fc7872368a4860" /><Relationship Type="http://schemas.openxmlformats.org/officeDocument/2006/relationships/image" Target="/ppt/media/image8.png" Id="Rd270473155cc493e" /><Relationship Type="http://schemas.openxmlformats.org/officeDocument/2006/relationships/image" Target="/ppt/media/image8.svg" Id="R50fb442d1aed462c" /><Relationship Type="http://schemas.openxmlformats.org/officeDocument/2006/relationships/notesSlide" Target="/ppt/notesSlides/notesSlide5.xml" Id="Rf2299de3d78c4e5c"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4889045c69d74422" /><Relationship Type="http://schemas.openxmlformats.org/officeDocument/2006/relationships/notesSlide" Target="/ppt/notesSlides/notesSlide6.xml" Id="R4fe7b254cbe145ec"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b8cabd28bad640dd" /><Relationship Type="http://schemas.openxmlformats.org/officeDocument/2006/relationships/image" Target="/ppt/media/image9.png" Id="R438ce5baaf9448d3" /><Relationship Type="http://schemas.openxmlformats.org/officeDocument/2006/relationships/image" Target="/ppt/media/image9.svg" Id="R0f9f8389d1ce4db8" /><Relationship Type="http://schemas.openxmlformats.org/officeDocument/2006/relationships/image" Target="/ppt/media/image10.png" Id="R5d40b44b3a5f4b89" /><Relationship Type="http://schemas.openxmlformats.org/officeDocument/2006/relationships/image" Target="/ppt/media/image10.svg" Id="Rebad49f300b444b8" /><Relationship Type="http://schemas.openxmlformats.org/officeDocument/2006/relationships/image" Target="/ppt/media/image11.png" Id="R012a3c7e709e4b2d" /><Relationship Type="http://schemas.openxmlformats.org/officeDocument/2006/relationships/image" Target="/ppt/media/image11.svg" Id="Ra34c3e1fcaf3475e" /><Relationship Type="http://schemas.openxmlformats.org/officeDocument/2006/relationships/image" Target="/ppt/media/image12.png" Id="R66d7d2df56284653" /><Relationship Type="http://schemas.openxmlformats.org/officeDocument/2006/relationships/image" Target="/ppt/media/image12.svg" Id="Rcf74336dc54d4fcb" /><Relationship Type="http://schemas.openxmlformats.org/officeDocument/2006/relationships/notesSlide" Target="/ppt/notesSlides/notesSlide7.xml" Id="R50a2e942b089474f"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68d3b7ba82e241c9" /><Relationship Type="http://schemas.openxmlformats.org/officeDocument/2006/relationships/notesSlide" Target="/ppt/notesSlides/notesSlide8.xml" Id="R2414da66c78246a5"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e86bea31fa1e4345" /><Relationship Type="http://schemas.openxmlformats.org/officeDocument/2006/relationships/image" Target="/ppt/media/image13.png" Id="Rb7d449a8024e45ec" /><Relationship Type="http://schemas.openxmlformats.org/officeDocument/2006/relationships/image" Target="/ppt/media/image13.svg" Id="R00c2ef2cd9e34e4b" /><Relationship Type="http://schemas.openxmlformats.org/officeDocument/2006/relationships/image" Target="/ppt/media/image14.png" Id="R3c8670d5f68f4eec" /><Relationship Type="http://schemas.openxmlformats.org/officeDocument/2006/relationships/image" Target="/ppt/media/image14.svg" Id="Rdc08d603bb54436c" /><Relationship Type="http://schemas.openxmlformats.org/officeDocument/2006/relationships/notesSlide" Target="/ppt/notesSlides/notesSlide9.xml" Id="Rf68c413184d440e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ca24675489944445" /><Relationship Type="http://schemas.openxmlformats.org/officeDocument/2006/relationships/image" Target="/ppt/media/image15.png" Id="R9f09c56f41c140d5" /><Relationship Type="http://schemas.openxmlformats.org/officeDocument/2006/relationships/image" Target="/ppt/media/image15.svg" Id="R3150caf4cf744c21" /><Relationship Type="http://schemas.openxmlformats.org/officeDocument/2006/relationships/image" Target="/ppt/media/image16.png" Id="R4b697aa1d39349d8" /><Relationship Type="http://schemas.openxmlformats.org/officeDocument/2006/relationships/image" Target="/ppt/media/image16.svg" Id="R814a473064984341" /><Relationship Type="http://schemas.openxmlformats.org/officeDocument/2006/relationships/notesSlide" Target="/ppt/notesSlides/notesSlide10.xml" Id="R4a19b105bf6c4d5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0e14fb45656e4d84" /><Relationship Type="http://schemas.openxmlformats.org/officeDocument/2006/relationships/notesSlide" Target="/ppt/notesSlides/notesSlide11.xml" Id="R11e87a81b5b247a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36be5483c78e4142" /><Relationship Type="http://schemas.openxmlformats.org/officeDocument/2006/relationships/notesSlide" Target="/ppt/notesSlides/notesSlide12.xml" Id="Re9da4c92432a470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32da812cc364466b" /><Relationship Type="http://schemas.openxmlformats.org/officeDocument/2006/relationships/image" Target="/ppt/media/image17.png" Id="Rad6ab7a4cb084013" /><Relationship Type="http://schemas.openxmlformats.org/officeDocument/2006/relationships/image" Target="/ppt/media/image17.svg" Id="R7ee5f0815d2d4bbe" /><Relationship Type="http://schemas.openxmlformats.org/officeDocument/2006/relationships/notesSlide" Target="/ppt/notesSlides/notesSlide13.xml" Id="R9e931d9b4c1b458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5FED710-96F1-4BD3-984F-A12EFD7B069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12BF027-175C-428F-B952-D58C10825B5E}"/>
              </a:ext>
            </a:extLst>
          </p:cNvPr>
          <p:cNvSpPr>
            <a:spLocks xmlns:a="http://schemas.openxmlformats.org/drawingml/2006/main" noGrp="1"/>
          </p:cNvSpPr>
          <p:nvPr/>
        </p:nvSpPr>
        <p:spPr>
          <a:xfrm xmlns:a="http://schemas.openxmlformats.org/drawingml/2006/main">
            <a:off x="552450" y="781050"/>
            <a:ext cx="6438900" cy="53340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3" name="">
            <a:extLst xmlns:a="http://schemas.openxmlformats.org/drawingml/2006/main">
              <a:ext uri="{FF2B5EF4-FFF2-40B4-BE49-F238E27FC236}">
                <a16:creationId xmlns:a16="http://schemas.microsoft.com/office/drawing/2014/main" id="{5DE86F5B-BA74-4A32-BBC7-C2C552C09F26}"/>
              </a:ext>
            </a:extLst>
          </p:cNvPr>
          <p:cNvSpPr>
            <a:spLocks xmlns:a="http://schemas.openxmlformats.org/drawingml/2006/main" noGrp="1"/>
          </p:cNvSpPr>
          <p:nvPr/>
        </p:nvSpPr>
        <p:spPr>
          <a:xfrm xmlns:a="http://schemas.openxmlformats.org/drawingml/2006/main">
            <a:off x="7372350" y="781050"/>
            <a:ext cx="4267200" cy="53340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4" name="">
            <a:extLst xmlns:a="http://schemas.openxmlformats.org/drawingml/2006/main">
              <a:ext uri="{FF2B5EF4-FFF2-40B4-BE49-F238E27FC236}">
                <a16:creationId xmlns:a16="http://schemas.microsoft.com/office/drawing/2014/main" id="{D97D56B4-1E01-42BB-88A9-DED61BB5E5F8}"/>
              </a:ext>
            </a:extLst>
          </p:cNvPr>
          <p:cNvSpPr>
            <a:spLocks xmlns:a="http://schemas.openxmlformats.org/drawingml/2006/main" noGrp="1"/>
          </p:cNvSpPr>
          <p:nvPr/>
        </p:nvSpPr>
        <p:spPr>
          <a:xfrm xmlns:a="http://schemas.openxmlformats.org/drawingml/2006/main">
            <a:off x="7372350" y="781050"/>
            <a:ext cx="95250" cy="5334000"/>
          </a:xfrm>
          <a:prstGeom xmlns:a="http://schemas.openxmlformats.org/drawingml/2006/main" prst="rect">
            <a:avLst/>
          </a:prstGeom>
          <a:solidFill xmlns:a="http://schemas.openxmlformats.org/drawingml/2006/main">
            <a:srgbClr val="1C8A78"/>
          </a:solidFill>
          <a:ln xmlns:a="http://schemas.openxmlformats.org/drawingml/2006/main" w="0">
            <a:solidFill>
              <a:srgbClr val="1C8A78"/>
            </a:solidFill>
            <a:prstDash val="solid"/>
          </a:ln>
        </p:spPr>
      </p:sp>
      <p:sp>
        <p:nvSpPr>
          <p:cNvPr id="5" name="">
            <a:extLst xmlns:a="http://schemas.openxmlformats.org/drawingml/2006/main">
              <a:ext uri="{FF2B5EF4-FFF2-40B4-BE49-F238E27FC236}">
                <a16:creationId xmlns:a16="http://schemas.microsoft.com/office/drawing/2014/main" id="{1F7B7591-5783-485D-A90B-DD87EC92BF5C}"/>
              </a:ext>
            </a:extLst>
          </p:cNvPr>
          <p:cNvSpPr>
            <a:spLocks xmlns:a="http://schemas.openxmlformats.org/drawingml/2006/main" noGrp="1"/>
          </p:cNvSpPr>
          <p:nvPr/>
        </p:nvSpPr>
        <p:spPr>
          <a:xfrm xmlns:a="http://schemas.openxmlformats.org/drawingml/2006/main">
            <a:off x="800100" y="10477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MODÈLE INSTITUTIONNEL | SERVICE ET GOUVERNANCE</a:t>
            </a:r>
          </a:p>
        </p:txBody>
      </p:sp>
      <p:sp>
        <p:nvSpPr>
          <p:cNvPr id="6" name="">
            <a:extLst xmlns:a="http://schemas.openxmlformats.org/drawingml/2006/main">
              <a:ext uri="{FF2B5EF4-FFF2-40B4-BE49-F238E27FC236}">
                <a16:creationId xmlns:a16="http://schemas.microsoft.com/office/drawing/2014/main" id="{254CF24A-F758-41B8-8C24-69662936A1FA}"/>
              </a:ext>
            </a:extLst>
          </p:cNvPr>
          <p:cNvSpPr>
            <a:spLocks xmlns:a="http://schemas.openxmlformats.org/drawingml/2006/main" noGrp="1"/>
          </p:cNvSpPr>
          <p:nvPr/>
        </p:nvSpPr>
        <p:spPr>
          <a:xfrm xmlns:a="http://schemas.openxmlformats.org/drawingml/2006/main">
            <a:off x="800100" y="1409700"/>
            <a:ext cx="5334000" cy="1466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150" b="1">
                <a:solidFill>
                  <a:srgbClr val="1A3554"/>
                </a:solidFill>
                <a:latin typeface="Aptos Display"/>
                <a:ea typeface="Aptos Display"/>
                <a:cs typeface="Aptos Display"/>
              </a:defRPr>
            </a:pPr>
            <a:r>
              <a:rPr sz="3150" b="1">
                <a:solidFill>
                  <a:srgbClr val="1A3554"/>
                </a:solidFill>
                <a:latin typeface="Aptos Display"/>
                <a:ea typeface="Aptos Display"/>
                <a:cs typeface="Aptos Display"/>
              </a:rPr>
              <a:t>Transformer l'IA</a:t>
            </a:r>
          </a:p>
          <a:p xmlns:a="http://schemas.openxmlformats.org/drawingml/2006/main">
            <a:pPr algn="l">
              <a:defRPr sz="3150" b="1">
                <a:solidFill>
                  <a:srgbClr val="1A3554"/>
                </a:solidFill>
                <a:latin typeface="Aptos Display"/>
                <a:ea typeface="Aptos Display"/>
                <a:cs typeface="Aptos Display"/>
              </a:defRPr>
            </a:pPr>
            <a:r>
              <a:rPr sz="3150" b="1">
                <a:solidFill>
                  <a:srgbClr val="1A3554"/>
                </a:solidFill>
                <a:latin typeface="Aptos Display"/>
                <a:ea typeface="Aptos Display"/>
                <a:cs typeface="Aptos Display"/>
              </a:rPr>
              <a:t>en impact utile et</a:t>
            </a:r>
          </a:p>
          <a:p xmlns:a="http://schemas.openxmlformats.org/drawingml/2006/main">
            <a:pPr algn="l">
              <a:defRPr sz="3150" b="1">
                <a:solidFill>
                  <a:srgbClr val="1A3554"/>
                </a:solidFill>
                <a:latin typeface="Aptos Display"/>
                <a:ea typeface="Aptos Display"/>
                <a:cs typeface="Aptos Display"/>
              </a:defRPr>
            </a:pPr>
            <a:r>
              <a:rPr sz="3150" b="1">
                <a:solidFill>
                  <a:srgbClr val="1A3554"/>
                </a:solidFill>
                <a:latin typeface="Aptos Display"/>
                <a:ea typeface="Aptos Display"/>
                <a:cs typeface="Aptos Display"/>
              </a:rPr>
              <a:t>gouverné</a:t>
            </a:r>
          </a:p>
        </p:txBody>
      </p:sp>
      <p:sp>
        <p:nvSpPr>
          <p:cNvPr id="7" name="">
            <a:extLst xmlns:a="http://schemas.openxmlformats.org/drawingml/2006/main">
              <a:ext uri="{FF2B5EF4-FFF2-40B4-BE49-F238E27FC236}">
                <a16:creationId xmlns:a16="http://schemas.microsoft.com/office/drawing/2014/main" id="{F04479FF-0DC4-4085-8D09-1D75DFDE0CAB}"/>
              </a:ext>
            </a:extLst>
          </p:cNvPr>
          <p:cNvSpPr>
            <a:spLocks xmlns:a="http://schemas.openxmlformats.org/drawingml/2006/main" noGrp="1"/>
          </p:cNvSpPr>
          <p:nvPr/>
        </p:nvSpPr>
        <p:spPr>
          <a:xfrm xmlns:a="http://schemas.openxmlformats.org/drawingml/2006/main">
            <a:off x="800100" y="3086100"/>
            <a:ext cx="55245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617086"/>
                </a:solidFill>
                <a:latin typeface="Aptos"/>
                <a:ea typeface="Aptos"/>
                <a:cs typeface="Aptos"/>
              </a:defRPr>
            </a:pPr>
            <a:r>
              <a:rPr sz="1200" b="0">
                <a:solidFill>
                  <a:srgbClr val="617086"/>
                </a:solidFill>
                <a:latin typeface="Aptos"/>
                <a:ea typeface="Aptos"/>
                <a:cs typeface="Aptos"/>
              </a:rPr>
              <a:t>Une proposition construite à partir du cadre TransferAI, puis traduite dans le contexte du prospect autour de quatre terrains d'impact : qualité de service, coordination, pilotage, diffusion des procédures et renforcement des capacités.</a:t>
            </a:r>
          </a:p>
        </p:txBody>
      </p:sp>
      <p:sp>
        <p:nvSpPr>
          <p:cNvPr id="8" name="">
            <a:extLst xmlns:a="http://schemas.openxmlformats.org/drawingml/2006/main">
              <a:ext uri="{FF2B5EF4-FFF2-40B4-BE49-F238E27FC236}">
                <a16:creationId xmlns:a16="http://schemas.microsoft.com/office/drawing/2014/main" id="{CC9B6AB6-5D83-42D1-B05C-35F443D70B8A}"/>
              </a:ext>
            </a:extLst>
          </p:cNvPr>
          <p:cNvSpPr>
            <a:spLocks xmlns:a="http://schemas.openxmlformats.org/drawingml/2006/main" noGrp="1"/>
          </p:cNvSpPr>
          <p:nvPr/>
        </p:nvSpPr>
        <p:spPr>
          <a:xfrm xmlns:a="http://schemas.openxmlformats.org/drawingml/2006/main">
            <a:off x="800100" y="4038600"/>
            <a:ext cx="3905250" cy="2857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9" name="">
            <a:extLst xmlns:a="http://schemas.openxmlformats.org/drawingml/2006/main">
              <a:ext uri="{FF2B5EF4-FFF2-40B4-BE49-F238E27FC236}">
                <a16:creationId xmlns:a16="http://schemas.microsoft.com/office/drawing/2014/main" id="{933E772B-7C5D-411B-8C5F-037729BF591B}"/>
              </a:ext>
            </a:extLst>
          </p:cNvPr>
          <p:cNvSpPr>
            <a:spLocks xmlns:a="http://schemas.openxmlformats.org/drawingml/2006/main" noGrp="1"/>
          </p:cNvSpPr>
          <p:nvPr/>
        </p:nvSpPr>
        <p:spPr>
          <a:xfrm xmlns:a="http://schemas.openxmlformats.org/drawingml/2006/main">
            <a:off x="952500" y="4105275"/>
            <a:ext cx="3619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A3554"/>
                </a:solidFill>
                <a:latin typeface="Aptos"/>
                <a:ea typeface="Aptos"/>
                <a:cs typeface="Aptos"/>
              </a:defRPr>
            </a:pPr>
            <a:r>
              <a:rPr sz="863" b="1">
                <a:solidFill>
                  <a:srgbClr val="1A3554"/>
                </a:solidFill>
                <a:latin typeface="Aptos"/>
                <a:ea typeface="Aptos"/>
                <a:cs typeface="Aptos"/>
              </a:rPr>
              <a:t>TransferAI est le hub IA de Nettelecom CI.</a:t>
            </a:r>
          </a:p>
        </p:txBody>
      </p:sp>
      <p:sp>
        <p:nvSpPr>
          <p:cNvPr id="10" name="">
            <a:extLst xmlns:a="http://schemas.openxmlformats.org/drawingml/2006/main">
              <a:ext uri="{FF2B5EF4-FFF2-40B4-BE49-F238E27FC236}">
                <a16:creationId xmlns:a16="http://schemas.microsoft.com/office/drawing/2014/main" id="{8243AD81-FB74-4A4C-82F0-F537CBBFFFBD}"/>
              </a:ext>
            </a:extLst>
          </p:cNvPr>
          <p:cNvSpPr>
            <a:spLocks xmlns:a="http://schemas.openxmlformats.org/drawingml/2006/main" noGrp="1"/>
          </p:cNvSpPr>
          <p:nvPr/>
        </p:nvSpPr>
        <p:spPr>
          <a:xfrm xmlns:a="http://schemas.openxmlformats.org/drawingml/2006/main">
            <a:off x="800100" y="4438650"/>
            <a:ext cx="2095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Point d'entrée recommandé</a:t>
            </a:r>
          </a:p>
        </p:txBody>
      </p:sp>
      <p:sp>
        <p:nvSpPr>
          <p:cNvPr id="11" name="">
            <a:extLst xmlns:a="http://schemas.openxmlformats.org/drawingml/2006/main">
              <a:ext uri="{FF2B5EF4-FFF2-40B4-BE49-F238E27FC236}">
                <a16:creationId xmlns:a16="http://schemas.microsoft.com/office/drawing/2014/main" id="{D27C7E1C-864A-49D1-BA03-442185C9E935}"/>
              </a:ext>
            </a:extLst>
          </p:cNvPr>
          <p:cNvSpPr>
            <a:spLocks xmlns:a="http://schemas.openxmlformats.org/drawingml/2006/main" noGrp="1"/>
          </p:cNvSpPr>
          <p:nvPr/>
        </p:nvSpPr>
        <p:spPr>
          <a:xfrm xmlns:a="http://schemas.openxmlformats.org/drawingml/2006/main">
            <a:off x="800100" y="4648200"/>
            <a:ext cx="52197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A3554"/>
                </a:solidFill>
                <a:latin typeface="Aptos"/>
                <a:ea typeface="Aptos"/>
                <a:cs typeface="Aptos"/>
              </a:defRPr>
            </a:pPr>
            <a:r>
              <a:rPr sz="1050" b="1">
                <a:solidFill>
                  <a:srgbClr val="1A3554"/>
                </a:solidFill>
                <a:latin typeface="Aptos"/>
                <a:ea typeface="Aptos"/>
                <a:cs typeface="Aptos"/>
              </a:rPr>
              <a:t>Audit IA gratuit + échange expert de 30 minutes pour qualifier les priorités, les indicateurs de preuve et la bonne séquence de déploiement.</a:t>
            </a:r>
          </a:p>
        </p:txBody>
      </p:sp>
      <p:sp>
        <p:nvSpPr>
          <p:cNvPr id="12" name="">
            <a:extLst xmlns:a="http://schemas.openxmlformats.org/drawingml/2006/main">
              <a:ext uri="{FF2B5EF4-FFF2-40B4-BE49-F238E27FC236}">
                <a16:creationId xmlns:a16="http://schemas.microsoft.com/office/drawing/2014/main" id="{6ED3AE17-0F38-4A65-9D7A-C133D4CC8376}"/>
              </a:ext>
            </a:extLst>
          </p:cNvPr>
          <p:cNvSpPr>
            <a:spLocks xmlns:a="http://schemas.openxmlformats.org/drawingml/2006/main" noGrp="1"/>
          </p:cNvSpPr>
          <p:nvPr/>
        </p:nvSpPr>
        <p:spPr>
          <a:xfrm xmlns:a="http://schemas.openxmlformats.org/drawingml/2006/main">
            <a:off x="800100" y="5143500"/>
            <a:ext cx="1314450" cy="952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3" name="">
            <a:extLst xmlns:a="http://schemas.openxmlformats.org/drawingml/2006/main">
              <a:ext uri="{FF2B5EF4-FFF2-40B4-BE49-F238E27FC236}">
                <a16:creationId xmlns:a16="http://schemas.microsoft.com/office/drawing/2014/main" id="{5036FB9B-2C2C-4105-BBEE-88AF8FCD8E56}"/>
              </a:ext>
            </a:extLst>
          </p:cNvPr>
          <p:cNvSpPr>
            <a:spLocks xmlns:a="http://schemas.openxmlformats.org/drawingml/2006/main" noGrp="1"/>
          </p:cNvSpPr>
          <p:nvPr/>
        </p:nvSpPr>
        <p:spPr>
          <a:xfrm xmlns:a="http://schemas.openxmlformats.org/drawingml/2006/main">
            <a:off x="952500" y="5314950"/>
            <a:ext cx="28575" cy="609600"/>
          </a:xfrm>
          <a:prstGeom xmlns:a="http://schemas.openxmlformats.org/drawingml/2006/main" prst="rect">
            <a:avLst/>
          </a:prstGeom>
          <a:solidFill xmlns:a="http://schemas.openxmlformats.org/drawingml/2006/main">
            <a:srgbClr val="E76F1D"/>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A8E82F06-00DE-4B79-AD2E-064F4331A4C6}"/>
              </a:ext>
            </a:extLst>
          </p:cNvPr>
          <p:cNvSpPr>
            <a:spLocks xmlns:a="http://schemas.openxmlformats.org/drawingml/2006/main" noGrp="1"/>
          </p:cNvSpPr>
          <p:nvPr/>
        </p:nvSpPr>
        <p:spPr>
          <a:xfrm xmlns:a="http://schemas.openxmlformats.org/drawingml/2006/main">
            <a:off x="1085850" y="5276850"/>
            <a:ext cx="895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J+15</a:t>
            </a:r>
          </a:p>
        </p:txBody>
      </p:sp>
      <p:sp>
        <p:nvSpPr>
          <p:cNvPr id="15" name="">
            <a:extLst xmlns:a="http://schemas.openxmlformats.org/drawingml/2006/main">
              <a:ext uri="{FF2B5EF4-FFF2-40B4-BE49-F238E27FC236}">
                <a16:creationId xmlns:a16="http://schemas.microsoft.com/office/drawing/2014/main" id="{71E7AD60-6C60-41FA-BF91-0625B24C34A8}"/>
              </a:ext>
            </a:extLst>
          </p:cNvPr>
          <p:cNvSpPr>
            <a:spLocks xmlns:a="http://schemas.openxmlformats.org/drawingml/2006/main" noGrp="1"/>
          </p:cNvSpPr>
          <p:nvPr/>
        </p:nvSpPr>
        <p:spPr>
          <a:xfrm xmlns:a="http://schemas.openxmlformats.org/drawingml/2006/main">
            <a:off x="1085850" y="556260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4" b="1">
                <a:solidFill>
                  <a:srgbClr val="617086"/>
                </a:solidFill>
                <a:latin typeface="Aptos"/>
                <a:ea typeface="Aptos"/>
                <a:cs typeface="Aptos"/>
              </a:defRPr>
            </a:pPr>
            <a:r>
              <a:rPr sz="694" b="1">
                <a:solidFill>
                  <a:srgbClr val="617086"/>
                </a:solidFill>
                <a:latin typeface="Aptos"/>
                <a:ea typeface="Aptos"/>
                <a:cs typeface="Aptos"/>
              </a:rPr>
              <a:t>premier livrable</a:t>
            </a:r>
          </a:p>
        </p:txBody>
      </p:sp>
      <p:sp>
        <p:nvSpPr>
          <p:cNvPr id="16" name="">
            <a:extLst xmlns:a="http://schemas.openxmlformats.org/drawingml/2006/main">
              <a:ext uri="{FF2B5EF4-FFF2-40B4-BE49-F238E27FC236}">
                <a16:creationId xmlns:a16="http://schemas.microsoft.com/office/drawing/2014/main" id="{07E27C88-CAE3-4893-9150-5265157C30C7}"/>
              </a:ext>
            </a:extLst>
          </p:cNvPr>
          <p:cNvSpPr>
            <a:spLocks xmlns:a="http://schemas.openxmlformats.org/drawingml/2006/main" noGrp="1"/>
          </p:cNvSpPr>
          <p:nvPr/>
        </p:nvSpPr>
        <p:spPr>
          <a:xfrm xmlns:a="http://schemas.openxmlformats.org/drawingml/2006/main">
            <a:off x="1085850" y="5753100"/>
            <a:ext cx="895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7" b="0">
                <a:solidFill>
                  <a:srgbClr val="617086"/>
                </a:solidFill>
                <a:latin typeface="Aptos"/>
                <a:ea typeface="Aptos"/>
                <a:cs typeface="Aptos"/>
              </a:defRPr>
            </a:pPr>
            <a:r>
              <a:rPr sz="607" b="0">
                <a:solidFill>
                  <a:srgbClr val="617086"/>
                </a:solidFill>
                <a:latin typeface="Aptos"/>
                <a:ea typeface="Aptos"/>
                <a:cs typeface="Aptos"/>
              </a:rPr>
              <a:t>lecture claire des gains rapides</a:t>
            </a:r>
          </a:p>
        </p:txBody>
      </p:sp>
      <p:sp>
        <p:nvSpPr>
          <p:cNvPr id="17" name="">
            <a:extLst xmlns:a="http://schemas.openxmlformats.org/drawingml/2006/main">
              <a:ext uri="{FF2B5EF4-FFF2-40B4-BE49-F238E27FC236}">
                <a16:creationId xmlns:a16="http://schemas.microsoft.com/office/drawing/2014/main" id="{4AC72155-64F1-4771-835F-EE0F04C40FF1}"/>
              </a:ext>
            </a:extLst>
          </p:cNvPr>
          <p:cNvSpPr>
            <a:spLocks xmlns:a="http://schemas.openxmlformats.org/drawingml/2006/main" noGrp="1"/>
          </p:cNvSpPr>
          <p:nvPr/>
        </p:nvSpPr>
        <p:spPr>
          <a:xfrm xmlns:a="http://schemas.openxmlformats.org/drawingml/2006/main">
            <a:off x="2247900" y="5143500"/>
            <a:ext cx="1314450" cy="952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8" name="">
            <a:extLst xmlns:a="http://schemas.openxmlformats.org/drawingml/2006/main">
              <a:ext uri="{FF2B5EF4-FFF2-40B4-BE49-F238E27FC236}">
                <a16:creationId xmlns:a16="http://schemas.microsoft.com/office/drawing/2014/main" id="{FBE47A2B-F56B-44CF-95B1-EFB5810309A5}"/>
              </a:ext>
            </a:extLst>
          </p:cNvPr>
          <p:cNvSpPr>
            <a:spLocks xmlns:a="http://schemas.openxmlformats.org/drawingml/2006/main" noGrp="1"/>
          </p:cNvSpPr>
          <p:nvPr/>
        </p:nvSpPr>
        <p:spPr>
          <a:xfrm xmlns:a="http://schemas.openxmlformats.org/drawingml/2006/main">
            <a:off x="2400300" y="5314950"/>
            <a:ext cx="28575" cy="609600"/>
          </a:xfrm>
          <a:prstGeom xmlns:a="http://schemas.openxmlformats.org/drawingml/2006/main" prst="rect">
            <a:avLst/>
          </a:prstGeom>
          <a:solidFill xmlns:a="http://schemas.openxmlformats.org/drawingml/2006/main">
            <a:srgbClr val="1C8A78"/>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15A29A5B-AFA1-4D46-A622-755CA5B2C42C}"/>
              </a:ext>
            </a:extLst>
          </p:cNvPr>
          <p:cNvSpPr>
            <a:spLocks xmlns:a="http://schemas.openxmlformats.org/drawingml/2006/main" noGrp="1"/>
          </p:cNvSpPr>
          <p:nvPr/>
        </p:nvSpPr>
        <p:spPr>
          <a:xfrm xmlns:a="http://schemas.openxmlformats.org/drawingml/2006/main">
            <a:off x="2533650" y="5276850"/>
            <a:ext cx="895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13</a:t>
            </a:r>
          </a:p>
        </p:txBody>
      </p:sp>
      <p:sp>
        <p:nvSpPr>
          <p:cNvPr id="20" name="">
            <a:extLst xmlns:a="http://schemas.openxmlformats.org/drawingml/2006/main">
              <a:ext uri="{FF2B5EF4-FFF2-40B4-BE49-F238E27FC236}">
                <a16:creationId xmlns:a16="http://schemas.microsoft.com/office/drawing/2014/main" id="{4D0A44A9-BB3E-4CAF-875A-ED468D1EE40A}"/>
              </a:ext>
            </a:extLst>
          </p:cNvPr>
          <p:cNvSpPr>
            <a:spLocks xmlns:a="http://schemas.openxmlformats.org/drawingml/2006/main" noGrp="1"/>
          </p:cNvSpPr>
          <p:nvPr/>
        </p:nvSpPr>
        <p:spPr>
          <a:xfrm xmlns:a="http://schemas.openxmlformats.org/drawingml/2006/main">
            <a:off x="2533650" y="556260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4" b="1">
                <a:solidFill>
                  <a:srgbClr val="617086"/>
                </a:solidFill>
                <a:latin typeface="Aptos"/>
                <a:ea typeface="Aptos"/>
                <a:cs typeface="Aptos"/>
              </a:defRPr>
            </a:pPr>
            <a:r>
              <a:rPr sz="694" b="1">
                <a:solidFill>
                  <a:srgbClr val="617086"/>
                </a:solidFill>
                <a:latin typeface="Aptos"/>
                <a:ea typeface="Aptos"/>
                <a:cs typeface="Aptos"/>
              </a:rPr>
              <a:t>experts IA</a:t>
            </a:r>
          </a:p>
        </p:txBody>
      </p:sp>
      <p:sp>
        <p:nvSpPr>
          <p:cNvPr id="21" name="">
            <a:extLst xmlns:a="http://schemas.openxmlformats.org/drawingml/2006/main">
              <a:ext uri="{FF2B5EF4-FFF2-40B4-BE49-F238E27FC236}">
                <a16:creationId xmlns:a16="http://schemas.microsoft.com/office/drawing/2014/main" id="{7B398B53-9151-4AE4-B3F2-14DB295B07EB}"/>
              </a:ext>
            </a:extLst>
          </p:cNvPr>
          <p:cNvSpPr>
            <a:spLocks xmlns:a="http://schemas.openxmlformats.org/drawingml/2006/main" noGrp="1"/>
          </p:cNvSpPr>
          <p:nvPr/>
        </p:nvSpPr>
        <p:spPr>
          <a:xfrm xmlns:a="http://schemas.openxmlformats.org/drawingml/2006/main">
            <a:off x="2533650" y="5753100"/>
            <a:ext cx="895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7" b="0">
                <a:solidFill>
                  <a:srgbClr val="617086"/>
                </a:solidFill>
                <a:latin typeface="Aptos"/>
                <a:ea typeface="Aptos"/>
                <a:cs typeface="Aptos"/>
              </a:defRPr>
            </a:pPr>
            <a:r>
              <a:rPr sz="607" b="0">
                <a:solidFill>
                  <a:srgbClr val="617086"/>
                </a:solidFill>
                <a:latin typeface="Aptos"/>
                <a:ea typeface="Aptos"/>
                <a:cs typeface="Aptos"/>
              </a:rPr>
              <a:t>mobilisés via TransferAI</a:t>
            </a:r>
          </a:p>
        </p:txBody>
      </p:sp>
      <p:sp>
        <p:nvSpPr>
          <p:cNvPr id="22" name="">
            <a:extLst xmlns:a="http://schemas.openxmlformats.org/drawingml/2006/main">
              <a:ext uri="{FF2B5EF4-FFF2-40B4-BE49-F238E27FC236}">
                <a16:creationId xmlns:a16="http://schemas.microsoft.com/office/drawing/2014/main" id="{E16C0229-28DE-4029-AB16-21E92F82A801}"/>
              </a:ext>
            </a:extLst>
          </p:cNvPr>
          <p:cNvSpPr>
            <a:spLocks xmlns:a="http://schemas.openxmlformats.org/drawingml/2006/main" noGrp="1"/>
          </p:cNvSpPr>
          <p:nvPr/>
        </p:nvSpPr>
        <p:spPr>
          <a:xfrm xmlns:a="http://schemas.openxmlformats.org/drawingml/2006/main">
            <a:off x="3695700" y="5143500"/>
            <a:ext cx="1314450" cy="952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23" name="">
            <a:extLst xmlns:a="http://schemas.openxmlformats.org/drawingml/2006/main">
              <a:ext uri="{FF2B5EF4-FFF2-40B4-BE49-F238E27FC236}">
                <a16:creationId xmlns:a16="http://schemas.microsoft.com/office/drawing/2014/main" id="{9F57626A-1064-48D5-9867-5D61A2B400BC}"/>
              </a:ext>
            </a:extLst>
          </p:cNvPr>
          <p:cNvSpPr>
            <a:spLocks xmlns:a="http://schemas.openxmlformats.org/drawingml/2006/main" noGrp="1"/>
          </p:cNvSpPr>
          <p:nvPr/>
        </p:nvSpPr>
        <p:spPr>
          <a:xfrm xmlns:a="http://schemas.openxmlformats.org/drawingml/2006/main">
            <a:off x="3848100" y="5314950"/>
            <a:ext cx="28575" cy="609600"/>
          </a:xfrm>
          <a:prstGeom xmlns:a="http://schemas.openxmlformats.org/drawingml/2006/main" prst="rect">
            <a:avLst/>
          </a:prstGeom>
          <a:solidFill xmlns:a="http://schemas.openxmlformats.org/drawingml/2006/main">
            <a:srgbClr val="163556"/>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30C76D47-071F-47DC-B28C-CE5CD7B88479}"/>
              </a:ext>
            </a:extLst>
          </p:cNvPr>
          <p:cNvSpPr>
            <a:spLocks xmlns:a="http://schemas.openxmlformats.org/drawingml/2006/main" noGrp="1"/>
          </p:cNvSpPr>
          <p:nvPr/>
        </p:nvSpPr>
        <p:spPr>
          <a:xfrm xmlns:a="http://schemas.openxmlformats.org/drawingml/2006/main">
            <a:off x="3981450" y="5276850"/>
            <a:ext cx="895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+30 %</a:t>
            </a:r>
          </a:p>
        </p:txBody>
      </p:sp>
      <p:sp>
        <p:nvSpPr>
          <p:cNvPr id="25" name="">
            <a:extLst xmlns:a="http://schemas.openxmlformats.org/drawingml/2006/main">
              <a:ext uri="{FF2B5EF4-FFF2-40B4-BE49-F238E27FC236}">
                <a16:creationId xmlns:a16="http://schemas.microsoft.com/office/drawing/2014/main" id="{0F6C8345-C65D-4C05-AD7A-9AC6C13B484C}"/>
              </a:ext>
            </a:extLst>
          </p:cNvPr>
          <p:cNvSpPr>
            <a:spLocks xmlns:a="http://schemas.openxmlformats.org/drawingml/2006/main" noGrp="1"/>
          </p:cNvSpPr>
          <p:nvPr/>
        </p:nvSpPr>
        <p:spPr>
          <a:xfrm xmlns:a="http://schemas.openxmlformats.org/drawingml/2006/main">
            <a:off x="3981450" y="556260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4" b="1">
                <a:solidFill>
                  <a:srgbClr val="617086"/>
                </a:solidFill>
                <a:latin typeface="Aptos"/>
                <a:ea typeface="Aptos"/>
                <a:cs typeface="Aptos"/>
              </a:defRPr>
            </a:pPr>
            <a:r>
              <a:rPr sz="694" b="1">
                <a:solidFill>
                  <a:srgbClr val="617086"/>
                </a:solidFill>
                <a:latin typeface="Aptos"/>
                <a:ea typeface="Aptos"/>
                <a:cs typeface="Aptos"/>
              </a:rPr>
              <a:t>productivité benchmark</a:t>
            </a:r>
          </a:p>
        </p:txBody>
      </p:sp>
      <p:sp>
        <p:nvSpPr>
          <p:cNvPr id="26" name="">
            <a:extLst xmlns:a="http://schemas.openxmlformats.org/drawingml/2006/main">
              <a:ext uri="{FF2B5EF4-FFF2-40B4-BE49-F238E27FC236}">
                <a16:creationId xmlns:a16="http://schemas.microsoft.com/office/drawing/2014/main" id="{BA9B9B14-D3C5-4154-BFEC-E35AF35B8F34}"/>
              </a:ext>
            </a:extLst>
          </p:cNvPr>
          <p:cNvSpPr>
            <a:spLocks xmlns:a="http://schemas.openxmlformats.org/drawingml/2006/main" noGrp="1"/>
          </p:cNvSpPr>
          <p:nvPr/>
        </p:nvSpPr>
        <p:spPr>
          <a:xfrm xmlns:a="http://schemas.openxmlformats.org/drawingml/2006/main">
            <a:off x="3981450" y="5753100"/>
            <a:ext cx="895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7" b="0">
                <a:solidFill>
                  <a:srgbClr val="617086"/>
                </a:solidFill>
                <a:latin typeface="Aptos"/>
                <a:ea typeface="Aptos"/>
                <a:cs typeface="Aptos"/>
              </a:defRPr>
            </a:pPr>
            <a:r>
              <a:rPr sz="607" b="0">
                <a:solidFill>
                  <a:srgbClr val="617086"/>
                </a:solidFill>
                <a:latin typeface="Aptos"/>
                <a:ea typeface="Aptos"/>
                <a:cs typeface="Aptos"/>
              </a:rPr>
              <a:t>sur des flux répétitifs comparables</a:t>
            </a:r>
          </a:p>
        </p:txBody>
      </p:sp>
      <p:sp>
        <p:nvSpPr>
          <p:cNvPr id="27" name="">
            <a:extLst xmlns:a="http://schemas.openxmlformats.org/drawingml/2006/main">
              <a:ext uri="{FF2B5EF4-FFF2-40B4-BE49-F238E27FC236}">
                <a16:creationId xmlns:a16="http://schemas.microsoft.com/office/drawing/2014/main" id="{16EC3CF0-4352-4EBC-B4C2-031C66CD8CE9}"/>
              </a:ext>
            </a:extLst>
          </p:cNvPr>
          <p:cNvSpPr>
            <a:spLocks xmlns:a="http://schemas.openxmlformats.org/drawingml/2006/main" noGrp="1"/>
          </p:cNvSpPr>
          <p:nvPr/>
        </p:nvSpPr>
        <p:spPr>
          <a:xfrm xmlns:a="http://schemas.openxmlformats.org/drawingml/2006/main">
            <a:off x="5143500" y="5143500"/>
            <a:ext cx="1314450" cy="952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28" name="">
            <a:extLst xmlns:a="http://schemas.openxmlformats.org/drawingml/2006/main">
              <a:ext uri="{FF2B5EF4-FFF2-40B4-BE49-F238E27FC236}">
                <a16:creationId xmlns:a16="http://schemas.microsoft.com/office/drawing/2014/main" id="{48EA6FB7-851C-4346-9D5C-0769B60174E4}"/>
              </a:ext>
            </a:extLst>
          </p:cNvPr>
          <p:cNvSpPr>
            <a:spLocks xmlns:a="http://schemas.openxmlformats.org/drawingml/2006/main" noGrp="1"/>
          </p:cNvSpPr>
          <p:nvPr/>
        </p:nvSpPr>
        <p:spPr>
          <a:xfrm xmlns:a="http://schemas.openxmlformats.org/drawingml/2006/main">
            <a:off x="5295900" y="5314950"/>
            <a:ext cx="28575" cy="609600"/>
          </a:xfrm>
          <a:prstGeom xmlns:a="http://schemas.openxmlformats.org/drawingml/2006/main" prst="rect">
            <a:avLst/>
          </a:prstGeom>
          <a:solidFill xmlns:a="http://schemas.openxmlformats.org/drawingml/2006/main">
            <a:srgbClr val="C88C3A"/>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5B465C58-DC55-447E-B998-099D96A4D1D6}"/>
              </a:ext>
            </a:extLst>
          </p:cNvPr>
          <p:cNvSpPr>
            <a:spLocks xmlns:a="http://schemas.openxmlformats.org/drawingml/2006/main" noGrp="1"/>
          </p:cNvSpPr>
          <p:nvPr/>
        </p:nvSpPr>
        <p:spPr>
          <a:xfrm xmlns:a="http://schemas.openxmlformats.org/drawingml/2006/main">
            <a:off x="5429250" y="5276850"/>
            <a:ext cx="8953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-45 %</a:t>
            </a:r>
          </a:p>
        </p:txBody>
      </p:sp>
      <p:sp>
        <p:nvSpPr>
          <p:cNvPr id="30" name="">
            <a:extLst xmlns:a="http://schemas.openxmlformats.org/drawingml/2006/main">
              <a:ext uri="{FF2B5EF4-FFF2-40B4-BE49-F238E27FC236}">
                <a16:creationId xmlns:a16="http://schemas.microsoft.com/office/drawing/2014/main" id="{585FE241-E48E-427D-ADD2-BE4EBE850601}"/>
              </a:ext>
            </a:extLst>
          </p:cNvPr>
          <p:cNvSpPr>
            <a:spLocks xmlns:a="http://schemas.openxmlformats.org/drawingml/2006/main" noGrp="1"/>
          </p:cNvSpPr>
          <p:nvPr/>
        </p:nvSpPr>
        <p:spPr>
          <a:xfrm xmlns:a="http://schemas.openxmlformats.org/drawingml/2006/main">
            <a:off x="5429250" y="5562600"/>
            <a:ext cx="8953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94" b="1">
                <a:solidFill>
                  <a:srgbClr val="617086"/>
                </a:solidFill>
                <a:latin typeface="Aptos"/>
                <a:ea typeface="Aptos"/>
                <a:cs typeface="Aptos"/>
              </a:defRPr>
            </a:pPr>
            <a:r>
              <a:rPr sz="694" b="1">
                <a:solidFill>
                  <a:srgbClr val="617086"/>
                </a:solidFill>
                <a:latin typeface="Aptos"/>
                <a:ea typeface="Aptos"/>
                <a:cs typeface="Aptos"/>
              </a:rPr>
              <a:t>effort de formation</a:t>
            </a:r>
          </a:p>
        </p:txBody>
      </p:sp>
      <p:sp>
        <p:nvSpPr>
          <p:cNvPr id="31" name="">
            <a:extLst xmlns:a="http://schemas.openxmlformats.org/drawingml/2006/main">
              <a:ext uri="{FF2B5EF4-FFF2-40B4-BE49-F238E27FC236}">
                <a16:creationId xmlns:a16="http://schemas.microsoft.com/office/drawing/2014/main" id="{02211E6E-6A0E-44B8-B45D-CB157AB34C11}"/>
              </a:ext>
            </a:extLst>
          </p:cNvPr>
          <p:cNvSpPr>
            <a:spLocks xmlns:a="http://schemas.openxmlformats.org/drawingml/2006/main" noGrp="1"/>
          </p:cNvSpPr>
          <p:nvPr/>
        </p:nvSpPr>
        <p:spPr>
          <a:xfrm xmlns:a="http://schemas.openxmlformats.org/drawingml/2006/main">
            <a:off x="5429250" y="5753100"/>
            <a:ext cx="8953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07" b="0">
                <a:solidFill>
                  <a:srgbClr val="617086"/>
                </a:solidFill>
                <a:latin typeface="Aptos"/>
                <a:ea typeface="Aptos"/>
                <a:cs typeface="Aptos"/>
              </a:defRPr>
            </a:pPr>
            <a:r>
              <a:rPr sz="607" b="0">
                <a:solidFill>
                  <a:srgbClr val="617086"/>
                </a:solidFill>
                <a:latin typeface="Aptos"/>
                <a:ea typeface="Aptos"/>
                <a:cs typeface="Aptos"/>
              </a:rPr>
              <a:t>benchmark onboarding / diffusion</a:t>
            </a:r>
          </a:p>
        </p:txBody>
      </p:sp>
      <p:sp>
        <p:nvSpPr>
          <p:cNvPr id="32" name="">
            <a:extLst xmlns:a="http://schemas.openxmlformats.org/drawingml/2006/main">
              <a:ext uri="{FF2B5EF4-FFF2-40B4-BE49-F238E27FC236}">
                <a16:creationId xmlns:a16="http://schemas.microsoft.com/office/drawing/2014/main" id="{3889B50C-EDF2-4602-B841-0EA8DF8B8604}"/>
              </a:ext>
            </a:extLst>
          </p:cNvPr>
          <p:cNvSpPr>
            <a:spLocks xmlns:a="http://schemas.openxmlformats.org/drawingml/2006/main" noGrp="1"/>
          </p:cNvSpPr>
          <p:nvPr/>
        </p:nvSpPr>
        <p:spPr>
          <a:xfrm xmlns:a="http://schemas.openxmlformats.org/drawingml/2006/main">
            <a:off x="7734300" y="11620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CE QUE NOUS PROPOSONS</a:t>
            </a:r>
          </a:p>
        </p:txBody>
      </p:sp>
      <p:sp>
        <p:nvSpPr>
          <p:cNvPr id="33" name="">
            <a:extLst xmlns:a="http://schemas.openxmlformats.org/drawingml/2006/main">
              <a:ext uri="{FF2B5EF4-FFF2-40B4-BE49-F238E27FC236}">
                <a16:creationId xmlns:a16="http://schemas.microsoft.com/office/drawing/2014/main" id="{0DA06060-747A-4C1A-82B4-89355C218118}"/>
              </a:ext>
            </a:extLst>
          </p:cNvPr>
          <p:cNvSpPr>
            <a:spLocks xmlns:a="http://schemas.openxmlformats.org/drawingml/2006/main" noGrp="1"/>
          </p:cNvSpPr>
          <p:nvPr/>
        </p:nvSpPr>
        <p:spPr>
          <a:xfrm xmlns:a="http://schemas.openxmlformats.org/drawingml/2006/main">
            <a:off x="7734300" y="1466850"/>
            <a:ext cx="32385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Une offre exécutive,</a:t>
            </a:r>
          </a:p>
          <a:p xmlns:a="http://schemas.openxmlformats.org/drawingml/2006/main">
            <a:pPr algn="l">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maîtrisée et adaptée</a:t>
            </a:r>
          </a:p>
          <a:p xmlns:a="http://schemas.openxmlformats.org/drawingml/2006/main">
            <a:pPr algn="l">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au cadre institutionnel.</a:t>
            </a:r>
          </a:p>
        </p:txBody>
      </p:sp>
      <p:sp>
        <p:nvSpPr>
          <p:cNvPr id="34" name="">
            <a:extLst xmlns:a="http://schemas.openxmlformats.org/drawingml/2006/main">
              <a:ext uri="{FF2B5EF4-FFF2-40B4-BE49-F238E27FC236}">
                <a16:creationId xmlns:a16="http://schemas.microsoft.com/office/drawing/2014/main" id="{37161554-1379-4126-81BB-C0CE31322CDF}"/>
              </a:ext>
            </a:extLst>
          </p:cNvPr>
          <p:cNvSpPr>
            <a:spLocks xmlns:a="http://schemas.openxmlformats.org/drawingml/2006/main" noGrp="1"/>
          </p:cNvSpPr>
          <p:nvPr/>
        </p:nvSpPr>
        <p:spPr>
          <a:xfrm xmlns:a="http://schemas.openxmlformats.org/drawingml/2006/main">
            <a:off x="7734300" y="2628900"/>
            <a:ext cx="321945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C9D4E1"/>
                </a:solidFill>
                <a:latin typeface="Aptos"/>
                <a:ea typeface="Aptos"/>
                <a:cs typeface="Aptos"/>
              </a:defRPr>
            </a:pPr>
            <a:r>
              <a:rPr sz="1125" b="0">
                <a:solidFill>
                  <a:srgbClr val="C9D4E1"/>
                </a:solidFill>
                <a:latin typeface="Aptos"/>
                <a:ea typeface="Aptos"/>
                <a:cs typeface="Aptos"/>
              </a:rPr>
              <a:t>• Partir des vrais enjeux de service et de coordination</a:t>
            </a:r>
          </a:p>
          <a:p xmlns:a="http://schemas.openxmlformats.org/drawingml/2006/main">
            <a:pPr algn="l">
              <a:defRPr sz="1125" b="0">
                <a:solidFill>
                  <a:srgbClr val="C9D4E1"/>
                </a:solidFill>
                <a:latin typeface="Aptos"/>
                <a:ea typeface="Aptos"/>
                <a:cs typeface="Aptos"/>
              </a:defRPr>
            </a:pPr>
            <a:r>
              <a:rPr sz="1125" b="0">
                <a:solidFill>
                  <a:srgbClr val="C9D4E1"/>
                </a:solidFill>
                <a:latin typeface="Aptos"/>
                <a:ea typeface="Aptos"/>
                <a:cs typeface="Aptos"/>
              </a:rPr>
              <a:t>• Cadrer des cas d'usage utiles avant tout déploiement</a:t>
            </a:r>
          </a:p>
          <a:p xmlns:a="http://schemas.openxmlformats.org/drawingml/2006/main">
            <a:pPr algn="l">
              <a:defRPr sz="1125" b="0">
                <a:solidFill>
                  <a:srgbClr val="C9D4E1"/>
                </a:solidFill>
                <a:latin typeface="Aptos"/>
                <a:ea typeface="Aptos"/>
                <a:cs typeface="Aptos"/>
              </a:defRPr>
            </a:pPr>
            <a:r>
              <a:rPr sz="1125" b="0">
                <a:solidFill>
                  <a:srgbClr val="C9D4E1"/>
                </a:solidFill>
                <a:latin typeface="Aptos"/>
                <a:ea typeface="Aptos"/>
                <a:cs typeface="Aptos"/>
              </a:rPr>
              <a:t>• Former les bonnes équipes au bon niveau</a:t>
            </a:r>
          </a:p>
          <a:p xmlns:a="http://schemas.openxmlformats.org/drawingml/2006/main">
            <a:pPr algn="l">
              <a:defRPr sz="1125" b="0">
                <a:solidFill>
                  <a:srgbClr val="C9D4E1"/>
                </a:solidFill>
                <a:latin typeface="Aptos"/>
                <a:ea typeface="Aptos"/>
                <a:cs typeface="Aptos"/>
              </a:defRPr>
            </a:pPr>
            <a:r>
              <a:rPr sz="1125" b="0">
                <a:solidFill>
                  <a:srgbClr val="C9D4E1"/>
                </a:solidFill>
                <a:latin typeface="Aptos"/>
                <a:ea typeface="Aptos"/>
                <a:cs typeface="Aptos"/>
              </a:rPr>
              <a:t>• Lancer un pilote avec supervision et mesure des résultats</a:t>
            </a:r>
          </a:p>
        </p:txBody>
      </p:sp>
      <p:sp>
        <p:nvSpPr>
          <p:cNvPr id="35" name="">
            <a:extLst xmlns:a="http://schemas.openxmlformats.org/drawingml/2006/main">
              <a:ext uri="{FF2B5EF4-FFF2-40B4-BE49-F238E27FC236}">
                <a16:creationId xmlns:a16="http://schemas.microsoft.com/office/drawing/2014/main" id="{3BD828F5-B55C-42B9-A3B1-E2F46002582E}"/>
              </a:ext>
            </a:extLst>
          </p:cNvPr>
          <p:cNvSpPr>
            <a:spLocks xmlns:a="http://schemas.openxmlformats.org/drawingml/2006/main" noGrp="1"/>
          </p:cNvSpPr>
          <p:nvPr/>
        </p:nvSpPr>
        <p:spPr>
          <a:xfrm xmlns:a="http://schemas.openxmlformats.org/drawingml/2006/main">
            <a:off x="7734300" y="4095750"/>
            <a:ext cx="3143250" cy="97155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36" name="">
            <a:extLst xmlns:a="http://schemas.openxmlformats.org/drawingml/2006/main">
              <a:ext uri="{FF2B5EF4-FFF2-40B4-BE49-F238E27FC236}">
                <a16:creationId xmlns:a16="http://schemas.microsoft.com/office/drawing/2014/main" id="{1DCE793D-6AE1-4BD2-9CA1-A6141CEE592F}"/>
              </a:ext>
            </a:extLst>
          </p:cNvPr>
          <p:cNvSpPr>
            <a:spLocks xmlns:a="http://schemas.openxmlformats.org/drawingml/2006/main" noGrp="1"/>
          </p:cNvSpPr>
          <p:nvPr/>
        </p:nvSpPr>
        <p:spPr>
          <a:xfrm xmlns:a="http://schemas.openxmlformats.org/drawingml/2006/main">
            <a:off x="7943850" y="4267200"/>
            <a:ext cx="857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D7E5F3"/>
                </a:solidFill>
                <a:latin typeface="Aptos"/>
                <a:ea typeface="Aptos"/>
                <a:cs typeface="Aptos"/>
              </a:defRPr>
            </a:pPr>
            <a:r>
              <a:rPr sz="713" b="1">
                <a:solidFill>
                  <a:srgbClr val="D7E5F3"/>
                </a:solidFill>
                <a:latin typeface="Aptos"/>
                <a:ea typeface="Aptos"/>
                <a:cs typeface="Aptos"/>
              </a:rPr>
              <a:t>Promesse</a:t>
            </a:r>
          </a:p>
        </p:txBody>
      </p:sp>
      <p:sp>
        <p:nvSpPr>
          <p:cNvPr id="37" name="">
            <a:extLst xmlns:a="http://schemas.openxmlformats.org/drawingml/2006/main">
              <a:ext uri="{FF2B5EF4-FFF2-40B4-BE49-F238E27FC236}">
                <a16:creationId xmlns:a16="http://schemas.microsoft.com/office/drawing/2014/main" id="{80E0C297-ED9A-409D-A6AA-2E117B47BF10}"/>
              </a:ext>
            </a:extLst>
          </p:cNvPr>
          <p:cNvSpPr>
            <a:spLocks xmlns:a="http://schemas.openxmlformats.org/drawingml/2006/main" noGrp="1"/>
          </p:cNvSpPr>
          <p:nvPr/>
        </p:nvSpPr>
        <p:spPr>
          <a:xfrm xmlns:a="http://schemas.openxmlformats.org/drawingml/2006/main">
            <a:off x="7943850" y="4476750"/>
            <a:ext cx="272415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Faire de l'IA un levier de qualité de service, de coordination et de rigueur opérationnelle pour le prospect.</a:t>
            </a:r>
          </a:p>
        </p:txBody>
      </p:sp>
      <p:sp>
        <p:nvSpPr>
          <p:cNvPr id="38" name="">
            <a:extLst xmlns:a="http://schemas.openxmlformats.org/drawingml/2006/main">
              <a:ext uri="{FF2B5EF4-FFF2-40B4-BE49-F238E27FC236}">
                <a16:creationId xmlns:a16="http://schemas.microsoft.com/office/drawing/2014/main" id="{C717E7C9-2BAB-4FD3-A0B0-8144C5E1588E}"/>
              </a:ext>
            </a:extLst>
          </p:cNvPr>
          <p:cNvSpPr>
            <a:spLocks xmlns:a="http://schemas.openxmlformats.org/drawingml/2006/main" noGrp="1"/>
          </p:cNvSpPr>
          <p:nvPr/>
        </p:nvSpPr>
        <p:spPr>
          <a:xfrm xmlns:a="http://schemas.openxmlformats.org/drawingml/2006/main">
            <a:off x="7734300" y="5200650"/>
            <a:ext cx="3143250" cy="819150"/>
          </a:xfrm>
          <a:prstGeom xmlns:a="http://schemas.openxmlformats.org/drawingml/2006/main" prst="rect">
            <a:avLst/>
          </a:prstGeom>
          <a:solidFill xmlns:a="http://schemas.openxmlformats.org/drawingml/2006/main">
            <a:srgbClr val="10263F"/>
          </a:solidFill>
          <a:ln xmlns:a="http://schemas.openxmlformats.org/drawingml/2006/main" w="9525">
            <a:solidFill>
              <a:srgbClr val="2F587F"/>
            </a:solidFill>
            <a:prstDash val="solid"/>
          </a:ln>
        </p:spPr>
      </p:sp>
      <p:sp>
        <p:nvSpPr>
          <p:cNvPr id="39" name="">
            <a:extLst xmlns:a="http://schemas.openxmlformats.org/drawingml/2006/main">
              <a:ext uri="{FF2B5EF4-FFF2-40B4-BE49-F238E27FC236}">
                <a16:creationId xmlns:a16="http://schemas.microsoft.com/office/drawing/2014/main" id="{78EE252A-5784-4CBB-B48E-C856E308347F}"/>
              </a:ext>
            </a:extLst>
          </p:cNvPr>
          <p:cNvSpPr>
            <a:spLocks xmlns:a="http://schemas.openxmlformats.org/drawingml/2006/main" noGrp="1"/>
          </p:cNvSpPr>
          <p:nvPr/>
        </p:nvSpPr>
        <p:spPr>
          <a:xfrm xmlns:a="http://schemas.openxmlformats.org/drawingml/2006/main">
            <a:off x="7924800" y="5353050"/>
            <a:ext cx="27813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0">
                <a:solidFill>
                  <a:srgbClr val="D7E5F3"/>
                </a:solidFill>
                <a:latin typeface="Aptos"/>
                <a:ea typeface="Aptos"/>
                <a:cs typeface="Aptos"/>
              </a:defRPr>
            </a:pPr>
            <a:r>
              <a:rPr sz="788" b="0">
                <a:solidFill>
                  <a:srgbClr val="D7E5F3"/>
                </a:solidFill>
                <a:latin typeface="Aptos"/>
                <a:ea typeface="Aptos"/>
                <a:cs typeface="Aptos"/>
              </a:rPr>
              <a:t>Important : les chiffres de ROI affichés dans ce deck sont des benchmarks de référence TransferAI, à confirmer sur les données du prospect pendant l'audit.</a:t>
            </a:r>
          </a:p>
        </p:txBody>
      </p:sp>
      <p:sp>
        <p:nvSpPr>
          <p:cNvPr id="40" name="">
            <a:extLst xmlns:a="http://schemas.openxmlformats.org/drawingml/2006/main">
              <a:ext uri="{FF2B5EF4-FFF2-40B4-BE49-F238E27FC236}">
                <a16:creationId xmlns:a16="http://schemas.microsoft.com/office/drawing/2014/main" id="{1F4F7C89-F23F-4C76-BA9A-F03EB6C6AA4D}"/>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41" name="">
            <a:extLst xmlns:a="http://schemas.openxmlformats.org/drawingml/2006/main">
              <a:ext uri="{FF2B5EF4-FFF2-40B4-BE49-F238E27FC236}">
                <a16:creationId xmlns:a16="http://schemas.microsoft.com/office/drawing/2014/main" id="{14FD9091-DA54-4625-AFB5-AAE59D2593EA}"/>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deck institutionnel V3</a:t>
            </a:r>
          </a:p>
        </p:txBody>
      </p:sp>
      <p:sp>
        <p:nvSpPr>
          <p:cNvPr id="42" name="">
            <a:extLst xmlns:a="http://schemas.openxmlformats.org/drawingml/2006/main">
              <a:ext uri="{FF2B5EF4-FFF2-40B4-BE49-F238E27FC236}">
                <a16:creationId xmlns:a16="http://schemas.microsoft.com/office/drawing/2014/main" id="{C80F54D0-4813-4869-B726-76FA09B10FD7}"/>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01</a:t>
            </a:r>
          </a:p>
        </p:txBody>
      </p:sp>
    </p:spTree>
    <p:extLst>
      <p:ext uri="{BB962C8B-B14F-4D97-AF65-F5344CB8AC3E}">
        <p14:creationId xmlns:p14="http://schemas.microsoft.com/office/powerpoint/2010/main" val="96422934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EE78D30-E4F5-4EE7-B3B7-D3A385C2D70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09265AA-0624-4CD5-B338-EBF04734D12C}"/>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SOMMAIRE</a:t>
            </a:r>
          </a:p>
        </p:txBody>
      </p:sp>
      <p:sp>
        <p:nvSpPr>
          <p:cNvPr id="3" name="">
            <a:extLst xmlns:a="http://schemas.openxmlformats.org/drawingml/2006/main">
              <a:ext uri="{FF2B5EF4-FFF2-40B4-BE49-F238E27FC236}">
                <a16:creationId xmlns:a16="http://schemas.microsoft.com/office/drawing/2014/main" id="{C9B529A9-0530-47C3-BF18-ADA52F507613}"/>
              </a:ext>
            </a:extLst>
          </p:cNvPr>
          <p:cNvSpPr>
            <a:spLocks xmlns:a="http://schemas.openxmlformats.org/drawingml/2006/main" noGrp="1"/>
          </p:cNvSpPr>
          <p:nvPr/>
        </p:nvSpPr>
        <p:spPr>
          <a:xfrm xmlns:a="http://schemas.openxmlformats.org/drawingml/2006/main">
            <a:off x="685800" y="819150"/>
            <a:ext cx="87630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Le parcours de lecture recommandé pour un deck institutionnel</a:t>
            </a:r>
          </a:p>
        </p:txBody>
      </p:sp>
      <p:sp>
        <p:nvSpPr>
          <p:cNvPr id="4" name="">
            <a:extLst xmlns:a="http://schemas.openxmlformats.org/drawingml/2006/main">
              <a:ext uri="{FF2B5EF4-FFF2-40B4-BE49-F238E27FC236}">
                <a16:creationId xmlns:a16="http://schemas.microsoft.com/office/drawing/2014/main" id="{B7D64A29-B3CA-42F6-9F53-6FFEAE8C6B30}"/>
              </a:ext>
            </a:extLst>
          </p:cNvPr>
          <p:cNvSpPr>
            <a:spLocks xmlns:a="http://schemas.openxmlformats.org/drawingml/2006/main" noGrp="1"/>
          </p:cNvSpPr>
          <p:nvPr/>
        </p:nvSpPr>
        <p:spPr>
          <a:xfrm xmlns:a="http://schemas.openxmlformats.org/drawingml/2006/main">
            <a:off x="685800" y="1676400"/>
            <a:ext cx="91440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Le sommaire rassure la direction, structure la lecture en PDF et prépare les deux temps forts du deck : ce que nous avons compris, puis ce que nous recommandons dans un cadre gouverné.</a:t>
            </a:r>
          </a:p>
        </p:txBody>
      </p:sp>
      <p:sp>
        <p:nvSpPr>
          <p:cNvPr id="5" name="">
            <a:extLst xmlns:a="http://schemas.openxmlformats.org/drawingml/2006/main">
              <a:ext uri="{FF2B5EF4-FFF2-40B4-BE49-F238E27FC236}">
                <a16:creationId xmlns:a16="http://schemas.microsoft.com/office/drawing/2014/main" id="{B7D17567-8051-4611-BE97-328CE2504492}"/>
              </a:ext>
            </a:extLst>
          </p:cNvPr>
          <p:cNvSpPr>
            <a:spLocks xmlns:a="http://schemas.openxmlformats.org/drawingml/2006/main" noGrp="1"/>
          </p:cNvSpPr>
          <p:nvPr/>
        </p:nvSpPr>
        <p:spPr>
          <a:xfrm xmlns:a="http://schemas.openxmlformats.org/drawingml/2006/main">
            <a:off x="685800" y="2324100"/>
            <a:ext cx="5448300" cy="31623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6" name="">
            <a:extLst xmlns:a="http://schemas.openxmlformats.org/drawingml/2006/main">
              <a:ext uri="{FF2B5EF4-FFF2-40B4-BE49-F238E27FC236}">
                <a16:creationId xmlns:a16="http://schemas.microsoft.com/office/drawing/2014/main" id="{FD8C9C8C-B9F7-41A0-B279-EAAE579F6142}"/>
              </a:ext>
            </a:extLst>
          </p:cNvPr>
          <p:cNvSpPr>
            <a:spLocks xmlns:a="http://schemas.openxmlformats.org/drawingml/2006/main" noGrp="1"/>
          </p:cNvSpPr>
          <p:nvPr/>
        </p:nvSpPr>
        <p:spPr>
          <a:xfrm xmlns:a="http://schemas.openxmlformats.org/drawingml/2006/main">
            <a:off x="914400" y="2552700"/>
            <a:ext cx="1524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Chemin de lecture</a:t>
            </a:r>
          </a:p>
        </p:txBody>
      </p:sp>
      <p:sp>
        <p:nvSpPr>
          <p:cNvPr id="7" name="">
            <a:extLst xmlns:a="http://schemas.openxmlformats.org/drawingml/2006/main">
              <a:ext uri="{FF2B5EF4-FFF2-40B4-BE49-F238E27FC236}">
                <a16:creationId xmlns:a16="http://schemas.microsoft.com/office/drawing/2014/main" id="{15BC04E8-6D8F-4543-9A33-70250C050056}"/>
              </a:ext>
            </a:extLst>
          </p:cNvPr>
          <p:cNvSpPr>
            <a:spLocks xmlns:a="http://schemas.openxmlformats.org/drawingml/2006/main" noGrp="1"/>
          </p:cNvSpPr>
          <p:nvPr/>
        </p:nvSpPr>
        <p:spPr>
          <a:xfrm xmlns:a="http://schemas.openxmlformats.org/drawingml/2006/main">
            <a:off x="876300" y="2914650"/>
            <a:ext cx="342900" cy="342900"/>
          </a:xfrm>
          <a:prstGeom xmlns:a="http://schemas.openxmlformats.org/drawingml/2006/main" prst="ellipse">
            <a:avLst/>
          </a:prstGeom>
          <a:solidFill xmlns:a="http://schemas.openxmlformats.org/drawingml/2006/main">
            <a:srgbClr val="E76F1D"/>
          </a:solidFill>
          <a:ln xmlns:a="http://schemas.openxmlformats.org/drawingml/2006/main" w="0">
            <a:solidFill>
              <a:srgbClr val="E76F1D"/>
            </a:solidFill>
            <a:prstDash val="solid"/>
          </a:ln>
        </p:spPr>
      </p:sp>
      <p:sp>
        <p:nvSpPr>
          <p:cNvPr id="8" name="">
            <a:extLst xmlns:a="http://schemas.openxmlformats.org/drawingml/2006/main">
              <a:ext uri="{FF2B5EF4-FFF2-40B4-BE49-F238E27FC236}">
                <a16:creationId xmlns:a16="http://schemas.microsoft.com/office/drawing/2014/main" id="{BD153100-260D-49DF-A7EF-C7575E9DC7F2}"/>
              </a:ext>
            </a:extLst>
          </p:cNvPr>
          <p:cNvSpPr>
            <a:spLocks xmlns:a="http://schemas.openxmlformats.org/drawingml/2006/main" noGrp="1"/>
          </p:cNvSpPr>
          <p:nvPr/>
        </p:nvSpPr>
        <p:spPr>
          <a:xfrm xmlns:a="http://schemas.openxmlformats.org/drawingml/2006/main">
            <a:off x="876300" y="2990850"/>
            <a:ext cx="342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01</a:t>
            </a:r>
          </a:p>
        </p:txBody>
      </p:sp>
      <p:sp>
        <p:nvSpPr>
          <p:cNvPr id="9" name="">
            <a:extLst xmlns:a="http://schemas.openxmlformats.org/drawingml/2006/main">
              <a:ext uri="{FF2B5EF4-FFF2-40B4-BE49-F238E27FC236}">
                <a16:creationId xmlns:a16="http://schemas.microsoft.com/office/drawing/2014/main" id="{91FE753A-99EC-466F-BAB2-E70AF8F19517}"/>
              </a:ext>
            </a:extLst>
          </p:cNvPr>
          <p:cNvSpPr>
            <a:spLocks xmlns:a="http://schemas.openxmlformats.org/drawingml/2006/main" noGrp="1"/>
          </p:cNvSpPr>
          <p:nvPr/>
        </p:nvSpPr>
        <p:spPr>
          <a:xfrm xmlns:a="http://schemas.openxmlformats.org/drawingml/2006/main">
            <a:off x="1390650" y="2876550"/>
            <a:ext cx="4476750" cy="4572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0" name="">
            <a:extLst xmlns:a="http://schemas.openxmlformats.org/drawingml/2006/main">
              <a:ext uri="{FF2B5EF4-FFF2-40B4-BE49-F238E27FC236}">
                <a16:creationId xmlns:a16="http://schemas.microsoft.com/office/drawing/2014/main" id="{53714A58-0CBC-4480-A24C-4DD3E0DB2D91}"/>
              </a:ext>
            </a:extLst>
          </p:cNvPr>
          <p:cNvSpPr>
            <a:spLocks xmlns:a="http://schemas.openxmlformats.org/drawingml/2006/main" noGrp="1"/>
          </p:cNvSpPr>
          <p:nvPr/>
        </p:nvSpPr>
        <p:spPr>
          <a:xfrm xmlns:a="http://schemas.openxmlformats.org/drawingml/2006/main">
            <a:off x="1581150" y="2971800"/>
            <a:ext cx="1790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A3554"/>
                </a:solidFill>
                <a:latin typeface="Aptos Display"/>
                <a:ea typeface="Aptos Display"/>
                <a:cs typeface="Aptos Display"/>
              </a:defRPr>
            </a:pPr>
            <a:r>
              <a:rPr sz="975" b="1">
                <a:solidFill>
                  <a:srgbClr val="1A3554"/>
                </a:solidFill>
                <a:latin typeface="Aptos Display"/>
                <a:ea typeface="Aptos Display"/>
                <a:cs typeface="Aptos Display"/>
              </a:rPr>
              <a:t>Impact et mission</a:t>
            </a:r>
          </a:p>
        </p:txBody>
      </p:sp>
      <p:sp>
        <p:nvSpPr>
          <p:cNvPr id="11" name="">
            <a:extLst xmlns:a="http://schemas.openxmlformats.org/drawingml/2006/main">
              <a:ext uri="{FF2B5EF4-FFF2-40B4-BE49-F238E27FC236}">
                <a16:creationId xmlns:a16="http://schemas.microsoft.com/office/drawing/2014/main" id="{B6B223B1-D5C5-42B5-B24F-7E134948C1F8}"/>
              </a:ext>
            </a:extLst>
          </p:cNvPr>
          <p:cNvSpPr>
            <a:spLocks xmlns:a="http://schemas.openxmlformats.org/drawingml/2006/main" noGrp="1"/>
          </p:cNvSpPr>
          <p:nvPr/>
        </p:nvSpPr>
        <p:spPr>
          <a:xfrm xmlns:a="http://schemas.openxmlformats.org/drawingml/2006/main">
            <a:off x="3733800" y="2971800"/>
            <a:ext cx="1943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17086"/>
                </a:solidFill>
                <a:latin typeface="Aptos"/>
                <a:ea typeface="Aptos"/>
                <a:cs typeface="Aptos"/>
              </a:defRPr>
            </a:pPr>
            <a:r>
              <a:rPr sz="788" b="0">
                <a:solidFill>
                  <a:srgbClr val="617086"/>
                </a:solidFill>
                <a:latin typeface="Aptos"/>
                <a:ea typeface="Aptos"/>
                <a:cs typeface="Aptos"/>
              </a:rPr>
              <a:t>ce que l'on cherche à améliorer</a:t>
            </a:r>
          </a:p>
        </p:txBody>
      </p:sp>
      <p:sp>
        <p:nvSpPr>
          <p:cNvPr id="12" name="">
            <a:extLst xmlns:a="http://schemas.openxmlformats.org/drawingml/2006/main">
              <a:ext uri="{FF2B5EF4-FFF2-40B4-BE49-F238E27FC236}">
                <a16:creationId xmlns:a16="http://schemas.microsoft.com/office/drawing/2014/main" id="{6D37A700-2CA8-4EA3-B8B0-B07ED2384B37}"/>
              </a:ext>
            </a:extLst>
          </p:cNvPr>
          <p:cNvSpPr>
            <a:spLocks xmlns:a="http://schemas.openxmlformats.org/drawingml/2006/main" noGrp="1"/>
          </p:cNvSpPr>
          <p:nvPr/>
        </p:nvSpPr>
        <p:spPr>
          <a:xfrm xmlns:a="http://schemas.openxmlformats.org/drawingml/2006/main">
            <a:off x="876300" y="3467100"/>
            <a:ext cx="342900" cy="342900"/>
          </a:xfrm>
          <a:prstGeom xmlns:a="http://schemas.openxmlformats.org/drawingml/2006/main" prst="ellipse">
            <a:avLst/>
          </a:prstGeom>
          <a:solidFill xmlns:a="http://schemas.openxmlformats.org/drawingml/2006/main">
            <a:srgbClr val="1C8A78"/>
          </a:solidFill>
          <a:ln xmlns:a="http://schemas.openxmlformats.org/drawingml/2006/main" w="0">
            <a:solidFill>
              <a:srgbClr val="1C8A78"/>
            </a:solidFill>
            <a:prstDash val="solid"/>
          </a:ln>
        </p:spPr>
      </p:sp>
      <p:sp>
        <p:nvSpPr>
          <p:cNvPr id="13" name="">
            <a:extLst xmlns:a="http://schemas.openxmlformats.org/drawingml/2006/main">
              <a:ext uri="{FF2B5EF4-FFF2-40B4-BE49-F238E27FC236}">
                <a16:creationId xmlns:a16="http://schemas.microsoft.com/office/drawing/2014/main" id="{B563A92D-D815-4493-8878-11E2B6CD444C}"/>
              </a:ext>
            </a:extLst>
          </p:cNvPr>
          <p:cNvSpPr>
            <a:spLocks xmlns:a="http://schemas.openxmlformats.org/drawingml/2006/main" noGrp="1"/>
          </p:cNvSpPr>
          <p:nvPr/>
        </p:nvSpPr>
        <p:spPr>
          <a:xfrm xmlns:a="http://schemas.openxmlformats.org/drawingml/2006/main">
            <a:off x="876300" y="3543300"/>
            <a:ext cx="342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02</a:t>
            </a:r>
          </a:p>
        </p:txBody>
      </p:sp>
      <p:sp>
        <p:nvSpPr>
          <p:cNvPr id="14" name="">
            <a:extLst xmlns:a="http://schemas.openxmlformats.org/drawingml/2006/main">
              <a:ext uri="{FF2B5EF4-FFF2-40B4-BE49-F238E27FC236}">
                <a16:creationId xmlns:a16="http://schemas.microsoft.com/office/drawing/2014/main" id="{6F02EC80-C8BF-4C06-8DE4-BADEDF802D75}"/>
              </a:ext>
            </a:extLst>
          </p:cNvPr>
          <p:cNvSpPr>
            <a:spLocks xmlns:a="http://schemas.openxmlformats.org/drawingml/2006/main" noGrp="1"/>
          </p:cNvSpPr>
          <p:nvPr/>
        </p:nvSpPr>
        <p:spPr>
          <a:xfrm xmlns:a="http://schemas.openxmlformats.org/drawingml/2006/main">
            <a:off x="1390650" y="3429000"/>
            <a:ext cx="4476750" cy="4572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15" name="">
            <a:extLst xmlns:a="http://schemas.openxmlformats.org/drawingml/2006/main">
              <a:ext uri="{FF2B5EF4-FFF2-40B4-BE49-F238E27FC236}">
                <a16:creationId xmlns:a16="http://schemas.microsoft.com/office/drawing/2014/main" id="{EDCF4FA9-AE3B-49F8-956B-FE7219DF47C7}"/>
              </a:ext>
            </a:extLst>
          </p:cNvPr>
          <p:cNvSpPr>
            <a:spLocks xmlns:a="http://schemas.openxmlformats.org/drawingml/2006/main" noGrp="1"/>
          </p:cNvSpPr>
          <p:nvPr/>
        </p:nvSpPr>
        <p:spPr>
          <a:xfrm xmlns:a="http://schemas.openxmlformats.org/drawingml/2006/main">
            <a:off x="1581150" y="3524250"/>
            <a:ext cx="1790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A3554"/>
                </a:solidFill>
                <a:latin typeface="Aptos Display"/>
                <a:ea typeface="Aptos Display"/>
                <a:cs typeface="Aptos Display"/>
              </a:defRPr>
            </a:pPr>
            <a:r>
              <a:rPr sz="975" b="1">
                <a:solidFill>
                  <a:srgbClr val="1A3554"/>
                </a:solidFill>
                <a:latin typeface="Aptos Display"/>
                <a:ea typeface="Aptos Display"/>
                <a:cs typeface="Aptos Display"/>
              </a:rPr>
              <a:t>Cadre TransferAI</a:t>
            </a:r>
          </a:p>
        </p:txBody>
      </p:sp>
      <p:sp>
        <p:nvSpPr>
          <p:cNvPr id="16" name="">
            <a:extLst xmlns:a="http://schemas.openxmlformats.org/drawingml/2006/main">
              <a:ext uri="{FF2B5EF4-FFF2-40B4-BE49-F238E27FC236}">
                <a16:creationId xmlns:a16="http://schemas.microsoft.com/office/drawing/2014/main" id="{0D7053D1-AF3E-4764-BA9B-73FA05F72B1B}"/>
              </a:ext>
            </a:extLst>
          </p:cNvPr>
          <p:cNvSpPr>
            <a:spLocks xmlns:a="http://schemas.openxmlformats.org/drawingml/2006/main" noGrp="1"/>
          </p:cNvSpPr>
          <p:nvPr/>
        </p:nvSpPr>
        <p:spPr>
          <a:xfrm xmlns:a="http://schemas.openxmlformats.org/drawingml/2006/main">
            <a:off x="3733800" y="3524250"/>
            <a:ext cx="1943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17086"/>
                </a:solidFill>
                <a:latin typeface="Aptos"/>
                <a:ea typeface="Aptos"/>
                <a:cs typeface="Aptos"/>
              </a:defRPr>
            </a:pPr>
            <a:r>
              <a:rPr sz="788" b="0">
                <a:solidFill>
                  <a:srgbClr val="617086"/>
                </a:solidFill>
                <a:latin typeface="Aptos"/>
                <a:ea typeface="Aptos"/>
                <a:cs typeface="Aptos"/>
              </a:rPr>
              <a:t>qui porte l'exécution</a:t>
            </a:r>
          </a:p>
        </p:txBody>
      </p:sp>
      <p:sp>
        <p:nvSpPr>
          <p:cNvPr id="17" name="">
            <a:extLst xmlns:a="http://schemas.openxmlformats.org/drawingml/2006/main">
              <a:ext uri="{FF2B5EF4-FFF2-40B4-BE49-F238E27FC236}">
                <a16:creationId xmlns:a16="http://schemas.microsoft.com/office/drawing/2014/main" id="{9287716A-BEB8-449C-AD78-C513C2DD6E8A}"/>
              </a:ext>
            </a:extLst>
          </p:cNvPr>
          <p:cNvSpPr>
            <a:spLocks xmlns:a="http://schemas.openxmlformats.org/drawingml/2006/main" noGrp="1"/>
          </p:cNvSpPr>
          <p:nvPr/>
        </p:nvSpPr>
        <p:spPr>
          <a:xfrm xmlns:a="http://schemas.openxmlformats.org/drawingml/2006/main">
            <a:off x="876300" y="4019550"/>
            <a:ext cx="342900" cy="342900"/>
          </a:xfrm>
          <a:prstGeom xmlns:a="http://schemas.openxmlformats.org/drawingml/2006/main" prst="ellipse">
            <a:avLst/>
          </a:prstGeom>
          <a:solidFill xmlns:a="http://schemas.openxmlformats.org/drawingml/2006/main">
            <a:srgbClr val="163556"/>
          </a:solidFill>
          <a:ln xmlns:a="http://schemas.openxmlformats.org/drawingml/2006/main" w="0">
            <a:solidFill>
              <a:srgbClr val="163556"/>
            </a:solidFill>
            <a:prstDash val="solid"/>
          </a:ln>
        </p:spPr>
      </p:sp>
      <p:sp>
        <p:nvSpPr>
          <p:cNvPr id="18" name="">
            <a:extLst xmlns:a="http://schemas.openxmlformats.org/drawingml/2006/main">
              <a:ext uri="{FF2B5EF4-FFF2-40B4-BE49-F238E27FC236}">
                <a16:creationId xmlns:a16="http://schemas.microsoft.com/office/drawing/2014/main" id="{57B04AC5-EE6A-4732-AE7C-D49927FC2676}"/>
              </a:ext>
            </a:extLst>
          </p:cNvPr>
          <p:cNvSpPr>
            <a:spLocks xmlns:a="http://schemas.openxmlformats.org/drawingml/2006/main" noGrp="1"/>
          </p:cNvSpPr>
          <p:nvPr/>
        </p:nvSpPr>
        <p:spPr>
          <a:xfrm xmlns:a="http://schemas.openxmlformats.org/drawingml/2006/main">
            <a:off x="876300" y="4095750"/>
            <a:ext cx="342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03</a:t>
            </a:r>
          </a:p>
        </p:txBody>
      </p:sp>
      <p:sp>
        <p:nvSpPr>
          <p:cNvPr id="19" name="">
            <a:extLst xmlns:a="http://schemas.openxmlformats.org/drawingml/2006/main">
              <a:ext uri="{FF2B5EF4-FFF2-40B4-BE49-F238E27FC236}">
                <a16:creationId xmlns:a16="http://schemas.microsoft.com/office/drawing/2014/main" id="{C4881A73-D893-441E-8CE0-28175B4ACE24}"/>
              </a:ext>
            </a:extLst>
          </p:cNvPr>
          <p:cNvSpPr>
            <a:spLocks xmlns:a="http://schemas.openxmlformats.org/drawingml/2006/main" noGrp="1"/>
          </p:cNvSpPr>
          <p:nvPr/>
        </p:nvSpPr>
        <p:spPr>
          <a:xfrm xmlns:a="http://schemas.openxmlformats.org/drawingml/2006/main">
            <a:off x="1390650" y="3981450"/>
            <a:ext cx="4476750" cy="4572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20" name="">
            <a:extLst xmlns:a="http://schemas.openxmlformats.org/drawingml/2006/main">
              <a:ext uri="{FF2B5EF4-FFF2-40B4-BE49-F238E27FC236}">
                <a16:creationId xmlns:a16="http://schemas.microsoft.com/office/drawing/2014/main" id="{61A49EB6-1ABE-42A6-A371-0C5AD35F0D01}"/>
              </a:ext>
            </a:extLst>
          </p:cNvPr>
          <p:cNvSpPr>
            <a:spLocks xmlns:a="http://schemas.openxmlformats.org/drawingml/2006/main" noGrp="1"/>
          </p:cNvSpPr>
          <p:nvPr/>
        </p:nvSpPr>
        <p:spPr>
          <a:xfrm xmlns:a="http://schemas.openxmlformats.org/drawingml/2006/main">
            <a:off x="1581150" y="4076700"/>
            <a:ext cx="1790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A3554"/>
                </a:solidFill>
                <a:latin typeface="Aptos Display"/>
                <a:ea typeface="Aptos Display"/>
                <a:cs typeface="Aptos Display"/>
              </a:defRPr>
            </a:pPr>
            <a:r>
              <a:rPr sz="975" b="1">
                <a:solidFill>
                  <a:srgbClr val="1A3554"/>
                </a:solidFill>
                <a:latin typeface="Aptos Display"/>
                <a:ea typeface="Aptos Display"/>
                <a:cs typeface="Aptos Display"/>
              </a:rPr>
              <a:t>Enjeux de service</a:t>
            </a:r>
          </a:p>
        </p:txBody>
      </p:sp>
      <p:sp>
        <p:nvSpPr>
          <p:cNvPr id="21" name="">
            <a:extLst xmlns:a="http://schemas.openxmlformats.org/drawingml/2006/main">
              <a:ext uri="{FF2B5EF4-FFF2-40B4-BE49-F238E27FC236}">
                <a16:creationId xmlns:a16="http://schemas.microsoft.com/office/drawing/2014/main" id="{5AF1DBFC-572C-461C-A9D7-094AB00765B8}"/>
              </a:ext>
            </a:extLst>
          </p:cNvPr>
          <p:cNvSpPr>
            <a:spLocks xmlns:a="http://schemas.openxmlformats.org/drawingml/2006/main" noGrp="1"/>
          </p:cNvSpPr>
          <p:nvPr/>
        </p:nvSpPr>
        <p:spPr>
          <a:xfrm xmlns:a="http://schemas.openxmlformats.org/drawingml/2006/main">
            <a:off x="3733800" y="4076700"/>
            <a:ext cx="1943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17086"/>
                </a:solidFill>
                <a:latin typeface="Aptos"/>
                <a:ea typeface="Aptos"/>
                <a:cs typeface="Aptos"/>
              </a:defRPr>
            </a:pPr>
            <a:r>
              <a:rPr sz="788" b="0">
                <a:solidFill>
                  <a:srgbClr val="617086"/>
                </a:solidFill>
                <a:latin typeface="Aptos"/>
                <a:ea typeface="Aptos"/>
                <a:cs typeface="Aptos"/>
              </a:rPr>
              <a:t>où la valeur devient visible</a:t>
            </a:r>
          </a:p>
        </p:txBody>
      </p:sp>
      <p:sp>
        <p:nvSpPr>
          <p:cNvPr id="22" name="">
            <a:extLst xmlns:a="http://schemas.openxmlformats.org/drawingml/2006/main">
              <a:ext uri="{FF2B5EF4-FFF2-40B4-BE49-F238E27FC236}">
                <a16:creationId xmlns:a16="http://schemas.microsoft.com/office/drawing/2014/main" id="{BE02A75A-7E7B-432B-AB13-60E43108CD19}"/>
              </a:ext>
            </a:extLst>
          </p:cNvPr>
          <p:cNvSpPr>
            <a:spLocks xmlns:a="http://schemas.openxmlformats.org/drawingml/2006/main" noGrp="1"/>
          </p:cNvSpPr>
          <p:nvPr/>
        </p:nvSpPr>
        <p:spPr>
          <a:xfrm xmlns:a="http://schemas.openxmlformats.org/drawingml/2006/main">
            <a:off x="876300" y="4572000"/>
            <a:ext cx="342900" cy="342900"/>
          </a:xfrm>
          <a:prstGeom xmlns:a="http://schemas.openxmlformats.org/drawingml/2006/main" prst="ellipse">
            <a:avLst/>
          </a:prstGeom>
          <a:solidFill xmlns:a="http://schemas.openxmlformats.org/drawingml/2006/main">
            <a:srgbClr val="C88C3A"/>
          </a:solidFill>
          <a:ln xmlns:a="http://schemas.openxmlformats.org/drawingml/2006/main" w="0">
            <a:solidFill>
              <a:srgbClr val="C88C3A"/>
            </a:solidFill>
            <a:prstDash val="solid"/>
          </a:ln>
        </p:spPr>
      </p:sp>
      <p:sp>
        <p:nvSpPr>
          <p:cNvPr id="23" name="">
            <a:extLst xmlns:a="http://schemas.openxmlformats.org/drawingml/2006/main">
              <a:ext uri="{FF2B5EF4-FFF2-40B4-BE49-F238E27FC236}">
                <a16:creationId xmlns:a16="http://schemas.microsoft.com/office/drawing/2014/main" id="{F5C17B48-18CD-4A10-AC9D-5676E2FF5474}"/>
              </a:ext>
            </a:extLst>
          </p:cNvPr>
          <p:cNvSpPr>
            <a:spLocks xmlns:a="http://schemas.openxmlformats.org/drawingml/2006/main" noGrp="1"/>
          </p:cNvSpPr>
          <p:nvPr/>
        </p:nvSpPr>
        <p:spPr>
          <a:xfrm xmlns:a="http://schemas.openxmlformats.org/drawingml/2006/main">
            <a:off x="876300" y="4648200"/>
            <a:ext cx="342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04</a:t>
            </a:r>
          </a:p>
        </p:txBody>
      </p:sp>
      <p:sp>
        <p:nvSpPr>
          <p:cNvPr id="24" name="">
            <a:extLst xmlns:a="http://schemas.openxmlformats.org/drawingml/2006/main">
              <a:ext uri="{FF2B5EF4-FFF2-40B4-BE49-F238E27FC236}">
                <a16:creationId xmlns:a16="http://schemas.microsoft.com/office/drawing/2014/main" id="{9ED843B8-3814-4CE4-90AD-D05A2B78FE34}"/>
              </a:ext>
            </a:extLst>
          </p:cNvPr>
          <p:cNvSpPr>
            <a:spLocks xmlns:a="http://schemas.openxmlformats.org/drawingml/2006/main" noGrp="1"/>
          </p:cNvSpPr>
          <p:nvPr/>
        </p:nvSpPr>
        <p:spPr>
          <a:xfrm xmlns:a="http://schemas.openxmlformats.org/drawingml/2006/main">
            <a:off x="1390650" y="4533900"/>
            <a:ext cx="4476750" cy="4572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25" name="">
            <a:extLst xmlns:a="http://schemas.openxmlformats.org/drawingml/2006/main">
              <a:ext uri="{FF2B5EF4-FFF2-40B4-BE49-F238E27FC236}">
                <a16:creationId xmlns:a16="http://schemas.microsoft.com/office/drawing/2014/main" id="{599C4202-7504-4976-84F5-E2E4821E14BD}"/>
              </a:ext>
            </a:extLst>
          </p:cNvPr>
          <p:cNvSpPr>
            <a:spLocks xmlns:a="http://schemas.openxmlformats.org/drawingml/2006/main" noGrp="1"/>
          </p:cNvSpPr>
          <p:nvPr/>
        </p:nvSpPr>
        <p:spPr>
          <a:xfrm xmlns:a="http://schemas.openxmlformats.org/drawingml/2006/main">
            <a:off x="1581150" y="4629150"/>
            <a:ext cx="1790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A3554"/>
                </a:solidFill>
                <a:latin typeface="Aptos Display"/>
                <a:ea typeface="Aptos Display"/>
                <a:cs typeface="Aptos Display"/>
              </a:defRPr>
            </a:pPr>
            <a:r>
              <a:rPr sz="975" b="1">
                <a:solidFill>
                  <a:srgbClr val="1A3554"/>
                </a:solidFill>
                <a:latin typeface="Aptos Display"/>
                <a:ea typeface="Aptos Display"/>
                <a:cs typeface="Aptos Display"/>
              </a:rPr>
              <a:t>Gouvernance et capacités</a:t>
            </a:r>
          </a:p>
        </p:txBody>
      </p:sp>
      <p:sp>
        <p:nvSpPr>
          <p:cNvPr id="26" name="">
            <a:extLst xmlns:a="http://schemas.openxmlformats.org/drawingml/2006/main">
              <a:ext uri="{FF2B5EF4-FFF2-40B4-BE49-F238E27FC236}">
                <a16:creationId xmlns:a16="http://schemas.microsoft.com/office/drawing/2014/main" id="{08C85079-88CF-4966-B819-738265BA3D0C}"/>
              </a:ext>
            </a:extLst>
          </p:cNvPr>
          <p:cNvSpPr>
            <a:spLocks xmlns:a="http://schemas.openxmlformats.org/drawingml/2006/main" noGrp="1"/>
          </p:cNvSpPr>
          <p:nvPr/>
        </p:nvSpPr>
        <p:spPr>
          <a:xfrm xmlns:a="http://schemas.openxmlformats.org/drawingml/2006/main">
            <a:off x="3733800" y="4629150"/>
            <a:ext cx="1943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17086"/>
                </a:solidFill>
                <a:latin typeface="Aptos"/>
                <a:ea typeface="Aptos"/>
                <a:cs typeface="Aptos"/>
              </a:defRPr>
            </a:pPr>
            <a:r>
              <a:rPr sz="788" b="0">
                <a:solidFill>
                  <a:srgbClr val="617086"/>
                </a:solidFill>
                <a:latin typeface="Aptos"/>
                <a:ea typeface="Aptos"/>
                <a:cs typeface="Aptos"/>
              </a:rPr>
              <a:t>ce qu'il faut sécuriser</a:t>
            </a:r>
          </a:p>
        </p:txBody>
      </p:sp>
      <p:sp>
        <p:nvSpPr>
          <p:cNvPr id="27" name="">
            <a:extLst xmlns:a="http://schemas.openxmlformats.org/drawingml/2006/main">
              <a:ext uri="{FF2B5EF4-FFF2-40B4-BE49-F238E27FC236}">
                <a16:creationId xmlns:a16="http://schemas.microsoft.com/office/drawing/2014/main" id="{E17919D8-4678-4248-BC1A-8E4099F9E442}"/>
              </a:ext>
            </a:extLst>
          </p:cNvPr>
          <p:cNvSpPr>
            <a:spLocks xmlns:a="http://schemas.openxmlformats.org/drawingml/2006/main" noGrp="1"/>
          </p:cNvSpPr>
          <p:nvPr/>
        </p:nvSpPr>
        <p:spPr>
          <a:xfrm xmlns:a="http://schemas.openxmlformats.org/drawingml/2006/main">
            <a:off x="876300" y="5124450"/>
            <a:ext cx="342900" cy="342900"/>
          </a:xfrm>
          <a:prstGeom xmlns:a="http://schemas.openxmlformats.org/drawingml/2006/main" prst="ellipse">
            <a:avLst/>
          </a:prstGeom>
          <a:solidFill xmlns:a="http://schemas.openxmlformats.org/drawingml/2006/main">
            <a:srgbClr val="E76F1D"/>
          </a:solidFill>
          <a:ln xmlns:a="http://schemas.openxmlformats.org/drawingml/2006/main" w="0">
            <a:solidFill>
              <a:srgbClr val="E76F1D"/>
            </a:solidFill>
            <a:prstDash val="solid"/>
          </a:ln>
        </p:spPr>
      </p:sp>
      <p:sp>
        <p:nvSpPr>
          <p:cNvPr id="28" name="">
            <a:extLst xmlns:a="http://schemas.openxmlformats.org/drawingml/2006/main">
              <a:ext uri="{FF2B5EF4-FFF2-40B4-BE49-F238E27FC236}">
                <a16:creationId xmlns:a16="http://schemas.microsoft.com/office/drawing/2014/main" id="{74891B11-C6C0-4357-B811-CC00E0D80B7F}"/>
              </a:ext>
            </a:extLst>
          </p:cNvPr>
          <p:cNvSpPr>
            <a:spLocks xmlns:a="http://schemas.openxmlformats.org/drawingml/2006/main" noGrp="1"/>
          </p:cNvSpPr>
          <p:nvPr/>
        </p:nvSpPr>
        <p:spPr>
          <a:xfrm xmlns:a="http://schemas.openxmlformats.org/drawingml/2006/main">
            <a:off x="876300" y="5200650"/>
            <a:ext cx="3429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1">
                <a:solidFill>
                  <a:srgbClr val="FFFFFF"/>
                </a:solidFill>
                <a:latin typeface="Aptos"/>
                <a:ea typeface="Aptos"/>
                <a:cs typeface="Aptos"/>
              </a:defRPr>
            </a:pPr>
            <a:r>
              <a:rPr sz="750" b="1">
                <a:solidFill>
                  <a:srgbClr val="FFFFFF"/>
                </a:solidFill>
                <a:latin typeface="Aptos"/>
                <a:ea typeface="Aptos"/>
                <a:cs typeface="Aptos"/>
              </a:rPr>
              <a:t>05</a:t>
            </a:r>
          </a:p>
        </p:txBody>
      </p:sp>
      <p:sp>
        <p:nvSpPr>
          <p:cNvPr id="29" name="">
            <a:extLst xmlns:a="http://schemas.openxmlformats.org/drawingml/2006/main">
              <a:ext uri="{FF2B5EF4-FFF2-40B4-BE49-F238E27FC236}">
                <a16:creationId xmlns:a16="http://schemas.microsoft.com/office/drawing/2014/main" id="{1870FCBA-6064-415F-8CB3-C4957AEE5DA0}"/>
              </a:ext>
            </a:extLst>
          </p:cNvPr>
          <p:cNvSpPr>
            <a:spLocks xmlns:a="http://schemas.openxmlformats.org/drawingml/2006/main" noGrp="1"/>
          </p:cNvSpPr>
          <p:nvPr/>
        </p:nvSpPr>
        <p:spPr>
          <a:xfrm xmlns:a="http://schemas.openxmlformats.org/drawingml/2006/main">
            <a:off x="1390650" y="5086350"/>
            <a:ext cx="4476750" cy="4572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30" name="">
            <a:extLst xmlns:a="http://schemas.openxmlformats.org/drawingml/2006/main">
              <a:ext uri="{FF2B5EF4-FFF2-40B4-BE49-F238E27FC236}">
                <a16:creationId xmlns:a16="http://schemas.microsoft.com/office/drawing/2014/main" id="{48D4638C-DC32-4283-B58B-B69168D3169F}"/>
              </a:ext>
            </a:extLst>
          </p:cNvPr>
          <p:cNvSpPr>
            <a:spLocks xmlns:a="http://schemas.openxmlformats.org/drawingml/2006/main" noGrp="1"/>
          </p:cNvSpPr>
          <p:nvPr/>
        </p:nvSpPr>
        <p:spPr>
          <a:xfrm xmlns:a="http://schemas.openxmlformats.org/drawingml/2006/main">
            <a:off x="1581150" y="5181600"/>
            <a:ext cx="17907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1A3554"/>
                </a:solidFill>
                <a:latin typeface="Aptos Display"/>
                <a:ea typeface="Aptos Display"/>
                <a:cs typeface="Aptos Display"/>
              </a:defRPr>
            </a:pPr>
            <a:r>
              <a:rPr sz="975" b="1">
                <a:solidFill>
                  <a:srgbClr val="1A3554"/>
                </a:solidFill>
                <a:latin typeface="Aptos Display"/>
                <a:ea typeface="Aptos Display"/>
                <a:cs typeface="Aptos Display"/>
              </a:rPr>
              <a:t>Feuille de route</a:t>
            </a:r>
          </a:p>
        </p:txBody>
      </p:sp>
      <p:sp>
        <p:nvSpPr>
          <p:cNvPr id="31" name="">
            <a:extLst xmlns:a="http://schemas.openxmlformats.org/drawingml/2006/main">
              <a:ext uri="{FF2B5EF4-FFF2-40B4-BE49-F238E27FC236}">
                <a16:creationId xmlns:a16="http://schemas.microsoft.com/office/drawing/2014/main" id="{B0CB361B-60CF-4ACC-9A77-D343F1C517E8}"/>
              </a:ext>
            </a:extLst>
          </p:cNvPr>
          <p:cNvSpPr>
            <a:spLocks xmlns:a="http://schemas.openxmlformats.org/drawingml/2006/main" noGrp="1"/>
          </p:cNvSpPr>
          <p:nvPr/>
        </p:nvSpPr>
        <p:spPr>
          <a:xfrm xmlns:a="http://schemas.openxmlformats.org/drawingml/2006/main">
            <a:off x="3733800" y="5181600"/>
            <a:ext cx="19431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88" b="0">
                <a:solidFill>
                  <a:srgbClr val="617086"/>
                </a:solidFill>
                <a:latin typeface="Aptos"/>
                <a:ea typeface="Aptos"/>
                <a:cs typeface="Aptos"/>
              </a:defRPr>
            </a:pPr>
            <a:r>
              <a:rPr sz="788" b="0">
                <a:solidFill>
                  <a:srgbClr val="617086"/>
                </a:solidFill>
                <a:latin typeface="Aptos"/>
                <a:ea typeface="Aptos"/>
                <a:cs typeface="Aptos"/>
              </a:rPr>
              <a:t>ce que l'on recommande</a:t>
            </a:r>
          </a:p>
        </p:txBody>
      </p:sp>
      <p:sp>
        <p:nvSpPr>
          <p:cNvPr id="32" name="">
            <a:extLst xmlns:a="http://schemas.openxmlformats.org/drawingml/2006/main">
              <a:ext uri="{FF2B5EF4-FFF2-40B4-BE49-F238E27FC236}">
                <a16:creationId xmlns:a16="http://schemas.microsoft.com/office/drawing/2014/main" id="{FF4F3268-6643-4A50-9C9E-EC10751D6129}"/>
              </a:ext>
            </a:extLst>
          </p:cNvPr>
          <p:cNvSpPr>
            <a:spLocks xmlns:a="http://schemas.openxmlformats.org/drawingml/2006/main" noGrp="1"/>
          </p:cNvSpPr>
          <p:nvPr/>
        </p:nvSpPr>
        <p:spPr>
          <a:xfrm xmlns:a="http://schemas.openxmlformats.org/drawingml/2006/main">
            <a:off x="6610350" y="2324100"/>
            <a:ext cx="4895850" cy="31623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33" name="">
            <a:extLst xmlns:a="http://schemas.openxmlformats.org/drawingml/2006/main">
              <a:ext uri="{FF2B5EF4-FFF2-40B4-BE49-F238E27FC236}">
                <a16:creationId xmlns:a16="http://schemas.microsoft.com/office/drawing/2014/main" id="{6FC72C68-D429-4754-B63E-38B0737F7382}"/>
              </a:ext>
            </a:extLst>
          </p:cNvPr>
          <p:cNvSpPr>
            <a:spLocks xmlns:a="http://schemas.openxmlformats.org/drawingml/2006/main" noGrp="1"/>
          </p:cNvSpPr>
          <p:nvPr/>
        </p:nvSpPr>
        <p:spPr>
          <a:xfrm xmlns:a="http://schemas.openxmlformats.org/drawingml/2006/main">
            <a:off x="6896100" y="25908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LECTURE DÉCISIONNELLE</a:t>
            </a:r>
          </a:p>
        </p:txBody>
      </p:sp>
      <p:sp>
        <p:nvSpPr>
          <p:cNvPr id="34" name="">
            <a:extLst xmlns:a="http://schemas.openxmlformats.org/drawingml/2006/main">
              <a:ext uri="{FF2B5EF4-FFF2-40B4-BE49-F238E27FC236}">
                <a16:creationId xmlns:a16="http://schemas.microsoft.com/office/drawing/2014/main" id="{E4E66A51-5F76-41E2-902C-3BFE2CF84B45}"/>
              </a:ext>
            </a:extLst>
          </p:cNvPr>
          <p:cNvSpPr>
            <a:spLocks xmlns:a="http://schemas.openxmlformats.org/drawingml/2006/main" noGrp="1"/>
          </p:cNvSpPr>
          <p:nvPr/>
        </p:nvSpPr>
        <p:spPr>
          <a:xfrm xmlns:a="http://schemas.openxmlformats.org/drawingml/2006/main">
            <a:off x="6896100" y="2895600"/>
            <a:ext cx="285750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Un deck court,</a:t>
            </a:r>
          </a:p>
          <a:p xmlns:a="http://schemas.openxmlformats.org/drawingml/2006/main">
            <a:pPr algn="l">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mais guidé comme</a:t>
            </a:r>
          </a:p>
          <a:p xmlns:a="http://schemas.openxmlformats.org/drawingml/2006/main">
            <a:pPr algn="l">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un cadre d'action.</a:t>
            </a:r>
          </a:p>
        </p:txBody>
      </p:sp>
      <p:sp>
        <p:nvSpPr>
          <p:cNvPr id="35" name="">
            <a:extLst xmlns:a="http://schemas.openxmlformats.org/drawingml/2006/main">
              <a:ext uri="{FF2B5EF4-FFF2-40B4-BE49-F238E27FC236}">
                <a16:creationId xmlns:a16="http://schemas.microsoft.com/office/drawing/2014/main" id="{AC74111D-7CBB-4E7D-8CC9-107CF4EC9707}"/>
              </a:ext>
            </a:extLst>
          </p:cNvPr>
          <p:cNvSpPr>
            <a:spLocks xmlns:a="http://schemas.openxmlformats.org/drawingml/2006/main" noGrp="1"/>
          </p:cNvSpPr>
          <p:nvPr/>
        </p:nvSpPr>
        <p:spPr>
          <a:xfrm xmlns:a="http://schemas.openxmlformats.org/drawingml/2006/main">
            <a:off x="6896100" y="4133850"/>
            <a:ext cx="291465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D7E5F3"/>
                </a:solidFill>
                <a:latin typeface="Aptos"/>
                <a:ea typeface="Aptos"/>
                <a:cs typeface="Aptos"/>
              </a:defRPr>
            </a:pPr>
            <a:r>
              <a:rPr sz="1050" b="0">
                <a:solidFill>
                  <a:srgbClr val="D7E5F3"/>
                </a:solidFill>
                <a:latin typeface="Aptos"/>
                <a:ea typeface="Aptos"/>
                <a:cs typeface="Aptos"/>
              </a:rPr>
              <a:t>1. Comprendre les enjeux de service.</a:t>
            </a:r>
          </a:p>
          <a:p xmlns:a="http://schemas.openxmlformats.org/drawingml/2006/main">
            <a:pPr algn="l">
              <a:defRPr sz="1050" b="0">
                <a:solidFill>
                  <a:srgbClr val="D7E5F3"/>
                </a:solidFill>
                <a:latin typeface="Aptos"/>
                <a:ea typeface="Aptos"/>
                <a:cs typeface="Aptos"/>
              </a:defRPr>
            </a:pPr>
            <a:r>
              <a:rPr sz="1050" b="0">
                <a:solidFill>
                  <a:srgbClr val="D7E5F3"/>
                </a:solidFill>
                <a:latin typeface="Aptos"/>
                <a:ea typeface="Aptos"/>
                <a:cs typeface="Aptos"/>
              </a:rPr>
              <a:t>2. Donner des indicateurs de preuve crédibles.</a:t>
            </a:r>
          </a:p>
          <a:p xmlns:a="http://schemas.openxmlformats.org/drawingml/2006/main">
            <a:pPr algn="l">
              <a:defRPr sz="1050" b="0">
                <a:solidFill>
                  <a:srgbClr val="D7E5F3"/>
                </a:solidFill>
                <a:latin typeface="Aptos"/>
                <a:ea typeface="Aptos"/>
                <a:cs typeface="Aptos"/>
              </a:defRPr>
            </a:pPr>
            <a:r>
              <a:rPr sz="1050" b="0">
                <a:solidFill>
                  <a:srgbClr val="D7E5F3"/>
                </a:solidFill>
                <a:latin typeface="Aptos"/>
                <a:ea typeface="Aptos"/>
                <a:cs typeface="Aptos"/>
              </a:rPr>
              <a:t>3. Recommander un premier pilote gouverné.</a:t>
            </a:r>
          </a:p>
          <a:p xmlns:a="http://schemas.openxmlformats.org/drawingml/2006/main">
            <a:pPr algn="l">
              <a:defRPr sz="1050" b="0">
                <a:solidFill>
                  <a:srgbClr val="D7E5F3"/>
                </a:solidFill>
                <a:latin typeface="Aptos"/>
                <a:ea typeface="Aptos"/>
                <a:cs typeface="Aptos"/>
              </a:defRPr>
            </a:pPr>
            <a:r>
              <a:rPr sz="1050" b="0">
                <a:solidFill>
                  <a:srgbClr val="D7E5F3"/>
                </a:solidFill>
                <a:latin typeface="Aptos"/>
                <a:ea typeface="Aptos"/>
                <a:cs typeface="Aptos"/>
              </a:rPr>
              <a:t>4. Finir sur une prochaine étape simple : audit IA + échange expert de 30 minutes.</a:t>
            </a:r>
          </a:p>
        </p:txBody>
      </p:sp>
      <p:sp>
        <p:nvSpPr>
          <p:cNvPr id="36" name="">
            <a:extLst xmlns:a="http://schemas.openxmlformats.org/drawingml/2006/main">
              <a:ext uri="{FF2B5EF4-FFF2-40B4-BE49-F238E27FC236}">
                <a16:creationId xmlns:a16="http://schemas.microsoft.com/office/drawing/2014/main" id="{62E74D2C-45E2-4CC5-9901-061DC5EED018}"/>
              </a:ext>
            </a:extLst>
          </p:cNvPr>
          <p:cNvSpPr>
            <a:spLocks xmlns:a="http://schemas.openxmlformats.org/drawingml/2006/main" noGrp="1"/>
          </p:cNvSpPr>
          <p:nvPr/>
        </p:nvSpPr>
        <p:spPr>
          <a:xfrm xmlns:a="http://schemas.openxmlformats.org/drawingml/2006/main">
            <a:off x="9925050" y="2895600"/>
            <a:ext cx="1257300" cy="91440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37" name="">
            <a:extLst xmlns:a="http://schemas.openxmlformats.org/drawingml/2006/main">
              <a:ext uri="{FF2B5EF4-FFF2-40B4-BE49-F238E27FC236}">
                <a16:creationId xmlns:a16="http://schemas.microsoft.com/office/drawing/2014/main" id="{15EC46D6-E765-4C51-85BD-F6289F05133D}"/>
              </a:ext>
            </a:extLst>
          </p:cNvPr>
          <p:cNvSpPr>
            <a:spLocks xmlns:a="http://schemas.openxmlformats.org/drawingml/2006/main" noGrp="1"/>
          </p:cNvSpPr>
          <p:nvPr/>
        </p:nvSpPr>
        <p:spPr>
          <a:xfrm xmlns:a="http://schemas.openxmlformats.org/drawingml/2006/main">
            <a:off x="10096500" y="3181350"/>
            <a:ext cx="9144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PDF ready</a:t>
            </a:r>
          </a:p>
        </p:txBody>
      </p:sp>
      <p:sp>
        <p:nvSpPr>
          <p:cNvPr id="38" name="">
            <a:extLst xmlns:a="http://schemas.openxmlformats.org/drawingml/2006/main">
              <a:ext uri="{FF2B5EF4-FFF2-40B4-BE49-F238E27FC236}">
                <a16:creationId xmlns:a16="http://schemas.microsoft.com/office/drawing/2014/main" id="{DA7C46B7-6ABB-4388-BDD3-4904CF4230E9}"/>
              </a:ext>
            </a:extLst>
          </p:cNvPr>
          <p:cNvSpPr>
            <a:spLocks xmlns:a="http://schemas.openxmlformats.org/drawingml/2006/main" noGrp="1"/>
          </p:cNvSpPr>
          <p:nvPr/>
        </p:nvSpPr>
        <p:spPr>
          <a:xfrm xmlns:a="http://schemas.openxmlformats.org/drawingml/2006/main">
            <a:off x="10077450" y="3429000"/>
            <a:ext cx="952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FFFFFF"/>
                </a:solidFill>
                <a:latin typeface="Aptos"/>
                <a:ea typeface="Aptos"/>
                <a:cs typeface="Aptos"/>
              </a:defRPr>
            </a:pPr>
            <a:r>
              <a:rPr sz="788" b="0">
                <a:solidFill>
                  <a:srgbClr val="FFFFFF"/>
                </a:solidFill>
                <a:latin typeface="Aptos"/>
                <a:ea typeface="Aptos"/>
                <a:cs typeface="Aptos"/>
              </a:rPr>
              <a:t>lecture rapide direction</a:t>
            </a:r>
          </a:p>
        </p:txBody>
      </p:sp>
      <p:sp>
        <p:nvSpPr>
          <p:cNvPr id="39" name="">
            <a:extLst xmlns:a="http://schemas.openxmlformats.org/drawingml/2006/main">
              <a:ext uri="{FF2B5EF4-FFF2-40B4-BE49-F238E27FC236}">
                <a16:creationId xmlns:a16="http://schemas.microsoft.com/office/drawing/2014/main" id="{D9728BC2-E3B2-49E6-B249-DECBEE96B73E}"/>
              </a:ext>
            </a:extLst>
          </p:cNvPr>
          <p:cNvSpPr>
            <a:spLocks xmlns:a="http://schemas.openxmlformats.org/drawingml/2006/main" noGrp="1"/>
          </p:cNvSpPr>
          <p:nvPr/>
        </p:nvSpPr>
        <p:spPr>
          <a:xfrm xmlns:a="http://schemas.openxmlformats.org/drawingml/2006/main">
            <a:off x="9925050" y="3981450"/>
            <a:ext cx="1257300" cy="91440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40" name="">
            <a:extLst xmlns:a="http://schemas.openxmlformats.org/drawingml/2006/main">
              <a:ext uri="{FF2B5EF4-FFF2-40B4-BE49-F238E27FC236}">
                <a16:creationId xmlns:a16="http://schemas.microsoft.com/office/drawing/2014/main" id="{9F372A5F-184F-4622-A743-7915B6CF6131}"/>
              </a:ext>
            </a:extLst>
          </p:cNvPr>
          <p:cNvSpPr>
            <a:spLocks xmlns:a="http://schemas.openxmlformats.org/drawingml/2006/main" noGrp="1"/>
          </p:cNvSpPr>
          <p:nvPr/>
        </p:nvSpPr>
        <p:spPr>
          <a:xfrm xmlns:a="http://schemas.openxmlformats.org/drawingml/2006/main">
            <a:off x="10096500" y="4267200"/>
            <a:ext cx="9144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2 temps</a:t>
            </a:r>
          </a:p>
        </p:txBody>
      </p:sp>
      <p:sp>
        <p:nvSpPr>
          <p:cNvPr id="41" name="">
            <a:extLst xmlns:a="http://schemas.openxmlformats.org/drawingml/2006/main">
              <a:ext uri="{FF2B5EF4-FFF2-40B4-BE49-F238E27FC236}">
                <a16:creationId xmlns:a16="http://schemas.microsoft.com/office/drawing/2014/main" id="{F882C86A-AEC3-458A-9272-65A8AD5ABF65}"/>
              </a:ext>
            </a:extLst>
          </p:cNvPr>
          <p:cNvSpPr>
            <a:spLocks xmlns:a="http://schemas.openxmlformats.org/drawingml/2006/main" noGrp="1"/>
          </p:cNvSpPr>
          <p:nvPr/>
        </p:nvSpPr>
        <p:spPr>
          <a:xfrm xmlns:a="http://schemas.openxmlformats.org/drawingml/2006/main">
            <a:off x="10020300" y="4514850"/>
            <a:ext cx="10668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FFFFFF"/>
                </a:solidFill>
                <a:latin typeface="Aptos"/>
                <a:ea typeface="Aptos"/>
                <a:cs typeface="Aptos"/>
              </a:defRPr>
            </a:pPr>
            <a:r>
              <a:rPr sz="788" b="0">
                <a:solidFill>
                  <a:srgbClr val="FFFFFF"/>
                </a:solidFill>
                <a:latin typeface="Aptos"/>
                <a:ea typeface="Aptos"/>
                <a:cs typeface="Aptos"/>
              </a:rPr>
              <a:t>comprendre puis cadrer</a:t>
            </a:r>
          </a:p>
        </p:txBody>
      </p:sp>
      <p:sp>
        <p:nvSpPr>
          <p:cNvPr id="42" name="">
            <a:extLst xmlns:a="http://schemas.openxmlformats.org/drawingml/2006/main">
              <a:ext uri="{FF2B5EF4-FFF2-40B4-BE49-F238E27FC236}">
                <a16:creationId xmlns:a16="http://schemas.microsoft.com/office/drawing/2014/main" id="{7B394FAC-E5E0-4F6F-B9BA-AA4B2393D2E8}"/>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6CAF0A57-BC99-4993-BB13-DC84C70708E6}"/>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deck institutionnel V3</a:t>
            </a:r>
          </a:p>
        </p:txBody>
      </p:sp>
      <p:sp>
        <p:nvSpPr>
          <p:cNvPr id="44" name="">
            <a:extLst xmlns:a="http://schemas.openxmlformats.org/drawingml/2006/main">
              <a:ext uri="{FF2B5EF4-FFF2-40B4-BE49-F238E27FC236}">
                <a16:creationId xmlns:a16="http://schemas.microsoft.com/office/drawing/2014/main" id="{958AF6BF-4E68-4530-8381-E68943382879}"/>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02</a:t>
            </a:r>
          </a:p>
        </p:txBody>
      </p:sp>
    </p:spTree>
    <p:extLst>
      <p:ext uri="{BB962C8B-B14F-4D97-AF65-F5344CB8AC3E}">
        <p14:creationId xmlns:p14="http://schemas.microsoft.com/office/powerpoint/2010/main" val="13299965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F20C692D-3C8B-4354-92FC-EE5F600FF4B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2001FA3-6493-47EF-84C3-897E5BDF4D2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3" name="">
            <a:extLst xmlns:a="http://schemas.openxmlformats.org/drawingml/2006/main">
              <a:ext uri="{FF2B5EF4-FFF2-40B4-BE49-F238E27FC236}">
                <a16:creationId xmlns:a16="http://schemas.microsoft.com/office/drawing/2014/main" id="{9D5702F8-4648-4AE7-8CAD-F70682680E94}"/>
              </a:ext>
            </a:extLst>
          </p:cNvPr>
          <p:cNvSpPr>
            <a:spLocks xmlns:a="http://schemas.openxmlformats.org/drawingml/2006/main" noGrp="1"/>
          </p:cNvSpPr>
          <p:nvPr/>
        </p:nvSpPr>
        <p:spPr>
          <a:xfrm xmlns:a="http://schemas.openxmlformats.org/drawingml/2006/main">
            <a:off x="685800" y="1066800"/>
            <a:ext cx="76200" cy="4324350"/>
          </a:xfrm>
          <a:prstGeom xmlns:a="http://schemas.openxmlformats.org/drawingml/2006/main" prst="rect">
            <a:avLst/>
          </a:prstGeom>
          <a:solidFill xmlns:a="http://schemas.openxmlformats.org/drawingml/2006/main">
            <a:srgbClr val="E76F1D"/>
          </a:solidFill>
          <a:ln xmlns:a="http://schemas.openxmlformats.org/drawingml/2006/main" w="0">
            <a:solidFill>
              <a:srgbClr val="E76F1D"/>
            </a:solidFill>
            <a:prstDash val="solid"/>
          </a:ln>
        </p:spPr>
      </p:sp>
      <p:sp>
        <p:nvSpPr>
          <p:cNvPr id="4" name="">
            <a:extLst xmlns:a="http://schemas.openxmlformats.org/drawingml/2006/main">
              <a:ext uri="{FF2B5EF4-FFF2-40B4-BE49-F238E27FC236}">
                <a16:creationId xmlns:a16="http://schemas.microsoft.com/office/drawing/2014/main" id="{44F18543-CD57-4AF9-B009-2CB2B0719FEB}"/>
              </a:ext>
            </a:extLst>
          </p:cNvPr>
          <p:cNvSpPr>
            <a:spLocks xmlns:a="http://schemas.openxmlformats.org/drawingml/2006/main" noGrp="1"/>
          </p:cNvSpPr>
          <p:nvPr/>
        </p:nvSpPr>
        <p:spPr>
          <a:xfrm xmlns:a="http://schemas.openxmlformats.org/drawingml/2006/main">
            <a:off x="990600" y="11620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CE QUE NOUS AVONS COMPRIS</a:t>
            </a:r>
          </a:p>
        </p:txBody>
      </p:sp>
      <p:sp>
        <p:nvSpPr>
          <p:cNvPr id="5" name="">
            <a:extLst xmlns:a="http://schemas.openxmlformats.org/drawingml/2006/main">
              <a:ext uri="{FF2B5EF4-FFF2-40B4-BE49-F238E27FC236}">
                <a16:creationId xmlns:a16="http://schemas.microsoft.com/office/drawing/2014/main" id="{5CF399CF-4249-46D7-B471-21F973BF7BCA}"/>
              </a:ext>
            </a:extLst>
          </p:cNvPr>
          <p:cNvSpPr>
            <a:spLocks xmlns:a="http://schemas.openxmlformats.org/drawingml/2006/main" noGrp="1"/>
          </p:cNvSpPr>
          <p:nvPr/>
        </p:nvSpPr>
        <p:spPr>
          <a:xfrm xmlns:a="http://schemas.openxmlformats.org/drawingml/2006/main">
            <a:off x="990600" y="1524000"/>
            <a:ext cx="6096000" cy="1295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Les slides qui cadrent</a:t>
            </a:r>
          </a:p>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les enjeux de service</a:t>
            </a:r>
          </a:p>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avant de parler déploiement.</a:t>
            </a:r>
          </a:p>
        </p:txBody>
      </p:sp>
      <p:sp>
        <p:nvSpPr>
          <p:cNvPr id="6" name="">
            <a:extLst xmlns:a="http://schemas.openxmlformats.org/drawingml/2006/main">
              <a:ext uri="{FF2B5EF4-FFF2-40B4-BE49-F238E27FC236}">
                <a16:creationId xmlns:a16="http://schemas.microsoft.com/office/drawing/2014/main" id="{61D45DAA-7301-455A-9027-DB666E72E043}"/>
              </a:ext>
            </a:extLst>
          </p:cNvPr>
          <p:cNvSpPr>
            <a:spLocks xmlns:a="http://schemas.openxmlformats.org/drawingml/2006/main" noGrp="1"/>
          </p:cNvSpPr>
          <p:nvPr/>
        </p:nvSpPr>
        <p:spPr>
          <a:xfrm xmlns:a="http://schemas.openxmlformats.org/drawingml/2006/main">
            <a:off x="990600" y="3086100"/>
            <a:ext cx="5334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D7E5F3"/>
                </a:solidFill>
                <a:latin typeface="Aptos"/>
                <a:ea typeface="Aptos"/>
                <a:cs typeface="Aptos"/>
              </a:defRPr>
            </a:pPr>
            <a:r>
              <a:rPr sz="1200" b="0">
                <a:solidFill>
                  <a:srgbClr val="D7E5F3"/>
                </a:solidFill>
                <a:latin typeface="Aptos"/>
                <a:ea typeface="Aptos"/>
                <a:cs typeface="Aptos"/>
              </a:rPr>
              <a:t>Cette première partie du deck doit montrer que nous comprenons les priorités institutionnelles, les irritants visibles et les indicateurs de preuve qui feront foi pour la direction.</a:t>
            </a:r>
          </a:p>
        </p:txBody>
      </p:sp>
      <p:sp>
        <p:nvSpPr>
          <p:cNvPr id="7" name="">
            <a:extLst xmlns:a="http://schemas.openxmlformats.org/drawingml/2006/main">
              <a:ext uri="{FF2B5EF4-FFF2-40B4-BE49-F238E27FC236}">
                <a16:creationId xmlns:a16="http://schemas.microsoft.com/office/drawing/2014/main" id="{3127A814-0C39-4F0B-9B46-E48174B2FF5A}"/>
              </a:ext>
            </a:extLst>
          </p:cNvPr>
          <p:cNvSpPr>
            <a:spLocks xmlns:a="http://schemas.openxmlformats.org/drawingml/2006/main" noGrp="1"/>
          </p:cNvSpPr>
          <p:nvPr/>
        </p:nvSpPr>
        <p:spPr>
          <a:xfrm xmlns:a="http://schemas.openxmlformats.org/drawingml/2006/main">
            <a:off x="7410450" y="1257300"/>
            <a:ext cx="3752850" cy="161925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8" name="">
            <a:extLst xmlns:a="http://schemas.openxmlformats.org/drawingml/2006/main">
              <a:ext uri="{FF2B5EF4-FFF2-40B4-BE49-F238E27FC236}">
                <a16:creationId xmlns:a16="http://schemas.microsoft.com/office/drawing/2014/main" id="{3FFAF02C-8DB4-4468-9CB0-B9E00CD81BEA}"/>
              </a:ext>
            </a:extLst>
          </p:cNvPr>
          <p:cNvSpPr>
            <a:spLocks xmlns:a="http://schemas.openxmlformats.org/drawingml/2006/main" noGrp="1"/>
          </p:cNvSpPr>
          <p:nvPr/>
        </p:nvSpPr>
        <p:spPr>
          <a:xfrm xmlns:a="http://schemas.openxmlformats.org/drawingml/2006/main">
            <a:off x="7658100" y="1485900"/>
            <a:ext cx="2095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D7E5F3"/>
                </a:solidFill>
                <a:latin typeface="Aptos"/>
                <a:ea typeface="Aptos"/>
                <a:cs typeface="Aptos"/>
              </a:defRPr>
            </a:pPr>
            <a:r>
              <a:rPr sz="750" b="1">
                <a:solidFill>
                  <a:srgbClr val="D7E5F3"/>
                </a:solidFill>
                <a:latin typeface="Aptos"/>
                <a:ea typeface="Aptos"/>
                <a:cs typeface="Aptos"/>
              </a:rPr>
              <a:t>Cette section doit prouver</a:t>
            </a:r>
          </a:p>
        </p:txBody>
      </p:sp>
      <p:sp>
        <p:nvSpPr>
          <p:cNvPr id="9" name="">
            <a:extLst xmlns:a="http://schemas.openxmlformats.org/drawingml/2006/main">
              <a:ext uri="{FF2B5EF4-FFF2-40B4-BE49-F238E27FC236}">
                <a16:creationId xmlns:a16="http://schemas.microsoft.com/office/drawing/2014/main" id="{22E655DF-5714-4EDE-B268-D15A32CDB524}"/>
              </a:ext>
            </a:extLst>
          </p:cNvPr>
          <p:cNvSpPr>
            <a:spLocks xmlns:a="http://schemas.openxmlformats.org/drawingml/2006/main" noGrp="1"/>
          </p:cNvSpPr>
          <p:nvPr/>
        </p:nvSpPr>
        <p:spPr>
          <a:xfrm xmlns:a="http://schemas.openxmlformats.org/drawingml/2006/main">
            <a:off x="7658100" y="1733550"/>
            <a:ext cx="32575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1">
                <a:solidFill>
                  <a:srgbClr val="FFFFFF"/>
                </a:solidFill>
                <a:latin typeface="Aptos"/>
                <a:ea typeface="Aptos"/>
                <a:cs typeface="Aptos"/>
              </a:defRPr>
            </a:pPr>
            <a:r>
              <a:rPr sz="1013" b="1">
                <a:solidFill>
                  <a:srgbClr val="FFFFFF"/>
                </a:solidFill>
                <a:latin typeface="Aptos"/>
                <a:ea typeface="Aptos"/>
                <a:cs typeface="Aptos"/>
              </a:rPr>
              <a:t>Nous ne venons pas avec un catalogue. Nous partons des flux qui coûtent déjà du temps, de la rigueur, de la coordination et de la qualité de service.</a:t>
            </a:r>
          </a:p>
        </p:txBody>
      </p:sp>
      <p:sp>
        <p:nvSpPr>
          <p:cNvPr id="10" name="">
            <a:extLst xmlns:a="http://schemas.openxmlformats.org/drawingml/2006/main">
              <a:ext uri="{FF2B5EF4-FFF2-40B4-BE49-F238E27FC236}">
                <a16:creationId xmlns:a16="http://schemas.microsoft.com/office/drawing/2014/main" id="{2C0D645F-C33F-477A-8D57-0ADF2DBA8DDE}"/>
              </a:ext>
            </a:extLst>
          </p:cNvPr>
          <p:cNvSpPr>
            <a:spLocks xmlns:a="http://schemas.openxmlformats.org/drawingml/2006/main" noGrp="1"/>
          </p:cNvSpPr>
          <p:nvPr/>
        </p:nvSpPr>
        <p:spPr>
          <a:xfrm xmlns:a="http://schemas.openxmlformats.org/drawingml/2006/main">
            <a:off x="7410450" y="3200400"/>
            <a:ext cx="3752850" cy="1695450"/>
          </a:xfrm>
          <a:prstGeom xmlns:a="http://schemas.openxmlformats.org/drawingml/2006/main" prst="rect">
            <a:avLst/>
          </a:prstGeom>
          <a:solidFill xmlns:a="http://schemas.openxmlformats.org/drawingml/2006/main">
            <a:srgbClr val="10263F"/>
          </a:solidFill>
          <a:ln xmlns:a="http://schemas.openxmlformats.org/drawingml/2006/main" w="9525">
            <a:solidFill>
              <a:srgbClr val="2F587F"/>
            </a:solidFill>
            <a:prstDash val="solid"/>
          </a:ln>
        </p:spPr>
      </p:sp>
      <p:sp>
        <p:nvSpPr>
          <p:cNvPr id="11" name="">
            <a:extLst xmlns:a="http://schemas.openxmlformats.org/drawingml/2006/main">
              <a:ext uri="{FF2B5EF4-FFF2-40B4-BE49-F238E27FC236}">
                <a16:creationId xmlns:a16="http://schemas.microsoft.com/office/drawing/2014/main" id="{9F5AF1AA-2909-430D-BAE2-665078950413}"/>
              </a:ext>
            </a:extLst>
          </p:cNvPr>
          <p:cNvSpPr>
            <a:spLocks xmlns:a="http://schemas.openxmlformats.org/drawingml/2006/main" noGrp="1"/>
          </p:cNvSpPr>
          <p:nvPr/>
        </p:nvSpPr>
        <p:spPr>
          <a:xfrm xmlns:a="http://schemas.openxmlformats.org/drawingml/2006/main">
            <a:off x="7658100" y="34290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CFE0F0"/>
                </a:solidFill>
                <a:latin typeface="Aptos"/>
                <a:ea typeface="Aptos"/>
                <a:cs typeface="Aptos"/>
              </a:defRPr>
            </a:pPr>
            <a:r>
              <a:rPr sz="750" b="1">
                <a:solidFill>
                  <a:srgbClr val="CFE0F0"/>
                </a:solidFill>
                <a:latin typeface="Aptos"/>
                <a:ea typeface="Aptos"/>
                <a:cs typeface="Aptos"/>
              </a:rPr>
              <a:t>Promesse de lecture</a:t>
            </a:r>
          </a:p>
        </p:txBody>
      </p:sp>
      <p:sp>
        <p:nvSpPr>
          <p:cNvPr id="12" name="">
            <a:extLst xmlns:a="http://schemas.openxmlformats.org/drawingml/2006/main">
              <a:ext uri="{FF2B5EF4-FFF2-40B4-BE49-F238E27FC236}">
                <a16:creationId xmlns:a16="http://schemas.microsoft.com/office/drawing/2014/main" id="{800AB74C-8FC4-44BC-B6D5-F4A8C7760262}"/>
              </a:ext>
            </a:extLst>
          </p:cNvPr>
          <p:cNvSpPr>
            <a:spLocks xmlns:a="http://schemas.openxmlformats.org/drawingml/2006/main" noGrp="1"/>
          </p:cNvSpPr>
          <p:nvPr/>
        </p:nvSpPr>
        <p:spPr>
          <a:xfrm xmlns:a="http://schemas.openxmlformats.org/drawingml/2006/main">
            <a:off x="7658100" y="3714750"/>
            <a:ext cx="31051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Comprendre avant de cadrer.</a:t>
            </a:r>
          </a:p>
        </p:txBody>
      </p:sp>
      <p:sp>
        <p:nvSpPr>
          <p:cNvPr id="13" name="">
            <a:extLst xmlns:a="http://schemas.openxmlformats.org/drawingml/2006/main">
              <a:ext uri="{FF2B5EF4-FFF2-40B4-BE49-F238E27FC236}">
                <a16:creationId xmlns:a16="http://schemas.microsoft.com/office/drawing/2014/main" id="{0C519C83-F65F-4BBF-B146-1FE310EF81BC}"/>
              </a:ext>
            </a:extLst>
          </p:cNvPr>
          <p:cNvSpPr>
            <a:spLocks xmlns:a="http://schemas.openxmlformats.org/drawingml/2006/main" noGrp="1"/>
          </p:cNvSpPr>
          <p:nvPr/>
        </p:nvSpPr>
        <p:spPr>
          <a:xfrm xmlns:a="http://schemas.openxmlformats.org/drawingml/2006/main">
            <a:off x="7658100" y="4305300"/>
            <a:ext cx="3200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D7E5F3"/>
                </a:solidFill>
                <a:latin typeface="Aptos"/>
                <a:ea typeface="Aptos"/>
                <a:cs typeface="Aptos"/>
              </a:defRPr>
            </a:pPr>
            <a:r>
              <a:rPr sz="900" b="0">
                <a:solidFill>
                  <a:srgbClr val="D7E5F3"/>
                </a:solidFill>
                <a:latin typeface="Aptos"/>
                <a:ea typeface="Aptos"/>
                <a:cs typeface="Aptos"/>
              </a:rPr>
              <a:t>La crédibilité institutionnelle se joue ici : ancrage local, preuve d'exécution et lecture claire des enjeux de service.</a:t>
            </a:r>
          </a:p>
        </p:txBody>
      </p:sp>
      <p:sp>
        <p:nvSpPr>
          <p:cNvPr id="14" name="">
            <a:extLst xmlns:a="http://schemas.openxmlformats.org/drawingml/2006/main">
              <a:ext uri="{FF2B5EF4-FFF2-40B4-BE49-F238E27FC236}">
                <a16:creationId xmlns:a16="http://schemas.microsoft.com/office/drawing/2014/main" id="{AD4FF55B-05B0-4C2B-B3C2-BB95B9929DF8}"/>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A355707B-FC98-42E3-B240-EFB02C101FD7}"/>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deck institutionnel V3</a:t>
            </a:r>
          </a:p>
        </p:txBody>
      </p:sp>
      <p:sp>
        <p:nvSpPr>
          <p:cNvPr id="16" name="">
            <a:extLst xmlns:a="http://schemas.openxmlformats.org/drawingml/2006/main">
              <a:ext uri="{FF2B5EF4-FFF2-40B4-BE49-F238E27FC236}">
                <a16:creationId xmlns:a16="http://schemas.microsoft.com/office/drawing/2014/main" id="{51EB83A6-1F3D-481F-9573-ED9DB8CE113B}"/>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03</a:t>
            </a:r>
          </a:p>
        </p:txBody>
      </p:sp>
    </p:spTree>
    <p:extLst>
      <p:ext uri="{BB962C8B-B14F-4D97-AF65-F5344CB8AC3E}">
        <p14:creationId xmlns:p14="http://schemas.microsoft.com/office/powerpoint/2010/main" val="42617852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9A7C03C-14B1-4E08-BEE4-8D9637D5086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73E48A95-2B5A-43AA-8EA3-C9CCA2C89985}"/>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QUI SOMMES-NOUS</a:t>
            </a:r>
          </a:p>
        </p:txBody>
      </p:sp>
      <p:sp>
        <p:nvSpPr>
          <p:cNvPr id="3" name="">
            <a:extLst xmlns:a="http://schemas.openxmlformats.org/drawingml/2006/main">
              <a:ext uri="{FF2B5EF4-FFF2-40B4-BE49-F238E27FC236}">
                <a16:creationId xmlns:a16="http://schemas.microsoft.com/office/drawing/2014/main" id="{DC708378-7CEC-402A-AC86-55391526FFDC}"/>
              </a:ext>
            </a:extLst>
          </p:cNvPr>
          <p:cNvSpPr>
            <a:spLocks xmlns:a="http://schemas.openxmlformats.org/drawingml/2006/main" noGrp="1"/>
          </p:cNvSpPr>
          <p:nvPr/>
        </p:nvSpPr>
        <p:spPr>
          <a:xfrm xmlns:a="http://schemas.openxmlformats.org/drawingml/2006/main">
            <a:off x="685800" y="819150"/>
            <a:ext cx="8191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TransferAI, le hub IA de Nettelecom CI</a:t>
            </a:r>
          </a:p>
        </p:txBody>
      </p:sp>
      <p:sp>
        <p:nvSpPr>
          <p:cNvPr id="4" name="">
            <a:extLst xmlns:a="http://schemas.openxmlformats.org/drawingml/2006/main">
              <a:ext uri="{FF2B5EF4-FFF2-40B4-BE49-F238E27FC236}">
                <a16:creationId xmlns:a16="http://schemas.microsoft.com/office/drawing/2014/main" id="{4D3D8DCD-FF3D-4031-BEF5-F020F7A7BF21}"/>
              </a:ext>
            </a:extLst>
          </p:cNvPr>
          <p:cNvSpPr>
            <a:spLocks xmlns:a="http://schemas.openxmlformats.org/drawingml/2006/main" noGrp="1"/>
          </p:cNvSpPr>
          <p:nvPr/>
        </p:nvSpPr>
        <p:spPr>
          <a:xfrm xmlns:a="http://schemas.openxmlformats.org/drawingml/2006/main">
            <a:off x="685800" y="1676400"/>
            <a:ext cx="923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La proposition gagne en crédibilité si nous expliquons clairement qui porte l'offre, avec quelle profondeur d'expertise et dans quel cadre d'exécution.</a:t>
            </a:r>
          </a:p>
        </p:txBody>
      </p:sp>
      <p:sp>
        <p:nvSpPr>
          <p:cNvPr id="5" name="">
            <a:extLst xmlns:a="http://schemas.openxmlformats.org/drawingml/2006/main">
              <a:ext uri="{FF2B5EF4-FFF2-40B4-BE49-F238E27FC236}">
                <a16:creationId xmlns:a16="http://schemas.microsoft.com/office/drawing/2014/main" id="{A1028B0C-3BEE-4E82-A10B-D16C952E9EBF}"/>
              </a:ext>
            </a:extLst>
          </p:cNvPr>
          <p:cNvSpPr>
            <a:spLocks xmlns:a="http://schemas.openxmlformats.org/drawingml/2006/main" noGrp="1"/>
          </p:cNvSpPr>
          <p:nvPr/>
        </p:nvSpPr>
        <p:spPr>
          <a:xfrm xmlns:a="http://schemas.openxmlformats.org/drawingml/2006/main">
            <a:off x="685800" y="2171700"/>
            <a:ext cx="4114800" cy="32385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6" name="">
            <a:extLst xmlns:a="http://schemas.openxmlformats.org/drawingml/2006/main">
              <a:ext uri="{FF2B5EF4-FFF2-40B4-BE49-F238E27FC236}">
                <a16:creationId xmlns:a16="http://schemas.microsoft.com/office/drawing/2014/main" id="{21839AB5-AED9-4C33-BCE3-0AF34AFE771F}"/>
              </a:ext>
            </a:extLst>
          </p:cNvPr>
          <p:cNvSpPr>
            <a:spLocks xmlns:a="http://schemas.openxmlformats.org/drawingml/2006/main" noGrp="1"/>
          </p:cNvSpPr>
          <p:nvPr/>
        </p:nvSpPr>
        <p:spPr>
          <a:xfrm xmlns:a="http://schemas.openxmlformats.org/drawingml/2006/main">
            <a:off x="933450" y="2400300"/>
            <a:ext cx="15240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D7E5F3"/>
                </a:solidFill>
                <a:latin typeface="Aptos"/>
                <a:ea typeface="Aptos"/>
                <a:cs typeface="Aptos"/>
              </a:defRPr>
            </a:pPr>
            <a:r>
              <a:rPr sz="825" b="1">
                <a:solidFill>
                  <a:srgbClr val="D7E5F3"/>
                </a:solidFill>
                <a:latin typeface="Aptos"/>
                <a:ea typeface="Aptos"/>
                <a:cs typeface="Aptos"/>
              </a:rPr>
              <a:t>TransferAI</a:t>
            </a:r>
          </a:p>
        </p:txBody>
      </p:sp>
      <p:sp>
        <p:nvSpPr>
          <p:cNvPr id="7" name="">
            <a:extLst xmlns:a="http://schemas.openxmlformats.org/drawingml/2006/main">
              <a:ext uri="{FF2B5EF4-FFF2-40B4-BE49-F238E27FC236}">
                <a16:creationId xmlns:a16="http://schemas.microsoft.com/office/drawing/2014/main" id="{1FD0E476-0409-43BD-9AA7-44AD98845FF8}"/>
              </a:ext>
            </a:extLst>
          </p:cNvPr>
          <p:cNvSpPr>
            <a:spLocks xmlns:a="http://schemas.openxmlformats.org/drawingml/2006/main" noGrp="1"/>
          </p:cNvSpPr>
          <p:nvPr/>
        </p:nvSpPr>
        <p:spPr>
          <a:xfrm xmlns:a="http://schemas.openxmlformats.org/drawingml/2006/main">
            <a:off x="933450" y="2724150"/>
            <a:ext cx="2571750" cy="1257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Le hub IA</a:t>
            </a:r>
          </a:p>
          <a:p xmlns:a="http://schemas.openxmlformats.org/drawingml/2006/main">
            <a:pPr algn="l">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opérationnel de</a:t>
            </a:r>
          </a:p>
          <a:p xmlns:a="http://schemas.openxmlformats.org/drawingml/2006/main">
            <a:pPr algn="l">
              <a:defRPr sz="2250" b="1">
                <a:solidFill>
                  <a:srgbClr val="FFFFFF"/>
                </a:solidFill>
                <a:latin typeface="Aptos Display"/>
                <a:ea typeface="Aptos Display"/>
                <a:cs typeface="Aptos Display"/>
              </a:defRPr>
            </a:pPr>
            <a:r>
              <a:rPr sz="2250" b="1">
                <a:solidFill>
                  <a:srgbClr val="FFFFFF"/>
                </a:solidFill>
                <a:latin typeface="Aptos Display"/>
                <a:ea typeface="Aptos Display"/>
                <a:cs typeface="Aptos Display"/>
              </a:rPr>
              <a:t>Nettelecom CI</a:t>
            </a:r>
          </a:p>
        </p:txBody>
      </p:sp>
      <p:sp>
        <p:nvSpPr>
          <p:cNvPr id="8" name="">
            <a:extLst xmlns:a="http://schemas.openxmlformats.org/drawingml/2006/main">
              <a:ext uri="{FF2B5EF4-FFF2-40B4-BE49-F238E27FC236}">
                <a16:creationId xmlns:a16="http://schemas.microsoft.com/office/drawing/2014/main" id="{70C29F59-6F12-4327-9427-D759C9539BE0}"/>
              </a:ext>
            </a:extLst>
          </p:cNvPr>
          <p:cNvSpPr>
            <a:spLocks xmlns:a="http://schemas.openxmlformats.org/drawingml/2006/main" noGrp="1"/>
          </p:cNvSpPr>
          <p:nvPr/>
        </p:nvSpPr>
        <p:spPr>
          <a:xfrm xmlns:a="http://schemas.openxmlformats.org/drawingml/2006/main">
            <a:off x="933450" y="3886200"/>
            <a:ext cx="2724150" cy="742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D7E5F3"/>
                </a:solidFill>
                <a:latin typeface="Aptos"/>
                <a:ea typeface="Aptos"/>
                <a:cs typeface="Aptos"/>
              </a:defRPr>
            </a:pPr>
            <a:r>
              <a:rPr sz="1013" b="0">
                <a:solidFill>
                  <a:srgbClr val="D7E5F3"/>
                </a:solidFill>
                <a:latin typeface="Aptos"/>
                <a:ea typeface="Aptos"/>
                <a:cs typeface="Aptos"/>
              </a:rPr>
              <a:t>Nous positionnons TransferAI comme la structure qui relie stratégie, automatisation, data, formation et gouvernance pour transformer l'IA en exécution métier.</a:t>
            </a:r>
          </a:p>
        </p:txBody>
      </p:sp>
      <p:sp>
        <p:nvSpPr>
          <p:cNvPr id="9" name="">
            <a:extLst xmlns:a="http://schemas.openxmlformats.org/drawingml/2006/main">
              <a:ext uri="{FF2B5EF4-FFF2-40B4-BE49-F238E27FC236}">
                <a16:creationId xmlns:a16="http://schemas.microsoft.com/office/drawing/2014/main" id="{D8C5ED0C-330D-4C47-B00A-C6E754352AF8}"/>
              </a:ext>
            </a:extLst>
          </p:cNvPr>
          <p:cNvSpPr>
            <a:spLocks xmlns:a="http://schemas.openxmlformats.org/drawingml/2006/main" noGrp="1"/>
          </p:cNvSpPr>
          <p:nvPr/>
        </p:nvSpPr>
        <p:spPr>
          <a:xfrm xmlns:a="http://schemas.openxmlformats.org/drawingml/2006/main">
            <a:off x="933450" y="4876800"/>
            <a:ext cx="2762250" cy="40005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10" name="">
            <a:extLst xmlns:a="http://schemas.openxmlformats.org/drawingml/2006/main">
              <a:ext uri="{FF2B5EF4-FFF2-40B4-BE49-F238E27FC236}">
                <a16:creationId xmlns:a16="http://schemas.microsoft.com/office/drawing/2014/main" id="{4C8272CB-B6D5-4D3F-96F9-FED66D79CD33}"/>
              </a:ext>
            </a:extLst>
          </p:cNvPr>
          <p:cNvSpPr>
            <a:spLocks xmlns:a="http://schemas.openxmlformats.org/drawingml/2006/main" noGrp="1"/>
          </p:cNvSpPr>
          <p:nvPr/>
        </p:nvSpPr>
        <p:spPr>
          <a:xfrm xmlns:a="http://schemas.openxmlformats.org/drawingml/2006/main">
            <a:off x="1085850" y="4991100"/>
            <a:ext cx="24574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25" b="1">
                <a:solidFill>
                  <a:srgbClr val="FFFFFF"/>
                </a:solidFill>
                <a:latin typeface="Aptos"/>
                <a:ea typeface="Aptos"/>
                <a:cs typeface="Aptos"/>
              </a:defRPr>
            </a:pPr>
            <a:r>
              <a:rPr sz="825" b="1">
                <a:solidFill>
                  <a:srgbClr val="FFFFFF"/>
                </a:solidFill>
                <a:latin typeface="Aptos"/>
                <a:ea typeface="Aptos"/>
                <a:cs typeface="Aptos"/>
              </a:rPr>
              <a:t>Pour le prospect : un interlocuteur IA structuré, pas un simple catalogue.</a:t>
            </a:r>
          </a:p>
        </p:txBody>
      </p:sp>
      <p:sp>
        <p:nvSpPr>
          <p:cNvPr id="11" name="">
            <a:extLst xmlns:a="http://schemas.openxmlformats.org/drawingml/2006/main">
              <a:ext uri="{FF2B5EF4-FFF2-40B4-BE49-F238E27FC236}">
                <a16:creationId xmlns:a16="http://schemas.microsoft.com/office/drawing/2014/main" id="{8A04E945-016E-47BF-A671-6D4159A450E2}"/>
              </a:ext>
            </a:extLst>
          </p:cNvPr>
          <p:cNvSpPr>
            <a:spLocks xmlns:a="http://schemas.openxmlformats.org/drawingml/2006/main" noGrp="1"/>
          </p:cNvSpPr>
          <p:nvPr/>
        </p:nvSpPr>
        <p:spPr>
          <a:xfrm xmlns:a="http://schemas.openxmlformats.org/drawingml/2006/main">
            <a:off x="5086350" y="2171700"/>
            <a:ext cx="2857500" cy="14097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2" name="">
            <a:extLst xmlns:a="http://schemas.openxmlformats.org/drawingml/2006/main">
              <a:ext uri="{FF2B5EF4-FFF2-40B4-BE49-F238E27FC236}">
                <a16:creationId xmlns:a16="http://schemas.microsoft.com/office/drawing/2014/main" id="{FDA060ED-5D98-4EF5-9864-47C425EDA0EB}"/>
              </a:ext>
            </a:extLst>
          </p:cNvPr>
          <p:cNvSpPr>
            <a:spLocks xmlns:a="http://schemas.openxmlformats.org/drawingml/2006/main" noGrp="1"/>
          </p:cNvSpPr>
          <p:nvPr/>
        </p:nvSpPr>
        <p:spPr>
          <a:xfrm xmlns:a="http://schemas.openxmlformats.org/drawingml/2006/main">
            <a:off x="5295900" y="2381250"/>
            <a:ext cx="419100" cy="419100"/>
          </a:xfrm>
          <a:prstGeom xmlns:a="http://schemas.openxmlformats.org/drawingml/2006/main" prst="ellipse">
            <a:avLst/>
          </a:prstGeom>
          <a:solidFill xmlns:a="http://schemas.openxmlformats.org/drawingml/2006/main">
            <a:srgbClr val="E76F1D"/>
          </a:solidFill>
          <a:ln xmlns:a="http://schemas.openxmlformats.org/drawingml/2006/main" w="0">
            <a:solidFill>
              <a:srgbClr val="E76F1D"/>
            </a:solidFill>
            <a:prstDash val="solid"/>
          </a:ln>
        </p:spPr>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1751d95f82d460a">
            <a:extLst>
              <a:ext uri="{96DAC541-7B7A-43D3-8B79-37D633B846F1}">
                <asvg:svgBlip xmlns:asvg="http://schemas.microsoft.com/office/drawing/2016/SVG/main" r:embed="R9e1a504730db45a0"/>
              </a:ext>
            </a:extLst>
          </a:blip>
          <a:stretch xmlns:a="http://schemas.openxmlformats.org/drawingml/2006/main"/>
        </p:blipFill>
        <p:spPr>
          <a:xfrm xmlns:a="http://schemas.openxmlformats.org/drawingml/2006/main">
            <a:off x="5391150" y="2476500"/>
            <a:ext cx="228600" cy="22860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CDE93F90-771F-4FC0-A724-55E111ED2A29}"/>
              </a:ext>
            </a:extLst>
          </p:cNvPr>
          <p:cNvSpPr>
            <a:spLocks xmlns:a="http://schemas.openxmlformats.org/drawingml/2006/main" noGrp="1"/>
          </p:cNvSpPr>
          <p:nvPr/>
        </p:nvSpPr>
        <p:spPr>
          <a:xfrm xmlns:a="http://schemas.openxmlformats.org/drawingml/2006/main">
            <a:off x="5829300" y="2381250"/>
            <a:ext cx="1714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13 experts en IA</a:t>
            </a:r>
          </a:p>
        </p:txBody>
      </p:sp>
      <p:sp>
        <p:nvSpPr>
          <p:cNvPr id="15" name="">
            <a:extLst xmlns:a="http://schemas.openxmlformats.org/drawingml/2006/main">
              <a:ext uri="{FF2B5EF4-FFF2-40B4-BE49-F238E27FC236}">
                <a16:creationId xmlns:a16="http://schemas.microsoft.com/office/drawing/2014/main" id="{C2F0AB5D-B7F8-44E5-8E10-1EC182FDF2DE}"/>
              </a:ext>
            </a:extLst>
          </p:cNvPr>
          <p:cNvSpPr>
            <a:spLocks xmlns:a="http://schemas.openxmlformats.org/drawingml/2006/main" noGrp="1"/>
          </p:cNvSpPr>
          <p:nvPr/>
        </p:nvSpPr>
        <p:spPr>
          <a:xfrm xmlns:a="http://schemas.openxmlformats.org/drawingml/2006/main">
            <a:off x="5295900" y="2857500"/>
            <a:ext cx="22479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Une équipe de 13 experts en IA, mobilisable sur des enjeux de diagnostic, d'automatisation, de pilotage, de formation et de gouvernance.</a:t>
            </a:r>
          </a:p>
        </p:txBody>
      </p:sp>
      <p:sp>
        <p:nvSpPr>
          <p:cNvPr id="16" name="">
            <a:extLst xmlns:a="http://schemas.openxmlformats.org/drawingml/2006/main">
              <a:ext uri="{FF2B5EF4-FFF2-40B4-BE49-F238E27FC236}">
                <a16:creationId xmlns:a16="http://schemas.microsoft.com/office/drawing/2014/main" id="{39005291-DEF6-4A03-97A4-6F838116573E}"/>
              </a:ext>
            </a:extLst>
          </p:cNvPr>
          <p:cNvSpPr>
            <a:spLocks xmlns:a="http://schemas.openxmlformats.org/drawingml/2006/main" noGrp="1"/>
          </p:cNvSpPr>
          <p:nvPr/>
        </p:nvSpPr>
        <p:spPr>
          <a:xfrm xmlns:a="http://schemas.openxmlformats.org/drawingml/2006/main">
            <a:off x="8153400" y="2171700"/>
            <a:ext cx="3352800" cy="14097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7" name="">
            <a:extLst xmlns:a="http://schemas.openxmlformats.org/drawingml/2006/main">
              <a:ext uri="{FF2B5EF4-FFF2-40B4-BE49-F238E27FC236}">
                <a16:creationId xmlns:a16="http://schemas.microsoft.com/office/drawing/2014/main" id="{31E79FFD-9595-46BA-9145-7C1CC09AF699}"/>
              </a:ext>
            </a:extLst>
          </p:cNvPr>
          <p:cNvSpPr>
            <a:spLocks xmlns:a="http://schemas.openxmlformats.org/drawingml/2006/main" noGrp="1"/>
          </p:cNvSpPr>
          <p:nvPr/>
        </p:nvSpPr>
        <p:spPr>
          <a:xfrm xmlns:a="http://schemas.openxmlformats.org/drawingml/2006/main">
            <a:off x="8362950" y="2381250"/>
            <a:ext cx="419100" cy="419100"/>
          </a:xfrm>
          <a:prstGeom xmlns:a="http://schemas.openxmlformats.org/drawingml/2006/main" prst="ellipse">
            <a:avLst/>
          </a:prstGeom>
          <a:solidFill xmlns:a="http://schemas.openxmlformats.org/drawingml/2006/main">
            <a:srgbClr val="1C8A78"/>
          </a:solidFill>
          <a:ln xmlns:a="http://schemas.openxmlformats.org/drawingml/2006/main" w="0">
            <a:solidFill>
              <a:srgbClr val="1C8A78"/>
            </a:solidFill>
            <a:prstDash val="solid"/>
          </a:ln>
        </p:spPr>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7ff7acc5df8c4a9b">
            <a:extLst>
              <a:ext uri="{96DAC541-7B7A-43D3-8B79-37D633B846F1}">
                <asvg:svgBlip xmlns:asvg="http://schemas.microsoft.com/office/drawing/2016/SVG/main" r:embed="R11ba98f279f2493e"/>
              </a:ext>
            </a:extLst>
          </a:blip>
          <a:stretch xmlns:a="http://schemas.openxmlformats.org/drawingml/2006/main"/>
        </p:blipFill>
        <p:spPr>
          <a:xfrm xmlns:a="http://schemas.openxmlformats.org/drawingml/2006/main">
            <a:off x="8458200" y="2476500"/>
            <a:ext cx="228600" cy="228600"/>
          </a:xfrm>
          <a:prstGeom xmlns:a="http://schemas.openxmlformats.org/drawingml/2006/main" prst="rect">
            <a:avLst/>
          </a:prstGeom>
        </p:spPr>
      </p:pic>
      <p:sp>
        <p:nvSpPr>
          <p:cNvPr id="19" name="">
            <a:extLst xmlns:a="http://schemas.openxmlformats.org/drawingml/2006/main">
              <a:ext uri="{FF2B5EF4-FFF2-40B4-BE49-F238E27FC236}">
                <a16:creationId xmlns:a16="http://schemas.microsoft.com/office/drawing/2014/main" id="{9E23CEBB-BDB2-4D8D-9CD1-58C387897F47}"/>
              </a:ext>
            </a:extLst>
          </p:cNvPr>
          <p:cNvSpPr>
            <a:spLocks xmlns:a="http://schemas.openxmlformats.org/drawingml/2006/main" noGrp="1"/>
          </p:cNvSpPr>
          <p:nvPr/>
        </p:nvSpPr>
        <p:spPr>
          <a:xfrm xmlns:a="http://schemas.openxmlformats.org/drawingml/2006/main">
            <a:off x="8896350" y="2381250"/>
            <a:ext cx="2190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Différents secteurs couverts</a:t>
            </a:r>
          </a:p>
        </p:txBody>
      </p:sp>
      <p:sp>
        <p:nvSpPr>
          <p:cNvPr id="20" name="">
            <a:extLst xmlns:a="http://schemas.openxmlformats.org/drawingml/2006/main">
              <a:ext uri="{FF2B5EF4-FFF2-40B4-BE49-F238E27FC236}">
                <a16:creationId xmlns:a16="http://schemas.microsoft.com/office/drawing/2014/main" id="{98F74139-75FD-4B38-BDA6-D22CAC7372CE}"/>
              </a:ext>
            </a:extLst>
          </p:cNvPr>
          <p:cNvSpPr>
            <a:spLocks xmlns:a="http://schemas.openxmlformats.org/drawingml/2006/main" noGrp="1"/>
          </p:cNvSpPr>
          <p:nvPr/>
        </p:nvSpPr>
        <p:spPr>
          <a:xfrm xmlns:a="http://schemas.openxmlformats.org/drawingml/2006/main">
            <a:off x="8362950" y="2857500"/>
            <a:ext cx="27432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TransferAI rassemble des expertises IA appliquées dans différents secteurs d'activité, ce qui permet de relier les usages technologiques aux contraintes métier.</a:t>
            </a:r>
          </a:p>
        </p:txBody>
      </p:sp>
      <p:sp>
        <p:nvSpPr>
          <p:cNvPr id="21" name="">
            <a:extLst xmlns:a="http://schemas.openxmlformats.org/drawingml/2006/main">
              <a:ext uri="{FF2B5EF4-FFF2-40B4-BE49-F238E27FC236}">
                <a16:creationId xmlns:a16="http://schemas.microsoft.com/office/drawing/2014/main" id="{8B6C4E0E-B566-41E0-A6BC-65A883808831}"/>
              </a:ext>
            </a:extLst>
          </p:cNvPr>
          <p:cNvSpPr>
            <a:spLocks xmlns:a="http://schemas.openxmlformats.org/drawingml/2006/main" noGrp="1"/>
          </p:cNvSpPr>
          <p:nvPr/>
        </p:nvSpPr>
        <p:spPr>
          <a:xfrm xmlns:a="http://schemas.openxmlformats.org/drawingml/2006/main">
            <a:off x="5086350" y="3790950"/>
            <a:ext cx="2857500" cy="14097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22" name="">
            <a:extLst xmlns:a="http://schemas.openxmlformats.org/drawingml/2006/main">
              <a:ext uri="{FF2B5EF4-FFF2-40B4-BE49-F238E27FC236}">
                <a16:creationId xmlns:a16="http://schemas.microsoft.com/office/drawing/2014/main" id="{047B8A78-14A4-46FA-BB2B-3111B37867E2}"/>
              </a:ext>
            </a:extLst>
          </p:cNvPr>
          <p:cNvSpPr>
            <a:spLocks xmlns:a="http://schemas.openxmlformats.org/drawingml/2006/main" noGrp="1"/>
          </p:cNvSpPr>
          <p:nvPr/>
        </p:nvSpPr>
        <p:spPr>
          <a:xfrm xmlns:a="http://schemas.openxmlformats.org/drawingml/2006/main">
            <a:off x="5295900" y="4000500"/>
            <a:ext cx="419100" cy="419100"/>
          </a:xfrm>
          <a:prstGeom xmlns:a="http://schemas.openxmlformats.org/drawingml/2006/main" prst="ellipse">
            <a:avLst/>
          </a:prstGeom>
          <a:solidFill xmlns:a="http://schemas.openxmlformats.org/drawingml/2006/main">
            <a:srgbClr val="163556"/>
          </a:solidFill>
          <a:ln xmlns:a="http://schemas.openxmlformats.org/drawingml/2006/main" w="0">
            <a:solidFill>
              <a:srgbClr val="163556"/>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784fa6b6c690471c">
            <a:extLst>
              <a:ext uri="{96DAC541-7B7A-43D3-8B79-37D633B846F1}">
                <asvg:svgBlip xmlns:asvg="http://schemas.microsoft.com/office/drawing/2016/SVG/main" r:embed="R0f196db0cdfc45d7"/>
              </a:ext>
            </a:extLst>
          </a:blip>
          <a:stretch xmlns:a="http://schemas.openxmlformats.org/drawingml/2006/main"/>
        </p:blipFill>
        <p:spPr>
          <a:xfrm xmlns:a="http://schemas.openxmlformats.org/drawingml/2006/main">
            <a:off x="5391150" y="4095750"/>
            <a:ext cx="228600" cy="2286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F2B0D70B-C440-429E-B16E-82EAF1594112}"/>
              </a:ext>
            </a:extLst>
          </p:cNvPr>
          <p:cNvSpPr>
            <a:spLocks xmlns:a="http://schemas.openxmlformats.org/drawingml/2006/main" noGrp="1"/>
          </p:cNvSpPr>
          <p:nvPr/>
        </p:nvSpPr>
        <p:spPr>
          <a:xfrm xmlns:a="http://schemas.openxmlformats.org/drawingml/2006/main">
            <a:off x="5829300" y="4000500"/>
            <a:ext cx="1809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Une logique d'exécution</a:t>
            </a:r>
          </a:p>
        </p:txBody>
      </p:sp>
      <p:sp>
        <p:nvSpPr>
          <p:cNvPr id="25" name="">
            <a:extLst xmlns:a="http://schemas.openxmlformats.org/drawingml/2006/main">
              <a:ext uri="{FF2B5EF4-FFF2-40B4-BE49-F238E27FC236}">
                <a16:creationId xmlns:a16="http://schemas.microsoft.com/office/drawing/2014/main" id="{57196A92-2CA5-40EF-95B4-1D784EEE9A46}"/>
              </a:ext>
            </a:extLst>
          </p:cNvPr>
          <p:cNvSpPr>
            <a:spLocks xmlns:a="http://schemas.openxmlformats.org/drawingml/2006/main" noGrp="1"/>
          </p:cNvSpPr>
          <p:nvPr/>
        </p:nvSpPr>
        <p:spPr>
          <a:xfrm xmlns:a="http://schemas.openxmlformats.org/drawingml/2006/main">
            <a:off x="5295900" y="4476750"/>
            <a:ext cx="22479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Notre rôle n'est pas seulement de présenter l'IA. Nous cadrons, priorisons, formons et transformons un besoin flou en pilote métier mesurable.</a:t>
            </a:r>
          </a:p>
        </p:txBody>
      </p:sp>
      <p:sp>
        <p:nvSpPr>
          <p:cNvPr id="26" name="">
            <a:extLst xmlns:a="http://schemas.openxmlformats.org/drawingml/2006/main">
              <a:ext uri="{FF2B5EF4-FFF2-40B4-BE49-F238E27FC236}">
                <a16:creationId xmlns:a16="http://schemas.microsoft.com/office/drawing/2014/main" id="{CF169E86-5843-4E48-9BCB-0442242034BD}"/>
              </a:ext>
            </a:extLst>
          </p:cNvPr>
          <p:cNvSpPr>
            <a:spLocks xmlns:a="http://schemas.openxmlformats.org/drawingml/2006/main" noGrp="1"/>
          </p:cNvSpPr>
          <p:nvPr/>
        </p:nvSpPr>
        <p:spPr>
          <a:xfrm xmlns:a="http://schemas.openxmlformats.org/drawingml/2006/main">
            <a:off x="8153400" y="3790950"/>
            <a:ext cx="3352800" cy="14097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27" name="">
            <a:extLst xmlns:a="http://schemas.openxmlformats.org/drawingml/2006/main">
              <a:ext uri="{FF2B5EF4-FFF2-40B4-BE49-F238E27FC236}">
                <a16:creationId xmlns:a16="http://schemas.microsoft.com/office/drawing/2014/main" id="{ED0FF2B7-7A20-48CC-85BB-6E6F43FCDC22}"/>
              </a:ext>
            </a:extLst>
          </p:cNvPr>
          <p:cNvSpPr>
            <a:spLocks xmlns:a="http://schemas.openxmlformats.org/drawingml/2006/main" noGrp="1"/>
          </p:cNvSpPr>
          <p:nvPr/>
        </p:nvSpPr>
        <p:spPr>
          <a:xfrm xmlns:a="http://schemas.openxmlformats.org/drawingml/2006/main">
            <a:off x="8362950" y="4000500"/>
            <a:ext cx="419100" cy="419100"/>
          </a:xfrm>
          <a:prstGeom xmlns:a="http://schemas.openxmlformats.org/drawingml/2006/main" prst="ellipse">
            <a:avLst/>
          </a:prstGeom>
          <a:solidFill xmlns:a="http://schemas.openxmlformats.org/drawingml/2006/main">
            <a:srgbClr val="C88C3A"/>
          </a:solidFill>
          <a:ln xmlns:a="http://schemas.openxmlformats.org/drawingml/2006/main" w="0">
            <a:solidFill>
              <a:srgbClr val="C88C3A"/>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ce089b4c4c9a4848">
            <a:extLst>
              <a:ext uri="{96DAC541-7B7A-43D3-8B79-37D633B846F1}">
                <asvg:svgBlip xmlns:asvg="http://schemas.microsoft.com/office/drawing/2016/SVG/main" r:embed="Rcbd3070aae2a4039"/>
              </a:ext>
            </a:extLst>
          </a:blip>
          <a:stretch xmlns:a="http://schemas.openxmlformats.org/drawingml/2006/main"/>
        </p:blipFill>
        <p:spPr>
          <a:xfrm xmlns:a="http://schemas.openxmlformats.org/drawingml/2006/main">
            <a:off x="8458200" y="4095750"/>
            <a:ext cx="228600" cy="22860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FF219E32-2E26-4F69-BAF7-6E8A670EF226}"/>
              </a:ext>
            </a:extLst>
          </p:cNvPr>
          <p:cNvSpPr>
            <a:spLocks xmlns:a="http://schemas.openxmlformats.org/drawingml/2006/main" noGrp="1"/>
          </p:cNvSpPr>
          <p:nvPr/>
        </p:nvSpPr>
        <p:spPr>
          <a:xfrm xmlns:a="http://schemas.openxmlformats.org/drawingml/2006/main">
            <a:off x="8896350" y="4000500"/>
            <a:ext cx="2286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Un cadre compatible entreprise</a:t>
            </a:r>
          </a:p>
        </p:txBody>
      </p:sp>
      <p:sp>
        <p:nvSpPr>
          <p:cNvPr id="30" name="">
            <a:extLst xmlns:a="http://schemas.openxmlformats.org/drawingml/2006/main">
              <a:ext uri="{FF2B5EF4-FFF2-40B4-BE49-F238E27FC236}">
                <a16:creationId xmlns:a16="http://schemas.microsoft.com/office/drawing/2014/main" id="{12C7C1B5-9265-444F-981B-EBC9E0FDAC47}"/>
              </a:ext>
            </a:extLst>
          </p:cNvPr>
          <p:cNvSpPr>
            <a:spLocks xmlns:a="http://schemas.openxmlformats.org/drawingml/2006/main" noGrp="1"/>
          </p:cNvSpPr>
          <p:nvPr/>
        </p:nvSpPr>
        <p:spPr>
          <a:xfrm xmlns:a="http://schemas.openxmlformats.org/drawingml/2006/main">
            <a:off x="8362950" y="4476750"/>
            <a:ext cx="27432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Adossé à Nettelecom CI, TransferAI porte une approche sérieuse de la confidentialité, de la gouvernance des usages et de la supervision des pilotes.</a:t>
            </a:r>
          </a:p>
        </p:txBody>
      </p:sp>
      <p:sp>
        <p:nvSpPr>
          <p:cNvPr id="31" name="">
            <a:extLst xmlns:a="http://schemas.openxmlformats.org/drawingml/2006/main">
              <a:ext uri="{FF2B5EF4-FFF2-40B4-BE49-F238E27FC236}">
                <a16:creationId xmlns:a16="http://schemas.microsoft.com/office/drawing/2014/main" id="{235DE381-9A78-496F-AD48-FF588FBAEBA4}"/>
              </a:ext>
            </a:extLst>
          </p:cNvPr>
          <p:cNvSpPr>
            <a:spLocks xmlns:a="http://schemas.openxmlformats.org/drawingml/2006/main" noGrp="1"/>
          </p:cNvSpPr>
          <p:nvPr/>
        </p:nvSpPr>
        <p:spPr>
          <a:xfrm xmlns:a="http://schemas.openxmlformats.org/drawingml/2006/main">
            <a:off x="685800" y="5638800"/>
            <a:ext cx="10820400" cy="4762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32" name="">
            <a:extLst xmlns:a="http://schemas.openxmlformats.org/drawingml/2006/main">
              <a:ext uri="{FF2B5EF4-FFF2-40B4-BE49-F238E27FC236}">
                <a16:creationId xmlns:a16="http://schemas.microsoft.com/office/drawing/2014/main" id="{E2F9F139-616F-42F8-A215-BFB69E3FC6BA}"/>
              </a:ext>
            </a:extLst>
          </p:cNvPr>
          <p:cNvSpPr>
            <a:spLocks xmlns:a="http://schemas.openxmlformats.org/drawingml/2006/main" noGrp="1"/>
          </p:cNvSpPr>
          <p:nvPr/>
        </p:nvSpPr>
        <p:spPr>
          <a:xfrm xmlns:a="http://schemas.openxmlformats.org/drawingml/2006/main">
            <a:off x="895350" y="5810250"/>
            <a:ext cx="2095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Pourquoi l'ajouter tôt dans le deck</a:t>
            </a:r>
          </a:p>
        </p:txBody>
      </p:sp>
      <p:sp>
        <p:nvSpPr>
          <p:cNvPr id="33" name="">
            <a:extLst xmlns:a="http://schemas.openxmlformats.org/drawingml/2006/main">
              <a:ext uri="{FF2B5EF4-FFF2-40B4-BE49-F238E27FC236}">
                <a16:creationId xmlns:a16="http://schemas.microsoft.com/office/drawing/2014/main" id="{FFF94B44-A648-49E9-A2D6-D3E70645139D}"/>
              </a:ext>
            </a:extLst>
          </p:cNvPr>
          <p:cNvSpPr>
            <a:spLocks xmlns:a="http://schemas.openxmlformats.org/drawingml/2006/main" noGrp="1"/>
          </p:cNvSpPr>
          <p:nvPr/>
        </p:nvSpPr>
        <p:spPr>
          <a:xfrm xmlns:a="http://schemas.openxmlformats.org/drawingml/2006/main">
            <a:off x="2952750" y="5772150"/>
            <a:ext cx="8191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A3554"/>
                </a:solidFill>
                <a:latin typeface="Aptos"/>
                <a:ea typeface="Aptos"/>
                <a:cs typeface="Aptos"/>
              </a:defRPr>
            </a:pPr>
            <a:r>
              <a:rPr sz="863" b="1">
                <a:solidFill>
                  <a:srgbClr val="1A3554"/>
                </a:solidFill>
                <a:latin typeface="Aptos"/>
                <a:ea typeface="Aptos"/>
                <a:cs typeface="Aptos"/>
              </a:rPr>
              <a:t>Avant de parler ROI et cas d'usage, le prospect doit voir que TransferAI est une entité crédible, portée par Nettelecom CI et soutenue par 13 experts IA.</a:t>
            </a:r>
          </a:p>
        </p:txBody>
      </p:sp>
      <p:sp>
        <p:nvSpPr>
          <p:cNvPr id="34" name="">
            <a:extLst xmlns:a="http://schemas.openxmlformats.org/drawingml/2006/main">
              <a:ext uri="{FF2B5EF4-FFF2-40B4-BE49-F238E27FC236}">
                <a16:creationId xmlns:a16="http://schemas.microsoft.com/office/drawing/2014/main" id="{0D4C71B3-8C68-48B7-B0BE-F192A8A444A5}"/>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35" name="">
            <a:extLst xmlns:a="http://schemas.openxmlformats.org/drawingml/2006/main">
              <a:ext uri="{FF2B5EF4-FFF2-40B4-BE49-F238E27FC236}">
                <a16:creationId xmlns:a16="http://schemas.microsoft.com/office/drawing/2014/main" id="{7B434C7E-453D-4F37-B109-6800E405E04E}"/>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deck institutionnel V3</a:t>
            </a:r>
          </a:p>
        </p:txBody>
      </p:sp>
      <p:sp>
        <p:nvSpPr>
          <p:cNvPr id="36" name="">
            <a:extLst xmlns:a="http://schemas.openxmlformats.org/drawingml/2006/main">
              <a:ext uri="{FF2B5EF4-FFF2-40B4-BE49-F238E27FC236}">
                <a16:creationId xmlns:a16="http://schemas.microsoft.com/office/drawing/2014/main" id="{E0683B18-DEA2-4E15-AB70-76F476123FE0}"/>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04</a:t>
            </a:r>
          </a:p>
        </p:txBody>
      </p:sp>
    </p:spTree>
    <p:extLst>
      <p:ext uri="{BB962C8B-B14F-4D97-AF65-F5344CB8AC3E}">
        <p14:creationId xmlns:p14="http://schemas.microsoft.com/office/powerpoint/2010/main" val="164126705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C7499671-190D-470F-861A-BCDB7708A40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5D1B45A5-95B7-488A-B433-8A636807C1FD}"/>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CONTEXTE PROSPECT</a:t>
            </a:r>
          </a:p>
        </p:txBody>
      </p:sp>
      <p:sp>
        <p:nvSpPr>
          <p:cNvPr id="3" name="">
            <a:extLst xmlns:a="http://schemas.openxmlformats.org/drawingml/2006/main">
              <a:ext uri="{FF2B5EF4-FFF2-40B4-BE49-F238E27FC236}">
                <a16:creationId xmlns:a16="http://schemas.microsoft.com/office/drawing/2014/main" id="{B053308D-B97E-45BE-A972-0AA0FDB42B55}"/>
              </a:ext>
            </a:extLst>
          </p:cNvPr>
          <p:cNvSpPr>
            <a:spLocks xmlns:a="http://schemas.openxmlformats.org/drawingml/2006/main" noGrp="1"/>
          </p:cNvSpPr>
          <p:nvPr/>
        </p:nvSpPr>
        <p:spPr>
          <a:xfrm xmlns:a="http://schemas.openxmlformats.org/drawingml/2006/main">
            <a:off x="685800" y="819150"/>
            <a:ext cx="8572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Pourquoi cette proposition est adaptée à votre contexte</a:t>
            </a:r>
          </a:p>
        </p:txBody>
      </p:sp>
      <p:sp>
        <p:nvSpPr>
          <p:cNvPr id="4" name="">
            <a:extLst xmlns:a="http://schemas.openxmlformats.org/drawingml/2006/main">
              <a:ext uri="{FF2B5EF4-FFF2-40B4-BE49-F238E27FC236}">
                <a16:creationId xmlns:a16="http://schemas.microsoft.com/office/drawing/2014/main" id="{52EA4619-EED9-48C7-826F-44B98E13EAC3}"/>
              </a:ext>
            </a:extLst>
          </p:cNvPr>
          <p:cNvSpPr>
            <a:spLocks xmlns:a="http://schemas.openxmlformats.org/drawingml/2006/main" noGrp="1"/>
          </p:cNvSpPr>
          <p:nvPr/>
        </p:nvSpPr>
        <p:spPr>
          <a:xfrm xmlns:a="http://schemas.openxmlformats.org/drawingml/2006/main">
            <a:off x="685800" y="1676400"/>
            <a:ext cx="904875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L'objectif n'est pas d'ajouter un outil de plus. Il s'agit de mieux piloter, mieux coordonner et mieux diffuser l'information utile dans des flux qui coûtent du temps et de la discipline.</a:t>
            </a:r>
          </a:p>
        </p:txBody>
      </p:sp>
      <p:sp>
        <p:nvSpPr>
          <p:cNvPr id="5" name="">
            <a:extLst xmlns:a="http://schemas.openxmlformats.org/drawingml/2006/main">
              <a:ext uri="{FF2B5EF4-FFF2-40B4-BE49-F238E27FC236}">
                <a16:creationId xmlns:a16="http://schemas.microsoft.com/office/drawing/2014/main" id="{3C8CB927-2620-4EDD-81C9-65DD680ED62F}"/>
              </a:ext>
            </a:extLst>
          </p:cNvPr>
          <p:cNvSpPr>
            <a:spLocks xmlns:a="http://schemas.openxmlformats.org/drawingml/2006/main" noGrp="1"/>
          </p:cNvSpPr>
          <p:nvPr/>
        </p:nvSpPr>
        <p:spPr>
          <a:xfrm xmlns:a="http://schemas.openxmlformats.org/drawingml/2006/main">
            <a:off x="685800" y="2362200"/>
            <a:ext cx="2571750" cy="1714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6" name="">
            <a:extLst xmlns:a="http://schemas.openxmlformats.org/drawingml/2006/main">
              <a:ext uri="{FF2B5EF4-FFF2-40B4-BE49-F238E27FC236}">
                <a16:creationId xmlns:a16="http://schemas.microsoft.com/office/drawing/2014/main" id="{CBAD224F-B89F-4AB9-8F6A-5C25F01ECC4C}"/>
              </a:ext>
            </a:extLst>
          </p:cNvPr>
          <p:cNvSpPr>
            <a:spLocks xmlns:a="http://schemas.openxmlformats.org/drawingml/2006/main" noGrp="1"/>
          </p:cNvSpPr>
          <p:nvPr/>
        </p:nvSpPr>
        <p:spPr>
          <a:xfrm xmlns:a="http://schemas.openxmlformats.org/drawingml/2006/main">
            <a:off x="857250" y="2533650"/>
            <a:ext cx="419100" cy="419100"/>
          </a:xfrm>
          <a:prstGeom xmlns:a="http://schemas.openxmlformats.org/drawingml/2006/main" prst="ellipse">
            <a:avLst/>
          </a:prstGeom>
          <a:solidFill xmlns:a="http://schemas.openxmlformats.org/drawingml/2006/main">
            <a:srgbClr val="E76F1D"/>
          </a:solidFill>
          <a:ln xmlns:a="http://schemas.openxmlformats.org/drawingml/2006/main" w="0">
            <a:solidFill>
              <a:srgbClr val="E76F1D"/>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0f98bd6fe78416c">
            <a:extLst>
              <a:ext uri="{96DAC541-7B7A-43D3-8B79-37D633B846F1}">
                <asvg:svgBlip xmlns:asvg="http://schemas.microsoft.com/office/drawing/2016/SVG/main" r:embed="Ra8c87132a6164d37"/>
              </a:ext>
            </a:extLst>
          </a:blip>
          <a:stretch xmlns:a="http://schemas.openxmlformats.org/drawingml/2006/main"/>
        </p:blipFill>
        <p:spPr>
          <a:xfrm xmlns:a="http://schemas.openxmlformats.org/drawingml/2006/main">
            <a:off x="952500" y="2628900"/>
            <a:ext cx="228600" cy="2286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1468B3B-23E7-4689-BE3C-F1CFB4BA3B25}"/>
              </a:ext>
            </a:extLst>
          </p:cNvPr>
          <p:cNvSpPr>
            <a:spLocks xmlns:a="http://schemas.openxmlformats.org/drawingml/2006/main" noGrp="1"/>
          </p:cNvSpPr>
          <p:nvPr/>
        </p:nvSpPr>
        <p:spPr>
          <a:xfrm xmlns:a="http://schemas.openxmlformats.org/drawingml/2006/main">
            <a:off x="1409700" y="2571750"/>
            <a:ext cx="1657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Comptes professionnels</a:t>
            </a:r>
          </a:p>
        </p:txBody>
      </p:sp>
      <p:sp>
        <p:nvSpPr>
          <p:cNvPr id="9" name="">
            <a:extLst xmlns:a="http://schemas.openxmlformats.org/drawingml/2006/main">
              <a:ext uri="{FF2B5EF4-FFF2-40B4-BE49-F238E27FC236}">
                <a16:creationId xmlns:a16="http://schemas.microsoft.com/office/drawing/2014/main" id="{13F0124A-9904-423E-8F58-431E9810F917}"/>
              </a:ext>
            </a:extLst>
          </p:cNvPr>
          <p:cNvSpPr>
            <a:spLocks xmlns:a="http://schemas.openxmlformats.org/drawingml/2006/main" noGrp="1"/>
          </p:cNvSpPr>
          <p:nvPr/>
        </p:nvSpPr>
        <p:spPr>
          <a:xfrm xmlns:a="http://schemas.openxmlformats.org/drawingml/2006/main">
            <a:off x="895350" y="29908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10" name="">
            <a:extLst xmlns:a="http://schemas.openxmlformats.org/drawingml/2006/main">
              <a:ext uri="{FF2B5EF4-FFF2-40B4-BE49-F238E27FC236}">
                <a16:creationId xmlns:a16="http://schemas.microsoft.com/office/drawing/2014/main" id="{BE8A5B53-9B39-4798-91F6-7F10BFC5101A}"/>
              </a:ext>
            </a:extLst>
          </p:cNvPr>
          <p:cNvSpPr>
            <a:spLocks xmlns:a="http://schemas.openxmlformats.org/drawingml/2006/main" noGrp="1"/>
          </p:cNvSpPr>
          <p:nvPr/>
        </p:nvSpPr>
        <p:spPr>
          <a:xfrm xmlns:a="http://schemas.openxmlformats.org/drawingml/2006/main">
            <a:off x="895350" y="3162300"/>
            <a:ext cx="21526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Revues de portefeuille, relances et suivi d'encaissement souvent préparés à la main.</a:t>
            </a:r>
          </a:p>
        </p:txBody>
      </p:sp>
      <p:sp>
        <p:nvSpPr>
          <p:cNvPr id="11" name="">
            <a:extLst xmlns:a="http://schemas.openxmlformats.org/drawingml/2006/main">
              <a:ext uri="{FF2B5EF4-FFF2-40B4-BE49-F238E27FC236}">
                <a16:creationId xmlns:a16="http://schemas.microsoft.com/office/drawing/2014/main" id="{29D6CE0F-FEEE-4614-8154-CF0A62C69A35}"/>
              </a:ext>
            </a:extLst>
          </p:cNvPr>
          <p:cNvSpPr>
            <a:spLocks xmlns:a="http://schemas.openxmlformats.org/drawingml/2006/main" noGrp="1"/>
          </p:cNvSpPr>
          <p:nvPr/>
        </p:nvSpPr>
        <p:spPr>
          <a:xfrm xmlns:a="http://schemas.openxmlformats.org/drawingml/2006/main">
            <a:off x="895350" y="36004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12" name="">
            <a:extLst xmlns:a="http://schemas.openxmlformats.org/drawingml/2006/main">
              <a:ext uri="{FF2B5EF4-FFF2-40B4-BE49-F238E27FC236}">
                <a16:creationId xmlns:a16="http://schemas.microsoft.com/office/drawing/2014/main" id="{FDC7279E-100C-4E40-9F62-C147D7D932F2}"/>
              </a:ext>
            </a:extLst>
          </p:cNvPr>
          <p:cNvSpPr>
            <a:spLocks xmlns:a="http://schemas.openxmlformats.org/drawingml/2006/main" noGrp="1"/>
          </p:cNvSpPr>
          <p:nvPr/>
        </p:nvSpPr>
        <p:spPr>
          <a:xfrm xmlns:a="http://schemas.openxmlformats.org/drawingml/2006/main">
            <a:off x="895350" y="3771900"/>
            <a:ext cx="2152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Portefeuille plus lisible, relances mieux priorisées et synthèses plus rapides pour la direction.</a:t>
            </a:r>
          </a:p>
        </p:txBody>
      </p:sp>
      <p:sp>
        <p:nvSpPr>
          <p:cNvPr id="13" name="">
            <a:extLst xmlns:a="http://schemas.openxmlformats.org/drawingml/2006/main">
              <a:ext uri="{FF2B5EF4-FFF2-40B4-BE49-F238E27FC236}">
                <a16:creationId xmlns:a16="http://schemas.microsoft.com/office/drawing/2014/main" id="{68FC46FE-3A6F-457E-80F2-2EC27216B470}"/>
              </a:ext>
            </a:extLst>
          </p:cNvPr>
          <p:cNvSpPr>
            <a:spLocks xmlns:a="http://schemas.openxmlformats.org/drawingml/2006/main" noGrp="1"/>
          </p:cNvSpPr>
          <p:nvPr/>
        </p:nvSpPr>
        <p:spPr>
          <a:xfrm xmlns:a="http://schemas.openxmlformats.org/drawingml/2006/main">
            <a:off x="3448050" y="2362200"/>
            <a:ext cx="2571750" cy="1714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4" name="">
            <a:extLst xmlns:a="http://schemas.openxmlformats.org/drawingml/2006/main">
              <a:ext uri="{FF2B5EF4-FFF2-40B4-BE49-F238E27FC236}">
                <a16:creationId xmlns:a16="http://schemas.microsoft.com/office/drawing/2014/main" id="{901F359A-584F-4DE8-8A9F-6079970A78DF}"/>
              </a:ext>
            </a:extLst>
          </p:cNvPr>
          <p:cNvSpPr>
            <a:spLocks xmlns:a="http://schemas.openxmlformats.org/drawingml/2006/main" noGrp="1"/>
          </p:cNvSpPr>
          <p:nvPr/>
        </p:nvSpPr>
        <p:spPr>
          <a:xfrm xmlns:a="http://schemas.openxmlformats.org/drawingml/2006/main">
            <a:off x="3619500" y="2533650"/>
            <a:ext cx="419100" cy="419100"/>
          </a:xfrm>
          <a:prstGeom xmlns:a="http://schemas.openxmlformats.org/drawingml/2006/main" prst="ellipse">
            <a:avLst/>
          </a:prstGeom>
          <a:solidFill xmlns:a="http://schemas.openxmlformats.org/drawingml/2006/main">
            <a:srgbClr val="1C8A78"/>
          </a:solidFill>
          <a:ln xmlns:a="http://schemas.openxmlformats.org/drawingml/2006/main" w="0">
            <a:solidFill>
              <a:srgbClr val="1C8A78"/>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b1cc05f47534895">
            <a:extLst>
              <a:ext uri="{96DAC541-7B7A-43D3-8B79-37D633B846F1}">
                <asvg:svgBlip xmlns:asvg="http://schemas.microsoft.com/office/drawing/2016/SVG/main" r:embed="Rcea3bb052cfd4939"/>
              </a:ext>
            </a:extLst>
          </a:blip>
          <a:stretch xmlns:a="http://schemas.openxmlformats.org/drawingml/2006/main"/>
        </p:blipFill>
        <p:spPr>
          <a:xfrm xmlns:a="http://schemas.openxmlformats.org/drawingml/2006/main">
            <a:off x="3714750" y="2628900"/>
            <a:ext cx="228600" cy="2286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79DF1388-22E5-4679-96F5-6807CB71BAB5}"/>
              </a:ext>
            </a:extLst>
          </p:cNvPr>
          <p:cNvSpPr>
            <a:spLocks xmlns:a="http://schemas.openxmlformats.org/drawingml/2006/main" noGrp="1"/>
          </p:cNvSpPr>
          <p:nvPr/>
        </p:nvSpPr>
        <p:spPr>
          <a:xfrm xmlns:a="http://schemas.openxmlformats.org/drawingml/2006/main">
            <a:off x="4171950" y="2571750"/>
            <a:ext cx="1657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Flotte et carburant</a:t>
            </a:r>
          </a:p>
        </p:txBody>
      </p:sp>
      <p:sp>
        <p:nvSpPr>
          <p:cNvPr id="17" name="">
            <a:extLst xmlns:a="http://schemas.openxmlformats.org/drawingml/2006/main">
              <a:ext uri="{FF2B5EF4-FFF2-40B4-BE49-F238E27FC236}">
                <a16:creationId xmlns:a16="http://schemas.microsoft.com/office/drawing/2014/main" id="{BCA574F2-7B9E-4B51-97CC-66F21BE35098}"/>
              </a:ext>
            </a:extLst>
          </p:cNvPr>
          <p:cNvSpPr>
            <a:spLocks xmlns:a="http://schemas.openxmlformats.org/drawingml/2006/main" noGrp="1"/>
          </p:cNvSpPr>
          <p:nvPr/>
        </p:nvSpPr>
        <p:spPr>
          <a:xfrm xmlns:a="http://schemas.openxmlformats.org/drawingml/2006/main">
            <a:off x="3657600" y="29908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18" name="">
            <a:extLst xmlns:a="http://schemas.openxmlformats.org/drawingml/2006/main">
              <a:ext uri="{FF2B5EF4-FFF2-40B4-BE49-F238E27FC236}">
                <a16:creationId xmlns:a16="http://schemas.microsoft.com/office/drawing/2014/main" id="{9AB25C48-31A8-4739-B3D4-9FF482DD9037}"/>
              </a:ext>
            </a:extLst>
          </p:cNvPr>
          <p:cNvSpPr>
            <a:spLocks xmlns:a="http://schemas.openxmlformats.org/drawingml/2006/main" noGrp="1"/>
          </p:cNvSpPr>
          <p:nvPr/>
        </p:nvSpPr>
        <p:spPr>
          <a:xfrm xmlns:a="http://schemas.openxmlformats.org/drawingml/2006/main">
            <a:off x="3657600" y="3162300"/>
            <a:ext cx="21526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Consommations, cartes et anomalies difficilement consolidées dans un même pilotage.</a:t>
            </a:r>
          </a:p>
        </p:txBody>
      </p:sp>
      <p:sp>
        <p:nvSpPr>
          <p:cNvPr id="19" name="">
            <a:extLst xmlns:a="http://schemas.openxmlformats.org/drawingml/2006/main">
              <a:ext uri="{FF2B5EF4-FFF2-40B4-BE49-F238E27FC236}">
                <a16:creationId xmlns:a16="http://schemas.microsoft.com/office/drawing/2014/main" id="{DA441A83-7656-4225-B9F7-C4268611A9EB}"/>
              </a:ext>
            </a:extLst>
          </p:cNvPr>
          <p:cNvSpPr>
            <a:spLocks xmlns:a="http://schemas.openxmlformats.org/drawingml/2006/main" noGrp="1"/>
          </p:cNvSpPr>
          <p:nvPr/>
        </p:nvSpPr>
        <p:spPr>
          <a:xfrm xmlns:a="http://schemas.openxmlformats.org/drawingml/2006/main">
            <a:off x="3657600" y="36004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20" name="">
            <a:extLst xmlns:a="http://schemas.openxmlformats.org/drawingml/2006/main">
              <a:ext uri="{FF2B5EF4-FFF2-40B4-BE49-F238E27FC236}">
                <a16:creationId xmlns:a16="http://schemas.microsoft.com/office/drawing/2014/main" id="{4459E538-D1B6-4B54-BC93-5F2E56A9DED1}"/>
              </a:ext>
            </a:extLst>
          </p:cNvPr>
          <p:cNvSpPr>
            <a:spLocks xmlns:a="http://schemas.openxmlformats.org/drawingml/2006/main" noGrp="1"/>
          </p:cNvSpPr>
          <p:nvPr/>
        </p:nvSpPr>
        <p:spPr>
          <a:xfrm xmlns:a="http://schemas.openxmlformats.org/drawingml/2006/main">
            <a:off x="3657600" y="3771900"/>
            <a:ext cx="2152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Suivi plus fiable des coûts, alertes sur écarts et comparaison par véhicule, site ou période.</a:t>
            </a:r>
          </a:p>
        </p:txBody>
      </p:sp>
      <p:sp>
        <p:nvSpPr>
          <p:cNvPr id="21" name="">
            <a:extLst xmlns:a="http://schemas.openxmlformats.org/drawingml/2006/main">
              <a:ext uri="{FF2B5EF4-FFF2-40B4-BE49-F238E27FC236}">
                <a16:creationId xmlns:a16="http://schemas.microsoft.com/office/drawing/2014/main" id="{FB7076E4-659A-44C5-875B-00395668B72A}"/>
              </a:ext>
            </a:extLst>
          </p:cNvPr>
          <p:cNvSpPr>
            <a:spLocks xmlns:a="http://schemas.openxmlformats.org/drawingml/2006/main" noGrp="1"/>
          </p:cNvSpPr>
          <p:nvPr/>
        </p:nvSpPr>
        <p:spPr>
          <a:xfrm xmlns:a="http://schemas.openxmlformats.org/drawingml/2006/main">
            <a:off x="6210300" y="2362200"/>
            <a:ext cx="2571750" cy="1714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22" name="">
            <a:extLst xmlns:a="http://schemas.openxmlformats.org/drawingml/2006/main">
              <a:ext uri="{FF2B5EF4-FFF2-40B4-BE49-F238E27FC236}">
                <a16:creationId xmlns:a16="http://schemas.microsoft.com/office/drawing/2014/main" id="{FA20ACDB-CF6D-4F7F-8B32-130ABDC6A601}"/>
              </a:ext>
            </a:extLst>
          </p:cNvPr>
          <p:cNvSpPr>
            <a:spLocks xmlns:a="http://schemas.openxmlformats.org/drawingml/2006/main" noGrp="1"/>
          </p:cNvSpPr>
          <p:nvPr/>
        </p:nvSpPr>
        <p:spPr>
          <a:xfrm xmlns:a="http://schemas.openxmlformats.org/drawingml/2006/main">
            <a:off x="6381750" y="2533650"/>
            <a:ext cx="419100" cy="419100"/>
          </a:xfrm>
          <a:prstGeom xmlns:a="http://schemas.openxmlformats.org/drawingml/2006/main" prst="ellipse">
            <a:avLst/>
          </a:prstGeom>
          <a:solidFill xmlns:a="http://schemas.openxmlformats.org/drawingml/2006/main">
            <a:srgbClr val="163556"/>
          </a:solidFill>
          <a:ln xmlns:a="http://schemas.openxmlformats.org/drawingml/2006/main" w="0">
            <a:solidFill>
              <a:srgbClr val="163556"/>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ef26f8dc06244d6">
            <a:extLst>
              <a:ext uri="{96DAC541-7B7A-43D3-8B79-37D633B846F1}">
                <asvg:svgBlip xmlns:asvg="http://schemas.microsoft.com/office/drawing/2016/SVG/main" r:embed="R45fc7872368a4860"/>
              </a:ext>
            </a:extLst>
          </a:blip>
          <a:stretch xmlns:a="http://schemas.openxmlformats.org/drawingml/2006/main"/>
        </p:blipFill>
        <p:spPr>
          <a:xfrm xmlns:a="http://schemas.openxmlformats.org/drawingml/2006/main">
            <a:off x="6477000" y="2628900"/>
            <a:ext cx="228600" cy="2286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B550C035-290B-456B-A1F5-7B7F6273BF8F}"/>
              </a:ext>
            </a:extLst>
          </p:cNvPr>
          <p:cNvSpPr>
            <a:spLocks xmlns:a="http://schemas.openxmlformats.org/drawingml/2006/main" noGrp="1"/>
          </p:cNvSpPr>
          <p:nvPr/>
        </p:nvSpPr>
        <p:spPr>
          <a:xfrm xmlns:a="http://schemas.openxmlformats.org/drawingml/2006/main">
            <a:off x="6934200" y="2571750"/>
            <a:ext cx="1657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Service client / auto</a:t>
            </a:r>
          </a:p>
        </p:txBody>
      </p:sp>
      <p:sp>
        <p:nvSpPr>
          <p:cNvPr id="25" name="">
            <a:extLst xmlns:a="http://schemas.openxmlformats.org/drawingml/2006/main">
              <a:ext uri="{FF2B5EF4-FFF2-40B4-BE49-F238E27FC236}">
                <a16:creationId xmlns:a16="http://schemas.microsoft.com/office/drawing/2014/main" id="{AF0A7DEF-AA12-4F71-945D-6C581F465979}"/>
              </a:ext>
            </a:extLst>
          </p:cNvPr>
          <p:cNvSpPr>
            <a:spLocks xmlns:a="http://schemas.openxmlformats.org/drawingml/2006/main" noGrp="1"/>
          </p:cNvSpPr>
          <p:nvPr/>
        </p:nvSpPr>
        <p:spPr>
          <a:xfrm xmlns:a="http://schemas.openxmlformats.org/drawingml/2006/main">
            <a:off x="6419850" y="29908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26" name="">
            <a:extLst xmlns:a="http://schemas.openxmlformats.org/drawingml/2006/main">
              <a:ext uri="{FF2B5EF4-FFF2-40B4-BE49-F238E27FC236}">
                <a16:creationId xmlns:a16="http://schemas.microsoft.com/office/drawing/2014/main" id="{451154CB-3C0B-4F75-9A72-6B3C003BF27E}"/>
              </a:ext>
            </a:extLst>
          </p:cNvPr>
          <p:cNvSpPr>
            <a:spLocks xmlns:a="http://schemas.openxmlformats.org/drawingml/2006/main" noGrp="1"/>
          </p:cNvSpPr>
          <p:nvPr/>
        </p:nvSpPr>
        <p:spPr>
          <a:xfrm xmlns:a="http://schemas.openxmlformats.org/drawingml/2006/main">
            <a:off x="6419850" y="3162300"/>
            <a:ext cx="21526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Rappels, demandes et réponses pas toujours homogènes ni suffisamment tracés.</a:t>
            </a:r>
          </a:p>
        </p:txBody>
      </p:sp>
      <p:sp>
        <p:nvSpPr>
          <p:cNvPr id="27" name="">
            <a:extLst xmlns:a="http://schemas.openxmlformats.org/drawingml/2006/main">
              <a:ext uri="{FF2B5EF4-FFF2-40B4-BE49-F238E27FC236}">
                <a16:creationId xmlns:a16="http://schemas.microsoft.com/office/drawing/2014/main" id="{9D9D65E5-3757-4342-9FB3-8450B878E58B}"/>
              </a:ext>
            </a:extLst>
          </p:cNvPr>
          <p:cNvSpPr>
            <a:spLocks xmlns:a="http://schemas.openxmlformats.org/drawingml/2006/main" noGrp="1"/>
          </p:cNvSpPr>
          <p:nvPr/>
        </p:nvSpPr>
        <p:spPr>
          <a:xfrm xmlns:a="http://schemas.openxmlformats.org/drawingml/2006/main">
            <a:off x="6419850" y="36004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28" name="">
            <a:extLst xmlns:a="http://schemas.openxmlformats.org/drawingml/2006/main">
              <a:ext uri="{FF2B5EF4-FFF2-40B4-BE49-F238E27FC236}">
                <a16:creationId xmlns:a16="http://schemas.microsoft.com/office/drawing/2014/main" id="{78957926-7866-451E-B301-7548194FD64E}"/>
              </a:ext>
            </a:extLst>
          </p:cNvPr>
          <p:cNvSpPr>
            <a:spLocks xmlns:a="http://schemas.openxmlformats.org/drawingml/2006/main" noGrp="1"/>
          </p:cNvSpPr>
          <p:nvPr/>
        </p:nvSpPr>
        <p:spPr>
          <a:xfrm xmlns:a="http://schemas.openxmlformats.org/drawingml/2006/main">
            <a:off x="6419850" y="3771900"/>
            <a:ext cx="21526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Réponses plus rapides, scripts mieux cadrés et meilleure continuité dans le suivi client.</a:t>
            </a:r>
          </a:p>
        </p:txBody>
      </p:sp>
      <p:sp>
        <p:nvSpPr>
          <p:cNvPr id="29" name="">
            <a:extLst xmlns:a="http://schemas.openxmlformats.org/drawingml/2006/main">
              <a:ext uri="{FF2B5EF4-FFF2-40B4-BE49-F238E27FC236}">
                <a16:creationId xmlns:a16="http://schemas.microsoft.com/office/drawing/2014/main" id="{BA8376A4-879A-4D93-9BDC-32A0060609BF}"/>
              </a:ext>
            </a:extLst>
          </p:cNvPr>
          <p:cNvSpPr>
            <a:spLocks xmlns:a="http://schemas.openxmlformats.org/drawingml/2006/main" noGrp="1"/>
          </p:cNvSpPr>
          <p:nvPr/>
        </p:nvSpPr>
        <p:spPr>
          <a:xfrm xmlns:a="http://schemas.openxmlformats.org/drawingml/2006/main">
            <a:off x="8972550" y="2362200"/>
            <a:ext cx="2533650" cy="17145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30" name="">
            <a:extLst xmlns:a="http://schemas.openxmlformats.org/drawingml/2006/main">
              <a:ext uri="{FF2B5EF4-FFF2-40B4-BE49-F238E27FC236}">
                <a16:creationId xmlns:a16="http://schemas.microsoft.com/office/drawing/2014/main" id="{90FAE331-4F5C-496D-93BD-B61FA0BEBC72}"/>
              </a:ext>
            </a:extLst>
          </p:cNvPr>
          <p:cNvSpPr>
            <a:spLocks xmlns:a="http://schemas.openxmlformats.org/drawingml/2006/main" noGrp="1"/>
          </p:cNvSpPr>
          <p:nvPr/>
        </p:nvSpPr>
        <p:spPr>
          <a:xfrm xmlns:a="http://schemas.openxmlformats.org/drawingml/2006/main">
            <a:off x="9144000" y="2533650"/>
            <a:ext cx="419100" cy="419100"/>
          </a:xfrm>
          <a:prstGeom xmlns:a="http://schemas.openxmlformats.org/drawingml/2006/main" prst="ellipse">
            <a:avLst/>
          </a:prstGeom>
          <a:solidFill xmlns:a="http://schemas.openxmlformats.org/drawingml/2006/main">
            <a:srgbClr val="C88C3A"/>
          </a:solidFill>
          <a:ln xmlns:a="http://schemas.openxmlformats.org/drawingml/2006/main" w="0">
            <a:solidFill>
              <a:srgbClr val="C88C3A"/>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d270473155cc493e">
            <a:extLst>
              <a:ext uri="{96DAC541-7B7A-43D3-8B79-37D633B846F1}">
                <asvg:svgBlip xmlns:asvg="http://schemas.microsoft.com/office/drawing/2016/SVG/main" r:embed="R50fb442d1aed462c"/>
              </a:ext>
            </a:extLst>
          </a:blip>
          <a:stretch xmlns:a="http://schemas.openxmlformats.org/drawingml/2006/main"/>
        </p:blipFill>
        <p:spPr>
          <a:xfrm xmlns:a="http://schemas.openxmlformats.org/drawingml/2006/main">
            <a:off x="9239250" y="2628900"/>
            <a:ext cx="228600" cy="228600"/>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FA992189-8313-4489-B031-F511F0E889ED}"/>
              </a:ext>
            </a:extLst>
          </p:cNvPr>
          <p:cNvSpPr>
            <a:spLocks xmlns:a="http://schemas.openxmlformats.org/drawingml/2006/main" noGrp="1"/>
          </p:cNvSpPr>
          <p:nvPr/>
        </p:nvSpPr>
        <p:spPr>
          <a:xfrm xmlns:a="http://schemas.openxmlformats.org/drawingml/2006/main">
            <a:off x="9696450" y="2571750"/>
            <a:ext cx="161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Procédures internes</a:t>
            </a:r>
          </a:p>
        </p:txBody>
      </p:sp>
      <p:sp>
        <p:nvSpPr>
          <p:cNvPr id="33" name="">
            <a:extLst xmlns:a="http://schemas.openxmlformats.org/drawingml/2006/main">
              <a:ext uri="{FF2B5EF4-FFF2-40B4-BE49-F238E27FC236}">
                <a16:creationId xmlns:a16="http://schemas.microsoft.com/office/drawing/2014/main" id="{2EEF18BD-1EA8-4781-A78A-6B6E972556E1}"/>
              </a:ext>
            </a:extLst>
          </p:cNvPr>
          <p:cNvSpPr>
            <a:spLocks xmlns:a="http://schemas.openxmlformats.org/drawingml/2006/main" noGrp="1"/>
          </p:cNvSpPr>
          <p:nvPr/>
        </p:nvSpPr>
        <p:spPr>
          <a:xfrm xmlns:a="http://schemas.openxmlformats.org/drawingml/2006/main">
            <a:off x="9182100" y="29908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34" name="">
            <a:extLst xmlns:a="http://schemas.openxmlformats.org/drawingml/2006/main">
              <a:ext uri="{FF2B5EF4-FFF2-40B4-BE49-F238E27FC236}">
                <a16:creationId xmlns:a16="http://schemas.microsoft.com/office/drawing/2014/main" id="{BE8A0D65-11A7-40BA-BFEF-A59D12D7817A}"/>
              </a:ext>
            </a:extLst>
          </p:cNvPr>
          <p:cNvSpPr>
            <a:spLocks xmlns:a="http://schemas.openxmlformats.org/drawingml/2006/main" noGrp="1"/>
          </p:cNvSpPr>
          <p:nvPr/>
        </p:nvSpPr>
        <p:spPr>
          <a:xfrm xmlns:a="http://schemas.openxmlformats.org/drawingml/2006/main">
            <a:off x="9182100" y="3162300"/>
            <a:ext cx="21145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Les bonnes pratiques existent, mais restent dispersées dans les équipes et les documents.</a:t>
            </a:r>
          </a:p>
        </p:txBody>
      </p:sp>
      <p:sp>
        <p:nvSpPr>
          <p:cNvPr id="35" name="">
            <a:extLst xmlns:a="http://schemas.openxmlformats.org/drawingml/2006/main">
              <a:ext uri="{FF2B5EF4-FFF2-40B4-BE49-F238E27FC236}">
                <a16:creationId xmlns:a16="http://schemas.microsoft.com/office/drawing/2014/main" id="{F06A0A8D-B743-4BCB-A89E-000BC9E6FDDA}"/>
              </a:ext>
            </a:extLst>
          </p:cNvPr>
          <p:cNvSpPr>
            <a:spLocks xmlns:a="http://schemas.openxmlformats.org/drawingml/2006/main" noGrp="1"/>
          </p:cNvSpPr>
          <p:nvPr/>
        </p:nvSpPr>
        <p:spPr>
          <a:xfrm xmlns:a="http://schemas.openxmlformats.org/drawingml/2006/main">
            <a:off x="9182100" y="36004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36" name="">
            <a:extLst xmlns:a="http://schemas.openxmlformats.org/drawingml/2006/main">
              <a:ext uri="{FF2B5EF4-FFF2-40B4-BE49-F238E27FC236}">
                <a16:creationId xmlns:a16="http://schemas.microsoft.com/office/drawing/2014/main" id="{55727B0F-3D50-4817-BF0E-905BA84F8946}"/>
              </a:ext>
            </a:extLst>
          </p:cNvPr>
          <p:cNvSpPr>
            <a:spLocks xmlns:a="http://schemas.openxmlformats.org/drawingml/2006/main" noGrp="1"/>
          </p:cNvSpPr>
          <p:nvPr/>
        </p:nvSpPr>
        <p:spPr>
          <a:xfrm xmlns:a="http://schemas.openxmlformats.org/drawingml/2006/main">
            <a:off x="9182100" y="3771900"/>
            <a:ext cx="2114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Accès plus rapide aux procédures, onboarding plus court et exécution plus cohérente.</a:t>
            </a:r>
          </a:p>
        </p:txBody>
      </p:sp>
      <p:sp>
        <p:nvSpPr>
          <p:cNvPr id="37" name="">
            <a:extLst xmlns:a="http://schemas.openxmlformats.org/drawingml/2006/main">
              <a:ext uri="{FF2B5EF4-FFF2-40B4-BE49-F238E27FC236}">
                <a16:creationId xmlns:a16="http://schemas.microsoft.com/office/drawing/2014/main" id="{041CD061-2C60-4057-BDD6-9F93C664511A}"/>
              </a:ext>
            </a:extLst>
          </p:cNvPr>
          <p:cNvSpPr>
            <a:spLocks xmlns:a="http://schemas.openxmlformats.org/drawingml/2006/main" noGrp="1"/>
          </p:cNvSpPr>
          <p:nvPr/>
        </p:nvSpPr>
        <p:spPr>
          <a:xfrm xmlns:a="http://schemas.openxmlformats.org/drawingml/2006/main">
            <a:off x="685800" y="4438650"/>
            <a:ext cx="10820400" cy="12954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38" name="">
            <a:extLst xmlns:a="http://schemas.openxmlformats.org/drawingml/2006/main">
              <a:ext uri="{FF2B5EF4-FFF2-40B4-BE49-F238E27FC236}">
                <a16:creationId xmlns:a16="http://schemas.microsoft.com/office/drawing/2014/main" id="{AC12349C-9752-4496-87A9-8103D62312E2}"/>
              </a:ext>
            </a:extLst>
          </p:cNvPr>
          <p:cNvSpPr>
            <a:spLocks xmlns:a="http://schemas.openxmlformats.org/drawingml/2006/main" noGrp="1"/>
          </p:cNvSpPr>
          <p:nvPr/>
        </p:nvSpPr>
        <p:spPr>
          <a:xfrm xmlns:a="http://schemas.openxmlformats.org/drawingml/2006/main">
            <a:off x="933450" y="46863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CFE0F0"/>
                </a:solidFill>
                <a:latin typeface="Aptos"/>
                <a:ea typeface="Aptos"/>
                <a:cs typeface="Aptos"/>
              </a:defRPr>
            </a:pPr>
            <a:r>
              <a:rPr sz="750" b="1">
                <a:solidFill>
                  <a:srgbClr val="CFE0F0"/>
                </a:solidFill>
                <a:latin typeface="Aptos"/>
                <a:ea typeface="Aptos"/>
                <a:cs typeface="Aptos"/>
              </a:rPr>
              <a:t>Le bon angle commercial</a:t>
            </a:r>
          </a:p>
        </p:txBody>
      </p:sp>
      <p:sp>
        <p:nvSpPr>
          <p:cNvPr id="39" name="">
            <a:extLst xmlns:a="http://schemas.openxmlformats.org/drawingml/2006/main">
              <a:ext uri="{FF2B5EF4-FFF2-40B4-BE49-F238E27FC236}">
                <a16:creationId xmlns:a16="http://schemas.microsoft.com/office/drawing/2014/main" id="{C7492FC7-C9F6-4624-BFB0-875A4EFC8EF1}"/>
              </a:ext>
            </a:extLst>
          </p:cNvPr>
          <p:cNvSpPr>
            <a:spLocks xmlns:a="http://schemas.openxmlformats.org/drawingml/2006/main" noGrp="1"/>
          </p:cNvSpPr>
          <p:nvPr/>
        </p:nvSpPr>
        <p:spPr>
          <a:xfrm xmlns:a="http://schemas.openxmlformats.org/drawingml/2006/main">
            <a:off x="933450" y="4953000"/>
            <a:ext cx="53340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Partir des flux métier qui freinent déjà l'exécution.</a:t>
            </a:r>
          </a:p>
        </p:txBody>
      </p:sp>
      <p:sp>
        <p:nvSpPr>
          <p:cNvPr id="40" name="">
            <a:extLst xmlns:a="http://schemas.openxmlformats.org/drawingml/2006/main">
              <a:ext uri="{FF2B5EF4-FFF2-40B4-BE49-F238E27FC236}">
                <a16:creationId xmlns:a16="http://schemas.microsoft.com/office/drawing/2014/main" id="{211FB9FD-C6A3-4C8F-860D-381311CD384B}"/>
              </a:ext>
            </a:extLst>
          </p:cNvPr>
          <p:cNvSpPr>
            <a:spLocks xmlns:a="http://schemas.openxmlformats.org/drawingml/2006/main" noGrp="1"/>
          </p:cNvSpPr>
          <p:nvPr/>
        </p:nvSpPr>
        <p:spPr>
          <a:xfrm xmlns:a="http://schemas.openxmlformats.org/drawingml/2006/main">
            <a:off x="6477000" y="4876800"/>
            <a:ext cx="47625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0">
                <a:solidFill>
                  <a:srgbClr val="D7E5F3"/>
                </a:solidFill>
                <a:latin typeface="Aptos"/>
                <a:ea typeface="Aptos"/>
                <a:cs typeface="Aptos"/>
              </a:defRPr>
            </a:pPr>
            <a:r>
              <a:rPr sz="1013" b="0">
                <a:solidFill>
                  <a:srgbClr val="D7E5F3"/>
                </a:solidFill>
                <a:latin typeface="Aptos"/>
                <a:ea typeface="Aptos"/>
                <a:cs typeface="Aptos"/>
              </a:rPr>
              <a:t>La crédibilité ne viendra pas d'un catalogue de formations. Elle viendra d'une proposition qui relie diagnostic, cas d'usage, gouvernance, formation ciblée et premiers gains visibles.</a:t>
            </a:r>
          </a:p>
        </p:txBody>
      </p:sp>
      <p:sp>
        <p:nvSpPr>
          <p:cNvPr id="41" name="">
            <a:extLst xmlns:a="http://schemas.openxmlformats.org/drawingml/2006/main">
              <a:ext uri="{FF2B5EF4-FFF2-40B4-BE49-F238E27FC236}">
                <a16:creationId xmlns:a16="http://schemas.microsoft.com/office/drawing/2014/main" id="{B118E805-3156-46B3-ACD9-9E64575A1984}"/>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42" name="">
            <a:extLst xmlns:a="http://schemas.openxmlformats.org/drawingml/2006/main">
              <a:ext uri="{FF2B5EF4-FFF2-40B4-BE49-F238E27FC236}">
                <a16:creationId xmlns:a16="http://schemas.microsoft.com/office/drawing/2014/main" id="{4FC99548-F7AB-4082-9DC8-68969CF609BB}"/>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deck institutionnel V3</a:t>
            </a:r>
          </a:p>
        </p:txBody>
      </p:sp>
      <p:sp>
        <p:nvSpPr>
          <p:cNvPr id="43" name="">
            <a:extLst xmlns:a="http://schemas.openxmlformats.org/drawingml/2006/main">
              <a:ext uri="{FF2B5EF4-FFF2-40B4-BE49-F238E27FC236}">
                <a16:creationId xmlns:a16="http://schemas.microsoft.com/office/drawing/2014/main" id="{F514F7EF-71EB-4213-8180-8F048664D1B0}"/>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05</a:t>
            </a:r>
          </a:p>
        </p:txBody>
      </p:sp>
    </p:spTree>
    <p:extLst>
      <p:ext uri="{BB962C8B-B14F-4D97-AF65-F5344CB8AC3E}">
        <p14:creationId xmlns:p14="http://schemas.microsoft.com/office/powerpoint/2010/main" val="127779031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4E22ABDB-F394-48EB-9161-BDE5F1B3E2C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84D1AAF-4A86-465F-8343-744B8159AD2B}"/>
              </a:ext>
            </a:extLst>
          </p:cNvPr>
          <p:cNvSpPr>
            <a:spLocks xmlns:a="http://schemas.openxmlformats.org/drawingml/2006/main" noGrp="1"/>
          </p:cNvSpPr>
          <p:nvPr/>
        </p:nvSpPr>
        <p:spPr>
          <a:xfrm xmlns:a="http://schemas.openxmlformats.org/drawingml/2006/main">
            <a:off x="0" y="0"/>
            <a:ext cx="12192000" cy="112395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3" name="">
            <a:extLst xmlns:a="http://schemas.openxmlformats.org/drawingml/2006/main">
              <a:ext uri="{FF2B5EF4-FFF2-40B4-BE49-F238E27FC236}">
                <a16:creationId xmlns:a16="http://schemas.microsoft.com/office/drawing/2014/main" id="{D40EA5D9-42FF-456F-A0AA-8C5D21AD8241}"/>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ROI DE RÉFÉRENCE</a:t>
            </a:r>
          </a:p>
        </p:txBody>
      </p:sp>
      <p:sp>
        <p:nvSpPr>
          <p:cNvPr id="4" name="">
            <a:extLst xmlns:a="http://schemas.openxmlformats.org/drawingml/2006/main">
              <a:ext uri="{FF2B5EF4-FFF2-40B4-BE49-F238E27FC236}">
                <a16:creationId xmlns:a16="http://schemas.microsoft.com/office/drawing/2014/main" id="{8D919ADF-8428-4FB0-874E-BF9ABD5E1FCE}"/>
              </a:ext>
            </a:extLst>
          </p:cNvPr>
          <p:cNvSpPr>
            <a:spLocks xmlns:a="http://schemas.openxmlformats.org/drawingml/2006/main" noGrp="1"/>
          </p:cNvSpPr>
          <p:nvPr/>
        </p:nvSpPr>
        <p:spPr>
          <a:xfrm xmlns:a="http://schemas.openxmlformats.org/drawingml/2006/main">
            <a:off x="685800" y="723900"/>
            <a:ext cx="98679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100" b="1">
                <a:solidFill>
                  <a:srgbClr val="FFFFFF"/>
                </a:solidFill>
                <a:latin typeface="Aptos Display"/>
                <a:ea typeface="Aptos Display"/>
                <a:cs typeface="Aptos Display"/>
              </a:defRPr>
            </a:pPr>
            <a:r>
              <a:rPr sz="2100" b="1">
                <a:solidFill>
                  <a:srgbClr val="FFFFFF"/>
                </a:solidFill>
                <a:latin typeface="Aptos Display"/>
                <a:ea typeface="Aptos Display"/>
                <a:cs typeface="Aptos Display"/>
              </a:rPr>
              <a:t>Le ROI devient utile seulement s'il est traduit dans le contexte du prospect</a:t>
            </a:r>
          </a:p>
        </p:txBody>
      </p:sp>
      <p:sp>
        <p:nvSpPr>
          <p:cNvPr id="5" name="">
            <a:extLst xmlns:a="http://schemas.openxmlformats.org/drawingml/2006/main">
              <a:ext uri="{FF2B5EF4-FFF2-40B4-BE49-F238E27FC236}">
                <a16:creationId xmlns:a16="http://schemas.microsoft.com/office/drawing/2014/main" id="{2E5E842D-CDD4-4C80-AB66-47B56880B671}"/>
              </a:ext>
            </a:extLst>
          </p:cNvPr>
          <p:cNvSpPr>
            <a:spLocks xmlns:a="http://schemas.openxmlformats.org/drawingml/2006/main" noGrp="1"/>
          </p:cNvSpPr>
          <p:nvPr/>
        </p:nvSpPr>
        <p:spPr>
          <a:xfrm xmlns:a="http://schemas.openxmlformats.org/drawingml/2006/main">
            <a:off x="685800" y="1409700"/>
            <a:ext cx="2514600" cy="1104900"/>
          </a:xfrm>
          <a:prstGeom xmlns:a="http://schemas.openxmlformats.org/drawingml/2006/main" prst="rect">
            <a:avLst/>
          </a:prstGeom>
          <a:solidFill xmlns:a="http://schemas.openxmlformats.org/drawingml/2006/main">
            <a:srgbClr val="1C8A78"/>
          </a:solidFill>
          <a:ln xmlns:a="http://schemas.openxmlformats.org/drawingml/2006/main" w="0">
            <a:solidFill>
              <a:srgbClr val="1C8A78"/>
            </a:solidFill>
            <a:prstDash val="solid"/>
          </a:ln>
        </p:spPr>
      </p:sp>
      <p:sp>
        <p:nvSpPr>
          <p:cNvPr id="6" name="">
            <a:extLst xmlns:a="http://schemas.openxmlformats.org/drawingml/2006/main">
              <a:ext uri="{FF2B5EF4-FFF2-40B4-BE49-F238E27FC236}">
                <a16:creationId xmlns:a16="http://schemas.microsoft.com/office/drawing/2014/main" id="{68A20222-099F-4B6C-8133-185837F6BF7E}"/>
              </a:ext>
            </a:extLst>
          </p:cNvPr>
          <p:cNvSpPr>
            <a:spLocks xmlns:a="http://schemas.openxmlformats.org/drawingml/2006/main" noGrp="1"/>
          </p:cNvSpPr>
          <p:nvPr/>
        </p:nvSpPr>
        <p:spPr>
          <a:xfrm xmlns:a="http://schemas.openxmlformats.org/drawingml/2006/main">
            <a:off x="857250" y="1581150"/>
            <a:ext cx="21717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FFFFFF"/>
                </a:solidFill>
                <a:latin typeface="Aptos Display"/>
                <a:ea typeface="Aptos Display"/>
                <a:cs typeface="Aptos Display"/>
              </a:defRPr>
            </a:pPr>
            <a:r>
              <a:rPr sz="2400" b="1">
                <a:solidFill>
                  <a:srgbClr val="FFFFFF"/>
                </a:solidFill>
                <a:latin typeface="Aptos Display"/>
                <a:ea typeface="Aptos Display"/>
                <a:cs typeface="Aptos Display"/>
              </a:rPr>
              <a:t>+30 %</a:t>
            </a:r>
          </a:p>
        </p:txBody>
      </p:sp>
      <p:sp>
        <p:nvSpPr>
          <p:cNvPr id="7" name="">
            <a:extLst xmlns:a="http://schemas.openxmlformats.org/drawingml/2006/main">
              <a:ext uri="{FF2B5EF4-FFF2-40B4-BE49-F238E27FC236}">
                <a16:creationId xmlns:a16="http://schemas.microsoft.com/office/drawing/2014/main" id="{58C605FD-9DC9-46AC-B171-BB32AC160A1B}"/>
              </a:ext>
            </a:extLst>
          </p:cNvPr>
          <p:cNvSpPr>
            <a:spLocks xmlns:a="http://schemas.openxmlformats.org/drawingml/2006/main" noGrp="1"/>
          </p:cNvSpPr>
          <p:nvPr/>
        </p:nvSpPr>
        <p:spPr>
          <a:xfrm xmlns:a="http://schemas.openxmlformats.org/drawingml/2006/main">
            <a:off x="857250" y="2019300"/>
            <a:ext cx="2171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productivité benchmark</a:t>
            </a:r>
          </a:p>
        </p:txBody>
      </p:sp>
      <p:sp>
        <p:nvSpPr>
          <p:cNvPr id="8" name="">
            <a:extLst xmlns:a="http://schemas.openxmlformats.org/drawingml/2006/main">
              <a:ext uri="{FF2B5EF4-FFF2-40B4-BE49-F238E27FC236}">
                <a16:creationId xmlns:a16="http://schemas.microsoft.com/office/drawing/2014/main" id="{C992E6D1-DD57-45A2-B658-87407485A8F0}"/>
              </a:ext>
            </a:extLst>
          </p:cNvPr>
          <p:cNvSpPr>
            <a:spLocks xmlns:a="http://schemas.openxmlformats.org/drawingml/2006/main" noGrp="1"/>
          </p:cNvSpPr>
          <p:nvPr/>
        </p:nvSpPr>
        <p:spPr>
          <a:xfrm xmlns:a="http://schemas.openxmlformats.org/drawingml/2006/main">
            <a:off x="857250" y="2228850"/>
            <a:ext cx="2171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FFFFFF"/>
                </a:solidFill>
                <a:latin typeface="Aptos"/>
                <a:ea typeface="Aptos"/>
                <a:cs typeface="Aptos"/>
              </a:defRPr>
            </a:pPr>
            <a:r>
              <a:rPr sz="638" b="0">
                <a:solidFill>
                  <a:srgbClr val="FFFFFF"/>
                </a:solidFill>
                <a:latin typeface="Aptos"/>
                <a:ea typeface="Aptos"/>
                <a:cs typeface="Aptos"/>
              </a:rPr>
              <a:t>tâches répétitives, reporting, préparation de synthèses</a:t>
            </a:r>
          </a:p>
        </p:txBody>
      </p:sp>
      <p:sp>
        <p:nvSpPr>
          <p:cNvPr id="9" name="">
            <a:extLst xmlns:a="http://schemas.openxmlformats.org/drawingml/2006/main">
              <a:ext uri="{FF2B5EF4-FFF2-40B4-BE49-F238E27FC236}">
                <a16:creationId xmlns:a16="http://schemas.microsoft.com/office/drawing/2014/main" id="{3AC595A1-DED3-4EDA-A971-5FB53BC58813}"/>
              </a:ext>
            </a:extLst>
          </p:cNvPr>
          <p:cNvSpPr>
            <a:spLocks xmlns:a="http://schemas.openxmlformats.org/drawingml/2006/main" noGrp="1"/>
          </p:cNvSpPr>
          <p:nvPr/>
        </p:nvSpPr>
        <p:spPr>
          <a:xfrm xmlns:a="http://schemas.openxmlformats.org/drawingml/2006/main">
            <a:off x="3390900" y="1409700"/>
            <a:ext cx="2514600" cy="11049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10" name="">
            <a:extLst xmlns:a="http://schemas.openxmlformats.org/drawingml/2006/main">
              <a:ext uri="{FF2B5EF4-FFF2-40B4-BE49-F238E27FC236}">
                <a16:creationId xmlns:a16="http://schemas.microsoft.com/office/drawing/2014/main" id="{86D43001-7498-4F74-879B-882B6DFF994F}"/>
              </a:ext>
            </a:extLst>
          </p:cNvPr>
          <p:cNvSpPr>
            <a:spLocks xmlns:a="http://schemas.openxmlformats.org/drawingml/2006/main" noGrp="1"/>
          </p:cNvSpPr>
          <p:nvPr/>
        </p:nvSpPr>
        <p:spPr>
          <a:xfrm xmlns:a="http://schemas.openxmlformats.org/drawingml/2006/main">
            <a:off x="3562350" y="1581150"/>
            <a:ext cx="21717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FFFFFF"/>
                </a:solidFill>
                <a:latin typeface="Aptos Display"/>
                <a:ea typeface="Aptos Display"/>
                <a:cs typeface="Aptos Display"/>
              </a:defRPr>
            </a:pPr>
            <a:r>
              <a:rPr sz="2400" b="1">
                <a:solidFill>
                  <a:srgbClr val="FFFFFF"/>
                </a:solidFill>
                <a:latin typeface="Aptos Display"/>
                <a:ea typeface="Aptos Display"/>
                <a:cs typeface="Aptos Display"/>
              </a:rPr>
              <a:t>-45 %</a:t>
            </a:r>
          </a:p>
        </p:txBody>
      </p:sp>
      <p:sp>
        <p:nvSpPr>
          <p:cNvPr id="11" name="">
            <a:extLst xmlns:a="http://schemas.openxmlformats.org/drawingml/2006/main">
              <a:ext uri="{FF2B5EF4-FFF2-40B4-BE49-F238E27FC236}">
                <a16:creationId xmlns:a16="http://schemas.microsoft.com/office/drawing/2014/main" id="{81E1B706-3FFF-4C38-854F-D7A320886AFC}"/>
              </a:ext>
            </a:extLst>
          </p:cNvPr>
          <p:cNvSpPr>
            <a:spLocks xmlns:a="http://schemas.openxmlformats.org/drawingml/2006/main" noGrp="1"/>
          </p:cNvSpPr>
          <p:nvPr/>
        </p:nvSpPr>
        <p:spPr>
          <a:xfrm xmlns:a="http://schemas.openxmlformats.org/drawingml/2006/main">
            <a:off x="3562350" y="2019300"/>
            <a:ext cx="2171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effort de formation</a:t>
            </a:r>
          </a:p>
        </p:txBody>
      </p:sp>
      <p:sp>
        <p:nvSpPr>
          <p:cNvPr id="12" name="">
            <a:extLst xmlns:a="http://schemas.openxmlformats.org/drawingml/2006/main">
              <a:ext uri="{FF2B5EF4-FFF2-40B4-BE49-F238E27FC236}">
                <a16:creationId xmlns:a16="http://schemas.microsoft.com/office/drawing/2014/main" id="{97B344F9-5D33-4CD9-AEDF-D19B4247AEA0}"/>
              </a:ext>
            </a:extLst>
          </p:cNvPr>
          <p:cNvSpPr>
            <a:spLocks xmlns:a="http://schemas.openxmlformats.org/drawingml/2006/main" noGrp="1"/>
          </p:cNvSpPr>
          <p:nvPr/>
        </p:nvSpPr>
        <p:spPr>
          <a:xfrm xmlns:a="http://schemas.openxmlformats.org/drawingml/2006/main">
            <a:off x="3562350" y="2228850"/>
            <a:ext cx="2171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FFFFFF"/>
                </a:solidFill>
                <a:latin typeface="Aptos"/>
                <a:ea typeface="Aptos"/>
                <a:cs typeface="Aptos"/>
              </a:defRPr>
            </a:pPr>
            <a:r>
              <a:rPr sz="638" b="0">
                <a:solidFill>
                  <a:srgbClr val="FFFFFF"/>
                </a:solidFill>
                <a:latin typeface="Aptos"/>
                <a:ea typeface="Aptos"/>
                <a:cs typeface="Aptos"/>
              </a:rPr>
              <a:t>onboarding, diffusion de pratiques et transfert de savoir</a:t>
            </a:r>
          </a:p>
        </p:txBody>
      </p:sp>
      <p:sp>
        <p:nvSpPr>
          <p:cNvPr id="13" name="">
            <a:extLst xmlns:a="http://schemas.openxmlformats.org/drawingml/2006/main">
              <a:ext uri="{FF2B5EF4-FFF2-40B4-BE49-F238E27FC236}">
                <a16:creationId xmlns:a16="http://schemas.microsoft.com/office/drawing/2014/main" id="{78AE7F63-23D2-4AA9-BA2C-CF81D38C3C6B}"/>
              </a:ext>
            </a:extLst>
          </p:cNvPr>
          <p:cNvSpPr>
            <a:spLocks xmlns:a="http://schemas.openxmlformats.org/drawingml/2006/main" noGrp="1"/>
          </p:cNvSpPr>
          <p:nvPr/>
        </p:nvSpPr>
        <p:spPr>
          <a:xfrm xmlns:a="http://schemas.openxmlformats.org/drawingml/2006/main">
            <a:off x="6096000" y="1409700"/>
            <a:ext cx="2514600" cy="1104900"/>
          </a:xfrm>
          <a:prstGeom xmlns:a="http://schemas.openxmlformats.org/drawingml/2006/main" prst="rect">
            <a:avLst/>
          </a:prstGeom>
          <a:solidFill xmlns:a="http://schemas.openxmlformats.org/drawingml/2006/main">
            <a:srgbClr val="E76F1D"/>
          </a:solidFill>
          <a:ln xmlns:a="http://schemas.openxmlformats.org/drawingml/2006/main" w="0">
            <a:solidFill>
              <a:srgbClr val="E76F1D"/>
            </a:solidFill>
            <a:prstDash val="solid"/>
          </a:ln>
        </p:spPr>
      </p:sp>
      <p:sp>
        <p:nvSpPr>
          <p:cNvPr id="14" name="">
            <a:extLst xmlns:a="http://schemas.openxmlformats.org/drawingml/2006/main">
              <a:ext uri="{FF2B5EF4-FFF2-40B4-BE49-F238E27FC236}">
                <a16:creationId xmlns:a16="http://schemas.microsoft.com/office/drawing/2014/main" id="{0DD48D82-04CD-44B0-9EA8-D127B146ED1E}"/>
              </a:ext>
            </a:extLst>
          </p:cNvPr>
          <p:cNvSpPr>
            <a:spLocks xmlns:a="http://schemas.openxmlformats.org/drawingml/2006/main" noGrp="1"/>
          </p:cNvSpPr>
          <p:nvPr/>
        </p:nvSpPr>
        <p:spPr>
          <a:xfrm xmlns:a="http://schemas.openxmlformats.org/drawingml/2006/main">
            <a:off x="6267450" y="1581150"/>
            <a:ext cx="21717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FFFFFF"/>
                </a:solidFill>
                <a:latin typeface="Aptos Display"/>
                <a:ea typeface="Aptos Display"/>
                <a:cs typeface="Aptos Display"/>
              </a:defRPr>
            </a:pPr>
            <a:r>
              <a:rPr sz="2400" b="1">
                <a:solidFill>
                  <a:srgbClr val="FFFFFF"/>
                </a:solidFill>
                <a:latin typeface="Aptos Display"/>
                <a:ea typeface="Aptos Display"/>
                <a:cs typeface="Aptos Display"/>
              </a:rPr>
              <a:t>J+15</a:t>
            </a:r>
          </a:p>
        </p:txBody>
      </p:sp>
      <p:sp>
        <p:nvSpPr>
          <p:cNvPr id="15" name="">
            <a:extLst xmlns:a="http://schemas.openxmlformats.org/drawingml/2006/main">
              <a:ext uri="{FF2B5EF4-FFF2-40B4-BE49-F238E27FC236}">
                <a16:creationId xmlns:a16="http://schemas.microsoft.com/office/drawing/2014/main" id="{F378FB9F-0956-4668-AE50-92295D07BB6E}"/>
              </a:ext>
            </a:extLst>
          </p:cNvPr>
          <p:cNvSpPr>
            <a:spLocks xmlns:a="http://schemas.openxmlformats.org/drawingml/2006/main" noGrp="1"/>
          </p:cNvSpPr>
          <p:nvPr/>
        </p:nvSpPr>
        <p:spPr>
          <a:xfrm xmlns:a="http://schemas.openxmlformats.org/drawingml/2006/main">
            <a:off x="6267450" y="2019300"/>
            <a:ext cx="21717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premier livrable</a:t>
            </a:r>
          </a:p>
        </p:txBody>
      </p:sp>
      <p:sp>
        <p:nvSpPr>
          <p:cNvPr id="16" name="">
            <a:extLst xmlns:a="http://schemas.openxmlformats.org/drawingml/2006/main">
              <a:ext uri="{FF2B5EF4-FFF2-40B4-BE49-F238E27FC236}">
                <a16:creationId xmlns:a16="http://schemas.microsoft.com/office/drawing/2014/main" id="{CAB464F8-93DF-4674-B37E-AB73CD5797E9}"/>
              </a:ext>
            </a:extLst>
          </p:cNvPr>
          <p:cNvSpPr>
            <a:spLocks xmlns:a="http://schemas.openxmlformats.org/drawingml/2006/main" noGrp="1"/>
          </p:cNvSpPr>
          <p:nvPr/>
        </p:nvSpPr>
        <p:spPr>
          <a:xfrm xmlns:a="http://schemas.openxmlformats.org/drawingml/2006/main">
            <a:off x="6267450" y="2228850"/>
            <a:ext cx="21717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FFFFFF"/>
                </a:solidFill>
                <a:latin typeface="Aptos"/>
                <a:ea typeface="Aptos"/>
                <a:cs typeface="Aptos"/>
              </a:defRPr>
            </a:pPr>
            <a:r>
              <a:rPr sz="638" b="0">
                <a:solidFill>
                  <a:srgbClr val="FFFFFF"/>
                </a:solidFill>
                <a:latin typeface="Aptos"/>
                <a:ea typeface="Aptos"/>
                <a:cs typeface="Aptos"/>
              </a:rPr>
              <a:t>audit, cadrage et priorisation ROI</a:t>
            </a:r>
          </a:p>
        </p:txBody>
      </p:sp>
      <p:sp>
        <p:nvSpPr>
          <p:cNvPr id="17" name="">
            <a:extLst xmlns:a="http://schemas.openxmlformats.org/drawingml/2006/main">
              <a:ext uri="{FF2B5EF4-FFF2-40B4-BE49-F238E27FC236}">
                <a16:creationId xmlns:a16="http://schemas.microsoft.com/office/drawing/2014/main" id="{837B1372-79C2-41E5-B867-8350BC5BDCF0}"/>
              </a:ext>
            </a:extLst>
          </p:cNvPr>
          <p:cNvSpPr>
            <a:spLocks xmlns:a="http://schemas.openxmlformats.org/drawingml/2006/main" noGrp="1"/>
          </p:cNvSpPr>
          <p:nvPr/>
        </p:nvSpPr>
        <p:spPr>
          <a:xfrm xmlns:a="http://schemas.openxmlformats.org/drawingml/2006/main">
            <a:off x="8801100" y="1409700"/>
            <a:ext cx="2705100" cy="1104900"/>
          </a:xfrm>
          <a:prstGeom xmlns:a="http://schemas.openxmlformats.org/drawingml/2006/main" prst="rect">
            <a:avLst/>
          </a:prstGeom>
          <a:solidFill xmlns:a="http://schemas.openxmlformats.org/drawingml/2006/main">
            <a:srgbClr val="C88C3A"/>
          </a:solidFill>
          <a:ln xmlns:a="http://schemas.openxmlformats.org/drawingml/2006/main" w="0">
            <a:solidFill>
              <a:srgbClr val="C88C3A"/>
            </a:solidFill>
            <a:prstDash val="solid"/>
          </a:ln>
        </p:spPr>
      </p:sp>
      <p:sp>
        <p:nvSpPr>
          <p:cNvPr id="18" name="">
            <a:extLst xmlns:a="http://schemas.openxmlformats.org/drawingml/2006/main">
              <a:ext uri="{FF2B5EF4-FFF2-40B4-BE49-F238E27FC236}">
                <a16:creationId xmlns:a16="http://schemas.microsoft.com/office/drawing/2014/main" id="{FC74D183-C014-4ADE-AE27-7283664435EB}"/>
              </a:ext>
            </a:extLst>
          </p:cNvPr>
          <p:cNvSpPr>
            <a:spLocks xmlns:a="http://schemas.openxmlformats.org/drawingml/2006/main" noGrp="1"/>
          </p:cNvSpPr>
          <p:nvPr/>
        </p:nvSpPr>
        <p:spPr>
          <a:xfrm xmlns:a="http://schemas.openxmlformats.org/drawingml/2006/main">
            <a:off x="8972550" y="1581150"/>
            <a:ext cx="23622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2400" b="1">
                <a:solidFill>
                  <a:srgbClr val="FFFFFF"/>
                </a:solidFill>
                <a:latin typeface="Aptos Display"/>
                <a:ea typeface="Aptos Display"/>
                <a:cs typeface="Aptos Display"/>
              </a:defRPr>
            </a:pPr>
            <a:r>
              <a:rPr sz="2400" b="1">
                <a:solidFill>
                  <a:srgbClr val="FFFFFF"/>
                </a:solidFill>
                <a:latin typeface="Aptos Display"/>
                <a:ea typeface="Aptos Display"/>
                <a:cs typeface="Aptos Display"/>
              </a:rPr>
              <a:t>3,2x</a:t>
            </a:r>
          </a:p>
        </p:txBody>
      </p:sp>
      <p:sp>
        <p:nvSpPr>
          <p:cNvPr id="19" name="">
            <a:extLst xmlns:a="http://schemas.openxmlformats.org/drawingml/2006/main">
              <a:ext uri="{FF2B5EF4-FFF2-40B4-BE49-F238E27FC236}">
                <a16:creationId xmlns:a16="http://schemas.microsoft.com/office/drawing/2014/main" id="{F4928DC3-3C71-42D8-8ACE-AA696772757A}"/>
              </a:ext>
            </a:extLst>
          </p:cNvPr>
          <p:cNvSpPr>
            <a:spLocks xmlns:a="http://schemas.openxmlformats.org/drawingml/2006/main" noGrp="1"/>
          </p:cNvSpPr>
          <p:nvPr/>
        </p:nvSpPr>
        <p:spPr>
          <a:xfrm xmlns:a="http://schemas.openxmlformats.org/drawingml/2006/main">
            <a:off x="8972550" y="2019300"/>
            <a:ext cx="2362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825" b="1">
                <a:solidFill>
                  <a:srgbClr val="FFFFFF"/>
                </a:solidFill>
                <a:latin typeface="Aptos"/>
                <a:ea typeface="Aptos"/>
                <a:cs typeface="Aptos"/>
              </a:defRPr>
            </a:pPr>
            <a:r>
              <a:rPr sz="825" b="1">
                <a:solidFill>
                  <a:srgbClr val="FFFFFF"/>
                </a:solidFill>
                <a:latin typeface="Aptos"/>
                <a:ea typeface="Aptos"/>
                <a:cs typeface="Aptos"/>
              </a:rPr>
              <a:t>potentiel de ROI</a:t>
            </a:r>
          </a:p>
        </p:txBody>
      </p:sp>
      <p:sp>
        <p:nvSpPr>
          <p:cNvPr id="20" name="">
            <a:extLst xmlns:a="http://schemas.openxmlformats.org/drawingml/2006/main">
              <a:ext uri="{FF2B5EF4-FFF2-40B4-BE49-F238E27FC236}">
                <a16:creationId xmlns:a16="http://schemas.microsoft.com/office/drawing/2014/main" id="{BB32D6EF-F12A-4964-99CF-22E22B18BC21}"/>
              </a:ext>
            </a:extLst>
          </p:cNvPr>
          <p:cNvSpPr>
            <a:spLocks xmlns:a="http://schemas.openxmlformats.org/drawingml/2006/main" noGrp="1"/>
          </p:cNvSpPr>
          <p:nvPr/>
        </p:nvSpPr>
        <p:spPr>
          <a:xfrm xmlns:a="http://schemas.openxmlformats.org/drawingml/2006/main">
            <a:off x="8972550" y="2228850"/>
            <a:ext cx="2362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638" b="0">
                <a:solidFill>
                  <a:srgbClr val="FFFFFF"/>
                </a:solidFill>
                <a:latin typeface="Aptos"/>
                <a:ea typeface="Aptos"/>
                <a:cs typeface="Aptos"/>
              </a:defRPr>
            </a:pPr>
            <a:r>
              <a:rPr sz="638" b="0">
                <a:solidFill>
                  <a:srgbClr val="FFFFFF"/>
                </a:solidFill>
                <a:latin typeface="Aptos"/>
                <a:ea typeface="Aptos"/>
                <a:cs typeface="Aptos"/>
              </a:rPr>
              <a:t>référence : projets comparables TransferAI</a:t>
            </a:r>
          </a:p>
        </p:txBody>
      </p:sp>
      <p:sp>
        <p:nvSpPr>
          <p:cNvPr id="21" name="">
            <a:extLst xmlns:a="http://schemas.openxmlformats.org/drawingml/2006/main">
              <a:ext uri="{FF2B5EF4-FFF2-40B4-BE49-F238E27FC236}">
                <a16:creationId xmlns:a16="http://schemas.microsoft.com/office/drawing/2014/main" id="{3E87DA59-92B7-4207-842F-94676908D7EC}"/>
              </a:ext>
            </a:extLst>
          </p:cNvPr>
          <p:cNvSpPr>
            <a:spLocks xmlns:a="http://schemas.openxmlformats.org/drawingml/2006/main" noGrp="1"/>
          </p:cNvSpPr>
          <p:nvPr/>
        </p:nvSpPr>
        <p:spPr>
          <a:xfrm xmlns:a="http://schemas.openxmlformats.org/drawingml/2006/main">
            <a:off x="685800" y="3048000"/>
            <a:ext cx="47625" cy="457200"/>
          </a:xfrm>
          <a:prstGeom xmlns:a="http://schemas.openxmlformats.org/drawingml/2006/main" prst="rect">
            <a:avLst/>
          </a:prstGeom>
          <a:solidFill xmlns:a="http://schemas.openxmlformats.org/drawingml/2006/main">
            <a:srgbClr val="E76F1D"/>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521BE232-1693-4054-AE3F-EB9A2BB1BF68}"/>
              </a:ext>
            </a:extLst>
          </p:cNvPr>
          <p:cNvSpPr>
            <a:spLocks xmlns:a="http://schemas.openxmlformats.org/drawingml/2006/main" noGrp="1"/>
          </p:cNvSpPr>
          <p:nvPr/>
        </p:nvSpPr>
        <p:spPr>
          <a:xfrm xmlns:a="http://schemas.openxmlformats.org/drawingml/2006/main">
            <a:off x="876300" y="2952750"/>
            <a:ext cx="2381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A3554"/>
                </a:solidFill>
                <a:latin typeface="Aptos Display"/>
                <a:ea typeface="Aptos Display"/>
                <a:cs typeface="Aptos Display"/>
              </a:defRPr>
            </a:pPr>
            <a:r>
              <a:rPr sz="1125" b="1">
                <a:solidFill>
                  <a:srgbClr val="1A3554"/>
                </a:solidFill>
                <a:latin typeface="Aptos Display"/>
                <a:ea typeface="Aptos Display"/>
                <a:cs typeface="Aptos Display"/>
              </a:rPr>
              <a:t>Comptes professionnels</a:t>
            </a:r>
          </a:p>
        </p:txBody>
      </p:sp>
      <p:sp>
        <p:nvSpPr>
          <p:cNvPr id="23" name="">
            <a:extLst xmlns:a="http://schemas.openxmlformats.org/drawingml/2006/main">
              <a:ext uri="{FF2B5EF4-FFF2-40B4-BE49-F238E27FC236}">
                <a16:creationId xmlns:a16="http://schemas.microsoft.com/office/drawing/2014/main" id="{0365B7BA-331B-4F0E-9F96-A1A7D3A58A22}"/>
              </a:ext>
            </a:extLst>
          </p:cNvPr>
          <p:cNvSpPr>
            <a:spLocks xmlns:a="http://schemas.openxmlformats.org/drawingml/2006/main" noGrp="1"/>
          </p:cNvSpPr>
          <p:nvPr/>
        </p:nvSpPr>
        <p:spPr>
          <a:xfrm xmlns:a="http://schemas.openxmlformats.org/drawingml/2006/main">
            <a:off x="876300" y="3200400"/>
            <a:ext cx="48577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17086"/>
                </a:solidFill>
                <a:latin typeface="Aptos"/>
                <a:ea typeface="Aptos"/>
                <a:cs typeface="Aptos"/>
              </a:defRPr>
            </a:pPr>
            <a:r>
              <a:rPr sz="900" b="0">
                <a:solidFill>
                  <a:srgbClr val="617086"/>
                </a:solidFill>
                <a:latin typeface="Aptos"/>
                <a:ea typeface="Aptos"/>
                <a:cs typeface="Aptos"/>
              </a:rPr>
              <a:t>Automatiser la préparation des relances, standardiser les revues de portefeuille et mieux signaler les comptes à risque ou en retard.</a:t>
            </a:r>
          </a:p>
        </p:txBody>
      </p:sp>
      <p:sp>
        <p:nvSpPr>
          <p:cNvPr id="24" name="">
            <a:extLst xmlns:a="http://schemas.openxmlformats.org/drawingml/2006/main">
              <a:ext uri="{FF2B5EF4-FFF2-40B4-BE49-F238E27FC236}">
                <a16:creationId xmlns:a16="http://schemas.microsoft.com/office/drawing/2014/main" id="{E4F6B421-165E-4D71-B333-A2F9C4752593}"/>
              </a:ext>
            </a:extLst>
          </p:cNvPr>
          <p:cNvSpPr>
            <a:spLocks xmlns:a="http://schemas.openxmlformats.org/drawingml/2006/main" noGrp="1"/>
          </p:cNvSpPr>
          <p:nvPr/>
        </p:nvSpPr>
        <p:spPr>
          <a:xfrm xmlns:a="http://schemas.openxmlformats.org/drawingml/2006/main">
            <a:off x="6096000" y="2933700"/>
            <a:ext cx="5334000" cy="6667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25" name="">
            <a:extLst xmlns:a="http://schemas.openxmlformats.org/drawingml/2006/main">
              <a:ext uri="{FF2B5EF4-FFF2-40B4-BE49-F238E27FC236}">
                <a16:creationId xmlns:a16="http://schemas.microsoft.com/office/drawing/2014/main" id="{CC966112-711D-48D3-A057-28E9621A9144}"/>
              </a:ext>
            </a:extLst>
          </p:cNvPr>
          <p:cNvSpPr>
            <a:spLocks xmlns:a="http://schemas.openxmlformats.org/drawingml/2006/main" noGrp="1"/>
          </p:cNvSpPr>
          <p:nvPr/>
        </p:nvSpPr>
        <p:spPr>
          <a:xfrm xmlns:a="http://schemas.openxmlformats.org/drawingml/2006/main">
            <a:off x="6305550" y="3048000"/>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76F1D"/>
                </a:solidFill>
                <a:latin typeface="Aptos"/>
                <a:ea typeface="Aptos"/>
                <a:cs typeface="Aptos"/>
              </a:defRPr>
            </a:pPr>
            <a:r>
              <a:rPr sz="713" b="1">
                <a:solidFill>
                  <a:srgbClr val="E76F1D"/>
                </a:solidFill>
                <a:latin typeface="Aptos"/>
                <a:ea typeface="Aptos"/>
                <a:cs typeface="Aptos"/>
              </a:rPr>
              <a:t>KPI à instrumenter</a:t>
            </a:r>
          </a:p>
        </p:txBody>
      </p:sp>
      <p:sp>
        <p:nvSpPr>
          <p:cNvPr id="26" name="">
            <a:extLst xmlns:a="http://schemas.openxmlformats.org/drawingml/2006/main">
              <a:ext uri="{FF2B5EF4-FFF2-40B4-BE49-F238E27FC236}">
                <a16:creationId xmlns:a16="http://schemas.microsoft.com/office/drawing/2014/main" id="{66851940-8C82-4282-B968-086DFF6B8931}"/>
              </a:ext>
            </a:extLst>
          </p:cNvPr>
          <p:cNvSpPr>
            <a:spLocks xmlns:a="http://schemas.openxmlformats.org/drawingml/2006/main" noGrp="1"/>
          </p:cNvSpPr>
          <p:nvPr/>
        </p:nvSpPr>
        <p:spPr>
          <a:xfrm xmlns:a="http://schemas.openxmlformats.org/drawingml/2006/main">
            <a:off x="6305550" y="3219450"/>
            <a:ext cx="49149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A3554"/>
                </a:solidFill>
                <a:latin typeface="Aptos"/>
                <a:ea typeface="Aptos"/>
                <a:cs typeface="Aptos"/>
              </a:defRPr>
            </a:pPr>
            <a:r>
              <a:rPr sz="900" b="0">
                <a:solidFill>
                  <a:srgbClr val="1A3554"/>
                </a:solidFill>
                <a:latin typeface="Aptos"/>
                <a:ea typeface="Aptos"/>
                <a:cs typeface="Aptos"/>
              </a:rPr>
              <a:t>délai moyen de relance, temps de préparation des revues clients, évolution des encours en retard</a:t>
            </a:r>
          </a:p>
        </p:txBody>
      </p:sp>
      <p:sp>
        <p:nvSpPr>
          <p:cNvPr id="27" name="">
            <a:extLst xmlns:a="http://schemas.openxmlformats.org/drawingml/2006/main">
              <a:ext uri="{FF2B5EF4-FFF2-40B4-BE49-F238E27FC236}">
                <a16:creationId xmlns:a16="http://schemas.microsoft.com/office/drawing/2014/main" id="{A23AC87E-6C17-4827-881B-D24A047D2A10}"/>
              </a:ext>
            </a:extLst>
          </p:cNvPr>
          <p:cNvSpPr>
            <a:spLocks xmlns:a="http://schemas.openxmlformats.org/drawingml/2006/main" noGrp="1"/>
          </p:cNvSpPr>
          <p:nvPr/>
        </p:nvSpPr>
        <p:spPr>
          <a:xfrm xmlns:a="http://schemas.openxmlformats.org/drawingml/2006/main">
            <a:off x="685800" y="3829050"/>
            <a:ext cx="47625" cy="457200"/>
          </a:xfrm>
          <a:prstGeom xmlns:a="http://schemas.openxmlformats.org/drawingml/2006/main" prst="rect">
            <a:avLst/>
          </a:prstGeom>
          <a:solidFill xmlns:a="http://schemas.openxmlformats.org/drawingml/2006/main">
            <a:srgbClr val="1C8A78"/>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6995D656-FAA5-4221-96B7-6ED5A28ACCE4}"/>
              </a:ext>
            </a:extLst>
          </p:cNvPr>
          <p:cNvSpPr>
            <a:spLocks xmlns:a="http://schemas.openxmlformats.org/drawingml/2006/main" noGrp="1"/>
          </p:cNvSpPr>
          <p:nvPr/>
        </p:nvSpPr>
        <p:spPr>
          <a:xfrm xmlns:a="http://schemas.openxmlformats.org/drawingml/2006/main">
            <a:off x="876300" y="3733800"/>
            <a:ext cx="2381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A3554"/>
                </a:solidFill>
                <a:latin typeface="Aptos Display"/>
                <a:ea typeface="Aptos Display"/>
                <a:cs typeface="Aptos Display"/>
              </a:defRPr>
            </a:pPr>
            <a:r>
              <a:rPr sz="1125" b="1">
                <a:solidFill>
                  <a:srgbClr val="1A3554"/>
                </a:solidFill>
                <a:latin typeface="Aptos Display"/>
                <a:ea typeface="Aptos Display"/>
                <a:cs typeface="Aptos Display"/>
              </a:rPr>
              <a:t>Flotte et cartes carburant</a:t>
            </a:r>
          </a:p>
        </p:txBody>
      </p:sp>
      <p:sp>
        <p:nvSpPr>
          <p:cNvPr id="29" name="">
            <a:extLst xmlns:a="http://schemas.openxmlformats.org/drawingml/2006/main">
              <a:ext uri="{FF2B5EF4-FFF2-40B4-BE49-F238E27FC236}">
                <a16:creationId xmlns:a16="http://schemas.microsoft.com/office/drawing/2014/main" id="{00123584-DB8C-4C4B-80AC-90FDC771B64D}"/>
              </a:ext>
            </a:extLst>
          </p:cNvPr>
          <p:cNvSpPr>
            <a:spLocks xmlns:a="http://schemas.openxmlformats.org/drawingml/2006/main" noGrp="1"/>
          </p:cNvSpPr>
          <p:nvPr/>
        </p:nvSpPr>
        <p:spPr>
          <a:xfrm xmlns:a="http://schemas.openxmlformats.org/drawingml/2006/main">
            <a:off x="876300" y="3981450"/>
            <a:ext cx="48577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17086"/>
                </a:solidFill>
                <a:latin typeface="Aptos"/>
                <a:ea typeface="Aptos"/>
                <a:cs typeface="Aptos"/>
              </a:defRPr>
            </a:pPr>
            <a:r>
              <a:rPr sz="900" b="0">
                <a:solidFill>
                  <a:srgbClr val="617086"/>
                </a:solidFill>
                <a:latin typeface="Aptos"/>
                <a:ea typeface="Aptos"/>
                <a:cs typeface="Aptos"/>
              </a:rPr>
              <a:t>Consolider les consommations, rapprocher les sources et produire des alertes simples sur les anomalies ou les dépassements inhabituels.</a:t>
            </a:r>
          </a:p>
        </p:txBody>
      </p:sp>
      <p:sp>
        <p:nvSpPr>
          <p:cNvPr id="30" name="">
            <a:extLst xmlns:a="http://schemas.openxmlformats.org/drawingml/2006/main">
              <a:ext uri="{FF2B5EF4-FFF2-40B4-BE49-F238E27FC236}">
                <a16:creationId xmlns:a16="http://schemas.microsoft.com/office/drawing/2014/main" id="{D2FA9268-F337-4B6F-BEED-3206EED86105}"/>
              </a:ext>
            </a:extLst>
          </p:cNvPr>
          <p:cNvSpPr>
            <a:spLocks xmlns:a="http://schemas.openxmlformats.org/drawingml/2006/main" noGrp="1"/>
          </p:cNvSpPr>
          <p:nvPr/>
        </p:nvSpPr>
        <p:spPr>
          <a:xfrm xmlns:a="http://schemas.openxmlformats.org/drawingml/2006/main">
            <a:off x="6096000" y="3714750"/>
            <a:ext cx="5334000" cy="6667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31" name="">
            <a:extLst xmlns:a="http://schemas.openxmlformats.org/drawingml/2006/main">
              <a:ext uri="{FF2B5EF4-FFF2-40B4-BE49-F238E27FC236}">
                <a16:creationId xmlns:a16="http://schemas.microsoft.com/office/drawing/2014/main" id="{B8DB0FAC-F53D-4DDC-9C5F-AF7EFD19B97B}"/>
              </a:ext>
            </a:extLst>
          </p:cNvPr>
          <p:cNvSpPr>
            <a:spLocks xmlns:a="http://schemas.openxmlformats.org/drawingml/2006/main" noGrp="1"/>
          </p:cNvSpPr>
          <p:nvPr/>
        </p:nvSpPr>
        <p:spPr>
          <a:xfrm xmlns:a="http://schemas.openxmlformats.org/drawingml/2006/main">
            <a:off x="6305550" y="3829050"/>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76F1D"/>
                </a:solidFill>
                <a:latin typeface="Aptos"/>
                <a:ea typeface="Aptos"/>
                <a:cs typeface="Aptos"/>
              </a:defRPr>
            </a:pPr>
            <a:r>
              <a:rPr sz="713" b="1">
                <a:solidFill>
                  <a:srgbClr val="E76F1D"/>
                </a:solidFill>
                <a:latin typeface="Aptos"/>
                <a:ea typeface="Aptos"/>
                <a:cs typeface="Aptos"/>
              </a:rPr>
              <a:t>KPI à instrumenter</a:t>
            </a:r>
          </a:p>
        </p:txBody>
      </p:sp>
      <p:sp>
        <p:nvSpPr>
          <p:cNvPr id="32" name="">
            <a:extLst xmlns:a="http://schemas.openxmlformats.org/drawingml/2006/main">
              <a:ext uri="{FF2B5EF4-FFF2-40B4-BE49-F238E27FC236}">
                <a16:creationId xmlns:a16="http://schemas.microsoft.com/office/drawing/2014/main" id="{22F792B9-76FA-4B12-AED9-8622B9C2A76B}"/>
              </a:ext>
            </a:extLst>
          </p:cNvPr>
          <p:cNvSpPr>
            <a:spLocks xmlns:a="http://schemas.openxmlformats.org/drawingml/2006/main" noGrp="1"/>
          </p:cNvSpPr>
          <p:nvPr/>
        </p:nvSpPr>
        <p:spPr>
          <a:xfrm xmlns:a="http://schemas.openxmlformats.org/drawingml/2006/main">
            <a:off x="6305550" y="4000500"/>
            <a:ext cx="49149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A3554"/>
                </a:solidFill>
                <a:latin typeface="Aptos"/>
                <a:ea typeface="Aptos"/>
                <a:cs typeface="Aptos"/>
              </a:defRPr>
            </a:pPr>
            <a:r>
              <a:rPr sz="900" b="0">
                <a:solidFill>
                  <a:srgbClr val="1A3554"/>
                </a:solidFill>
                <a:latin typeface="Aptos"/>
                <a:ea typeface="Aptos"/>
                <a:cs typeface="Aptos"/>
              </a:rPr>
              <a:t>temps de production du reporting flotte, nombre d'anomalies détectées, variation des coûts carburant</a:t>
            </a:r>
          </a:p>
        </p:txBody>
      </p:sp>
      <p:sp>
        <p:nvSpPr>
          <p:cNvPr id="33" name="">
            <a:extLst xmlns:a="http://schemas.openxmlformats.org/drawingml/2006/main">
              <a:ext uri="{FF2B5EF4-FFF2-40B4-BE49-F238E27FC236}">
                <a16:creationId xmlns:a16="http://schemas.microsoft.com/office/drawing/2014/main" id="{CF3EF3AC-1140-46A9-A517-4FD57679C7C7}"/>
              </a:ext>
            </a:extLst>
          </p:cNvPr>
          <p:cNvSpPr>
            <a:spLocks xmlns:a="http://schemas.openxmlformats.org/drawingml/2006/main" noGrp="1"/>
          </p:cNvSpPr>
          <p:nvPr/>
        </p:nvSpPr>
        <p:spPr>
          <a:xfrm xmlns:a="http://schemas.openxmlformats.org/drawingml/2006/main">
            <a:off x="685800" y="4610100"/>
            <a:ext cx="47625" cy="457200"/>
          </a:xfrm>
          <a:prstGeom xmlns:a="http://schemas.openxmlformats.org/drawingml/2006/main" prst="rect">
            <a:avLst/>
          </a:prstGeom>
          <a:solidFill xmlns:a="http://schemas.openxmlformats.org/drawingml/2006/main">
            <a:srgbClr val="163556"/>
          </a:solidFill>
          <a:ln xmlns:a="http://schemas.openxmlformats.org/drawingml/2006/main" w="0">
            <a:solidFill>
              <a:srgbClr val="000000">
                <a:alpha val="0"/>
              </a:srgbClr>
            </a:solidFill>
            <a:prstDash val="solid"/>
          </a:ln>
        </p:spPr>
      </p:sp>
      <p:sp>
        <p:nvSpPr>
          <p:cNvPr id="34" name="">
            <a:extLst xmlns:a="http://schemas.openxmlformats.org/drawingml/2006/main">
              <a:ext uri="{FF2B5EF4-FFF2-40B4-BE49-F238E27FC236}">
                <a16:creationId xmlns:a16="http://schemas.microsoft.com/office/drawing/2014/main" id="{00F49473-93B1-4BDA-BC7D-6EF94133DDFB}"/>
              </a:ext>
            </a:extLst>
          </p:cNvPr>
          <p:cNvSpPr>
            <a:spLocks xmlns:a="http://schemas.openxmlformats.org/drawingml/2006/main" noGrp="1"/>
          </p:cNvSpPr>
          <p:nvPr/>
        </p:nvSpPr>
        <p:spPr>
          <a:xfrm xmlns:a="http://schemas.openxmlformats.org/drawingml/2006/main">
            <a:off x="876300" y="4514850"/>
            <a:ext cx="2381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1A3554"/>
                </a:solidFill>
                <a:latin typeface="Aptos Display"/>
                <a:ea typeface="Aptos Display"/>
                <a:cs typeface="Aptos Display"/>
              </a:defRPr>
            </a:pPr>
            <a:r>
              <a:rPr sz="1125" b="1">
                <a:solidFill>
                  <a:srgbClr val="1A3554"/>
                </a:solidFill>
                <a:latin typeface="Aptos Display"/>
                <a:ea typeface="Aptos Display"/>
                <a:cs typeface="Aptos Display"/>
              </a:rPr>
              <a:t>Service client et procédures</a:t>
            </a:r>
          </a:p>
        </p:txBody>
      </p:sp>
      <p:sp>
        <p:nvSpPr>
          <p:cNvPr id="35" name="">
            <a:extLst xmlns:a="http://schemas.openxmlformats.org/drawingml/2006/main">
              <a:ext uri="{FF2B5EF4-FFF2-40B4-BE49-F238E27FC236}">
                <a16:creationId xmlns:a16="http://schemas.microsoft.com/office/drawing/2014/main" id="{0AAB3421-A879-41BF-BB04-755124A6CF15}"/>
              </a:ext>
            </a:extLst>
          </p:cNvPr>
          <p:cNvSpPr>
            <a:spLocks xmlns:a="http://schemas.openxmlformats.org/drawingml/2006/main" noGrp="1"/>
          </p:cNvSpPr>
          <p:nvPr/>
        </p:nvSpPr>
        <p:spPr>
          <a:xfrm xmlns:a="http://schemas.openxmlformats.org/drawingml/2006/main">
            <a:off x="876300" y="4762500"/>
            <a:ext cx="485775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617086"/>
                </a:solidFill>
                <a:latin typeface="Aptos"/>
                <a:ea typeface="Aptos"/>
                <a:cs typeface="Aptos"/>
              </a:defRPr>
            </a:pPr>
            <a:r>
              <a:rPr sz="900" b="0">
                <a:solidFill>
                  <a:srgbClr val="617086"/>
                </a:solidFill>
                <a:latin typeface="Aptos"/>
                <a:ea typeface="Aptos"/>
                <a:cs typeface="Aptos"/>
              </a:rPr>
              <a:t>Rendre les réponses plus cohérentes, accélérer l'accès aux standards et réduire le temps de montée en main des équipes.</a:t>
            </a:r>
          </a:p>
        </p:txBody>
      </p:sp>
      <p:sp>
        <p:nvSpPr>
          <p:cNvPr id="36" name="">
            <a:extLst xmlns:a="http://schemas.openxmlformats.org/drawingml/2006/main">
              <a:ext uri="{FF2B5EF4-FFF2-40B4-BE49-F238E27FC236}">
                <a16:creationId xmlns:a16="http://schemas.microsoft.com/office/drawing/2014/main" id="{B7D002D3-28BC-4734-941F-C895056DA49B}"/>
              </a:ext>
            </a:extLst>
          </p:cNvPr>
          <p:cNvSpPr>
            <a:spLocks xmlns:a="http://schemas.openxmlformats.org/drawingml/2006/main" noGrp="1"/>
          </p:cNvSpPr>
          <p:nvPr/>
        </p:nvSpPr>
        <p:spPr>
          <a:xfrm xmlns:a="http://schemas.openxmlformats.org/drawingml/2006/main">
            <a:off x="6096000" y="4495800"/>
            <a:ext cx="5334000" cy="6667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37" name="">
            <a:extLst xmlns:a="http://schemas.openxmlformats.org/drawingml/2006/main">
              <a:ext uri="{FF2B5EF4-FFF2-40B4-BE49-F238E27FC236}">
                <a16:creationId xmlns:a16="http://schemas.microsoft.com/office/drawing/2014/main" id="{730F27D3-E83D-49F4-B352-939F17EDF468}"/>
              </a:ext>
            </a:extLst>
          </p:cNvPr>
          <p:cNvSpPr>
            <a:spLocks xmlns:a="http://schemas.openxmlformats.org/drawingml/2006/main" noGrp="1"/>
          </p:cNvSpPr>
          <p:nvPr/>
        </p:nvSpPr>
        <p:spPr>
          <a:xfrm xmlns:a="http://schemas.openxmlformats.org/drawingml/2006/main">
            <a:off x="6305550" y="4610100"/>
            <a:ext cx="1333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13" b="1">
                <a:solidFill>
                  <a:srgbClr val="E76F1D"/>
                </a:solidFill>
                <a:latin typeface="Aptos"/>
                <a:ea typeface="Aptos"/>
                <a:cs typeface="Aptos"/>
              </a:defRPr>
            </a:pPr>
            <a:r>
              <a:rPr sz="713" b="1">
                <a:solidFill>
                  <a:srgbClr val="E76F1D"/>
                </a:solidFill>
                <a:latin typeface="Aptos"/>
                <a:ea typeface="Aptos"/>
                <a:cs typeface="Aptos"/>
              </a:rPr>
              <a:t>KPI à instrumenter</a:t>
            </a:r>
          </a:p>
        </p:txBody>
      </p:sp>
      <p:sp>
        <p:nvSpPr>
          <p:cNvPr id="38" name="">
            <a:extLst xmlns:a="http://schemas.openxmlformats.org/drawingml/2006/main">
              <a:ext uri="{FF2B5EF4-FFF2-40B4-BE49-F238E27FC236}">
                <a16:creationId xmlns:a16="http://schemas.microsoft.com/office/drawing/2014/main" id="{468D6485-EE07-4292-9195-4792A9248CAA}"/>
              </a:ext>
            </a:extLst>
          </p:cNvPr>
          <p:cNvSpPr>
            <a:spLocks xmlns:a="http://schemas.openxmlformats.org/drawingml/2006/main" noGrp="1"/>
          </p:cNvSpPr>
          <p:nvPr/>
        </p:nvSpPr>
        <p:spPr>
          <a:xfrm xmlns:a="http://schemas.openxmlformats.org/drawingml/2006/main">
            <a:off x="6305550" y="4781550"/>
            <a:ext cx="49149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A3554"/>
                </a:solidFill>
                <a:latin typeface="Aptos"/>
                <a:ea typeface="Aptos"/>
                <a:cs typeface="Aptos"/>
              </a:defRPr>
            </a:pPr>
            <a:r>
              <a:rPr sz="900" b="0">
                <a:solidFill>
                  <a:srgbClr val="1A3554"/>
                </a:solidFill>
                <a:latin typeface="Aptos"/>
                <a:ea typeface="Aptos"/>
                <a:cs typeface="Aptos"/>
              </a:rPr>
              <a:t>délai de réponse, temps d'onboarding, usage de la base procédures / FAQ interne</a:t>
            </a:r>
          </a:p>
        </p:txBody>
      </p:sp>
      <p:sp>
        <p:nvSpPr>
          <p:cNvPr id="39" name="">
            <a:extLst xmlns:a="http://schemas.openxmlformats.org/drawingml/2006/main">
              <a:ext uri="{FF2B5EF4-FFF2-40B4-BE49-F238E27FC236}">
                <a16:creationId xmlns:a16="http://schemas.microsoft.com/office/drawing/2014/main" id="{EB0EA45E-AE28-418C-9D34-D511A4BC3A3D}"/>
              </a:ext>
            </a:extLst>
          </p:cNvPr>
          <p:cNvSpPr>
            <a:spLocks xmlns:a="http://schemas.openxmlformats.org/drawingml/2006/main" noGrp="1"/>
          </p:cNvSpPr>
          <p:nvPr/>
        </p:nvSpPr>
        <p:spPr>
          <a:xfrm xmlns:a="http://schemas.openxmlformats.org/drawingml/2006/main">
            <a:off x="685800" y="5562600"/>
            <a:ext cx="10820400" cy="5143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40" name="">
            <a:extLst xmlns:a="http://schemas.openxmlformats.org/drawingml/2006/main">
              <a:ext uri="{FF2B5EF4-FFF2-40B4-BE49-F238E27FC236}">
                <a16:creationId xmlns:a16="http://schemas.microsoft.com/office/drawing/2014/main" id="{387BFB57-FF7A-4BB8-8ED1-FCF025259631}"/>
              </a:ext>
            </a:extLst>
          </p:cNvPr>
          <p:cNvSpPr>
            <a:spLocks xmlns:a="http://schemas.openxmlformats.org/drawingml/2006/main" noGrp="1"/>
          </p:cNvSpPr>
          <p:nvPr/>
        </p:nvSpPr>
        <p:spPr>
          <a:xfrm xmlns:a="http://schemas.openxmlformats.org/drawingml/2006/main">
            <a:off x="895350" y="5734050"/>
            <a:ext cx="857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Important</a:t>
            </a:r>
          </a:p>
        </p:txBody>
      </p:sp>
      <p:sp>
        <p:nvSpPr>
          <p:cNvPr id="41" name="">
            <a:extLst xmlns:a="http://schemas.openxmlformats.org/drawingml/2006/main">
              <a:ext uri="{FF2B5EF4-FFF2-40B4-BE49-F238E27FC236}">
                <a16:creationId xmlns:a16="http://schemas.microsoft.com/office/drawing/2014/main" id="{F31F8AC7-8658-4204-8F70-18C1CC3C6759}"/>
              </a:ext>
            </a:extLst>
          </p:cNvPr>
          <p:cNvSpPr>
            <a:spLocks xmlns:a="http://schemas.openxmlformats.org/drawingml/2006/main" noGrp="1"/>
          </p:cNvSpPr>
          <p:nvPr/>
        </p:nvSpPr>
        <p:spPr>
          <a:xfrm xmlns:a="http://schemas.openxmlformats.org/drawingml/2006/main">
            <a:off x="1790700" y="5695950"/>
            <a:ext cx="9334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Les chiffres affichés ci-dessus sont un référentiel ROI TransferAI sur des déploiements comparables. Les gains réels seront calibrés sur les volumes, les processus et les données du prospect pendant l'audit initial.</a:t>
            </a:r>
          </a:p>
        </p:txBody>
      </p:sp>
      <p:sp>
        <p:nvSpPr>
          <p:cNvPr id="42" name="">
            <a:extLst xmlns:a="http://schemas.openxmlformats.org/drawingml/2006/main">
              <a:ext uri="{FF2B5EF4-FFF2-40B4-BE49-F238E27FC236}">
                <a16:creationId xmlns:a16="http://schemas.microsoft.com/office/drawing/2014/main" id="{350B53ED-7171-40B9-AB2E-5B09802451DF}"/>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43" name="">
            <a:extLst xmlns:a="http://schemas.openxmlformats.org/drawingml/2006/main">
              <a:ext uri="{FF2B5EF4-FFF2-40B4-BE49-F238E27FC236}">
                <a16:creationId xmlns:a16="http://schemas.microsoft.com/office/drawing/2014/main" id="{2546BEE1-AE8A-4A88-912A-C9F73B676F78}"/>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deck institutionnel V3</a:t>
            </a:r>
          </a:p>
        </p:txBody>
      </p:sp>
      <p:sp>
        <p:nvSpPr>
          <p:cNvPr id="44" name="">
            <a:extLst xmlns:a="http://schemas.openxmlformats.org/drawingml/2006/main">
              <a:ext uri="{FF2B5EF4-FFF2-40B4-BE49-F238E27FC236}">
                <a16:creationId xmlns:a16="http://schemas.microsoft.com/office/drawing/2014/main" id="{F3B4C54B-0615-42CA-913A-1798FCD96A5A}"/>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06</a:t>
            </a:r>
          </a:p>
        </p:txBody>
      </p:sp>
    </p:spTree>
    <p:extLst>
      <p:ext uri="{BB962C8B-B14F-4D97-AF65-F5344CB8AC3E}">
        <p14:creationId xmlns:p14="http://schemas.microsoft.com/office/powerpoint/2010/main" val="148310193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C24FEA9-CFDB-403D-B135-6E3EA319AF3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05DE3BC-BBB6-4B29-99F4-5662654D9EEC}"/>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CAS D'USAGE PRIORITAIRES</a:t>
            </a:r>
          </a:p>
        </p:txBody>
      </p:sp>
      <p:sp>
        <p:nvSpPr>
          <p:cNvPr id="3" name="">
            <a:extLst xmlns:a="http://schemas.openxmlformats.org/drawingml/2006/main">
              <a:ext uri="{FF2B5EF4-FFF2-40B4-BE49-F238E27FC236}">
                <a16:creationId xmlns:a16="http://schemas.microsoft.com/office/drawing/2014/main" id="{7B51ACDF-5233-4A86-B499-75E6F4BACB23}"/>
              </a:ext>
            </a:extLst>
          </p:cNvPr>
          <p:cNvSpPr>
            <a:spLocks xmlns:a="http://schemas.openxmlformats.org/drawingml/2006/main" noGrp="1"/>
          </p:cNvSpPr>
          <p:nvPr/>
        </p:nvSpPr>
        <p:spPr>
          <a:xfrm xmlns:a="http://schemas.openxmlformats.org/drawingml/2006/main">
            <a:off x="685800" y="819150"/>
            <a:ext cx="8572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Les 4 cas d'usage à mettre au centre de la proposition</a:t>
            </a:r>
          </a:p>
        </p:txBody>
      </p:sp>
      <p:sp>
        <p:nvSpPr>
          <p:cNvPr id="4" name="">
            <a:extLst xmlns:a="http://schemas.openxmlformats.org/drawingml/2006/main">
              <a:ext uri="{FF2B5EF4-FFF2-40B4-BE49-F238E27FC236}">
                <a16:creationId xmlns:a16="http://schemas.microsoft.com/office/drawing/2014/main" id="{A9798A0D-CC79-4537-9934-A17A53AD70ED}"/>
              </a:ext>
            </a:extLst>
          </p:cNvPr>
          <p:cNvSpPr>
            <a:spLocks xmlns:a="http://schemas.openxmlformats.org/drawingml/2006/main" noGrp="1"/>
          </p:cNvSpPr>
          <p:nvPr/>
        </p:nvSpPr>
        <p:spPr>
          <a:xfrm xmlns:a="http://schemas.openxmlformats.org/drawingml/2006/main">
            <a:off x="685800" y="1676400"/>
            <a:ext cx="8763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Chaque cas d'usage doit être présenté comme un flux métier visible, avec un avant, un après et des KPI de validation.</a:t>
            </a:r>
          </a:p>
        </p:txBody>
      </p:sp>
      <p:sp>
        <p:nvSpPr>
          <p:cNvPr id="5" name="">
            <a:extLst xmlns:a="http://schemas.openxmlformats.org/drawingml/2006/main">
              <a:ext uri="{FF2B5EF4-FFF2-40B4-BE49-F238E27FC236}">
                <a16:creationId xmlns:a16="http://schemas.microsoft.com/office/drawing/2014/main" id="{8FB26A20-D7C4-475D-835B-2DF9170A9B55}"/>
              </a:ext>
            </a:extLst>
          </p:cNvPr>
          <p:cNvSpPr>
            <a:spLocks xmlns:a="http://schemas.openxmlformats.org/drawingml/2006/main" noGrp="1"/>
          </p:cNvSpPr>
          <p:nvPr/>
        </p:nvSpPr>
        <p:spPr>
          <a:xfrm xmlns:a="http://schemas.openxmlformats.org/drawingml/2006/main">
            <a:off x="685800" y="2171700"/>
            <a:ext cx="5143500" cy="16383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6" name="">
            <a:extLst xmlns:a="http://schemas.openxmlformats.org/drawingml/2006/main">
              <a:ext uri="{FF2B5EF4-FFF2-40B4-BE49-F238E27FC236}">
                <a16:creationId xmlns:a16="http://schemas.microsoft.com/office/drawing/2014/main" id="{5E9C8E90-E3FF-4E64-B5DA-A84F960F94E8}"/>
              </a:ext>
            </a:extLst>
          </p:cNvPr>
          <p:cNvSpPr>
            <a:spLocks xmlns:a="http://schemas.openxmlformats.org/drawingml/2006/main" noGrp="1"/>
          </p:cNvSpPr>
          <p:nvPr/>
        </p:nvSpPr>
        <p:spPr>
          <a:xfrm xmlns:a="http://schemas.openxmlformats.org/drawingml/2006/main">
            <a:off x="857250" y="2343150"/>
            <a:ext cx="419100" cy="419100"/>
          </a:xfrm>
          <a:prstGeom xmlns:a="http://schemas.openxmlformats.org/drawingml/2006/main" prst="ellipse">
            <a:avLst/>
          </a:prstGeom>
          <a:solidFill xmlns:a="http://schemas.openxmlformats.org/drawingml/2006/main">
            <a:srgbClr val="E76F1D"/>
          </a:solidFill>
          <a:ln xmlns:a="http://schemas.openxmlformats.org/drawingml/2006/main" w="0">
            <a:solidFill>
              <a:srgbClr val="E76F1D"/>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438ce5baaf9448d3">
            <a:extLst>
              <a:ext uri="{96DAC541-7B7A-43D3-8B79-37D633B846F1}">
                <asvg:svgBlip xmlns:asvg="http://schemas.microsoft.com/office/drawing/2016/SVG/main" r:embed="R0f9f8389d1ce4db8"/>
              </a:ext>
            </a:extLst>
          </a:blip>
          <a:stretch xmlns:a="http://schemas.openxmlformats.org/drawingml/2006/main"/>
        </p:blipFill>
        <p:spPr>
          <a:xfrm xmlns:a="http://schemas.openxmlformats.org/drawingml/2006/main">
            <a:off x="952500" y="2438400"/>
            <a:ext cx="228600" cy="2286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626A872-766B-49A6-B4BF-E2A69B43DBF5}"/>
              </a:ext>
            </a:extLst>
          </p:cNvPr>
          <p:cNvSpPr>
            <a:spLocks xmlns:a="http://schemas.openxmlformats.org/drawingml/2006/main" noGrp="1"/>
          </p:cNvSpPr>
          <p:nvPr/>
        </p:nvSpPr>
        <p:spPr>
          <a:xfrm xmlns:a="http://schemas.openxmlformats.org/drawingml/2006/main">
            <a:off x="1409700" y="2381250"/>
            <a:ext cx="4229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1. Comptes professionnels et recouvrement</a:t>
            </a:r>
          </a:p>
        </p:txBody>
      </p:sp>
      <p:sp>
        <p:nvSpPr>
          <p:cNvPr id="9" name="">
            <a:extLst xmlns:a="http://schemas.openxmlformats.org/drawingml/2006/main">
              <a:ext uri="{FF2B5EF4-FFF2-40B4-BE49-F238E27FC236}">
                <a16:creationId xmlns:a16="http://schemas.microsoft.com/office/drawing/2014/main" id="{09E220D7-B2A4-465A-B4E6-53B14864FD43}"/>
              </a:ext>
            </a:extLst>
          </p:cNvPr>
          <p:cNvSpPr>
            <a:spLocks xmlns:a="http://schemas.openxmlformats.org/drawingml/2006/main" noGrp="1"/>
          </p:cNvSpPr>
          <p:nvPr/>
        </p:nvSpPr>
        <p:spPr>
          <a:xfrm xmlns:a="http://schemas.openxmlformats.org/drawingml/2006/main">
            <a:off x="895350" y="28003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10" name="">
            <a:extLst xmlns:a="http://schemas.openxmlformats.org/drawingml/2006/main">
              <a:ext uri="{FF2B5EF4-FFF2-40B4-BE49-F238E27FC236}">
                <a16:creationId xmlns:a16="http://schemas.microsoft.com/office/drawing/2014/main" id="{F52BAA2A-3A07-4B18-B751-01C45781F469}"/>
              </a:ext>
            </a:extLst>
          </p:cNvPr>
          <p:cNvSpPr>
            <a:spLocks xmlns:a="http://schemas.openxmlformats.org/drawingml/2006/main" noGrp="1"/>
          </p:cNvSpPr>
          <p:nvPr/>
        </p:nvSpPr>
        <p:spPr>
          <a:xfrm xmlns:a="http://schemas.openxmlformats.org/drawingml/2006/main">
            <a:off x="895350" y="2971800"/>
            <a:ext cx="4724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Relances, revues de portefeuille et synthèses commerciales dispersées entre plusieurs supports.</a:t>
            </a:r>
          </a:p>
        </p:txBody>
      </p:sp>
      <p:sp>
        <p:nvSpPr>
          <p:cNvPr id="11" name="">
            <a:extLst xmlns:a="http://schemas.openxmlformats.org/drawingml/2006/main">
              <a:ext uri="{FF2B5EF4-FFF2-40B4-BE49-F238E27FC236}">
                <a16:creationId xmlns:a16="http://schemas.microsoft.com/office/drawing/2014/main" id="{F62D7721-85BC-40C5-A849-C568DCA2FDCE}"/>
              </a:ext>
            </a:extLst>
          </p:cNvPr>
          <p:cNvSpPr>
            <a:spLocks xmlns:a="http://schemas.openxmlformats.org/drawingml/2006/main" noGrp="1"/>
          </p:cNvSpPr>
          <p:nvPr/>
        </p:nvSpPr>
        <p:spPr>
          <a:xfrm xmlns:a="http://schemas.openxmlformats.org/drawingml/2006/main">
            <a:off x="895350" y="34099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12" name="">
            <a:extLst xmlns:a="http://schemas.openxmlformats.org/drawingml/2006/main">
              <a:ext uri="{FF2B5EF4-FFF2-40B4-BE49-F238E27FC236}">
                <a16:creationId xmlns:a16="http://schemas.microsoft.com/office/drawing/2014/main" id="{104D213E-BBDD-4F1D-9DDC-79BA21449CB5}"/>
              </a:ext>
            </a:extLst>
          </p:cNvPr>
          <p:cNvSpPr>
            <a:spLocks xmlns:a="http://schemas.openxmlformats.org/drawingml/2006/main" noGrp="1"/>
          </p:cNvSpPr>
          <p:nvPr/>
        </p:nvSpPr>
        <p:spPr>
          <a:xfrm xmlns:a="http://schemas.openxmlformats.org/drawingml/2006/main">
            <a:off x="895350" y="3581400"/>
            <a:ext cx="47244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Assistant de préparation, synthèse portefeuille, priorisation des comptes à risque et routines de suivi mieux standardisées.</a:t>
            </a:r>
          </a:p>
        </p:txBody>
      </p:sp>
      <p:sp>
        <p:nvSpPr>
          <p:cNvPr id="13" name="">
            <a:extLst xmlns:a="http://schemas.openxmlformats.org/drawingml/2006/main">
              <a:ext uri="{FF2B5EF4-FFF2-40B4-BE49-F238E27FC236}">
                <a16:creationId xmlns:a16="http://schemas.microsoft.com/office/drawing/2014/main" id="{90F1305E-33E2-4D0F-98D4-61EAEBA3E506}"/>
              </a:ext>
            </a:extLst>
          </p:cNvPr>
          <p:cNvSpPr>
            <a:spLocks xmlns:a="http://schemas.openxmlformats.org/drawingml/2006/main" noGrp="1"/>
          </p:cNvSpPr>
          <p:nvPr/>
        </p:nvSpPr>
        <p:spPr>
          <a:xfrm xmlns:a="http://schemas.openxmlformats.org/drawingml/2006/main">
            <a:off x="6096000" y="2171700"/>
            <a:ext cx="5410200" cy="16383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4" name="">
            <a:extLst xmlns:a="http://schemas.openxmlformats.org/drawingml/2006/main">
              <a:ext uri="{FF2B5EF4-FFF2-40B4-BE49-F238E27FC236}">
                <a16:creationId xmlns:a16="http://schemas.microsoft.com/office/drawing/2014/main" id="{B2507774-9828-4A93-9A51-E9151C90157B}"/>
              </a:ext>
            </a:extLst>
          </p:cNvPr>
          <p:cNvSpPr>
            <a:spLocks xmlns:a="http://schemas.openxmlformats.org/drawingml/2006/main" noGrp="1"/>
          </p:cNvSpPr>
          <p:nvPr/>
        </p:nvSpPr>
        <p:spPr>
          <a:xfrm xmlns:a="http://schemas.openxmlformats.org/drawingml/2006/main">
            <a:off x="6267450" y="2343150"/>
            <a:ext cx="419100" cy="419100"/>
          </a:xfrm>
          <a:prstGeom xmlns:a="http://schemas.openxmlformats.org/drawingml/2006/main" prst="ellipse">
            <a:avLst/>
          </a:prstGeom>
          <a:solidFill xmlns:a="http://schemas.openxmlformats.org/drawingml/2006/main">
            <a:srgbClr val="1C8A78"/>
          </a:solidFill>
          <a:ln xmlns:a="http://schemas.openxmlformats.org/drawingml/2006/main" w="0">
            <a:solidFill>
              <a:srgbClr val="1C8A78"/>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5d40b44b3a5f4b89">
            <a:extLst>
              <a:ext uri="{96DAC541-7B7A-43D3-8B79-37D633B846F1}">
                <asvg:svgBlip xmlns:asvg="http://schemas.microsoft.com/office/drawing/2016/SVG/main" r:embed="Rebad49f300b444b8"/>
              </a:ext>
            </a:extLst>
          </a:blip>
          <a:stretch xmlns:a="http://schemas.openxmlformats.org/drawingml/2006/main"/>
        </p:blipFill>
        <p:spPr>
          <a:xfrm xmlns:a="http://schemas.openxmlformats.org/drawingml/2006/main">
            <a:off x="6362700" y="2438400"/>
            <a:ext cx="228600" cy="2286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62221A4D-D2EE-46A7-8264-1A5BE966CC90}"/>
              </a:ext>
            </a:extLst>
          </p:cNvPr>
          <p:cNvSpPr>
            <a:spLocks xmlns:a="http://schemas.openxmlformats.org/drawingml/2006/main" noGrp="1"/>
          </p:cNvSpPr>
          <p:nvPr/>
        </p:nvSpPr>
        <p:spPr>
          <a:xfrm xmlns:a="http://schemas.openxmlformats.org/drawingml/2006/main">
            <a:off x="6819900" y="2381250"/>
            <a:ext cx="4495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2. Flotte, cartes carburant et consommation</a:t>
            </a:r>
          </a:p>
        </p:txBody>
      </p:sp>
      <p:sp>
        <p:nvSpPr>
          <p:cNvPr id="17" name="">
            <a:extLst xmlns:a="http://schemas.openxmlformats.org/drawingml/2006/main">
              <a:ext uri="{FF2B5EF4-FFF2-40B4-BE49-F238E27FC236}">
                <a16:creationId xmlns:a16="http://schemas.microsoft.com/office/drawing/2014/main" id="{28270AEC-A214-4230-80B8-8D0B7A04334B}"/>
              </a:ext>
            </a:extLst>
          </p:cNvPr>
          <p:cNvSpPr>
            <a:spLocks xmlns:a="http://schemas.openxmlformats.org/drawingml/2006/main" noGrp="1"/>
          </p:cNvSpPr>
          <p:nvPr/>
        </p:nvSpPr>
        <p:spPr>
          <a:xfrm xmlns:a="http://schemas.openxmlformats.org/drawingml/2006/main">
            <a:off x="6305550" y="28003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18" name="">
            <a:extLst xmlns:a="http://schemas.openxmlformats.org/drawingml/2006/main">
              <a:ext uri="{FF2B5EF4-FFF2-40B4-BE49-F238E27FC236}">
                <a16:creationId xmlns:a16="http://schemas.microsoft.com/office/drawing/2014/main" id="{4F23872F-347D-4011-980D-97EC1ABC7C52}"/>
              </a:ext>
            </a:extLst>
          </p:cNvPr>
          <p:cNvSpPr>
            <a:spLocks xmlns:a="http://schemas.openxmlformats.org/drawingml/2006/main" noGrp="1"/>
          </p:cNvSpPr>
          <p:nvPr/>
        </p:nvSpPr>
        <p:spPr>
          <a:xfrm xmlns:a="http://schemas.openxmlformats.org/drawingml/2006/main">
            <a:off x="6305550" y="2971800"/>
            <a:ext cx="49911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Vision fragmentée des consommations, des écarts et des commentaires d'analyse.</a:t>
            </a:r>
          </a:p>
        </p:txBody>
      </p:sp>
      <p:sp>
        <p:nvSpPr>
          <p:cNvPr id="19" name="">
            <a:extLst xmlns:a="http://schemas.openxmlformats.org/drawingml/2006/main">
              <a:ext uri="{FF2B5EF4-FFF2-40B4-BE49-F238E27FC236}">
                <a16:creationId xmlns:a16="http://schemas.microsoft.com/office/drawing/2014/main" id="{EC233B85-7B94-4BC9-ABE5-D6E93F96D572}"/>
              </a:ext>
            </a:extLst>
          </p:cNvPr>
          <p:cNvSpPr>
            <a:spLocks xmlns:a="http://schemas.openxmlformats.org/drawingml/2006/main" noGrp="1"/>
          </p:cNvSpPr>
          <p:nvPr/>
        </p:nvSpPr>
        <p:spPr>
          <a:xfrm xmlns:a="http://schemas.openxmlformats.org/drawingml/2006/main">
            <a:off x="6305550" y="34099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20" name="">
            <a:extLst xmlns:a="http://schemas.openxmlformats.org/drawingml/2006/main">
              <a:ext uri="{FF2B5EF4-FFF2-40B4-BE49-F238E27FC236}">
                <a16:creationId xmlns:a16="http://schemas.microsoft.com/office/drawing/2014/main" id="{706CCF4B-2AFB-4096-92BC-A80A357F294A}"/>
              </a:ext>
            </a:extLst>
          </p:cNvPr>
          <p:cNvSpPr>
            <a:spLocks xmlns:a="http://schemas.openxmlformats.org/drawingml/2006/main" noGrp="1"/>
          </p:cNvSpPr>
          <p:nvPr/>
        </p:nvSpPr>
        <p:spPr>
          <a:xfrm xmlns:a="http://schemas.openxmlformats.org/drawingml/2006/main">
            <a:off x="6305550" y="3581400"/>
            <a:ext cx="49911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Tableau de bord consolidé, alertes simples sur anomalies et meilleure lecture des coûts par véhicule, site ou période.</a:t>
            </a:r>
          </a:p>
        </p:txBody>
      </p:sp>
      <p:sp>
        <p:nvSpPr>
          <p:cNvPr id="21" name="">
            <a:extLst xmlns:a="http://schemas.openxmlformats.org/drawingml/2006/main">
              <a:ext uri="{FF2B5EF4-FFF2-40B4-BE49-F238E27FC236}">
                <a16:creationId xmlns:a16="http://schemas.microsoft.com/office/drawing/2014/main" id="{B3238F5C-3A75-420B-A069-8410E6D5E9A1}"/>
              </a:ext>
            </a:extLst>
          </p:cNvPr>
          <p:cNvSpPr>
            <a:spLocks xmlns:a="http://schemas.openxmlformats.org/drawingml/2006/main" noGrp="1"/>
          </p:cNvSpPr>
          <p:nvPr/>
        </p:nvSpPr>
        <p:spPr>
          <a:xfrm xmlns:a="http://schemas.openxmlformats.org/drawingml/2006/main">
            <a:off x="685800" y="4038600"/>
            <a:ext cx="5143500" cy="16383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22" name="">
            <a:extLst xmlns:a="http://schemas.openxmlformats.org/drawingml/2006/main">
              <a:ext uri="{FF2B5EF4-FFF2-40B4-BE49-F238E27FC236}">
                <a16:creationId xmlns:a16="http://schemas.microsoft.com/office/drawing/2014/main" id="{D3E4873A-8F0A-42EF-9A4F-0EF051B40B76}"/>
              </a:ext>
            </a:extLst>
          </p:cNvPr>
          <p:cNvSpPr>
            <a:spLocks xmlns:a="http://schemas.openxmlformats.org/drawingml/2006/main" noGrp="1"/>
          </p:cNvSpPr>
          <p:nvPr/>
        </p:nvSpPr>
        <p:spPr>
          <a:xfrm xmlns:a="http://schemas.openxmlformats.org/drawingml/2006/main">
            <a:off x="857250" y="4210050"/>
            <a:ext cx="419100" cy="419100"/>
          </a:xfrm>
          <a:prstGeom xmlns:a="http://schemas.openxmlformats.org/drawingml/2006/main" prst="ellipse">
            <a:avLst/>
          </a:prstGeom>
          <a:solidFill xmlns:a="http://schemas.openxmlformats.org/drawingml/2006/main">
            <a:srgbClr val="163556"/>
          </a:solidFill>
          <a:ln xmlns:a="http://schemas.openxmlformats.org/drawingml/2006/main" w="0">
            <a:solidFill>
              <a:srgbClr val="163556"/>
            </a:solidFill>
            <a:prstDash val="solid"/>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012a3c7e709e4b2d">
            <a:extLst>
              <a:ext uri="{96DAC541-7B7A-43D3-8B79-37D633B846F1}">
                <asvg:svgBlip xmlns:asvg="http://schemas.microsoft.com/office/drawing/2016/SVG/main" r:embed="Ra34c3e1fcaf3475e"/>
              </a:ext>
            </a:extLst>
          </a:blip>
          <a:stretch xmlns:a="http://schemas.openxmlformats.org/drawingml/2006/main"/>
        </p:blipFill>
        <p:spPr>
          <a:xfrm xmlns:a="http://schemas.openxmlformats.org/drawingml/2006/main">
            <a:off x="952500" y="4305300"/>
            <a:ext cx="228600" cy="2286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EBB5C73B-5BF2-47DB-8AEA-FC65233BE38F}"/>
              </a:ext>
            </a:extLst>
          </p:cNvPr>
          <p:cNvSpPr>
            <a:spLocks xmlns:a="http://schemas.openxmlformats.org/drawingml/2006/main" noGrp="1"/>
          </p:cNvSpPr>
          <p:nvPr/>
        </p:nvSpPr>
        <p:spPr>
          <a:xfrm xmlns:a="http://schemas.openxmlformats.org/drawingml/2006/main">
            <a:off x="1409700" y="4248150"/>
            <a:ext cx="42291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3. Service client / service auto</a:t>
            </a:r>
          </a:p>
        </p:txBody>
      </p:sp>
      <p:sp>
        <p:nvSpPr>
          <p:cNvPr id="25" name="">
            <a:extLst xmlns:a="http://schemas.openxmlformats.org/drawingml/2006/main">
              <a:ext uri="{FF2B5EF4-FFF2-40B4-BE49-F238E27FC236}">
                <a16:creationId xmlns:a16="http://schemas.microsoft.com/office/drawing/2014/main" id="{BB97B1C9-28A1-491D-8DFA-93441CD827AB}"/>
              </a:ext>
            </a:extLst>
          </p:cNvPr>
          <p:cNvSpPr>
            <a:spLocks xmlns:a="http://schemas.openxmlformats.org/drawingml/2006/main" noGrp="1"/>
          </p:cNvSpPr>
          <p:nvPr/>
        </p:nvSpPr>
        <p:spPr>
          <a:xfrm xmlns:a="http://schemas.openxmlformats.org/drawingml/2006/main">
            <a:off x="895350" y="46672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26" name="">
            <a:extLst xmlns:a="http://schemas.openxmlformats.org/drawingml/2006/main">
              <a:ext uri="{FF2B5EF4-FFF2-40B4-BE49-F238E27FC236}">
                <a16:creationId xmlns:a16="http://schemas.microsoft.com/office/drawing/2014/main" id="{630AE3DF-590D-4EE1-B330-DD9E923432B1}"/>
              </a:ext>
            </a:extLst>
          </p:cNvPr>
          <p:cNvSpPr>
            <a:spLocks xmlns:a="http://schemas.openxmlformats.org/drawingml/2006/main" noGrp="1"/>
          </p:cNvSpPr>
          <p:nvPr/>
        </p:nvSpPr>
        <p:spPr>
          <a:xfrm xmlns:a="http://schemas.openxmlformats.org/drawingml/2006/main">
            <a:off x="895350" y="4838700"/>
            <a:ext cx="4724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Demandes récurrentes, scripts variables et historique pas toujours exploitable pour mieux servir.</a:t>
            </a:r>
          </a:p>
        </p:txBody>
      </p:sp>
      <p:sp>
        <p:nvSpPr>
          <p:cNvPr id="27" name="">
            <a:extLst xmlns:a="http://schemas.openxmlformats.org/drawingml/2006/main">
              <a:ext uri="{FF2B5EF4-FFF2-40B4-BE49-F238E27FC236}">
                <a16:creationId xmlns:a16="http://schemas.microsoft.com/office/drawing/2014/main" id="{B522EAE9-5B0A-4999-BB2C-743753C7FE37}"/>
              </a:ext>
            </a:extLst>
          </p:cNvPr>
          <p:cNvSpPr>
            <a:spLocks xmlns:a="http://schemas.openxmlformats.org/drawingml/2006/main" noGrp="1"/>
          </p:cNvSpPr>
          <p:nvPr/>
        </p:nvSpPr>
        <p:spPr>
          <a:xfrm xmlns:a="http://schemas.openxmlformats.org/drawingml/2006/main">
            <a:off x="895350" y="52768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28" name="">
            <a:extLst xmlns:a="http://schemas.openxmlformats.org/drawingml/2006/main">
              <a:ext uri="{FF2B5EF4-FFF2-40B4-BE49-F238E27FC236}">
                <a16:creationId xmlns:a16="http://schemas.microsoft.com/office/drawing/2014/main" id="{11C2338D-A954-4ED6-AD04-0C852D936068}"/>
              </a:ext>
            </a:extLst>
          </p:cNvPr>
          <p:cNvSpPr>
            <a:spLocks xmlns:a="http://schemas.openxmlformats.org/drawingml/2006/main" noGrp="1"/>
          </p:cNvSpPr>
          <p:nvPr/>
        </p:nvSpPr>
        <p:spPr>
          <a:xfrm xmlns:a="http://schemas.openxmlformats.org/drawingml/2006/main">
            <a:off x="895350" y="5448300"/>
            <a:ext cx="47244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FAQ assistée, canevas de réponse, suivi plus continu et meilleur niveau de réactivité opérationnelle.</a:t>
            </a:r>
          </a:p>
        </p:txBody>
      </p:sp>
      <p:sp>
        <p:nvSpPr>
          <p:cNvPr id="29" name="">
            <a:extLst xmlns:a="http://schemas.openxmlformats.org/drawingml/2006/main">
              <a:ext uri="{FF2B5EF4-FFF2-40B4-BE49-F238E27FC236}">
                <a16:creationId xmlns:a16="http://schemas.microsoft.com/office/drawing/2014/main" id="{DF617314-C3A8-4D34-AA02-AD14AB85E5D8}"/>
              </a:ext>
            </a:extLst>
          </p:cNvPr>
          <p:cNvSpPr>
            <a:spLocks xmlns:a="http://schemas.openxmlformats.org/drawingml/2006/main" noGrp="1"/>
          </p:cNvSpPr>
          <p:nvPr/>
        </p:nvSpPr>
        <p:spPr>
          <a:xfrm xmlns:a="http://schemas.openxmlformats.org/drawingml/2006/main">
            <a:off x="6096000" y="4038600"/>
            <a:ext cx="5410200" cy="16383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30" name="">
            <a:extLst xmlns:a="http://schemas.openxmlformats.org/drawingml/2006/main">
              <a:ext uri="{FF2B5EF4-FFF2-40B4-BE49-F238E27FC236}">
                <a16:creationId xmlns:a16="http://schemas.microsoft.com/office/drawing/2014/main" id="{D8056D98-4718-4A6B-B126-57206D9027A7}"/>
              </a:ext>
            </a:extLst>
          </p:cNvPr>
          <p:cNvSpPr>
            <a:spLocks xmlns:a="http://schemas.openxmlformats.org/drawingml/2006/main" noGrp="1"/>
          </p:cNvSpPr>
          <p:nvPr/>
        </p:nvSpPr>
        <p:spPr>
          <a:xfrm xmlns:a="http://schemas.openxmlformats.org/drawingml/2006/main">
            <a:off x="6267450" y="4210050"/>
            <a:ext cx="419100" cy="419100"/>
          </a:xfrm>
          <a:prstGeom xmlns:a="http://schemas.openxmlformats.org/drawingml/2006/main" prst="ellipse">
            <a:avLst/>
          </a:prstGeom>
          <a:solidFill xmlns:a="http://schemas.openxmlformats.org/drawingml/2006/main">
            <a:srgbClr val="C88C3A"/>
          </a:solidFill>
          <a:ln xmlns:a="http://schemas.openxmlformats.org/drawingml/2006/main" w="0">
            <a:solidFill>
              <a:srgbClr val="C88C3A"/>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66d7d2df56284653">
            <a:extLst>
              <a:ext uri="{96DAC541-7B7A-43D3-8B79-37D633B846F1}">
                <asvg:svgBlip xmlns:asvg="http://schemas.microsoft.com/office/drawing/2016/SVG/main" r:embed="Rcf74336dc54d4fcb"/>
              </a:ext>
            </a:extLst>
          </a:blip>
          <a:stretch xmlns:a="http://schemas.openxmlformats.org/drawingml/2006/main"/>
        </p:blipFill>
        <p:spPr>
          <a:xfrm xmlns:a="http://schemas.openxmlformats.org/drawingml/2006/main">
            <a:off x="6362700" y="4305300"/>
            <a:ext cx="228600" cy="228600"/>
          </a:xfrm>
          <a:prstGeom xmlns:a="http://schemas.openxmlformats.org/drawingml/2006/main" prst="rect">
            <a:avLst/>
          </a:prstGeom>
        </p:spPr>
      </p:pic>
      <p:sp>
        <p:nvSpPr>
          <p:cNvPr id="32" name="">
            <a:extLst xmlns:a="http://schemas.openxmlformats.org/drawingml/2006/main">
              <a:ext uri="{FF2B5EF4-FFF2-40B4-BE49-F238E27FC236}">
                <a16:creationId xmlns:a16="http://schemas.microsoft.com/office/drawing/2014/main" id="{9FAEAB07-7E70-48D7-AEC8-5DBB57A1FE30}"/>
              </a:ext>
            </a:extLst>
          </p:cNvPr>
          <p:cNvSpPr>
            <a:spLocks xmlns:a="http://schemas.openxmlformats.org/drawingml/2006/main" noGrp="1"/>
          </p:cNvSpPr>
          <p:nvPr/>
        </p:nvSpPr>
        <p:spPr>
          <a:xfrm xmlns:a="http://schemas.openxmlformats.org/drawingml/2006/main">
            <a:off x="6819900" y="4248150"/>
            <a:ext cx="4495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63" b="1">
                <a:solidFill>
                  <a:srgbClr val="1A3554"/>
                </a:solidFill>
                <a:latin typeface="Aptos Display"/>
                <a:ea typeface="Aptos Display"/>
                <a:cs typeface="Aptos Display"/>
              </a:defRPr>
            </a:pPr>
            <a:r>
              <a:rPr sz="1163" b="1">
                <a:solidFill>
                  <a:srgbClr val="1A3554"/>
                </a:solidFill>
                <a:latin typeface="Aptos Display"/>
                <a:ea typeface="Aptos Display"/>
                <a:cs typeface="Aptos Display"/>
              </a:rPr>
              <a:t>4. Procédures internes et base de connaissances</a:t>
            </a:r>
          </a:p>
        </p:txBody>
      </p:sp>
      <p:sp>
        <p:nvSpPr>
          <p:cNvPr id="33" name="">
            <a:extLst xmlns:a="http://schemas.openxmlformats.org/drawingml/2006/main">
              <a:ext uri="{FF2B5EF4-FFF2-40B4-BE49-F238E27FC236}">
                <a16:creationId xmlns:a16="http://schemas.microsoft.com/office/drawing/2014/main" id="{55F9EA85-035D-4520-9B1F-EAA6F89FFE78}"/>
              </a:ext>
            </a:extLst>
          </p:cNvPr>
          <p:cNvSpPr>
            <a:spLocks xmlns:a="http://schemas.openxmlformats.org/drawingml/2006/main" noGrp="1"/>
          </p:cNvSpPr>
          <p:nvPr/>
        </p:nvSpPr>
        <p:spPr>
          <a:xfrm xmlns:a="http://schemas.openxmlformats.org/drawingml/2006/main">
            <a:off x="6305550" y="46672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E76F1D"/>
                </a:solidFill>
                <a:latin typeface="Aptos"/>
                <a:ea typeface="Aptos"/>
                <a:cs typeface="Aptos"/>
              </a:defRPr>
            </a:pPr>
            <a:r>
              <a:rPr sz="675" b="1">
                <a:solidFill>
                  <a:srgbClr val="E76F1D"/>
                </a:solidFill>
                <a:latin typeface="Aptos"/>
                <a:ea typeface="Aptos"/>
                <a:cs typeface="Aptos"/>
              </a:rPr>
              <a:t>AVANT</a:t>
            </a:r>
          </a:p>
        </p:txBody>
      </p:sp>
      <p:sp>
        <p:nvSpPr>
          <p:cNvPr id="34" name="">
            <a:extLst xmlns:a="http://schemas.openxmlformats.org/drawingml/2006/main">
              <a:ext uri="{FF2B5EF4-FFF2-40B4-BE49-F238E27FC236}">
                <a16:creationId xmlns:a16="http://schemas.microsoft.com/office/drawing/2014/main" id="{E4B09D7C-40A3-48F5-8115-A318AC26C3D3}"/>
              </a:ext>
            </a:extLst>
          </p:cNvPr>
          <p:cNvSpPr>
            <a:spLocks xmlns:a="http://schemas.openxmlformats.org/drawingml/2006/main" noGrp="1"/>
          </p:cNvSpPr>
          <p:nvPr/>
        </p:nvSpPr>
        <p:spPr>
          <a:xfrm xmlns:a="http://schemas.openxmlformats.org/drawingml/2006/main">
            <a:off x="6305550" y="4838700"/>
            <a:ext cx="49911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617086"/>
                </a:solidFill>
                <a:latin typeface="Aptos"/>
                <a:ea typeface="Aptos"/>
                <a:cs typeface="Aptos"/>
              </a:defRPr>
            </a:pPr>
            <a:r>
              <a:rPr sz="863" b="0">
                <a:solidFill>
                  <a:srgbClr val="617086"/>
                </a:solidFill>
                <a:latin typeface="Aptos"/>
                <a:ea typeface="Aptos"/>
                <a:cs typeface="Aptos"/>
              </a:rPr>
              <a:t>Procédures, standards et bonnes réponses éparpillés, donc difficilement réutilisables à grande échelle.</a:t>
            </a:r>
          </a:p>
        </p:txBody>
      </p:sp>
      <p:sp>
        <p:nvSpPr>
          <p:cNvPr id="35" name="">
            <a:extLst xmlns:a="http://schemas.openxmlformats.org/drawingml/2006/main">
              <a:ext uri="{FF2B5EF4-FFF2-40B4-BE49-F238E27FC236}">
                <a16:creationId xmlns:a16="http://schemas.microsoft.com/office/drawing/2014/main" id="{4D6A729F-70AA-4DBF-A194-BC040F3EA3A2}"/>
              </a:ext>
            </a:extLst>
          </p:cNvPr>
          <p:cNvSpPr>
            <a:spLocks xmlns:a="http://schemas.openxmlformats.org/drawingml/2006/main" noGrp="1"/>
          </p:cNvSpPr>
          <p:nvPr/>
        </p:nvSpPr>
        <p:spPr>
          <a:xfrm xmlns:a="http://schemas.openxmlformats.org/drawingml/2006/main">
            <a:off x="6305550" y="5276850"/>
            <a:ext cx="762000" cy="133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75" b="1">
                <a:solidFill>
                  <a:srgbClr val="1C8A78"/>
                </a:solidFill>
                <a:latin typeface="Aptos"/>
                <a:ea typeface="Aptos"/>
                <a:cs typeface="Aptos"/>
              </a:defRPr>
            </a:pPr>
            <a:r>
              <a:rPr sz="675" b="1">
                <a:solidFill>
                  <a:srgbClr val="1C8A78"/>
                </a:solidFill>
                <a:latin typeface="Aptos"/>
                <a:ea typeface="Aptos"/>
                <a:cs typeface="Aptos"/>
              </a:rPr>
              <a:t>APRÈS</a:t>
            </a:r>
          </a:p>
        </p:txBody>
      </p:sp>
      <p:sp>
        <p:nvSpPr>
          <p:cNvPr id="36" name="">
            <a:extLst xmlns:a="http://schemas.openxmlformats.org/drawingml/2006/main">
              <a:ext uri="{FF2B5EF4-FFF2-40B4-BE49-F238E27FC236}">
                <a16:creationId xmlns:a16="http://schemas.microsoft.com/office/drawing/2014/main" id="{493C1216-FDC0-4B9D-8B61-7AB3FCA47A69}"/>
              </a:ext>
            </a:extLst>
          </p:cNvPr>
          <p:cNvSpPr>
            <a:spLocks xmlns:a="http://schemas.openxmlformats.org/drawingml/2006/main" noGrp="1"/>
          </p:cNvSpPr>
          <p:nvPr/>
        </p:nvSpPr>
        <p:spPr>
          <a:xfrm xmlns:a="http://schemas.openxmlformats.org/drawingml/2006/main">
            <a:off x="6305550" y="5448300"/>
            <a:ext cx="4991100" cy="114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1A3554"/>
                </a:solidFill>
                <a:latin typeface="Aptos"/>
                <a:ea typeface="Aptos"/>
                <a:cs typeface="Aptos"/>
              </a:defRPr>
            </a:pPr>
            <a:r>
              <a:rPr sz="863" b="0">
                <a:solidFill>
                  <a:srgbClr val="1A3554"/>
                </a:solidFill>
                <a:latin typeface="Aptos"/>
                <a:ea typeface="Aptos"/>
                <a:cs typeface="Aptos"/>
              </a:rPr>
              <a:t>Base interne plus accessible, exécution plus homogène et réduction du temps de recherche pour les équipes.</a:t>
            </a:r>
          </a:p>
        </p:txBody>
      </p:sp>
      <p:sp>
        <p:nvSpPr>
          <p:cNvPr id="37" name="">
            <a:extLst xmlns:a="http://schemas.openxmlformats.org/drawingml/2006/main">
              <a:ext uri="{FF2B5EF4-FFF2-40B4-BE49-F238E27FC236}">
                <a16:creationId xmlns:a16="http://schemas.microsoft.com/office/drawing/2014/main" id="{427429DC-54BA-4063-B9F1-50ADB363FA62}"/>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38" name="">
            <a:extLst xmlns:a="http://schemas.openxmlformats.org/drawingml/2006/main">
              <a:ext uri="{FF2B5EF4-FFF2-40B4-BE49-F238E27FC236}">
                <a16:creationId xmlns:a16="http://schemas.microsoft.com/office/drawing/2014/main" id="{BA09C256-2AF2-4799-857C-D4260BF89162}"/>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deck institutionnel V3</a:t>
            </a:r>
          </a:p>
        </p:txBody>
      </p:sp>
      <p:sp>
        <p:nvSpPr>
          <p:cNvPr id="39" name="">
            <a:extLst xmlns:a="http://schemas.openxmlformats.org/drawingml/2006/main">
              <a:ext uri="{FF2B5EF4-FFF2-40B4-BE49-F238E27FC236}">
                <a16:creationId xmlns:a16="http://schemas.microsoft.com/office/drawing/2014/main" id="{12EC4958-F728-4BB8-9F3B-0F4273064B29}"/>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07</a:t>
            </a:r>
          </a:p>
        </p:txBody>
      </p:sp>
    </p:spTree>
    <p:extLst>
      <p:ext uri="{BB962C8B-B14F-4D97-AF65-F5344CB8AC3E}">
        <p14:creationId xmlns:p14="http://schemas.microsoft.com/office/powerpoint/2010/main" val="30095591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3EB79F6-5F8F-4A04-9BB7-799C1470EE0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D1B7155-604D-42DD-9EC1-6A2C09C28D9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3" name="">
            <a:extLst xmlns:a="http://schemas.openxmlformats.org/drawingml/2006/main">
              <a:ext uri="{FF2B5EF4-FFF2-40B4-BE49-F238E27FC236}">
                <a16:creationId xmlns:a16="http://schemas.microsoft.com/office/drawing/2014/main" id="{B2CF9C02-A25A-4975-8B9A-67CEFA8B6055}"/>
              </a:ext>
            </a:extLst>
          </p:cNvPr>
          <p:cNvSpPr>
            <a:spLocks xmlns:a="http://schemas.openxmlformats.org/drawingml/2006/main" noGrp="1"/>
          </p:cNvSpPr>
          <p:nvPr/>
        </p:nvSpPr>
        <p:spPr>
          <a:xfrm xmlns:a="http://schemas.openxmlformats.org/drawingml/2006/main">
            <a:off x="685800" y="1066800"/>
            <a:ext cx="76200" cy="4324350"/>
          </a:xfrm>
          <a:prstGeom xmlns:a="http://schemas.openxmlformats.org/drawingml/2006/main" prst="rect">
            <a:avLst/>
          </a:prstGeom>
          <a:solidFill xmlns:a="http://schemas.openxmlformats.org/drawingml/2006/main">
            <a:srgbClr val="1C8A78"/>
          </a:solidFill>
          <a:ln xmlns:a="http://schemas.openxmlformats.org/drawingml/2006/main" w="0">
            <a:solidFill>
              <a:srgbClr val="1C8A78"/>
            </a:solidFill>
            <a:prstDash val="solid"/>
          </a:ln>
        </p:spPr>
      </p:sp>
      <p:sp>
        <p:nvSpPr>
          <p:cNvPr id="4" name="">
            <a:extLst xmlns:a="http://schemas.openxmlformats.org/drawingml/2006/main">
              <a:ext uri="{FF2B5EF4-FFF2-40B4-BE49-F238E27FC236}">
                <a16:creationId xmlns:a16="http://schemas.microsoft.com/office/drawing/2014/main" id="{CE385B85-BD39-4BCF-8D50-45DE810131C2}"/>
              </a:ext>
            </a:extLst>
          </p:cNvPr>
          <p:cNvSpPr>
            <a:spLocks xmlns:a="http://schemas.openxmlformats.org/drawingml/2006/main" noGrp="1"/>
          </p:cNvSpPr>
          <p:nvPr/>
        </p:nvSpPr>
        <p:spPr>
          <a:xfrm xmlns:a="http://schemas.openxmlformats.org/drawingml/2006/main">
            <a:off x="990600" y="116205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CE QUE NOUS RECOMMANDONS</a:t>
            </a:r>
          </a:p>
        </p:txBody>
      </p:sp>
      <p:sp>
        <p:nvSpPr>
          <p:cNvPr id="5" name="">
            <a:extLst xmlns:a="http://schemas.openxmlformats.org/drawingml/2006/main">
              <a:ext uri="{FF2B5EF4-FFF2-40B4-BE49-F238E27FC236}">
                <a16:creationId xmlns:a16="http://schemas.microsoft.com/office/drawing/2014/main" id="{AE2E437C-9EC2-4298-9088-B849AEC14FC4}"/>
              </a:ext>
            </a:extLst>
          </p:cNvPr>
          <p:cNvSpPr>
            <a:spLocks xmlns:a="http://schemas.openxmlformats.org/drawingml/2006/main" noGrp="1"/>
          </p:cNvSpPr>
          <p:nvPr/>
        </p:nvSpPr>
        <p:spPr>
          <a:xfrm xmlns:a="http://schemas.openxmlformats.org/drawingml/2006/main">
            <a:off x="990600" y="1524000"/>
            <a:ext cx="6096000" cy="1295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Les slides qui transforment</a:t>
            </a:r>
          </a:p>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les enjeux en feuille de route</a:t>
            </a:r>
          </a:p>
          <a:p xmlns:a="http://schemas.openxmlformats.org/drawingml/2006/main">
            <a:pPr algn="l">
              <a:defRPr sz="3000" b="1">
                <a:solidFill>
                  <a:srgbClr val="FFFFFF"/>
                </a:solidFill>
                <a:latin typeface="Aptos Display"/>
                <a:ea typeface="Aptos Display"/>
                <a:cs typeface="Aptos Display"/>
              </a:defRPr>
            </a:pPr>
            <a:r>
              <a:rPr sz="3000" b="1">
                <a:solidFill>
                  <a:srgbClr val="FFFFFF"/>
                </a:solidFill>
                <a:latin typeface="Aptos Display"/>
                <a:ea typeface="Aptos Display"/>
                <a:cs typeface="Aptos Display"/>
              </a:rPr>
              <a:t>gouvernée.</a:t>
            </a:r>
          </a:p>
        </p:txBody>
      </p:sp>
      <p:sp>
        <p:nvSpPr>
          <p:cNvPr id="6" name="">
            <a:extLst xmlns:a="http://schemas.openxmlformats.org/drawingml/2006/main">
              <a:ext uri="{FF2B5EF4-FFF2-40B4-BE49-F238E27FC236}">
                <a16:creationId xmlns:a16="http://schemas.microsoft.com/office/drawing/2014/main" id="{58AA6345-5747-4112-9794-66EB44BDF39F}"/>
              </a:ext>
            </a:extLst>
          </p:cNvPr>
          <p:cNvSpPr>
            <a:spLocks xmlns:a="http://schemas.openxmlformats.org/drawingml/2006/main" noGrp="1"/>
          </p:cNvSpPr>
          <p:nvPr/>
        </p:nvSpPr>
        <p:spPr>
          <a:xfrm xmlns:a="http://schemas.openxmlformats.org/drawingml/2006/main">
            <a:off x="990600" y="3086100"/>
            <a:ext cx="5334000" cy="1066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D7E5F3"/>
                </a:solidFill>
                <a:latin typeface="Aptos"/>
                <a:ea typeface="Aptos"/>
                <a:cs typeface="Aptos"/>
              </a:defRPr>
            </a:pPr>
            <a:r>
              <a:rPr sz="1200" b="0">
                <a:solidFill>
                  <a:srgbClr val="D7E5F3"/>
                </a:solidFill>
                <a:latin typeface="Aptos"/>
                <a:ea typeface="Aptos"/>
                <a:cs typeface="Aptos"/>
              </a:rPr>
              <a:t>Cette deuxième partie du deck convertit les cas d'usage en feuille de route, en gouvernance et en prochaine étape institutionnelle simple.</a:t>
            </a:r>
          </a:p>
        </p:txBody>
      </p:sp>
      <p:sp>
        <p:nvSpPr>
          <p:cNvPr id="7" name="">
            <a:extLst xmlns:a="http://schemas.openxmlformats.org/drawingml/2006/main">
              <a:ext uri="{FF2B5EF4-FFF2-40B4-BE49-F238E27FC236}">
                <a16:creationId xmlns:a16="http://schemas.microsoft.com/office/drawing/2014/main" id="{D89CCADE-837F-4278-836F-79A8E74F1BAD}"/>
              </a:ext>
            </a:extLst>
          </p:cNvPr>
          <p:cNvSpPr>
            <a:spLocks xmlns:a="http://schemas.openxmlformats.org/drawingml/2006/main" noGrp="1"/>
          </p:cNvSpPr>
          <p:nvPr/>
        </p:nvSpPr>
        <p:spPr>
          <a:xfrm xmlns:a="http://schemas.openxmlformats.org/drawingml/2006/main">
            <a:off x="7410450" y="1257300"/>
            <a:ext cx="3752850" cy="161925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8" name="">
            <a:extLst xmlns:a="http://schemas.openxmlformats.org/drawingml/2006/main">
              <a:ext uri="{FF2B5EF4-FFF2-40B4-BE49-F238E27FC236}">
                <a16:creationId xmlns:a16="http://schemas.microsoft.com/office/drawing/2014/main" id="{BF3D8C11-1C12-4FB0-A50D-C4B47C9EFFEB}"/>
              </a:ext>
            </a:extLst>
          </p:cNvPr>
          <p:cNvSpPr>
            <a:spLocks xmlns:a="http://schemas.openxmlformats.org/drawingml/2006/main" noGrp="1"/>
          </p:cNvSpPr>
          <p:nvPr/>
        </p:nvSpPr>
        <p:spPr>
          <a:xfrm xmlns:a="http://schemas.openxmlformats.org/drawingml/2006/main">
            <a:off x="7658100" y="1485900"/>
            <a:ext cx="2095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D7E5F3"/>
                </a:solidFill>
                <a:latin typeface="Aptos"/>
                <a:ea typeface="Aptos"/>
                <a:cs typeface="Aptos"/>
              </a:defRPr>
            </a:pPr>
            <a:r>
              <a:rPr sz="750" b="1">
                <a:solidFill>
                  <a:srgbClr val="D7E5F3"/>
                </a:solidFill>
                <a:latin typeface="Aptos"/>
                <a:ea typeface="Aptos"/>
                <a:cs typeface="Aptos"/>
              </a:rPr>
              <a:t>Ce que le prospect doit retenir</a:t>
            </a:r>
          </a:p>
        </p:txBody>
      </p:sp>
      <p:sp>
        <p:nvSpPr>
          <p:cNvPr id="9" name="">
            <a:extLst xmlns:a="http://schemas.openxmlformats.org/drawingml/2006/main">
              <a:ext uri="{FF2B5EF4-FFF2-40B4-BE49-F238E27FC236}">
                <a16:creationId xmlns:a16="http://schemas.microsoft.com/office/drawing/2014/main" id="{6D1EBDF1-6C7E-4A1E-9C3E-644FFAC77EC1}"/>
              </a:ext>
            </a:extLst>
          </p:cNvPr>
          <p:cNvSpPr>
            <a:spLocks xmlns:a="http://schemas.openxmlformats.org/drawingml/2006/main" noGrp="1"/>
          </p:cNvSpPr>
          <p:nvPr/>
        </p:nvSpPr>
        <p:spPr>
          <a:xfrm xmlns:a="http://schemas.openxmlformats.org/drawingml/2006/main">
            <a:off x="7658100" y="1733550"/>
            <a:ext cx="32575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13" b="1">
                <a:solidFill>
                  <a:srgbClr val="FFFFFF"/>
                </a:solidFill>
                <a:latin typeface="Aptos"/>
                <a:ea typeface="Aptos"/>
                <a:cs typeface="Aptos"/>
              </a:defRPr>
            </a:pPr>
            <a:r>
              <a:rPr sz="1013" b="1">
                <a:solidFill>
                  <a:srgbClr val="FFFFFF"/>
                </a:solidFill>
                <a:latin typeface="Aptos"/>
                <a:ea typeface="Aptos"/>
                <a:cs typeface="Aptos"/>
              </a:rPr>
              <a:t>TransferAI aide à choisir un premier terrain, à cadrer le pilote, à former les bonnes équipes et à mesurer si l'extension est justifiée dans un cadre maîtrisé.</a:t>
            </a:r>
          </a:p>
        </p:txBody>
      </p:sp>
      <p:sp>
        <p:nvSpPr>
          <p:cNvPr id="10" name="">
            <a:extLst xmlns:a="http://schemas.openxmlformats.org/drawingml/2006/main">
              <a:ext uri="{FF2B5EF4-FFF2-40B4-BE49-F238E27FC236}">
                <a16:creationId xmlns:a16="http://schemas.microsoft.com/office/drawing/2014/main" id="{20AAA7D9-B184-458F-9859-BB6B63DD5CC5}"/>
              </a:ext>
            </a:extLst>
          </p:cNvPr>
          <p:cNvSpPr>
            <a:spLocks xmlns:a="http://schemas.openxmlformats.org/drawingml/2006/main" noGrp="1"/>
          </p:cNvSpPr>
          <p:nvPr/>
        </p:nvSpPr>
        <p:spPr>
          <a:xfrm xmlns:a="http://schemas.openxmlformats.org/drawingml/2006/main">
            <a:off x="7410450" y="3200400"/>
            <a:ext cx="3752850" cy="1695450"/>
          </a:xfrm>
          <a:prstGeom xmlns:a="http://schemas.openxmlformats.org/drawingml/2006/main" prst="rect">
            <a:avLst/>
          </a:prstGeom>
          <a:solidFill xmlns:a="http://schemas.openxmlformats.org/drawingml/2006/main">
            <a:srgbClr val="10263F"/>
          </a:solidFill>
          <a:ln xmlns:a="http://schemas.openxmlformats.org/drawingml/2006/main" w="9525">
            <a:solidFill>
              <a:srgbClr val="2F587F"/>
            </a:solidFill>
            <a:prstDash val="solid"/>
          </a:ln>
        </p:spPr>
      </p:sp>
      <p:sp>
        <p:nvSpPr>
          <p:cNvPr id="11" name="">
            <a:extLst xmlns:a="http://schemas.openxmlformats.org/drawingml/2006/main">
              <a:ext uri="{FF2B5EF4-FFF2-40B4-BE49-F238E27FC236}">
                <a16:creationId xmlns:a16="http://schemas.microsoft.com/office/drawing/2014/main" id="{6AAEC49E-D3C2-4099-82A7-113A9858FB34}"/>
              </a:ext>
            </a:extLst>
          </p:cNvPr>
          <p:cNvSpPr>
            <a:spLocks xmlns:a="http://schemas.openxmlformats.org/drawingml/2006/main" noGrp="1"/>
          </p:cNvSpPr>
          <p:nvPr/>
        </p:nvSpPr>
        <p:spPr>
          <a:xfrm xmlns:a="http://schemas.openxmlformats.org/drawingml/2006/main">
            <a:off x="7658100" y="34290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CFE0F0"/>
                </a:solidFill>
                <a:latin typeface="Aptos"/>
                <a:ea typeface="Aptos"/>
                <a:cs typeface="Aptos"/>
              </a:defRPr>
            </a:pPr>
            <a:r>
              <a:rPr sz="750" b="1">
                <a:solidFill>
                  <a:srgbClr val="CFE0F0"/>
                </a:solidFill>
                <a:latin typeface="Aptos"/>
                <a:ea typeface="Aptos"/>
                <a:cs typeface="Aptos"/>
              </a:rPr>
              <a:t>Fil conducteur</a:t>
            </a:r>
          </a:p>
        </p:txBody>
      </p:sp>
      <p:sp>
        <p:nvSpPr>
          <p:cNvPr id="12" name="">
            <a:extLst xmlns:a="http://schemas.openxmlformats.org/drawingml/2006/main">
              <a:ext uri="{FF2B5EF4-FFF2-40B4-BE49-F238E27FC236}">
                <a16:creationId xmlns:a16="http://schemas.microsoft.com/office/drawing/2014/main" id="{714A8632-C1A8-4DAC-99B0-336F3853ED71}"/>
              </a:ext>
            </a:extLst>
          </p:cNvPr>
          <p:cNvSpPr>
            <a:spLocks xmlns:a="http://schemas.openxmlformats.org/drawingml/2006/main" noGrp="1"/>
          </p:cNvSpPr>
          <p:nvPr/>
        </p:nvSpPr>
        <p:spPr>
          <a:xfrm xmlns:a="http://schemas.openxmlformats.org/drawingml/2006/main">
            <a:off x="7658100" y="3714750"/>
            <a:ext cx="31051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Recommander sans surpromettre.</a:t>
            </a:r>
          </a:p>
        </p:txBody>
      </p:sp>
      <p:sp>
        <p:nvSpPr>
          <p:cNvPr id="13" name="">
            <a:extLst xmlns:a="http://schemas.openxmlformats.org/drawingml/2006/main">
              <a:ext uri="{FF2B5EF4-FFF2-40B4-BE49-F238E27FC236}">
                <a16:creationId xmlns:a16="http://schemas.microsoft.com/office/drawing/2014/main" id="{C160F952-878F-4439-8D57-0A44343FD073}"/>
              </a:ext>
            </a:extLst>
          </p:cNvPr>
          <p:cNvSpPr>
            <a:spLocks xmlns:a="http://schemas.openxmlformats.org/drawingml/2006/main" noGrp="1"/>
          </p:cNvSpPr>
          <p:nvPr/>
        </p:nvSpPr>
        <p:spPr>
          <a:xfrm xmlns:a="http://schemas.openxmlformats.org/drawingml/2006/main">
            <a:off x="7658100" y="4305300"/>
            <a:ext cx="32004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D7E5F3"/>
                </a:solidFill>
                <a:latin typeface="Aptos"/>
                <a:ea typeface="Aptos"/>
                <a:cs typeface="Aptos"/>
              </a:defRPr>
            </a:pPr>
            <a:r>
              <a:rPr sz="900" b="0">
                <a:solidFill>
                  <a:srgbClr val="D7E5F3"/>
                </a:solidFill>
                <a:latin typeface="Aptos"/>
                <a:ea typeface="Aptos"/>
                <a:cs typeface="Aptos"/>
              </a:rPr>
              <a:t>Un pilote utile, encadré et lisible vaut mieux qu'un grand plan flou ou trop large dès le départ.</a:t>
            </a:r>
          </a:p>
        </p:txBody>
      </p:sp>
      <p:sp>
        <p:nvSpPr>
          <p:cNvPr id="14" name="">
            <a:extLst xmlns:a="http://schemas.openxmlformats.org/drawingml/2006/main">
              <a:ext uri="{FF2B5EF4-FFF2-40B4-BE49-F238E27FC236}">
                <a16:creationId xmlns:a16="http://schemas.microsoft.com/office/drawing/2014/main" id="{F33E3177-F77C-4E9C-AAAF-85F1AECBA375}"/>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AEA5CFCE-FAB8-4CCD-95B9-169CBC26490A}"/>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deck institutionnel V3</a:t>
            </a:r>
          </a:p>
        </p:txBody>
      </p:sp>
      <p:sp>
        <p:nvSpPr>
          <p:cNvPr id="16" name="">
            <a:extLst xmlns:a="http://schemas.openxmlformats.org/drawingml/2006/main">
              <a:ext uri="{FF2B5EF4-FFF2-40B4-BE49-F238E27FC236}">
                <a16:creationId xmlns:a16="http://schemas.microsoft.com/office/drawing/2014/main" id="{44959AF5-7790-4686-9CA9-D98627482DB4}"/>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08</a:t>
            </a:r>
          </a:p>
        </p:txBody>
      </p:sp>
    </p:spTree>
    <p:extLst>
      <p:ext uri="{BB962C8B-B14F-4D97-AF65-F5344CB8AC3E}">
        <p14:creationId xmlns:p14="http://schemas.microsoft.com/office/powerpoint/2010/main" val="189185982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2E0301F-502D-4115-805C-29BCDF042CE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AF9BF51-8B4D-4B3B-8DEA-ED2B2B105C0D}"/>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DÉTAIL DES CAS D'USAGE</a:t>
            </a:r>
          </a:p>
        </p:txBody>
      </p:sp>
      <p:sp>
        <p:nvSpPr>
          <p:cNvPr id="3" name="">
            <a:extLst xmlns:a="http://schemas.openxmlformats.org/drawingml/2006/main">
              <a:ext uri="{FF2B5EF4-FFF2-40B4-BE49-F238E27FC236}">
                <a16:creationId xmlns:a16="http://schemas.microsoft.com/office/drawing/2014/main" id="{F41402B0-FF2A-492A-8BDD-3C7206A5EC99}"/>
              </a:ext>
            </a:extLst>
          </p:cNvPr>
          <p:cNvSpPr>
            <a:spLocks xmlns:a="http://schemas.openxmlformats.org/drawingml/2006/main" noGrp="1"/>
          </p:cNvSpPr>
          <p:nvPr/>
        </p:nvSpPr>
        <p:spPr>
          <a:xfrm xmlns:a="http://schemas.openxmlformats.org/drawingml/2006/main">
            <a:off x="685800" y="819150"/>
            <a:ext cx="80010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Les deux premiers terrains à lancer rapidement</a:t>
            </a:r>
          </a:p>
        </p:txBody>
      </p:sp>
      <p:sp>
        <p:nvSpPr>
          <p:cNvPr id="4" name="">
            <a:extLst xmlns:a="http://schemas.openxmlformats.org/drawingml/2006/main">
              <a:ext uri="{FF2B5EF4-FFF2-40B4-BE49-F238E27FC236}">
                <a16:creationId xmlns:a16="http://schemas.microsoft.com/office/drawing/2014/main" id="{89596109-87B8-4DD4-B3D5-403F5AA5601D}"/>
              </a:ext>
            </a:extLst>
          </p:cNvPr>
          <p:cNvSpPr>
            <a:spLocks xmlns:a="http://schemas.openxmlformats.org/drawingml/2006/main" noGrp="1"/>
          </p:cNvSpPr>
          <p:nvPr/>
        </p:nvSpPr>
        <p:spPr>
          <a:xfrm xmlns:a="http://schemas.openxmlformats.org/drawingml/2006/main">
            <a:off x="685800" y="1676400"/>
            <a:ext cx="8763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Nous recommandons de démarrer par deux flux où la valeur est plus facile à rendre visible pour la direction : comptes professionnels et flotte / cartes carburant.</a:t>
            </a:r>
          </a:p>
        </p:txBody>
      </p:sp>
      <p:sp>
        <p:nvSpPr>
          <p:cNvPr id="5" name="">
            <a:extLst xmlns:a="http://schemas.openxmlformats.org/drawingml/2006/main">
              <a:ext uri="{FF2B5EF4-FFF2-40B4-BE49-F238E27FC236}">
                <a16:creationId xmlns:a16="http://schemas.microsoft.com/office/drawing/2014/main" id="{7B0D9681-5B3B-409E-A8B7-D43A972F5F40}"/>
              </a:ext>
            </a:extLst>
          </p:cNvPr>
          <p:cNvSpPr>
            <a:spLocks xmlns:a="http://schemas.openxmlformats.org/drawingml/2006/main" noGrp="1"/>
          </p:cNvSpPr>
          <p:nvPr/>
        </p:nvSpPr>
        <p:spPr>
          <a:xfrm xmlns:a="http://schemas.openxmlformats.org/drawingml/2006/main">
            <a:off x="685800" y="2171700"/>
            <a:ext cx="5143500" cy="310515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6" name="">
            <a:extLst xmlns:a="http://schemas.openxmlformats.org/drawingml/2006/main">
              <a:ext uri="{FF2B5EF4-FFF2-40B4-BE49-F238E27FC236}">
                <a16:creationId xmlns:a16="http://schemas.microsoft.com/office/drawing/2014/main" id="{4BA52CD0-E238-433E-B548-EC761E84A613}"/>
              </a:ext>
            </a:extLst>
          </p:cNvPr>
          <p:cNvSpPr>
            <a:spLocks xmlns:a="http://schemas.openxmlformats.org/drawingml/2006/main" noGrp="1"/>
          </p:cNvSpPr>
          <p:nvPr/>
        </p:nvSpPr>
        <p:spPr>
          <a:xfrm xmlns:a="http://schemas.openxmlformats.org/drawingml/2006/main">
            <a:off x="895350" y="2362200"/>
            <a:ext cx="419100" cy="419100"/>
          </a:xfrm>
          <a:prstGeom xmlns:a="http://schemas.openxmlformats.org/drawingml/2006/main" prst="ellipse">
            <a:avLst/>
          </a:prstGeom>
          <a:solidFill xmlns:a="http://schemas.openxmlformats.org/drawingml/2006/main">
            <a:srgbClr val="E76F1D"/>
          </a:solidFill>
          <a:ln xmlns:a="http://schemas.openxmlformats.org/drawingml/2006/main" w="0">
            <a:solidFill>
              <a:srgbClr val="E76F1D"/>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7d449a8024e45ec">
            <a:extLst>
              <a:ext uri="{96DAC541-7B7A-43D3-8B79-37D633B846F1}">
                <asvg:svgBlip xmlns:asvg="http://schemas.microsoft.com/office/drawing/2016/SVG/main" r:embed="R00c2ef2cd9e34e4b"/>
              </a:ext>
            </a:extLst>
          </a:blip>
          <a:stretch xmlns:a="http://schemas.openxmlformats.org/drawingml/2006/main"/>
        </p:blipFill>
        <p:spPr>
          <a:xfrm xmlns:a="http://schemas.openxmlformats.org/drawingml/2006/main">
            <a:off x="990600" y="2457450"/>
            <a:ext cx="228600" cy="2286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65898EED-78E2-4BF6-A00C-43D19A915E0E}"/>
              </a:ext>
            </a:extLst>
          </p:cNvPr>
          <p:cNvSpPr>
            <a:spLocks xmlns:a="http://schemas.openxmlformats.org/drawingml/2006/main" noGrp="1"/>
          </p:cNvSpPr>
          <p:nvPr/>
        </p:nvSpPr>
        <p:spPr>
          <a:xfrm xmlns:a="http://schemas.openxmlformats.org/drawingml/2006/main">
            <a:off x="1428750" y="2362200"/>
            <a:ext cx="3905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Comptes professionnels et recouvrement</a:t>
            </a:r>
          </a:p>
        </p:txBody>
      </p:sp>
      <p:sp>
        <p:nvSpPr>
          <p:cNvPr id="9" name="">
            <a:extLst xmlns:a="http://schemas.openxmlformats.org/drawingml/2006/main">
              <a:ext uri="{FF2B5EF4-FFF2-40B4-BE49-F238E27FC236}">
                <a16:creationId xmlns:a16="http://schemas.microsoft.com/office/drawing/2014/main" id="{A2D0F6A0-C8D7-4319-BCA7-9A5D66C6CEE9}"/>
              </a:ext>
            </a:extLst>
          </p:cNvPr>
          <p:cNvSpPr>
            <a:spLocks xmlns:a="http://schemas.openxmlformats.org/drawingml/2006/main" noGrp="1"/>
          </p:cNvSpPr>
          <p:nvPr/>
        </p:nvSpPr>
        <p:spPr>
          <a:xfrm xmlns:a="http://schemas.openxmlformats.org/drawingml/2006/main">
            <a:off x="895350" y="2857500"/>
            <a:ext cx="666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AVANT</a:t>
            </a:r>
          </a:p>
        </p:txBody>
      </p:sp>
      <p:sp>
        <p:nvSpPr>
          <p:cNvPr id="10" name="">
            <a:extLst xmlns:a="http://schemas.openxmlformats.org/drawingml/2006/main">
              <a:ext uri="{FF2B5EF4-FFF2-40B4-BE49-F238E27FC236}">
                <a16:creationId xmlns:a16="http://schemas.microsoft.com/office/drawing/2014/main" id="{86748AFC-97C2-451D-B683-D5928B743891}"/>
              </a:ext>
            </a:extLst>
          </p:cNvPr>
          <p:cNvSpPr>
            <a:spLocks xmlns:a="http://schemas.openxmlformats.org/drawingml/2006/main" noGrp="1"/>
          </p:cNvSpPr>
          <p:nvPr/>
        </p:nvSpPr>
        <p:spPr>
          <a:xfrm xmlns:a="http://schemas.openxmlformats.org/drawingml/2006/main">
            <a:off x="895350" y="3086100"/>
            <a:ext cx="44767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 relances préparées à la main</a:t>
            </a:r>
          </a:p>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 revues de portefeuille longues à consolider</a:t>
            </a:r>
          </a:p>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 informations dispersées entre mails, fichiers et historique commercial</a:t>
            </a:r>
          </a:p>
        </p:txBody>
      </p:sp>
      <p:sp>
        <p:nvSpPr>
          <p:cNvPr id="11" name="">
            <a:extLst xmlns:a="http://schemas.openxmlformats.org/drawingml/2006/main">
              <a:ext uri="{FF2B5EF4-FFF2-40B4-BE49-F238E27FC236}">
                <a16:creationId xmlns:a16="http://schemas.microsoft.com/office/drawing/2014/main" id="{5E9D43FA-CA61-42B9-B1D4-1AD0DF4502D4}"/>
              </a:ext>
            </a:extLst>
          </p:cNvPr>
          <p:cNvSpPr>
            <a:spLocks xmlns:a="http://schemas.openxmlformats.org/drawingml/2006/main" noGrp="1"/>
          </p:cNvSpPr>
          <p:nvPr/>
        </p:nvSpPr>
        <p:spPr>
          <a:xfrm xmlns:a="http://schemas.openxmlformats.org/drawingml/2006/main">
            <a:off x="895350" y="3981450"/>
            <a:ext cx="666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1C8A78"/>
                </a:solidFill>
                <a:latin typeface="Aptos"/>
                <a:ea typeface="Aptos"/>
                <a:cs typeface="Aptos"/>
              </a:defRPr>
            </a:pPr>
            <a:r>
              <a:rPr sz="750" b="1">
                <a:solidFill>
                  <a:srgbClr val="1C8A78"/>
                </a:solidFill>
                <a:latin typeface="Aptos"/>
                <a:ea typeface="Aptos"/>
                <a:cs typeface="Aptos"/>
              </a:rPr>
              <a:t>APRÈS</a:t>
            </a:r>
          </a:p>
        </p:txBody>
      </p:sp>
      <p:sp>
        <p:nvSpPr>
          <p:cNvPr id="12" name="">
            <a:extLst xmlns:a="http://schemas.openxmlformats.org/drawingml/2006/main">
              <a:ext uri="{FF2B5EF4-FFF2-40B4-BE49-F238E27FC236}">
                <a16:creationId xmlns:a16="http://schemas.microsoft.com/office/drawing/2014/main" id="{FD110412-6C56-4AED-A8DD-2B4711FBEA6A}"/>
              </a:ext>
            </a:extLst>
          </p:cNvPr>
          <p:cNvSpPr>
            <a:spLocks xmlns:a="http://schemas.openxmlformats.org/drawingml/2006/main" noGrp="1"/>
          </p:cNvSpPr>
          <p:nvPr/>
        </p:nvSpPr>
        <p:spPr>
          <a:xfrm xmlns:a="http://schemas.openxmlformats.org/drawingml/2006/main">
            <a:off x="895350" y="4210050"/>
            <a:ext cx="44767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canevas de relance et brouillons assistés</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synthèse de portefeuille pré-préparée pour les revues</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signalement des comptes sensibles ou des échéances critiques</a:t>
            </a:r>
          </a:p>
        </p:txBody>
      </p:sp>
      <p:sp>
        <p:nvSpPr>
          <p:cNvPr id="13" name="">
            <a:extLst xmlns:a="http://schemas.openxmlformats.org/drawingml/2006/main">
              <a:ext uri="{FF2B5EF4-FFF2-40B4-BE49-F238E27FC236}">
                <a16:creationId xmlns:a16="http://schemas.microsoft.com/office/drawing/2014/main" id="{11D247FD-BFC2-47D7-A54E-F190D9AD6D3E}"/>
              </a:ext>
            </a:extLst>
          </p:cNvPr>
          <p:cNvSpPr>
            <a:spLocks xmlns:a="http://schemas.openxmlformats.org/drawingml/2006/main" noGrp="1"/>
          </p:cNvSpPr>
          <p:nvPr/>
        </p:nvSpPr>
        <p:spPr>
          <a:xfrm xmlns:a="http://schemas.openxmlformats.org/drawingml/2006/main">
            <a:off x="895350" y="4972050"/>
            <a:ext cx="4667250" cy="3810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14" name="">
            <a:extLst xmlns:a="http://schemas.openxmlformats.org/drawingml/2006/main">
              <a:ext uri="{FF2B5EF4-FFF2-40B4-BE49-F238E27FC236}">
                <a16:creationId xmlns:a16="http://schemas.microsoft.com/office/drawing/2014/main" id="{84F3FC1D-ED84-4F8A-A839-A4C22A671018}"/>
              </a:ext>
            </a:extLst>
          </p:cNvPr>
          <p:cNvSpPr>
            <a:spLocks xmlns:a="http://schemas.openxmlformats.org/drawingml/2006/main" noGrp="1"/>
          </p:cNvSpPr>
          <p:nvPr/>
        </p:nvSpPr>
        <p:spPr>
          <a:xfrm xmlns:a="http://schemas.openxmlformats.org/drawingml/2006/main">
            <a:off x="1047750" y="5086350"/>
            <a:ext cx="43434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A3554"/>
                </a:solidFill>
                <a:latin typeface="Aptos"/>
                <a:ea typeface="Aptos"/>
                <a:cs typeface="Aptos"/>
              </a:defRPr>
            </a:pPr>
            <a:r>
              <a:rPr sz="863" b="1">
                <a:solidFill>
                  <a:srgbClr val="1A3554"/>
                </a:solidFill>
                <a:latin typeface="Aptos"/>
                <a:ea typeface="Aptos"/>
                <a:cs typeface="Aptos"/>
              </a:rPr>
              <a:t>KPI : délai de relance | temps de préparation des revues | visibilité sur les encours en retard</a:t>
            </a:r>
          </a:p>
        </p:txBody>
      </p:sp>
      <p:sp>
        <p:nvSpPr>
          <p:cNvPr id="15" name="">
            <a:extLst xmlns:a="http://schemas.openxmlformats.org/drawingml/2006/main">
              <a:ext uri="{FF2B5EF4-FFF2-40B4-BE49-F238E27FC236}">
                <a16:creationId xmlns:a16="http://schemas.microsoft.com/office/drawing/2014/main" id="{99D1500A-3511-4CDD-BD97-51E010BD0482}"/>
              </a:ext>
            </a:extLst>
          </p:cNvPr>
          <p:cNvSpPr>
            <a:spLocks xmlns:a="http://schemas.openxmlformats.org/drawingml/2006/main" noGrp="1"/>
          </p:cNvSpPr>
          <p:nvPr/>
        </p:nvSpPr>
        <p:spPr>
          <a:xfrm xmlns:a="http://schemas.openxmlformats.org/drawingml/2006/main">
            <a:off x="6096000" y="2171700"/>
            <a:ext cx="5410200" cy="310515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6" name="">
            <a:extLst xmlns:a="http://schemas.openxmlformats.org/drawingml/2006/main">
              <a:ext uri="{FF2B5EF4-FFF2-40B4-BE49-F238E27FC236}">
                <a16:creationId xmlns:a16="http://schemas.microsoft.com/office/drawing/2014/main" id="{08CF3F03-3867-4CB9-B19D-D634EB3DA868}"/>
              </a:ext>
            </a:extLst>
          </p:cNvPr>
          <p:cNvSpPr>
            <a:spLocks xmlns:a="http://schemas.openxmlformats.org/drawingml/2006/main" noGrp="1"/>
          </p:cNvSpPr>
          <p:nvPr/>
        </p:nvSpPr>
        <p:spPr>
          <a:xfrm xmlns:a="http://schemas.openxmlformats.org/drawingml/2006/main">
            <a:off x="6305550" y="2362200"/>
            <a:ext cx="419100" cy="419100"/>
          </a:xfrm>
          <a:prstGeom xmlns:a="http://schemas.openxmlformats.org/drawingml/2006/main" prst="ellipse">
            <a:avLst/>
          </a:prstGeom>
          <a:solidFill xmlns:a="http://schemas.openxmlformats.org/drawingml/2006/main">
            <a:srgbClr val="1C8A78"/>
          </a:solidFill>
          <a:ln xmlns:a="http://schemas.openxmlformats.org/drawingml/2006/main" w="0">
            <a:solidFill>
              <a:srgbClr val="1C8A78"/>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c8670d5f68f4eec">
            <a:extLst>
              <a:ext uri="{96DAC541-7B7A-43D3-8B79-37D633B846F1}">
                <asvg:svgBlip xmlns:asvg="http://schemas.microsoft.com/office/drawing/2016/SVG/main" r:embed="Rdc08d603bb54436c"/>
              </a:ext>
            </a:extLst>
          </a:blip>
          <a:stretch xmlns:a="http://schemas.openxmlformats.org/drawingml/2006/main"/>
        </p:blipFill>
        <p:spPr>
          <a:xfrm xmlns:a="http://schemas.openxmlformats.org/drawingml/2006/main">
            <a:off x="6400800" y="2457450"/>
            <a:ext cx="228600" cy="2286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0A6E76BF-E541-42B5-9888-883DB0D88342}"/>
              </a:ext>
            </a:extLst>
          </p:cNvPr>
          <p:cNvSpPr>
            <a:spLocks xmlns:a="http://schemas.openxmlformats.org/drawingml/2006/main" noGrp="1"/>
          </p:cNvSpPr>
          <p:nvPr/>
        </p:nvSpPr>
        <p:spPr>
          <a:xfrm xmlns:a="http://schemas.openxmlformats.org/drawingml/2006/main">
            <a:off x="6838950" y="2362200"/>
            <a:ext cx="4000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Flotte, cartes carburant et consommation</a:t>
            </a:r>
          </a:p>
        </p:txBody>
      </p:sp>
      <p:sp>
        <p:nvSpPr>
          <p:cNvPr id="19" name="">
            <a:extLst xmlns:a="http://schemas.openxmlformats.org/drawingml/2006/main">
              <a:ext uri="{FF2B5EF4-FFF2-40B4-BE49-F238E27FC236}">
                <a16:creationId xmlns:a16="http://schemas.microsoft.com/office/drawing/2014/main" id="{17887EE9-6635-4920-BC0E-7C265423B955}"/>
              </a:ext>
            </a:extLst>
          </p:cNvPr>
          <p:cNvSpPr>
            <a:spLocks xmlns:a="http://schemas.openxmlformats.org/drawingml/2006/main" noGrp="1"/>
          </p:cNvSpPr>
          <p:nvPr/>
        </p:nvSpPr>
        <p:spPr>
          <a:xfrm xmlns:a="http://schemas.openxmlformats.org/drawingml/2006/main">
            <a:off x="6305550" y="2857500"/>
            <a:ext cx="666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AVANT</a:t>
            </a:r>
          </a:p>
        </p:txBody>
      </p:sp>
      <p:sp>
        <p:nvSpPr>
          <p:cNvPr id="20" name="">
            <a:extLst xmlns:a="http://schemas.openxmlformats.org/drawingml/2006/main">
              <a:ext uri="{FF2B5EF4-FFF2-40B4-BE49-F238E27FC236}">
                <a16:creationId xmlns:a16="http://schemas.microsoft.com/office/drawing/2014/main" id="{26974E4B-2C53-488C-86CB-2868CE19E08D}"/>
              </a:ext>
            </a:extLst>
          </p:cNvPr>
          <p:cNvSpPr>
            <a:spLocks xmlns:a="http://schemas.openxmlformats.org/drawingml/2006/main" noGrp="1"/>
          </p:cNvSpPr>
          <p:nvPr/>
        </p:nvSpPr>
        <p:spPr>
          <a:xfrm xmlns:a="http://schemas.openxmlformats.org/drawingml/2006/main">
            <a:off x="6305550" y="3086100"/>
            <a:ext cx="47434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 reporting flotte et carburant peu harmonisé</a:t>
            </a:r>
          </a:p>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 écarts détectés tardivement</a:t>
            </a:r>
          </a:p>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 lecture difficile des coûts par site, véhicule ou période</a:t>
            </a:r>
          </a:p>
        </p:txBody>
      </p:sp>
      <p:sp>
        <p:nvSpPr>
          <p:cNvPr id="21" name="">
            <a:extLst xmlns:a="http://schemas.openxmlformats.org/drawingml/2006/main">
              <a:ext uri="{FF2B5EF4-FFF2-40B4-BE49-F238E27FC236}">
                <a16:creationId xmlns:a16="http://schemas.microsoft.com/office/drawing/2014/main" id="{65ED36D0-CF58-405C-9445-5A959B155835}"/>
              </a:ext>
            </a:extLst>
          </p:cNvPr>
          <p:cNvSpPr>
            <a:spLocks xmlns:a="http://schemas.openxmlformats.org/drawingml/2006/main" noGrp="1"/>
          </p:cNvSpPr>
          <p:nvPr/>
        </p:nvSpPr>
        <p:spPr>
          <a:xfrm xmlns:a="http://schemas.openxmlformats.org/drawingml/2006/main">
            <a:off x="6305550" y="3981450"/>
            <a:ext cx="6667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1C8A78"/>
                </a:solidFill>
                <a:latin typeface="Aptos"/>
                <a:ea typeface="Aptos"/>
                <a:cs typeface="Aptos"/>
              </a:defRPr>
            </a:pPr>
            <a:r>
              <a:rPr sz="750" b="1">
                <a:solidFill>
                  <a:srgbClr val="1C8A78"/>
                </a:solidFill>
                <a:latin typeface="Aptos"/>
                <a:ea typeface="Aptos"/>
                <a:cs typeface="Aptos"/>
              </a:rPr>
              <a:t>APRÈS</a:t>
            </a:r>
          </a:p>
        </p:txBody>
      </p:sp>
      <p:sp>
        <p:nvSpPr>
          <p:cNvPr id="22" name="">
            <a:extLst xmlns:a="http://schemas.openxmlformats.org/drawingml/2006/main">
              <a:ext uri="{FF2B5EF4-FFF2-40B4-BE49-F238E27FC236}">
                <a16:creationId xmlns:a16="http://schemas.microsoft.com/office/drawing/2014/main" id="{A032BF2C-ABAF-41F9-9F91-53799FDA1D39}"/>
              </a:ext>
            </a:extLst>
          </p:cNvPr>
          <p:cNvSpPr>
            <a:spLocks xmlns:a="http://schemas.openxmlformats.org/drawingml/2006/main" noGrp="1"/>
          </p:cNvSpPr>
          <p:nvPr/>
        </p:nvSpPr>
        <p:spPr>
          <a:xfrm xmlns:a="http://schemas.openxmlformats.org/drawingml/2006/main">
            <a:off x="6305550" y="4210050"/>
            <a:ext cx="4743450" cy="704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tableau de bord consolidé</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alertes sur anomalies de consommation</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comparatifs plus simples pour arbitrer et commenter les écarts</a:t>
            </a:r>
          </a:p>
        </p:txBody>
      </p:sp>
      <p:sp>
        <p:nvSpPr>
          <p:cNvPr id="23" name="">
            <a:extLst xmlns:a="http://schemas.openxmlformats.org/drawingml/2006/main">
              <a:ext uri="{FF2B5EF4-FFF2-40B4-BE49-F238E27FC236}">
                <a16:creationId xmlns:a16="http://schemas.microsoft.com/office/drawing/2014/main" id="{A28CD674-FC7E-48C9-A02D-322E51AF8B75}"/>
              </a:ext>
            </a:extLst>
          </p:cNvPr>
          <p:cNvSpPr>
            <a:spLocks xmlns:a="http://schemas.openxmlformats.org/drawingml/2006/main" noGrp="1"/>
          </p:cNvSpPr>
          <p:nvPr/>
        </p:nvSpPr>
        <p:spPr>
          <a:xfrm xmlns:a="http://schemas.openxmlformats.org/drawingml/2006/main">
            <a:off x="6305550" y="4972050"/>
            <a:ext cx="4743450" cy="3810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24" name="">
            <a:extLst xmlns:a="http://schemas.openxmlformats.org/drawingml/2006/main">
              <a:ext uri="{FF2B5EF4-FFF2-40B4-BE49-F238E27FC236}">
                <a16:creationId xmlns:a16="http://schemas.microsoft.com/office/drawing/2014/main" id="{13880EFB-F34A-4500-B92B-BA5139AE0A6D}"/>
              </a:ext>
            </a:extLst>
          </p:cNvPr>
          <p:cNvSpPr>
            <a:spLocks xmlns:a="http://schemas.openxmlformats.org/drawingml/2006/main" noGrp="1"/>
          </p:cNvSpPr>
          <p:nvPr/>
        </p:nvSpPr>
        <p:spPr>
          <a:xfrm xmlns:a="http://schemas.openxmlformats.org/drawingml/2006/main">
            <a:off x="6457950" y="5086350"/>
            <a:ext cx="44386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A3554"/>
                </a:solidFill>
                <a:latin typeface="Aptos"/>
                <a:ea typeface="Aptos"/>
                <a:cs typeface="Aptos"/>
              </a:defRPr>
            </a:pPr>
            <a:r>
              <a:rPr sz="863" b="1">
                <a:solidFill>
                  <a:srgbClr val="1A3554"/>
                </a:solidFill>
                <a:latin typeface="Aptos"/>
                <a:ea typeface="Aptos"/>
                <a:cs typeface="Aptos"/>
              </a:rPr>
              <a:t>KPI : temps de production du reporting | anomalies détectées | variation du coût carburant</a:t>
            </a:r>
          </a:p>
        </p:txBody>
      </p:sp>
      <p:sp>
        <p:nvSpPr>
          <p:cNvPr id="25" name="">
            <a:extLst xmlns:a="http://schemas.openxmlformats.org/drawingml/2006/main">
              <a:ext uri="{FF2B5EF4-FFF2-40B4-BE49-F238E27FC236}">
                <a16:creationId xmlns:a16="http://schemas.microsoft.com/office/drawing/2014/main" id="{9027C7C0-CFE6-4EB0-B3EE-D73BDBBE175F}"/>
              </a:ext>
            </a:extLst>
          </p:cNvPr>
          <p:cNvSpPr>
            <a:spLocks xmlns:a="http://schemas.openxmlformats.org/drawingml/2006/main" noGrp="1"/>
          </p:cNvSpPr>
          <p:nvPr/>
        </p:nvSpPr>
        <p:spPr>
          <a:xfrm xmlns:a="http://schemas.openxmlformats.org/drawingml/2006/main">
            <a:off x="685800" y="5619750"/>
            <a:ext cx="10820400" cy="51435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26" name="">
            <a:extLst xmlns:a="http://schemas.openxmlformats.org/drawingml/2006/main">
              <a:ext uri="{FF2B5EF4-FFF2-40B4-BE49-F238E27FC236}">
                <a16:creationId xmlns:a16="http://schemas.microsoft.com/office/drawing/2014/main" id="{94EEF69F-2971-4DAE-B118-677297D975F2}"/>
              </a:ext>
            </a:extLst>
          </p:cNvPr>
          <p:cNvSpPr>
            <a:spLocks xmlns:a="http://schemas.openxmlformats.org/drawingml/2006/main" noGrp="1"/>
          </p:cNvSpPr>
          <p:nvPr/>
        </p:nvSpPr>
        <p:spPr>
          <a:xfrm xmlns:a="http://schemas.openxmlformats.org/drawingml/2006/main">
            <a:off x="914400" y="5772150"/>
            <a:ext cx="1036320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Ces deux flux ont un avantage : ils parlent à la fois à la direction, aux opérations et aux équipes métier. Ils permettent donc de montrer très vite une valeur concrète, sans promettre une transformation trop large dès le départ.</a:t>
            </a:r>
          </a:p>
        </p:txBody>
      </p:sp>
      <p:sp>
        <p:nvSpPr>
          <p:cNvPr id="27" name="">
            <a:extLst xmlns:a="http://schemas.openxmlformats.org/drawingml/2006/main">
              <a:ext uri="{FF2B5EF4-FFF2-40B4-BE49-F238E27FC236}">
                <a16:creationId xmlns:a16="http://schemas.microsoft.com/office/drawing/2014/main" id="{392C9872-C11A-473A-B91D-6AE5485F19D9}"/>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6F490560-2308-4AA7-BB19-23190D412290}"/>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deck institutionnel V3</a:t>
            </a:r>
          </a:p>
        </p:txBody>
      </p:sp>
      <p:sp>
        <p:nvSpPr>
          <p:cNvPr id="29" name="">
            <a:extLst xmlns:a="http://schemas.openxmlformats.org/drawingml/2006/main">
              <a:ext uri="{FF2B5EF4-FFF2-40B4-BE49-F238E27FC236}">
                <a16:creationId xmlns:a16="http://schemas.microsoft.com/office/drawing/2014/main" id="{E79D760B-A745-4E56-A9DE-88EC9C0AA194}"/>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09</a:t>
            </a:r>
          </a:p>
        </p:txBody>
      </p:sp>
    </p:spTree>
    <p:extLst>
      <p:ext uri="{BB962C8B-B14F-4D97-AF65-F5344CB8AC3E}">
        <p14:creationId xmlns:p14="http://schemas.microsoft.com/office/powerpoint/2010/main" val="82683484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5531BB8-BCFC-45C8-867E-05BB6DB11F7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CF83810-F14F-4DF2-976A-B553EC94F966}"/>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DÉTAIL DES CAS D'USAGE</a:t>
            </a:r>
          </a:p>
        </p:txBody>
      </p:sp>
      <p:sp>
        <p:nvSpPr>
          <p:cNvPr id="3" name="">
            <a:extLst xmlns:a="http://schemas.openxmlformats.org/drawingml/2006/main">
              <a:ext uri="{FF2B5EF4-FFF2-40B4-BE49-F238E27FC236}">
                <a16:creationId xmlns:a16="http://schemas.microsoft.com/office/drawing/2014/main" id="{B529F6EB-0DC4-425F-9F09-1F0454CC02EE}"/>
              </a:ext>
            </a:extLst>
          </p:cNvPr>
          <p:cNvSpPr>
            <a:spLocks xmlns:a="http://schemas.openxmlformats.org/drawingml/2006/main" noGrp="1"/>
          </p:cNvSpPr>
          <p:nvPr/>
        </p:nvSpPr>
        <p:spPr>
          <a:xfrm xmlns:a="http://schemas.openxmlformats.org/drawingml/2006/main">
            <a:off x="685800" y="819150"/>
            <a:ext cx="9334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Les cas d'usage qui renforcent la qualité de service et la standardisation</a:t>
            </a:r>
          </a:p>
        </p:txBody>
      </p:sp>
      <p:sp>
        <p:nvSpPr>
          <p:cNvPr id="4" name="">
            <a:extLst xmlns:a="http://schemas.openxmlformats.org/drawingml/2006/main">
              <a:ext uri="{FF2B5EF4-FFF2-40B4-BE49-F238E27FC236}">
                <a16:creationId xmlns:a16="http://schemas.microsoft.com/office/drawing/2014/main" id="{F023700F-2007-4AF9-BA8A-712943193732}"/>
              </a:ext>
            </a:extLst>
          </p:cNvPr>
          <p:cNvSpPr>
            <a:spLocks xmlns:a="http://schemas.openxmlformats.org/drawingml/2006/main" noGrp="1"/>
          </p:cNvSpPr>
          <p:nvPr/>
        </p:nvSpPr>
        <p:spPr>
          <a:xfrm xmlns:a="http://schemas.openxmlformats.org/drawingml/2006/main">
            <a:off x="685800" y="1676400"/>
            <a:ext cx="9144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Ces deux usages rendent aussi la formation plus crédible : on apprend sur des situations réelles, pas sur des exemples génériques.</a:t>
            </a:r>
          </a:p>
        </p:txBody>
      </p:sp>
      <p:sp>
        <p:nvSpPr>
          <p:cNvPr id="5" name="">
            <a:extLst xmlns:a="http://schemas.openxmlformats.org/drawingml/2006/main">
              <a:ext uri="{FF2B5EF4-FFF2-40B4-BE49-F238E27FC236}">
                <a16:creationId xmlns:a16="http://schemas.microsoft.com/office/drawing/2014/main" id="{4EB643C7-FF76-44E2-88C9-1D0D31042ACA}"/>
              </a:ext>
            </a:extLst>
          </p:cNvPr>
          <p:cNvSpPr>
            <a:spLocks xmlns:a="http://schemas.openxmlformats.org/drawingml/2006/main" noGrp="1"/>
          </p:cNvSpPr>
          <p:nvPr/>
        </p:nvSpPr>
        <p:spPr>
          <a:xfrm xmlns:a="http://schemas.openxmlformats.org/drawingml/2006/main">
            <a:off x="685800" y="2171700"/>
            <a:ext cx="5143500" cy="29337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6" name="">
            <a:extLst xmlns:a="http://schemas.openxmlformats.org/drawingml/2006/main">
              <a:ext uri="{FF2B5EF4-FFF2-40B4-BE49-F238E27FC236}">
                <a16:creationId xmlns:a16="http://schemas.microsoft.com/office/drawing/2014/main" id="{631B0223-DD57-45A9-A025-0B20A24D4761}"/>
              </a:ext>
            </a:extLst>
          </p:cNvPr>
          <p:cNvSpPr>
            <a:spLocks xmlns:a="http://schemas.openxmlformats.org/drawingml/2006/main" noGrp="1"/>
          </p:cNvSpPr>
          <p:nvPr/>
        </p:nvSpPr>
        <p:spPr>
          <a:xfrm xmlns:a="http://schemas.openxmlformats.org/drawingml/2006/main">
            <a:off x="895350" y="2362200"/>
            <a:ext cx="419100" cy="419100"/>
          </a:xfrm>
          <a:prstGeom xmlns:a="http://schemas.openxmlformats.org/drawingml/2006/main" prst="ellipse">
            <a:avLst/>
          </a:prstGeom>
          <a:solidFill xmlns:a="http://schemas.openxmlformats.org/drawingml/2006/main">
            <a:srgbClr val="163556"/>
          </a:solidFill>
          <a:ln xmlns:a="http://schemas.openxmlformats.org/drawingml/2006/main" w="0">
            <a:solidFill>
              <a:srgbClr val="163556"/>
            </a:solidFill>
            <a:prstDash val="solid"/>
          </a:ln>
        </p:spPr>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9f09c56f41c140d5">
            <a:extLst>
              <a:ext uri="{96DAC541-7B7A-43D3-8B79-37D633B846F1}">
                <asvg:svgBlip xmlns:asvg="http://schemas.microsoft.com/office/drawing/2016/SVG/main" r:embed="R3150caf4cf744c21"/>
              </a:ext>
            </a:extLst>
          </a:blip>
          <a:stretch xmlns:a="http://schemas.openxmlformats.org/drawingml/2006/main"/>
        </p:blipFill>
        <p:spPr>
          <a:xfrm xmlns:a="http://schemas.openxmlformats.org/drawingml/2006/main">
            <a:off x="990600" y="2457450"/>
            <a:ext cx="228600" cy="2286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93E5FCF-6ED7-4CB5-8D8D-E1764FF11761}"/>
              </a:ext>
            </a:extLst>
          </p:cNvPr>
          <p:cNvSpPr>
            <a:spLocks xmlns:a="http://schemas.openxmlformats.org/drawingml/2006/main" noGrp="1"/>
          </p:cNvSpPr>
          <p:nvPr/>
        </p:nvSpPr>
        <p:spPr>
          <a:xfrm xmlns:a="http://schemas.openxmlformats.org/drawingml/2006/main">
            <a:off x="1428750" y="2362200"/>
            <a:ext cx="3714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Service client / service auto</a:t>
            </a:r>
          </a:p>
        </p:txBody>
      </p:sp>
      <p:sp>
        <p:nvSpPr>
          <p:cNvPr id="9" name="">
            <a:extLst xmlns:a="http://schemas.openxmlformats.org/drawingml/2006/main">
              <a:ext uri="{FF2B5EF4-FFF2-40B4-BE49-F238E27FC236}">
                <a16:creationId xmlns:a16="http://schemas.microsoft.com/office/drawing/2014/main" id="{9FF35322-5095-4DBF-A500-B29960D61E19}"/>
              </a:ext>
            </a:extLst>
          </p:cNvPr>
          <p:cNvSpPr>
            <a:spLocks xmlns:a="http://schemas.openxmlformats.org/drawingml/2006/main" noGrp="1"/>
          </p:cNvSpPr>
          <p:nvPr/>
        </p:nvSpPr>
        <p:spPr>
          <a:xfrm xmlns:a="http://schemas.openxmlformats.org/drawingml/2006/main">
            <a:off x="895350" y="2857500"/>
            <a:ext cx="1143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Usages proposés</a:t>
            </a:r>
          </a:p>
        </p:txBody>
      </p:sp>
      <p:sp>
        <p:nvSpPr>
          <p:cNvPr id="10" name="">
            <a:extLst xmlns:a="http://schemas.openxmlformats.org/drawingml/2006/main">
              <a:ext uri="{FF2B5EF4-FFF2-40B4-BE49-F238E27FC236}">
                <a16:creationId xmlns:a16="http://schemas.microsoft.com/office/drawing/2014/main" id="{B60E7446-3548-4C37-AB38-67D9F398F733}"/>
              </a:ext>
            </a:extLst>
          </p:cNvPr>
          <p:cNvSpPr>
            <a:spLocks xmlns:a="http://schemas.openxmlformats.org/drawingml/2006/main" noGrp="1"/>
          </p:cNvSpPr>
          <p:nvPr/>
        </p:nvSpPr>
        <p:spPr>
          <a:xfrm xmlns:a="http://schemas.openxmlformats.org/drawingml/2006/main">
            <a:off x="895350" y="3086100"/>
            <a:ext cx="43434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FAQ assistée pour les questions récurrentes</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canevas de réponse ou de rappel</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historique d'interactions mieux exploitable</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synthèses rapides avant rappel ou traitement</a:t>
            </a:r>
          </a:p>
        </p:txBody>
      </p:sp>
      <p:sp>
        <p:nvSpPr>
          <p:cNvPr id="11" name="">
            <a:extLst xmlns:a="http://schemas.openxmlformats.org/drawingml/2006/main">
              <a:ext uri="{FF2B5EF4-FFF2-40B4-BE49-F238E27FC236}">
                <a16:creationId xmlns:a16="http://schemas.microsoft.com/office/drawing/2014/main" id="{8948ECD4-A55F-44D4-89F6-4463F44286C6}"/>
              </a:ext>
            </a:extLst>
          </p:cNvPr>
          <p:cNvSpPr>
            <a:spLocks xmlns:a="http://schemas.openxmlformats.org/drawingml/2006/main" noGrp="1"/>
          </p:cNvSpPr>
          <p:nvPr/>
        </p:nvSpPr>
        <p:spPr>
          <a:xfrm xmlns:a="http://schemas.openxmlformats.org/drawingml/2006/main">
            <a:off x="895350" y="4114800"/>
            <a:ext cx="4667250" cy="8001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12" name="">
            <a:extLst xmlns:a="http://schemas.openxmlformats.org/drawingml/2006/main">
              <a:ext uri="{FF2B5EF4-FFF2-40B4-BE49-F238E27FC236}">
                <a16:creationId xmlns:a16="http://schemas.microsoft.com/office/drawing/2014/main" id="{6C918078-3FD6-44B0-8A39-97CD0430F45C}"/>
              </a:ext>
            </a:extLst>
          </p:cNvPr>
          <p:cNvSpPr>
            <a:spLocks xmlns:a="http://schemas.openxmlformats.org/drawingml/2006/main" noGrp="1"/>
          </p:cNvSpPr>
          <p:nvPr/>
        </p:nvSpPr>
        <p:spPr>
          <a:xfrm xmlns:a="http://schemas.openxmlformats.org/drawingml/2006/main">
            <a:off x="1066800" y="4362450"/>
            <a:ext cx="42862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A3554"/>
                </a:solidFill>
                <a:latin typeface="Aptos"/>
                <a:ea typeface="Aptos"/>
                <a:cs typeface="Aptos"/>
              </a:defRPr>
            </a:pPr>
            <a:r>
              <a:rPr sz="863" b="1">
                <a:solidFill>
                  <a:srgbClr val="1A3554"/>
                </a:solidFill>
                <a:latin typeface="Aptos"/>
                <a:ea typeface="Aptos"/>
                <a:cs typeface="Aptos"/>
              </a:rPr>
              <a:t>KPI : délai de réponse | qualité perçue | taux de réouverture / relance | standardisation des scripts</a:t>
            </a:r>
          </a:p>
        </p:txBody>
      </p:sp>
      <p:sp>
        <p:nvSpPr>
          <p:cNvPr id="13" name="">
            <a:extLst xmlns:a="http://schemas.openxmlformats.org/drawingml/2006/main">
              <a:ext uri="{FF2B5EF4-FFF2-40B4-BE49-F238E27FC236}">
                <a16:creationId xmlns:a16="http://schemas.microsoft.com/office/drawing/2014/main" id="{A52BAE19-DD4B-4E71-A6DC-A5E3A2E2895F}"/>
              </a:ext>
            </a:extLst>
          </p:cNvPr>
          <p:cNvSpPr>
            <a:spLocks xmlns:a="http://schemas.openxmlformats.org/drawingml/2006/main" noGrp="1"/>
          </p:cNvSpPr>
          <p:nvPr/>
        </p:nvSpPr>
        <p:spPr>
          <a:xfrm xmlns:a="http://schemas.openxmlformats.org/drawingml/2006/main">
            <a:off x="6096000" y="2171700"/>
            <a:ext cx="5410200" cy="29337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4" name="">
            <a:extLst xmlns:a="http://schemas.openxmlformats.org/drawingml/2006/main">
              <a:ext uri="{FF2B5EF4-FFF2-40B4-BE49-F238E27FC236}">
                <a16:creationId xmlns:a16="http://schemas.microsoft.com/office/drawing/2014/main" id="{888B007A-532F-4C1E-A776-C2A8B9198726}"/>
              </a:ext>
            </a:extLst>
          </p:cNvPr>
          <p:cNvSpPr>
            <a:spLocks xmlns:a="http://schemas.openxmlformats.org/drawingml/2006/main" noGrp="1"/>
          </p:cNvSpPr>
          <p:nvPr/>
        </p:nvSpPr>
        <p:spPr>
          <a:xfrm xmlns:a="http://schemas.openxmlformats.org/drawingml/2006/main">
            <a:off x="6305550" y="2362200"/>
            <a:ext cx="419100" cy="419100"/>
          </a:xfrm>
          <a:prstGeom xmlns:a="http://schemas.openxmlformats.org/drawingml/2006/main" prst="ellipse">
            <a:avLst/>
          </a:prstGeom>
          <a:solidFill xmlns:a="http://schemas.openxmlformats.org/drawingml/2006/main">
            <a:srgbClr val="C88C3A"/>
          </a:solidFill>
          <a:ln xmlns:a="http://schemas.openxmlformats.org/drawingml/2006/main" w="0">
            <a:solidFill>
              <a:srgbClr val="C88C3A"/>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b697aa1d39349d8">
            <a:extLst>
              <a:ext uri="{96DAC541-7B7A-43D3-8B79-37D633B846F1}">
                <asvg:svgBlip xmlns:asvg="http://schemas.microsoft.com/office/drawing/2016/SVG/main" r:embed="R814a473064984341"/>
              </a:ext>
            </a:extLst>
          </a:blip>
          <a:stretch xmlns:a="http://schemas.openxmlformats.org/drawingml/2006/main"/>
        </p:blipFill>
        <p:spPr>
          <a:xfrm xmlns:a="http://schemas.openxmlformats.org/drawingml/2006/main">
            <a:off x="6400800" y="2457450"/>
            <a:ext cx="228600" cy="228600"/>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733EE2B8-6F0C-474F-9665-D3CE7DEAE6F7}"/>
              </a:ext>
            </a:extLst>
          </p:cNvPr>
          <p:cNvSpPr>
            <a:spLocks xmlns:a="http://schemas.openxmlformats.org/drawingml/2006/main" noGrp="1"/>
          </p:cNvSpPr>
          <p:nvPr/>
        </p:nvSpPr>
        <p:spPr>
          <a:xfrm xmlns:a="http://schemas.openxmlformats.org/drawingml/2006/main">
            <a:off x="6838950" y="2362200"/>
            <a:ext cx="41148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Procédures internes et base de connaissances</a:t>
            </a:r>
          </a:p>
        </p:txBody>
      </p:sp>
      <p:sp>
        <p:nvSpPr>
          <p:cNvPr id="17" name="">
            <a:extLst xmlns:a="http://schemas.openxmlformats.org/drawingml/2006/main">
              <a:ext uri="{FF2B5EF4-FFF2-40B4-BE49-F238E27FC236}">
                <a16:creationId xmlns:a16="http://schemas.microsoft.com/office/drawing/2014/main" id="{DA239BEF-6508-4C78-8BEF-997CBBE529B7}"/>
              </a:ext>
            </a:extLst>
          </p:cNvPr>
          <p:cNvSpPr>
            <a:spLocks xmlns:a="http://schemas.openxmlformats.org/drawingml/2006/main" noGrp="1"/>
          </p:cNvSpPr>
          <p:nvPr/>
        </p:nvSpPr>
        <p:spPr>
          <a:xfrm xmlns:a="http://schemas.openxmlformats.org/drawingml/2006/main">
            <a:off x="6305550" y="2857500"/>
            <a:ext cx="11430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Usages proposés</a:t>
            </a:r>
          </a:p>
        </p:txBody>
      </p:sp>
      <p:sp>
        <p:nvSpPr>
          <p:cNvPr id="18" name="">
            <a:extLst xmlns:a="http://schemas.openxmlformats.org/drawingml/2006/main">
              <a:ext uri="{FF2B5EF4-FFF2-40B4-BE49-F238E27FC236}">
                <a16:creationId xmlns:a16="http://schemas.microsoft.com/office/drawing/2014/main" id="{B664E814-E72A-4AAC-A55E-78FE31AD9D86}"/>
              </a:ext>
            </a:extLst>
          </p:cNvPr>
          <p:cNvSpPr>
            <a:spLocks xmlns:a="http://schemas.openxmlformats.org/drawingml/2006/main" noGrp="1"/>
          </p:cNvSpPr>
          <p:nvPr/>
        </p:nvSpPr>
        <p:spPr>
          <a:xfrm xmlns:a="http://schemas.openxmlformats.org/drawingml/2006/main">
            <a:off x="6305550" y="3086100"/>
            <a:ext cx="466725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base de procédures consultable rapidement</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réponses homogènes pour les équipes support et métier</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onboarding accéléré sur les standards, scripts et points de contrôle</a:t>
            </a:r>
          </a:p>
          <a:p xmlns:a="http://schemas.openxmlformats.org/drawingml/2006/main">
            <a:pPr algn="l">
              <a:defRPr sz="938" b="0">
                <a:solidFill>
                  <a:srgbClr val="1A3554"/>
                </a:solidFill>
                <a:latin typeface="Aptos"/>
                <a:ea typeface="Aptos"/>
                <a:cs typeface="Aptos"/>
              </a:defRPr>
            </a:pPr>
            <a:r>
              <a:rPr sz="938" b="0">
                <a:solidFill>
                  <a:srgbClr val="1A3554"/>
                </a:solidFill>
                <a:latin typeface="Aptos"/>
                <a:ea typeface="Aptos"/>
                <a:cs typeface="Aptos"/>
              </a:rPr>
              <a:t>• diffusion plus simple des mises à jour internes</a:t>
            </a:r>
          </a:p>
        </p:txBody>
      </p:sp>
      <p:sp>
        <p:nvSpPr>
          <p:cNvPr id="19" name="">
            <a:extLst xmlns:a="http://schemas.openxmlformats.org/drawingml/2006/main">
              <a:ext uri="{FF2B5EF4-FFF2-40B4-BE49-F238E27FC236}">
                <a16:creationId xmlns:a16="http://schemas.microsoft.com/office/drawing/2014/main" id="{6CA5E414-A7E5-4629-AB1B-02EFD8EEC628}"/>
              </a:ext>
            </a:extLst>
          </p:cNvPr>
          <p:cNvSpPr>
            <a:spLocks xmlns:a="http://schemas.openxmlformats.org/drawingml/2006/main" noGrp="1"/>
          </p:cNvSpPr>
          <p:nvPr/>
        </p:nvSpPr>
        <p:spPr>
          <a:xfrm xmlns:a="http://schemas.openxmlformats.org/drawingml/2006/main">
            <a:off x="6305550" y="4114800"/>
            <a:ext cx="4743450" cy="8001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20" name="">
            <a:extLst xmlns:a="http://schemas.openxmlformats.org/drawingml/2006/main">
              <a:ext uri="{FF2B5EF4-FFF2-40B4-BE49-F238E27FC236}">
                <a16:creationId xmlns:a16="http://schemas.microsoft.com/office/drawing/2014/main" id="{922AA5BD-E44B-414C-8AEB-4D6BBE961ED4}"/>
              </a:ext>
            </a:extLst>
          </p:cNvPr>
          <p:cNvSpPr>
            <a:spLocks xmlns:a="http://schemas.openxmlformats.org/drawingml/2006/main" noGrp="1"/>
          </p:cNvSpPr>
          <p:nvPr/>
        </p:nvSpPr>
        <p:spPr>
          <a:xfrm xmlns:a="http://schemas.openxmlformats.org/drawingml/2006/main">
            <a:off x="6477000" y="4362450"/>
            <a:ext cx="4381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1">
                <a:solidFill>
                  <a:srgbClr val="1A3554"/>
                </a:solidFill>
                <a:latin typeface="Aptos"/>
                <a:ea typeface="Aptos"/>
                <a:cs typeface="Aptos"/>
              </a:defRPr>
            </a:pPr>
            <a:r>
              <a:rPr sz="863" b="1">
                <a:solidFill>
                  <a:srgbClr val="1A3554"/>
                </a:solidFill>
                <a:latin typeface="Aptos"/>
                <a:ea typeface="Aptos"/>
                <a:cs typeface="Aptos"/>
              </a:rPr>
              <a:t>KPI : temps de recherche d'information | temps d'onboarding | taux d'usage de la base interne</a:t>
            </a:r>
          </a:p>
        </p:txBody>
      </p:sp>
      <p:sp>
        <p:nvSpPr>
          <p:cNvPr id="21" name="">
            <a:extLst xmlns:a="http://schemas.openxmlformats.org/drawingml/2006/main">
              <a:ext uri="{FF2B5EF4-FFF2-40B4-BE49-F238E27FC236}">
                <a16:creationId xmlns:a16="http://schemas.microsoft.com/office/drawing/2014/main" id="{DC7389B9-79F2-488B-B1BB-758ACE327D9B}"/>
              </a:ext>
            </a:extLst>
          </p:cNvPr>
          <p:cNvSpPr>
            <a:spLocks xmlns:a="http://schemas.openxmlformats.org/drawingml/2006/main" noGrp="1"/>
          </p:cNvSpPr>
          <p:nvPr/>
        </p:nvSpPr>
        <p:spPr>
          <a:xfrm xmlns:a="http://schemas.openxmlformats.org/drawingml/2006/main">
            <a:off x="685800" y="5391150"/>
            <a:ext cx="10820400" cy="762000"/>
          </a:xfrm>
          <a:prstGeom xmlns:a="http://schemas.openxmlformats.org/drawingml/2006/main" prst="rect">
            <a:avLst/>
          </a:prstGeom>
          <a:solidFill xmlns:a="http://schemas.openxmlformats.org/drawingml/2006/main">
            <a:srgbClr val="1C8A78"/>
          </a:solidFill>
          <a:ln xmlns:a="http://schemas.openxmlformats.org/drawingml/2006/main" w="0">
            <a:solidFill>
              <a:srgbClr val="1C8A78"/>
            </a:solidFill>
            <a:prstDash val="solid"/>
          </a:ln>
        </p:spPr>
      </p:sp>
      <p:sp>
        <p:nvSpPr>
          <p:cNvPr id="22" name="">
            <a:extLst xmlns:a="http://schemas.openxmlformats.org/drawingml/2006/main">
              <a:ext uri="{FF2B5EF4-FFF2-40B4-BE49-F238E27FC236}">
                <a16:creationId xmlns:a16="http://schemas.microsoft.com/office/drawing/2014/main" id="{CD60A74C-1B6C-42CC-861D-3303E4896306}"/>
              </a:ext>
            </a:extLst>
          </p:cNvPr>
          <p:cNvSpPr>
            <a:spLocks xmlns:a="http://schemas.openxmlformats.org/drawingml/2006/main" noGrp="1"/>
          </p:cNvSpPr>
          <p:nvPr/>
        </p:nvSpPr>
        <p:spPr>
          <a:xfrm xmlns:a="http://schemas.openxmlformats.org/drawingml/2006/main">
            <a:off x="914400" y="5581650"/>
            <a:ext cx="1619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DDF5EF"/>
                </a:solidFill>
                <a:latin typeface="Aptos"/>
                <a:ea typeface="Aptos"/>
                <a:cs typeface="Aptos"/>
              </a:defRPr>
            </a:pPr>
            <a:r>
              <a:rPr sz="750" b="1">
                <a:solidFill>
                  <a:srgbClr val="DDF5EF"/>
                </a:solidFill>
                <a:latin typeface="Aptos"/>
                <a:ea typeface="Aptos"/>
                <a:cs typeface="Aptos"/>
              </a:rPr>
              <a:t>Pourquoi cette slide compte</a:t>
            </a:r>
          </a:p>
        </p:txBody>
      </p:sp>
      <p:sp>
        <p:nvSpPr>
          <p:cNvPr id="23" name="">
            <a:extLst xmlns:a="http://schemas.openxmlformats.org/drawingml/2006/main">
              <a:ext uri="{FF2B5EF4-FFF2-40B4-BE49-F238E27FC236}">
                <a16:creationId xmlns:a16="http://schemas.microsoft.com/office/drawing/2014/main" id="{45A6C7B7-D889-45B2-8DF9-BE8FE07E7C15}"/>
              </a:ext>
            </a:extLst>
          </p:cNvPr>
          <p:cNvSpPr>
            <a:spLocks xmlns:a="http://schemas.openxmlformats.org/drawingml/2006/main" noGrp="1"/>
          </p:cNvSpPr>
          <p:nvPr/>
        </p:nvSpPr>
        <p:spPr>
          <a:xfrm xmlns:a="http://schemas.openxmlformats.org/drawingml/2006/main">
            <a:off x="914400" y="5791200"/>
            <a:ext cx="5334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FFFFFF"/>
                </a:solidFill>
                <a:latin typeface="Aptos Display"/>
                <a:ea typeface="Aptos Display"/>
                <a:cs typeface="Aptos Display"/>
              </a:defRPr>
            </a:pPr>
            <a:r>
              <a:rPr sz="1650" b="1">
                <a:solidFill>
                  <a:srgbClr val="FFFFFF"/>
                </a:solidFill>
                <a:latin typeface="Aptos Display"/>
                <a:ea typeface="Aptos Display"/>
                <a:cs typeface="Aptos Display"/>
              </a:rPr>
              <a:t>La formation devient crédible quand elle prépare des usages visibles.</a:t>
            </a:r>
          </a:p>
        </p:txBody>
      </p:sp>
      <p:sp>
        <p:nvSpPr>
          <p:cNvPr id="24" name="">
            <a:extLst xmlns:a="http://schemas.openxmlformats.org/drawingml/2006/main">
              <a:ext uri="{FF2B5EF4-FFF2-40B4-BE49-F238E27FC236}">
                <a16:creationId xmlns:a16="http://schemas.microsoft.com/office/drawing/2014/main" id="{A6512B0C-DBF8-442D-BFDD-C2DF4A1DEA2A}"/>
              </a:ext>
            </a:extLst>
          </p:cNvPr>
          <p:cNvSpPr>
            <a:spLocks xmlns:a="http://schemas.openxmlformats.org/drawingml/2006/main" noGrp="1"/>
          </p:cNvSpPr>
          <p:nvPr/>
        </p:nvSpPr>
        <p:spPr>
          <a:xfrm xmlns:a="http://schemas.openxmlformats.org/drawingml/2006/main">
            <a:off x="6667500" y="5734050"/>
            <a:ext cx="44767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Cela permet d'éviter un discours abstrait : les équipes voient tout de suite sur quels gestes métier l'IA doit les aider.</a:t>
            </a:r>
          </a:p>
        </p:txBody>
      </p:sp>
      <p:sp>
        <p:nvSpPr>
          <p:cNvPr id="25" name="">
            <a:extLst xmlns:a="http://schemas.openxmlformats.org/drawingml/2006/main">
              <a:ext uri="{FF2B5EF4-FFF2-40B4-BE49-F238E27FC236}">
                <a16:creationId xmlns:a16="http://schemas.microsoft.com/office/drawing/2014/main" id="{F9DE7B25-8B9B-44B5-804E-AAC22415E2E9}"/>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4868CA50-7C7C-4080-B396-F5FF8ED93E47}"/>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deck institutionnel V3</a:t>
            </a:r>
          </a:p>
        </p:txBody>
      </p:sp>
      <p:sp>
        <p:nvSpPr>
          <p:cNvPr id="27" name="">
            <a:extLst xmlns:a="http://schemas.openxmlformats.org/drawingml/2006/main">
              <a:ext uri="{FF2B5EF4-FFF2-40B4-BE49-F238E27FC236}">
                <a16:creationId xmlns:a16="http://schemas.microsoft.com/office/drawing/2014/main" id="{65464089-ED46-4DD1-A1A8-2FDF755D8A39}"/>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10</a:t>
            </a:r>
          </a:p>
        </p:txBody>
      </p:sp>
    </p:spTree>
    <p:extLst>
      <p:ext uri="{BB962C8B-B14F-4D97-AF65-F5344CB8AC3E}">
        <p14:creationId xmlns:p14="http://schemas.microsoft.com/office/powerpoint/2010/main" val="116025498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BB3D90D-D314-4BE8-84EC-0B58527D1CB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3BB12406-15F6-4E2F-B828-C5FEEE190602}"/>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PARCOURS 90 JOURS</a:t>
            </a:r>
          </a:p>
        </p:txBody>
      </p:sp>
      <p:sp>
        <p:nvSpPr>
          <p:cNvPr id="3" name="">
            <a:extLst xmlns:a="http://schemas.openxmlformats.org/drawingml/2006/main">
              <a:ext uri="{FF2B5EF4-FFF2-40B4-BE49-F238E27FC236}">
                <a16:creationId xmlns:a16="http://schemas.microsoft.com/office/drawing/2014/main" id="{D68D691C-393E-4198-92E5-8EC83E296B1C}"/>
              </a:ext>
            </a:extLst>
          </p:cNvPr>
          <p:cNvSpPr>
            <a:spLocks xmlns:a="http://schemas.openxmlformats.org/drawingml/2006/main" noGrp="1"/>
          </p:cNvSpPr>
          <p:nvPr/>
        </p:nvSpPr>
        <p:spPr>
          <a:xfrm xmlns:a="http://schemas.openxmlformats.org/drawingml/2006/main">
            <a:off x="685800" y="819150"/>
            <a:ext cx="8572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La séquence recommandée pour passer du cadrage au pilote</a:t>
            </a:r>
          </a:p>
        </p:txBody>
      </p:sp>
      <p:sp>
        <p:nvSpPr>
          <p:cNvPr id="4" name="">
            <a:extLst xmlns:a="http://schemas.openxmlformats.org/drawingml/2006/main">
              <a:ext uri="{FF2B5EF4-FFF2-40B4-BE49-F238E27FC236}">
                <a16:creationId xmlns:a16="http://schemas.microsoft.com/office/drawing/2014/main" id="{32AF4707-FFAB-4E7C-B8FF-EA500A47CECA}"/>
              </a:ext>
            </a:extLst>
          </p:cNvPr>
          <p:cNvSpPr>
            <a:spLocks xmlns:a="http://schemas.openxmlformats.org/drawingml/2006/main" noGrp="1"/>
          </p:cNvSpPr>
          <p:nvPr/>
        </p:nvSpPr>
        <p:spPr>
          <a:xfrm xmlns:a="http://schemas.openxmlformats.org/drawingml/2006/main">
            <a:off x="685800" y="1676400"/>
            <a:ext cx="8953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Le bon scénario n'est pas de tout vendre d'un bloc, mais d'enchaîner les étapes utiles dans le bon ordre, avec validation à chaque palier.</a:t>
            </a:r>
          </a:p>
        </p:txBody>
      </p:sp>
      <p:sp>
        <p:nvSpPr>
          <p:cNvPr id="5" name="">
            <a:extLst xmlns:a="http://schemas.openxmlformats.org/drawingml/2006/main">
              <a:ext uri="{FF2B5EF4-FFF2-40B4-BE49-F238E27FC236}">
                <a16:creationId xmlns:a16="http://schemas.microsoft.com/office/drawing/2014/main" id="{12555E0C-C2C4-442F-B7CE-47F98DDFCBFF}"/>
              </a:ext>
            </a:extLst>
          </p:cNvPr>
          <p:cNvSpPr>
            <a:spLocks xmlns:a="http://schemas.openxmlformats.org/drawingml/2006/main" noGrp="1"/>
          </p:cNvSpPr>
          <p:nvPr/>
        </p:nvSpPr>
        <p:spPr>
          <a:xfrm xmlns:a="http://schemas.openxmlformats.org/drawingml/2006/main">
            <a:off x="685800" y="2247900"/>
            <a:ext cx="2438400" cy="23622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6" name="">
            <a:extLst xmlns:a="http://schemas.openxmlformats.org/drawingml/2006/main">
              <a:ext uri="{FF2B5EF4-FFF2-40B4-BE49-F238E27FC236}">
                <a16:creationId xmlns:a16="http://schemas.microsoft.com/office/drawing/2014/main" id="{D61D9A2B-1180-4DC3-8E52-D6D9DC1BEC42}"/>
              </a:ext>
            </a:extLst>
          </p:cNvPr>
          <p:cNvSpPr>
            <a:spLocks xmlns:a="http://schemas.openxmlformats.org/drawingml/2006/main" noGrp="1"/>
          </p:cNvSpPr>
          <p:nvPr/>
        </p:nvSpPr>
        <p:spPr>
          <a:xfrm xmlns:a="http://schemas.openxmlformats.org/drawingml/2006/main">
            <a:off x="857250" y="2400300"/>
            <a:ext cx="57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E76F1D"/>
                </a:solidFill>
                <a:latin typeface="Aptos Display"/>
                <a:ea typeface="Aptos Display"/>
                <a:cs typeface="Aptos Display"/>
              </a:defRPr>
            </a:pPr>
            <a:r>
              <a:rPr sz="1500" b="1">
                <a:solidFill>
                  <a:srgbClr val="E76F1D"/>
                </a:solidFill>
                <a:latin typeface="Aptos Display"/>
                <a:ea typeface="Aptos Display"/>
                <a:cs typeface="Aptos Display"/>
              </a:rPr>
              <a:t>01</a:t>
            </a:r>
          </a:p>
        </p:txBody>
      </p:sp>
      <p:sp>
        <p:nvSpPr>
          <p:cNvPr id="7" name="">
            <a:extLst xmlns:a="http://schemas.openxmlformats.org/drawingml/2006/main">
              <a:ext uri="{FF2B5EF4-FFF2-40B4-BE49-F238E27FC236}">
                <a16:creationId xmlns:a16="http://schemas.microsoft.com/office/drawing/2014/main" id="{7ABBAFEE-252C-4B5D-8AAE-A1800063DCE9}"/>
              </a:ext>
            </a:extLst>
          </p:cNvPr>
          <p:cNvSpPr>
            <a:spLocks xmlns:a="http://schemas.openxmlformats.org/drawingml/2006/main" noGrp="1"/>
          </p:cNvSpPr>
          <p:nvPr/>
        </p:nvSpPr>
        <p:spPr>
          <a:xfrm xmlns:a="http://schemas.openxmlformats.org/drawingml/2006/main">
            <a:off x="857250" y="2762250"/>
            <a:ext cx="209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A3554"/>
                </a:solidFill>
                <a:latin typeface="Aptos Display"/>
                <a:ea typeface="Aptos Display"/>
                <a:cs typeface="Aptos Display"/>
              </a:defRPr>
            </a:pPr>
            <a:r>
              <a:rPr sz="1350" b="1">
                <a:solidFill>
                  <a:srgbClr val="1A3554"/>
                </a:solidFill>
                <a:latin typeface="Aptos Display"/>
                <a:ea typeface="Aptos Display"/>
                <a:cs typeface="Aptos Display"/>
              </a:rPr>
              <a:t>J+0 | Audit et cadrage</a:t>
            </a:r>
          </a:p>
        </p:txBody>
      </p:sp>
      <p:sp>
        <p:nvSpPr>
          <p:cNvPr id="8" name="">
            <a:extLst xmlns:a="http://schemas.openxmlformats.org/drawingml/2006/main">
              <a:ext uri="{FF2B5EF4-FFF2-40B4-BE49-F238E27FC236}">
                <a16:creationId xmlns:a16="http://schemas.microsoft.com/office/drawing/2014/main" id="{B76C57D9-9913-45B2-BD8A-FE551F501719}"/>
              </a:ext>
            </a:extLst>
          </p:cNvPr>
          <p:cNvSpPr>
            <a:spLocks xmlns:a="http://schemas.openxmlformats.org/drawingml/2006/main" noGrp="1"/>
          </p:cNvSpPr>
          <p:nvPr/>
        </p:nvSpPr>
        <p:spPr>
          <a:xfrm xmlns:a="http://schemas.openxmlformats.org/drawingml/2006/main">
            <a:off x="857250" y="3333750"/>
            <a:ext cx="2095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Cartographier les irritants, choisir les cas d'usage prioritaires et définir les KPI de preuve.</a:t>
            </a:r>
          </a:p>
        </p:txBody>
      </p:sp>
      <p:sp>
        <p:nvSpPr>
          <p:cNvPr id="9" name="">
            <a:extLst xmlns:a="http://schemas.openxmlformats.org/drawingml/2006/main">
              <a:ext uri="{FF2B5EF4-FFF2-40B4-BE49-F238E27FC236}">
                <a16:creationId xmlns:a16="http://schemas.microsoft.com/office/drawing/2014/main" id="{8CB741B6-965E-4953-9EB6-9C52876A8EA9}"/>
              </a:ext>
            </a:extLst>
          </p:cNvPr>
          <p:cNvSpPr>
            <a:spLocks xmlns:a="http://schemas.openxmlformats.org/drawingml/2006/main" noGrp="1"/>
          </p:cNvSpPr>
          <p:nvPr/>
        </p:nvSpPr>
        <p:spPr>
          <a:xfrm xmlns:a="http://schemas.openxmlformats.org/drawingml/2006/main">
            <a:off x="3352800" y="2247900"/>
            <a:ext cx="2438400" cy="23622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0" name="">
            <a:extLst xmlns:a="http://schemas.openxmlformats.org/drawingml/2006/main">
              <a:ext uri="{FF2B5EF4-FFF2-40B4-BE49-F238E27FC236}">
                <a16:creationId xmlns:a16="http://schemas.microsoft.com/office/drawing/2014/main" id="{ACB105CE-8D3E-49CE-BC5D-A2AAF2E42D59}"/>
              </a:ext>
            </a:extLst>
          </p:cNvPr>
          <p:cNvSpPr>
            <a:spLocks xmlns:a="http://schemas.openxmlformats.org/drawingml/2006/main" noGrp="1"/>
          </p:cNvSpPr>
          <p:nvPr/>
        </p:nvSpPr>
        <p:spPr>
          <a:xfrm xmlns:a="http://schemas.openxmlformats.org/drawingml/2006/main">
            <a:off x="3524250" y="2400300"/>
            <a:ext cx="57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C8A78"/>
                </a:solidFill>
                <a:latin typeface="Aptos Display"/>
                <a:ea typeface="Aptos Display"/>
                <a:cs typeface="Aptos Display"/>
              </a:defRPr>
            </a:pPr>
            <a:r>
              <a:rPr sz="1500" b="1">
                <a:solidFill>
                  <a:srgbClr val="1C8A78"/>
                </a:solidFill>
                <a:latin typeface="Aptos Display"/>
                <a:ea typeface="Aptos Display"/>
                <a:cs typeface="Aptos Display"/>
              </a:rPr>
              <a:t>02</a:t>
            </a:r>
          </a:p>
        </p:txBody>
      </p:sp>
      <p:sp>
        <p:nvSpPr>
          <p:cNvPr id="11" name="">
            <a:extLst xmlns:a="http://schemas.openxmlformats.org/drawingml/2006/main">
              <a:ext uri="{FF2B5EF4-FFF2-40B4-BE49-F238E27FC236}">
                <a16:creationId xmlns:a16="http://schemas.microsoft.com/office/drawing/2014/main" id="{FF6D6DCA-1D91-4F1C-AF90-498B6BD5F87D}"/>
              </a:ext>
            </a:extLst>
          </p:cNvPr>
          <p:cNvSpPr>
            <a:spLocks xmlns:a="http://schemas.openxmlformats.org/drawingml/2006/main" noGrp="1"/>
          </p:cNvSpPr>
          <p:nvPr/>
        </p:nvSpPr>
        <p:spPr>
          <a:xfrm xmlns:a="http://schemas.openxmlformats.org/drawingml/2006/main">
            <a:off x="3524250" y="2762250"/>
            <a:ext cx="209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A3554"/>
                </a:solidFill>
                <a:latin typeface="Aptos Display"/>
                <a:ea typeface="Aptos Display"/>
                <a:cs typeface="Aptos Display"/>
              </a:defRPr>
            </a:pPr>
            <a:r>
              <a:rPr sz="1350" b="1">
                <a:solidFill>
                  <a:srgbClr val="1A3554"/>
                </a:solidFill>
                <a:latin typeface="Aptos Display"/>
                <a:ea typeface="Aptos Display"/>
                <a:cs typeface="Aptos Display"/>
              </a:rPr>
              <a:t>J+15 | Prototype ciblé</a:t>
            </a:r>
          </a:p>
        </p:txBody>
      </p:sp>
      <p:sp>
        <p:nvSpPr>
          <p:cNvPr id="12" name="">
            <a:extLst xmlns:a="http://schemas.openxmlformats.org/drawingml/2006/main">
              <a:ext uri="{FF2B5EF4-FFF2-40B4-BE49-F238E27FC236}">
                <a16:creationId xmlns:a16="http://schemas.microsoft.com/office/drawing/2014/main" id="{B203EBEE-1A61-477E-A6F3-31B863F9B0C1}"/>
              </a:ext>
            </a:extLst>
          </p:cNvPr>
          <p:cNvSpPr>
            <a:spLocks xmlns:a="http://schemas.openxmlformats.org/drawingml/2006/main" noGrp="1"/>
          </p:cNvSpPr>
          <p:nvPr/>
        </p:nvSpPr>
        <p:spPr>
          <a:xfrm xmlns:a="http://schemas.openxmlformats.org/drawingml/2006/main">
            <a:off x="3524250" y="3333750"/>
            <a:ext cx="2095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Produire un premier livrable exploitable : synthèse, tableau de bord, assistant ou routine de pilotage.</a:t>
            </a:r>
          </a:p>
        </p:txBody>
      </p:sp>
      <p:sp>
        <p:nvSpPr>
          <p:cNvPr id="13" name="">
            <a:extLst xmlns:a="http://schemas.openxmlformats.org/drawingml/2006/main">
              <a:ext uri="{FF2B5EF4-FFF2-40B4-BE49-F238E27FC236}">
                <a16:creationId xmlns:a16="http://schemas.microsoft.com/office/drawing/2014/main" id="{E904DC09-9E2D-4631-B6AB-A47214618753}"/>
              </a:ext>
            </a:extLst>
          </p:cNvPr>
          <p:cNvSpPr>
            <a:spLocks xmlns:a="http://schemas.openxmlformats.org/drawingml/2006/main" noGrp="1"/>
          </p:cNvSpPr>
          <p:nvPr/>
        </p:nvSpPr>
        <p:spPr>
          <a:xfrm xmlns:a="http://schemas.openxmlformats.org/drawingml/2006/main">
            <a:off x="6019800" y="2247900"/>
            <a:ext cx="2438400" cy="23622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4" name="">
            <a:extLst xmlns:a="http://schemas.openxmlformats.org/drawingml/2006/main">
              <a:ext uri="{FF2B5EF4-FFF2-40B4-BE49-F238E27FC236}">
                <a16:creationId xmlns:a16="http://schemas.microsoft.com/office/drawing/2014/main" id="{2CC78D47-8E27-4CE4-8A78-71F05DCDC284}"/>
              </a:ext>
            </a:extLst>
          </p:cNvPr>
          <p:cNvSpPr>
            <a:spLocks xmlns:a="http://schemas.openxmlformats.org/drawingml/2006/main" noGrp="1"/>
          </p:cNvSpPr>
          <p:nvPr/>
        </p:nvSpPr>
        <p:spPr>
          <a:xfrm xmlns:a="http://schemas.openxmlformats.org/drawingml/2006/main">
            <a:off x="6191250" y="2400300"/>
            <a:ext cx="57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163556"/>
                </a:solidFill>
                <a:latin typeface="Aptos Display"/>
                <a:ea typeface="Aptos Display"/>
                <a:cs typeface="Aptos Display"/>
              </a:defRPr>
            </a:pPr>
            <a:r>
              <a:rPr sz="1500" b="1">
                <a:solidFill>
                  <a:srgbClr val="163556"/>
                </a:solidFill>
                <a:latin typeface="Aptos Display"/>
                <a:ea typeface="Aptos Display"/>
                <a:cs typeface="Aptos Display"/>
              </a:rPr>
              <a:t>03</a:t>
            </a:r>
          </a:p>
        </p:txBody>
      </p:sp>
      <p:sp>
        <p:nvSpPr>
          <p:cNvPr id="15" name="">
            <a:extLst xmlns:a="http://schemas.openxmlformats.org/drawingml/2006/main">
              <a:ext uri="{FF2B5EF4-FFF2-40B4-BE49-F238E27FC236}">
                <a16:creationId xmlns:a16="http://schemas.microsoft.com/office/drawing/2014/main" id="{C8EF6150-28D7-4E9C-BAC6-8D0E777F0179}"/>
              </a:ext>
            </a:extLst>
          </p:cNvPr>
          <p:cNvSpPr>
            <a:spLocks xmlns:a="http://schemas.openxmlformats.org/drawingml/2006/main" noGrp="1"/>
          </p:cNvSpPr>
          <p:nvPr/>
        </p:nvSpPr>
        <p:spPr>
          <a:xfrm xmlns:a="http://schemas.openxmlformats.org/drawingml/2006/main">
            <a:off x="6191250" y="2762250"/>
            <a:ext cx="2095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A3554"/>
                </a:solidFill>
                <a:latin typeface="Aptos Display"/>
                <a:ea typeface="Aptos Display"/>
                <a:cs typeface="Aptos Display"/>
              </a:defRPr>
            </a:pPr>
            <a:r>
              <a:rPr sz="1350" b="1">
                <a:solidFill>
                  <a:srgbClr val="1A3554"/>
                </a:solidFill>
                <a:latin typeface="Aptos Display"/>
                <a:ea typeface="Aptos Display"/>
                <a:cs typeface="Aptos Display"/>
              </a:rPr>
              <a:t>J+45 | Formation et pilote</a:t>
            </a:r>
          </a:p>
        </p:txBody>
      </p:sp>
      <p:sp>
        <p:nvSpPr>
          <p:cNvPr id="16" name="">
            <a:extLst xmlns:a="http://schemas.openxmlformats.org/drawingml/2006/main">
              <a:ext uri="{FF2B5EF4-FFF2-40B4-BE49-F238E27FC236}">
                <a16:creationId xmlns:a16="http://schemas.microsoft.com/office/drawing/2014/main" id="{659749A6-6AF4-40F1-B31D-41B79193775E}"/>
              </a:ext>
            </a:extLst>
          </p:cNvPr>
          <p:cNvSpPr>
            <a:spLocks xmlns:a="http://schemas.openxmlformats.org/drawingml/2006/main" noGrp="1"/>
          </p:cNvSpPr>
          <p:nvPr/>
        </p:nvSpPr>
        <p:spPr>
          <a:xfrm xmlns:a="http://schemas.openxmlformats.org/drawingml/2006/main">
            <a:off x="6191250" y="3333750"/>
            <a:ext cx="2095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Former la bonne population et lancer le pilote sur un flux concret, avec supervision et revue métier.</a:t>
            </a:r>
          </a:p>
        </p:txBody>
      </p:sp>
      <p:sp>
        <p:nvSpPr>
          <p:cNvPr id="17" name="">
            <a:extLst xmlns:a="http://schemas.openxmlformats.org/drawingml/2006/main">
              <a:ext uri="{FF2B5EF4-FFF2-40B4-BE49-F238E27FC236}">
                <a16:creationId xmlns:a16="http://schemas.microsoft.com/office/drawing/2014/main" id="{E68347D4-1940-4E24-A22A-DAB0190A7B4A}"/>
              </a:ext>
            </a:extLst>
          </p:cNvPr>
          <p:cNvSpPr>
            <a:spLocks xmlns:a="http://schemas.openxmlformats.org/drawingml/2006/main" noGrp="1"/>
          </p:cNvSpPr>
          <p:nvPr/>
        </p:nvSpPr>
        <p:spPr>
          <a:xfrm xmlns:a="http://schemas.openxmlformats.org/drawingml/2006/main">
            <a:off x="8686800" y="2247900"/>
            <a:ext cx="2819400" cy="236220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18" name="">
            <a:extLst xmlns:a="http://schemas.openxmlformats.org/drawingml/2006/main">
              <a:ext uri="{FF2B5EF4-FFF2-40B4-BE49-F238E27FC236}">
                <a16:creationId xmlns:a16="http://schemas.microsoft.com/office/drawing/2014/main" id="{DE0BD8F7-067A-4205-9787-0282FFC8D806}"/>
              </a:ext>
            </a:extLst>
          </p:cNvPr>
          <p:cNvSpPr>
            <a:spLocks xmlns:a="http://schemas.openxmlformats.org/drawingml/2006/main" noGrp="1"/>
          </p:cNvSpPr>
          <p:nvPr/>
        </p:nvSpPr>
        <p:spPr>
          <a:xfrm xmlns:a="http://schemas.openxmlformats.org/drawingml/2006/main">
            <a:off x="8858250" y="2400300"/>
            <a:ext cx="571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C88C3A"/>
                </a:solidFill>
                <a:latin typeface="Aptos Display"/>
                <a:ea typeface="Aptos Display"/>
                <a:cs typeface="Aptos Display"/>
              </a:defRPr>
            </a:pPr>
            <a:r>
              <a:rPr sz="1500" b="1">
                <a:solidFill>
                  <a:srgbClr val="C88C3A"/>
                </a:solidFill>
                <a:latin typeface="Aptos Display"/>
                <a:ea typeface="Aptos Display"/>
                <a:cs typeface="Aptos Display"/>
              </a:rPr>
              <a:t>04</a:t>
            </a:r>
          </a:p>
        </p:txBody>
      </p:sp>
      <p:sp>
        <p:nvSpPr>
          <p:cNvPr id="19" name="">
            <a:extLst xmlns:a="http://schemas.openxmlformats.org/drawingml/2006/main">
              <a:ext uri="{FF2B5EF4-FFF2-40B4-BE49-F238E27FC236}">
                <a16:creationId xmlns:a16="http://schemas.microsoft.com/office/drawing/2014/main" id="{6C1D88BB-902C-44C0-9966-D05593D8D734}"/>
              </a:ext>
            </a:extLst>
          </p:cNvPr>
          <p:cNvSpPr>
            <a:spLocks xmlns:a="http://schemas.openxmlformats.org/drawingml/2006/main" noGrp="1"/>
          </p:cNvSpPr>
          <p:nvPr/>
        </p:nvSpPr>
        <p:spPr>
          <a:xfrm xmlns:a="http://schemas.openxmlformats.org/drawingml/2006/main">
            <a:off x="8858250" y="2762250"/>
            <a:ext cx="2476500"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A3554"/>
                </a:solidFill>
                <a:latin typeface="Aptos Display"/>
                <a:ea typeface="Aptos Display"/>
                <a:cs typeface="Aptos Display"/>
              </a:defRPr>
            </a:pPr>
            <a:r>
              <a:rPr sz="1350" b="1">
                <a:solidFill>
                  <a:srgbClr val="1A3554"/>
                </a:solidFill>
                <a:latin typeface="Aptos Display"/>
                <a:ea typeface="Aptos Display"/>
                <a:cs typeface="Aptos Display"/>
              </a:rPr>
              <a:t>J+90 | ROI et extension</a:t>
            </a:r>
          </a:p>
        </p:txBody>
      </p:sp>
      <p:sp>
        <p:nvSpPr>
          <p:cNvPr id="20" name="">
            <a:extLst xmlns:a="http://schemas.openxmlformats.org/drawingml/2006/main">
              <a:ext uri="{FF2B5EF4-FFF2-40B4-BE49-F238E27FC236}">
                <a16:creationId xmlns:a16="http://schemas.microsoft.com/office/drawing/2014/main" id="{4E6EB29F-653B-46BC-9E9D-DC6C66A104C4}"/>
              </a:ext>
            </a:extLst>
          </p:cNvPr>
          <p:cNvSpPr>
            <a:spLocks xmlns:a="http://schemas.openxmlformats.org/drawingml/2006/main" noGrp="1"/>
          </p:cNvSpPr>
          <p:nvPr/>
        </p:nvSpPr>
        <p:spPr>
          <a:xfrm xmlns:a="http://schemas.openxmlformats.org/drawingml/2006/main">
            <a:off x="8858250" y="3333750"/>
            <a:ext cx="24765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617086"/>
                </a:solidFill>
                <a:latin typeface="Aptos"/>
                <a:ea typeface="Aptos"/>
                <a:cs typeface="Aptos"/>
              </a:defRPr>
            </a:pPr>
            <a:r>
              <a:rPr sz="938" b="0">
                <a:solidFill>
                  <a:srgbClr val="617086"/>
                </a:solidFill>
                <a:latin typeface="Aptos"/>
                <a:ea typeface="Aptos"/>
                <a:cs typeface="Aptos"/>
              </a:rPr>
              <a:t>Mesurer les premiers résultats, documenter les apprentissages et décider ce qui mérite d'être étendu.</a:t>
            </a:r>
          </a:p>
        </p:txBody>
      </p:sp>
      <p:sp>
        <p:nvSpPr>
          <p:cNvPr id="21" name="">
            <a:extLst xmlns:a="http://schemas.openxmlformats.org/drawingml/2006/main">
              <a:ext uri="{FF2B5EF4-FFF2-40B4-BE49-F238E27FC236}">
                <a16:creationId xmlns:a16="http://schemas.microsoft.com/office/drawing/2014/main" id="{716AA788-1C9B-485C-82A9-BC25BE72A3E3}"/>
              </a:ext>
            </a:extLst>
          </p:cNvPr>
          <p:cNvSpPr>
            <a:spLocks xmlns:a="http://schemas.openxmlformats.org/drawingml/2006/main" noGrp="1"/>
          </p:cNvSpPr>
          <p:nvPr/>
        </p:nvSpPr>
        <p:spPr>
          <a:xfrm xmlns:a="http://schemas.openxmlformats.org/drawingml/2006/main">
            <a:off x="685800" y="4953000"/>
            <a:ext cx="10820400" cy="10668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22" name="">
            <a:extLst xmlns:a="http://schemas.openxmlformats.org/drawingml/2006/main">
              <a:ext uri="{FF2B5EF4-FFF2-40B4-BE49-F238E27FC236}">
                <a16:creationId xmlns:a16="http://schemas.microsoft.com/office/drawing/2014/main" id="{8CEA209F-5C65-490D-9B42-77125410CA80}"/>
              </a:ext>
            </a:extLst>
          </p:cNvPr>
          <p:cNvSpPr>
            <a:spLocks xmlns:a="http://schemas.openxmlformats.org/drawingml/2006/main" noGrp="1"/>
          </p:cNvSpPr>
          <p:nvPr/>
        </p:nvSpPr>
        <p:spPr>
          <a:xfrm xmlns:a="http://schemas.openxmlformats.org/drawingml/2006/main">
            <a:off x="914400" y="5162550"/>
            <a:ext cx="276225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CFE0F0"/>
                </a:solidFill>
                <a:latin typeface="Aptos"/>
                <a:ea typeface="Aptos"/>
                <a:cs typeface="Aptos"/>
              </a:defRPr>
            </a:pPr>
            <a:r>
              <a:rPr sz="750" b="1">
                <a:solidFill>
                  <a:srgbClr val="CFE0F0"/>
                </a:solidFill>
                <a:latin typeface="Aptos"/>
                <a:ea typeface="Aptos"/>
                <a:cs typeface="Aptos"/>
              </a:rPr>
              <a:t>Ce que l'organisation obtient à chaque étape</a:t>
            </a:r>
          </a:p>
        </p:txBody>
      </p:sp>
      <p:sp>
        <p:nvSpPr>
          <p:cNvPr id="23" name="">
            <a:extLst xmlns:a="http://schemas.openxmlformats.org/drawingml/2006/main">
              <a:ext uri="{FF2B5EF4-FFF2-40B4-BE49-F238E27FC236}">
                <a16:creationId xmlns:a16="http://schemas.microsoft.com/office/drawing/2014/main" id="{379B90A8-964C-4DCA-9400-4925619C7EAA}"/>
              </a:ext>
            </a:extLst>
          </p:cNvPr>
          <p:cNvSpPr>
            <a:spLocks xmlns:a="http://schemas.openxmlformats.org/drawingml/2006/main" noGrp="1"/>
          </p:cNvSpPr>
          <p:nvPr/>
        </p:nvSpPr>
        <p:spPr>
          <a:xfrm xmlns:a="http://schemas.openxmlformats.org/drawingml/2006/main">
            <a:off x="914400" y="5391150"/>
            <a:ext cx="24765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FFFFFF"/>
                </a:solidFill>
                <a:latin typeface="Aptos"/>
                <a:ea typeface="Aptos"/>
                <a:cs typeface="Aptos"/>
              </a:defRPr>
            </a:pPr>
            <a:r>
              <a:rPr sz="863" b="0">
                <a:solidFill>
                  <a:srgbClr val="FFFFFF"/>
                </a:solidFill>
                <a:latin typeface="Aptos"/>
                <a:ea typeface="Aptos"/>
                <a:cs typeface="Aptos"/>
              </a:rPr>
              <a:t>• priorités mieux choisies</a:t>
            </a:r>
          </a:p>
          <a:p xmlns:a="http://schemas.openxmlformats.org/drawingml/2006/main">
            <a:pPr algn="l">
              <a:defRPr sz="863" b="0">
                <a:solidFill>
                  <a:srgbClr val="FFFFFF"/>
                </a:solidFill>
                <a:latin typeface="Aptos"/>
                <a:ea typeface="Aptos"/>
                <a:cs typeface="Aptos"/>
              </a:defRPr>
            </a:pPr>
            <a:r>
              <a:rPr sz="863" b="0">
                <a:solidFill>
                  <a:srgbClr val="FFFFFF"/>
                </a:solidFill>
                <a:latin typeface="Aptos"/>
                <a:ea typeface="Aptos"/>
                <a:cs typeface="Aptos"/>
              </a:rPr>
              <a:t>• cas d'usage mieux qualifiés</a:t>
            </a:r>
          </a:p>
          <a:p xmlns:a="http://schemas.openxmlformats.org/drawingml/2006/main">
            <a:pPr algn="l">
              <a:defRPr sz="863" b="0">
                <a:solidFill>
                  <a:srgbClr val="FFFFFF"/>
                </a:solidFill>
                <a:latin typeface="Aptos"/>
                <a:ea typeface="Aptos"/>
                <a:cs typeface="Aptos"/>
              </a:defRPr>
            </a:pPr>
            <a:r>
              <a:rPr sz="863" b="0">
                <a:solidFill>
                  <a:srgbClr val="FFFFFF"/>
                </a:solidFill>
                <a:latin typeface="Aptos"/>
                <a:ea typeface="Aptos"/>
                <a:cs typeface="Aptos"/>
              </a:rPr>
              <a:t>• formation plus ciblée</a:t>
            </a:r>
          </a:p>
          <a:p xmlns:a="http://schemas.openxmlformats.org/drawingml/2006/main">
            <a:pPr algn="l">
              <a:defRPr sz="863" b="0">
                <a:solidFill>
                  <a:srgbClr val="FFFFFF"/>
                </a:solidFill>
                <a:latin typeface="Aptos"/>
                <a:ea typeface="Aptos"/>
                <a:cs typeface="Aptos"/>
              </a:defRPr>
            </a:pPr>
            <a:r>
              <a:rPr sz="863" b="0">
                <a:solidFill>
                  <a:srgbClr val="FFFFFF"/>
                </a:solidFill>
                <a:latin typeface="Aptos"/>
                <a:ea typeface="Aptos"/>
                <a:cs typeface="Aptos"/>
              </a:rPr>
              <a:t>• décision plus simple sur le passage à l'échelle</a:t>
            </a:r>
          </a:p>
        </p:txBody>
      </p:sp>
      <p:sp>
        <p:nvSpPr>
          <p:cNvPr id="24" name="">
            <a:extLst xmlns:a="http://schemas.openxmlformats.org/drawingml/2006/main">
              <a:ext uri="{FF2B5EF4-FFF2-40B4-BE49-F238E27FC236}">
                <a16:creationId xmlns:a16="http://schemas.microsoft.com/office/drawing/2014/main" id="{6CACB69D-F382-491D-A2AA-59AC491C1830}"/>
              </a:ext>
            </a:extLst>
          </p:cNvPr>
          <p:cNvSpPr>
            <a:spLocks xmlns:a="http://schemas.openxmlformats.org/drawingml/2006/main" noGrp="1"/>
          </p:cNvSpPr>
          <p:nvPr/>
        </p:nvSpPr>
        <p:spPr>
          <a:xfrm xmlns:a="http://schemas.openxmlformats.org/drawingml/2006/main">
            <a:off x="3943350" y="5505450"/>
            <a:ext cx="7010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D7E5F3"/>
                </a:solidFill>
                <a:latin typeface="Aptos"/>
                <a:ea typeface="Aptos"/>
                <a:cs typeface="Aptos"/>
              </a:defRPr>
            </a:pPr>
            <a:r>
              <a:rPr sz="938" b="1">
                <a:solidFill>
                  <a:srgbClr val="D7E5F3"/>
                </a:solidFill>
                <a:latin typeface="Aptos"/>
                <a:ea typeface="Aptos"/>
                <a:cs typeface="Aptos"/>
              </a:rPr>
              <a:t>Principe de gouvernance : aucun passage à l'étape suivante sans validation des livrables, des accès et des usages autorisés.</a:t>
            </a:r>
          </a:p>
        </p:txBody>
      </p:sp>
      <p:sp>
        <p:nvSpPr>
          <p:cNvPr id="25" name="">
            <a:extLst xmlns:a="http://schemas.openxmlformats.org/drawingml/2006/main">
              <a:ext uri="{FF2B5EF4-FFF2-40B4-BE49-F238E27FC236}">
                <a16:creationId xmlns:a16="http://schemas.microsoft.com/office/drawing/2014/main" id="{AC7CC2D3-477F-459A-861A-44EB1463DDC6}"/>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A04AE2F2-77FC-43F2-B103-098F8509D7DE}"/>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deck institutionnel V3</a:t>
            </a:r>
          </a:p>
        </p:txBody>
      </p:sp>
      <p:sp>
        <p:nvSpPr>
          <p:cNvPr id="27" name="">
            <a:extLst xmlns:a="http://schemas.openxmlformats.org/drawingml/2006/main">
              <a:ext uri="{FF2B5EF4-FFF2-40B4-BE49-F238E27FC236}">
                <a16:creationId xmlns:a16="http://schemas.microsoft.com/office/drawing/2014/main" id="{F12D8D90-5974-4253-87A8-4C2E8BA62921}"/>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11</a:t>
            </a:r>
          </a:p>
        </p:txBody>
      </p:sp>
    </p:spTree>
    <p:extLst>
      <p:ext uri="{BB962C8B-B14F-4D97-AF65-F5344CB8AC3E}">
        <p14:creationId xmlns:p14="http://schemas.microsoft.com/office/powerpoint/2010/main" val="184248222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9EEBBF8-3D44-4628-BB48-A1E1F51D598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ED99C717-A1A7-4900-8104-2D9C55781E07}"/>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OFFRE RECOMMANDÉE</a:t>
            </a:r>
          </a:p>
        </p:txBody>
      </p:sp>
      <p:sp>
        <p:nvSpPr>
          <p:cNvPr id="3" name="">
            <a:extLst xmlns:a="http://schemas.openxmlformats.org/drawingml/2006/main">
              <a:ext uri="{FF2B5EF4-FFF2-40B4-BE49-F238E27FC236}">
                <a16:creationId xmlns:a16="http://schemas.microsoft.com/office/drawing/2014/main" id="{9B21810A-58E8-4C6B-8387-181A36C0665F}"/>
              </a:ext>
            </a:extLst>
          </p:cNvPr>
          <p:cNvSpPr>
            <a:spLocks xmlns:a="http://schemas.openxmlformats.org/drawingml/2006/main" noGrp="1"/>
          </p:cNvSpPr>
          <p:nvPr/>
        </p:nvSpPr>
        <p:spPr>
          <a:xfrm xmlns:a="http://schemas.openxmlformats.org/drawingml/2006/main">
            <a:off x="685800" y="819150"/>
            <a:ext cx="80010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La proposition TransferAI pour votre organisation</a:t>
            </a:r>
          </a:p>
        </p:txBody>
      </p:sp>
      <p:sp>
        <p:nvSpPr>
          <p:cNvPr id="4" name="">
            <a:extLst xmlns:a="http://schemas.openxmlformats.org/drawingml/2006/main">
              <a:ext uri="{FF2B5EF4-FFF2-40B4-BE49-F238E27FC236}">
                <a16:creationId xmlns:a16="http://schemas.microsoft.com/office/drawing/2014/main" id="{671AF4DB-42DD-4E59-A34B-11F0ACCEC887}"/>
              </a:ext>
            </a:extLst>
          </p:cNvPr>
          <p:cNvSpPr>
            <a:spLocks xmlns:a="http://schemas.openxmlformats.org/drawingml/2006/main" noGrp="1"/>
          </p:cNvSpPr>
          <p:nvPr/>
        </p:nvSpPr>
        <p:spPr>
          <a:xfrm xmlns:a="http://schemas.openxmlformats.org/drawingml/2006/main">
            <a:off x="685800" y="1676400"/>
            <a:ext cx="9239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0">
                <a:solidFill>
                  <a:srgbClr val="617086"/>
                </a:solidFill>
                <a:latin typeface="Aptos"/>
                <a:ea typeface="Aptos"/>
                <a:cs typeface="Aptos"/>
              </a:defRPr>
            </a:pPr>
            <a:r>
              <a:rPr sz="1050" b="0">
                <a:solidFill>
                  <a:srgbClr val="617086"/>
                </a:solidFill>
                <a:latin typeface="Aptos"/>
                <a:ea typeface="Aptos"/>
                <a:cs typeface="Aptos"/>
              </a:rPr>
              <a:t>Notre valeur ne vient pas d'un outil unique, mais de l'enchaînement entre diagnostic, formation utile, gouvernance et premier terrain d'exécution.</a:t>
            </a:r>
          </a:p>
        </p:txBody>
      </p:sp>
      <p:sp>
        <p:nvSpPr>
          <p:cNvPr id="5" name="">
            <a:extLst xmlns:a="http://schemas.openxmlformats.org/drawingml/2006/main">
              <a:ext uri="{FF2B5EF4-FFF2-40B4-BE49-F238E27FC236}">
                <a16:creationId xmlns:a16="http://schemas.microsoft.com/office/drawing/2014/main" id="{BA47ECA3-271B-4C37-B414-7DBF888BE9F1}"/>
              </a:ext>
            </a:extLst>
          </p:cNvPr>
          <p:cNvSpPr>
            <a:spLocks xmlns:a="http://schemas.openxmlformats.org/drawingml/2006/main" noGrp="1"/>
          </p:cNvSpPr>
          <p:nvPr/>
        </p:nvSpPr>
        <p:spPr>
          <a:xfrm xmlns:a="http://schemas.openxmlformats.org/drawingml/2006/main">
            <a:off x="685800" y="2247900"/>
            <a:ext cx="5181600" cy="133350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6" name="">
            <a:extLst xmlns:a="http://schemas.openxmlformats.org/drawingml/2006/main">
              <a:ext uri="{FF2B5EF4-FFF2-40B4-BE49-F238E27FC236}">
                <a16:creationId xmlns:a16="http://schemas.microsoft.com/office/drawing/2014/main" id="{4B54B35D-BBAD-4DBB-8C2C-6D1F066ADC32}"/>
              </a:ext>
            </a:extLst>
          </p:cNvPr>
          <p:cNvSpPr>
            <a:spLocks xmlns:a="http://schemas.openxmlformats.org/drawingml/2006/main" noGrp="1"/>
          </p:cNvSpPr>
          <p:nvPr/>
        </p:nvSpPr>
        <p:spPr>
          <a:xfrm xmlns:a="http://schemas.openxmlformats.org/drawingml/2006/main">
            <a:off x="857250" y="2419350"/>
            <a:ext cx="48387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1. Audit, cadrage et feuille de route</a:t>
            </a:r>
          </a:p>
        </p:txBody>
      </p:sp>
      <p:sp>
        <p:nvSpPr>
          <p:cNvPr id="7" name="">
            <a:extLst xmlns:a="http://schemas.openxmlformats.org/drawingml/2006/main">
              <a:ext uri="{FF2B5EF4-FFF2-40B4-BE49-F238E27FC236}">
                <a16:creationId xmlns:a16="http://schemas.microsoft.com/office/drawing/2014/main" id="{D7B60735-6EDD-4B3A-A210-C50060BBE122}"/>
              </a:ext>
            </a:extLst>
          </p:cNvPr>
          <p:cNvSpPr>
            <a:spLocks xmlns:a="http://schemas.openxmlformats.org/drawingml/2006/main" noGrp="1"/>
          </p:cNvSpPr>
          <p:nvPr/>
        </p:nvSpPr>
        <p:spPr>
          <a:xfrm xmlns:a="http://schemas.openxmlformats.org/drawingml/2006/main">
            <a:off x="857250" y="2933700"/>
            <a:ext cx="48387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priorités métier</a:t>
            </a:r>
          </a:p>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cartographie des flux</a:t>
            </a:r>
          </a:p>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KPI de preuve et conditions de pilotage</a:t>
            </a:r>
          </a:p>
        </p:txBody>
      </p:sp>
      <p:sp>
        <p:nvSpPr>
          <p:cNvPr id="8" name="">
            <a:extLst xmlns:a="http://schemas.openxmlformats.org/drawingml/2006/main">
              <a:ext uri="{FF2B5EF4-FFF2-40B4-BE49-F238E27FC236}">
                <a16:creationId xmlns:a16="http://schemas.microsoft.com/office/drawing/2014/main" id="{750AE59E-B242-4D5D-BDA7-68F87D8E0573}"/>
              </a:ext>
            </a:extLst>
          </p:cNvPr>
          <p:cNvSpPr>
            <a:spLocks xmlns:a="http://schemas.openxmlformats.org/drawingml/2006/main" noGrp="1"/>
          </p:cNvSpPr>
          <p:nvPr/>
        </p:nvSpPr>
        <p:spPr>
          <a:xfrm xmlns:a="http://schemas.openxmlformats.org/drawingml/2006/main">
            <a:off x="6096000" y="2247900"/>
            <a:ext cx="5410200" cy="1333500"/>
          </a:xfrm>
          <a:prstGeom xmlns:a="http://schemas.openxmlformats.org/drawingml/2006/main" prst="rect">
            <a:avLst/>
          </a:prstGeom>
          <a:solidFill xmlns:a="http://schemas.openxmlformats.org/drawingml/2006/main">
            <a:srgbClr val="E76F1D"/>
          </a:solidFill>
          <a:ln xmlns:a="http://schemas.openxmlformats.org/drawingml/2006/main" w="0">
            <a:solidFill>
              <a:srgbClr val="E76F1D"/>
            </a:solidFill>
            <a:prstDash val="solid"/>
          </a:ln>
        </p:spPr>
      </p:sp>
      <p:sp>
        <p:nvSpPr>
          <p:cNvPr id="9" name="">
            <a:extLst xmlns:a="http://schemas.openxmlformats.org/drawingml/2006/main">
              <a:ext uri="{FF2B5EF4-FFF2-40B4-BE49-F238E27FC236}">
                <a16:creationId xmlns:a16="http://schemas.microsoft.com/office/drawing/2014/main" id="{6B0C658B-4AB0-4C40-B6E0-E40EAB238325}"/>
              </a:ext>
            </a:extLst>
          </p:cNvPr>
          <p:cNvSpPr>
            <a:spLocks xmlns:a="http://schemas.openxmlformats.org/drawingml/2006/main" noGrp="1"/>
          </p:cNvSpPr>
          <p:nvPr/>
        </p:nvSpPr>
        <p:spPr>
          <a:xfrm xmlns:a="http://schemas.openxmlformats.org/drawingml/2006/main">
            <a:off x="6267450" y="2419350"/>
            <a:ext cx="50673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2. Formation dirigeants et managers</a:t>
            </a:r>
          </a:p>
        </p:txBody>
      </p:sp>
      <p:sp>
        <p:nvSpPr>
          <p:cNvPr id="10" name="">
            <a:extLst xmlns:a="http://schemas.openxmlformats.org/drawingml/2006/main">
              <a:ext uri="{FF2B5EF4-FFF2-40B4-BE49-F238E27FC236}">
                <a16:creationId xmlns:a16="http://schemas.microsoft.com/office/drawing/2014/main" id="{E3841D0D-D562-4C4C-9D9C-3612915A6D53}"/>
              </a:ext>
            </a:extLst>
          </p:cNvPr>
          <p:cNvSpPr>
            <a:spLocks xmlns:a="http://schemas.openxmlformats.org/drawingml/2006/main" noGrp="1"/>
          </p:cNvSpPr>
          <p:nvPr/>
        </p:nvSpPr>
        <p:spPr>
          <a:xfrm xmlns:a="http://schemas.openxmlformats.org/drawingml/2006/main">
            <a:off x="6267450" y="2933700"/>
            <a:ext cx="50673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lecture exécutive des usages IA</a:t>
            </a:r>
          </a:p>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arbitrage, gouvernance et conduite du changement</a:t>
            </a:r>
          </a:p>
        </p:txBody>
      </p:sp>
      <p:sp>
        <p:nvSpPr>
          <p:cNvPr id="11" name="">
            <a:extLst xmlns:a="http://schemas.openxmlformats.org/drawingml/2006/main">
              <a:ext uri="{FF2B5EF4-FFF2-40B4-BE49-F238E27FC236}">
                <a16:creationId xmlns:a16="http://schemas.microsoft.com/office/drawing/2014/main" id="{6D4F41BF-26DA-4903-A4CC-2781B830EB1D}"/>
              </a:ext>
            </a:extLst>
          </p:cNvPr>
          <p:cNvSpPr>
            <a:spLocks xmlns:a="http://schemas.openxmlformats.org/drawingml/2006/main" noGrp="1"/>
          </p:cNvSpPr>
          <p:nvPr/>
        </p:nvSpPr>
        <p:spPr>
          <a:xfrm xmlns:a="http://schemas.openxmlformats.org/drawingml/2006/main">
            <a:off x="685800" y="3810000"/>
            <a:ext cx="5181600" cy="1333500"/>
          </a:xfrm>
          <a:prstGeom xmlns:a="http://schemas.openxmlformats.org/drawingml/2006/main" prst="rect">
            <a:avLst/>
          </a:prstGeom>
          <a:solidFill xmlns:a="http://schemas.openxmlformats.org/drawingml/2006/main">
            <a:srgbClr val="1C8A78"/>
          </a:solidFill>
          <a:ln xmlns:a="http://schemas.openxmlformats.org/drawingml/2006/main" w="0">
            <a:solidFill>
              <a:srgbClr val="1C8A78"/>
            </a:solidFill>
            <a:prstDash val="solid"/>
          </a:ln>
        </p:spPr>
      </p:sp>
      <p:sp>
        <p:nvSpPr>
          <p:cNvPr id="12" name="">
            <a:extLst xmlns:a="http://schemas.openxmlformats.org/drawingml/2006/main">
              <a:ext uri="{FF2B5EF4-FFF2-40B4-BE49-F238E27FC236}">
                <a16:creationId xmlns:a16="http://schemas.microsoft.com/office/drawing/2014/main" id="{95FEFD1B-BB02-4920-A04C-B957D1386813}"/>
              </a:ext>
            </a:extLst>
          </p:cNvPr>
          <p:cNvSpPr>
            <a:spLocks xmlns:a="http://schemas.openxmlformats.org/drawingml/2006/main" noGrp="1"/>
          </p:cNvSpPr>
          <p:nvPr/>
        </p:nvSpPr>
        <p:spPr>
          <a:xfrm xmlns:a="http://schemas.openxmlformats.org/drawingml/2006/main">
            <a:off x="857250" y="3981450"/>
            <a:ext cx="48387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3. Formation équipes métier</a:t>
            </a:r>
          </a:p>
        </p:txBody>
      </p:sp>
      <p:sp>
        <p:nvSpPr>
          <p:cNvPr id="13" name="">
            <a:extLst xmlns:a="http://schemas.openxmlformats.org/drawingml/2006/main">
              <a:ext uri="{FF2B5EF4-FFF2-40B4-BE49-F238E27FC236}">
                <a16:creationId xmlns:a16="http://schemas.microsoft.com/office/drawing/2014/main" id="{00EA8E49-9224-462F-96FC-F83F96E71187}"/>
              </a:ext>
            </a:extLst>
          </p:cNvPr>
          <p:cNvSpPr>
            <a:spLocks xmlns:a="http://schemas.openxmlformats.org/drawingml/2006/main" noGrp="1"/>
          </p:cNvSpPr>
          <p:nvPr/>
        </p:nvSpPr>
        <p:spPr>
          <a:xfrm xmlns:a="http://schemas.openxmlformats.org/drawingml/2006/main">
            <a:off x="857250" y="4495800"/>
            <a:ext cx="48387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comptes, flotte, relation client, support</a:t>
            </a:r>
          </a:p>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outils, scripts et routines liés aux vrais cas d'usage</a:t>
            </a:r>
          </a:p>
        </p:txBody>
      </p:sp>
      <p:sp>
        <p:nvSpPr>
          <p:cNvPr id="14" name="">
            <a:extLst xmlns:a="http://schemas.openxmlformats.org/drawingml/2006/main">
              <a:ext uri="{FF2B5EF4-FFF2-40B4-BE49-F238E27FC236}">
                <a16:creationId xmlns:a16="http://schemas.microsoft.com/office/drawing/2014/main" id="{707EEB1D-7C3D-4309-8A94-D86F64768F87}"/>
              </a:ext>
            </a:extLst>
          </p:cNvPr>
          <p:cNvSpPr>
            <a:spLocks xmlns:a="http://schemas.openxmlformats.org/drawingml/2006/main" noGrp="1"/>
          </p:cNvSpPr>
          <p:nvPr/>
        </p:nvSpPr>
        <p:spPr>
          <a:xfrm xmlns:a="http://schemas.openxmlformats.org/drawingml/2006/main">
            <a:off x="6096000" y="3810000"/>
            <a:ext cx="5410200" cy="1333500"/>
          </a:xfrm>
          <a:prstGeom xmlns:a="http://schemas.openxmlformats.org/drawingml/2006/main" prst="rect">
            <a:avLst/>
          </a:prstGeom>
          <a:solidFill xmlns:a="http://schemas.openxmlformats.org/drawingml/2006/main">
            <a:srgbClr val="C88C3A"/>
          </a:solidFill>
          <a:ln xmlns:a="http://schemas.openxmlformats.org/drawingml/2006/main" w="0">
            <a:solidFill>
              <a:srgbClr val="C88C3A"/>
            </a:solidFill>
            <a:prstDash val="solid"/>
          </a:ln>
        </p:spPr>
      </p:sp>
      <p:sp>
        <p:nvSpPr>
          <p:cNvPr id="15" name="">
            <a:extLst xmlns:a="http://schemas.openxmlformats.org/drawingml/2006/main">
              <a:ext uri="{FF2B5EF4-FFF2-40B4-BE49-F238E27FC236}">
                <a16:creationId xmlns:a16="http://schemas.microsoft.com/office/drawing/2014/main" id="{522DC1FE-54F1-42D2-B16F-37AC41DDED79}"/>
              </a:ext>
            </a:extLst>
          </p:cNvPr>
          <p:cNvSpPr>
            <a:spLocks xmlns:a="http://schemas.openxmlformats.org/drawingml/2006/main" noGrp="1"/>
          </p:cNvSpPr>
          <p:nvPr/>
        </p:nvSpPr>
        <p:spPr>
          <a:xfrm xmlns:a="http://schemas.openxmlformats.org/drawingml/2006/main">
            <a:off x="6267450" y="3981450"/>
            <a:ext cx="50673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FFFFFF"/>
                </a:solidFill>
                <a:latin typeface="Aptos Display"/>
                <a:ea typeface="Aptos Display"/>
                <a:cs typeface="Aptos Display"/>
              </a:defRPr>
            </a:pPr>
            <a:r>
              <a:rPr sz="1350" b="1">
                <a:solidFill>
                  <a:srgbClr val="FFFFFF"/>
                </a:solidFill>
                <a:latin typeface="Aptos Display"/>
                <a:ea typeface="Aptos Display"/>
                <a:cs typeface="Aptos Display"/>
              </a:rPr>
              <a:t>4. Pilote métier encadré</a:t>
            </a:r>
          </a:p>
        </p:txBody>
      </p:sp>
      <p:sp>
        <p:nvSpPr>
          <p:cNvPr id="16" name="">
            <a:extLst xmlns:a="http://schemas.openxmlformats.org/drawingml/2006/main">
              <a:ext uri="{FF2B5EF4-FFF2-40B4-BE49-F238E27FC236}">
                <a16:creationId xmlns:a16="http://schemas.microsoft.com/office/drawing/2014/main" id="{6F0E0762-E8D4-4B95-89D8-4066B4DE9E75}"/>
              </a:ext>
            </a:extLst>
          </p:cNvPr>
          <p:cNvSpPr>
            <a:spLocks xmlns:a="http://schemas.openxmlformats.org/drawingml/2006/main" noGrp="1"/>
          </p:cNvSpPr>
          <p:nvPr/>
        </p:nvSpPr>
        <p:spPr>
          <a:xfrm xmlns:a="http://schemas.openxmlformats.org/drawingml/2006/main">
            <a:off x="6267450" y="4495800"/>
            <a:ext cx="5067300" cy="476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assistant ciblé, tableau de bord ou base interne</a:t>
            </a:r>
          </a:p>
          <a:p xmlns:a="http://schemas.openxmlformats.org/drawingml/2006/main">
            <a:pPr algn="l">
              <a:defRPr sz="938" b="0">
                <a:solidFill>
                  <a:srgbClr val="FFFFFF"/>
                </a:solidFill>
                <a:latin typeface="Aptos"/>
                <a:ea typeface="Aptos"/>
                <a:cs typeface="Aptos"/>
              </a:defRPr>
            </a:pPr>
            <a:r>
              <a:rPr sz="938" b="0">
                <a:solidFill>
                  <a:srgbClr val="FFFFFF"/>
                </a:solidFill>
                <a:latin typeface="Aptos"/>
                <a:ea typeface="Aptos"/>
                <a:cs typeface="Aptos"/>
              </a:rPr>
              <a:t>• supervision, mesure et décision d'extension</a:t>
            </a:r>
          </a:p>
        </p:txBody>
      </p:sp>
      <p:sp>
        <p:nvSpPr>
          <p:cNvPr id="17" name="">
            <a:extLst xmlns:a="http://schemas.openxmlformats.org/drawingml/2006/main">
              <a:ext uri="{FF2B5EF4-FFF2-40B4-BE49-F238E27FC236}">
                <a16:creationId xmlns:a16="http://schemas.microsoft.com/office/drawing/2014/main" id="{636FDB0F-3EB9-40BF-A314-7DAA2ED3E53E}"/>
              </a:ext>
            </a:extLst>
          </p:cNvPr>
          <p:cNvSpPr>
            <a:spLocks xmlns:a="http://schemas.openxmlformats.org/drawingml/2006/main" noGrp="1"/>
          </p:cNvSpPr>
          <p:nvPr/>
        </p:nvSpPr>
        <p:spPr>
          <a:xfrm xmlns:a="http://schemas.openxmlformats.org/drawingml/2006/main">
            <a:off x="685800" y="5486400"/>
            <a:ext cx="10820400" cy="62865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18" name="">
            <a:extLst xmlns:a="http://schemas.openxmlformats.org/drawingml/2006/main">
              <a:ext uri="{FF2B5EF4-FFF2-40B4-BE49-F238E27FC236}">
                <a16:creationId xmlns:a16="http://schemas.microsoft.com/office/drawing/2014/main" id="{4C34ADFF-099B-4E35-A9F7-68F7AFA31025}"/>
              </a:ext>
            </a:extLst>
          </p:cNvPr>
          <p:cNvSpPr>
            <a:spLocks xmlns:a="http://schemas.openxmlformats.org/drawingml/2006/main" noGrp="1"/>
          </p:cNvSpPr>
          <p:nvPr/>
        </p:nvSpPr>
        <p:spPr>
          <a:xfrm xmlns:a="http://schemas.openxmlformats.org/drawingml/2006/main">
            <a:off x="914400" y="5676900"/>
            <a:ext cx="1714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Recommandation de départ</a:t>
            </a:r>
          </a:p>
        </p:txBody>
      </p:sp>
      <p:sp>
        <p:nvSpPr>
          <p:cNvPr id="19" name="">
            <a:extLst xmlns:a="http://schemas.openxmlformats.org/drawingml/2006/main">
              <a:ext uri="{FF2B5EF4-FFF2-40B4-BE49-F238E27FC236}">
                <a16:creationId xmlns:a16="http://schemas.microsoft.com/office/drawing/2014/main" id="{DECE4BBF-7F5C-4107-A4F6-4FDDA81B2B57}"/>
              </a:ext>
            </a:extLst>
          </p:cNvPr>
          <p:cNvSpPr>
            <a:spLocks xmlns:a="http://schemas.openxmlformats.org/drawingml/2006/main" noGrp="1"/>
          </p:cNvSpPr>
          <p:nvPr/>
        </p:nvSpPr>
        <p:spPr>
          <a:xfrm xmlns:a="http://schemas.openxmlformats.org/drawingml/2006/main">
            <a:off x="2819400" y="5638800"/>
            <a:ext cx="82486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38" b="1">
                <a:solidFill>
                  <a:srgbClr val="1A3554"/>
                </a:solidFill>
                <a:latin typeface="Aptos"/>
                <a:ea typeface="Aptos"/>
                <a:cs typeface="Aptos"/>
              </a:defRPr>
            </a:pPr>
            <a:r>
              <a:rPr sz="938" b="1">
                <a:solidFill>
                  <a:srgbClr val="1A3554"/>
                </a:solidFill>
                <a:latin typeface="Aptos"/>
                <a:ea typeface="Aptos"/>
                <a:cs typeface="Aptos"/>
              </a:rPr>
              <a:t>Commencer par deux flux à forte lisibilité de valeur : comptes professionnels + flotte / cartes carburant. Les autres cas d'usage restent dans la feuille de route, mais n'encombrent pas le pilote initial.</a:t>
            </a:r>
          </a:p>
        </p:txBody>
      </p:sp>
      <p:sp>
        <p:nvSpPr>
          <p:cNvPr id="20" name="">
            <a:extLst xmlns:a="http://schemas.openxmlformats.org/drawingml/2006/main">
              <a:ext uri="{FF2B5EF4-FFF2-40B4-BE49-F238E27FC236}">
                <a16:creationId xmlns:a16="http://schemas.microsoft.com/office/drawing/2014/main" id="{A1DC8EC2-7899-4469-AB2E-DC649F47EBD9}"/>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5A14C254-F2F3-4199-8B9F-5378F107C5E4}"/>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deck institutionnel V3</a:t>
            </a:r>
          </a:p>
        </p:txBody>
      </p:sp>
      <p:sp>
        <p:nvSpPr>
          <p:cNvPr id="22" name="">
            <a:extLst xmlns:a="http://schemas.openxmlformats.org/drawingml/2006/main">
              <a:ext uri="{FF2B5EF4-FFF2-40B4-BE49-F238E27FC236}">
                <a16:creationId xmlns:a16="http://schemas.microsoft.com/office/drawing/2014/main" id="{549036CB-F85A-4D67-813B-35B399B9D444}"/>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12</a:t>
            </a:r>
          </a:p>
        </p:txBody>
      </p:sp>
    </p:spTree>
    <p:extLst>
      <p:ext uri="{BB962C8B-B14F-4D97-AF65-F5344CB8AC3E}">
        <p14:creationId xmlns:p14="http://schemas.microsoft.com/office/powerpoint/2010/main" val="46115722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3595852-C7D9-45BC-8B23-E733512EB2C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5EFE7"/>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372BF9E-CB22-462B-A3B5-AE839F71E678}"/>
              </a:ext>
            </a:extLst>
          </p:cNvPr>
          <p:cNvSpPr>
            <a:spLocks xmlns:a="http://schemas.openxmlformats.org/drawingml/2006/main" noGrp="1"/>
          </p:cNvSpPr>
          <p:nvPr/>
        </p:nvSpPr>
        <p:spPr>
          <a:xfrm xmlns:a="http://schemas.openxmlformats.org/drawingml/2006/main">
            <a:off x="685800" y="4953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E76F1D"/>
                </a:solidFill>
                <a:latin typeface="Aptos"/>
                <a:ea typeface="Aptos"/>
                <a:cs typeface="Aptos"/>
              </a:defRPr>
            </a:pPr>
            <a:r>
              <a:rPr sz="788" b="1">
                <a:solidFill>
                  <a:srgbClr val="E76F1D"/>
                </a:solidFill>
                <a:latin typeface="Aptos"/>
                <a:ea typeface="Aptos"/>
                <a:cs typeface="Aptos"/>
              </a:rPr>
              <a:t>CONFIANCE ET PROCHAINE ÉTAPE</a:t>
            </a:r>
          </a:p>
        </p:txBody>
      </p:sp>
      <p:sp>
        <p:nvSpPr>
          <p:cNvPr id="3" name="">
            <a:extLst xmlns:a="http://schemas.openxmlformats.org/drawingml/2006/main">
              <a:ext uri="{FF2B5EF4-FFF2-40B4-BE49-F238E27FC236}">
                <a16:creationId xmlns:a16="http://schemas.microsoft.com/office/drawing/2014/main" id="{3CE9D0D8-DFD9-4D0C-B375-746BE048A997}"/>
              </a:ext>
            </a:extLst>
          </p:cNvPr>
          <p:cNvSpPr>
            <a:spLocks xmlns:a="http://schemas.openxmlformats.org/drawingml/2006/main" noGrp="1"/>
          </p:cNvSpPr>
          <p:nvPr/>
        </p:nvSpPr>
        <p:spPr>
          <a:xfrm xmlns:a="http://schemas.openxmlformats.org/drawingml/2006/main">
            <a:off x="685800" y="819150"/>
            <a:ext cx="8572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A3554"/>
                </a:solidFill>
                <a:latin typeface="Aptos Display"/>
                <a:ea typeface="Aptos Display"/>
                <a:cs typeface="Aptos Display"/>
              </a:defRPr>
            </a:pPr>
            <a:r>
              <a:rPr sz="2550" b="1">
                <a:solidFill>
                  <a:srgbClr val="1A3554"/>
                </a:solidFill>
                <a:latin typeface="Aptos Display"/>
                <a:ea typeface="Aptos Display"/>
                <a:cs typeface="Aptos Display"/>
              </a:rPr>
              <a:t>Proposer un pilote utile, gouverné et mesurable</a:t>
            </a:r>
          </a:p>
        </p:txBody>
      </p:sp>
      <p:sp>
        <p:nvSpPr>
          <p:cNvPr id="4" name="">
            <a:extLst xmlns:a="http://schemas.openxmlformats.org/drawingml/2006/main">
              <a:ext uri="{FF2B5EF4-FFF2-40B4-BE49-F238E27FC236}">
                <a16:creationId xmlns:a16="http://schemas.microsoft.com/office/drawing/2014/main" id="{35465679-1D31-44AC-858E-4F749B70BAA7}"/>
              </a:ext>
            </a:extLst>
          </p:cNvPr>
          <p:cNvSpPr>
            <a:spLocks xmlns:a="http://schemas.openxmlformats.org/drawingml/2006/main" noGrp="1"/>
          </p:cNvSpPr>
          <p:nvPr/>
        </p:nvSpPr>
        <p:spPr>
          <a:xfrm xmlns:a="http://schemas.openxmlformats.org/drawingml/2006/main">
            <a:off x="685800" y="1714500"/>
            <a:ext cx="4953000" cy="3714750"/>
          </a:xfrm>
          <a:prstGeom xmlns:a="http://schemas.openxmlformats.org/drawingml/2006/main" prst="rect">
            <a:avLst/>
          </a:prstGeom>
          <a:solidFill xmlns:a="http://schemas.openxmlformats.org/drawingml/2006/main">
            <a:srgbClr val="FFFDFC"/>
          </a:solidFill>
          <a:ln xmlns:a="http://schemas.openxmlformats.org/drawingml/2006/main" w="9525">
            <a:solidFill>
              <a:srgbClr val="D7CEC3"/>
            </a:solidFill>
            <a:prstDash val="solid"/>
          </a:ln>
        </p:spPr>
      </p:sp>
      <p:sp>
        <p:nvSpPr>
          <p:cNvPr id="5" name="">
            <a:extLst xmlns:a="http://schemas.openxmlformats.org/drawingml/2006/main">
              <a:ext uri="{FF2B5EF4-FFF2-40B4-BE49-F238E27FC236}">
                <a16:creationId xmlns:a16="http://schemas.microsoft.com/office/drawing/2014/main" id="{C5F9E43F-40A3-4045-A2CD-1631FD4859FC}"/>
              </a:ext>
            </a:extLst>
          </p:cNvPr>
          <p:cNvSpPr>
            <a:spLocks xmlns:a="http://schemas.openxmlformats.org/drawingml/2006/main" noGrp="1"/>
          </p:cNvSpPr>
          <p:nvPr/>
        </p:nvSpPr>
        <p:spPr>
          <a:xfrm xmlns:a="http://schemas.openxmlformats.org/drawingml/2006/main">
            <a:off x="895350" y="1943100"/>
            <a:ext cx="419100" cy="419100"/>
          </a:xfrm>
          <a:prstGeom xmlns:a="http://schemas.openxmlformats.org/drawingml/2006/main" prst="ellipse">
            <a:avLst/>
          </a:prstGeom>
          <a:solidFill xmlns:a="http://schemas.openxmlformats.org/drawingml/2006/main">
            <a:srgbClr val="1C8A78"/>
          </a:solidFill>
          <a:ln xmlns:a="http://schemas.openxmlformats.org/drawingml/2006/main" w="0">
            <a:solidFill>
              <a:srgbClr val="1C8A78"/>
            </a:solidFill>
            <a:prstDash val="solid"/>
          </a:ln>
        </p:spPr>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ad6ab7a4cb084013">
            <a:extLst>
              <a:ext uri="{96DAC541-7B7A-43D3-8B79-37D633B846F1}">
                <asvg:svgBlip xmlns:asvg="http://schemas.microsoft.com/office/drawing/2016/SVG/main" r:embed="R7ee5f0815d2d4bbe"/>
              </a:ext>
            </a:extLst>
          </a:blip>
          <a:stretch xmlns:a="http://schemas.openxmlformats.org/drawingml/2006/main"/>
        </p:blipFill>
        <p:spPr>
          <a:xfrm xmlns:a="http://schemas.openxmlformats.org/drawingml/2006/main">
            <a:off x="990600" y="2038350"/>
            <a:ext cx="228600" cy="2286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373FB81-EAE4-435B-B404-5DE2375821D5}"/>
              </a:ext>
            </a:extLst>
          </p:cNvPr>
          <p:cNvSpPr>
            <a:spLocks xmlns:a="http://schemas.openxmlformats.org/drawingml/2006/main" noGrp="1"/>
          </p:cNvSpPr>
          <p:nvPr/>
        </p:nvSpPr>
        <p:spPr>
          <a:xfrm xmlns:a="http://schemas.openxmlformats.org/drawingml/2006/main">
            <a:off x="1428750" y="1943100"/>
            <a:ext cx="3619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650" b="1">
                <a:solidFill>
                  <a:srgbClr val="1A3554"/>
                </a:solidFill>
                <a:latin typeface="Aptos Display"/>
                <a:ea typeface="Aptos Display"/>
                <a:cs typeface="Aptos Display"/>
              </a:defRPr>
            </a:pPr>
            <a:r>
              <a:rPr sz="1650" b="1">
                <a:solidFill>
                  <a:srgbClr val="1A3554"/>
                </a:solidFill>
                <a:latin typeface="Aptos Display"/>
                <a:ea typeface="Aptos Display"/>
                <a:cs typeface="Aptos Display"/>
              </a:rPr>
              <a:t>Le cadre de confiance à présenter au prospect</a:t>
            </a:r>
          </a:p>
        </p:txBody>
      </p:sp>
      <p:sp>
        <p:nvSpPr>
          <p:cNvPr id="8" name="">
            <a:extLst xmlns:a="http://schemas.openxmlformats.org/drawingml/2006/main">
              <a:ext uri="{FF2B5EF4-FFF2-40B4-BE49-F238E27FC236}">
                <a16:creationId xmlns:a16="http://schemas.microsoft.com/office/drawing/2014/main" id="{31DAF6B2-8046-47C5-BA43-3A296AB0ABFA}"/>
              </a:ext>
            </a:extLst>
          </p:cNvPr>
          <p:cNvSpPr>
            <a:spLocks xmlns:a="http://schemas.openxmlformats.org/drawingml/2006/main" noGrp="1"/>
          </p:cNvSpPr>
          <p:nvPr/>
        </p:nvSpPr>
        <p:spPr>
          <a:xfrm xmlns:a="http://schemas.openxmlformats.org/drawingml/2006/main">
            <a:off x="895350" y="2495550"/>
            <a:ext cx="4267200" cy="1733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60" b="0">
                <a:solidFill>
                  <a:srgbClr val="1A3554"/>
                </a:solidFill>
                <a:latin typeface="Aptos"/>
                <a:ea typeface="Aptos"/>
                <a:cs typeface="Aptos"/>
              </a:defRPr>
            </a:pPr>
            <a:r>
              <a:rPr sz="960" b="0">
                <a:solidFill>
                  <a:srgbClr val="1A3554"/>
                </a:solidFill>
                <a:latin typeface="Aptos"/>
                <a:ea typeface="Aptos"/>
                <a:cs typeface="Aptos"/>
              </a:rPr>
              <a:t>• aucune donnée sensible n'est exposée sans règles d'usage, rôles et validation</a:t>
            </a:r>
          </a:p>
          <a:p xmlns:a="http://schemas.openxmlformats.org/drawingml/2006/main">
            <a:pPr algn="l">
              <a:defRPr sz="960" b="0">
                <a:solidFill>
                  <a:srgbClr val="1A3554"/>
                </a:solidFill>
                <a:latin typeface="Aptos"/>
                <a:ea typeface="Aptos"/>
                <a:cs typeface="Aptos"/>
              </a:defRPr>
            </a:pPr>
            <a:r>
              <a:rPr sz="960" b="0">
                <a:solidFill>
                  <a:srgbClr val="1A3554"/>
                </a:solidFill>
                <a:latin typeface="Aptos"/>
                <a:ea typeface="Aptos"/>
                <a:cs typeface="Aptos"/>
              </a:rPr>
              <a:t>• revue humaine avant toute automatisation critique</a:t>
            </a:r>
          </a:p>
          <a:p xmlns:a="http://schemas.openxmlformats.org/drawingml/2006/main">
            <a:pPr algn="l">
              <a:defRPr sz="960" b="0">
                <a:solidFill>
                  <a:srgbClr val="1A3554"/>
                </a:solidFill>
                <a:latin typeface="Aptos"/>
                <a:ea typeface="Aptos"/>
                <a:cs typeface="Aptos"/>
              </a:defRPr>
            </a:pPr>
            <a:r>
              <a:rPr sz="960" b="0">
                <a:solidFill>
                  <a:srgbClr val="1A3554"/>
                </a:solidFill>
                <a:latin typeface="Aptos"/>
                <a:ea typeface="Aptos"/>
                <a:cs typeface="Aptos"/>
              </a:rPr>
              <a:t>• traçabilité des accès et des sorties</a:t>
            </a:r>
          </a:p>
          <a:p xmlns:a="http://schemas.openxmlformats.org/drawingml/2006/main">
            <a:pPr algn="l">
              <a:defRPr sz="960" b="0">
                <a:solidFill>
                  <a:srgbClr val="1A3554"/>
                </a:solidFill>
                <a:latin typeface="Aptos"/>
                <a:ea typeface="Aptos"/>
                <a:cs typeface="Aptos"/>
              </a:defRPr>
            </a:pPr>
            <a:r>
              <a:rPr sz="960" b="0">
                <a:solidFill>
                  <a:srgbClr val="1A3554"/>
                </a:solidFill>
                <a:latin typeface="Aptos"/>
                <a:ea typeface="Aptos"/>
                <a:cs typeface="Aptos"/>
              </a:rPr>
              <a:t>• périmètre pilote strictement défini avant extension</a:t>
            </a:r>
          </a:p>
          <a:p xmlns:a="http://schemas.openxmlformats.org/drawingml/2006/main">
            <a:pPr algn="l">
              <a:defRPr sz="960" b="0">
                <a:solidFill>
                  <a:srgbClr val="1A3554"/>
                </a:solidFill>
                <a:latin typeface="Aptos"/>
                <a:ea typeface="Aptos"/>
                <a:cs typeface="Aptos"/>
              </a:defRPr>
            </a:pPr>
            <a:r>
              <a:rPr sz="960" b="0">
                <a:solidFill>
                  <a:srgbClr val="1A3554"/>
                </a:solidFill>
                <a:latin typeface="Aptos"/>
                <a:ea typeface="Aptos"/>
                <a:cs typeface="Aptos"/>
              </a:rPr>
              <a:t>• formation intégrée aux exigences de confidentialité et de supervision</a:t>
            </a:r>
          </a:p>
        </p:txBody>
      </p:sp>
      <p:sp>
        <p:nvSpPr>
          <p:cNvPr id="9" name="">
            <a:extLst xmlns:a="http://schemas.openxmlformats.org/drawingml/2006/main">
              <a:ext uri="{FF2B5EF4-FFF2-40B4-BE49-F238E27FC236}">
                <a16:creationId xmlns:a16="http://schemas.microsoft.com/office/drawing/2014/main" id="{E2753A4E-F14E-469E-825D-A69EA42A7CA7}"/>
              </a:ext>
            </a:extLst>
          </p:cNvPr>
          <p:cNvSpPr>
            <a:spLocks xmlns:a="http://schemas.openxmlformats.org/drawingml/2006/main" noGrp="1"/>
          </p:cNvSpPr>
          <p:nvPr/>
        </p:nvSpPr>
        <p:spPr>
          <a:xfrm xmlns:a="http://schemas.openxmlformats.org/drawingml/2006/main">
            <a:off x="895350" y="4343400"/>
            <a:ext cx="4343400" cy="838200"/>
          </a:xfrm>
          <a:prstGeom xmlns:a="http://schemas.openxmlformats.org/drawingml/2006/main" prst="rect">
            <a:avLst/>
          </a:prstGeom>
          <a:solidFill xmlns:a="http://schemas.openxmlformats.org/drawingml/2006/main">
            <a:srgbClr val="FBF5EE"/>
          </a:solidFill>
          <a:ln xmlns:a="http://schemas.openxmlformats.org/drawingml/2006/main" w="9525">
            <a:solidFill>
              <a:srgbClr val="D7CEC3"/>
            </a:solidFill>
            <a:prstDash val="solid"/>
          </a:ln>
        </p:spPr>
      </p:sp>
      <p:sp>
        <p:nvSpPr>
          <p:cNvPr id="10" name="">
            <a:extLst xmlns:a="http://schemas.openxmlformats.org/drawingml/2006/main">
              <a:ext uri="{FF2B5EF4-FFF2-40B4-BE49-F238E27FC236}">
                <a16:creationId xmlns:a16="http://schemas.microsoft.com/office/drawing/2014/main" id="{CE0F9777-9AF4-4EEF-AA42-37A0B55D1A32}"/>
              </a:ext>
            </a:extLst>
          </p:cNvPr>
          <p:cNvSpPr>
            <a:spLocks xmlns:a="http://schemas.openxmlformats.org/drawingml/2006/main" noGrp="1"/>
          </p:cNvSpPr>
          <p:nvPr/>
        </p:nvSpPr>
        <p:spPr>
          <a:xfrm xmlns:a="http://schemas.openxmlformats.org/drawingml/2006/main">
            <a:off x="1085850" y="4514850"/>
            <a:ext cx="95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E76F1D"/>
                </a:solidFill>
                <a:latin typeface="Aptos"/>
                <a:ea typeface="Aptos"/>
                <a:cs typeface="Aptos"/>
              </a:defRPr>
            </a:pPr>
            <a:r>
              <a:rPr sz="750" b="1">
                <a:solidFill>
                  <a:srgbClr val="E76F1D"/>
                </a:solidFill>
                <a:latin typeface="Aptos"/>
                <a:ea typeface="Aptos"/>
                <a:cs typeface="Aptos"/>
              </a:rPr>
              <a:t>Message fort</a:t>
            </a:r>
          </a:p>
        </p:txBody>
      </p:sp>
      <p:sp>
        <p:nvSpPr>
          <p:cNvPr id="11" name="">
            <a:extLst xmlns:a="http://schemas.openxmlformats.org/drawingml/2006/main">
              <a:ext uri="{FF2B5EF4-FFF2-40B4-BE49-F238E27FC236}">
                <a16:creationId xmlns:a16="http://schemas.microsoft.com/office/drawing/2014/main" id="{32B309C8-1BBC-4C01-B8E5-C30E141E8A11}"/>
              </a:ext>
            </a:extLst>
          </p:cNvPr>
          <p:cNvSpPr>
            <a:spLocks xmlns:a="http://schemas.openxmlformats.org/drawingml/2006/main" noGrp="1"/>
          </p:cNvSpPr>
          <p:nvPr/>
        </p:nvSpPr>
        <p:spPr>
          <a:xfrm xmlns:a="http://schemas.openxmlformats.org/drawingml/2006/main">
            <a:off x="1085850" y="4724400"/>
            <a:ext cx="37338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1A3554"/>
                </a:solidFill>
                <a:latin typeface="Aptos Display"/>
                <a:ea typeface="Aptos Display"/>
                <a:cs typeface="Aptos Display"/>
              </a:defRPr>
            </a:pPr>
            <a:r>
              <a:rPr sz="1350" b="1">
                <a:solidFill>
                  <a:srgbClr val="1A3554"/>
                </a:solidFill>
                <a:latin typeface="Aptos Display"/>
                <a:ea typeface="Aptos Display"/>
                <a:cs typeface="Aptos Display"/>
              </a:rPr>
              <a:t>Une IA utile, maîtrisée et compatible avec vos exigences de confidentialité.</a:t>
            </a:r>
          </a:p>
        </p:txBody>
      </p:sp>
      <p:sp>
        <p:nvSpPr>
          <p:cNvPr id="12" name="">
            <a:extLst xmlns:a="http://schemas.openxmlformats.org/drawingml/2006/main">
              <a:ext uri="{FF2B5EF4-FFF2-40B4-BE49-F238E27FC236}">
                <a16:creationId xmlns:a16="http://schemas.microsoft.com/office/drawing/2014/main" id="{45F4ACB1-53BA-416E-AF4D-7B1B3B0A28F7}"/>
              </a:ext>
            </a:extLst>
          </p:cNvPr>
          <p:cNvSpPr>
            <a:spLocks xmlns:a="http://schemas.openxmlformats.org/drawingml/2006/main" noGrp="1"/>
          </p:cNvSpPr>
          <p:nvPr/>
        </p:nvSpPr>
        <p:spPr>
          <a:xfrm xmlns:a="http://schemas.openxmlformats.org/drawingml/2006/main">
            <a:off x="6096000" y="1714500"/>
            <a:ext cx="5410200" cy="3714750"/>
          </a:xfrm>
          <a:prstGeom xmlns:a="http://schemas.openxmlformats.org/drawingml/2006/main" prst="rect">
            <a:avLst/>
          </a:prstGeom>
          <a:solidFill xmlns:a="http://schemas.openxmlformats.org/drawingml/2006/main">
            <a:srgbClr val="163556"/>
          </a:solidFill>
          <a:ln xmlns:a="http://schemas.openxmlformats.org/drawingml/2006/main" w="0">
            <a:solidFill>
              <a:srgbClr val="163556"/>
            </a:solidFill>
            <a:prstDash val="solid"/>
          </a:ln>
        </p:spPr>
      </p:sp>
      <p:sp>
        <p:nvSpPr>
          <p:cNvPr id="13" name="">
            <a:extLst xmlns:a="http://schemas.openxmlformats.org/drawingml/2006/main">
              <a:ext uri="{FF2B5EF4-FFF2-40B4-BE49-F238E27FC236}">
                <a16:creationId xmlns:a16="http://schemas.microsoft.com/office/drawing/2014/main" id="{EA0A1D0D-07AB-4471-A3F2-4C5D1B904C27}"/>
              </a:ext>
            </a:extLst>
          </p:cNvPr>
          <p:cNvSpPr>
            <a:spLocks xmlns:a="http://schemas.openxmlformats.org/drawingml/2006/main" noGrp="1"/>
          </p:cNvSpPr>
          <p:nvPr/>
        </p:nvSpPr>
        <p:spPr>
          <a:xfrm xmlns:a="http://schemas.openxmlformats.org/drawingml/2006/main">
            <a:off x="6362700" y="1981200"/>
            <a:ext cx="2476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88" b="1">
                <a:solidFill>
                  <a:srgbClr val="FFFFFF"/>
                </a:solidFill>
                <a:latin typeface="Aptos"/>
                <a:ea typeface="Aptos"/>
                <a:cs typeface="Aptos"/>
              </a:defRPr>
            </a:pPr>
            <a:r>
              <a:rPr sz="788" b="1">
                <a:solidFill>
                  <a:srgbClr val="FFFFFF"/>
                </a:solidFill>
                <a:latin typeface="Aptos"/>
                <a:ea typeface="Aptos"/>
                <a:cs typeface="Aptos"/>
              </a:rPr>
              <a:t>PROCHAINE ÉTAPE</a:t>
            </a:r>
          </a:p>
        </p:txBody>
      </p:sp>
      <p:sp>
        <p:nvSpPr>
          <p:cNvPr id="14" name="">
            <a:extLst xmlns:a="http://schemas.openxmlformats.org/drawingml/2006/main">
              <a:ext uri="{FF2B5EF4-FFF2-40B4-BE49-F238E27FC236}">
                <a16:creationId xmlns:a16="http://schemas.microsoft.com/office/drawing/2014/main" id="{1A1E08C8-78F9-4073-A4EA-0D661250CC63}"/>
              </a:ext>
            </a:extLst>
          </p:cNvPr>
          <p:cNvSpPr>
            <a:spLocks xmlns:a="http://schemas.openxmlformats.org/drawingml/2006/main" noGrp="1"/>
          </p:cNvSpPr>
          <p:nvPr/>
        </p:nvSpPr>
        <p:spPr>
          <a:xfrm xmlns:a="http://schemas.openxmlformats.org/drawingml/2006/main">
            <a:off x="6362700" y="2247900"/>
            <a:ext cx="3429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Sortie attendue du rendez-vous</a:t>
            </a:r>
          </a:p>
        </p:txBody>
      </p:sp>
      <p:sp>
        <p:nvSpPr>
          <p:cNvPr id="15" name="">
            <a:extLst xmlns:a="http://schemas.openxmlformats.org/drawingml/2006/main">
              <a:ext uri="{FF2B5EF4-FFF2-40B4-BE49-F238E27FC236}">
                <a16:creationId xmlns:a16="http://schemas.microsoft.com/office/drawing/2014/main" id="{A9ABE8A7-3972-4DB4-A4D5-ABEDFE9A54F1}"/>
              </a:ext>
            </a:extLst>
          </p:cNvPr>
          <p:cNvSpPr>
            <a:spLocks xmlns:a="http://schemas.openxmlformats.org/drawingml/2006/main" noGrp="1"/>
          </p:cNvSpPr>
          <p:nvPr/>
        </p:nvSpPr>
        <p:spPr>
          <a:xfrm xmlns:a="http://schemas.openxmlformats.org/drawingml/2006/main">
            <a:off x="6362700" y="2724150"/>
            <a:ext cx="3429000" cy="1219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1. Tenir un échange expert de 30 minutes</a:t>
            </a:r>
          </a:p>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2. Remplir ou envoyer le formulaire d'audit IA</a:t>
            </a:r>
          </a:p>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3. Recevoir une priorisation claire des cas d'usage</a:t>
            </a:r>
          </a:p>
          <a:p xmlns:a="http://schemas.openxmlformats.org/drawingml/2006/main">
            <a:pPr algn="l">
              <a:defRPr sz="1125" b="0">
                <a:solidFill>
                  <a:srgbClr val="FFFFFF"/>
                </a:solidFill>
                <a:latin typeface="Aptos"/>
                <a:ea typeface="Aptos"/>
                <a:cs typeface="Aptos"/>
              </a:defRPr>
            </a:pPr>
            <a:r>
              <a:rPr sz="1125" b="0">
                <a:solidFill>
                  <a:srgbClr val="FFFFFF"/>
                </a:solidFill>
                <a:latin typeface="Aptos"/>
                <a:ea typeface="Aptos"/>
                <a:cs typeface="Aptos"/>
              </a:rPr>
              <a:t>4. Valider un premier pilote et ses KPI</a:t>
            </a:r>
          </a:p>
        </p:txBody>
      </p:sp>
      <p:sp>
        <p:nvSpPr>
          <p:cNvPr id="16" name="">
            <a:extLst xmlns:a="http://schemas.openxmlformats.org/drawingml/2006/main">
              <a:ext uri="{FF2B5EF4-FFF2-40B4-BE49-F238E27FC236}">
                <a16:creationId xmlns:a16="http://schemas.microsoft.com/office/drawing/2014/main" id="{910D7C5F-FCE1-4AB4-A1E7-906CAB943A7B}"/>
              </a:ext>
            </a:extLst>
          </p:cNvPr>
          <p:cNvSpPr>
            <a:spLocks xmlns:a="http://schemas.openxmlformats.org/drawingml/2006/main" noGrp="1"/>
          </p:cNvSpPr>
          <p:nvPr/>
        </p:nvSpPr>
        <p:spPr>
          <a:xfrm xmlns:a="http://schemas.openxmlformats.org/drawingml/2006/main">
            <a:off x="9906000" y="2400300"/>
            <a:ext cx="1219200" cy="97155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17" name="">
            <a:extLst xmlns:a="http://schemas.openxmlformats.org/drawingml/2006/main">
              <a:ext uri="{FF2B5EF4-FFF2-40B4-BE49-F238E27FC236}">
                <a16:creationId xmlns:a16="http://schemas.microsoft.com/office/drawing/2014/main" id="{E636BB6A-A557-4BA1-AFB4-D6BF3601CC76}"/>
              </a:ext>
            </a:extLst>
          </p:cNvPr>
          <p:cNvSpPr>
            <a:spLocks xmlns:a="http://schemas.openxmlformats.org/drawingml/2006/main" noGrp="1"/>
          </p:cNvSpPr>
          <p:nvPr/>
        </p:nvSpPr>
        <p:spPr>
          <a:xfrm xmlns:a="http://schemas.openxmlformats.org/drawingml/2006/main">
            <a:off x="10077450" y="2628900"/>
            <a:ext cx="876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30 min</a:t>
            </a:r>
          </a:p>
        </p:txBody>
      </p:sp>
      <p:sp>
        <p:nvSpPr>
          <p:cNvPr id="18" name="">
            <a:extLst xmlns:a="http://schemas.openxmlformats.org/drawingml/2006/main">
              <a:ext uri="{FF2B5EF4-FFF2-40B4-BE49-F238E27FC236}">
                <a16:creationId xmlns:a16="http://schemas.microsoft.com/office/drawing/2014/main" id="{B8392605-8303-42AB-AEBD-73CD401121CA}"/>
              </a:ext>
            </a:extLst>
          </p:cNvPr>
          <p:cNvSpPr>
            <a:spLocks xmlns:a="http://schemas.openxmlformats.org/drawingml/2006/main" noGrp="1"/>
          </p:cNvSpPr>
          <p:nvPr/>
        </p:nvSpPr>
        <p:spPr>
          <a:xfrm xmlns:a="http://schemas.openxmlformats.org/drawingml/2006/main">
            <a:off x="10077450" y="2933700"/>
            <a:ext cx="8763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FFFFFF"/>
                </a:solidFill>
                <a:latin typeface="Aptos"/>
                <a:ea typeface="Aptos"/>
                <a:cs typeface="Aptos"/>
              </a:defRPr>
            </a:pPr>
            <a:r>
              <a:rPr sz="788" b="0">
                <a:solidFill>
                  <a:srgbClr val="FFFFFF"/>
                </a:solidFill>
                <a:latin typeface="Aptos"/>
                <a:ea typeface="Aptos"/>
                <a:cs typeface="Aptos"/>
              </a:rPr>
              <a:t>échange expert</a:t>
            </a:r>
          </a:p>
        </p:txBody>
      </p:sp>
      <p:sp>
        <p:nvSpPr>
          <p:cNvPr id="19" name="">
            <a:extLst xmlns:a="http://schemas.openxmlformats.org/drawingml/2006/main">
              <a:ext uri="{FF2B5EF4-FFF2-40B4-BE49-F238E27FC236}">
                <a16:creationId xmlns:a16="http://schemas.microsoft.com/office/drawing/2014/main" id="{F2ABD5B1-0EC4-4343-BF02-4C9F18EC1F1B}"/>
              </a:ext>
            </a:extLst>
          </p:cNvPr>
          <p:cNvSpPr>
            <a:spLocks xmlns:a="http://schemas.openxmlformats.org/drawingml/2006/main" noGrp="1"/>
          </p:cNvSpPr>
          <p:nvPr/>
        </p:nvSpPr>
        <p:spPr>
          <a:xfrm xmlns:a="http://schemas.openxmlformats.org/drawingml/2006/main">
            <a:off x="9906000" y="3524250"/>
            <a:ext cx="1219200" cy="97155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20" name="">
            <a:extLst xmlns:a="http://schemas.openxmlformats.org/drawingml/2006/main">
              <a:ext uri="{FF2B5EF4-FFF2-40B4-BE49-F238E27FC236}">
                <a16:creationId xmlns:a16="http://schemas.microsoft.com/office/drawing/2014/main" id="{8A01BF3E-4B56-4C74-9EBB-4126CCE8854D}"/>
              </a:ext>
            </a:extLst>
          </p:cNvPr>
          <p:cNvSpPr>
            <a:spLocks xmlns:a="http://schemas.openxmlformats.org/drawingml/2006/main" noGrp="1"/>
          </p:cNvSpPr>
          <p:nvPr/>
        </p:nvSpPr>
        <p:spPr>
          <a:xfrm xmlns:a="http://schemas.openxmlformats.org/drawingml/2006/main">
            <a:off x="10077450" y="3752850"/>
            <a:ext cx="8763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J+15</a:t>
            </a:r>
          </a:p>
        </p:txBody>
      </p:sp>
      <p:sp>
        <p:nvSpPr>
          <p:cNvPr id="21" name="">
            <a:extLst xmlns:a="http://schemas.openxmlformats.org/drawingml/2006/main">
              <a:ext uri="{FF2B5EF4-FFF2-40B4-BE49-F238E27FC236}">
                <a16:creationId xmlns:a16="http://schemas.microsoft.com/office/drawing/2014/main" id="{0185BD08-117B-468D-935F-96A6CB140701}"/>
              </a:ext>
            </a:extLst>
          </p:cNvPr>
          <p:cNvSpPr>
            <a:spLocks xmlns:a="http://schemas.openxmlformats.org/drawingml/2006/main" noGrp="1"/>
          </p:cNvSpPr>
          <p:nvPr/>
        </p:nvSpPr>
        <p:spPr>
          <a:xfrm xmlns:a="http://schemas.openxmlformats.org/drawingml/2006/main">
            <a:off x="10077450" y="4057650"/>
            <a:ext cx="8763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88" b="0">
                <a:solidFill>
                  <a:srgbClr val="FFFFFF"/>
                </a:solidFill>
                <a:latin typeface="Aptos"/>
                <a:ea typeface="Aptos"/>
                <a:cs typeface="Aptos"/>
              </a:defRPr>
            </a:pPr>
            <a:r>
              <a:rPr sz="788" b="0">
                <a:solidFill>
                  <a:srgbClr val="FFFFFF"/>
                </a:solidFill>
                <a:latin typeface="Aptos"/>
                <a:ea typeface="Aptos"/>
                <a:cs typeface="Aptos"/>
              </a:rPr>
              <a:t>premier livrable</a:t>
            </a:r>
          </a:p>
        </p:txBody>
      </p:sp>
      <p:sp>
        <p:nvSpPr>
          <p:cNvPr id="22" name="">
            <a:extLst xmlns:a="http://schemas.openxmlformats.org/drawingml/2006/main">
              <a:ext uri="{FF2B5EF4-FFF2-40B4-BE49-F238E27FC236}">
                <a16:creationId xmlns:a16="http://schemas.microsoft.com/office/drawing/2014/main" id="{046C651E-B048-454F-9E24-4EFE226366FB}"/>
              </a:ext>
            </a:extLst>
          </p:cNvPr>
          <p:cNvSpPr>
            <a:spLocks xmlns:a="http://schemas.openxmlformats.org/drawingml/2006/main" noGrp="1"/>
          </p:cNvSpPr>
          <p:nvPr/>
        </p:nvSpPr>
        <p:spPr>
          <a:xfrm xmlns:a="http://schemas.openxmlformats.org/drawingml/2006/main">
            <a:off x="6362700" y="4229100"/>
            <a:ext cx="4762500" cy="800100"/>
          </a:xfrm>
          <a:prstGeom xmlns:a="http://schemas.openxmlformats.org/drawingml/2006/main" prst="rect">
            <a:avLst/>
          </a:prstGeom>
          <a:solidFill xmlns:a="http://schemas.openxmlformats.org/drawingml/2006/main">
            <a:srgbClr val="244667"/>
          </a:solidFill>
          <a:ln xmlns:a="http://schemas.openxmlformats.org/drawingml/2006/main" w="9525">
            <a:solidFill>
              <a:srgbClr val="244667"/>
            </a:solidFill>
            <a:prstDash val="solid"/>
          </a:ln>
        </p:spPr>
      </p:sp>
      <p:sp>
        <p:nvSpPr>
          <p:cNvPr id="23" name="">
            <a:extLst xmlns:a="http://schemas.openxmlformats.org/drawingml/2006/main">
              <a:ext uri="{FF2B5EF4-FFF2-40B4-BE49-F238E27FC236}">
                <a16:creationId xmlns:a16="http://schemas.microsoft.com/office/drawing/2014/main" id="{E1D9DC76-0365-4DD3-8FE4-0EE245CF8646}"/>
              </a:ext>
            </a:extLst>
          </p:cNvPr>
          <p:cNvSpPr>
            <a:spLocks xmlns:a="http://schemas.openxmlformats.org/drawingml/2006/main" noGrp="1"/>
          </p:cNvSpPr>
          <p:nvPr/>
        </p:nvSpPr>
        <p:spPr>
          <a:xfrm xmlns:a="http://schemas.openxmlformats.org/drawingml/2006/main">
            <a:off x="6572250" y="4438650"/>
            <a:ext cx="43434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863" b="0">
                <a:solidFill>
                  <a:srgbClr val="D7E5F3"/>
                </a:solidFill>
                <a:latin typeface="Aptos"/>
                <a:ea typeface="Aptos"/>
                <a:cs typeface="Aptos"/>
              </a:defRPr>
            </a:pPr>
            <a:r>
              <a:rPr sz="863" b="0">
                <a:solidFill>
                  <a:srgbClr val="D7E5F3"/>
                </a:solidFill>
                <a:latin typeface="Aptos"/>
                <a:ea typeface="Aptos"/>
                <a:cs typeface="Aptos"/>
              </a:rPr>
              <a:t>Formule courte à utiliser : TransferAI aide votre organisation à identifier les usages les plus utiles, à former les bonnes équipes et à choisir la bonne suite entre pilote, accompagnement et extension. Formulaire d'audit : www.transferai.ci/formulaire-audit-ia/index.html</a:t>
            </a:r>
          </a:p>
        </p:txBody>
      </p:sp>
      <p:sp>
        <p:nvSpPr>
          <p:cNvPr id="24" name="">
            <a:extLst xmlns:a="http://schemas.openxmlformats.org/drawingml/2006/main">
              <a:ext uri="{FF2B5EF4-FFF2-40B4-BE49-F238E27FC236}">
                <a16:creationId xmlns:a16="http://schemas.microsoft.com/office/drawing/2014/main" id="{03943572-9296-4317-AA36-E1142220EC1C}"/>
              </a:ext>
            </a:extLst>
          </p:cNvPr>
          <p:cNvSpPr>
            <a:spLocks xmlns:a="http://schemas.openxmlformats.org/drawingml/2006/main" noGrp="1"/>
          </p:cNvSpPr>
          <p:nvPr/>
        </p:nvSpPr>
        <p:spPr>
          <a:xfrm xmlns:a="http://schemas.openxmlformats.org/drawingml/2006/main">
            <a:off x="647700" y="6496050"/>
            <a:ext cx="10896600" cy="9525"/>
          </a:xfrm>
          <a:prstGeom xmlns:a="http://schemas.openxmlformats.org/drawingml/2006/main" prst="rect">
            <a:avLst/>
          </a:prstGeom>
          <a:solidFill xmlns:a="http://schemas.openxmlformats.org/drawingml/2006/main">
            <a:srgbClr val="D7CEC3"/>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1F162CE5-0278-4FDF-993F-1029CB0CDD7C}"/>
              </a:ext>
            </a:extLst>
          </p:cNvPr>
          <p:cNvSpPr>
            <a:spLocks xmlns:a="http://schemas.openxmlformats.org/drawingml/2006/main" noGrp="1"/>
          </p:cNvSpPr>
          <p:nvPr/>
        </p:nvSpPr>
        <p:spPr>
          <a:xfrm xmlns:a="http://schemas.openxmlformats.org/drawingml/2006/main">
            <a:off x="685800" y="6572250"/>
            <a:ext cx="8572500" cy="152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638" b="0">
                <a:solidFill>
                  <a:srgbClr val="617086"/>
                </a:solidFill>
                <a:latin typeface="Aptos"/>
                <a:ea typeface="Aptos"/>
                <a:cs typeface="Aptos"/>
              </a:defRPr>
            </a:pPr>
            <a:r>
              <a:rPr sz="638" b="0">
                <a:solidFill>
                  <a:srgbClr val="617086"/>
                </a:solidFill>
                <a:latin typeface="Aptos"/>
                <a:ea typeface="Aptos"/>
                <a:cs typeface="Aptos"/>
              </a:rPr>
              <a:t>TransferAI | Hub IA de Nettelecom CI | Modèle deck institutionnel V3</a:t>
            </a:r>
          </a:p>
        </p:txBody>
      </p:sp>
      <p:sp>
        <p:nvSpPr>
          <p:cNvPr id="26" name="">
            <a:extLst xmlns:a="http://schemas.openxmlformats.org/drawingml/2006/main">
              <a:ext uri="{FF2B5EF4-FFF2-40B4-BE49-F238E27FC236}">
                <a16:creationId xmlns:a16="http://schemas.microsoft.com/office/drawing/2014/main" id="{B5D146B8-56E5-42C2-86EB-7047E70BA3D4}"/>
              </a:ext>
            </a:extLst>
          </p:cNvPr>
          <p:cNvSpPr>
            <a:spLocks xmlns:a="http://schemas.openxmlformats.org/drawingml/2006/main" noGrp="1"/>
          </p:cNvSpPr>
          <p:nvPr/>
        </p:nvSpPr>
        <p:spPr>
          <a:xfrm xmlns:a="http://schemas.openxmlformats.org/drawingml/2006/main">
            <a:off x="11049000" y="6553200"/>
            <a:ext cx="3429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1A3554"/>
                </a:solidFill>
                <a:latin typeface="Aptos"/>
                <a:ea typeface="Aptos"/>
                <a:cs typeface="Aptos"/>
              </a:defRPr>
            </a:pPr>
            <a:r>
              <a:rPr sz="750" b="1">
                <a:solidFill>
                  <a:srgbClr val="1A3554"/>
                </a:solidFill>
                <a:latin typeface="Aptos"/>
                <a:ea typeface="Aptos"/>
                <a:cs typeface="Aptos"/>
              </a:rPr>
              <a:t>13</a:t>
            </a:r>
          </a:p>
        </p:txBody>
      </p:sp>
    </p:spTree>
    <p:extLst>
      <p:ext uri="{BB962C8B-B14F-4D97-AF65-F5344CB8AC3E}">
        <p14:creationId xmlns:p14="http://schemas.microsoft.com/office/powerpoint/2010/main" val="10200559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2026-05-31T10:12:23.9490000Z</dcterms:created>
  <dcterms:modified xsi:type="dcterms:W3CDTF">2026-05-31T10:12:23.9490000Z</dcterms:modified>
</coreProperties>
</file>