
<file path=[Content_Types].xml><?xml version="1.0" encoding="utf-8"?>
<Types xmlns="http://schemas.openxmlformats.org/package/2006/content-types">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03"/>
    <p:restoredTop sz="94690"/>
  </p:normalViewPr>
  <p:slideViewPr>
    <p:cSldViewPr snapToGrid="0">
      <p:cViewPr>
        <p:scale>
          <a:sx n="130" d="100"/>
          <a:sy n="130" d="100"/>
        </p:scale>
        <p:origin x="1704" y="6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8.svg"/><Relationship Id="rId5" Type="http://schemas.openxmlformats.org/officeDocument/2006/relationships/image" Target="../media/image7.svg"/><Relationship Id="rId4" Type="http://schemas.openxmlformats.org/officeDocument/2006/relationships/image" Target="../media/image6.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8.svg"/><Relationship Id="rId5" Type="http://schemas.openxmlformats.org/officeDocument/2006/relationships/image" Target="../media/image10.svg"/><Relationship Id="rId4" Type="http://schemas.openxmlformats.org/officeDocument/2006/relationships/image" Target="../media/image6.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6.svg"/></Relationships>
</file>

<file path=ppt/slides/_rels/slide10.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8.sv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Rectangle 42">
            <a:extLst>
              <a:ext uri="{FF2B5EF4-FFF2-40B4-BE49-F238E27FC236}">
                <a16:creationId xmlns:a16="http://schemas.microsoft.com/office/drawing/2014/main" id="{65FED710-96F1-4BD3-984F-A12EFD7B069E}"/>
              </a:ext>
            </a:extLst>
          </p:cNvPr>
          <p:cNvSpPr>
            <a:spLocks noGrp="1"/>
          </p:cNvSpPr>
          <p:nvPr/>
        </p:nvSpPr>
        <p:spPr>
          <a:xfrm>
            <a:off x="0" y="0"/>
            <a:ext cx="12192000" cy="6858000"/>
          </a:xfrm>
          <a:prstGeom prst="rect">
            <a:avLst/>
          </a:prstGeom>
          <a:solidFill>
            <a:srgbClr val="F5EFE7"/>
          </a:solidFill>
          <a:ln w="0">
            <a:solidFill>
              <a:srgbClr val="000000">
                <a:alpha val="0"/>
              </a:srgbClr>
            </a:solidFill>
            <a:prstDash val="solid"/>
          </a:ln>
        </p:spPr>
      </p:sp>
      <p:sp>
        <p:nvSpPr>
          <p:cNvPr id="2" name="Rectangle 1">
            <a:extLst>
              <a:ext uri="{FF2B5EF4-FFF2-40B4-BE49-F238E27FC236}">
                <a16:creationId xmlns:a16="http://schemas.microsoft.com/office/drawing/2014/main" id="{612BF027-175C-428F-B952-D58C10825B5E}"/>
              </a:ext>
            </a:extLst>
          </p:cNvPr>
          <p:cNvSpPr>
            <a:spLocks noGrp="1"/>
          </p:cNvSpPr>
          <p:nvPr/>
        </p:nvSpPr>
        <p:spPr>
          <a:xfrm>
            <a:off x="552450" y="781050"/>
            <a:ext cx="6438900" cy="5334000"/>
          </a:xfrm>
          <a:prstGeom prst="rect">
            <a:avLst/>
          </a:prstGeom>
          <a:solidFill>
            <a:srgbClr val="FFFDFC"/>
          </a:solidFill>
          <a:ln w="9525">
            <a:solidFill>
              <a:srgbClr val="D7CEC3"/>
            </a:solidFill>
            <a:prstDash val="solid"/>
          </a:ln>
        </p:spPr>
      </p:sp>
      <p:sp>
        <p:nvSpPr>
          <p:cNvPr id="3" name="Rectangle 2">
            <a:extLst>
              <a:ext uri="{FF2B5EF4-FFF2-40B4-BE49-F238E27FC236}">
                <a16:creationId xmlns:a16="http://schemas.microsoft.com/office/drawing/2014/main" id="{5DE86F5B-BA74-4A32-BBC7-C2C552C09F26}"/>
              </a:ext>
            </a:extLst>
          </p:cNvPr>
          <p:cNvSpPr>
            <a:spLocks noGrp="1"/>
          </p:cNvSpPr>
          <p:nvPr/>
        </p:nvSpPr>
        <p:spPr>
          <a:xfrm>
            <a:off x="7372350" y="781050"/>
            <a:ext cx="4267200" cy="5334000"/>
          </a:xfrm>
          <a:prstGeom prst="rect">
            <a:avLst/>
          </a:prstGeom>
          <a:solidFill>
            <a:srgbClr val="163556"/>
          </a:solidFill>
          <a:ln w="0">
            <a:solidFill>
              <a:srgbClr val="163556"/>
            </a:solidFill>
            <a:prstDash val="solid"/>
          </a:ln>
        </p:spPr>
      </p:sp>
      <p:sp>
        <p:nvSpPr>
          <p:cNvPr id="4" name="Rectangle 3">
            <a:extLst>
              <a:ext uri="{FF2B5EF4-FFF2-40B4-BE49-F238E27FC236}">
                <a16:creationId xmlns:a16="http://schemas.microsoft.com/office/drawing/2014/main" id="{D97D56B4-1E01-42BB-88A9-DED61BB5E5F8}"/>
              </a:ext>
            </a:extLst>
          </p:cNvPr>
          <p:cNvSpPr>
            <a:spLocks noGrp="1"/>
          </p:cNvSpPr>
          <p:nvPr/>
        </p:nvSpPr>
        <p:spPr>
          <a:xfrm>
            <a:off x="7372350" y="781050"/>
            <a:ext cx="95250" cy="5334000"/>
          </a:xfrm>
          <a:prstGeom prst="rect">
            <a:avLst/>
          </a:prstGeom>
          <a:solidFill>
            <a:srgbClr val="1C8A78"/>
          </a:solidFill>
          <a:ln w="0">
            <a:solidFill>
              <a:srgbClr val="1C8A78"/>
            </a:solidFill>
            <a:prstDash val="solid"/>
          </a:ln>
        </p:spPr>
      </p:sp>
      <p:sp>
        <p:nvSpPr>
          <p:cNvPr id="5" name="Rectangle 4">
            <a:extLst>
              <a:ext uri="{FF2B5EF4-FFF2-40B4-BE49-F238E27FC236}">
                <a16:creationId xmlns:a16="http://schemas.microsoft.com/office/drawing/2014/main" id="{1F7B7591-5783-485D-A90B-DD87EC92BF5C}"/>
              </a:ext>
            </a:extLst>
          </p:cNvPr>
          <p:cNvSpPr>
            <a:spLocks noGrp="1"/>
          </p:cNvSpPr>
          <p:nvPr/>
        </p:nvSpPr>
        <p:spPr>
          <a:xfrm>
            <a:off x="800100" y="1047750"/>
            <a:ext cx="2476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E76F1D"/>
                </a:solidFill>
                <a:latin typeface="Aptos"/>
                <a:ea typeface="Aptos"/>
                <a:cs typeface="Aptos"/>
              </a:defRPr>
            </a:pPr>
            <a:r>
              <a:rPr sz="788" b="1">
                <a:solidFill>
                  <a:srgbClr val="E76F1D"/>
                </a:solidFill>
                <a:latin typeface="Aptos"/>
                <a:ea typeface="Aptos"/>
                <a:cs typeface="Aptos"/>
              </a:rPr>
              <a:t>MODÈLE INSTITUTIONNEL | SERVICE ET GOUVERNANCE</a:t>
            </a:r>
          </a:p>
        </p:txBody>
      </p:sp>
      <p:sp>
        <p:nvSpPr>
          <p:cNvPr id="6" name="Rectangle 5">
            <a:extLst>
              <a:ext uri="{FF2B5EF4-FFF2-40B4-BE49-F238E27FC236}">
                <a16:creationId xmlns:a16="http://schemas.microsoft.com/office/drawing/2014/main" id="{254CF24A-F758-41B8-8C24-69662936A1FA}"/>
              </a:ext>
            </a:extLst>
          </p:cNvPr>
          <p:cNvSpPr>
            <a:spLocks noGrp="1"/>
          </p:cNvSpPr>
          <p:nvPr/>
        </p:nvSpPr>
        <p:spPr>
          <a:xfrm>
            <a:off x="800100" y="1409700"/>
            <a:ext cx="5334000" cy="1466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3150" b="1">
                <a:solidFill>
                  <a:srgbClr val="1A3554"/>
                </a:solidFill>
                <a:latin typeface="Aptos Display"/>
                <a:ea typeface="Aptos Display"/>
                <a:cs typeface="Aptos Display"/>
              </a:defRPr>
            </a:pPr>
            <a:r>
              <a:rPr sz="3150" b="1">
                <a:solidFill>
                  <a:srgbClr val="1A3554"/>
                </a:solidFill>
                <a:latin typeface="Aptos Display"/>
                <a:ea typeface="Aptos Display"/>
                <a:cs typeface="Aptos Display"/>
              </a:rPr>
              <a:t>Transformer l'IA</a:t>
            </a:r>
          </a:p>
          <a:p>
            <a:pPr algn="l">
              <a:defRPr sz="3150" b="1">
                <a:solidFill>
                  <a:srgbClr val="1A3554"/>
                </a:solidFill>
                <a:latin typeface="Aptos Display"/>
                <a:ea typeface="Aptos Display"/>
                <a:cs typeface="Aptos Display"/>
              </a:defRPr>
            </a:pPr>
            <a:r>
              <a:rPr sz="3150" b="1">
                <a:solidFill>
                  <a:srgbClr val="1A3554"/>
                </a:solidFill>
                <a:latin typeface="Aptos Display"/>
                <a:ea typeface="Aptos Display"/>
                <a:cs typeface="Aptos Display"/>
              </a:rPr>
              <a:t>en impact utile et</a:t>
            </a:r>
          </a:p>
          <a:p>
            <a:pPr algn="l">
              <a:defRPr sz="3150" b="1">
                <a:solidFill>
                  <a:srgbClr val="1A3554"/>
                </a:solidFill>
                <a:latin typeface="Aptos Display"/>
                <a:ea typeface="Aptos Display"/>
                <a:cs typeface="Aptos Display"/>
              </a:defRPr>
            </a:pPr>
            <a:r>
              <a:rPr sz="3150" b="1">
                <a:solidFill>
                  <a:srgbClr val="1A3554"/>
                </a:solidFill>
                <a:latin typeface="Aptos Display"/>
                <a:ea typeface="Aptos Display"/>
                <a:cs typeface="Aptos Display"/>
              </a:rPr>
              <a:t>gouverné</a:t>
            </a:r>
          </a:p>
        </p:txBody>
      </p:sp>
      <p:sp>
        <p:nvSpPr>
          <p:cNvPr id="7" name="Rectangle 6">
            <a:extLst>
              <a:ext uri="{FF2B5EF4-FFF2-40B4-BE49-F238E27FC236}">
                <a16:creationId xmlns:a16="http://schemas.microsoft.com/office/drawing/2014/main" id="{F04479FF-0DC4-4085-8D09-1D75DFDE0CAB}"/>
              </a:ext>
            </a:extLst>
          </p:cNvPr>
          <p:cNvSpPr>
            <a:spLocks noGrp="1"/>
          </p:cNvSpPr>
          <p:nvPr/>
        </p:nvSpPr>
        <p:spPr>
          <a:xfrm>
            <a:off x="800100" y="3086100"/>
            <a:ext cx="552450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617086"/>
                </a:solidFill>
                <a:latin typeface="Aptos"/>
                <a:ea typeface="Aptos"/>
                <a:cs typeface="Aptos"/>
              </a:defRPr>
            </a:pPr>
            <a:r>
              <a:rPr sz="1200" b="0">
                <a:solidFill>
                  <a:srgbClr val="617086"/>
                </a:solidFill>
                <a:latin typeface="Aptos"/>
                <a:ea typeface="Aptos"/>
                <a:cs typeface="Aptos"/>
              </a:rPr>
              <a:t>Une proposition construite à partir du cadre TransferAI, puis traduite dans le contexte du prospect autour de quatre terrains d'impact : qualité de service, coordination, pilotage, diffusion des procédures et renforcement des capacités.</a:t>
            </a:r>
          </a:p>
        </p:txBody>
      </p:sp>
      <p:sp>
        <p:nvSpPr>
          <p:cNvPr id="8" name="Rectangle 7">
            <a:extLst>
              <a:ext uri="{FF2B5EF4-FFF2-40B4-BE49-F238E27FC236}">
                <a16:creationId xmlns:a16="http://schemas.microsoft.com/office/drawing/2014/main" id="{CC9B6AB6-5D83-42D1-B05C-35F443D70B8A}"/>
              </a:ext>
            </a:extLst>
          </p:cNvPr>
          <p:cNvSpPr>
            <a:spLocks noGrp="1"/>
          </p:cNvSpPr>
          <p:nvPr/>
        </p:nvSpPr>
        <p:spPr>
          <a:xfrm>
            <a:off x="800100" y="4038600"/>
            <a:ext cx="3905250" cy="285750"/>
          </a:xfrm>
          <a:prstGeom prst="rect">
            <a:avLst/>
          </a:prstGeom>
          <a:solidFill>
            <a:srgbClr val="FBF5EE"/>
          </a:solidFill>
          <a:ln w="9525">
            <a:solidFill>
              <a:srgbClr val="D7CEC3"/>
            </a:solidFill>
            <a:prstDash val="solid"/>
          </a:ln>
        </p:spPr>
      </p:sp>
      <p:sp>
        <p:nvSpPr>
          <p:cNvPr id="9" name="Rectangle 8">
            <a:extLst>
              <a:ext uri="{FF2B5EF4-FFF2-40B4-BE49-F238E27FC236}">
                <a16:creationId xmlns:a16="http://schemas.microsoft.com/office/drawing/2014/main" id="{933E772B-7C5D-411B-8C5F-037729BF591B}"/>
              </a:ext>
            </a:extLst>
          </p:cNvPr>
          <p:cNvSpPr>
            <a:spLocks noGrp="1"/>
          </p:cNvSpPr>
          <p:nvPr/>
        </p:nvSpPr>
        <p:spPr>
          <a:xfrm>
            <a:off x="952500" y="4105275"/>
            <a:ext cx="3619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1">
                <a:solidFill>
                  <a:srgbClr val="1A3554"/>
                </a:solidFill>
                <a:latin typeface="Aptos"/>
                <a:ea typeface="Aptos"/>
                <a:cs typeface="Aptos"/>
              </a:defRPr>
            </a:pPr>
            <a:r>
              <a:rPr sz="863" b="1">
                <a:solidFill>
                  <a:srgbClr val="1A3554"/>
                </a:solidFill>
                <a:latin typeface="Aptos"/>
                <a:ea typeface="Aptos"/>
                <a:cs typeface="Aptos"/>
              </a:rPr>
              <a:t>TransferAI est le hub IA de Nettelecom CI.</a:t>
            </a:r>
          </a:p>
        </p:txBody>
      </p:sp>
      <p:sp>
        <p:nvSpPr>
          <p:cNvPr id="10" name="Rectangle 9">
            <a:extLst>
              <a:ext uri="{FF2B5EF4-FFF2-40B4-BE49-F238E27FC236}">
                <a16:creationId xmlns:a16="http://schemas.microsoft.com/office/drawing/2014/main" id="{8243AD81-FB74-4A4C-82F0-F537CBBFFFBD}"/>
              </a:ext>
            </a:extLst>
          </p:cNvPr>
          <p:cNvSpPr>
            <a:spLocks noGrp="1"/>
          </p:cNvSpPr>
          <p:nvPr/>
        </p:nvSpPr>
        <p:spPr>
          <a:xfrm>
            <a:off x="800100" y="4438650"/>
            <a:ext cx="2095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E76F1D"/>
                </a:solidFill>
                <a:latin typeface="Aptos"/>
                <a:ea typeface="Aptos"/>
                <a:cs typeface="Aptos"/>
              </a:defRPr>
            </a:pPr>
            <a:r>
              <a:rPr sz="750" b="1">
                <a:solidFill>
                  <a:srgbClr val="E76F1D"/>
                </a:solidFill>
                <a:latin typeface="Aptos"/>
                <a:ea typeface="Aptos"/>
                <a:cs typeface="Aptos"/>
              </a:rPr>
              <a:t>Point d'entrée recommandé</a:t>
            </a:r>
          </a:p>
        </p:txBody>
      </p:sp>
      <p:sp>
        <p:nvSpPr>
          <p:cNvPr id="11" name="Rectangle 10">
            <a:extLst>
              <a:ext uri="{FF2B5EF4-FFF2-40B4-BE49-F238E27FC236}">
                <a16:creationId xmlns:a16="http://schemas.microsoft.com/office/drawing/2014/main" id="{D27C7E1C-864A-49D1-BA03-442185C9E935}"/>
              </a:ext>
            </a:extLst>
          </p:cNvPr>
          <p:cNvSpPr>
            <a:spLocks noGrp="1"/>
          </p:cNvSpPr>
          <p:nvPr/>
        </p:nvSpPr>
        <p:spPr>
          <a:xfrm>
            <a:off x="800100" y="4648200"/>
            <a:ext cx="521970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1A3554"/>
                </a:solidFill>
                <a:latin typeface="Aptos"/>
                <a:ea typeface="Aptos"/>
                <a:cs typeface="Aptos"/>
              </a:defRPr>
            </a:pPr>
            <a:r>
              <a:rPr sz="1050" b="1">
                <a:solidFill>
                  <a:srgbClr val="1A3554"/>
                </a:solidFill>
                <a:latin typeface="Aptos"/>
                <a:ea typeface="Aptos"/>
                <a:cs typeface="Aptos"/>
              </a:rPr>
              <a:t>Audit IA gratuit + échange expert de 30 minutes pour qualifier les priorités, les indicateurs de preuve et la bonne séquence de déploiement.</a:t>
            </a:r>
          </a:p>
        </p:txBody>
      </p:sp>
      <p:sp>
        <p:nvSpPr>
          <p:cNvPr id="12" name="Rectangle 11">
            <a:extLst>
              <a:ext uri="{FF2B5EF4-FFF2-40B4-BE49-F238E27FC236}">
                <a16:creationId xmlns:a16="http://schemas.microsoft.com/office/drawing/2014/main" id="{6ED3AE17-0F38-4A65-9D7A-C133D4CC8376}"/>
              </a:ext>
            </a:extLst>
          </p:cNvPr>
          <p:cNvSpPr>
            <a:spLocks noGrp="1"/>
          </p:cNvSpPr>
          <p:nvPr/>
        </p:nvSpPr>
        <p:spPr>
          <a:xfrm>
            <a:off x="800100" y="5143500"/>
            <a:ext cx="1314450" cy="952500"/>
          </a:xfrm>
          <a:prstGeom prst="rect">
            <a:avLst/>
          </a:prstGeom>
          <a:solidFill>
            <a:srgbClr val="FFFDFC"/>
          </a:solidFill>
          <a:ln w="9525">
            <a:solidFill>
              <a:srgbClr val="D7CEC3"/>
            </a:solidFill>
            <a:prstDash val="solid"/>
          </a:ln>
        </p:spPr>
      </p:sp>
      <p:sp>
        <p:nvSpPr>
          <p:cNvPr id="13" name="Rectangle 12">
            <a:extLst>
              <a:ext uri="{FF2B5EF4-FFF2-40B4-BE49-F238E27FC236}">
                <a16:creationId xmlns:a16="http://schemas.microsoft.com/office/drawing/2014/main" id="{5036FB9B-2C2C-4105-BBEE-88AF8FCD8E56}"/>
              </a:ext>
            </a:extLst>
          </p:cNvPr>
          <p:cNvSpPr>
            <a:spLocks noGrp="1"/>
          </p:cNvSpPr>
          <p:nvPr/>
        </p:nvSpPr>
        <p:spPr>
          <a:xfrm>
            <a:off x="952500" y="5314950"/>
            <a:ext cx="28575" cy="609600"/>
          </a:xfrm>
          <a:prstGeom prst="rect">
            <a:avLst/>
          </a:prstGeom>
          <a:solidFill>
            <a:srgbClr val="E76F1D"/>
          </a:solidFill>
          <a:ln w="0">
            <a:solidFill>
              <a:srgbClr val="000000">
                <a:alpha val="0"/>
              </a:srgbClr>
            </a:solidFill>
            <a:prstDash val="solid"/>
          </a:ln>
        </p:spPr>
      </p:sp>
      <p:sp>
        <p:nvSpPr>
          <p:cNvPr id="14" name="Rectangle 13">
            <a:extLst>
              <a:ext uri="{FF2B5EF4-FFF2-40B4-BE49-F238E27FC236}">
                <a16:creationId xmlns:a16="http://schemas.microsoft.com/office/drawing/2014/main" id="{A8E82F06-00DE-4B79-AD2E-064F4331A4C6}"/>
              </a:ext>
            </a:extLst>
          </p:cNvPr>
          <p:cNvSpPr>
            <a:spLocks noGrp="1"/>
          </p:cNvSpPr>
          <p:nvPr/>
        </p:nvSpPr>
        <p:spPr>
          <a:xfrm>
            <a:off x="1085850" y="5276850"/>
            <a:ext cx="8953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J+15</a:t>
            </a:r>
          </a:p>
        </p:txBody>
      </p:sp>
      <p:sp>
        <p:nvSpPr>
          <p:cNvPr id="15" name="Rectangle 14">
            <a:extLst>
              <a:ext uri="{FF2B5EF4-FFF2-40B4-BE49-F238E27FC236}">
                <a16:creationId xmlns:a16="http://schemas.microsoft.com/office/drawing/2014/main" id="{71E7AD60-6C60-41FA-BF91-0625B24C34A8}"/>
              </a:ext>
            </a:extLst>
          </p:cNvPr>
          <p:cNvSpPr>
            <a:spLocks noGrp="1"/>
          </p:cNvSpPr>
          <p:nvPr/>
        </p:nvSpPr>
        <p:spPr>
          <a:xfrm>
            <a:off x="1085850" y="5562600"/>
            <a:ext cx="8953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94" b="1">
                <a:solidFill>
                  <a:srgbClr val="617086"/>
                </a:solidFill>
                <a:latin typeface="Aptos"/>
                <a:ea typeface="Aptos"/>
                <a:cs typeface="Aptos"/>
              </a:defRPr>
            </a:pPr>
            <a:r>
              <a:rPr sz="694" b="1">
                <a:solidFill>
                  <a:srgbClr val="617086"/>
                </a:solidFill>
                <a:latin typeface="Aptos"/>
                <a:ea typeface="Aptos"/>
                <a:cs typeface="Aptos"/>
              </a:rPr>
              <a:t>premier livrable</a:t>
            </a:r>
          </a:p>
        </p:txBody>
      </p:sp>
      <p:sp>
        <p:nvSpPr>
          <p:cNvPr id="16" name="Rectangle 15">
            <a:extLst>
              <a:ext uri="{FF2B5EF4-FFF2-40B4-BE49-F238E27FC236}">
                <a16:creationId xmlns:a16="http://schemas.microsoft.com/office/drawing/2014/main" id="{07E27C88-CAE3-4893-9150-5265157C30C7}"/>
              </a:ext>
            </a:extLst>
          </p:cNvPr>
          <p:cNvSpPr>
            <a:spLocks noGrp="1"/>
          </p:cNvSpPr>
          <p:nvPr/>
        </p:nvSpPr>
        <p:spPr>
          <a:xfrm>
            <a:off x="1085850" y="5753100"/>
            <a:ext cx="8953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07" b="0">
                <a:solidFill>
                  <a:srgbClr val="617086"/>
                </a:solidFill>
                <a:latin typeface="Aptos"/>
                <a:ea typeface="Aptos"/>
                <a:cs typeface="Aptos"/>
              </a:defRPr>
            </a:pPr>
            <a:r>
              <a:rPr sz="607" b="0">
                <a:solidFill>
                  <a:srgbClr val="617086"/>
                </a:solidFill>
                <a:latin typeface="Aptos"/>
                <a:ea typeface="Aptos"/>
                <a:cs typeface="Aptos"/>
              </a:rPr>
              <a:t>lecture claire des gains rapides</a:t>
            </a:r>
          </a:p>
        </p:txBody>
      </p:sp>
      <p:sp>
        <p:nvSpPr>
          <p:cNvPr id="17" name="Rectangle 16">
            <a:extLst>
              <a:ext uri="{FF2B5EF4-FFF2-40B4-BE49-F238E27FC236}">
                <a16:creationId xmlns:a16="http://schemas.microsoft.com/office/drawing/2014/main" id="{4AC72155-64F1-4771-835F-EE0F04C40FF1}"/>
              </a:ext>
            </a:extLst>
          </p:cNvPr>
          <p:cNvSpPr>
            <a:spLocks noGrp="1"/>
          </p:cNvSpPr>
          <p:nvPr/>
        </p:nvSpPr>
        <p:spPr>
          <a:xfrm>
            <a:off x="2247900" y="5143500"/>
            <a:ext cx="1314450" cy="952500"/>
          </a:xfrm>
          <a:prstGeom prst="rect">
            <a:avLst/>
          </a:prstGeom>
          <a:solidFill>
            <a:srgbClr val="FFFDFC"/>
          </a:solidFill>
          <a:ln w="9525">
            <a:solidFill>
              <a:srgbClr val="D7CEC3"/>
            </a:solidFill>
            <a:prstDash val="solid"/>
          </a:ln>
        </p:spPr>
      </p:sp>
      <p:sp>
        <p:nvSpPr>
          <p:cNvPr id="18" name="Rectangle 17">
            <a:extLst>
              <a:ext uri="{FF2B5EF4-FFF2-40B4-BE49-F238E27FC236}">
                <a16:creationId xmlns:a16="http://schemas.microsoft.com/office/drawing/2014/main" id="{FBE47A2B-F56B-44CF-95B1-EFB5810309A5}"/>
              </a:ext>
            </a:extLst>
          </p:cNvPr>
          <p:cNvSpPr>
            <a:spLocks noGrp="1"/>
          </p:cNvSpPr>
          <p:nvPr/>
        </p:nvSpPr>
        <p:spPr>
          <a:xfrm>
            <a:off x="2400300" y="5314950"/>
            <a:ext cx="28575" cy="609600"/>
          </a:xfrm>
          <a:prstGeom prst="rect">
            <a:avLst/>
          </a:prstGeom>
          <a:solidFill>
            <a:srgbClr val="1C8A78"/>
          </a:solidFill>
          <a:ln w="0">
            <a:solidFill>
              <a:srgbClr val="000000">
                <a:alpha val="0"/>
              </a:srgbClr>
            </a:solidFill>
            <a:prstDash val="solid"/>
          </a:ln>
        </p:spPr>
      </p:sp>
      <p:sp>
        <p:nvSpPr>
          <p:cNvPr id="19" name="Rectangle 18">
            <a:extLst>
              <a:ext uri="{FF2B5EF4-FFF2-40B4-BE49-F238E27FC236}">
                <a16:creationId xmlns:a16="http://schemas.microsoft.com/office/drawing/2014/main" id="{15A29A5B-AFA1-4D46-A622-755CA5B2C42C}"/>
              </a:ext>
            </a:extLst>
          </p:cNvPr>
          <p:cNvSpPr>
            <a:spLocks noGrp="1"/>
          </p:cNvSpPr>
          <p:nvPr/>
        </p:nvSpPr>
        <p:spPr>
          <a:xfrm>
            <a:off x="2533650" y="5276850"/>
            <a:ext cx="8953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13</a:t>
            </a:r>
          </a:p>
        </p:txBody>
      </p:sp>
      <p:sp>
        <p:nvSpPr>
          <p:cNvPr id="20" name="Rectangle 19">
            <a:extLst>
              <a:ext uri="{FF2B5EF4-FFF2-40B4-BE49-F238E27FC236}">
                <a16:creationId xmlns:a16="http://schemas.microsoft.com/office/drawing/2014/main" id="{4D0A44A9-BB3E-4CAF-875A-ED468D1EE40A}"/>
              </a:ext>
            </a:extLst>
          </p:cNvPr>
          <p:cNvSpPr>
            <a:spLocks noGrp="1"/>
          </p:cNvSpPr>
          <p:nvPr/>
        </p:nvSpPr>
        <p:spPr>
          <a:xfrm>
            <a:off x="2533650" y="5562600"/>
            <a:ext cx="8953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94" b="1">
                <a:solidFill>
                  <a:srgbClr val="617086"/>
                </a:solidFill>
                <a:latin typeface="Aptos"/>
                <a:ea typeface="Aptos"/>
                <a:cs typeface="Aptos"/>
              </a:defRPr>
            </a:pPr>
            <a:r>
              <a:rPr sz="694" b="1">
                <a:solidFill>
                  <a:srgbClr val="617086"/>
                </a:solidFill>
                <a:latin typeface="Aptos"/>
                <a:ea typeface="Aptos"/>
                <a:cs typeface="Aptos"/>
              </a:rPr>
              <a:t>experts IA</a:t>
            </a:r>
          </a:p>
        </p:txBody>
      </p:sp>
      <p:sp>
        <p:nvSpPr>
          <p:cNvPr id="21" name="Rectangle 20">
            <a:extLst>
              <a:ext uri="{FF2B5EF4-FFF2-40B4-BE49-F238E27FC236}">
                <a16:creationId xmlns:a16="http://schemas.microsoft.com/office/drawing/2014/main" id="{7B398B53-9151-4AE4-B3F2-14DB295B07EB}"/>
              </a:ext>
            </a:extLst>
          </p:cNvPr>
          <p:cNvSpPr>
            <a:spLocks noGrp="1"/>
          </p:cNvSpPr>
          <p:nvPr/>
        </p:nvSpPr>
        <p:spPr>
          <a:xfrm>
            <a:off x="2533650" y="5753100"/>
            <a:ext cx="8953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07" b="0">
                <a:solidFill>
                  <a:srgbClr val="617086"/>
                </a:solidFill>
                <a:latin typeface="Aptos"/>
                <a:ea typeface="Aptos"/>
                <a:cs typeface="Aptos"/>
              </a:defRPr>
            </a:pPr>
            <a:r>
              <a:rPr sz="607" b="0">
                <a:solidFill>
                  <a:srgbClr val="617086"/>
                </a:solidFill>
                <a:latin typeface="Aptos"/>
                <a:ea typeface="Aptos"/>
                <a:cs typeface="Aptos"/>
              </a:rPr>
              <a:t>mobilisés via TransferAI</a:t>
            </a:r>
          </a:p>
        </p:txBody>
      </p:sp>
      <p:sp>
        <p:nvSpPr>
          <p:cNvPr id="22" name="Rectangle 21">
            <a:extLst>
              <a:ext uri="{FF2B5EF4-FFF2-40B4-BE49-F238E27FC236}">
                <a16:creationId xmlns:a16="http://schemas.microsoft.com/office/drawing/2014/main" id="{E16C0229-28DE-4029-AB16-21E92F82A801}"/>
              </a:ext>
            </a:extLst>
          </p:cNvPr>
          <p:cNvSpPr>
            <a:spLocks noGrp="1"/>
          </p:cNvSpPr>
          <p:nvPr/>
        </p:nvSpPr>
        <p:spPr>
          <a:xfrm>
            <a:off x="3695700" y="5143500"/>
            <a:ext cx="1314450" cy="952500"/>
          </a:xfrm>
          <a:prstGeom prst="rect">
            <a:avLst/>
          </a:prstGeom>
          <a:solidFill>
            <a:srgbClr val="FFFDFC"/>
          </a:solidFill>
          <a:ln w="9525">
            <a:solidFill>
              <a:srgbClr val="D7CEC3"/>
            </a:solidFill>
            <a:prstDash val="solid"/>
          </a:ln>
        </p:spPr>
      </p:sp>
      <p:sp>
        <p:nvSpPr>
          <p:cNvPr id="23" name="Rectangle 22">
            <a:extLst>
              <a:ext uri="{FF2B5EF4-FFF2-40B4-BE49-F238E27FC236}">
                <a16:creationId xmlns:a16="http://schemas.microsoft.com/office/drawing/2014/main" id="{9F57626A-1064-48D5-9867-5D61A2B400BC}"/>
              </a:ext>
            </a:extLst>
          </p:cNvPr>
          <p:cNvSpPr>
            <a:spLocks noGrp="1"/>
          </p:cNvSpPr>
          <p:nvPr/>
        </p:nvSpPr>
        <p:spPr>
          <a:xfrm>
            <a:off x="3848100" y="5314950"/>
            <a:ext cx="28575" cy="609600"/>
          </a:xfrm>
          <a:prstGeom prst="rect">
            <a:avLst/>
          </a:prstGeom>
          <a:solidFill>
            <a:srgbClr val="163556"/>
          </a:solidFill>
          <a:ln w="0">
            <a:solidFill>
              <a:srgbClr val="000000">
                <a:alpha val="0"/>
              </a:srgbClr>
            </a:solidFill>
            <a:prstDash val="solid"/>
          </a:ln>
        </p:spPr>
      </p:sp>
      <p:sp>
        <p:nvSpPr>
          <p:cNvPr id="24" name="Rectangle 23">
            <a:extLst>
              <a:ext uri="{FF2B5EF4-FFF2-40B4-BE49-F238E27FC236}">
                <a16:creationId xmlns:a16="http://schemas.microsoft.com/office/drawing/2014/main" id="{30C76D47-071F-47DC-B28C-CE5CD7B88479}"/>
              </a:ext>
            </a:extLst>
          </p:cNvPr>
          <p:cNvSpPr>
            <a:spLocks noGrp="1"/>
          </p:cNvSpPr>
          <p:nvPr/>
        </p:nvSpPr>
        <p:spPr>
          <a:xfrm>
            <a:off x="3981450" y="5276850"/>
            <a:ext cx="8953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+30 %</a:t>
            </a:r>
          </a:p>
        </p:txBody>
      </p:sp>
      <p:sp>
        <p:nvSpPr>
          <p:cNvPr id="25" name="Rectangle 24">
            <a:extLst>
              <a:ext uri="{FF2B5EF4-FFF2-40B4-BE49-F238E27FC236}">
                <a16:creationId xmlns:a16="http://schemas.microsoft.com/office/drawing/2014/main" id="{0F6C8345-C65D-4C05-AD7A-9AC6C13B484C}"/>
              </a:ext>
            </a:extLst>
          </p:cNvPr>
          <p:cNvSpPr>
            <a:spLocks noGrp="1"/>
          </p:cNvSpPr>
          <p:nvPr/>
        </p:nvSpPr>
        <p:spPr>
          <a:xfrm>
            <a:off x="3981450" y="5562600"/>
            <a:ext cx="8953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94" b="1">
                <a:solidFill>
                  <a:srgbClr val="617086"/>
                </a:solidFill>
                <a:latin typeface="Aptos"/>
                <a:ea typeface="Aptos"/>
                <a:cs typeface="Aptos"/>
              </a:defRPr>
            </a:pPr>
            <a:r>
              <a:rPr sz="694" b="1">
                <a:solidFill>
                  <a:srgbClr val="617086"/>
                </a:solidFill>
                <a:latin typeface="Aptos"/>
                <a:ea typeface="Aptos"/>
                <a:cs typeface="Aptos"/>
              </a:rPr>
              <a:t>productivité benchmark</a:t>
            </a:r>
          </a:p>
        </p:txBody>
      </p:sp>
      <p:sp>
        <p:nvSpPr>
          <p:cNvPr id="26" name="Rectangle 25">
            <a:extLst>
              <a:ext uri="{FF2B5EF4-FFF2-40B4-BE49-F238E27FC236}">
                <a16:creationId xmlns:a16="http://schemas.microsoft.com/office/drawing/2014/main" id="{BA9B9B14-D3C5-4154-BFEC-E35AF35B8F34}"/>
              </a:ext>
            </a:extLst>
          </p:cNvPr>
          <p:cNvSpPr>
            <a:spLocks noGrp="1"/>
          </p:cNvSpPr>
          <p:nvPr/>
        </p:nvSpPr>
        <p:spPr>
          <a:xfrm>
            <a:off x="3981450" y="5753100"/>
            <a:ext cx="8953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07" b="0">
                <a:solidFill>
                  <a:srgbClr val="617086"/>
                </a:solidFill>
                <a:latin typeface="Aptos"/>
                <a:ea typeface="Aptos"/>
                <a:cs typeface="Aptos"/>
              </a:defRPr>
            </a:pPr>
            <a:r>
              <a:rPr sz="607" b="0">
                <a:solidFill>
                  <a:srgbClr val="617086"/>
                </a:solidFill>
                <a:latin typeface="Aptos"/>
                <a:ea typeface="Aptos"/>
                <a:cs typeface="Aptos"/>
              </a:rPr>
              <a:t>sur des flux répétitifs comparables</a:t>
            </a:r>
          </a:p>
        </p:txBody>
      </p:sp>
      <p:sp>
        <p:nvSpPr>
          <p:cNvPr id="27" name="Rectangle 26">
            <a:extLst>
              <a:ext uri="{FF2B5EF4-FFF2-40B4-BE49-F238E27FC236}">
                <a16:creationId xmlns:a16="http://schemas.microsoft.com/office/drawing/2014/main" id="{16EC3CF0-4352-4EBC-B4C2-031C66CD8CE9}"/>
              </a:ext>
            </a:extLst>
          </p:cNvPr>
          <p:cNvSpPr>
            <a:spLocks noGrp="1"/>
          </p:cNvSpPr>
          <p:nvPr/>
        </p:nvSpPr>
        <p:spPr>
          <a:xfrm>
            <a:off x="5143500" y="5143500"/>
            <a:ext cx="1314450" cy="952500"/>
          </a:xfrm>
          <a:prstGeom prst="rect">
            <a:avLst/>
          </a:prstGeom>
          <a:solidFill>
            <a:srgbClr val="FFFDFC"/>
          </a:solidFill>
          <a:ln w="9525">
            <a:solidFill>
              <a:srgbClr val="D7CEC3"/>
            </a:solidFill>
            <a:prstDash val="solid"/>
          </a:ln>
        </p:spPr>
      </p:sp>
      <p:sp>
        <p:nvSpPr>
          <p:cNvPr id="28" name="Rectangle 27">
            <a:extLst>
              <a:ext uri="{FF2B5EF4-FFF2-40B4-BE49-F238E27FC236}">
                <a16:creationId xmlns:a16="http://schemas.microsoft.com/office/drawing/2014/main" id="{48EA6FB7-851C-4346-9D5C-0769B60174E4}"/>
              </a:ext>
            </a:extLst>
          </p:cNvPr>
          <p:cNvSpPr>
            <a:spLocks noGrp="1"/>
          </p:cNvSpPr>
          <p:nvPr/>
        </p:nvSpPr>
        <p:spPr>
          <a:xfrm>
            <a:off x="5295900" y="5314950"/>
            <a:ext cx="28575" cy="609600"/>
          </a:xfrm>
          <a:prstGeom prst="rect">
            <a:avLst/>
          </a:prstGeom>
          <a:solidFill>
            <a:srgbClr val="C88C3A"/>
          </a:solidFill>
          <a:ln w="0">
            <a:solidFill>
              <a:srgbClr val="000000">
                <a:alpha val="0"/>
              </a:srgbClr>
            </a:solidFill>
            <a:prstDash val="solid"/>
          </a:ln>
        </p:spPr>
      </p:sp>
      <p:sp>
        <p:nvSpPr>
          <p:cNvPr id="29" name="Rectangle 28">
            <a:extLst>
              <a:ext uri="{FF2B5EF4-FFF2-40B4-BE49-F238E27FC236}">
                <a16:creationId xmlns:a16="http://schemas.microsoft.com/office/drawing/2014/main" id="{5B465C58-DC55-447E-B998-099D96A4D1D6}"/>
              </a:ext>
            </a:extLst>
          </p:cNvPr>
          <p:cNvSpPr>
            <a:spLocks noGrp="1"/>
          </p:cNvSpPr>
          <p:nvPr/>
        </p:nvSpPr>
        <p:spPr>
          <a:xfrm>
            <a:off x="5429250" y="5276850"/>
            <a:ext cx="89535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-45 %</a:t>
            </a:r>
          </a:p>
        </p:txBody>
      </p:sp>
      <p:sp>
        <p:nvSpPr>
          <p:cNvPr id="30" name="Rectangle 29">
            <a:extLst>
              <a:ext uri="{FF2B5EF4-FFF2-40B4-BE49-F238E27FC236}">
                <a16:creationId xmlns:a16="http://schemas.microsoft.com/office/drawing/2014/main" id="{585FE241-E48E-427D-ADD2-BE4EBE850601}"/>
              </a:ext>
            </a:extLst>
          </p:cNvPr>
          <p:cNvSpPr>
            <a:spLocks noGrp="1"/>
          </p:cNvSpPr>
          <p:nvPr/>
        </p:nvSpPr>
        <p:spPr>
          <a:xfrm>
            <a:off x="5429250" y="5562600"/>
            <a:ext cx="8953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94" b="1">
                <a:solidFill>
                  <a:srgbClr val="617086"/>
                </a:solidFill>
                <a:latin typeface="Aptos"/>
                <a:ea typeface="Aptos"/>
                <a:cs typeface="Aptos"/>
              </a:defRPr>
            </a:pPr>
            <a:r>
              <a:rPr sz="694" b="1">
                <a:solidFill>
                  <a:srgbClr val="617086"/>
                </a:solidFill>
                <a:latin typeface="Aptos"/>
                <a:ea typeface="Aptos"/>
                <a:cs typeface="Aptos"/>
              </a:rPr>
              <a:t>effort de formation</a:t>
            </a:r>
          </a:p>
        </p:txBody>
      </p:sp>
      <p:sp>
        <p:nvSpPr>
          <p:cNvPr id="31" name="Rectangle 30">
            <a:extLst>
              <a:ext uri="{FF2B5EF4-FFF2-40B4-BE49-F238E27FC236}">
                <a16:creationId xmlns:a16="http://schemas.microsoft.com/office/drawing/2014/main" id="{02211E6E-6A0E-44B8-B45D-CB157AB34C11}"/>
              </a:ext>
            </a:extLst>
          </p:cNvPr>
          <p:cNvSpPr>
            <a:spLocks noGrp="1"/>
          </p:cNvSpPr>
          <p:nvPr/>
        </p:nvSpPr>
        <p:spPr>
          <a:xfrm>
            <a:off x="5429250" y="5753100"/>
            <a:ext cx="8953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07" b="0">
                <a:solidFill>
                  <a:srgbClr val="617086"/>
                </a:solidFill>
                <a:latin typeface="Aptos"/>
                <a:ea typeface="Aptos"/>
                <a:cs typeface="Aptos"/>
              </a:defRPr>
            </a:pPr>
            <a:r>
              <a:rPr sz="607" b="0">
                <a:solidFill>
                  <a:srgbClr val="617086"/>
                </a:solidFill>
                <a:latin typeface="Aptos"/>
                <a:ea typeface="Aptos"/>
                <a:cs typeface="Aptos"/>
              </a:rPr>
              <a:t>benchmark onboarding / diffusion</a:t>
            </a:r>
          </a:p>
        </p:txBody>
      </p:sp>
      <p:sp>
        <p:nvSpPr>
          <p:cNvPr id="32" name="Rectangle 31">
            <a:extLst>
              <a:ext uri="{FF2B5EF4-FFF2-40B4-BE49-F238E27FC236}">
                <a16:creationId xmlns:a16="http://schemas.microsoft.com/office/drawing/2014/main" id="{3889B50C-EDF2-4602-B841-0EA8DF8B8604}"/>
              </a:ext>
            </a:extLst>
          </p:cNvPr>
          <p:cNvSpPr>
            <a:spLocks noGrp="1"/>
          </p:cNvSpPr>
          <p:nvPr/>
        </p:nvSpPr>
        <p:spPr>
          <a:xfrm>
            <a:off x="7734300" y="1162050"/>
            <a:ext cx="2476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FFFFFF"/>
                </a:solidFill>
                <a:latin typeface="Aptos"/>
                <a:ea typeface="Aptos"/>
                <a:cs typeface="Aptos"/>
              </a:defRPr>
            </a:pPr>
            <a:r>
              <a:rPr sz="788" b="1">
                <a:solidFill>
                  <a:srgbClr val="FFFFFF"/>
                </a:solidFill>
                <a:latin typeface="Aptos"/>
                <a:ea typeface="Aptos"/>
                <a:cs typeface="Aptos"/>
              </a:rPr>
              <a:t>CE QUE NOUS PROPOSONS</a:t>
            </a:r>
          </a:p>
        </p:txBody>
      </p:sp>
      <p:sp>
        <p:nvSpPr>
          <p:cNvPr id="33" name="Rectangle 32">
            <a:extLst>
              <a:ext uri="{FF2B5EF4-FFF2-40B4-BE49-F238E27FC236}">
                <a16:creationId xmlns:a16="http://schemas.microsoft.com/office/drawing/2014/main" id="{0DA06060-747A-4C1A-82B4-89355C218118}"/>
              </a:ext>
            </a:extLst>
          </p:cNvPr>
          <p:cNvSpPr>
            <a:spLocks noGrp="1"/>
          </p:cNvSpPr>
          <p:nvPr/>
        </p:nvSpPr>
        <p:spPr>
          <a:xfrm>
            <a:off x="7734300" y="1466850"/>
            <a:ext cx="3238500" cy="1066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FFFFFF"/>
                </a:solidFill>
                <a:latin typeface="Aptos Display"/>
                <a:ea typeface="Aptos Display"/>
                <a:cs typeface="Aptos Display"/>
              </a:defRPr>
            </a:pPr>
            <a:r>
              <a:rPr sz="1800" b="1">
                <a:solidFill>
                  <a:srgbClr val="FFFFFF"/>
                </a:solidFill>
                <a:latin typeface="Aptos Display"/>
                <a:ea typeface="Aptos Display"/>
                <a:cs typeface="Aptos Display"/>
              </a:rPr>
              <a:t>Une offre exécutive,</a:t>
            </a:r>
          </a:p>
          <a:p>
            <a:pPr algn="l">
              <a:defRPr sz="1800" b="1">
                <a:solidFill>
                  <a:srgbClr val="FFFFFF"/>
                </a:solidFill>
                <a:latin typeface="Aptos Display"/>
                <a:ea typeface="Aptos Display"/>
                <a:cs typeface="Aptos Display"/>
              </a:defRPr>
            </a:pPr>
            <a:r>
              <a:rPr sz="1800" b="1">
                <a:solidFill>
                  <a:srgbClr val="FFFFFF"/>
                </a:solidFill>
                <a:latin typeface="Aptos Display"/>
                <a:ea typeface="Aptos Display"/>
                <a:cs typeface="Aptos Display"/>
              </a:rPr>
              <a:t>maîtrisée et adaptée</a:t>
            </a:r>
          </a:p>
          <a:p>
            <a:pPr algn="l">
              <a:defRPr sz="1800" b="1">
                <a:solidFill>
                  <a:srgbClr val="FFFFFF"/>
                </a:solidFill>
                <a:latin typeface="Aptos Display"/>
                <a:ea typeface="Aptos Display"/>
                <a:cs typeface="Aptos Display"/>
              </a:defRPr>
            </a:pPr>
            <a:r>
              <a:rPr sz="1800" b="1">
                <a:solidFill>
                  <a:srgbClr val="FFFFFF"/>
                </a:solidFill>
                <a:latin typeface="Aptos Display"/>
                <a:ea typeface="Aptos Display"/>
                <a:cs typeface="Aptos Display"/>
              </a:rPr>
              <a:t>au cadre institutionnel.</a:t>
            </a:r>
          </a:p>
        </p:txBody>
      </p:sp>
      <p:sp>
        <p:nvSpPr>
          <p:cNvPr id="34" name="Rectangle 33">
            <a:extLst>
              <a:ext uri="{FF2B5EF4-FFF2-40B4-BE49-F238E27FC236}">
                <a16:creationId xmlns:a16="http://schemas.microsoft.com/office/drawing/2014/main" id="{37161554-1379-4126-81BB-C0CE31322CDF}"/>
              </a:ext>
            </a:extLst>
          </p:cNvPr>
          <p:cNvSpPr>
            <a:spLocks noGrp="1"/>
          </p:cNvSpPr>
          <p:nvPr/>
        </p:nvSpPr>
        <p:spPr>
          <a:xfrm>
            <a:off x="7734300" y="2628900"/>
            <a:ext cx="3219450" cy="1181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0">
                <a:solidFill>
                  <a:srgbClr val="C9D4E1"/>
                </a:solidFill>
                <a:latin typeface="Aptos"/>
                <a:ea typeface="Aptos"/>
                <a:cs typeface="Aptos"/>
              </a:defRPr>
            </a:pPr>
            <a:r>
              <a:rPr sz="1125" b="0">
                <a:solidFill>
                  <a:srgbClr val="C9D4E1"/>
                </a:solidFill>
                <a:latin typeface="Aptos"/>
                <a:ea typeface="Aptos"/>
                <a:cs typeface="Aptos"/>
              </a:rPr>
              <a:t>• Partir des vrais enjeux de service et de coordination</a:t>
            </a:r>
          </a:p>
          <a:p>
            <a:pPr algn="l">
              <a:defRPr sz="1125" b="0">
                <a:solidFill>
                  <a:srgbClr val="C9D4E1"/>
                </a:solidFill>
                <a:latin typeface="Aptos"/>
                <a:ea typeface="Aptos"/>
                <a:cs typeface="Aptos"/>
              </a:defRPr>
            </a:pPr>
            <a:r>
              <a:rPr sz="1125" b="0">
                <a:solidFill>
                  <a:srgbClr val="C9D4E1"/>
                </a:solidFill>
                <a:latin typeface="Aptos"/>
                <a:ea typeface="Aptos"/>
                <a:cs typeface="Aptos"/>
              </a:rPr>
              <a:t>• Cadrer des cas d'usage utiles avant tout déploiement</a:t>
            </a:r>
          </a:p>
          <a:p>
            <a:pPr algn="l">
              <a:defRPr sz="1125" b="0">
                <a:solidFill>
                  <a:srgbClr val="C9D4E1"/>
                </a:solidFill>
                <a:latin typeface="Aptos"/>
                <a:ea typeface="Aptos"/>
                <a:cs typeface="Aptos"/>
              </a:defRPr>
            </a:pPr>
            <a:r>
              <a:rPr sz="1125" b="0">
                <a:solidFill>
                  <a:srgbClr val="C9D4E1"/>
                </a:solidFill>
                <a:latin typeface="Aptos"/>
                <a:ea typeface="Aptos"/>
                <a:cs typeface="Aptos"/>
              </a:rPr>
              <a:t>• Former les bonnes équipes au bon niveau</a:t>
            </a:r>
          </a:p>
          <a:p>
            <a:pPr algn="l">
              <a:defRPr sz="1125" b="0">
                <a:solidFill>
                  <a:srgbClr val="C9D4E1"/>
                </a:solidFill>
                <a:latin typeface="Aptos"/>
                <a:ea typeface="Aptos"/>
                <a:cs typeface="Aptos"/>
              </a:defRPr>
            </a:pPr>
            <a:r>
              <a:rPr sz="1125" b="0">
                <a:solidFill>
                  <a:srgbClr val="C9D4E1"/>
                </a:solidFill>
                <a:latin typeface="Aptos"/>
                <a:ea typeface="Aptos"/>
                <a:cs typeface="Aptos"/>
              </a:rPr>
              <a:t>• Lancer un pilote avec supervision et mesure des résultats</a:t>
            </a:r>
          </a:p>
        </p:txBody>
      </p:sp>
      <p:sp>
        <p:nvSpPr>
          <p:cNvPr id="35" name="Rectangle 34">
            <a:extLst>
              <a:ext uri="{FF2B5EF4-FFF2-40B4-BE49-F238E27FC236}">
                <a16:creationId xmlns:a16="http://schemas.microsoft.com/office/drawing/2014/main" id="{3BD828F5-B55C-42B9-A3B1-E2F46002582E}"/>
              </a:ext>
            </a:extLst>
          </p:cNvPr>
          <p:cNvSpPr>
            <a:spLocks noGrp="1"/>
          </p:cNvSpPr>
          <p:nvPr/>
        </p:nvSpPr>
        <p:spPr>
          <a:xfrm>
            <a:off x="7734300" y="4095750"/>
            <a:ext cx="3143250" cy="971550"/>
          </a:xfrm>
          <a:prstGeom prst="rect">
            <a:avLst/>
          </a:prstGeom>
          <a:solidFill>
            <a:srgbClr val="244667"/>
          </a:solidFill>
          <a:ln w="9525">
            <a:solidFill>
              <a:srgbClr val="244667"/>
            </a:solidFill>
            <a:prstDash val="solid"/>
          </a:ln>
        </p:spPr>
      </p:sp>
      <p:sp>
        <p:nvSpPr>
          <p:cNvPr id="36" name="Rectangle 35">
            <a:extLst>
              <a:ext uri="{FF2B5EF4-FFF2-40B4-BE49-F238E27FC236}">
                <a16:creationId xmlns:a16="http://schemas.microsoft.com/office/drawing/2014/main" id="{1DCE793D-6AE1-4BD2-9CA1-A6141CEE592F}"/>
              </a:ext>
            </a:extLst>
          </p:cNvPr>
          <p:cNvSpPr>
            <a:spLocks noGrp="1"/>
          </p:cNvSpPr>
          <p:nvPr/>
        </p:nvSpPr>
        <p:spPr>
          <a:xfrm>
            <a:off x="7943850" y="4267200"/>
            <a:ext cx="8572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D7E5F3"/>
                </a:solidFill>
                <a:latin typeface="Aptos"/>
                <a:ea typeface="Aptos"/>
                <a:cs typeface="Aptos"/>
              </a:defRPr>
            </a:pPr>
            <a:r>
              <a:rPr sz="713" b="1">
                <a:solidFill>
                  <a:srgbClr val="D7E5F3"/>
                </a:solidFill>
                <a:latin typeface="Aptos"/>
                <a:ea typeface="Aptos"/>
                <a:cs typeface="Aptos"/>
              </a:rPr>
              <a:t>Promesse</a:t>
            </a:r>
          </a:p>
        </p:txBody>
      </p:sp>
      <p:sp>
        <p:nvSpPr>
          <p:cNvPr id="37" name="Rectangle 36">
            <a:extLst>
              <a:ext uri="{FF2B5EF4-FFF2-40B4-BE49-F238E27FC236}">
                <a16:creationId xmlns:a16="http://schemas.microsoft.com/office/drawing/2014/main" id="{80E0C297-ED9A-409D-A6AA-2E117B47BF10}"/>
              </a:ext>
            </a:extLst>
          </p:cNvPr>
          <p:cNvSpPr>
            <a:spLocks noGrp="1"/>
          </p:cNvSpPr>
          <p:nvPr/>
        </p:nvSpPr>
        <p:spPr>
          <a:xfrm>
            <a:off x="7943850" y="4476750"/>
            <a:ext cx="272415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FFFFF"/>
                </a:solidFill>
                <a:latin typeface="Aptos"/>
                <a:ea typeface="Aptos"/>
                <a:cs typeface="Aptos"/>
              </a:defRPr>
            </a:pPr>
            <a:r>
              <a:rPr sz="1050" b="1">
                <a:solidFill>
                  <a:srgbClr val="FFFFFF"/>
                </a:solidFill>
                <a:latin typeface="Aptos"/>
                <a:ea typeface="Aptos"/>
                <a:cs typeface="Aptos"/>
              </a:rPr>
              <a:t>Faire de l'IA un levier de qualité de service, de coordination et de rigueur opérationnelle pour le prospect.</a:t>
            </a:r>
          </a:p>
        </p:txBody>
      </p:sp>
      <p:sp>
        <p:nvSpPr>
          <p:cNvPr id="38" name="Rectangle 37">
            <a:extLst>
              <a:ext uri="{FF2B5EF4-FFF2-40B4-BE49-F238E27FC236}">
                <a16:creationId xmlns:a16="http://schemas.microsoft.com/office/drawing/2014/main" id="{C717E7C9-2BAB-4FD3-A0B0-8144C5E1588E}"/>
              </a:ext>
            </a:extLst>
          </p:cNvPr>
          <p:cNvSpPr>
            <a:spLocks noGrp="1"/>
          </p:cNvSpPr>
          <p:nvPr/>
        </p:nvSpPr>
        <p:spPr>
          <a:xfrm>
            <a:off x="7734300" y="5200650"/>
            <a:ext cx="3143250" cy="819150"/>
          </a:xfrm>
          <a:prstGeom prst="rect">
            <a:avLst/>
          </a:prstGeom>
          <a:solidFill>
            <a:srgbClr val="10263F"/>
          </a:solidFill>
          <a:ln w="9525">
            <a:solidFill>
              <a:srgbClr val="2F587F"/>
            </a:solidFill>
            <a:prstDash val="solid"/>
          </a:ln>
        </p:spPr>
      </p:sp>
      <p:sp>
        <p:nvSpPr>
          <p:cNvPr id="39" name="Rectangle 38">
            <a:extLst>
              <a:ext uri="{FF2B5EF4-FFF2-40B4-BE49-F238E27FC236}">
                <a16:creationId xmlns:a16="http://schemas.microsoft.com/office/drawing/2014/main" id="{78EE252A-5784-4CBB-B48E-C856E308347F}"/>
              </a:ext>
            </a:extLst>
          </p:cNvPr>
          <p:cNvSpPr>
            <a:spLocks noGrp="1"/>
          </p:cNvSpPr>
          <p:nvPr/>
        </p:nvSpPr>
        <p:spPr>
          <a:xfrm>
            <a:off x="7924800" y="5353050"/>
            <a:ext cx="2781300" cy="514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D7E5F3"/>
                </a:solidFill>
                <a:latin typeface="Aptos"/>
                <a:ea typeface="Aptos"/>
                <a:cs typeface="Aptos"/>
              </a:defRPr>
            </a:pPr>
            <a:r>
              <a:rPr sz="788" b="0">
                <a:solidFill>
                  <a:srgbClr val="D7E5F3"/>
                </a:solidFill>
                <a:latin typeface="Aptos"/>
                <a:ea typeface="Aptos"/>
                <a:cs typeface="Aptos"/>
              </a:rPr>
              <a:t>Important : les chiffres de ROI affichés dans ce deck sont des benchmarks de référence TransferAI, à confirmer sur les données du prospect pendant l'audit.</a:t>
            </a:r>
          </a:p>
        </p:txBody>
      </p:sp>
      <p:sp>
        <p:nvSpPr>
          <p:cNvPr id="40" name="Rectangle 39">
            <a:extLst>
              <a:ext uri="{FF2B5EF4-FFF2-40B4-BE49-F238E27FC236}">
                <a16:creationId xmlns:a16="http://schemas.microsoft.com/office/drawing/2014/main" id="{1F4F7C89-F23F-4C76-BA9A-F03EB6C6AA4D}"/>
              </a:ext>
            </a:extLst>
          </p:cNvPr>
          <p:cNvSpPr>
            <a:spLocks noGrp="1"/>
          </p:cNvSpPr>
          <p:nvPr/>
        </p:nvSpPr>
        <p:spPr>
          <a:xfrm>
            <a:off x="647700" y="6496050"/>
            <a:ext cx="10896600" cy="9525"/>
          </a:xfrm>
          <a:prstGeom prst="rect">
            <a:avLst/>
          </a:prstGeom>
          <a:solidFill>
            <a:srgbClr val="D7CEC3"/>
          </a:solidFill>
          <a:ln w="0">
            <a:solidFill>
              <a:srgbClr val="000000">
                <a:alpha val="0"/>
              </a:srgbClr>
            </a:solidFill>
            <a:prstDash val="solid"/>
          </a:ln>
        </p:spPr>
      </p:sp>
      <p:sp>
        <p:nvSpPr>
          <p:cNvPr id="41" name="Rectangle 40">
            <a:extLst>
              <a:ext uri="{FF2B5EF4-FFF2-40B4-BE49-F238E27FC236}">
                <a16:creationId xmlns:a16="http://schemas.microsoft.com/office/drawing/2014/main" id="{14FD9091-DA54-4625-AFB5-AAE59D2593EA}"/>
              </a:ext>
            </a:extLst>
          </p:cNvPr>
          <p:cNvSpPr>
            <a:spLocks noGrp="1"/>
          </p:cNvSpPr>
          <p:nvPr/>
        </p:nvSpPr>
        <p:spPr>
          <a:xfrm>
            <a:off x="685800" y="6572250"/>
            <a:ext cx="8572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617086"/>
                </a:solidFill>
                <a:latin typeface="Aptos"/>
                <a:ea typeface="Aptos"/>
                <a:cs typeface="Aptos"/>
              </a:defRPr>
            </a:pPr>
            <a:r>
              <a:rPr sz="638" b="0">
                <a:solidFill>
                  <a:srgbClr val="617086"/>
                </a:solidFill>
                <a:latin typeface="Aptos"/>
                <a:ea typeface="Aptos"/>
                <a:cs typeface="Aptos"/>
              </a:rPr>
              <a:t>TransferAI | Hub IA de Nettelecom CI | Modèle deck institutionnel V3</a:t>
            </a:r>
          </a:p>
        </p:txBody>
      </p:sp>
      <p:sp>
        <p:nvSpPr>
          <p:cNvPr id="42" name="Rectangle 41">
            <a:extLst>
              <a:ext uri="{FF2B5EF4-FFF2-40B4-BE49-F238E27FC236}">
                <a16:creationId xmlns:a16="http://schemas.microsoft.com/office/drawing/2014/main" id="{C80F54D0-4813-4869-B726-76FA09B10FD7}"/>
              </a:ext>
            </a:extLst>
          </p:cNvPr>
          <p:cNvSpPr>
            <a:spLocks noGrp="1"/>
          </p:cNvSpPr>
          <p:nvPr/>
        </p:nvSpPr>
        <p:spPr>
          <a:xfrm>
            <a:off x="11049000" y="6553200"/>
            <a:ext cx="3429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1A3554"/>
                </a:solidFill>
                <a:latin typeface="Aptos"/>
                <a:ea typeface="Aptos"/>
                <a:cs typeface="Aptos"/>
              </a:defRPr>
            </a:pPr>
            <a:r>
              <a:rPr sz="750" b="1">
                <a:solidFill>
                  <a:srgbClr val="1A3554"/>
                </a:solidFill>
                <a:latin typeface="Aptos"/>
                <a:ea typeface="Aptos"/>
                <a:cs typeface="Aptos"/>
              </a:rPr>
              <a:t>01</a:t>
            </a:r>
          </a:p>
        </p:txBody>
      </p:sp>
    </p:spTree>
    <p:extLst>
      <p:ext uri="{BB962C8B-B14F-4D97-AF65-F5344CB8AC3E}">
        <p14:creationId xmlns:p14="http://schemas.microsoft.com/office/powerpoint/2010/main" val="9642293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CEE78D30-E4F5-4EE7-B3B7-D3A385C2D70E}"/>
              </a:ext>
            </a:extLst>
          </p:cNvPr>
          <p:cNvSpPr>
            <a:spLocks noGrp="1"/>
          </p:cNvSpPr>
          <p:nvPr/>
        </p:nvSpPr>
        <p:spPr>
          <a:xfrm>
            <a:off x="0" y="0"/>
            <a:ext cx="12192000" cy="6858000"/>
          </a:xfrm>
          <a:prstGeom prst="rect">
            <a:avLst/>
          </a:prstGeom>
          <a:solidFill>
            <a:srgbClr val="F5EFE7"/>
          </a:solidFill>
          <a:ln w="0">
            <a:solidFill>
              <a:srgbClr val="000000">
                <a:alpha val="0"/>
              </a:srgbClr>
            </a:solidFill>
            <a:prstDash val="solid"/>
          </a:ln>
        </p:spPr>
      </p:sp>
      <p:sp>
        <p:nvSpPr>
          <p:cNvPr id="2" name="Rectangle 1">
            <a:extLst>
              <a:ext uri="{FF2B5EF4-FFF2-40B4-BE49-F238E27FC236}">
                <a16:creationId xmlns:a16="http://schemas.microsoft.com/office/drawing/2014/main" id="{F09265AA-0624-4CD5-B338-EBF04734D12C}"/>
              </a:ext>
            </a:extLst>
          </p:cNvPr>
          <p:cNvSpPr>
            <a:spLocks noGrp="1"/>
          </p:cNvSpPr>
          <p:nvPr/>
        </p:nvSpPr>
        <p:spPr>
          <a:xfrm>
            <a:off x="685800" y="495300"/>
            <a:ext cx="2476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E76F1D"/>
                </a:solidFill>
                <a:latin typeface="Aptos"/>
                <a:ea typeface="Aptos"/>
                <a:cs typeface="Aptos"/>
              </a:defRPr>
            </a:pPr>
            <a:r>
              <a:rPr sz="788" b="1">
                <a:solidFill>
                  <a:srgbClr val="E76F1D"/>
                </a:solidFill>
                <a:latin typeface="Aptos"/>
                <a:ea typeface="Aptos"/>
                <a:cs typeface="Aptos"/>
              </a:rPr>
              <a:t>SOMMAIRE</a:t>
            </a:r>
          </a:p>
        </p:txBody>
      </p:sp>
      <p:sp>
        <p:nvSpPr>
          <p:cNvPr id="3" name="Rectangle 2">
            <a:extLst>
              <a:ext uri="{FF2B5EF4-FFF2-40B4-BE49-F238E27FC236}">
                <a16:creationId xmlns:a16="http://schemas.microsoft.com/office/drawing/2014/main" id="{C9B529A9-0530-47C3-BF18-ADA52F507613}"/>
              </a:ext>
            </a:extLst>
          </p:cNvPr>
          <p:cNvSpPr>
            <a:spLocks noGrp="1"/>
          </p:cNvSpPr>
          <p:nvPr/>
        </p:nvSpPr>
        <p:spPr>
          <a:xfrm>
            <a:off x="685800" y="819150"/>
            <a:ext cx="8763000" cy="800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550" b="1">
                <a:solidFill>
                  <a:srgbClr val="1A3554"/>
                </a:solidFill>
                <a:latin typeface="Aptos Display"/>
                <a:ea typeface="Aptos Display"/>
                <a:cs typeface="Aptos Display"/>
              </a:defRPr>
            </a:pPr>
            <a:r>
              <a:rPr sz="2550" b="1">
                <a:solidFill>
                  <a:srgbClr val="1A3554"/>
                </a:solidFill>
                <a:latin typeface="Aptos Display"/>
                <a:ea typeface="Aptos Display"/>
                <a:cs typeface="Aptos Display"/>
              </a:rPr>
              <a:t>Le parcours de lecture recommandé pour un deck institutionnel</a:t>
            </a:r>
          </a:p>
        </p:txBody>
      </p:sp>
      <p:sp>
        <p:nvSpPr>
          <p:cNvPr id="4" name="Rectangle 3">
            <a:extLst>
              <a:ext uri="{FF2B5EF4-FFF2-40B4-BE49-F238E27FC236}">
                <a16:creationId xmlns:a16="http://schemas.microsoft.com/office/drawing/2014/main" id="{B7D64A29-B3CA-42F6-9F53-6FFEAE8C6B30}"/>
              </a:ext>
            </a:extLst>
          </p:cNvPr>
          <p:cNvSpPr>
            <a:spLocks noGrp="1"/>
          </p:cNvSpPr>
          <p:nvPr/>
        </p:nvSpPr>
        <p:spPr>
          <a:xfrm>
            <a:off x="685800" y="1676400"/>
            <a:ext cx="91440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617086"/>
                </a:solidFill>
                <a:latin typeface="Aptos"/>
                <a:ea typeface="Aptos"/>
                <a:cs typeface="Aptos"/>
              </a:defRPr>
            </a:pPr>
            <a:r>
              <a:rPr sz="1050" b="0">
                <a:solidFill>
                  <a:srgbClr val="617086"/>
                </a:solidFill>
                <a:latin typeface="Aptos"/>
                <a:ea typeface="Aptos"/>
                <a:cs typeface="Aptos"/>
              </a:rPr>
              <a:t>Le sommaire rassure la direction, structure la lecture en PDF et prépare les deux temps forts du deck : ce que nous avons compris, puis ce que nous recommandons dans un cadre gouverné.</a:t>
            </a:r>
          </a:p>
        </p:txBody>
      </p:sp>
      <p:sp>
        <p:nvSpPr>
          <p:cNvPr id="5" name="Rectangle 4">
            <a:extLst>
              <a:ext uri="{FF2B5EF4-FFF2-40B4-BE49-F238E27FC236}">
                <a16:creationId xmlns:a16="http://schemas.microsoft.com/office/drawing/2014/main" id="{B7D17567-8051-4611-BE97-328CE2504492}"/>
              </a:ext>
            </a:extLst>
          </p:cNvPr>
          <p:cNvSpPr>
            <a:spLocks noGrp="1"/>
          </p:cNvSpPr>
          <p:nvPr/>
        </p:nvSpPr>
        <p:spPr>
          <a:xfrm>
            <a:off x="685800" y="2324100"/>
            <a:ext cx="5448300" cy="3162300"/>
          </a:xfrm>
          <a:prstGeom prst="rect">
            <a:avLst/>
          </a:prstGeom>
          <a:solidFill>
            <a:srgbClr val="FFFDFC"/>
          </a:solidFill>
          <a:ln w="9525">
            <a:solidFill>
              <a:srgbClr val="D7CEC3"/>
            </a:solidFill>
            <a:prstDash val="solid"/>
          </a:ln>
        </p:spPr>
      </p:sp>
      <p:sp>
        <p:nvSpPr>
          <p:cNvPr id="6" name="Rectangle 5">
            <a:extLst>
              <a:ext uri="{FF2B5EF4-FFF2-40B4-BE49-F238E27FC236}">
                <a16:creationId xmlns:a16="http://schemas.microsoft.com/office/drawing/2014/main" id="{FD8C9C8C-B9F7-41A0-B279-EAAE579F6142}"/>
              </a:ext>
            </a:extLst>
          </p:cNvPr>
          <p:cNvSpPr>
            <a:spLocks noGrp="1"/>
          </p:cNvSpPr>
          <p:nvPr/>
        </p:nvSpPr>
        <p:spPr>
          <a:xfrm>
            <a:off x="914400" y="2552700"/>
            <a:ext cx="15240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E76F1D"/>
                </a:solidFill>
                <a:latin typeface="Aptos"/>
                <a:ea typeface="Aptos"/>
                <a:cs typeface="Aptos"/>
              </a:defRPr>
            </a:pPr>
            <a:r>
              <a:rPr sz="750" b="1">
                <a:solidFill>
                  <a:srgbClr val="E76F1D"/>
                </a:solidFill>
                <a:latin typeface="Aptos"/>
                <a:ea typeface="Aptos"/>
                <a:cs typeface="Aptos"/>
              </a:rPr>
              <a:t>Chemin de lecture</a:t>
            </a:r>
          </a:p>
        </p:txBody>
      </p:sp>
      <p:sp>
        <p:nvSpPr>
          <p:cNvPr id="7" name="Oval 6">
            <a:extLst>
              <a:ext uri="{FF2B5EF4-FFF2-40B4-BE49-F238E27FC236}">
                <a16:creationId xmlns:a16="http://schemas.microsoft.com/office/drawing/2014/main" id="{15BC04E8-6D8F-4543-9A33-70250C050056}"/>
              </a:ext>
            </a:extLst>
          </p:cNvPr>
          <p:cNvSpPr>
            <a:spLocks noGrp="1"/>
          </p:cNvSpPr>
          <p:nvPr/>
        </p:nvSpPr>
        <p:spPr>
          <a:xfrm>
            <a:off x="876300" y="2914650"/>
            <a:ext cx="342900" cy="342900"/>
          </a:xfrm>
          <a:prstGeom prst="ellipse">
            <a:avLst/>
          </a:prstGeom>
          <a:solidFill>
            <a:srgbClr val="E76F1D"/>
          </a:solidFill>
          <a:ln w="0">
            <a:solidFill>
              <a:srgbClr val="E76F1D"/>
            </a:solidFill>
            <a:prstDash val="solid"/>
          </a:ln>
        </p:spPr>
      </p:sp>
      <p:sp>
        <p:nvSpPr>
          <p:cNvPr id="8" name="Rectangle 7">
            <a:extLst>
              <a:ext uri="{FF2B5EF4-FFF2-40B4-BE49-F238E27FC236}">
                <a16:creationId xmlns:a16="http://schemas.microsoft.com/office/drawing/2014/main" id="{BD153100-260D-49DF-A7EF-C7575E9DC7F2}"/>
              </a:ext>
            </a:extLst>
          </p:cNvPr>
          <p:cNvSpPr>
            <a:spLocks noGrp="1"/>
          </p:cNvSpPr>
          <p:nvPr/>
        </p:nvSpPr>
        <p:spPr>
          <a:xfrm>
            <a:off x="876300" y="2990850"/>
            <a:ext cx="3429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50" b="1">
                <a:solidFill>
                  <a:srgbClr val="FFFFFF"/>
                </a:solidFill>
                <a:latin typeface="Aptos"/>
                <a:ea typeface="Aptos"/>
                <a:cs typeface="Aptos"/>
              </a:defRPr>
            </a:pPr>
            <a:r>
              <a:rPr sz="750" b="1">
                <a:solidFill>
                  <a:srgbClr val="FFFFFF"/>
                </a:solidFill>
                <a:latin typeface="Aptos"/>
                <a:ea typeface="Aptos"/>
                <a:cs typeface="Aptos"/>
              </a:rPr>
              <a:t>01</a:t>
            </a:r>
          </a:p>
        </p:txBody>
      </p:sp>
      <p:sp>
        <p:nvSpPr>
          <p:cNvPr id="9" name="Rectangle 8">
            <a:extLst>
              <a:ext uri="{FF2B5EF4-FFF2-40B4-BE49-F238E27FC236}">
                <a16:creationId xmlns:a16="http://schemas.microsoft.com/office/drawing/2014/main" id="{91FE753A-99EC-466F-BAB2-E70AF8F19517}"/>
              </a:ext>
            </a:extLst>
          </p:cNvPr>
          <p:cNvSpPr>
            <a:spLocks noGrp="1"/>
          </p:cNvSpPr>
          <p:nvPr/>
        </p:nvSpPr>
        <p:spPr>
          <a:xfrm>
            <a:off x="1390650" y="2876550"/>
            <a:ext cx="4476750" cy="457200"/>
          </a:xfrm>
          <a:prstGeom prst="rect">
            <a:avLst/>
          </a:prstGeom>
          <a:solidFill>
            <a:srgbClr val="FFFDFC"/>
          </a:solidFill>
          <a:ln w="9525">
            <a:solidFill>
              <a:srgbClr val="D7CEC3"/>
            </a:solidFill>
            <a:prstDash val="solid"/>
          </a:ln>
        </p:spPr>
      </p:sp>
      <p:sp>
        <p:nvSpPr>
          <p:cNvPr id="10" name="Rectangle 9">
            <a:extLst>
              <a:ext uri="{FF2B5EF4-FFF2-40B4-BE49-F238E27FC236}">
                <a16:creationId xmlns:a16="http://schemas.microsoft.com/office/drawing/2014/main" id="{53714A58-0CBC-4480-A24C-4DD3E0DB2D91}"/>
              </a:ext>
            </a:extLst>
          </p:cNvPr>
          <p:cNvSpPr>
            <a:spLocks noGrp="1"/>
          </p:cNvSpPr>
          <p:nvPr/>
        </p:nvSpPr>
        <p:spPr>
          <a:xfrm>
            <a:off x="1581150" y="2971800"/>
            <a:ext cx="17907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1A3554"/>
                </a:solidFill>
                <a:latin typeface="Aptos Display"/>
                <a:ea typeface="Aptos Display"/>
                <a:cs typeface="Aptos Display"/>
              </a:defRPr>
            </a:pPr>
            <a:r>
              <a:rPr sz="975" b="1">
                <a:solidFill>
                  <a:srgbClr val="1A3554"/>
                </a:solidFill>
                <a:latin typeface="Aptos Display"/>
                <a:ea typeface="Aptos Display"/>
                <a:cs typeface="Aptos Display"/>
              </a:rPr>
              <a:t>Impact et mission</a:t>
            </a:r>
          </a:p>
        </p:txBody>
      </p:sp>
      <p:sp>
        <p:nvSpPr>
          <p:cNvPr id="11" name="Rectangle 10">
            <a:extLst>
              <a:ext uri="{FF2B5EF4-FFF2-40B4-BE49-F238E27FC236}">
                <a16:creationId xmlns:a16="http://schemas.microsoft.com/office/drawing/2014/main" id="{B6B223B1-D5C5-42B5-B24F-7E134948C1F8}"/>
              </a:ext>
            </a:extLst>
          </p:cNvPr>
          <p:cNvSpPr>
            <a:spLocks noGrp="1"/>
          </p:cNvSpPr>
          <p:nvPr/>
        </p:nvSpPr>
        <p:spPr>
          <a:xfrm>
            <a:off x="3733800" y="2971800"/>
            <a:ext cx="19431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88" b="0">
                <a:solidFill>
                  <a:srgbClr val="617086"/>
                </a:solidFill>
                <a:latin typeface="Aptos"/>
                <a:ea typeface="Aptos"/>
                <a:cs typeface="Aptos"/>
              </a:defRPr>
            </a:pPr>
            <a:r>
              <a:rPr sz="788" b="0">
                <a:solidFill>
                  <a:srgbClr val="617086"/>
                </a:solidFill>
                <a:latin typeface="Aptos"/>
                <a:ea typeface="Aptos"/>
                <a:cs typeface="Aptos"/>
              </a:rPr>
              <a:t>ce que l'on cherche à améliorer</a:t>
            </a:r>
          </a:p>
        </p:txBody>
      </p:sp>
      <p:sp>
        <p:nvSpPr>
          <p:cNvPr id="12" name="Oval 11">
            <a:extLst>
              <a:ext uri="{FF2B5EF4-FFF2-40B4-BE49-F238E27FC236}">
                <a16:creationId xmlns:a16="http://schemas.microsoft.com/office/drawing/2014/main" id="{6D37A700-2CA8-4EA3-B8B0-B07ED2384B37}"/>
              </a:ext>
            </a:extLst>
          </p:cNvPr>
          <p:cNvSpPr>
            <a:spLocks noGrp="1"/>
          </p:cNvSpPr>
          <p:nvPr/>
        </p:nvSpPr>
        <p:spPr>
          <a:xfrm>
            <a:off x="876300" y="3467100"/>
            <a:ext cx="342900" cy="342900"/>
          </a:xfrm>
          <a:prstGeom prst="ellipse">
            <a:avLst/>
          </a:prstGeom>
          <a:solidFill>
            <a:srgbClr val="1C8A78"/>
          </a:solidFill>
          <a:ln w="0">
            <a:solidFill>
              <a:srgbClr val="1C8A78"/>
            </a:solidFill>
            <a:prstDash val="solid"/>
          </a:ln>
        </p:spPr>
      </p:sp>
      <p:sp>
        <p:nvSpPr>
          <p:cNvPr id="13" name="Rectangle 12">
            <a:extLst>
              <a:ext uri="{FF2B5EF4-FFF2-40B4-BE49-F238E27FC236}">
                <a16:creationId xmlns:a16="http://schemas.microsoft.com/office/drawing/2014/main" id="{B563A92D-D815-4493-8878-11E2B6CD444C}"/>
              </a:ext>
            </a:extLst>
          </p:cNvPr>
          <p:cNvSpPr>
            <a:spLocks noGrp="1"/>
          </p:cNvSpPr>
          <p:nvPr/>
        </p:nvSpPr>
        <p:spPr>
          <a:xfrm>
            <a:off x="876300" y="3543300"/>
            <a:ext cx="3429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50" b="1">
                <a:solidFill>
                  <a:srgbClr val="FFFFFF"/>
                </a:solidFill>
                <a:latin typeface="Aptos"/>
                <a:ea typeface="Aptos"/>
                <a:cs typeface="Aptos"/>
              </a:defRPr>
            </a:pPr>
            <a:r>
              <a:rPr sz="750" b="1">
                <a:solidFill>
                  <a:srgbClr val="FFFFFF"/>
                </a:solidFill>
                <a:latin typeface="Aptos"/>
                <a:ea typeface="Aptos"/>
                <a:cs typeface="Aptos"/>
              </a:rPr>
              <a:t>02</a:t>
            </a:r>
          </a:p>
        </p:txBody>
      </p:sp>
      <p:sp>
        <p:nvSpPr>
          <p:cNvPr id="14" name="Rectangle 13">
            <a:extLst>
              <a:ext uri="{FF2B5EF4-FFF2-40B4-BE49-F238E27FC236}">
                <a16:creationId xmlns:a16="http://schemas.microsoft.com/office/drawing/2014/main" id="{6F02EC80-C8BF-4C06-8DE4-BADEDF802D75}"/>
              </a:ext>
            </a:extLst>
          </p:cNvPr>
          <p:cNvSpPr>
            <a:spLocks noGrp="1"/>
          </p:cNvSpPr>
          <p:nvPr/>
        </p:nvSpPr>
        <p:spPr>
          <a:xfrm>
            <a:off x="1390650" y="3429000"/>
            <a:ext cx="4476750" cy="457200"/>
          </a:xfrm>
          <a:prstGeom prst="rect">
            <a:avLst/>
          </a:prstGeom>
          <a:solidFill>
            <a:srgbClr val="FBF5EE"/>
          </a:solidFill>
          <a:ln w="9525">
            <a:solidFill>
              <a:srgbClr val="D7CEC3"/>
            </a:solidFill>
            <a:prstDash val="solid"/>
          </a:ln>
        </p:spPr>
      </p:sp>
      <p:sp>
        <p:nvSpPr>
          <p:cNvPr id="15" name="Rectangle 14">
            <a:extLst>
              <a:ext uri="{FF2B5EF4-FFF2-40B4-BE49-F238E27FC236}">
                <a16:creationId xmlns:a16="http://schemas.microsoft.com/office/drawing/2014/main" id="{EDCF4FA9-AE3B-49F8-956B-FE7219DF47C7}"/>
              </a:ext>
            </a:extLst>
          </p:cNvPr>
          <p:cNvSpPr>
            <a:spLocks noGrp="1"/>
          </p:cNvSpPr>
          <p:nvPr/>
        </p:nvSpPr>
        <p:spPr>
          <a:xfrm>
            <a:off x="1581150" y="3524250"/>
            <a:ext cx="17907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1A3554"/>
                </a:solidFill>
                <a:latin typeface="Aptos Display"/>
                <a:ea typeface="Aptos Display"/>
                <a:cs typeface="Aptos Display"/>
              </a:defRPr>
            </a:pPr>
            <a:r>
              <a:rPr sz="975" b="1">
                <a:solidFill>
                  <a:srgbClr val="1A3554"/>
                </a:solidFill>
                <a:latin typeface="Aptos Display"/>
                <a:ea typeface="Aptos Display"/>
                <a:cs typeface="Aptos Display"/>
              </a:rPr>
              <a:t>Cadre TransferAI</a:t>
            </a:r>
          </a:p>
        </p:txBody>
      </p:sp>
      <p:sp>
        <p:nvSpPr>
          <p:cNvPr id="16" name="Rectangle 15">
            <a:extLst>
              <a:ext uri="{FF2B5EF4-FFF2-40B4-BE49-F238E27FC236}">
                <a16:creationId xmlns:a16="http://schemas.microsoft.com/office/drawing/2014/main" id="{0D7053D1-AF3E-4764-BA9B-73FA05F72B1B}"/>
              </a:ext>
            </a:extLst>
          </p:cNvPr>
          <p:cNvSpPr>
            <a:spLocks noGrp="1"/>
          </p:cNvSpPr>
          <p:nvPr/>
        </p:nvSpPr>
        <p:spPr>
          <a:xfrm>
            <a:off x="3733800" y="3524250"/>
            <a:ext cx="19431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88" b="0">
                <a:solidFill>
                  <a:srgbClr val="617086"/>
                </a:solidFill>
                <a:latin typeface="Aptos"/>
                <a:ea typeface="Aptos"/>
                <a:cs typeface="Aptos"/>
              </a:defRPr>
            </a:pPr>
            <a:r>
              <a:rPr sz="788" b="0">
                <a:solidFill>
                  <a:srgbClr val="617086"/>
                </a:solidFill>
                <a:latin typeface="Aptos"/>
                <a:ea typeface="Aptos"/>
                <a:cs typeface="Aptos"/>
              </a:rPr>
              <a:t>qui porte l'exécution</a:t>
            </a:r>
          </a:p>
        </p:txBody>
      </p:sp>
      <p:sp>
        <p:nvSpPr>
          <p:cNvPr id="17" name="Oval 16">
            <a:extLst>
              <a:ext uri="{FF2B5EF4-FFF2-40B4-BE49-F238E27FC236}">
                <a16:creationId xmlns:a16="http://schemas.microsoft.com/office/drawing/2014/main" id="{9287716A-BEB8-449C-AD78-C513C2DD6E8A}"/>
              </a:ext>
            </a:extLst>
          </p:cNvPr>
          <p:cNvSpPr>
            <a:spLocks noGrp="1"/>
          </p:cNvSpPr>
          <p:nvPr/>
        </p:nvSpPr>
        <p:spPr>
          <a:xfrm>
            <a:off x="876300" y="4019550"/>
            <a:ext cx="342900" cy="342900"/>
          </a:xfrm>
          <a:prstGeom prst="ellipse">
            <a:avLst/>
          </a:prstGeom>
          <a:solidFill>
            <a:srgbClr val="163556"/>
          </a:solidFill>
          <a:ln w="0">
            <a:solidFill>
              <a:srgbClr val="163556"/>
            </a:solidFill>
            <a:prstDash val="solid"/>
          </a:ln>
        </p:spPr>
      </p:sp>
      <p:sp>
        <p:nvSpPr>
          <p:cNvPr id="18" name="Rectangle 17">
            <a:extLst>
              <a:ext uri="{FF2B5EF4-FFF2-40B4-BE49-F238E27FC236}">
                <a16:creationId xmlns:a16="http://schemas.microsoft.com/office/drawing/2014/main" id="{57B04AC5-EE6A-4732-AE7C-D49927FC2676}"/>
              </a:ext>
            </a:extLst>
          </p:cNvPr>
          <p:cNvSpPr>
            <a:spLocks noGrp="1"/>
          </p:cNvSpPr>
          <p:nvPr/>
        </p:nvSpPr>
        <p:spPr>
          <a:xfrm>
            <a:off x="876300" y="4095750"/>
            <a:ext cx="3429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50" b="1">
                <a:solidFill>
                  <a:srgbClr val="FFFFFF"/>
                </a:solidFill>
                <a:latin typeface="Aptos"/>
                <a:ea typeface="Aptos"/>
                <a:cs typeface="Aptos"/>
              </a:defRPr>
            </a:pPr>
            <a:r>
              <a:rPr sz="750" b="1">
                <a:solidFill>
                  <a:srgbClr val="FFFFFF"/>
                </a:solidFill>
                <a:latin typeface="Aptos"/>
                <a:ea typeface="Aptos"/>
                <a:cs typeface="Aptos"/>
              </a:rPr>
              <a:t>03</a:t>
            </a:r>
          </a:p>
        </p:txBody>
      </p:sp>
      <p:sp>
        <p:nvSpPr>
          <p:cNvPr id="19" name="Rectangle 18">
            <a:extLst>
              <a:ext uri="{FF2B5EF4-FFF2-40B4-BE49-F238E27FC236}">
                <a16:creationId xmlns:a16="http://schemas.microsoft.com/office/drawing/2014/main" id="{C4881A73-D893-441E-8CE0-28175B4ACE24}"/>
              </a:ext>
            </a:extLst>
          </p:cNvPr>
          <p:cNvSpPr>
            <a:spLocks noGrp="1"/>
          </p:cNvSpPr>
          <p:nvPr/>
        </p:nvSpPr>
        <p:spPr>
          <a:xfrm>
            <a:off x="1390650" y="3981450"/>
            <a:ext cx="4476750" cy="457200"/>
          </a:xfrm>
          <a:prstGeom prst="rect">
            <a:avLst/>
          </a:prstGeom>
          <a:solidFill>
            <a:srgbClr val="FBF5EE"/>
          </a:solidFill>
          <a:ln w="9525">
            <a:solidFill>
              <a:srgbClr val="D7CEC3"/>
            </a:solidFill>
            <a:prstDash val="solid"/>
          </a:ln>
        </p:spPr>
      </p:sp>
      <p:sp>
        <p:nvSpPr>
          <p:cNvPr id="20" name="Rectangle 19">
            <a:extLst>
              <a:ext uri="{FF2B5EF4-FFF2-40B4-BE49-F238E27FC236}">
                <a16:creationId xmlns:a16="http://schemas.microsoft.com/office/drawing/2014/main" id="{61A49EB6-1ABE-42A6-A371-0C5AD35F0D01}"/>
              </a:ext>
            </a:extLst>
          </p:cNvPr>
          <p:cNvSpPr>
            <a:spLocks noGrp="1"/>
          </p:cNvSpPr>
          <p:nvPr/>
        </p:nvSpPr>
        <p:spPr>
          <a:xfrm>
            <a:off x="1581150" y="4076700"/>
            <a:ext cx="17907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1A3554"/>
                </a:solidFill>
                <a:latin typeface="Aptos Display"/>
                <a:ea typeface="Aptos Display"/>
                <a:cs typeface="Aptos Display"/>
              </a:defRPr>
            </a:pPr>
            <a:r>
              <a:rPr sz="975" b="1">
                <a:solidFill>
                  <a:srgbClr val="1A3554"/>
                </a:solidFill>
                <a:latin typeface="Aptos Display"/>
                <a:ea typeface="Aptos Display"/>
                <a:cs typeface="Aptos Display"/>
              </a:rPr>
              <a:t>Enjeux de service</a:t>
            </a:r>
          </a:p>
        </p:txBody>
      </p:sp>
      <p:sp>
        <p:nvSpPr>
          <p:cNvPr id="21" name="Rectangle 20">
            <a:extLst>
              <a:ext uri="{FF2B5EF4-FFF2-40B4-BE49-F238E27FC236}">
                <a16:creationId xmlns:a16="http://schemas.microsoft.com/office/drawing/2014/main" id="{5AF1DBFC-572C-461C-A9D7-094AB00765B8}"/>
              </a:ext>
            </a:extLst>
          </p:cNvPr>
          <p:cNvSpPr>
            <a:spLocks noGrp="1"/>
          </p:cNvSpPr>
          <p:nvPr/>
        </p:nvSpPr>
        <p:spPr>
          <a:xfrm>
            <a:off x="3733800" y="4076700"/>
            <a:ext cx="19431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88" b="0">
                <a:solidFill>
                  <a:srgbClr val="617086"/>
                </a:solidFill>
                <a:latin typeface="Aptos"/>
                <a:ea typeface="Aptos"/>
                <a:cs typeface="Aptos"/>
              </a:defRPr>
            </a:pPr>
            <a:r>
              <a:rPr sz="788" b="0">
                <a:solidFill>
                  <a:srgbClr val="617086"/>
                </a:solidFill>
                <a:latin typeface="Aptos"/>
                <a:ea typeface="Aptos"/>
                <a:cs typeface="Aptos"/>
              </a:rPr>
              <a:t>où la valeur devient visible</a:t>
            </a:r>
          </a:p>
        </p:txBody>
      </p:sp>
      <p:sp>
        <p:nvSpPr>
          <p:cNvPr id="22" name="Oval 21">
            <a:extLst>
              <a:ext uri="{FF2B5EF4-FFF2-40B4-BE49-F238E27FC236}">
                <a16:creationId xmlns:a16="http://schemas.microsoft.com/office/drawing/2014/main" id="{BE02A75A-7E7B-432B-AB13-60E43108CD19}"/>
              </a:ext>
            </a:extLst>
          </p:cNvPr>
          <p:cNvSpPr>
            <a:spLocks noGrp="1"/>
          </p:cNvSpPr>
          <p:nvPr/>
        </p:nvSpPr>
        <p:spPr>
          <a:xfrm>
            <a:off x="876300" y="4572000"/>
            <a:ext cx="342900" cy="342900"/>
          </a:xfrm>
          <a:prstGeom prst="ellipse">
            <a:avLst/>
          </a:prstGeom>
          <a:solidFill>
            <a:srgbClr val="C88C3A"/>
          </a:solidFill>
          <a:ln w="0">
            <a:solidFill>
              <a:srgbClr val="C88C3A"/>
            </a:solidFill>
            <a:prstDash val="solid"/>
          </a:ln>
        </p:spPr>
      </p:sp>
      <p:sp>
        <p:nvSpPr>
          <p:cNvPr id="23" name="Rectangle 22">
            <a:extLst>
              <a:ext uri="{FF2B5EF4-FFF2-40B4-BE49-F238E27FC236}">
                <a16:creationId xmlns:a16="http://schemas.microsoft.com/office/drawing/2014/main" id="{F5C17B48-18CD-4A10-AC9D-5676E2FF5474}"/>
              </a:ext>
            </a:extLst>
          </p:cNvPr>
          <p:cNvSpPr>
            <a:spLocks noGrp="1"/>
          </p:cNvSpPr>
          <p:nvPr/>
        </p:nvSpPr>
        <p:spPr>
          <a:xfrm>
            <a:off x="876300" y="4648200"/>
            <a:ext cx="3429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50" b="1">
                <a:solidFill>
                  <a:srgbClr val="FFFFFF"/>
                </a:solidFill>
                <a:latin typeface="Aptos"/>
                <a:ea typeface="Aptos"/>
                <a:cs typeface="Aptos"/>
              </a:defRPr>
            </a:pPr>
            <a:r>
              <a:rPr sz="750" b="1">
                <a:solidFill>
                  <a:srgbClr val="FFFFFF"/>
                </a:solidFill>
                <a:latin typeface="Aptos"/>
                <a:ea typeface="Aptos"/>
                <a:cs typeface="Aptos"/>
              </a:rPr>
              <a:t>04</a:t>
            </a:r>
          </a:p>
        </p:txBody>
      </p:sp>
      <p:sp>
        <p:nvSpPr>
          <p:cNvPr id="24" name="Rectangle 23">
            <a:extLst>
              <a:ext uri="{FF2B5EF4-FFF2-40B4-BE49-F238E27FC236}">
                <a16:creationId xmlns:a16="http://schemas.microsoft.com/office/drawing/2014/main" id="{9ED843B8-3814-4CE4-90AD-D05A2B78FE34}"/>
              </a:ext>
            </a:extLst>
          </p:cNvPr>
          <p:cNvSpPr>
            <a:spLocks noGrp="1"/>
          </p:cNvSpPr>
          <p:nvPr/>
        </p:nvSpPr>
        <p:spPr>
          <a:xfrm>
            <a:off x="1390650" y="4533900"/>
            <a:ext cx="4476750" cy="457200"/>
          </a:xfrm>
          <a:prstGeom prst="rect">
            <a:avLst/>
          </a:prstGeom>
          <a:solidFill>
            <a:srgbClr val="FBF5EE"/>
          </a:solidFill>
          <a:ln w="9525">
            <a:solidFill>
              <a:srgbClr val="D7CEC3"/>
            </a:solidFill>
            <a:prstDash val="solid"/>
          </a:ln>
        </p:spPr>
      </p:sp>
      <p:sp>
        <p:nvSpPr>
          <p:cNvPr id="25" name="Rectangle 24">
            <a:extLst>
              <a:ext uri="{FF2B5EF4-FFF2-40B4-BE49-F238E27FC236}">
                <a16:creationId xmlns:a16="http://schemas.microsoft.com/office/drawing/2014/main" id="{599C4202-7504-4976-84F5-E2E4821E14BD}"/>
              </a:ext>
            </a:extLst>
          </p:cNvPr>
          <p:cNvSpPr>
            <a:spLocks noGrp="1"/>
          </p:cNvSpPr>
          <p:nvPr/>
        </p:nvSpPr>
        <p:spPr>
          <a:xfrm>
            <a:off x="1581150" y="4629150"/>
            <a:ext cx="17907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1A3554"/>
                </a:solidFill>
                <a:latin typeface="Aptos Display"/>
                <a:ea typeface="Aptos Display"/>
                <a:cs typeface="Aptos Display"/>
              </a:defRPr>
            </a:pPr>
            <a:r>
              <a:rPr sz="975" b="1">
                <a:solidFill>
                  <a:srgbClr val="1A3554"/>
                </a:solidFill>
                <a:latin typeface="Aptos Display"/>
                <a:ea typeface="Aptos Display"/>
                <a:cs typeface="Aptos Display"/>
              </a:rPr>
              <a:t>Gouvernance et capacités</a:t>
            </a:r>
          </a:p>
        </p:txBody>
      </p:sp>
      <p:sp>
        <p:nvSpPr>
          <p:cNvPr id="26" name="Rectangle 25">
            <a:extLst>
              <a:ext uri="{FF2B5EF4-FFF2-40B4-BE49-F238E27FC236}">
                <a16:creationId xmlns:a16="http://schemas.microsoft.com/office/drawing/2014/main" id="{08C85079-88CF-4966-B819-738265BA3D0C}"/>
              </a:ext>
            </a:extLst>
          </p:cNvPr>
          <p:cNvSpPr>
            <a:spLocks noGrp="1"/>
          </p:cNvSpPr>
          <p:nvPr/>
        </p:nvSpPr>
        <p:spPr>
          <a:xfrm>
            <a:off x="3733800" y="4629150"/>
            <a:ext cx="19431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88" b="0">
                <a:solidFill>
                  <a:srgbClr val="617086"/>
                </a:solidFill>
                <a:latin typeface="Aptos"/>
                <a:ea typeface="Aptos"/>
                <a:cs typeface="Aptos"/>
              </a:defRPr>
            </a:pPr>
            <a:r>
              <a:rPr sz="788" b="0">
                <a:solidFill>
                  <a:srgbClr val="617086"/>
                </a:solidFill>
                <a:latin typeface="Aptos"/>
                <a:ea typeface="Aptos"/>
                <a:cs typeface="Aptos"/>
              </a:rPr>
              <a:t>ce qu'il faut sécuriser</a:t>
            </a:r>
          </a:p>
        </p:txBody>
      </p:sp>
      <p:sp>
        <p:nvSpPr>
          <p:cNvPr id="27" name="Oval 26">
            <a:extLst>
              <a:ext uri="{FF2B5EF4-FFF2-40B4-BE49-F238E27FC236}">
                <a16:creationId xmlns:a16="http://schemas.microsoft.com/office/drawing/2014/main" id="{E17919D8-4678-4248-BC1A-8E4099F9E442}"/>
              </a:ext>
            </a:extLst>
          </p:cNvPr>
          <p:cNvSpPr>
            <a:spLocks noGrp="1"/>
          </p:cNvSpPr>
          <p:nvPr/>
        </p:nvSpPr>
        <p:spPr>
          <a:xfrm>
            <a:off x="876300" y="5124450"/>
            <a:ext cx="342900" cy="342900"/>
          </a:xfrm>
          <a:prstGeom prst="ellipse">
            <a:avLst/>
          </a:prstGeom>
          <a:solidFill>
            <a:srgbClr val="E76F1D"/>
          </a:solidFill>
          <a:ln w="0">
            <a:solidFill>
              <a:srgbClr val="E76F1D"/>
            </a:solidFill>
            <a:prstDash val="solid"/>
          </a:ln>
        </p:spPr>
      </p:sp>
      <p:sp>
        <p:nvSpPr>
          <p:cNvPr id="28" name="Rectangle 27">
            <a:extLst>
              <a:ext uri="{FF2B5EF4-FFF2-40B4-BE49-F238E27FC236}">
                <a16:creationId xmlns:a16="http://schemas.microsoft.com/office/drawing/2014/main" id="{74891B11-C6C0-4357-B811-CC00E0D80B7F}"/>
              </a:ext>
            </a:extLst>
          </p:cNvPr>
          <p:cNvSpPr>
            <a:spLocks noGrp="1"/>
          </p:cNvSpPr>
          <p:nvPr/>
        </p:nvSpPr>
        <p:spPr>
          <a:xfrm>
            <a:off x="876300" y="5200650"/>
            <a:ext cx="3429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50" b="1">
                <a:solidFill>
                  <a:srgbClr val="FFFFFF"/>
                </a:solidFill>
                <a:latin typeface="Aptos"/>
                <a:ea typeface="Aptos"/>
                <a:cs typeface="Aptos"/>
              </a:defRPr>
            </a:pPr>
            <a:r>
              <a:rPr sz="750" b="1">
                <a:solidFill>
                  <a:srgbClr val="FFFFFF"/>
                </a:solidFill>
                <a:latin typeface="Aptos"/>
                <a:ea typeface="Aptos"/>
                <a:cs typeface="Aptos"/>
              </a:rPr>
              <a:t>05</a:t>
            </a:r>
          </a:p>
        </p:txBody>
      </p:sp>
      <p:sp>
        <p:nvSpPr>
          <p:cNvPr id="29" name="Rectangle 28">
            <a:extLst>
              <a:ext uri="{FF2B5EF4-FFF2-40B4-BE49-F238E27FC236}">
                <a16:creationId xmlns:a16="http://schemas.microsoft.com/office/drawing/2014/main" id="{1870FCBA-6064-415F-8CB3-C4957AEE5DA0}"/>
              </a:ext>
            </a:extLst>
          </p:cNvPr>
          <p:cNvSpPr>
            <a:spLocks noGrp="1"/>
          </p:cNvSpPr>
          <p:nvPr/>
        </p:nvSpPr>
        <p:spPr>
          <a:xfrm>
            <a:off x="1390650" y="5086350"/>
            <a:ext cx="4476750" cy="457200"/>
          </a:xfrm>
          <a:prstGeom prst="rect">
            <a:avLst/>
          </a:prstGeom>
          <a:solidFill>
            <a:srgbClr val="FBF5EE"/>
          </a:solidFill>
          <a:ln w="9525">
            <a:solidFill>
              <a:srgbClr val="D7CEC3"/>
            </a:solidFill>
            <a:prstDash val="solid"/>
          </a:ln>
        </p:spPr>
      </p:sp>
      <p:sp>
        <p:nvSpPr>
          <p:cNvPr id="30" name="Rectangle 29">
            <a:extLst>
              <a:ext uri="{FF2B5EF4-FFF2-40B4-BE49-F238E27FC236}">
                <a16:creationId xmlns:a16="http://schemas.microsoft.com/office/drawing/2014/main" id="{48D4638C-DC32-4283-B58B-B69168D3169F}"/>
              </a:ext>
            </a:extLst>
          </p:cNvPr>
          <p:cNvSpPr>
            <a:spLocks noGrp="1"/>
          </p:cNvSpPr>
          <p:nvPr/>
        </p:nvSpPr>
        <p:spPr>
          <a:xfrm>
            <a:off x="1581150" y="5181600"/>
            <a:ext cx="17907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1">
                <a:solidFill>
                  <a:srgbClr val="1A3554"/>
                </a:solidFill>
                <a:latin typeface="Aptos Display"/>
                <a:ea typeface="Aptos Display"/>
                <a:cs typeface="Aptos Display"/>
              </a:defRPr>
            </a:pPr>
            <a:r>
              <a:rPr sz="975" b="1">
                <a:solidFill>
                  <a:srgbClr val="1A3554"/>
                </a:solidFill>
                <a:latin typeface="Aptos Display"/>
                <a:ea typeface="Aptos Display"/>
                <a:cs typeface="Aptos Display"/>
              </a:rPr>
              <a:t>Feuille de route</a:t>
            </a:r>
          </a:p>
        </p:txBody>
      </p:sp>
      <p:sp>
        <p:nvSpPr>
          <p:cNvPr id="31" name="Rectangle 30">
            <a:extLst>
              <a:ext uri="{FF2B5EF4-FFF2-40B4-BE49-F238E27FC236}">
                <a16:creationId xmlns:a16="http://schemas.microsoft.com/office/drawing/2014/main" id="{B0CB361B-60CF-4ACC-9A77-D343F1C517E8}"/>
              </a:ext>
            </a:extLst>
          </p:cNvPr>
          <p:cNvSpPr>
            <a:spLocks noGrp="1"/>
          </p:cNvSpPr>
          <p:nvPr/>
        </p:nvSpPr>
        <p:spPr>
          <a:xfrm>
            <a:off x="3733800" y="5181600"/>
            <a:ext cx="19431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88" b="0">
                <a:solidFill>
                  <a:srgbClr val="617086"/>
                </a:solidFill>
                <a:latin typeface="Aptos"/>
                <a:ea typeface="Aptos"/>
                <a:cs typeface="Aptos"/>
              </a:defRPr>
            </a:pPr>
            <a:r>
              <a:rPr sz="788" b="0">
                <a:solidFill>
                  <a:srgbClr val="617086"/>
                </a:solidFill>
                <a:latin typeface="Aptos"/>
                <a:ea typeface="Aptos"/>
                <a:cs typeface="Aptos"/>
              </a:rPr>
              <a:t>ce que l'on recommande</a:t>
            </a:r>
          </a:p>
        </p:txBody>
      </p:sp>
      <p:sp>
        <p:nvSpPr>
          <p:cNvPr id="32" name="Rectangle 31">
            <a:extLst>
              <a:ext uri="{FF2B5EF4-FFF2-40B4-BE49-F238E27FC236}">
                <a16:creationId xmlns:a16="http://schemas.microsoft.com/office/drawing/2014/main" id="{FF4F3268-6643-4A50-9C9E-EC10751D6129}"/>
              </a:ext>
            </a:extLst>
          </p:cNvPr>
          <p:cNvSpPr>
            <a:spLocks noGrp="1"/>
          </p:cNvSpPr>
          <p:nvPr/>
        </p:nvSpPr>
        <p:spPr>
          <a:xfrm>
            <a:off x="6610350" y="2324100"/>
            <a:ext cx="4895850" cy="3162300"/>
          </a:xfrm>
          <a:prstGeom prst="rect">
            <a:avLst/>
          </a:prstGeom>
          <a:solidFill>
            <a:srgbClr val="163556"/>
          </a:solidFill>
          <a:ln w="0">
            <a:solidFill>
              <a:srgbClr val="163556"/>
            </a:solidFill>
            <a:prstDash val="solid"/>
          </a:ln>
        </p:spPr>
      </p:sp>
      <p:sp>
        <p:nvSpPr>
          <p:cNvPr id="33" name="Rectangle 32">
            <a:extLst>
              <a:ext uri="{FF2B5EF4-FFF2-40B4-BE49-F238E27FC236}">
                <a16:creationId xmlns:a16="http://schemas.microsoft.com/office/drawing/2014/main" id="{6FC72C68-D429-4754-B63E-38B0737F7382}"/>
              </a:ext>
            </a:extLst>
          </p:cNvPr>
          <p:cNvSpPr>
            <a:spLocks noGrp="1"/>
          </p:cNvSpPr>
          <p:nvPr/>
        </p:nvSpPr>
        <p:spPr>
          <a:xfrm>
            <a:off x="6896100" y="2590800"/>
            <a:ext cx="2476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FFFFFF"/>
                </a:solidFill>
                <a:latin typeface="Aptos"/>
                <a:ea typeface="Aptos"/>
                <a:cs typeface="Aptos"/>
              </a:defRPr>
            </a:pPr>
            <a:r>
              <a:rPr sz="788" b="1">
                <a:solidFill>
                  <a:srgbClr val="FFFFFF"/>
                </a:solidFill>
                <a:latin typeface="Aptos"/>
                <a:ea typeface="Aptos"/>
                <a:cs typeface="Aptos"/>
              </a:rPr>
              <a:t>LECTURE DÉCISIONNELLE</a:t>
            </a:r>
          </a:p>
        </p:txBody>
      </p:sp>
      <p:sp>
        <p:nvSpPr>
          <p:cNvPr id="34" name="Rectangle 33">
            <a:extLst>
              <a:ext uri="{FF2B5EF4-FFF2-40B4-BE49-F238E27FC236}">
                <a16:creationId xmlns:a16="http://schemas.microsoft.com/office/drawing/2014/main" id="{E4E66A51-5F76-41E2-902C-3BFE2CF84B45}"/>
              </a:ext>
            </a:extLst>
          </p:cNvPr>
          <p:cNvSpPr>
            <a:spLocks noGrp="1"/>
          </p:cNvSpPr>
          <p:nvPr/>
        </p:nvSpPr>
        <p:spPr>
          <a:xfrm>
            <a:off x="6896100" y="2895600"/>
            <a:ext cx="2857500" cy="11430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250" b="1">
                <a:solidFill>
                  <a:srgbClr val="FFFFFF"/>
                </a:solidFill>
                <a:latin typeface="Aptos Display"/>
                <a:ea typeface="Aptos Display"/>
                <a:cs typeface="Aptos Display"/>
              </a:defRPr>
            </a:pPr>
            <a:r>
              <a:rPr sz="2250" b="1">
                <a:solidFill>
                  <a:srgbClr val="FFFFFF"/>
                </a:solidFill>
                <a:latin typeface="Aptos Display"/>
                <a:ea typeface="Aptos Display"/>
                <a:cs typeface="Aptos Display"/>
              </a:rPr>
              <a:t>Un deck court,</a:t>
            </a:r>
          </a:p>
          <a:p>
            <a:pPr algn="l">
              <a:defRPr sz="2250" b="1">
                <a:solidFill>
                  <a:srgbClr val="FFFFFF"/>
                </a:solidFill>
                <a:latin typeface="Aptos Display"/>
                <a:ea typeface="Aptos Display"/>
                <a:cs typeface="Aptos Display"/>
              </a:defRPr>
            </a:pPr>
            <a:r>
              <a:rPr sz="2250" b="1">
                <a:solidFill>
                  <a:srgbClr val="FFFFFF"/>
                </a:solidFill>
                <a:latin typeface="Aptos Display"/>
                <a:ea typeface="Aptos Display"/>
                <a:cs typeface="Aptos Display"/>
              </a:rPr>
              <a:t>mais guidé comme</a:t>
            </a:r>
          </a:p>
          <a:p>
            <a:pPr algn="l">
              <a:defRPr sz="2250" b="1">
                <a:solidFill>
                  <a:srgbClr val="FFFFFF"/>
                </a:solidFill>
                <a:latin typeface="Aptos Display"/>
                <a:ea typeface="Aptos Display"/>
                <a:cs typeface="Aptos Display"/>
              </a:defRPr>
            </a:pPr>
            <a:r>
              <a:rPr sz="2250" b="1">
                <a:solidFill>
                  <a:srgbClr val="FFFFFF"/>
                </a:solidFill>
                <a:latin typeface="Aptos Display"/>
                <a:ea typeface="Aptos Display"/>
                <a:cs typeface="Aptos Display"/>
              </a:rPr>
              <a:t>un cadre d'action.</a:t>
            </a:r>
          </a:p>
        </p:txBody>
      </p:sp>
      <p:sp>
        <p:nvSpPr>
          <p:cNvPr id="35" name="Rectangle 34">
            <a:extLst>
              <a:ext uri="{FF2B5EF4-FFF2-40B4-BE49-F238E27FC236}">
                <a16:creationId xmlns:a16="http://schemas.microsoft.com/office/drawing/2014/main" id="{AC74111D-7CBB-4E7D-8CC9-107CF4EC9707}"/>
              </a:ext>
            </a:extLst>
          </p:cNvPr>
          <p:cNvSpPr>
            <a:spLocks noGrp="1"/>
          </p:cNvSpPr>
          <p:nvPr/>
        </p:nvSpPr>
        <p:spPr>
          <a:xfrm>
            <a:off x="6896100" y="4133850"/>
            <a:ext cx="2914650" cy="1066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D7E5F3"/>
                </a:solidFill>
                <a:latin typeface="Aptos"/>
                <a:ea typeface="Aptos"/>
                <a:cs typeface="Aptos"/>
              </a:defRPr>
            </a:pPr>
            <a:r>
              <a:rPr sz="1050" b="0">
                <a:solidFill>
                  <a:srgbClr val="D7E5F3"/>
                </a:solidFill>
                <a:latin typeface="Aptos"/>
                <a:ea typeface="Aptos"/>
                <a:cs typeface="Aptos"/>
              </a:rPr>
              <a:t>1. Comprendre les enjeux de service.</a:t>
            </a:r>
          </a:p>
          <a:p>
            <a:pPr algn="l">
              <a:defRPr sz="1050" b="0">
                <a:solidFill>
                  <a:srgbClr val="D7E5F3"/>
                </a:solidFill>
                <a:latin typeface="Aptos"/>
                <a:ea typeface="Aptos"/>
                <a:cs typeface="Aptos"/>
              </a:defRPr>
            </a:pPr>
            <a:r>
              <a:rPr sz="1050" b="0">
                <a:solidFill>
                  <a:srgbClr val="D7E5F3"/>
                </a:solidFill>
                <a:latin typeface="Aptos"/>
                <a:ea typeface="Aptos"/>
                <a:cs typeface="Aptos"/>
              </a:rPr>
              <a:t>2. Donner des indicateurs de preuve crédibles.</a:t>
            </a:r>
          </a:p>
          <a:p>
            <a:pPr algn="l">
              <a:defRPr sz="1050" b="0">
                <a:solidFill>
                  <a:srgbClr val="D7E5F3"/>
                </a:solidFill>
                <a:latin typeface="Aptos"/>
                <a:ea typeface="Aptos"/>
                <a:cs typeface="Aptos"/>
              </a:defRPr>
            </a:pPr>
            <a:r>
              <a:rPr sz="1050" b="0">
                <a:solidFill>
                  <a:srgbClr val="D7E5F3"/>
                </a:solidFill>
                <a:latin typeface="Aptos"/>
                <a:ea typeface="Aptos"/>
                <a:cs typeface="Aptos"/>
              </a:rPr>
              <a:t>3. Recommander un premier pilote gouverné.</a:t>
            </a:r>
          </a:p>
          <a:p>
            <a:pPr algn="l">
              <a:defRPr sz="1050" b="0">
                <a:solidFill>
                  <a:srgbClr val="D7E5F3"/>
                </a:solidFill>
                <a:latin typeface="Aptos"/>
                <a:ea typeface="Aptos"/>
                <a:cs typeface="Aptos"/>
              </a:defRPr>
            </a:pPr>
            <a:r>
              <a:rPr sz="1050" b="0">
                <a:solidFill>
                  <a:srgbClr val="D7E5F3"/>
                </a:solidFill>
                <a:latin typeface="Aptos"/>
                <a:ea typeface="Aptos"/>
                <a:cs typeface="Aptos"/>
              </a:rPr>
              <a:t>4. Finir sur une prochaine étape simple : audit IA + échange expert de 30 minutes.</a:t>
            </a:r>
          </a:p>
        </p:txBody>
      </p:sp>
      <p:sp>
        <p:nvSpPr>
          <p:cNvPr id="36" name="Rectangle 35">
            <a:extLst>
              <a:ext uri="{FF2B5EF4-FFF2-40B4-BE49-F238E27FC236}">
                <a16:creationId xmlns:a16="http://schemas.microsoft.com/office/drawing/2014/main" id="{62E74D2C-45E2-4CC5-9901-061DC5EED018}"/>
              </a:ext>
            </a:extLst>
          </p:cNvPr>
          <p:cNvSpPr>
            <a:spLocks noGrp="1"/>
          </p:cNvSpPr>
          <p:nvPr/>
        </p:nvSpPr>
        <p:spPr>
          <a:xfrm>
            <a:off x="9925050" y="2895600"/>
            <a:ext cx="1257300" cy="914400"/>
          </a:xfrm>
          <a:prstGeom prst="rect">
            <a:avLst/>
          </a:prstGeom>
          <a:solidFill>
            <a:srgbClr val="244667"/>
          </a:solidFill>
          <a:ln w="9525">
            <a:solidFill>
              <a:srgbClr val="244667"/>
            </a:solidFill>
            <a:prstDash val="solid"/>
          </a:ln>
        </p:spPr>
      </p:sp>
      <p:sp>
        <p:nvSpPr>
          <p:cNvPr id="37" name="Rectangle 36">
            <a:extLst>
              <a:ext uri="{FF2B5EF4-FFF2-40B4-BE49-F238E27FC236}">
                <a16:creationId xmlns:a16="http://schemas.microsoft.com/office/drawing/2014/main" id="{15EC46D6-E765-4C51-85BD-F6289F05133D}"/>
              </a:ext>
            </a:extLst>
          </p:cNvPr>
          <p:cNvSpPr>
            <a:spLocks noGrp="1"/>
          </p:cNvSpPr>
          <p:nvPr/>
        </p:nvSpPr>
        <p:spPr>
          <a:xfrm>
            <a:off x="10096500" y="3181350"/>
            <a:ext cx="9144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350" b="1">
                <a:solidFill>
                  <a:srgbClr val="FFFFFF"/>
                </a:solidFill>
                <a:latin typeface="Aptos Display"/>
                <a:ea typeface="Aptos Display"/>
                <a:cs typeface="Aptos Display"/>
              </a:defRPr>
            </a:pPr>
            <a:r>
              <a:rPr sz="1350" b="1">
                <a:solidFill>
                  <a:srgbClr val="FFFFFF"/>
                </a:solidFill>
                <a:latin typeface="Aptos Display"/>
                <a:ea typeface="Aptos Display"/>
                <a:cs typeface="Aptos Display"/>
              </a:rPr>
              <a:t>PDF ready</a:t>
            </a:r>
          </a:p>
        </p:txBody>
      </p:sp>
      <p:sp>
        <p:nvSpPr>
          <p:cNvPr id="38" name="Rectangle 37">
            <a:extLst>
              <a:ext uri="{FF2B5EF4-FFF2-40B4-BE49-F238E27FC236}">
                <a16:creationId xmlns:a16="http://schemas.microsoft.com/office/drawing/2014/main" id="{DA7C46B7-6ABB-4388-BDD3-4904CF4230E9}"/>
              </a:ext>
            </a:extLst>
          </p:cNvPr>
          <p:cNvSpPr>
            <a:spLocks noGrp="1"/>
          </p:cNvSpPr>
          <p:nvPr/>
        </p:nvSpPr>
        <p:spPr>
          <a:xfrm>
            <a:off x="10077450" y="3429000"/>
            <a:ext cx="952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88" b="0">
                <a:solidFill>
                  <a:srgbClr val="FFFFFF"/>
                </a:solidFill>
                <a:latin typeface="Aptos"/>
                <a:ea typeface="Aptos"/>
                <a:cs typeface="Aptos"/>
              </a:defRPr>
            </a:pPr>
            <a:r>
              <a:rPr sz="788" b="0">
                <a:solidFill>
                  <a:srgbClr val="FFFFFF"/>
                </a:solidFill>
                <a:latin typeface="Aptos"/>
                <a:ea typeface="Aptos"/>
                <a:cs typeface="Aptos"/>
              </a:rPr>
              <a:t>lecture rapide direction</a:t>
            </a:r>
          </a:p>
        </p:txBody>
      </p:sp>
      <p:sp>
        <p:nvSpPr>
          <p:cNvPr id="39" name="Rectangle 38">
            <a:extLst>
              <a:ext uri="{FF2B5EF4-FFF2-40B4-BE49-F238E27FC236}">
                <a16:creationId xmlns:a16="http://schemas.microsoft.com/office/drawing/2014/main" id="{D9728BC2-E3B2-49E6-B249-DECBEE96B73E}"/>
              </a:ext>
            </a:extLst>
          </p:cNvPr>
          <p:cNvSpPr>
            <a:spLocks noGrp="1"/>
          </p:cNvSpPr>
          <p:nvPr/>
        </p:nvSpPr>
        <p:spPr>
          <a:xfrm>
            <a:off x="9925050" y="3981450"/>
            <a:ext cx="1257300" cy="914400"/>
          </a:xfrm>
          <a:prstGeom prst="rect">
            <a:avLst/>
          </a:prstGeom>
          <a:solidFill>
            <a:srgbClr val="244667"/>
          </a:solidFill>
          <a:ln w="9525">
            <a:solidFill>
              <a:srgbClr val="244667"/>
            </a:solidFill>
            <a:prstDash val="solid"/>
          </a:ln>
        </p:spPr>
      </p:sp>
      <p:sp>
        <p:nvSpPr>
          <p:cNvPr id="40" name="Rectangle 39">
            <a:extLst>
              <a:ext uri="{FF2B5EF4-FFF2-40B4-BE49-F238E27FC236}">
                <a16:creationId xmlns:a16="http://schemas.microsoft.com/office/drawing/2014/main" id="{9F372A5F-184F-4622-A743-7915B6CF6131}"/>
              </a:ext>
            </a:extLst>
          </p:cNvPr>
          <p:cNvSpPr>
            <a:spLocks noGrp="1"/>
          </p:cNvSpPr>
          <p:nvPr/>
        </p:nvSpPr>
        <p:spPr>
          <a:xfrm>
            <a:off x="10096500" y="4267200"/>
            <a:ext cx="9144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350" b="1">
                <a:solidFill>
                  <a:srgbClr val="FFFFFF"/>
                </a:solidFill>
                <a:latin typeface="Aptos Display"/>
                <a:ea typeface="Aptos Display"/>
                <a:cs typeface="Aptos Display"/>
              </a:defRPr>
            </a:pPr>
            <a:r>
              <a:rPr sz="1350" b="1">
                <a:solidFill>
                  <a:srgbClr val="FFFFFF"/>
                </a:solidFill>
                <a:latin typeface="Aptos Display"/>
                <a:ea typeface="Aptos Display"/>
                <a:cs typeface="Aptos Display"/>
              </a:rPr>
              <a:t>2 temps</a:t>
            </a:r>
          </a:p>
        </p:txBody>
      </p:sp>
      <p:sp>
        <p:nvSpPr>
          <p:cNvPr id="41" name="Rectangle 40">
            <a:extLst>
              <a:ext uri="{FF2B5EF4-FFF2-40B4-BE49-F238E27FC236}">
                <a16:creationId xmlns:a16="http://schemas.microsoft.com/office/drawing/2014/main" id="{F882C86A-AEC3-458A-9272-65A8AD5ABF65}"/>
              </a:ext>
            </a:extLst>
          </p:cNvPr>
          <p:cNvSpPr>
            <a:spLocks noGrp="1"/>
          </p:cNvSpPr>
          <p:nvPr/>
        </p:nvSpPr>
        <p:spPr>
          <a:xfrm>
            <a:off x="10020300" y="4514850"/>
            <a:ext cx="106680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88" b="0">
                <a:solidFill>
                  <a:srgbClr val="FFFFFF"/>
                </a:solidFill>
                <a:latin typeface="Aptos"/>
                <a:ea typeface="Aptos"/>
                <a:cs typeface="Aptos"/>
              </a:defRPr>
            </a:pPr>
            <a:r>
              <a:rPr sz="788" b="0">
                <a:solidFill>
                  <a:srgbClr val="FFFFFF"/>
                </a:solidFill>
                <a:latin typeface="Aptos"/>
                <a:ea typeface="Aptos"/>
                <a:cs typeface="Aptos"/>
              </a:rPr>
              <a:t>comprendre puis cadrer</a:t>
            </a:r>
          </a:p>
        </p:txBody>
      </p:sp>
      <p:sp>
        <p:nvSpPr>
          <p:cNvPr id="42" name="Rectangle 41">
            <a:extLst>
              <a:ext uri="{FF2B5EF4-FFF2-40B4-BE49-F238E27FC236}">
                <a16:creationId xmlns:a16="http://schemas.microsoft.com/office/drawing/2014/main" id="{7B394FAC-E5E0-4F6F-B9BA-AA4B2393D2E8}"/>
              </a:ext>
            </a:extLst>
          </p:cNvPr>
          <p:cNvSpPr>
            <a:spLocks noGrp="1"/>
          </p:cNvSpPr>
          <p:nvPr/>
        </p:nvSpPr>
        <p:spPr>
          <a:xfrm>
            <a:off x="647700" y="6496050"/>
            <a:ext cx="10896600" cy="9525"/>
          </a:xfrm>
          <a:prstGeom prst="rect">
            <a:avLst/>
          </a:prstGeom>
          <a:solidFill>
            <a:srgbClr val="D7CEC3"/>
          </a:solidFill>
          <a:ln w="0">
            <a:solidFill>
              <a:srgbClr val="000000">
                <a:alpha val="0"/>
              </a:srgbClr>
            </a:solidFill>
            <a:prstDash val="solid"/>
          </a:ln>
        </p:spPr>
      </p:sp>
      <p:sp>
        <p:nvSpPr>
          <p:cNvPr id="43" name="Rectangle 42">
            <a:extLst>
              <a:ext uri="{FF2B5EF4-FFF2-40B4-BE49-F238E27FC236}">
                <a16:creationId xmlns:a16="http://schemas.microsoft.com/office/drawing/2014/main" id="{6CAF0A57-BC99-4993-BB13-DC84C70708E6}"/>
              </a:ext>
            </a:extLst>
          </p:cNvPr>
          <p:cNvSpPr>
            <a:spLocks noGrp="1"/>
          </p:cNvSpPr>
          <p:nvPr/>
        </p:nvSpPr>
        <p:spPr>
          <a:xfrm>
            <a:off x="685800" y="6572250"/>
            <a:ext cx="8572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617086"/>
                </a:solidFill>
                <a:latin typeface="Aptos"/>
                <a:ea typeface="Aptos"/>
                <a:cs typeface="Aptos"/>
              </a:defRPr>
            </a:pPr>
            <a:r>
              <a:rPr sz="638" b="0">
                <a:solidFill>
                  <a:srgbClr val="617086"/>
                </a:solidFill>
                <a:latin typeface="Aptos"/>
                <a:ea typeface="Aptos"/>
                <a:cs typeface="Aptos"/>
              </a:rPr>
              <a:t>TransferAI | Hub IA de Nettelecom CI | Modèle deck institutionnel V3</a:t>
            </a:r>
          </a:p>
        </p:txBody>
      </p:sp>
      <p:sp>
        <p:nvSpPr>
          <p:cNvPr id="44" name="Rectangle 43">
            <a:extLst>
              <a:ext uri="{FF2B5EF4-FFF2-40B4-BE49-F238E27FC236}">
                <a16:creationId xmlns:a16="http://schemas.microsoft.com/office/drawing/2014/main" id="{958AF6BF-4E68-4530-8381-E68943382879}"/>
              </a:ext>
            </a:extLst>
          </p:cNvPr>
          <p:cNvSpPr>
            <a:spLocks noGrp="1"/>
          </p:cNvSpPr>
          <p:nvPr/>
        </p:nvSpPr>
        <p:spPr>
          <a:xfrm>
            <a:off x="11049000" y="6553200"/>
            <a:ext cx="3429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1A3554"/>
                </a:solidFill>
                <a:latin typeface="Aptos"/>
                <a:ea typeface="Aptos"/>
                <a:cs typeface="Aptos"/>
              </a:defRPr>
            </a:pPr>
            <a:r>
              <a:rPr sz="750" b="1">
                <a:solidFill>
                  <a:srgbClr val="1A3554"/>
                </a:solidFill>
                <a:latin typeface="Aptos"/>
                <a:ea typeface="Aptos"/>
                <a:cs typeface="Aptos"/>
              </a:rPr>
              <a:t>02</a:t>
            </a:r>
          </a:p>
        </p:txBody>
      </p:sp>
    </p:spTree>
    <p:extLst>
      <p:ext uri="{BB962C8B-B14F-4D97-AF65-F5344CB8AC3E}">
        <p14:creationId xmlns:p14="http://schemas.microsoft.com/office/powerpoint/2010/main" val="13299965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F20C692D-3C8B-4354-92FC-EE5F600FF4B3}"/>
              </a:ext>
            </a:extLst>
          </p:cNvPr>
          <p:cNvSpPr>
            <a:spLocks noGrp="1"/>
          </p:cNvSpPr>
          <p:nvPr/>
        </p:nvSpPr>
        <p:spPr>
          <a:xfrm>
            <a:off x="0" y="0"/>
            <a:ext cx="12192000" cy="6858000"/>
          </a:xfrm>
          <a:prstGeom prst="rect">
            <a:avLst/>
          </a:prstGeom>
          <a:solidFill>
            <a:srgbClr val="F5EFE7"/>
          </a:solidFill>
          <a:ln w="0">
            <a:solidFill>
              <a:srgbClr val="000000">
                <a:alpha val="0"/>
              </a:srgbClr>
            </a:solidFill>
            <a:prstDash val="solid"/>
          </a:ln>
        </p:spPr>
      </p:sp>
      <p:sp>
        <p:nvSpPr>
          <p:cNvPr id="2" name="Rectangle 1">
            <a:extLst>
              <a:ext uri="{FF2B5EF4-FFF2-40B4-BE49-F238E27FC236}">
                <a16:creationId xmlns:a16="http://schemas.microsoft.com/office/drawing/2014/main" id="{22001FA3-6493-47EF-84C3-897E5BDF4D2B}"/>
              </a:ext>
            </a:extLst>
          </p:cNvPr>
          <p:cNvSpPr>
            <a:spLocks noGrp="1"/>
          </p:cNvSpPr>
          <p:nvPr/>
        </p:nvSpPr>
        <p:spPr>
          <a:xfrm>
            <a:off x="0" y="0"/>
            <a:ext cx="12192000" cy="6858000"/>
          </a:xfrm>
          <a:prstGeom prst="rect">
            <a:avLst/>
          </a:prstGeom>
          <a:solidFill>
            <a:srgbClr val="163556"/>
          </a:solidFill>
          <a:ln w="0">
            <a:solidFill>
              <a:srgbClr val="163556"/>
            </a:solidFill>
            <a:prstDash val="solid"/>
          </a:ln>
        </p:spPr>
      </p:sp>
      <p:sp>
        <p:nvSpPr>
          <p:cNvPr id="3" name="Rectangle 2">
            <a:extLst>
              <a:ext uri="{FF2B5EF4-FFF2-40B4-BE49-F238E27FC236}">
                <a16:creationId xmlns:a16="http://schemas.microsoft.com/office/drawing/2014/main" id="{9D5702F8-4648-4AE7-8CAD-F70682680E94}"/>
              </a:ext>
            </a:extLst>
          </p:cNvPr>
          <p:cNvSpPr>
            <a:spLocks noGrp="1"/>
          </p:cNvSpPr>
          <p:nvPr/>
        </p:nvSpPr>
        <p:spPr>
          <a:xfrm>
            <a:off x="685800" y="1066800"/>
            <a:ext cx="76200" cy="4324350"/>
          </a:xfrm>
          <a:prstGeom prst="rect">
            <a:avLst/>
          </a:prstGeom>
          <a:solidFill>
            <a:srgbClr val="E76F1D"/>
          </a:solidFill>
          <a:ln w="0">
            <a:solidFill>
              <a:srgbClr val="E76F1D"/>
            </a:solidFill>
            <a:prstDash val="solid"/>
          </a:ln>
        </p:spPr>
      </p:sp>
      <p:sp>
        <p:nvSpPr>
          <p:cNvPr id="4" name="Rectangle 3">
            <a:extLst>
              <a:ext uri="{FF2B5EF4-FFF2-40B4-BE49-F238E27FC236}">
                <a16:creationId xmlns:a16="http://schemas.microsoft.com/office/drawing/2014/main" id="{44F18543-CD57-4AF9-B009-2CB2B0719FEB}"/>
              </a:ext>
            </a:extLst>
          </p:cNvPr>
          <p:cNvSpPr>
            <a:spLocks noGrp="1"/>
          </p:cNvSpPr>
          <p:nvPr/>
        </p:nvSpPr>
        <p:spPr>
          <a:xfrm>
            <a:off x="990600" y="1162050"/>
            <a:ext cx="2476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FFFFFF"/>
                </a:solidFill>
                <a:latin typeface="Aptos"/>
                <a:ea typeface="Aptos"/>
                <a:cs typeface="Aptos"/>
              </a:defRPr>
            </a:pPr>
            <a:r>
              <a:rPr sz="788" b="1">
                <a:solidFill>
                  <a:srgbClr val="FFFFFF"/>
                </a:solidFill>
                <a:latin typeface="Aptos"/>
                <a:ea typeface="Aptos"/>
                <a:cs typeface="Aptos"/>
              </a:rPr>
              <a:t>CE QUE NOUS AVONS COMPRIS</a:t>
            </a:r>
          </a:p>
        </p:txBody>
      </p:sp>
      <p:sp>
        <p:nvSpPr>
          <p:cNvPr id="5" name="Rectangle 4">
            <a:extLst>
              <a:ext uri="{FF2B5EF4-FFF2-40B4-BE49-F238E27FC236}">
                <a16:creationId xmlns:a16="http://schemas.microsoft.com/office/drawing/2014/main" id="{5CF399CF-4249-46D7-B471-21F973BF7BCA}"/>
              </a:ext>
            </a:extLst>
          </p:cNvPr>
          <p:cNvSpPr>
            <a:spLocks noGrp="1"/>
          </p:cNvSpPr>
          <p:nvPr/>
        </p:nvSpPr>
        <p:spPr>
          <a:xfrm>
            <a:off x="990600" y="1524000"/>
            <a:ext cx="6096000" cy="1295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3000" b="1">
                <a:solidFill>
                  <a:srgbClr val="FFFFFF"/>
                </a:solidFill>
                <a:latin typeface="Aptos Display"/>
                <a:ea typeface="Aptos Display"/>
                <a:cs typeface="Aptos Display"/>
              </a:defRPr>
            </a:pPr>
            <a:r>
              <a:rPr sz="3000" b="1">
                <a:solidFill>
                  <a:srgbClr val="FFFFFF"/>
                </a:solidFill>
                <a:latin typeface="Aptos Display"/>
                <a:ea typeface="Aptos Display"/>
                <a:cs typeface="Aptos Display"/>
              </a:rPr>
              <a:t>Les slides qui cadrent</a:t>
            </a:r>
          </a:p>
          <a:p>
            <a:pPr algn="l">
              <a:defRPr sz="3000" b="1">
                <a:solidFill>
                  <a:srgbClr val="FFFFFF"/>
                </a:solidFill>
                <a:latin typeface="Aptos Display"/>
                <a:ea typeface="Aptos Display"/>
                <a:cs typeface="Aptos Display"/>
              </a:defRPr>
            </a:pPr>
            <a:r>
              <a:rPr sz="3000" b="1">
                <a:solidFill>
                  <a:srgbClr val="FFFFFF"/>
                </a:solidFill>
                <a:latin typeface="Aptos Display"/>
                <a:ea typeface="Aptos Display"/>
                <a:cs typeface="Aptos Display"/>
              </a:rPr>
              <a:t>les enjeux de service</a:t>
            </a:r>
          </a:p>
          <a:p>
            <a:pPr algn="l">
              <a:defRPr sz="3000" b="1">
                <a:solidFill>
                  <a:srgbClr val="FFFFFF"/>
                </a:solidFill>
                <a:latin typeface="Aptos Display"/>
                <a:ea typeface="Aptos Display"/>
                <a:cs typeface="Aptos Display"/>
              </a:defRPr>
            </a:pPr>
            <a:r>
              <a:rPr sz="3000" b="1">
                <a:solidFill>
                  <a:srgbClr val="FFFFFF"/>
                </a:solidFill>
                <a:latin typeface="Aptos Display"/>
                <a:ea typeface="Aptos Display"/>
                <a:cs typeface="Aptos Display"/>
              </a:rPr>
              <a:t>avant de parler déploiement.</a:t>
            </a:r>
          </a:p>
        </p:txBody>
      </p:sp>
      <p:sp>
        <p:nvSpPr>
          <p:cNvPr id="6" name="Rectangle 5">
            <a:extLst>
              <a:ext uri="{FF2B5EF4-FFF2-40B4-BE49-F238E27FC236}">
                <a16:creationId xmlns:a16="http://schemas.microsoft.com/office/drawing/2014/main" id="{61D45DAA-7301-455A-9027-DB666E72E043}"/>
              </a:ext>
            </a:extLst>
          </p:cNvPr>
          <p:cNvSpPr>
            <a:spLocks noGrp="1"/>
          </p:cNvSpPr>
          <p:nvPr/>
        </p:nvSpPr>
        <p:spPr>
          <a:xfrm>
            <a:off x="990600" y="3086100"/>
            <a:ext cx="5334000" cy="1066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D7E5F3"/>
                </a:solidFill>
                <a:latin typeface="Aptos"/>
                <a:ea typeface="Aptos"/>
                <a:cs typeface="Aptos"/>
              </a:defRPr>
            </a:pPr>
            <a:r>
              <a:rPr sz="1200" b="0">
                <a:solidFill>
                  <a:srgbClr val="D7E5F3"/>
                </a:solidFill>
                <a:latin typeface="Aptos"/>
                <a:ea typeface="Aptos"/>
                <a:cs typeface="Aptos"/>
              </a:rPr>
              <a:t>Cette première partie du deck doit montrer que nous comprenons les priorités institutionnelles, les irritants visibles et les indicateurs de preuve qui feront foi pour la direction.</a:t>
            </a:r>
          </a:p>
        </p:txBody>
      </p:sp>
      <p:sp>
        <p:nvSpPr>
          <p:cNvPr id="7" name="Rectangle 6">
            <a:extLst>
              <a:ext uri="{FF2B5EF4-FFF2-40B4-BE49-F238E27FC236}">
                <a16:creationId xmlns:a16="http://schemas.microsoft.com/office/drawing/2014/main" id="{3127A814-0C39-4F0B-9B46-E48174B2FF5A}"/>
              </a:ext>
            </a:extLst>
          </p:cNvPr>
          <p:cNvSpPr>
            <a:spLocks noGrp="1"/>
          </p:cNvSpPr>
          <p:nvPr/>
        </p:nvSpPr>
        <p:spPr>
          <a:xfrm>
            <a:off x="7410450" y="1257300"/>
            <a:ext cx="3752850" cy="1619250"/>
          </a:xfrm>
          <a:prstGeom prst="rect">
            <a:avLst/>
          </a:prstGeom>
          <a:solidFill>
            <a:srgbClr val="244667"/>
          </a:solidFill>
          <a:ln w="9525">
            <a:solidFill>
              <a:srgbClr val="244667"/>
            </a:solidFill>
            <a:prstDash val="solid"/>
          </a:ln>
        </p:spPr>
      </p:sp>
      <p:sp>
        <p:nvSpPr>
          <p:cNvPr id="8" name="Rectangle 7">
            <a:extLst>
              <a:ext uri="{FF2B5EF4-FFF2-40B4-BE49-F238E27FC236}">
                <a16:creationId xmlns:a16="http://schemas.microsoft.com/office/drawing/2014/main" id="{3FFAF02C-8DB4-4468-9CB0-B9E00CD81BEA}"/>
              </a:ext>
            </a:extLst>
          </p:cNvPr>
          <p:cNvSpPr>
            <a:spLocks noGrp="1"/>
          </p:cNvSpPr>
          <p:nvPr/>
        </p:nvSpPr>
        <p:spPr>
          <a:xfrm>
            <a:off x="7658100" y="1485900"/>
            <a:ext cx="2095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D7E5F3"/>
                </a:solidFill>
                <a:latin typeface="Aptos"/>
                <a:ea typeface="Aptos"/>
                <a:cs typeface="Aptos"/>
              </a:defRPr>
            </a:pPr>
            <a:r>
              <a:rPr sz="750" b="1">
                <a:solidFill>
                  <a:srgbClr val="D7E5F3"/>
                </a:solidFill>
                <a:latin typeface="Aptos"/>
                <a:ea typeface="Aptos"/>
                <a:cs typeface="Aptos"/>
              </a:rPr>
              <a:t>Cette section doit prouver</a:t>
            </a:r>
          </a:p>
        </p:txBody>
      </p:sp>
      <p:sp>
        <p:nvSpPr>
          <p:cNvPr id="9" name="Rectangle 8">
            <a:extLst>
              <a:ext uri="{FF2B5EF4-FFF2-40B4-BE49-F238E27FC236}">
                <a16:creationId xmlns:a16="http://schemas.microsoft.com/office/drawing/2014/main" id="{22E655DF-5714-4EDE-B268-D15A32CDB524}"/>
              </a:ext>
            </a:extLst>
          </p:cNvPr>
          <p:cNvSpPr>
            <a:spLocks noGrp="1"/>
          </p:cNvSpPr>
          <p:nvPr/>
        </p:nvSpPr>
        <p:spPr>
          <a:xfrm>
            <a:off x="7658100" y="1733550"/>
            <a:ext cx="3257550" cy="8382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13" b="1">
                <a:solidFill>
                  <a:srgbClr val="FFFFFF"/>
                </a:solidFill>
                <a:latin typeface="Aptos"/>
                <a:ea typeface="Aptos"/>
                <a:cs typeface="Aptos"/>
              </a:defRPr>
            </a:pPr>
            <a:r>
              <a:rPr sz="1013" b="1">
                <a:solidFill>
                  <a:srgbClr val="FFFFFF"/>
                </a:solidFill>
                <a:latin typeface="Aptos"/>
                <a:ea typeface="Aptos"/>
                <a:cs typeface="Aptos"/>
              </a:rPr>
              <a:t>Nous ne venons pas avec un catalogue. Nous partons des flux qui coûtent déjà du temps, de la rigueur, de la coordination et de la qualité de service.</a:t>
            </a:r>
          </a:p>
        </p:txBody>
      </p:sp>
      <p:sp>
        <p:nvSpPr>
          <p:cNvPr id="10" name="Rectangle 9">
            <a:extLst>
              <a:ext uri="{FF2B5EF4-FFF2-40B4-BE49-F238E27FC236}">
                <a16:creationId xmlns:a16="http://schemas.microsoft.com/office/drawing/2014/main" id="{2C0D645F-C33F-477A-8D57-0ADF2DBA8DDE}"/>
              </a:ext>
            </a:extLst>
          </p:cNvPr>
          <p:cNvSpPr>
            <a:spLocks noGrp="1"/>
          </p:cNvSpPr>
          <p:nvPr/>
        </p:nvSpPr>
        <p:spPr>
          <a:xfrm>
            <a:off x="7410450" y="3200400"/>
            <a:ext cx="3752850" cy="1695450"/>
          </a:xfrm>
          <a:prstGeom prst="rect">
            <a:avLst/>
          </a:prstGeom>
          <a:solidFill>
            <a:srgbClr val="10263F"/>
          </a:solidFill>
          <a:ln w="9525">
            <a:solidFill>
              <a:srgbClr val="2F587F"/>
            </a:solidFill>
            <a:prstDash val="solid"/>
          </a:ln>
        </p:spPr>
      </p:sp>
      <p:sp>
        <p:nvSpPr>
          <p:cNvPr id="11" name="Rectangle 10">
            <a:extLst>
              <a:ext uri="{FF2B5EF4-FFF2-40B4-BE49-F238E27FC236}">
                <a16:creationId xmlns:a16="http://schemas.microsoft.com/office/drawing/2014/main" id="{9F5AF1AA-2909-430D-BAE2-665078950413}"/>
              </a:ext>
            </a:extLst>
          </p:cNvPr>
          <p:cNvSpPr>
            <a:spLocks noGrp="1"/>
          </p:cNvSpPr>
          <p:nvPr/>
        </p:nvSpPr>
        <p:spPr>
          <a:xfrm>
            <a:off x="7658100" y="3429000"/>
            <a:ext cx="1714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CFE0F0"/>
                </a:solidFill>
                <a:latin typeface="Aptos"/>
                <a:ea typeface="Aptos"/>
                <a:cs typeface="Aptos"/>
              </a:defRPr>
            </a:pPr>
            <a:r>
              <a:rPr sz="750" b="1">
                <a:solidFill>
                  <a:srgbClr val="CFE0F0"/>
                </a:solidFill>
                <a:latin typeface="Aptos"/>
                <a:ea typeface="Aptos"/>
                <a:cs typeface="Aptos"/>
              </a:rPr>
              <a:t>Promesse de lecture</a:t>
            </a:r>
          </a:p>
        </p:txBody>
      </p:sp>
      <p:sp>
        <p:nvSpPr>
          <p:cNvPr id="12" name="Rectangle 11">
            <a:extLst>
              <a:ext uri="{FF2B5EF4-FFF2-40B4-BE49-F238E27FC236}">
                <a16:creationId xmlns:a16="http://schemas.microsoft.com/office/drawing/2014/main" id="{800AB74C-8FC4-44BC-B6D5-F4A8C7760262}"/>
              </a:ext>
            </a:extLst>
          </p:cNvPr>
          <p:cNvSpPr>
            <a:spLocks noGrp="1"/>
          </p:cNvSpPr>
          <p:nvPr/>
        </p:nvSpPr>
        <p:spPr>
          <a:xfrm>
            <a:off x="7658100" y="3714750"/>
            <a:ext cx="3105150" cy="533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650" b="1">
                <a:solidFill>
                  <a:srgbClr val="FFFFFF"/>
                </a:solidFill>
                <a:latin typeface="Aptos Display"/>
                <a:ea typeface="Aptos Display"/>
                <a:cs typeface="Aptos Display"/>
              </a:defRPr>
            </a:pPr>
            <a:r>
              <a:rPr sz="1650" b="1">
                <a:solidFill>
                  <a:srgbClr val="FFFFFF"/>
                </a:solidFill>
                <a:latin typeface="Aptos Display"/>
                <a:ea typeface="Aptos Display"/>
                <a:cs typeface="Aptos Display"/>
              </a:rPr>
              <a:t>Comprendre avant de cadrer.</a:t>
            </a:r>
          </a:p>
        </p:txBody>
      </p:sp>
      <p:sp>
        <p:nvSpPr>
          <p:cNvPr id="13" name="Rectangle 12">
            <a:extLst>
              <a:ext uri="{FF2B5EF4-FFF2-40B4-BE49-F238E27FC236}">
                <a16:creationId xmlns:a16="http://schemas.microsoft.com/office/drawing/2014/main" id="{0C519C83-F65F-4BBF-B146-1FE310EF81BC}"/>
              </a:ext>
            </a:extLst>
          </p:cNvPr>
          <p:cNvSpPr>
            <a:spLocks noGrp="1"/>
          </p:cNvSpPr>
          <p:nvPr/>
        </p:nvSpPr>
        <p:spPr>
          <a:xfrm>
            <a:off x="7658100" y="4305300"/>
            <a:ext cx="32004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0">
                <a:solidFill>
                  <a:srgbClr val="D7E5F3"/>
                </a:solidFill>
                <a:latin typeface="Aptos"/>
                <a:ea typeface="Aptos"/>
                <a:cs typeface="Aptos"/>
              </a:defRPr>
            </a:pPr>
            <a:r>
              <a:rPr sz="900" b="0">
                <a:solidFill>
                  <a:srgbClr val="D7E5F3"/>
                </a:solidFill>
                <a:latin typeface="Aptos"/>
                <a:ea typeface="Aptos"/>
                <a:cs typeface="Aptos"/>
              </a:rPr>
              <a:t>La crédibilité institutionnelle se joue ici : ancrage local, preuve d'exécution et lecture claire des enjeux de service.</a:t>
            </a:r>
          </a:p>
        </p:txBody>
      </p:sp>
      <p:sp>
        <p:nvSpPr>
          <p:cNvPr id="14" name="Rectangle 13">
            <a:extLst>
              <a:ext uri="{FF2B5EF4-FFF2-40B4-BE49-F238E27FC236}">
                <a16:creationId xmlns:a16="http://schemas.microsoft.com/office/drawing/2014/main" id="{AD4FF55B-05B0-4C2B-B3C2-BB95B9929DF8}"/>
              </a:ext>
            </a:extLst>
          </p:cNvPr>
          <p:cNvSpPr>
            <a:spLocks noGrp="1"/>
          </p:cNvSpPr>
          <p:nvPr/>
        </p:nvSpPr>
        <p:spPr>
          <a:xfrm>
            <a:off x="647700" y="6496050"/>
            <a:ext cx="10896600" cy="9525"/>
          </a:xfrm>
          <a:prstGeom prst="rect">
            <a:avLst/>
          </a:prstGeom>
          <a:solidFill>
            <a:srgbClr val="D7CEC3"/>
          </a:solidFill>
          <a:ln w="0">
            <a:solidFill>
              <a:srgbClr val="000000">
                <a:alpha val="0"/>
              </a:srgbClr>
            </a:solidFill>
            <a:prstDash val="solid"/>
          </a:ln>
        </p:spPr>
      </p:sp>
      <p:sp>
        <p:nvSpPr>
          <p:cNvPr id="15" name="Rectangle 14">
            <a:extLst>
              <a:ext uri="{FF2B5EF4-FFF2-40B4-BE49-F238E27FC236}">
                <a16:creationId xmlns:a16="http://schemas.microsoft.com/office/drawing/2014/main" id="{A355707B-FC98-42E3-B240-EFB02C101FD7}"/>
              </a:ext>
            </a:extLst>
          </p:cNvPr>
          <p:cNvSpPr>
            <a:spLocks noGrp="1"/>
          </p:cNvSpPr>
          <p:nvPr/>
        </p:nvSpPr>
        <p:spPr>
          <a:xfrm>
            <a:off x="685800" y="6572250"/>
            <a:ext cx="8572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617086"/>
                </a:solidFill>
                <a:latin typeface="Aptos"/>
                <a:ea typeface="Aptos"/>
                <a:cs typeface="Aptos"/>
              </a:defRPr>
            </a:pPr>
            <a:r>
              <a:rPr sz="638" b="0">
                <a:solidFill>
                  <a:srgbClr val="617086"/>
                </a:solidFill>
                <a:latin typeface="Aptos"/>
                <a:ea typeface="Aptos"/>
                <a:cs typeface="Aptos"/>
              </a:rPr>
              <a:t>TransferAI | Hub IA de Nettelecom CI | Modèle deck institutionnel V3</a:t>
            </a:r>
          </a:p>
        </p:txBody>
      </p:sp>
      <p:sp>
        <p:nvSpPr>
          <p:cNvPr id="16" name="Rectangle 15">
            <a:extLst>
              <a:ext uri="{FF2B5EF4-FFF2-40B4-BE49-F238E27FC236}">
                <a16:creationId xmlns:a16="http://schemas.microsoft.com/office/drawing/2014/main" id="{51EB83A6-1F3D-481F-9573-ED9DB8CE113B}"/>
              </a:ext>
            </a:extLst>
          </p:cNvPr>
          <p:cNvSpPr>
            <a:spLocks noGrp="1"/>
          </p:cNvSpPr>
          <p:nvPr/>
        </p:nvSpPr>
        <p:spPr>
          <a:xfrm>
            <a:off x="11049000" y="6553200"/>
            <a:ext cx="3429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1A3554"/>
                </a:solidFill>
                <a:latin typeface="Aptos"/>
                <a:ea typeface="Aptos"/>
                <a:cs typeface="Aptos"/>
              </a:defRPr>
            </a:pPr>
            <a:r>
              <a:rPr sz="750" b="1">
                <a:solidFill>
                  <a:srgbClr val="1A3554"/>
                </a:solidFill>
                <a:latin typeface="Aptos"/>
                <a:ea typeface="Aptos"/>
                <a:cs typeface="Aptos"/>
              </a:rPr>
              <a:t>03</a:t>
            </a:r>
          </a:p>
        </p:txBody>
      </p:sp>
    </p:spTree>
    <p:extLst>
      <p:ext uri="{BB962C8B-B14F-4D97-AF65-F5344CB8AC3E}">
        <p14:creationId xmlns:p14="http://schemas.microsoft.com/office/powerpoint/2010/main" val="4261785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Rectangle 36">
            <a:extLst>
              <a:ext uri="{FF2B5EF4-FFF2-40B4-BE49-F238E27FC236}">
                <a16:creationId xmlns:a16="http://schemas.microsoft.com/office/drawing/2014/main" id="{B9A7C03C-14B1-4E08-BEE4-8D9637D50869}"/>
              </a:ext>
            </a:extLst>
          </p:cNvPr>
          <p:cNvSpPr>
            <a:spLocks noGrp="1"/>
          </p:cNvSpPr>
          <p:nvPr/>
        </p:nvSpPr>
        <p:spPr>
          <a:xfrm>
            <a:off x="0" y="0"/>
            <a:ext cx="12192000" cy="6858000"/>
          </a:xfrm>
          <a:prstGeom prst="rect">
            <a:avLst/>
          </a:prstGeom>
          <a:solidFill>
            <a:srgbClr val="F5EFE7"/>
          </a:solidFill>
          <a:ln w="0">
            <a:solidFill>
              <a:srgbClr val="000000">
                <a:alpha val="0"/>
              </a:srgbClr>
            </a:solidFill>
            <a:prstDash val="solid"/>
          </a:ln>
        </p:spPr>
      </p:sp>
      <p:sp>
        <p:nvSpPr>
          <p:cNvPr id="2" name="Rectangle 1">
            <a:extLst>
              <a:ext uri="{FF2B5EF4-FFF2-40B4-BE49-F238E27FC236}">
                <a16:creationId xmlns:a16="http://schemas.microsoft.com/office/drawing/2014/main" id="{73E48A95-2B5A-43AA-8EA3-C9CCA2C89985}"/>
              </a:ext>
            </a:extLst>
          </p:cNvPr>
          <p:cNvSpPr>
            <a:spLocks noGrp="1"/>
          </p:cNvSpPr>
          <p:nvPr/>
        </p:nvSpPr>
        <p:spPr>
          <a:xfrm>
            <a:off x="685800" y="495300"/>
            <a:ext cx="2476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E76F1D"/>
                </a:solidFill>
                <a:latin typeface="Aptos"/>
                <a:ea typeface="Aptos"/>
                <a:cs typeface="Aptos"/>
              </a:defRPr>
            </a:pPr>
            <a:r>
              <a:rPr sz="788" b="1">
                <a:solidFill>
                  <a:srgbClr val="E76F1D"/>
                </a:solidFill>
                <a:latin typeface="Aptos"/>
                <a:ea typeface="Aptos"/>
                <a:cs typeface="Aptos"/>
              </a:rPr>
              <a:t>QUI SOMMES-NOUS</a:t>
            </a:r>
          </a:p>
        </p:txBody>
      </p:sp>
      <p:sp>
        <p:nvSpPr>
          <p:cNvPr id="3" name="Rectangle 2">
            <a:extLst>
              <a:ext uri="{FF2B5EF4-FFF2-40B4-BE49-F238E27FC236}">
                <a16:creationId xmlns:a16="http://schemas.microsoft.com/office/drawing/2014/main" id="{DC708378-7CEC-402A-AC86-55391526FFDC}"/>
              </a:ext>
            </a:extLst>
          </p:cNvPr>
          <p:cNvSpPr>
            <a:spLocks noGrp="1"/>
          </p:cNvSpPr>
          <p:nvPr/>
        </p:nvSpPr>
        <p:spPr>
          <a:xfrm>
            <a:off x="685800" y="819150"/>
            <a:ext cx="8191500" cy="800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550" b="1">
                <a:solidFill>
                  <a:srgbClr val="1A3554"/>
                </a:solidFill>
                <a:latin typeface="Aptos Display"/>
                <a:ea typeface="Aptos Display"/>
                <a:cs typeface="Aptos Display"/>
              </a:defRPr>
            </a:pPr>
            <a:r>
              <a:rPr sz="2550" b="1">
                <a:solidFill>
                  <a:srgbClr val="1A3554"/>
                </a:solidFill>
                <a:latin typeface="Aptos Display"/>
                <a:ea typeface="Aptos Display"/>
                <a:cs typeface="Aptos Display"/>
              </a:rPr>
              <a:t>TransferAI, le hub IA de Nettelecom CI</a:t>
            </a:r>
          </a:p>
        </p:txBody>
      </p:sp>
      <p:sp>
        <p:nvSpPr>
          <p:cNvPr id="4" name="Rectangle 3">
            <a:extLst>
              <a:ext uri="{FF2B5EF4-FFF2-40B4-BE49-F238E27FC236}">
                <a16:creationId xmlns:a16="http://schemas.microsoft.com/office/drawing/2014/main" id="{4D3D8DCD-FF3D-4031-BEF5-F020F7A7BF21}"/>
              </a:ext>
            </a:extLst>
          </p:cNvPr>
          <p:cNvSpPr>
            <a:spLocks noGrp="1"/>
          </p:cNvSpPr>
          <p:nvPr/>
        </p:nvSpPr>
        <p:spPr>
          <a:xfrm>
            <a:off x="685800" y="1676400"/>
            <a:ext cx="923925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617086"/>
                </a:solidFill>
                <a:latin typeface="Aptos"/>
                <a:ea typeface="Aptos"/>
                <a:cs typeface="Aptos"/>
              </a:defRPr>
            </a:pPr>
            <a:r>
              <a:rPr sz="1050" b="0">
                <a:solidFill>
                  <a:srgbClr val="617086"/>
                </a:solidFill>
                <a:latin typeface="Aptos"/>
                <a:ea typeface="Aptos"/>
                <a:cs typeface="Aptos"/>
              </a:rPr>
              <a:t>La proposition gagne en crédibilité si nous expliquons clairement qui porte l'offre, avec quelle profondeur d'expertise et dans quel cadre d'exécution.</a:t>
            </a:r>
          </a:p>
        </p:txBody>
      </p:sp>
      <p:sp>
        <p:nvSpPr>
          <p:cNvPr id="5" name="Rectangle 4">
            <a:extLst>
              <a:ext uri="{FF2B5EF4-FFF2-40B4-BE49-F238E27FC236}">
                <a16:creationId xmlns:a16="http://schemas.microsoft.com/office/drawing/2014/main" id="{A1028B0C-3BEE-4E82-A10B-D16C952E9EBF}"/>
              </a:ext>
            </a:extLst>
          </p:cNvPr>
          <p:cNvSpPr>
            <a:spLocks noGrp="1"/>
          </p:cNvSpPr>
          <p:nvPr/>
        </p:nvSpPr>
        <p:spPr>
          <a:xfrm>
            <a:off x="685800" y="2171700"/>
            <a:ext cx="4114800" cy="3238500"/>
          </a:xfrm>
          <a:prstGeom prst="rect">
            <a:avLst/>
          </a:prstGeom>
          <a:solidFill>
            <a:srgbClr val="163556"/>
          </a:solidFill>
          <a:ln w="0">
            <a:solidFill>
              <a:srgbClr val="163556"/>
            </a:solidFill>
            <a:prstDash val="solid"/>
          </a:ln>
        </p:spPr>
      </p:sp>
      <p:sp>
        <p:nvSpPr>
          <p:cNvPr id="6" name="Rectangle 5">
            <a:extLst>
              <a:ext uri="{FF2B5EF4-FFF2-40B4-BE49-F238E27FC236}">
                <a16:creationId xmlns:a16="http://schemas.microsoft.com/office/drawing/2014/main" id="{21839AB5-AED9-4C33-BCE3-0AF34AFE771F}"/>
              </a:ext>
            </a:extLst>
          </p:cNvPr>
          <p:cNvSpPr>
            <a:spLocks noGrp="1"/>
          </p:cNvSpPr>
          <p:nvPr/>
        </p:nvSpPr>
        <p:spPr>
          <a:xfrm>
            <a:off x="933450" y="2400300"/>
            <a:ext cx="15240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D7E5F3"/>
                </a:solidFill>
                <a:latin typeface="Aptos"/>
                <a:ea typeface="Aptos"/>
                <a:cs typeface="Aptos"/>
              </a:defRPr>
            </a:pPr>
            <a:r>
              <a:rPr sz="825" b="1">
                <a:solidFill>
                  <a:srgbClr val="D7E5F3"/>
                </a:solidFill>
                <a:latin typeface="Aptos"/>
                <a:ea typeface="Aptos"/>
                <a:cs typeface="Aptos"/>
              </a:rPr>
              <a:t>TransferAI</a:t>
            </a:r>
          </a:p>
        </p:txBody>
      </p:sp>
      <p:sp>
        <p:nvSpPr>
          <p:cNvPr id="7" name="Rectangle 6">
            <a:extLst>
              <a:ext uri="{FF2B5EF4-FFF2-40B4-BE49-F238E27FC236}">
                <a16:creationId xmlns:a16="http://schemas.microsoft.com/office/drawing/2014/main" id="{1FD0E476-0409-43BD-9AA7-44AD98845FF8}"/>
              </a:ext>
            </a:extLst>
          </p:cNvPr>
          <p:cNvSpPr>
            <a:spLocks noGrp="1"/>
          </p:cNvSpPr>
          <p:nvPr/>
        </p:nvSpPr>
        <p:spPr>
          <a:xfrm>
            <a:off x="933450" y="2724150"/>
            <a:ext cx="2571750" cy="1257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250" b="1">
                <a:solidFill>
                  <a:srgbClr val="FFFFFF"/>
                </a:solidFill>
                <a:latin typeface="Aptos Display"/>
                <a:ea typeface="Aptos Display"/>
                <a:cs typeface="Aptos Display"/>
              </a:defRPr>
            </a:pPr>
            <a:r>
              <a:rPr sz="2250" b="1">
                <a:solidFill>
                  <a:srgbClr val="FFFFFF"/>
                </a:solidFill>
                <a:latin typeface="Aptos Display"/>
                <a:ea typeface="Aptos Display"/>
                <a:cs typeface="Aptos Display"/>
              </a:rPr>
              <a:t>Le hub IA</a:t>
            </a:r>
          </a:p>
          <a:p>
            <a:pPr algn="l">
              <a:defRPr sz="2250" b="1">
                <a:solidFill>
                  <a:srgbClr val="FFFFFF"/>
                </a:solidFill>
                <a:latin typeface="Aptos Display"/>
                <a:ea typeface="Aptos Display"/>
                <a:cs typeface="Aptos Display"/>
              </a:defRPr>
            </a:pPr>
            <a:r>
              <a:rPr sz="2250" b="1">
                <a:solidFill>
                  <a:srgbClr val="FFFFFF"/>
                </a:solidFill>
                <a:latin typeface="Aptos Display"/>
                <a:ea typeface="Aptos Display"/>
                <a:cs typeface="Aptos Display"/>
              </a:rPr>
              <a:t>opérationnel de</a:t>
            </a:r>
          </a:p>
          <a:p>
            <a:pPr algn="l">
              <a:defRPr sz="2250" b="1">
                <a:solidFill>
                  <a:srgbClr val="FFFFFF"/>
                </a:solidFill>
                <a:latin typeface="Aptos Display"/>
                <a:ea typeface="Aptos Display"/>
                <a:cs typeface="Aptos Display"/>
              </a:defRPr>
            </a:pPr>
            <a:r>
              <a:rPr sz="2250" b="1">
                <a:solidFill>
                  <a:srgbClr val="FFFFFF"/>
                </a:solidFill>
                <a:latin typeface="Aptos Display"/>
                <a:ea typeface="Aptos Display"/>
                <a:cs typeface="Aptos Display"/>
              </a:rPr>
              <a:t>Nettelecom CI</a:t>
            </a:r>
          </a:p>
        </p:txBody>
      </p:sp>
      <p:sp>
        <p:nvSpPr>
          <p:cNvPr id="8" name="Rectangle 7">
            <a:extLst>
              <a:ext uri="{FF2B5EF4-FFF2-40B4-BE49-F238E27FC236}">
                <a16:creationId xmlns:a16="http://schemas.microsoft.com/office/drawing/2014/main" id="{70C29F59-6F12-4327-9427-D759C9539BE0}"/>
              </a:ext>
            </a:extLst>
          </p:cNvPr>
          <p:cNvSpPr>
            <a:spLocks noGrp="1"/>
          </p:cNvSpPr>
          <p:nvPr/>
        </p:nvSpPr>
        <p:spPr>
          <a:xfrm>
            <a:off x="933450" y="3886200"/>
            <a:ext cx="2724150" cy="742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13" b="0">
                <a:solidFill>
                  <a:srgbClr val="D7E5F3"/>
                </a:solidFill>
                <a:latin typeface="Aptos"/>
                <a:ea typeface="Aptos"/>
                <a:cs typeface="Aptos"/>
              </a:defRPr>
            </a:pPr>
            <a:r>
              <a:rPr sz="1013" b="0">
                <a:solidFill>
                  <a:srgbClr val="D7E5F3"/>
                </a:solidFill>
                <a:latin typeface="Aptos"/>
                <a:ea typeface="Aptos"/>
                <a:cs typeface="Aptos"/>
              </a:rPr>
              <a:t>Nous positionnons TransferAI comme la structure qui relie stratégie, automatisation, data, formation et gouvernance pour transformer l'IA en exécution métier.</a:t>
            </a:r>
          </a:p>
        </p:txBody>
      </p:sp>
      <p:sp>
        <p:nvSpPr>
          <p:cNvPr id="9" name="Rectangle 8">
            <a:extLst>
              <a:ext uri="{FF2B5EF4-FFF2-40B4-BE49-F238E27FC236}">
                <a16:creationId xmlns:a16="http://schemas.microsoft.com/office/drawing/2014/main" id="{D8C5ED0C-330D-4C47-B00A-C6E754352AF8}"/>
              </a:ext>
            </a:extLst>
          </p:cNvPr>
          <p:cNvSpPr>
            <a:spLocks noGrp="1"/>
          </p:cNvSpPr>
          <p:nvPr/>
        </p:nvSpPr>
        <p:spPr>
          <a:xfrm>
            <a:off x="933450" y="4876800"/>
            <a:ext cx="2762250" cy="400050"/>
          </a:xfrm>
          <a:prstGeom prst="rect">
            <a:avLst/>
          </a:prstGeom>
          <a:solidFill>
            <a:srgbClr val="244667"/>
          </a:solidFill>
          <a:ln w="9525">
            <a:solidFill>
              <a:srgbClr val="244667"/>
            </a:solidFill>
            <a:prstDash val="solid"/>
          </a:ln>
        </p:spPr>
      </p:sp>
      <p:sp>
        <p:nvSpPr>
          <p:cNvPr id="10" name="Rectangle 9">
            <a:extLst>
              <a:ext uri="{FF2B5EF4-FFF2-40B4-BE49-F238E27FC236}">
                <a16:creationId xmlns:a16="http://schemas.microsoft.com/office/drawing/2014/main" id="{4C8272CB-B6D5-4D3F-96F9-FED66D79CD33}"/>
              </a:ext>
            </a:extLst>
          </p:cNvPr>
          <p:cNvSpPr>
            <a:spLocks noGrp="1"/>
          </p:cNvSpPr>
          <p:nvPr/>
        </p:nvSpPr>
        <p:spPr>
          <a:xfrm>
            <a:off x="1085850" y="4991100"/>
            <a:ext cx="24574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1">
                <a:solidFill>
                  <a:srgbClr val="FFFFFF"/>
                </a:solidFill>
                <a:latin typeface="Aptos"/>
                <a:ea typeface="Aptos"/>
                <a:cs typeface="Aptos"/>
              </a:defRPr>
            </a:pPr>
            <a:r>
              <a:rPr sz="825" b="1">
                <a:solidFill>
                  <a:srgbClr val="FFFFFF"/>
                </a:solidFill>
                <a:latin typeface="Aptos"/>
                <a:ea typeface="Aptos"/>
                <a:cs typeface="Aptos"/>
              </a:rPr>
              <a:t>Pour le prospect : un interlocuteur IA structuré, pas un simple catalogue.</a:t>
            </a:r>
          </a:p>
        </p:txBody>
      </p:sp>
      <p:sp>
        <p:nvSpPr>
          <p:cNvPr id="11" name="Rectangle 10">
            <a:extLst>
              <a:ext uri="{FF2B5EF4-FFF2-40B4-BE49-F238E27FC236}">
                <a16:creationId xmlns:a16="http://schemas.microsoft.com/office/drawing/2014/main" id="{8A04E945-016E-47BF-A671-6D4159A450E2}"/>
              </a:ext>
            </a:extLst>
          </p:cNvPr>
          <p:cNvSpPr>
            <a:spLocks noGrp="1"/>
          </p:cNvSpPr>
          <p:nvPr/>
        </p:nvSpPr>
        <p:spPr>
          <a:xfrm>
            <a:off x="5086350" y="2171700"/>
            <a:ext cx="2857500" cy="1409700"/>
          </a:xfrm>
          <a:prstGeom prst="rect">
            <a:avLst/>
          </a:prstGeom>
          <a:solidFill>
            <a:srgbClr val="FFFDFC"/>
          </a:solidFill>
          <a:ln w="9525">
            <a:solidFill>
              <a:srgbClr val="D7CEC3"/>
            </a:solidFill>
            <a:prstDash val="solid"/>
          </a:ln>
        </p:spPr>
      </p:sp>
      <p:sp>
        <p:nvSpPr>
          <p:cNvPr id="12" name="Oval 11">
            <a:extLst>
              <a:ext uri="{FF2B5EF4-FFF2-40B4-BE49-F238E27FC236}">
                <a16:creationId xmlns:a16="http://schemas.microsoft.com/office/drawing/2014/main" id="{FDA060ED-5D98-4EF5-9864-47C425EDA0EB}"/>
              </a:ext>
            </a:extLst>
          </p:cNvPr>
          <p:cNvSpPr>
            <a:spLocks noGrp="1"/>
          </p:cNvSpPr>
          <p:nvPr/>
        </p:nvSpPr>
        <p:spPr>
          <a:xfrm>
            <a:off x="5295900" y="2381250"/>
            <a:ext cx="419100" cy="419100"/>
          </a:xfrm>
          <a:prstGeom prst="ellipse">
            <a:avLst/>
          </a:prstGeom>
          <a:solidFill>
            <a:srgbClr val="E76F1D"/>
          </a:solidFill>
          <a:ln w="0">
            <a:solidFill>
              <a:srgbClr val="E76F1D"/>
            </a:solidFill>
            <a:prstDash val="solid"/>
          </a:ln>
        </p:spPr>
      </p:sp>
      <p:pic>
        <p:nvPicPr>
          <p:cNvPr id="13" name="Graphic 12"/>
          <p:cNvPicPr>
            <a:picLocks noChangeAspect="1"/>
          </p:cNvPicPr>
          <p:nvPr/>
        </p:nvPicPr>
        <p:blipFill>
          <a:blip>
            <a:extLst>
              <a:ext uri="{96DAC541-7B7A-43D3-8B79-37D633B846F1}">
                <asvg:svgBlip xmlns:asvg="http://schemas.microsoft.com/office/drawing/2016/SVG/main" r:embed="rId3"/>
              </a:ext>
            </a:extLst>
          </a:blip>
          <a:stretch/>
        </p:blipFill>
        <p:spPr>
          <a:xfrm>
            <a:off x="5391150" y="2476500"/>
            <a:ext cx="228600" cy="228600"/>
          </a:xfrm>
          <a:prstGeom prst="rect">
            <a:avLst/>
          </a:prstGeom>
        </p:spPr>
      </p:pic>
      <p:sp>
        <p:nvSpPr>
          <p:cNvPr id="14" name="Rectangle 13">
            <a:extLst>
              <a:ext uri="{FF2B5EF4-FFF2-40B4-BE49-F238E27FC236}">
                <a16:creationId xmlns:a16="http://schemas.microsoft.com/office/drawing/2014/main" id="{CDE93F90-771F-4FC0-A724-55E111ED2A29}"/>
              </a:ext>
            </a:extLst>
          </p:cNvPr>
          <p:cNvSpPr>
            <a:spLocks noGrp="1"/>
          </p:cNvSpPr>
          <p:nvPr/>
        </p:nvSpPr>
        <p:spPr>
          <a:xfrm>
            <a:off x="5829300" y="2381250"/>
            <a:ext cx="1714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13 experts en IA</a:t>
            </a:r>
          </a:p>
        </p:txBody>
      </p:sp>
      <p:sp>
        <p:nvSpPr>
          <p:cNvPr id="15" name="Rectangle 14">
            <a:extLst>
              <a:ext uri="{FF2B5EF4-FFF2-40B4-BE49-F238E27FC236}">
                <a16:creationId xmlns:a16="http://schemas.microsoft.com/office/drawing/2014/main" id="{C2F0AB5D-B7F8-44E5-8E10-1EC182FDF2DE}"/>
              </a:ext>
            </a:extLst>
          </p:cNvPr>
          <p:cNvSpPr>
            <a:spLocks noGrp="1"/>
          </p:cNvSpPr>
          <p:nvPr/>
        </p:nvSpPr>
        <p:spPr>
          <a:xfrm>
            <a:off x="5295900" y="2857500"/>
            <a:ext cx="2247900" cy="514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0">
                <a:solidFill>
                  <a:srgbClr val="1A3554"/>
                </a:solidFill>
                <a:latin typeface="Aptos"/>
                <a:ea typeface="Aptos"/>
                <a:cs typeface="Aptos"/>
              </a:defRPr>
            </a:pPr>
            <a:r>
              <a:rPr sz="938" b="0">
                <a:solidFill>
                  <a:srgbClr val="1A3554"/>
                </a:solidFill>
                <a:latin typeface="Aptos"/>
                <a:ea typeface="Aptos"/>
                <a:cs typeface="Aptos"/>
              </a:rPr>
              <a:t>Une équipe de 13 experts en IA, mobilisable sur des enjeux de diagnostic, d'automatisation, de pilotage, de formation et de gouvernance.</a:t>
            </a:r>
          </a:p>
        </p:txBody>
      </p:sp>
      <p:sp>
        <p:nvSpPr>
          <p:cNvPr id="16" name="Rectangle 15">
            <a:extLst>
              <a:ext uri="{FF2B5EF4-FFF2-40B4-BE49-F238E27FC236}">
                <a16:creationId xmlns:a16="http://schemas.microsoft.com/office/drawing/2014/main" id="{39005291-DEF6-4A03-97A4-6F838116573E}"/>
              </a:ext>
            </a:extLst>
          </p:cNvPr>
          <p:cNvSpPr>
            <a:spLocks noGrp="1"/>
          </p:cNvSpPr>
          <p:nvPr/>
        </p:nvSpPr>
        <p:spPr>
          <a:xfrm>
            <a:off x="8153400" y="2171700"/>
            <a:ext cx="3352800" cy="1409700"/>
          </a:xfrm>
          <a:prstGeom prst="rect">
            <a:avLst/>
          </a:prstGeom>
          <a:solidFill>
            <a:srgbClr val="FFFDFC"/>
          </a:solidFill>
          <a:ln w="9525">
            <a:solidFill>
              <a:srgbClr val="D7CEC3"/>
            </a:solidFill>
            <a:prstDash val="solid"/>
          </a:ln>
        </p:spPr>
      </p:sp>
      <p:sp>
        <p:nvSpPr>
          <p:cNvPr id="17" name="Oval 16">
            <a:extLst>
              <a:ext uri="{FF2B5EF4-FFF2-40B4-BE49-F238E27FC236}">
                <a16:creationId xmlns:a16="http://schemas.microsoft.com/office/drawing/2014/main" id="{31E79FFD-9595-46BA-9145-7C1CC09AF699}"/>
              </a:ext>
            </a:extLst>
          </p:cNvPr>
          <p:cNvSpPr>
            <a:spLocks noGrp="1"/>
          </p:cNvSpPr>
          <p:nvPr/>
        </p:nvSpPr>
        <p:spPr>
          <a:xfrm>
            <a:off x="8362950" y="2381250"/>
            <a:ext cx="419100" cy="419100"/>
          </a:xfrm>
          <a:prstGeom prst="ellipse">
            <a:avLst/>
          </a:prstGeom>
          <a:solidFill>
            <a:srgbClr val="1C8A78"/>
          </a:solidFill>
          <a:ln w="0">
            <a:solidFill>
              <a:srgbClr val="1C8A78"/>
            </a:solidFill>
            <a:prstDash val="solid"/>
          </a:ln>
        </p:spPr>
      </p:sp>
      <p:pic>
        <p:nvPicPr>
          <p:cNvPr id="18" name="Graphic 17"/>
          <p:cNvPicPr>
            <a:picLocks noChangeAspect="1"/>
          </p:cNvPicPr>
          <p:nvPr/>
        </p:nvPicPr>
        <p:blipFill>
          <a:blip>
            <a:extLst>
              <a:ext uri="{96DAC541-7B7A-43D3-8B79-37D633B846F1}">
                <asvg:svgBlip xmlns:asvg="http://schemas.microsoft.com/office/drawing/2016/SVG/main" r:embed="rId4"/>
              </a:ext>
            </a:extLst>
          </a:blip>
          <a:stretch/>
        </p:blipFill>
        <p:spPr>
          <a:xfrm>
            <a:off x="8458200" y="2476500"/>
            <a:ext cx="228600" cy="228600"/>
          </a:xfrm>
          <a:prstGeom prst="rect">
            <a:avLst/>
          </a:prstGeom>
        </p:spPr>
      </p:pic>
      <p:sp>
        <p:nvSpPr>
          <p:cNvPr id="19" name="Rectangle 18">
            <a:extLst>
              <a:ext uri="{FF2B5EF4-FFF2-40B4-BE49-F238E27FC236}">
                <a16:creationId xmlns:a16="http://schemas.microsoft.com/office/drawing/2014/main" id="{9E23CEBB-BDB2-4D8D-9CD1-58C387897F47}"/>
              </a:ext>
            </a:extLst>
          </p:cNvPr>
          <p:cNvSpPr>
            <a:spLocks noGrp="1"/>
          </p:cNvSpPr>
          <p:nvPr/>
        </p:nvSpPr>
        <p:spPr>
          <a:xfrm>
            <a:off x="8896350" y="2381250"/>
            <a:ext cx="219075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Différents secteurs couverts</a:t>
            </a:r>
          </a:p>
        </p:txBody>
      </p:sp>
      <p:sp>
        <p:nvSpPr>
          <p:cNvPr id="20" name="Rectangle 19">
            <a:extLst>
              <a:ext uri="{FF2B5EF4-FFF2-40B4-BE49-F238E27FC236}">
                <a16:creationId xmlns:a16="http://schemas.microsoft.com/office/drawing/2014/main" id="{98F74139-75FD-4B38-BDA6-D22CAC7372CE}"/>
              </a:ext>
            </a:extLst>
          </p:cNvPr>
          <p:cNvSpPr>
            <a:spLocks noGrp="1"/>
          </p:cNvSpPr>
          <p:nvPr/>
        </p:nvSpPr>
        <p:spPr>
          <a:xfrm>
            <a:off x="8362950" y="2857500"/>
            <a:ext cx="2743200" cy="514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0">
                <a:solidFill>
                  <a:srgbClr val="1A3554"/>
                </a:solidFill>
                <a:latin typeface="Aptos"/>
                <a:ea typeface="Aptos"/>
                <a:cs typeface="Aptos"/>
              </a:defRPr>
            </a:pPr>
            <a:r>
              <a:rPr sz="938" b="0">
                <a:solidFill>
                  <a:srgbClr val="1A3554"/>
                </a:solidFill>
                <a:latin typeface="Aptos"/>
                <a:ea typeface="Aptos"/>
                <a:cs typeface="Aptos"/>
              </a:rPr>
              <a:t>TransferAI rassemble des expertises IA appliquées dans différents secteurs d'activité, ce qui permet de relier les usages technologiques aux contraintes métier.</a:t>
            </a:r>
          </a:p>
        </p:txBody>
      </p:sp>
      <p:sp>
        <p:nvSpPr>
          <p:cNvPr id="21" name="Rectangle 20">
            <a:extLst>
              <a:ext uri="{FF2B5EF4-FFF2-40B4-BE49-F238E27FC236}">
                <a16:creationId xmlns:a16="http://schemas.microsoft.com/office/drawing/2014/main" id="{8B6C4E0E-B566-41E0-A6BC-65A883808831}"/>
              </a:ext>
            </a:extLst>
          </p:cNvPr>
          <p:cNvSpPr>
            <a:spLocks noGrp="1"/>
          </p:cNvSpPr>
          <p:nvPr/>
        </p:nvSpPr>
        <p:spPr>
          <a:xfrm>
            <a:off x="5086350" y="3790950"/>
            <a:ext cx="2857500" cy="1409700"/>
          </a:xfrm>
          <a:prstGeom prst="rect">
            <a:avLst/>
          </a:prstGeom>
          <a:solidFill>
            <a:srgbClr val="FFFDFC"/>
          </a:solidFill>
          <a:ln w="9525">
            <a:solidFill>
              <a:srgbClr val="D7CEC3"/>
            </a:solidFill>
            <a:prstDash val="solid"/>
          </a:ln>
        </p:spPr>
      </p:sp>
      <p:sp>
        <p:nvSpPr>
          <p:cNvPr id="22" name="Oval 21">
            <a:extLst>
              <a:ext uri="{FF2B5EF4-FFF2-40B4-BE49-F238E27FC236}">
                <a16:creationId xmlns:a16="http://schemas.microsoft.com/office/drawing/2014/main" id="{047B8A78-14A4-46FA-BB2B-3111B37867E2}"/>
              </a:ext>
            </a:extLst>
          </p:cNvPr>
          <p:cNvSpPr>
            <a:spLocks noGrp="1"/>
          </p:cNvSpPr>
          <p:nvPr/>
        </p:nvSpPr>
        <p:spPr>
          <a:xfrm>
            <a:off x="5295900" y="4000500"/>
            <a:ext cx="419100" cy="419100"/>
          </a:xfrm>
          <a:prstGeom prst="ellipse">
            <a:avLst/>
          </a:prstGeom>
          <a:solidFill>
            <a:srgbClr val="163556"/>
          </a:solidFill>
          <a:ln w="0">
            <a:solidFill>
              <a:srgbClr val="163556"/>
            </a:solidFill>
            <a:prstDash val="solid"/>
          </a:ln>
        </p:spPr>
      </p:sp>
      <p:pic>
        <p:nvPicPr>
          <p:cNvPr id="23" name="Graphic 22"/>
          <p:cNvPicPr>
            <a:picLocks noChangeAspect="1"/>
          </p:cNvPicPr>
          <p:nvPr/>
        </p:nvPicPr>
        <p:blipFill>
          <a:blip>
            <a:extLst>
              <a:ext uri="{96DAC541-7B7A-43D3-8B79-37D633B846F1}">
                <asvg:svgBlip xmlns:asvg="http://schemas.microsoft.com/office/drawing/2016/SVG/main" r:embed="rId5"/>
              </a:ext>
            </a:extLst>
          </a:blip>
          <a:stretch/>
        </p:blipFill>
        <p:spPr>
          <a:xfrm>
            <a:off x="5391150" y="4095750"/>
            <a:ext cx="228600" cy="228600"/>
          </a:xfrm>
          <a:prstGeom prst="rect">
            <a:avLst/>
          </a:prstGeom>
        </p:spPr>
      </p:pic>
      <p:sp>
        <p:nvSpPr>
          <p:cNvPr id="24" name="Rectangle 23">
            <a:extLst>
              <a:ext uri="{FF2B5EF4-FFF2-40B4-BE49-F238E27FC236}">
                <a16:creationId xmlns:a16="http://schemas.microsoft.com/office/drawing/2014/main" id="{F2B0D70B-C440-429E-B16E-82EAF1594112}"/>
              </a:ext>
            </a:extLst>
          </p:cNvPr>
          <p:cNvSpPr>
            <a:spLocks noGrp="1"/>
          </p:cNvSpPr>
          <p:nvPr/>
        </p:nvSpPr>
        <p:spPr>
          <a:xfrm>
            <a:off x="5829300" y="4000500"/>
            <a:ext cx="180975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Une logique d'exécution</a:t>
            </a:r>
          </a:p>
        </p:txBody>
      </p:sp>
      <p:sp>
        <p:nvSpPr>
          <p:cNvPr id="25" name="Rectangle 24">
            <a:extLst>
              <a:ext uri="{FF2B5EF4-FFF2-40B4-BE49-F238E27FC236}">
                <a16:creationId xmlns:a16="http://schemas.microsoft.com/office/drawing/2014/main" id="{57196A92-2CA5-40EF-95B4-1D784EEE9A46}"/>
              </a:ext>
            </a:extLst>
          </p:cNvPr>
          <p:cNvSpPr>
            <a:spLocks noGrp="1"/>
          </p:cNvSpPr>
          <p:nvPr/>
        </p:nvSpPr>
        <p:spPr>
          <a:xfrm>
            <a:off x="5295900" y="4476750"/>
            <a:ext cx="2247900" cy="533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0">
                <a:solidFill>
                  <a:srgbClr val="1A3554"/>
                </a:solidFill>
                <a:latin typeface="Aptos"/>
                <a:ea typeface="Aptos"/>
                <a:cs typeface="Aptos"/>
              </a:defRPr>
            </a:pPr>
            <a:r>
              <a:rPr sz="938" b="0">
                <a:solidFill>
                  <a:srgbClr val="1A3554"/>
                </a:solidFill>
                <a:latin typeface="Aptos"/>
                <a:ea typeface="Aptos"/>
                <a:cs typeface="Aptos"/>
              </a:rPr>
              <a:t>Notre rôle n'est pas seulement de présenter l'IA. Nous cadrons, priorisons, formons et transformons un besoin flou en pilote métier mesurable.</a:t>
            </a:r>
          </a:p>
        </p:txBody>
      </p:sp>
      <p:sp>
        <p:nvSpPr>
          <p:cNvPr id="26" name="Rectangle 25">
            <a:extLst>
              <a:ext uri="{FF2B5EF4-FFF2-40B4-BE49-F238E27FC236}">
                <a16:creationId xmlns:a16="http://schemas.microsoft.com/office/drawing/2014/main" id="{CF169E86-5843-4E48-9BCB-0442242034BD}"/>
              </a:ext>
            </a:extLst>
          </p:cNvPr>
          <p:cNvSpPr>
            <a:spLocks noGrp="1"/>
          </p:cNvSpPr>
          <p:nvPr/>
        </p:nvSpPr>
        <p:spPr>
          <a:xfrm>
            <a:off x="8153400" y="3790950"/>
            <a:ext cx="3352800" cy="1409700"/>
          </a:xfrm>
          <a:prstGeom prst="rect">
            <a:avLst/>
          </a:prstGeom>
          <a:solidFill>
            <a:srgbClr val="FFFDFC"/>
          </a:solidFill>
          <a:ln w="9525">
            <a:solidFill>
              <a:srgbClr val="D7CEC3"/>
            </a:solidFill>
            <a:prstDash val="solid"/>
          </a:ln>
        </p:spPr>
      </p:sp>
      <p:sp>
        <p:nvSpPr>
          <p:cNvPr id="27" name="Oval 26">
            <a:extLst>
              <a:ext uri="{FF2B5EF4-FFF2-40B4-BE49-F238E27FC236}">
                <a16:creationId xmlns:a16="http://schemas.microsoft.com/office/drawing/2014/main" id="{ED0FF2B7-7A20-48CC-85BB-6E6F43FCDC22}"/>
              </a:ext>
            </a:extLst>
          </p:cNvPr>
          <p:cNvSpPr>
            <a:spLocks noGrp="1"/>
          </p:cNvSpPr>
          <p:nvPr/>
        </p:nvSpPr>
        <p:spPr>
          <a:xfrm>
            <a:off x="8362950" y="4000500"/>
            <a:ext cx="419100" cy="419100"/>
          </a:xfrm>
          <a:prstGeom prst="ellipse">
            <a:avLst/>
          </a:prstGeom>
          <a:solidFill>
            <a:srgbClr val="C88C3A"/>
          </a:solidFill>
          <a:ln w="0">
            <a:solidFill>
              <a:srgbClr val="C88C3A"/>
            </a:solidFill>
            <a:prstDash val="solid"/>
          </a:ln>
        </p:spPr>
      </p:sp>
      <p:pic>
        <p:nvPicPr>
          <p:cNvPr id="28" name="Graphic 27"/>
          <p:cNvPicPr>
            <a:picLocks noChangeAspect="1"/>
          </p:cNvPicPr>
          <p:nvPr/>
        </p:nvPicPr>
        <p:blipFill>
          <a:blip>
            <a:extLst>
              <a:ext uri="{96DAC541-7B7A-43D3-8B79-37D633B846F1}">
                <asvg:svgBlip xmlns:asvg="http://schemas.microsoft.com/office/drawing/2016/SVG/main" r:embed="rId6"/>
              </a:ext>
            </a:extLst>
          </a:blip>
          <a:stretch/>
        </p:blipFill>
        <p:spPr>
          <a:xfrm>
            <a:off x="8458200" y="4095750"/>
            <a:ext cx="228600" cy="228600"/>
          </a:xfrm>
          <a:prstGeom prst="rect">
            <a:avLst/>
          </a:prstGeom>
        </p:spPr>
      </p:pic>
      <p:sp>
        <p:nvSpPr>
          <p:cNvPr id="29" name="Rectangle 28">
            <a:extLst>
              <a:ext uri="{FF2B5EF4-FFF2-40B4-BE49-F238E27FC236}">
                <a16:creationId xmlns:a16="http://schemas.microsoft.com/office/drawing/2014/main" id="{FF219E32-2E26-4F69-BAF7-6E8A670EF226}"/>
              </a:ext>
            </a:extLst>
          </p:cNvPr>
          <p:cNvSpPr>
            <a:spLocks noGrp="1"/>
          </p:cNvSpPr>
          <p:nvPr/>
        </p:nvSpPr>
        <p:spPr>
          <a:xfrm>
            <a:off x="8896350" y="4000500"/>
            <a:ext cx="22860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Un cadre compatible entreprise</a:t>
            </a:r>
          </a:p>
        </p:txBody>
      </p:sp>
      <p:sp>
        <p:nvSpPr>
          <p:cNvPr id="30" name="Rectangle 29">
            <a:extLst>
              <a:ext uri="{FF2B5EF4-FFF2-40B4-BE49-F238E27FC236}">
                <a16:creationId xmlns:a16="http://schemas.microsoft.com/office/drawing/2014/main" id="{12C7C1B5-9265-444F-981B-EBC9E0FDAC47}"/>
              </a:ext>
            </a:extLst>
          </p:cNvPr>
          <p:cNvSpPr>
            <a:spLocks noGrp="1"/>
          </p:cNvSpPr>
          <p:nvPr/>
        </p:nvSpPr>
        <p:spPr>
          <a:xfrm>
            <a:off x="8362950" y="4476750"/>
            <a:ext cx="2743200" cy="533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0">
                <a:solidFill>
                  <a:srgbClr val="1A3554"/>
                </a:solidFill>
                <a:latin typeface="Aptos"/>
                <a:ea typeface="Aptos"/>
                <a:cs typeface="Aptos"/>
              </a:defRPr>
            </a:pPr>
            <a:r>
              <a:rPr sz="938" b="0">
                <a:solidFill>
                  <a:srgbClr val="1A3554"/>
                </a:solidFill>
                <a:latin typeface="Aptos"/>
                <a:ea typeface="Aptos"/>
                <a:cs typeface="Aptos"/>
              </a:rPr>
              <a:t>Adossé à Nettelecom CI, TransferAI porte une approche sérieuse de la confidentialité, de la gouvernance des usages et de la supervision des pilotes.</a:t>
            </a:r>
          </a:p>
        </p:txBody>
      </p:sp>
      <p:sp>
        <p:nvSpPr>
          <p:cNvPr id="31" name="Rectangle 30">
            <a:extLst>
              <a:ext uri="{FF2B5EF4-FFF2-40B4-BE49-F238E27FC236}">
                <a16:creationId xmlns:a16="http://schemas.microsoft.com/office/drawing/2014/main" id="{235DE381-9A78-496F-AD48-FF588FBAEBA4}"/>
              </a:ext>
            </a:extLst>
          </p:cNvPr>
          <p:cNvSpPr>
            <a:spLocks noGrp="1"/>
          </p:cNvSpPr>
          <p:nvPr/>
        </p:nvSpPr>
        <p:spPr>
          <a:xfrm>
            <a:off x="685800" y="5638800"/>
            <a:ext cx="10820400" cy="476250"/>
          </a:xfrm>
          <a:prstGeom prst="rect">
            <a:avLst/>
          </a:prstGeom>
          <a:solidFill>
            <a:srgbClr val="FBF5EE"/>
          </a:solidFill>
          <a:ln w="9525">
            <a:solidFill>
              <a:srgbClr val="D7CEC3"/>
            </a:solidFill>
            <a:prstDash val="solid"/>
          </a:ln>
        </p:spPr>
      </p:sp>
      <p:sp>
        <p:nvSpPr>
          <p:cNvPr id="32" name="Rectangle 31">
            <a:extLst>
              <a:ext uri="{FF2B5EF4-FFF2-40B4-BE49-F238E27FC236}">
                <a16:creationId xmlns:a16="http://schemas.microsoft.com/office/drawing/2014/main" id="{E2F9F139-616F-42F8-A215-BFB69E3FC6BA}"/>
              </a:ext>
            </a:extLst>
          </p:cNvPr>
          <p:cNvSpPr>
            <a:spLocks noGrp="1"/>
          </p:cNvSpPr>
          <p:nvPr/>
        </p:nvSpPr>
        <p:spPr>
          <a:xfrm>
            <a:off x="895350" y="5810250"/>
            <a:ext cx="2095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E76F1D"/>
                </a:solidFill>
                <a:latin typeface="Aptos"/>
                <a:ea typeface="Aptos"/>
                <a:cs typeface="Aptos"/>
              </a:defRPr>
            </a:pPr>
            <a:r>
              <a:rPr sz="750" b="1">
                <a:solidFill>
                  <a:srgbClr val="E76F1D"/>
                </a:solidFill>
                <a:latin typeface="Aptos"/>
                <a:ea typeface="Aptos"/>
                <a:cs typeface="Aptos"/>
              </a:rPr>
              <a:t>Pourquoi l'ajouter tôt dans le deck</a:t>
            </a:r>
          </a:p>
        </p:txBody>
      </p:sp>
      <p:sp>
        <p:nvSpPr>
          <p:cNvPr id="33" name="Rectangle 32">
            <a:extLst>
              <a:ext uri="{FF2B5EF4-FFF2-40B4-BE49-F238E27FC236}">
                <a16:creationId xmlns:a16="http://schemas.microsoft.com/office/drawing/2014/main" id="{FFF94B44-A648-49E9-A2D6-D3E70645139D}"/>
              </a:ext>
            </a:extLst>
          </p:cNvPr>
          <p:cNvSpPr>
            <a:spLocks noGrp="1"/>
          </p:cNvSpPr>
          <p:nvPr/>
        </p:nvSpPr>
        <p:spPr>
          <a:xfrm>
            <a:off x="2952750" y="5772150"/>
            <a:ext cx="8191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1">
                <a:solidFill>
                  <a:srgbClr val="1A3554"/>
                </a:solidFill>
                <a:latin typeface="Aptos"/>
                <a:ea typeface="Aptos"/>
                <a:cs typeface="Aptos"/>
              </a:defRPr>
            </a:pPr>
            <a:r>
              <a:rPr sz="863" b="1">
                <a:solidFill>
                  <a:srgbClr val="1A3554"/>
                </a:solidFill>
                <a:latin typeface="Aptos"/>
                <a:ea typeface="Aptos"/>
                <a:cs typeface="Aptos"/>
              </a:rPr>
              <a:t>Avant de parler ROI et cas d'usage, le prospect doit voir que TransferAI est une entité crédible, portée par Nettelecom CI et soutenue par 13 experts IA.</a:t>
            </a:r>
          </a:p>
        </p:txBody>
      </p:sp>
      <p:sp>
        <p:nvSpPr>
          <p:cNvPr id="34" name="Rectangle 33">
            <a:extLst>
              <a:ext uri="{FF2B5EF4-FFF2-40B4-BE49-F238E27FC236}">
                <a16:creationId xmlns:a16="http://schemas.microsoft.com/office/drawing/2014/main" id="{0D4C71B3-8C68-48B7-B0BE-F192A8A444A5}"/>
              </a:ext>
            </a:extLst>
          </p:cNvPr>
          <p:cNvSpPr>
            <a:spLocks noGrp="1"/>
          </p:cNvSpPr>
          <p:nvPr/>
        </p:nvSpPr>
        <p:spPr>
          <a:xfrm>
            <a:off x="647700" y="6496050"/>
            <a:ext cx="10896600" cy="9525"/>
          </a:xfrm>
          <a:prstGeom prst="rect">
            <a:avLst/>
          </a:prstGeom>
          <a:solidFill>
            <a:srgbClr val="D7CEC3"/>
          </a:solidFill>
          <a:ln w="0">
            <a:solidFill>
              <a:srgbClr val="000000">
                <a:alpha val="0"/>
              </a:srgbClr>
            </a:solidFill>
            <a:prstDash val="solid"/>
          </a:ln>
        </p:spPr>
      </p:sp>
      <p:sp>
        <p:nvSpPr>
          <p:cNvPr id="35" name="Rectangle 34">
            <a:extLst>
              <a:ext uri="{FF2B5EF4-FFF2-40B4-BE49-F238E27FC236}">
                <a16:creationId xmlns:a16="http://schemas.microsoft.com/office/drawing/2014/main" id="{7B434C7E-453D-4F37-B109-6800E405E04E}"/>
              </a:ext>
            </a:extLst>
          </p:cNvPr>
          <p:cNvSpPr>
            <a:spLocks noGrp="1"/>
          </p:cNvSpPr>
          <p:nvPr/>
        </p:nvSpPr>
        <p:spPr>
          <a:xfrm>
            <a:off x="685800" y="6572250"/>
            <a:ext cx="8572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617086"/>
                </a:solidFill>
                <a:latin typeface="Aptos"/>
                <a:ea typeface="Aptos"/>
                <a:cs typeface="Aptos"/>
              </a:defRPr>
            </a:pPr>
            <a:r>
              <a:rPr sz="638" b="0">
                <a:solidFill>
                  <a:srgbClr val="617086"/>
                </a:solidFill>
                <a:latin typeface="Aptos"/>
                <a:ea typeface="Aptos"/>
                <a:cs typeface="Aptos"/>
              </a:rPr>
              <a:t>TransferAI | Hub IA de Nettelecom CI | Modèle deck institutionnel V3</a:t>
            </a:r>
          </a:p>
        </p:txBody>
      </p:sp>
      <p:sp>
        <p:nvSpPr>
          <p:cNvPr id="36" name="Rectangle 35">
            <a:extLst>
              <a:ext uri="{FF2B5EF4-FFF2-40B4-BE49-F238E27FC236}">
                <a16:creationId xmlns:a16="http://schemas.microsoft.com/office/drawing/2014/main" id="{E0683B18-DEA2-4E15-AB70-76F476123FE0}"/>
              </a:ext>
            </a:extLst>
          </p:cNvPr>
          <p:cNvSpPr>
            <a:spLocks noGrp="1"/>
          </p:cNvSpPr>
          <p:nvPr/>
        </p:nvSpPr>
        <p:spPr>
          <a:xfrm>
            <a:off x="11049000" y="6553200"/>
            <a:ext cx="3429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1A3554"/>
                </a:solidFill>
                <a:latin typeface="Aptos"/>
                <a:ea typeface="Aptos"/>
                <a:cs typeface="Aptos"/>
              </a:defRPr>
            </a:pPr>
            <a:r>
              <a:rPr sz="750" b="1">
                <a:solidFill>
                  <a:srgbClr val="1A3554"/>
                </a:solidFill>
                <a:latin typeface="Aptos"/>
                <a:ea typeface="Aptos"/>
                <a:cs typeface="Aptos"/>
              </a:rPr>
              <a:t>04</a:t>
            </a:r>
          </a:p>
        </p:txBody>
      </p:sp>
    </p:spTree>
    <p:extLst>
      <p:ext uri="{BB962C8B-B14F-4D97-AF65-F5344CB8AC3E}">
        <p14:creationId xmlns:p14="http://schemas.microsoft.com/office/powerpoint/2010/main" val="16412670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Rectangle 43">
            <a:extLst>
              <a:ext uri="{FF2B5EF4-FFF2-40B4-BE49-F238E27FC236}">
                <a16:creationId xmlns:a16="http://schemas.microsoft.com/office/drawing/2014/main" id="{C7499671-190D-470F-861A-BCDB7708A404}"/>
              </a:ext>
            </a:extLst>
          </p:cNvPr>
          <p:cNvSpPr>
            <a:spLocks noGrp="1"/>
          </p:cNvSpPr>
          <p:nvPr/>
        </p:nvSpPr>
        <p:spPr>
          <a:xfrm>
            <a:off x="0" y="0"/>
            <a:ext cx="12192000" cy="6858000"/>
          </a:xfrm>
          <a:prstGeom prst="rect">
            <a:avLst/>
          </a:prstGeom>
          <a:solidFill>
            <a:srgbClr val="F5EFE7"/>
          </a:solidFill>
          <a:ln w="0">
            <a:solidFill>
              <a:srgbClr val="000000">
                <a:alpha val="0"/>
              </a:srgbClr>
            </a:solidFill>
            <a:prstDash val="solid"/>
          </a:ln>
        </p:spPr>
      </p:sp>
      <p:sp>
        <p:nvSpPr>
          <p:cNvPr id="2" name="Rectangle 1">
            <a:extLst>
              <a:ext uri="{FF2B5EF4-FFF2-40B4-BE49-F238E27FC236}">
                <a16:creationId xmlns:a16="http://schemas.microsoft.com/office/drawing/2014/main" id="{5D1B45A5-95B7-488A-B433-8A636807C1FD}"/>
              </a:ext>
            </a:extLst>
          </p:cNvPr>
          <p:cNvSpPr>
            <a:spLocks noGrp="1"/>
          </p:cNvSpPr>
          <p:nvPr/>
        </p:nvSpPr>
        <p:spPr>
          <a:xfrm>
            <a:off x="685800" y="495300"/>
            <a:ext cx="2476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E76F1D"/>
                </a:solidFill>
                <a:latin typeface="Aptos"/>
                <a:ea typeface="Aptos"/>
                <a:cs typeface="Aptos"/>
              </a:defRPr>
            </a:pPr>
            <a:r>
              <a:rPr sz="788" b="1">
                <a:solidFill>
                  <a:srgbClr val="E76F1D"/>
                </a:solidFill>
                <a:latin typeface="Aptos"/>
                <a:ea typeface="Aptos"/>
                <a:cs typeface="Aptos"/>
              </a:rPr>
              <a:t>CONTEXTE PROSPECT</a:t>
            </a:r>
          </a:p>
        </p:txBody>
      </p:sp>
      <p:sp>
        <p:nvSpPr>
          <p:cNvPr id="3" name="Rectangle 2">
            <a:extLst>
              <a:ext uri="{FF2B5EF4-FFF2-40B4-BE49-F238E27FC236}">
                <a16:creationId xmlns:a16="http://schemas.microsoft.com/office/drawing/2014/main" id="{B053308D-B97E-45BE-A972-0AA0FDB42B55}"/>
              </a:ext>
            </a:extLst>
          </p:cNvPr>
          <p:cNvSpPr>
            <a:spLocks noGrp="1"/>
          </p:cNvSpPr>
          <p:nvPr/>
        </p:nvSpPr>
        <p:spPr>
          <a:xfrm>
            <a:off x="685800" y="819150"/>
            <a:ext cx="8572500" cy="800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550" b="1">
                <a:solidFill>
                  <a:srgbClr val="1A3554"/>
                </a:solidFill>
                <a:latin typeface="Aptos Display"/>
                <a:ea typeface="Aptos Display"/>
                <a:cs typeface="Aptos Display"/>
              </a:defRPr>
            </a:pPr>
            <a:r>
              <a:rPr sz="2550" b="1">
                <a:solidFill>
                  <a:srgbClr val="1A3554"/>
                </a:solidFill>
                <a:latin typeface="Aptos Display"/>
                <a:ea typeface="Aptos Display"/>
                <a:cs typeface="Aptos Display"/>
              </a:rPr>
              <a:t>Pourquoi cette proposition est adaptée à votre contexte</a:t>
            </a:r>
          </a:p>
        </p:txBody>
      </p:sp>
      <p:sp>
        <p:nvSpPr>
          <p:cNvPr id="4" name="Rectangle 3">
            <a:extLst>
              <a:ext uri="{FF2B5EF4-FFF2-40B4-BE49-F238E27FC236}">
                <a16:creationId xmlns:a16="http://schemas.microsoft.com/office/drawing/2014/main" id="{52EA4619-EED9-48C7-826F-44B98E13EAC3}"/>
              </a:ext>
            </a:extLst>
          </p:cNvPr>
          <p:cNvSpPr>
            <a:spLocks noGrp="1"/>
          </p:cNvSpPr>
          <p:nvPr/>
        </p:nvSpPr>
        <p:spPr>
          <a:xfrm>
            <a:off x="685800" y="1676400"/>
            <a:ext cx="904875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617086"/>
                </a:solidFill>
                <a:latin typeface="Aptos"/>
                <a:ea typeface="Aptos"/>
                <a:cs typeface="Aptos"/>
              </a:defRPr>
            </a:pPr>
            <a:r>
              <a:rPr sz="1050" b="0">
                <a:solidFill>
                  <a:srgbClr val="617086"/>
                </a:solidFill>
                <a:latin typeface="Aptos"/>
                <a:ea typeface="Aptos"/>
                <a:cs typeface="Aptos"/>
              </a:rPr>
              <a:t>L'objectif n'est pas d'ajouter un outil de plus. Il s'agit de mieux piloter, mieux coordonner et mieux diffuser l'information utile dans des flux qui coûtent du temps et de la discipline.</a:t>
            </a:r>
          </a:p>
        </p:txBody>
      </p:sp>
      <p:sp>
        <p:nvSpPr>
          <p:cNvPr id="5" name="Rectangle 4">
            <a:extLst>
              <a:ext uri="{FF2B5EF4-FFF2-40B4-BE49-F238E27FC236}">
                <a16:creationId xmlns:a16="http://schemas.microsoft.com/office/drawing/2014/main" id="{3C8CB927-2620-4EDD-81C9-65DD680ED62F}"/>
              </a:ext>
            </a:extLst>
          </p:cNvPr>
          <p:cNvSpPr>
            <a:spLocks noGrp="1"/>
          </p:cNvSpPr>
          <p:nvPr/>
        </p:nvSpPr>
        <p:spPr>
          <a:xfrm>
            <a:off x="685800" y="2362200"/>
            <a:ext cx="2571750" cy="1943100"/>
          </a:xfrm>
          <a:prstGeom prst="rect">
            <a:avLst/>
          </a:prstGeom>
          <a:solidFill>
            <a:srgbClr val="FFFDFC"/>
          </a:solidFill>
          <a:ln w="9525">
            <a:solidFill>
              <a:srgbClr val="D7CEC3"/>
            </a:solidFill>
            <a:prstDash val="solid"/>
          </a:ln>
        </p:spPr>
      </p:sp>
      <p:sp>
        <p:nvSpPr>
          <p:cNvPr id="6" name="Oval 5">
            <a:extLst>
              <a:ext uri="{FF2B5EF4-FFF2-40B4-BE49-F238E27FC236}">
                <a16:creationId xmlns:a16="http://schemas.microsoft.com/office/drawing/2014/main" id="{CBAD224F-B89F-4AB9-8F6A-5C25F01ECC4C}"/>
              </a:ext>
            </a:extLst>
          </p:cNvPr>
          <p:cNvSpPr>
            <a:spLocks noGrp="1"/>
          </p:cNvSpPr>
          <p:nvPr/>
        </p:nvSpPr>
        <p:spPr>
          <a:xfrm>
            <a:off x="857250" y="2533650"/>
            <a:ext cx="419100" cy="419100"/>
          </a:xfrm>
          <a:prstGeom prst="ellipse">
            <a:avLst/>
          </a:prstGeom>
          <a:solidFill>
            <a:srgbClr val="E76F1D"/>
          </a:solidFill>
          <a:ln w="0">
            <a:solidFill>
              <a:srgbClr val="E76F1D"/>
            </a:solidFill>
            <a:prstDash val="solid"/>
          </a:ln>
        </p:spPr>
      </p:sp>
      <p:pic>
        <p:nvPicPr>
          <p:cNvPr id="7" name="Graphic 6"/>
          <p:cNvPicPr>
            <a:picLocks noChangeAspect="1"/>
          </p:cNvPicPr>
          <p:nvPr/>
        </p:nvPicPr>
        <p:blipFill>
          <a:blip>
            <a:extLst>
              <a:ext uri="{96DAC541-7B7A-43D3-8B79-37D633B846F1}">
                <asvg:svgBlip xmlns:asvg="http://schemas.microsoft.com/office/drawing/2016/SVG/main" r:embed="rId3"/>
              </a:ext>
            </a:extLst>
          </a:blip>
          <a:stretch/>
        </p:blipFill>
        <p:spPr>
          <a:xfrm>
            <a:off x="952500" y="2628900"/>
            <a:ext cx="228600" cy="228600"/>
          </a:xfrm>
          <a:prstGeom prst="rect">
            <a:avLst/>
          </a:prstGeom>
        </p:spPr>
      </p:pic>
      <p:sp>
        <p:nvSpPr>
          <p:cNvPr id="8" name="Rectangle 7">
            <a:extLst>
              <a:ext uri="{FF2B5EF4-FFF2-40B4-BE49-F238E27FC236}">
                <a16:creationId xmlns:a16="http://schemas.microsoft.com/office/drawing/2014/main" id="{31468B3B-23E7-4689-BE3C-F1CFB4BA3B25}"/>
              </a:ext>
            </a:extLst>
          </p:cNvPr>
          <p:cNvSpPr>
            <a:spLocks noGrp="1"/>
          </p:cNvSpPr>
          <p:nvPr/>
        </p:nvSpPr>
        <p:spPr>
          <a:xfrm>
            <a:off x="1409700" y="2571750"/>
            <a:ext cx="165735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63" b="1">
                <a:solidFill>
                  <a:srgbClr val="1A3554"/>
                </a:solidFill>
                <a:latin typeface="Aptos Display"/>
                <a:ea typeface="Aptos Display"/>
                <a:cs typeface="Aptos Display"/>
              </a:defRPr>
            </a:pPr>
            <a:r>
              <a:rPr sz="1163" b="1">
                <a:solidFill>
                  <a:srgbClr val="1A3554"/>
                </a:solidFill>
                <a:latin typeface="Aptos Display"/>
                <a:ea typeface="Aptos Display"/>
                <a:cs typeface="Aptos Display"/>
              </a:rPr>
              <a:t>Comptes professionnels</a:t>
            </a:r>
          </a:p>
        </p:txBody>
      </p:sp>
      <p:sp>
        <p:nvSpPr>
          <p:cNvPr id="9" name="Rectangle 8">
            <a:extLst>
              <a:ext uri="{FF2B5EF4-FFF2-40B4-BE49-F238E27FC236}">
                <a16:creationId xmlns:a16="http://schemas.microsoft.com/office/drawing/2014/main" id="{13F0124A-9904-423E-8F58-431E9810F917}"/>
              </a:ext>
            </a:extLst>
          </p:cNvPr>
          <p:cNvSpPr>
            <a:spLocks noGrp="1"/>
          </p:cNvSpPr>
          <p:nvPr/>
        </p:nvSpPr>
        <p:spPr>
          <a:xfrm>
            <a:off x="895350" y="2990850"/>
            <a:ext cx="7620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E76F1D"/>
                </a:solidFill>
                <a:latin typeface="Aptos"/>
                <a:ea typeface="Aptos"/>
                <a:cs typeface="Aptos"/>
              </a:defRPr>
            </a:pPr>
            <a:r>
              <a:rPr sz="675" b="1">
                <a:solidFill>
                  <a:srgbClr val="E76F1D"/>
                </a:solidFill>
                <a:latin typeface="Aptos"/>
                <a:ea typeface="Aptos"/>
                <a:cs typeface="Aptos"/>
              </a:rPr>
              <a:t>AVANT</a:t>
            </a:r>
          </a:p>
        </p:txBody>
      </p:sp>
      <p:sp>
        <p:nvSpPr>
          <p:cNvPr id="10" name="Rectangle 9">
            <a:extLst>
              <a:ext uri="{FF2B5EF4-FFF2-40B4-BE49-F238E27FC236}">
                <a16:creationId xmlns:a16="http://schemas.microsoft.com/office/drawing/2014/main" id="{BE8A5B53-9B39-4798-91F6-7F10BFC5101A}"/>
              </a:ext>
            </a:extLst>
          </p:cNvPr>
          <p:cNvSpPr>
            <a:spLocks noGrp="1"/>
          </p:cNvSpPr>
          <p:nvPr/>
        </p:nvSpPr>
        <p:spPr>
          <a:xfrm>
            <a:off x="895350" y="3162300"/>
            <a:ext cx="215265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617086"/>
                </a:solidFill>
                <a:latin typeface="Aptos"/>
                <a:ea typeface="Aptos"/>
                <a:cs typeface="Aptos"/>
              </a:defRPr>
            </a:pPr>
            <a:r>
              <a:rPr sz="863" b="0">
                <a:solidFill>
                  <a:srgbClr val="617086"/>
                </a:solidFill>
                <a:latin typeface="Aptos"/>
                <a:ea typeface="Aptos"/>
                <a:cs typeface="Aptos"/>
              </a:rPr>
              <a:t>Revues de portefeuille, relances et suivi d'encaissement souvent préparés à la main.</a:t>
            </a:r>
          </a:p>
        </p:txBody>
      </p:sp>
      <p:sp>
        <p:nvSpPr>
          <p:cNvPr id="11" name="Rectangle 10">
            <a:extLst>
              <a:ext uri="{FF2B5EF4-FFF2-40B4-BE49-F238E27FC236}">
                <a16:creationId xmlns:a16="http://schemas.microsoft.com/office/drawing/2014/main" id="{29D6CE0F-FEEE-4614-8154-CF0A62C69A35}"/>
              </a:ext>
            </a:extLst>
          </p:cNvPr>
          <p:cNvSpPr>
            <a:spLocks noGrp="1"/>
          </p:cNvSpPr>
          <p:nvPr/>
        </p:nvSpPr>
        <p:spPr>
          <a:xfrm>
            <a:off x="895350" y="3600450"/>
            <a:ext cx="7620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1C8A78"/>
                </a:solidFill>
                <a:latin typeface="Aptos"/>
                <a:ea typeface="Aptos"/>
                <a:cs typeface="Aptos"/>
              </a:defRPr>
            </a:pPr>
            <a:r>
              <a:rPr sz="675" b="1">
                <a:solidFill>
                  <a:srgbClr val="1C8A78"/>
                </a:solidFill>
                <a:latin typeface="Aptos"/>
                <a:ea typeface="Aptos"/>
                <a:cs typeface="Aptos"/>
              </a:rPr>
              <a:t>APRÈS</a:t>
            </a:r>
          </a:p>
        </p:txBody>
      </p:sp>
      <p:sp>
        <p:nvSpPr>
          <p:cNvPr id="12" name="Rectangle 11">
            <a:extLst>
              <a:ext uri="{FF2B5EF4-FFF2-40B4-BE49-F238E27FC236}">
                <a16:creationId xmlns:a16="http://schemas.microsoft.com/office/drawing/2014/main" id="{FDC7279E-100C-4E40-9F62-C147D7D932F2}"/>
              </a:ext>
            </a:extLst>
          </p:cNvPr>
          <p:cNvSpPr>
            <a:spLocks noGrp="1"/>
          </p:cNvSpPr>
          <p:nvPr/>
        </p:nvSpPr>
        <p:spPr>
          <a:xfrm>
            <a:off x="895350" y="3771900"/>
            <a:ext cx="21526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A3554"/>
                </a:solidFill>
                <a:latin typeface="Aptos"/>
                <a:ea typeface="Aptos"/>
                <a:cs typeface="Aptos"/>
              </a:defRPr>
            </a:pPr>
            <a:r>
              <a:rPr sz="863" b="0" dirty="0" err="1">
                <a:solidFill>
                  <a:srgbClr val="1A3554"/>
                </a:solidFill>
                <a:latin typeface="Aptos"/>
                <a:ea typeface="Aptos"/>
                <a:cs typeface="Aptos"/>
              </a:rPr>
              <a:t>Portefeuille</a:t>
            </a:r>
            <a:r>
              <a:rPr sz="863" b="0" dirty="0">
                <a:solidFill>
                  <a:srgbClr val="1A3554"/>
                </a:solidFill>
                <a:latin typeface="Aptos"/>
                <a:ea typeface="Aptos"/>
                <a:cs typeface="Aptos"/>
              </a:rPr>
              <a:t> plus </a:t>
            </a:r>
            <a:r>
              <a:rPr sz="863" b="0" dirty="0" err="1">
                <a:solidFill>
                  <a:srgbClr val="1A3554"/>
                </a:solidFill>
                <a:latin typeface="Aptos"/>
                <a:ea typeface="Aptos"/>
                <a:cs typeface="Aptos"/>
              </a:rPr>
              <a:t>lisible</a:t>
            </a:r>
            <a:r>
              <a:rPr sz="863" b="0" dirty="0">
                <a:solidFill>
                  <a:srgbClr val="1A3554"/>
                </a:solidFill>
                <a:latin typeface="Aptos"/>
                <a:ea typeface="Aptos"/>
                <a:cs typeface="Aptos"/>
              </a:rPr>
              <a:t>, relances </a:t>
            </a:r>
            <a:r>
              <a:rPr sz="863" b="0" dirty="0" err="1">
                <a:solidFill>
                  <a:srgbClr val="1A3554"/>
                </a:solidFill>
                <a:latin typeface="Aptos"/>
                <a:ea typeface="Aptos"/>
                <a:cs typeface="Aptos"/>
              </a:rPr>
              <a:t>mieux</a:t>
            </a:r>
            <a:r>
              <a:rPr sz="863" b="0" dirty="0">
                <a:solidFill>
                  <a:srgbClr val="1A3554"/>
                </a:solidFill>
                <a:latin typeface="Aptos"/>
                <a:ea typeface="Aptos"/>
                <a:cs typeface="Aptos"/>
              </a:rPr>
              <a:t> </a:t>
            </a:r>
            <a:r>
              <a:rPr sz="863" b="0" dirty="0" err="1">
                <a:solidFill>
                  <a:srgbClr val="1A3554"/>
                </a:solidFill>
                <a:latin typeface="Aptos"/>
                <a:ea typeface="Aptos"/>
                <a:cs typeface="Aptos"/>
              </a:rPr>
              <a:t>priorisées</a:t>
            </a:r>
            <a:r>
              <a:rPr sz="863" b="0" dirty="0">
                <a:solidFill>
                  <a:srgbClr val="1A3554"/>
                </a:solidFill>
                <a:latin typeface="Aptos"/>
                <a:ea typeface="Aptos"/>
                <a:cs typeface="Aptos"/>
              </a:rPr>
              <a:t> et </a:t>
            </a:r>
            <a:r>
              <a:rPr sz="863" b="0" dirty="0" err="1">
                <a:solidFill>
                  <a:srgbClr val="1A3554"/>
                </a:solidFill>
                <a:latin typeface="Aptos"/>
                <a:ea typeface="Aptos"/>
                <a:cs typeface="Aptos"/>
              </a:rPr>
              <a:t>synthèses</a:t>
            </a:r>
            <a:r>
              <a:rPr sz="863" b="0" dirty="0">
                <a:solidFill>
                  <a:srgbClr val="1A3554"/>
                </a:solidFill>
                <a:latin typeface="Aptos"/>
                <a:ea typeface="Aptos"/>
                <a:cs typeface="Aptos"/>
              </a:rPr>
              <a:t> plus </a:t>
            </a:r>
            <a:r>
              <a:rPr sz="863" b="0" dirty="0" err="1">
                <a:solidFill>
                  <a:srgbClr val="1A3554"/>
                </a:solidFill>
                <a:latin typeface="Aptos"/>
                <a:ea typeface="Aptos"/>
                <a:cs typeface="Aptos"/>
              </a:rPr>
              <a:t>rapides</a:t>
            </a:r>
            <a:r>
              <a:rPr sz="863" b="0" dirty="0">
                <a:solidFill>
                  <a:srgbClr val="1A3554"/>
                </a:solidFill>
                <a:latin typeface="Aptos"/>
                <a:ea typeface="Aptos"/>
                <a:cs typeface="Aptos"/>
              </a:rPr>
              <a:t> pour la direction.</a:t>
            </a:r>
          </a:p>
        </p:txBody>
      </p:sp>
      <p:sp>
        <p:nvSpPr>
          <p:cNvPr id="13" name="Rectangle 12">
            <a:extLst>
              <a:ext uri="{FF2B5EF4-FFF2-40B4-BE49-F238E27FC236}">
                <a16:creationId xmlns:a16="http://schemas.microsoft.com/office/drawing/2014/main" id="{68FC46FE-3A6F-457E-80F2-2EC27216B470}"/>
              </a:ext>
            </a:extLst>
          </p:cNvPr>
          <p:cNvSpPr>
            <a:spLocks noGrp="1"/>
          </p:cNvSpPr>
          <p:nvPr/>
        </p:nvSpPr>
        <p:spPr>
          <a:xfrm>
            <a:off x="3448050" y="2362199"/>
            <a:ext cx="2571750" cy="1943099"/>
          </a:xfrm>
          <a:prstGeom prst="rect">
            <a:avLst/>
          </a:prstGeom>
          <a:solidFill>
            <a:srgbClr val="FFFDFC"/>
          </a:solidFill>
          <a:ln w="9525">
            <a:solidFill>
              <a:srgbClr val="D7CEC3"/>
            </a:solidFill>
            <a:prstDash val="solid"/>
          </a:ln>
        </p:spPr>
      </p:sp>
      <p:sp>
        <p:nvSpPr>
          <p:cNvPr id="14" name="Oval 13">
            <a:extLst>
              <a:ext uri="{FF2B5EF4-FFF2-40B4-BE49-F238E27FC236}">
                <a16:creationId xmlns:a16="http://schemas.microsoft.com/office/drawing/2014/main" id="{901F359A-584F-4DE8-8A9F-6079970A78DF}"/>
              </a:ext>
            </a:extLst>
          </p:cNvPr>
          <p:cNvSpPr>
            <a:spLocks noGrp="1"/>
          </p:cNvSpPr>
          <p:nvPr/>
        </p:nvSpPr>
        <p:spPr>
          <a:xfrm>
            <a:off x="3619500" y="2533650"/>
            <a:ext cx="419100" cy="419100"/>
          </a:xfrm>
          <a:prstGeom prst="ellipse">
            <a:avLst/>
          </a:prstGeom>
          <a:solidFill>
            <a:srgbClr val="1C8A78"/>
          </a:solidFill>
          <a:ln w="0">
            <a:solidFill>
              <a:srgbClr val="1C8A78"/>
            </a:solidFill>
            <a:prstDash val="solid"/>
          </a:ln>
        </p:spPr>
      </p:sp>
      <p:pic>
        <p:nvPicPr>
          <p:cNvPr id="15" name="Graphic 14"/>
          <p:cNvPicPr>
            <a:picLocks noChangeAspect="1"/>
          </p:cNvPicPr>
          <p:nvPr/>
        </p:nvPicPr>
        <p:blipFill>
          <a:blip>
            <a:extLst>
              <a:ext uri="{96DAC541-7B7A-43D3-8B79-37D633B846F1}">
                <asvg:svgBlip xmlns:asvg="http://schemas.microsoft.com/office/drawing/2016/SVG/main" r:embed="rId4"/>
              </a:ext>
            </a:extLst>
          </a:blip>
          <a:stretch/>
        </p:blipFill>
        <p:spPr>
          <a:xfrm>
            <a:off x="3714750" y="2628900"/>
            <a:ext cx="228600" cy="228600"/>
          </a:xfrm>
          <a:prstGeom prst="rect">
            <a:avLst/>
          </a:prstGeom>
        </p:spPr>
      </p:pic>
      <p:sp>
        <p:nvSpPr>
          <p:cNvPr id="16" name="Rectangle 15">
            <a:extLst>
              <a:ext uri="{FF2B5EF4-FFF2-40B4-BE49-F238E27FC236}">
                <a16:creationId xmlns:a16="http://schemas.microsoft.com/office/drawing/2014/main" id="{79DF1388-22E5-4679-96F5-6807CB71BAB5}"/>
              </a:ext>
            </a:extLst>
          </p:cNvPr>
          <p:cNvSpPr>
            <a:spLocks noGrp="1"/>
          </p:cNvSpPr>
          <p:nvPr/>
        </p:nvSpPr>
        <p:spPr>
          <a:xfrm>
            <a:off x="4171950" y="2571750"/>
            <a:ext cx="165735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63" b="1">
                <a:solidFill>
                  <a:srgbClr val="1A3554"/>
                </a:solidFill>
                <a:latin typeface="Aptos Display"/>
                <a:ea typeface="Aptos Display"/>
                <a:cs typeface="Aptos Display"/>
              </a:defRPr>
            </a:pPr>
            <a:r>
              <a:rPr sz="1163" b="1">
                <a:solidFill>
                  <a:srgbClr val="1A3554"/>
                </a:solidFill>
                <a:latin typeface="Aptos Display"/>
                <a:ea typeface="Aptos Display"/>
                <a:cs typeface="Aptos Display"/>
              </a:rPr>
              <a:t>Flotte et carburant</a:t>
            </a:r>
          </a:p>
        </p:txBody>
      </p:sp>
      <p:sp>
        <p:nvSpPr>
          <p:cNvPr id="17" name="Rectangle 16">
            <a:extLst>
              <a:ext uri="{FF2B5EF4-FFF2-40B4-BE49-F238E27FC236}">
                <a16:creationId xmlns:a16="http://schemas.microsoft.com/office/drawing/2014/main" id="{BCA574F2-7B9E-4B51-97CC-66F21BE35098}"/>
              </a:ext>
            </a:extLst>
          </p:cNvPr>
          <p:cNvSpPr>
            <a:spLocks noGrp="1"/>
          </p:cNvSpPr>
          <p:nvPr/>
        </p:nvSpPr>
        <p:spPr>
          <a:xfrm>
            <a:off x="3657600" y="2990850"/>
            <a:ext cx="7620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E76F1D"/>
                </a:solidFill>
                <a:latin typeface="Aptos"/>
                <a:ea typeface="Aptos"/>
                <a:cs typeface="Aptos"/>
              </a:defRPr>
            </a:pPr>
            <a:r>
              <a:rPr sz="675" b="1">
                <a:solidFill>
                  <a:srgbClr val="E76F1D"/>
                </a:solidFill>
                <a:latin typeface="Aptos"/>
                <a:ea typeface="Aptos"/>
                <a:cs typeface="Aptos"/>
              </a:rPr>
              <a:t>AVANT</a:t>
            </a:r>
          </a:p>
        </p:txBody>
      </p:sp>
      <p:sp>
        <p:nvSpPr>
          <p:cNvPr id="18" name="Rectangle 17">
            <a:extLst>
              <a:ext uri="{FF2B5EF4-FFF2-40B4-BE49-F238E27FC236}">
                <a16:creationId xmlns:a16="http://schemas.microsoft.com/office/drawing/2014/main" id="{9AB25C48-31A8-4739-B3D4-9FF482DD9037}"/>
              </a:ext>
            </a:extLst>
          </p:cNvPr>
          <p:cNvSpPr>
            <a:spLocks noGrp="1"/>
          </p:cNvSpPr>
          <p:nvPr/>
        </p:nvSpPr>
        <p:spPr>
          <a:xfrm>
            <a:off x="3657600" y="3162300"/>
            <a:ext cx="215265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617086"/>
                </a:solidFill>
                <a:latin typeface="Aptos"/>
                <a:ea typeface="Aptos"/>
                <a:cs typeface="Aptos"/>
              </a:defRPr>
            </a:pPr>
            <a:r>
              <a:rPr sz="863" b="0">
                <a:solidFill>
                  <a:srgbClr val="617086"/>
                </a:solidFill>
                <a:latin typeface="Aptos"/>
                <a:ea typeface="Aptos"/>
                <a:cs typeface="Aptos"/>
              </a:rPr>
              <a:t>Consommations, cartes et anomalies difficilement consolidées dans un même pilotage.</a:t>
            </a:r>
          </a:p>
        </p:txBody>
      </p:sp>
      <p:sp>
        <p:nvSpPr>
          <p:cNvPr id="19" name="Rectangle 18">
            <a:extLst>
              <a:ext uri="{FF2B5EF4-FFF2-40B4-BE49-F238E27FC236}">
                <a16:creationId xmlns:a16="http://schemas.microsoft.com/office/drawing/2014/main" id="{DA441A83-7656-4225-B9F7-C4268611A9EB}"/>
              </a:ext>
            </a:extLst>
          </p:cNvPr>
          <p:cNvSpPr>
            <a:spLocks noGrp="1"/>
          </p:cNvSpPr>
          <p:nvPr/>
        </p:nvSpPr>
        <p:spPr>
          <a:xfrm>
            <a:off x="3657600" y="3600450"/>
            <a:ext cx="7620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1C8A78"/>
                </a:solidFill>
                <a:latin typeface="Aptos"/>
                <a:ea typeface="Aptos"/>
                <a:cs typeface="Aptos"/>
              </a:defRPr>
            </a:pPr>
            <a:r>
              <a:rPr sz="675" b="1">
                <a:solidFill>
                  <a:srgbClr val="1C8A78"/>
                </a:solidFill>
                <a:latin typeface="Aptos"/>
                <a:ea typeface="Aptos"/>
                <a:cs typeface="Aptos"/>
              </a:rPr>
              <a:t>APRÈS</a:t>
            </a:r>
          </a:p>
        </p:txBody>
      </p:sp>
      <p:sp>
        <p:nvSpPr>
          <p:cNvPr id="20" name="Rectangle 19">
            <a:extLst>
              <a:ext uri="{FF2B5EF4-FFF2-40B4-BE49-F238E27FC236}">
                <a16:creationId xmlns:a16="http://schemas.microsoft.com/office/drawing/2014/main" id="{4459E538-D1B6-4B54-BC93-5F2E56A9DED1}"/>
              </a:ext>
            </a:extLst>
          </p:cNvPr>
          <p:cNvSpPr>
            <a:spLocks noGrp="1"/>
          </p:cNvSpPr>
          <p:nvPr/>
        </p:nvSpPr>
        <p:spPr>
          <a:xfrm>
            <a:off x="3657600" y="3771900"/>
            <a:ext cx="21526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A3554"/>
                </a:solidFill>
                <a:latin typeface="Aptos"/>
                <a:ea typeface="Aptos"/>
                <a:cs typeface="Aptos"/>
              </a:defRPr>
            </a:pPr>
            <a:r>
              <a:rPr sz="863" b="0">
                <a:solidFill>
                  <a:srgbClr val="1A3554"/>
                </a:solidFill>
                <a:latin typeface="Aptos"/>
                <a:ea typeface="Aptos"/>
                <a:cs typeface="Aptos"/>
              </a:rPr>
              <a:t>Suivi plus fiable des coûts, alertes sur écarts et comparaison par véhicule, site ou période.</a:t>
            </a:r>
          </a:p>
        </p:txBody>
      </p:sp>
      <p:sp>
        <p:nvSpPr>
          <p:cNvPr id="21" name="Rectangle 20">
            <a:extLst>
              <a:ext uri="{FF2B5EF4-FFF2-40B4-BE49-F238E27FC236}">
                <a16:creationId xmlns:a16="http://schemas.microsoft.com/office/drawing/2014/main" id="{FB7076E4-659A-44C5-875B-00395668B72A}"/>
              </a:ext>
            </a:extLst>
          </p:cNvPr>
          <p:cNvSpPr>
            <a:spLocks noGrp="1"/>
          </p:cNvSpPr>
          <p:nvPr/>
        </p:nvSpPr>
        <p:spPr>
          <a:xfrm>
            <a:off x="6210300" y="2362200"/>
            <a:ext cx="2571750" cy="1943098"/>
          </a:xfrm>
          <a:prstGeom prst="rect">
            <a:avLst/>
          </a:prstGeom>
          <a:solidFill>
            <a:srgbClr val="FFFDFC"/>
          </a:solidFill>
          <a:ln w="9525">
            <a:solidFill>
              <a:srgbClr val="D7CEC3"/>
            </a:solidFill>
            <a:prstDash val="solid"/>
          </a:ln>
        </p:spPr>
      </p:sp>
      <p:sp>
        <p:nvSpPr>
          <p:cNvPr id="22" name="Oval 21">
            <a:extLst>
              <a:ext uri="{FF2B5EF4-FFF2-40B4-BE49-F238E27FC236}">
                <a16:creationId xmlns:a16="http://schemas.microsoft.com/office/drawing/2014/main" id="{FA20ACDB-CF6D-4F7F-8B32-130ABDC6A601}"/>
              </a:ext>
            </a:extLst>
          </p:cNvPr>
          <p:cNvSpPr>
            <a:spLocks noGrp="1"/>
          </p:cNvSpPr>
          <p:nvPr/>
        </p:nvSpPr>
        <p:spPr>
          <a:xfrm>
            <a:off x="6381750" y="2533650"/>
            <a:ext cx="419100" cy="419100"/>
          </a:xfrm>
          <a:prstGeom prst="ellipse">
            <a:avLst/>
          </a:prstGeom>
          <a:solidFill>
            <a:srgbClr val="163556"/>
          </a:solidFill>
          <a:ln w="0">
            <a:solidFill>
              <a:srgbClr val="163556"/>
            </a:solidFill>
            <a:prstDash val="solid"/>
          </a:ln>
        </p:spPr>
      </p:sp>
      <p:pic>
        <p:nvPicPr>
          <p:cNvPr id="23" name="Graphic 22"/>
          <p:cNvPicPr>
            <a:picLocks noChangeAspect="1"/>
          </p:cNvPicPr>
          <p:nvPr/>
        </p:nvPicPr>
        <p:blipFill>
          <a:blip>
            <a:extLst>
              <a:ext uri="{96DAC541-7B7A-43D3-8B79-37D633B846F1}">
                <asvg:svgBlip xmlns:asvg="http://schemas.microsoft.com/office/drawing/2016/SVG/main" r:embed="rId5"/>
              </a:ext>
            </a:extLst>
          </a:blip>
          <a:stretch/>
        </p:blipFill>
        <p:spPr>
          <a:xfrm>
            <a:off x="6477000" y="2628900"/>
            <a:ext cx="228600" cy="228600"/>
          </a:xfrm>
          <a:prstGeom prst="rect">
            <a:avLst/>
          </a:prstGeom>
        </p:spPr>
      </p:pic>
      <p:sp>
        <p:nvSpPr>
          <p:cNvPr id="24" name="Rectangle 23">
            <a:extLst>
              <a:ext uri="{FF2B5EF4-FFF2-40B4-BE49-F238E27FC236}">
                <a16:creationId xmlns:a16="http://schemas.microsoft.com/office/drawing/2014/main" id="{B550C035-290B-456B-A1F5-7B7F6273BF8F}"/>
              </a:ext>
            </a:extLst>
          </p:cNvPr>
          <p:cNvSpPr>
            <a:spLocks noGrp="1"/>
          </p:cNvSpPr>
          <p:nvPr/>
        </p:nvSpPr>
        <p:spPr>
          <a:xfrm>
            <a:off x="6934200" y="2571750"/>
            <a:ext cx="165735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63" b="1">
                <a:solidFill>
                  <a:srgbClr val="1A3554"/>
                </a:solidFill>
                <a:latin typeface="Aptos Display"/>
                <a:ea typeface="Aptos Display"/>
                <a:cs typeface="Aptos Display"/>
              </a:defRPr>
            </a:pPr>
            <a:r>
              <a:rPr sz="1163" b="1">
                <a:solidFill>
                  <a:srgbClr val="1A3554"/>
                </a:solidFill>
                <a:latin typeface="Aptos Display"/>
                <a:ea typeface="Aptos Display"/>
                <a:cs typeface="Aptos Display"/>
              </a:rPr>
              <a:t>Service client / auto</a:t>
            </a:r>
          </a:p>
        </p:txBody>
      </p:sp>
      <p:sp>
        <p:nvSpPr>
          <p:cNvPr id="25" name="Rectangle 24">
            <a:extLst>
              <a:ext uri="{FF2B5EF4-FFF2-40B4-BE49-F238E27FC236}">
                <a16:creationId xmlns:a16="http://schemas.microsoft.com/office/drawing/2014/main" id="{AF0A7DEF-AA12-4F71-945D-6C581F465979}"/>
              </a:ext>
            </a:extLst>
          </p:cNvPr>
          <p:cNvSpPr>
            <a:spLocks noGrp="1"/>
          </p:cNvSpPr>
          <p:nvPr/>
        </p:nvSpPr>
        <p:spPr>
          <a:xfrm>
            <a:off x="6419850" y="2990850"/>
            <a:ext cx="7620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E76F1D"/>
                </a:solidFill>
                <a:latin typeface="Aptos"/>
                <a:ea typeface="Aptos"/>
                <a:cs typeface="Aptos"/>
              </a:defRPr>
            </a:pPr>
            <a:r>
              <a:rPr sz="675" b="1">
                <a:solidFill>
                  <a:srgbClr val="E76F1D"/>
                </a:solidFill>
                <a:latin typeface="Aptos"/>
                <a:ea typeface="Aptos"/>
                <a:cs typeface="Aptos"/>
              </a:rPr>
              <a:t>AVANT</a:t>
            </a:r>
          </a:p>
        </p:txBody>
      </p:sp>
      <p:sp>
        <p:nvSpPr>
          <p:cNvPr id="26" name="Rectangle 25">
            <a:extLst>
              <a:ext uri="{FF2B5EF4-FFF2-40B4-BE49-F238E27FC236}">
                <a16:creationId xmlns:a16="http://schemas.microsoft.com/office/drawing/2014/main" id="{451154CB-3C0B-4F75-9A72-6B3C003BF27E}"/>
              </a:ext>
            </a:extLst>
          </p:cNvPr>
          <p:cNvSpPr>
            <a:spLocks noGrp="1"/>
          </p:cNvSpPr>
          <p:nvPr/>
        </p:nvSpPr>
        <p:spPr>
          <a:xfrm>
            <a:off x="6419850" y="3162300"/>
            <a:ext cx="215265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617086"/>
                </a:solidFill>
                <a:latin typeface="Aptos"/>
                <a:ea typeface="Aptos"/>
                <a:cs typeface="Aptos"/>
              </a:defRPr>
            </a:pPr>
            <a:r>
              <a:rPr sz="863" b="0">
                <a:solidFill>
                  <a:srgbClr val="617086"/>
                </a:solidFill>
                <a:latin typeface="Aptos"/>
                <a:ea typeface="Aptos"/>
                <a:cs typeface="Aptos"/>
              </a:rPr>
              <a:t>Rappels, demandes et réponses pas toujours homogènes ni suffisamment tracés.</a:t>
            </a:r>
          </a:p>
        </p:txBody>
      </p:sp>
      <p:sp>
        <p:nvSpPr>
          <p:cNvPr id="27" name="Rectangle 26">
            <a:extLst>
              <a:ext uri="{FF2B5EF4-FFF2-40B4-BE49-F238E27FC236}">
                <a16:creationId xmlns:a16="http://schemas.microsoft.com/office/drawing/2014/main" id="{9D9D65E5-3757-4342-9FB3-8450B878E58B}"/>
              </a:ext>
            </a:extLst>
          </p:cNvPr>
          <p:cNvSpPr>
            <a:spLocks noGrp="1"/>
          </p:cNvSpPr>
          <p:nvPr/>
        </p:nvSpPr>
        <p:spPr>
          <a:xfrm>
            <a:off x="6419850" y="3600450"/>
            <a:ext cx="7620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1C8A78"/>
                </a:solidFill>
                <a:latin typeface="Aptos"/>
                <a:ea typeface="Aptos"/>
                <a:cs typeface="Aptos"/>
              </a:defRPr>
            </a:pPr>
            <a:r>
              <a:rPr sz="675" b="1">
                <a:solidFill>
                  <a:srgbClr val="1C8A78"/>
                </a:solidFill>
                <a:latin typeface="Aptos"/>
                <a:ea typeface="Aptos"/>
                <a:cs typeface="Aptos"/>
              </a:rPr>
              <a:t>APRÈS</a:t>
            </a:r>
          </a:p>
        </p:txBody>
      </p:sp>
      <p:sp>
        <p:nvSpPr>
          <p:cNvPr id="28" name="Rectangle 27">
            <a:extLst>
              <a:ext uri="{FF2B5EF4-FFF2-40B4-BE49-F238E27FC236}">
                <a16:creationId xmlns:a16="http://schemas.microsoft.com/office/drawing/2014/main" id="{78957926-7866-451E-B301-7548194FD64E}"/>
              </a:ext>
            </a:extLst>
          </p:cNvPr>
          <p:cNvSpPr>
            <a:spLocks noGrp="1"/>
          </p:cNvSpPr>
          <p:nvPr/>
        </p:nvSpPr>
        <p:spPr>
          <a:xfrm>
            <a:off x="6419850" y="3771900"/>
            <a:ext cx="21526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A3554"/>
                </a:solidFill>
                <a:latin typeface="Aptos"/>
                <a:ea typeface="Aptos"/>
                <a:cs typeface="Aptos"/>
              </a:defRPr>
            </a:pPr>
            <a:r>
              <a:rPr sz="863" b="0">
                <a:solidFill>
                  <a:srgbClr val="1A3554"/>
                </a:solidFill>
                <a:latin typeface="Aptos"/>
                <a:ea typeface="Aptos"/>
                <a:cs typeface="Aptos"/>
              </a:rPr>
              <a:t>Réponses plus rapides, scripts mieux cadrés et meilleure continuité dans le suivi client.</a:t>
            </a:r>
          </a:p>
        </p:txBody>
      </p:sp>
      <p:sp>
        <p:nvSpPr>
          <p:cNvPr id="29" name="Rectangle 28">
            <a:extLst>
              <a:ext uri="{FF2B5EF4-FFF2-40B4-BE49-F238E27FC236}">
                <a16:creationId xmlns:a16="http://schemas.microsoft.com/office/drawing/2014/main" id="{BA8376A4-879A-4D93-9BDC-32A0060609BF}"/>
              </a:ext>
            </a:extLst>
          </p:cNvPr>
          <p:cNvSpPr>
            <a:spLocks noGrp="1"/>
          </p:cNvSpPr>
          <p:nvPr/>
        </p:nvSpPr>
        <p:spPr>
          <a:xfrm>
            <a:off x="8972550" y="2362199"/>
            <a:ext cx="2533650" cy="1943097"/>
          </a:xfrm>
          <a:prstGeom prst="rect">
            <a:avLst/>
          </a:prstGeom>
          <a:solidFill>
            <a:srgbClr val="FFFDFC"/>
          </a:solidFill>
          <a:ln w="9525">
            <a:solidFill>
              <a:srgbClr val="D7CEC3"/>
            </a:solidFill>
            <a:prstDash val="solid"/>
          </a:ln>
        </p:spPr>
      </p:sp>
      <p:sp>
        <p:nvSpPr>
          <p:cNvPr id="30" name="Oval 29">
            <a:extLst>
              <a:ext uri="{FF2B5EF4-FFF2-40B4-BE49-F238E27FC236}">
                <a16:creationId xmlns:a16="http://schemas.microsoft.com/office/drawing/2014/main" id="{90FAE331-4F5C-496D-93BD-B61FA0BEBC72}"/>
              </a:ext>
            </a:extLst>
          </p:cNvPr>
          <p:cNvSpPr>
            <a:spLocks noGrp="1"/>
          </p:cNvSpPr>
          <p:nvPr/>
        </p:nvSpPr>
        <p:spPr>
          <a:xfrm>
            <a:off x="9144000" y="2533650"/>
            <a:ext cx="419100" cy="419100"/>
          </a:xfrm>
          <a:prstGeom prst="ellipse">
            <a:avLst/>
          </a:prstGeom>
          <a:solidFill>
            <a:srgbClr val="C88C3A"/>
          </a:solidFill>
          <a:ln w="0">
            <a:solidFill>
              <a:srgbClr val="C88C3A"/>
            </a:solidFill>
            <a:prstDash val="solid"/>
          </a:ln>
        </p:spPr>
      </p:sp>
      <p:pic>
        <p:nvPicPr>
          <p:cNvPr id="31" name="Graphic 30"/>
          <p:cNvPicPr>
            <a:picLocks noChangeAspect="1"/>
          </p:cNvPicPr>
          <p:nvPr/>
        </p:nvPicPr>
        <p:blipFill>
          <a:blip>
            <a:extLst>
              <a:ext uri="{96DAC541-7B7A-43D3-8B79-37D633B846F1}">
                <asvg:svgBlip xmlns:asvg="http://schemas.microsoft.com/office/drawing/2016/SVG/main" r:embed="rId6"/>
              </a:ext>
            </a:extLst>
          </a:blip>
          <a:stretch/>
        </p:blipFill>
        <p:spPr>
          <a:xfrm>
            <a:off x="9239250" y="2628900"/>
            <a:ext cx="228600" cy="228600"/>
          </a:xfrm>
          <a:prstGeom prst="rect">
            <a:avLst/>
          </a:prstGeom>
        </p:spPr>
      </p:pic>
      <p:sp>
        <p:nvSpPr>
          <p:cNvPr id="32" name="Rectangle 31">
            <a:extLst>
              <a:ext uri="{FF2B5EF4-FFF2-40B4-BE49-F238E27FC236}">
                <a16:creationId xmlns:a16="http://schemas.microsoft.com/office/drawing/2014/main" id="{FA992189-8313-4489-B031-F511F0E889ED}"/>
              </a:ext>
            </a:extLst>
          </p:cNvPr>
          <p:cNvSpPr>
            <a:spLocks noGrp="1"/>
          </p:cNvSpPr>
          <p:nvPr/>
        </p:nvSpPr>
        <p:spPr>
          <a:xfrm>
            <a:off x="9696450" y="2571750"/>
            <a:ext cx="161925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63" b="1">
                <a:solidFill>
                  <a:srgbClr val="1A3554"/>
                </a:solidFill>
                <a:latin typeface="Aptos Display"/>
                <a:ea typeface="Aptos Display"/>
                <a:cs typeface="Aptos Display"/>
              </a:defRPr>
            </a:pPr>
            <a:r>
              <a:rPr sz="1163" b="1">
                <a:solidFill>
                  <a:srgbClr val="1A3554"/>
                </a:solidFill>
                <a:latin typeface="Aptos Display"/>
                <a:ea typeface="Aptos Display"/>
                <a:cs typeface="Aptos Display"/>
              </a:rPr>
              <a:t>Procédures internes</a:t>
            </a:r>
          </a:p>
        </p:txBody>
      </p:sp>
      <p:sp>
        <p:nvSpPr>
          <p:cNvPr id="33" name="Rectangle 32">
            <a:extLst>
              <a:ext uri="{FF2B5EF4-FFF2-40B4-BE49-F238E27FC236}">
                <a16:creationId xmlns:a16="http://schemas.microsoft.com/office/drawing/2014/main" id="{2EEF18BD-1EA8-4781-A78A-6B6E972556E1}"/>
              </a:ext>
            </a:extLst>
          </p:cNvPr>
          <p:cNvSpPr>
            <a:spLocks noGrp="1"/>
          </p:cNvSpPr>
          <p:nvPr/>
        </p:nvSpPr>
        <p:spPr>
          <a:xfrm>
            <a:off x="9182100" y="2990850"/>
            <a:ext cx="7620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E76F1D"/>
                </a:solidFill>
                <a:latin typeface="Aptos"/>
                <a:ea typeface="Aptos"/>
                <a:cs typeface="Aptos"/>
              </a:defRPr>
            </a:pPr>
            <a:r>
              <a:rPr sz="675" b="1">
                <a:solidFill>
                  <a:srgbClr val="E76F1D"/>
                </a:solidFill>
                <a:latin typeface="Aptos"/>
                <a:ea typeface="Aptos"/>
                <a:cs typeface="Aptos"/>
              </a:rPr>
              <a:t>AVANT</a:t>
            </a:r>
          </a:p>
        </p:txBody>
      </p:sp>
      <p:sp>
        <p:nvSpPr>
          <p:cNvPr id="34" name="Rectangle 33">
            <a:extLst>
              <a:ext uri="{FF2B5EF4-FFF2-40B4-BE49-F238E27FC236}">
                <a16:creationId xmlns:a16="http://schemas.microsoft.com/office/drawing/2014/main" id="{BE8A0D65-11A7-40BA-BFEF-A59D12D7817A}"/>
              </a:ext>
            </a:extLst>
          </p:cNvPr>
          <p:cNvSpPr>
            <a:spLocks noGrp="1"/>
          </p:cNvSpPr>
          <p:nvPr/>
        </p:nvSpPr>
        <p:spPr>
          <a:xfrm>
            <a:off x="9182100" y="3162300"/>
            <a:ext cx="211455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617086"/>
                </a:solidFill>
                <a:latin typeface="Aptos"/>
                <a:ea typeface="Aptos"/>
                <a:cs typeface="Aptos"/>
              </a:defRPr>
            </a:pPr>
            <a:r>
              <a:rPr sz="863" b="0">
                <a:solidFill>
                  <a:srgbClr val="617086"/>
                </a:solidFill>
                <a:latin typeface="Aptos"/>
                <a:ea typeface="Aptos"/>
                <a:cs typeface="Aptos"/>
              </a:rPr>
              <a:t>Les bonnes pratiques existent, mais restent dispersées dans les équipes et les documents.</a:t>
            </a:r>
          </a:p>
        </p:txBody>
      </p:sp>
      <p:sp>
        <p:nvSpPr>
          <p:cNvPr id="35" name="Rectangle 34">
            <a:extLst>
              <a:ext uri="{FF2B5EF4-FFF2-40B4-BE49-F238E27FC236}">
                <a16:creationId xmlns:a16="http://schemas.microsoft.com/office/drawing/2014/main" id="{F06A0A8D-B743-4BCB-A89E-000BC9E6FDDA}"/>
              </a:ext>
            </a:extLst>
          </p:cNvPr>
          <p:cNvSpPr>
            <a:spLocks noGrp="1"/>
          </p:cNvSpPr>
          <p:nvPr/>
        </p:nvSpPr>
        <p:spPr>
          <a:xfrm>
            <a:off x="9182100" y="3600450"/>
            <a:ext cx="7620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1C8A78"/>
                </a:solidFill>
                <a:latin typeface="Aptos"/>
                <a:ea typeface="Aptos"/>
                <a:cs typeface="Aptos"/>
              </a:defRPr>
            </a:pPr>
            <a:r>
              <a:rPr sz="675" b="1">
                <a:solidFill>
                  <a:srgbClr val="1C8A78"/>
                </a:solidFill>
                <a:latin typeface="Aptos"/>
                <a:ea typeface="Aptos"/>
                <a:cs typeface="Aptos"/>
              </a:rPr>
              <a:t>APRÈS</a:t>
            </a:r>
          </a:p>
        </p:txBody>
      </p:sp>
      <p:sp>
        <p:nvSpPr>
          <p:cNvPr id="36" name="Rectangle 35">
            <a:extLst>
              <a:ext uri="{FF2B5EF4-FFF2-40B4-BE49-F238E27FC236}">
                <a16:creationId xmlns:a16="http://schemas.microsoft.com/office/drawing/2014/main" id="{55727B0F-3D50-4817-BF0E-905BA84F8946}"/>
              </a:ext>
            </a:extLst>
          </p:cNvPr>
          <p:cNvSpPr>
            <a:spLocks noGrp="1"/>
          </p:cNvSpPr>
          <p:nvPr/>
        </p:nvSpPr>
        <p:spPr>
          <a:xfrm>
            <a:off x="9182100" y="3771900"/>
            <a:ext cx="21145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A3554"/>
                </a:solidFill>
                <a:latin typeface="Aptos"/>
                <a:ea typeface="Aptos"/>
                <a:cs typeface="Aptos"/>
              </a:defRPr>
            </a:pPr>
            <a:r>
              <a:rPr sz="863" b="0" dirty="0" err="1">
                <a:solidFill>
                  <a:srgbClr val="1A3554"/>
                </a:solidFill>
                <a:latin typeface="Aptos"/>
                <a:ea typeface="Aptos"/>
                <a:cs typeface="Aptos"/>
              </a:rPr>
              <a:t>Accès</a:t>
            </a:r>
            <a:r>
              <a:rPr sz="863" b="0" dirty="0">
                <a:solidFill>
                  <a:srgbClr val="1A3554"/>
                </a:solidFill>
                <a:latin typeface="Aptos"/>
                <a:ea typeface="Aptos"/>
                <a:cs typeface="Aptos"/>
              </a:rPr>
              <a:t> plus </a:t>
            </a:r>
            <a:r>
              <a:rPr sz="863" b="0" dirty="0" err="1">
                <a:solidFill>
                  <a:srgbClr val="1A3554"/>
                </a:solidFill>
                <a:latin typeface="Aptos"/>
                <a:ea typeface="Aptos"/>
                <a:cs typeface="Aptos"/>
              </a:rPr>
              <a:t>rapide</a:t>
            </a:r>
            <a:r>
              <a:rPr sz="863" b="0" dirty="0">
                <a:solidFill>
                  <a:srgbClr val="1A3554"/>
                </a:solidFill>
                <a:latin typeface="Aptos"/>
                <a:ea typeface="Aptos"/>
                <a:cs typeface="Aptos"/>
              </a:rPr>
              <a:t> aux </a:t>
            </a:r>
            <a:r>
              <a:rPr sz="863" b="0" dirty="0" err="1">
                <a:solidFill>
                  <a:srgbClr val="1A3554"/>
                </a:solidFill>
                <a:latin typeface="Aptos"/>
                <a:ea typeface="Aptos"/>
                <a:cs typeface="Aptos"/>
              </a:rPr>
              <a:t>procédures</a:t>
            </a:r>
            <a:r>
              <a:rPr sz="863" b="0" dirty="0">
                <a:solidFill>
                  <a:srgbClr val="1A3554"/>
                </a:solidFill>
                <a:latin typeface="Aptos"/>
                <a:ea typeface="Aptos"/>
                <a:cs typeface="Aptos"/>
              </a:rPr>
              <a:t>, onboarding plus court et </a:t>
            </a:r>
            <a:r>
              <a:rPr sz="863" b="0" dirty="0" err="1">
                <a:solidFill>
                  <a:srgbClr val="1A3554"/>
                </a:solidFill>
                <a:latin typeface="Aptos"/>
                <a:ea typeface="Aptos"/>
                <a:cs typeface="Aptos"/>
              </a:rPr>
              <a:t>exécution</a:t>
            </a:r>
            <a:r>
              <a:rPr sz="863" b="0" dirty="0">
                <a:solidFill>
                  <a:srgbClr val="1A3554"/>
                </a:solidFill>
                <a:latin typeface="Aptos"/>
                <a:ea typeface="Aptos"/>
                <a:cs typeface="Aptos"/>
              </a:rPr>
              <a:t> plus </a:t>
            </a:r>
            <a:r>
              <a:rPr sz="863" b="0" dirty="0" err="1">
                <a:solidFill>
                  <a:srgbClr val="1A3554"/>
                </a:solidFill>
                <a:latin typeface="Aptos"/>
                <a:ea typeface="Aptos"/>
                <a:cs typeface="Aptos"/>
              </a:rPr>
              <a:t>cohérente</a:t>
            </a:r>
            <a:r>
              <a:rPr sz="863" b="0" dirty="0">
                <a:solidFill>
                  <a:srgbClr val="1A3554"/>
                </a:solidFill>
                <a:latin typeface="Aptos"/>
                <a:ea typeface="Aptos"/>
                <a:cs typeface="Aptos"/>
              </a:rPr>
              <a:t>.</a:t>
            </a:r>
          </a:p>
        </p:txBody>
      </p:sp>
      <p:sp>
        <p:nvSpPr>
          <p:cNvPr id="37" name="Rectangle 36">
            <a:extLst>
              <a:ext uri="{FF2B5EF4-FFF2-40B4-BE49-F238E27FC236}">
                <a16:creationId xmlns:a16="http://schemas.microsoft.com/office/drawing/2014/main" id="{041CD061-2C60-4057-BDD6-9F93C664511A}"/>
              </a:ext>
            </a:extLst>
          </p:cNvPr>
          <p:cNvSpPr>
            <a:spLocks noGrp="1"/>
          </p:cNvSpPr>
          <p:nvPr/>
        </p:nvSpPr>
        <p:spPr>
          <a:xfrm>
            <a:off x="685800" y="4438650"/>
            <a:ext cx="10820400" cy="1295400"/>
          </a:xfrm>
          <a:prstGeom prst="rect">
            <a:avLst/>
          </a:prstGeom>
          <a:solidFill>
            <a:srgbClr val="163556"/>
          </a:solidFill>
          <a:ln w="0">
            <a:solidFill>
              <a:srgbClr val="163556"/>
            </a:solidFill>
            <a:prstDash val="solid"/>
          </a:ln>
        </p:spPr>
      </p:sp>
      <p:sp>
        <p:nvSpPr>
          <p:cNvPr id="38" name="Rectangle 37">
            <a:extLst>
              <a:ext uri="{FF2B5EF4-FFF2-40B4-BE49-F238E27FC236}">
                <a16:creationId xmlns:a16="http://schemas.microsoft.com/office/drawing/2014/main" id="{AC12349C-9752-4496-87A9-8103D62312E2}"/>
              </a:ext>
            </a:extLst>
          </p:cNvPr>
          <p:cNvSpPr>
            <a:spLocks noGrp="1"/>
          </p:cNvSpPr>
          <p:nvPr/>
        </p:nvSpPr>
        <p:spPr>
          <a:xfrm>
            <a:off x="933450" y="4686300"/>
            <a:ext cx="1714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CFE0F0"/>
                </a:solidFill>
                <a:latin typeface="Aptos"/>
                <a:ea typeface="Aptos"/>
                <a:cs typeface="Aptos"/>
              </a:defRPr>
            </a:pPr>
            <a:r>
              <a:rPr sz="750" b="1">
                <a:solidFill>
                  <a:srgbClr val="CFE0F0"/>
                </a:solidFill>
                <a:latin typeface="Aptos"/>
                <a:ea typeface="Aptos"/>
                <a:cs typeface="Aptos"/>
              </a:rPr>
              <a:t>Le bon angle commercial</a:t>
            </a:r>
          </a:p>
        </p:txBody>
      </p:sp>
      <p:sp>
        <p:nvSpPr>
          <p:cNvPr id="39" name="Rectangle 38">
            <a:extLst>
              <a:ext uri="{FF2B5EF4-FFF2-40B4-BE49-F238E27FC236}">
                <a16:creationId xmlns:a16="http://schemas.microsoft.com/office/drawing/2014/main" id="{C7492FC7-C9F6-4624-BFB0-875A4EFC8EF1}"/>
              </a:ext>
            </a:extLst>
          </p:cNvPr>
          <p:cNvSpPr>
            <a:spLocks noGrp="1"/>
          </p:cNvSpPr>
          <p:nvPr/>
        </p:nvSpPr>
        <p:spPr>
          <a:xfrm>
            <a:off x="933450" y="4953000"/>
            <a:ext cx="53340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FFFFFF"/>
                </a:solidFill>
                <a:latin typeface="Aptos Display"/>
                <a:ea typeface="Aptos Display"/>
                <a:cs typeface="Aptos Display"/>
              </a:defRPr>
            </a:pPr>
            <a:r>
              <a:rPr sz="2100" b="1">
                <a:solidFill>
                  <a:srgbClr val="FFFFFF"/>
                </a:solidFill>
                <a:latin typeface="Aptos Display"/>
                <a:ea typeface="Aptos Display"/>
                <a:cs typeface="Aptos Display"/>
              </a:rPr>
              <a:t>Partir des flux métier qui freinent déjà l'exécution.</a:t>
            </a:r>
          </a:p>
        </p:txBody>
      </p:sp>
      <p:sp>
        <p:nvSpPr>
          <p:cNvPr id="40" name="Rectangle 39">
            <a:extLst>
              <a:ext uri="{FF2B5EF4-FFF2-40B4-BE49-F238E27FC236}">
                <a16:creationId xmlns:a16="http://schemas.microsoft.com/office/drawing/2014/main" id="{211FB9FD-C6A3-4C8F-860D-381311CD384B}"/>
              </a:ext>
            </a:extLst>
          </p:cNvPr>
          <p:cNvSpPr>
            <a:spLocks noGrp="1"/>
          </p:cNvSpPr>
          <p:nvPr/>
        </p:nvSpPr>
        <p:spPr>
          <a:xfrm>
            <a:off x="6477000" y="4876800"/>
            <a:ext cx="4762500" cy="533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13" b="0">
                <a:solidFill>
                  <a:srgbClr val="D7E5F3"/>
                </a:solidFill>
                <a:latin typeface="Aptos"/>
                <a:ea typeface="Aptos"/>
                <a:cs typeface="Aptos"/>
              </a:defRPr>
            </a:pPr>
            <a:r>
              <a:rPr sz="1013" b="0">
                <a:solidFill>
                  <a:srgbClr val="D7E5F3"/>
                </a:solidFill>
                <a:latin typeface="Aptos"/>
                <a:ea typeface="Aptos"/>
                <a:cs typeface="Aptos"/>
              </a:rPr>
              <a:t>La crédibilité ne viendra pas d'un catalogue de formations. Elle viendra d'une proposition qui relie diagnostic, cas d'usage, gouvernance, formation ciblée et premiers gains visibles.</a:t>
            </a:r>
          </a:p>
        </p:txBody>
      </p:sp>
      <p:sp>
        <p:nvSpPr>
          <p:cNvPr id="41" name="Rectangle 40">
            <a:extLst>
              <a:ext uri="{FF2B5EF4-FFF2-40B4-BE49-F238E27FC236}">
                <a16:creationId xmlns:a16="http://schemas.microsoft.com/office/drawing/2014/main" id="{B118E805-3156-46B3-ACD9-9E64575A1984}"/>
              </a:ext>
            </a:extLst>
          </p:cNvPr>
          <p:cNvSpPr>
            <a:spLocks noGrp="1"/>
          </p:cNvSpPr>
          <p:nvPr/>
        </p:nvSpPr>
        <p:spPr>
          <a:xfrm>
            <a:off x="647700" y="6496050"/>
            <a:ext cx="10896600" cy="9525"/>
          </a:xfrm>
          <a:prstGeom prst="rect">
            <a:avLst/>
          </a:prstGeom>
          <a:solidFill>
            <a:srgbClr val="D7CEC3"/>
          </a:solidFill>
          <a:ln w="0">
            <a:solidFill>
              <a:srgbClr val="000000">
                <a:alpha val="0"/>
              </a:srgbClr>
            </a:solidFill>
            <a:prstDash val="solid"/>
          </a:ln>
        </p:spPr>
      </p:sp>
      <p:sp>
        <p:nvSpPr>
          <p:cNvPr id="42" name="Rectangle 41">
            <a:extLst>
              <a:ext uri="{FF2B5EF4-FFF2-40B4-BE49-F238E27FC236}">
                <a16:creationId xmlns:a16="http://schemas.microsoft.com/office/drawing/2014/main" id="{4FC99548-F7AB-4082-9DC8-68969CF609BB}"/>
              </a:ext>
            </a:extLst>
          </p:cNvPr>
          <p:cNvSpPr>
            <a:spLocks noGrp="1"/>
          </p:cNvSpPr>
          <p:nvPr/>
        </p:nvSpPr>
        <p:spPr>
          <a:xfrm>
            <a:off x="685800" y="6572250"/>
            <a:ext cx="8572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617086"/>
                </a:solidFill>
                <a:latin typeface="Aptos"/>
                <a:ea typeface="Aptos"/>
                <a:cs typeface="Aptos"/>
              </a:defRPr>
            </a:pPr>
            <a:r>
              <a:rPr sz="638" b="0">
                <a:solidFill>
                  <a:srgbClr val="617086"/>
                </a:solidFill>
                <a:latin typeface="Aptos"/>
                <a:ea typeface="Aptos"/>
                <a:cs typeface="Aptos"/>
              </a:rPr>
              <a:t>TransferAI | Hub IA de Nettelecom CI | Modèle deck institutionnel V3</a:t>
            </a:r>
          </a:p>
        </p:txBody>
      </p:sp>
      <p:sp>
        <p:nvSpPr>
          <p:cNvPr id="43" name="Rectangle 42">
            <a:extLst>
              <a:ext uri="{FF2B5EF4-FFF2-40B4-BE49-F238E27FC236}">
                <a16:creationId xmlns:a16="http://schemas.microsoft.com/office/drawing/2014/main" id="{F514F7EF-71EB-4213-8180-8F048664D1B0}"/>
              </a:ext>
            </a:extLst>
          </p:cNvPr>
          <p:cNvSpPr>
            <a:spLocks noGrp="1"/>
          </p:cNvSpPr>
          <p:nvPr/>
        </p:nvSpPr>
        <p:spPr>
          <a:xfrm>
            <a:off x="11049000" y="6553200"/>
            <a:ext cx="3429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1A3554"/>
                </a:solidFill>
                <a:latin typeface="Aptos"/>
                <a:ea typeface="Aptos"/>
                <a:cs typeface="Aptos"/>
              </a:defRPr>
            </a:pPr>
            <a:r>
              <a:rPr sz="750" b="1">
                <a:solidFill>
                  <a:srgbClr val="1A3554"/>
                </a:solidFill>
                <a:latin typeface="Aptos"/>
                <a:ea typeface="Aptos"/>
                <a:cs typeface="Aptos"/>
              </a:rPr>
              <a:t>05</a:t>
            </a:r>
          </a:p>
        </p:txBody>
      </p:sp>
    </p:spTree>
    <p:extLst>
      <p:ext uri="{BB962C8B-B14F-4D97-AF65-F5344CB8AC3E}">
        <p14:creationId xmlns:p14="http://schemas.microsoft.com/office/powerpoint/2010/main" val="12777903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4E22ABDB-F394-48EB-9161-BDE5F1B3E2CA}"/>
              </a:ext>
            </a:extLst>
          </p:cNvPr>
          <p:cNvSpPr>
            <a:spLocks noGrp="1"/>
          </p:cNvSpPr>
          <p:nvPr/>
        </p:nvSpPr>
        <p:spPr>
          <a:xfrm>
            <a:off x="0" y="0"/>
            <a:ext cx="12192000" cy="6858000"/>
          </a:xfrm>
          <a:prstGeom prst="rect">
            <a:avLst/>
          </a:prstGeom>
          <a:solidFill>
            <a:srgbClr val="F5EFE7"/>
          </a:solidFill>
          <a:ln w="0">
            <a:solidFill>
              <a:srgbClr val="000000">
                <a:alpha val="0"/>
              </a:srgbClr>
            </a:solidFill>
            <a:prstDash val="solid"/>
          </a:ln>
        </p:spPr>
      </p:sp>
      <p:sp>
        <p:nvSpPr>
          <p:cNvPr id="2" name="Rectangle 1">
            <a:extLst>
              <a:ext uri="{FF2B5EF4-FFF2-40B4-BE49-F238E27FC236}">
                <a16:creationId xmlns:a16="http://schemas.microsoft.com/office/drawing/2014/main" id="{E84D1AAF-4A86-465F-8343-744B8159AD2B}"/>
              </a:ext>
            </a:extLst>
          </p:cNvPr>
          <p:cNvSpPr>
            <a:spLocks noGrp="1"/>
          </p:cNvSpPr>
          <p:nvPr/>
        </p:nvSpPr>
        <p:spPr>
          <a:xfrm>
            <a:off x="0" y="0"/>
            <a:ext cx="12192000" cy="1123950"/>
          </a:xfrm>
          <a:prstGeom prst="rect">
            <a:avLst/>
          </a:prstGeom>
          <a:solidFill>
            <a:srgbClr val="163556"/>
          </a:solidFill>
          <a:ln w="0">
            <a:solidFill>
              <a:srgbClr val="163556"/>
            </a:solidFill>
            <a:prstDash val="solid"/>
          </a:ln>
        </p:spPr>
      </p:sp>
      <p:sp>
        <p:nvSpPr>
          <p:cNvPr id="3" name="Rectangle 2">
            <a:extLst>
              <a:ext uri="{FF2B5EF4-FFF2-40B4-BE49-F238E27FC236}">
                <a16:creationId xmlns:a16="http://schemas.microsoft.com/office/drawing/2014/main" id="{D40EA5D9-42FF-456F-A0AA-8C5D21AD8241}"/>
              </a:ext>
            </a:extLst>
          </p:cNvPr>
          <p:cNvSpPr>
            <a:spLocks noGrp="1"/>
          </p:cNvSpPr>
          <p:nvPr/>
        </p:nvSpPr>
        <p:spPr>
          <a:xfrm>
            <a:off x="685800" y="495300"/>
            <a:ext cx="2476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FFFFFF"/>
                </a:solidFill>
                <a:latin typeface="Aptos"/>
                <a:ea typeface="Aptos"/>
                <a:cs typeface="Aptos"/>
              </a:defRPr>
            </a:pPr>
            <a:r>
              <a:rPr sz="788" b="1">
                <a:solidFill>
                  <a:srgbClr val="FFFFFF"/>
                </a:solidFill>
                <a:latin typeface="Aptos"/>
                <a:ea typeface="Aptos"/>
                <a:cs typeface="Aptos"/>
              </a:rPr>
              <a:t>ROI DE RÉFÉRENCE</a:t>
            </a:r>
          </a:p>
        </p:txBody>
      </p:sp>
      <p:sp>
        <p:nvSpPr>
          <p:cNvPr id="4" name="Rectangle 3">
            <a:extLst>
              <a:ext uri="{FF2B5EF4-FFF2-40B4-BE49-F238E27FC236}">
                <a16:creationId xmlns:a16="http://schemas.microsoft.com/office/drawing/2014/main" id="{8D919ADF-8428-4FB0-874E-BF9ABD5E1FCE}"/>
              </a:ext>
            </a:extLst>
          </p:cNvPr>
          <p:cNvSpPr>
            <a:spLocks noGrp="1"/>
          </p:cNvSpPr>
          <p:nvPr/>
        </p:nvSpPr>
        <p:spPr>
          <a:xfrm>
            <a:off x="685800" y="723900"/>
            <a:ext cx="98679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FFFFFF"/>
                </a:solidFill>
                <a:latin typeface="Aptos Display"/>
                <a:ea typeface="Aptos Display"/>
                <a:cs typeface="Aptos Display"/>
              </a:defRPr>
            </a:pPr>
            <a:r>
              <a:rPr sz="2100" b="1">
                <a:solidFill>
                  <a:srgbClr val="FFFFFF"/>
                </a:solidFill>
                <a:latin typeface="Aptos Display"/>
                <a:ea typeface="Aptos Display"/>
                <a:cs typeface="Aptos Display"/>
              </a:rPr>
              <a:t>Le ROI devient utile seulement s'il est traduit dans le contexte du prospect</a:t>
            </a:r>
          </a:p>
        </p:txBody>
      </p:sp>
      <p:sp>
        <p:nvSpPr>
          <p:cNvPr id="5" name="Rectangle 4">
            <a:extLst>
              <a:ext uri="{FF2B5EF4-FFF2-40B4-BE49-F238E27FC236}">
                <a16:creationId xmlns:a16="http://schemas.microsoft.com/office/drawing/2014/main" id="{2E5E842D-CDD4-4C80-AB66-47B56880B671}"/>
              </a:ext>
            </a:extLst>
          </p:cNvPr>
          <p:cNvSpPr>
            <a:spLocks noGrp="1"/>
          </p:cNvSpPr>
          <p:nvPr/>
        </p:nvSpPr>
        <p:spPr>
          <a:xfrm>
            <a:off x="685800" y="1409700"/>
            <a:ext cx="2514600" cy="1104900"/>
          </a:xfrm>
          <a:prstGeom prst="rect">
            <a:avLst/>
          </a:prstGeom>
          <a:solidFill>
            <a:srgbClr val="1C8A78"/>
          </a:solidFill>
          <a:ln w="0">
            <a:solidFill>
              <a:srgbClr val="1C8A78"/>
            </a:solidFill>
            <a:prstDash val="solid"/>
          </a:ln>
        </p:spPr>
      </p:sp>
      <p:sp>
        <p:nvSpPr>
          <p:cNvPr id="6" name="Rectangle 5">
            <a:extLst>
              <a:ext uri="{FF2B5EF4-FFF2-40B4-BE49-F238E27FC236}">
                <a16:creationId xmlns:a16="http://schemas.microsoft.com/office/drawing/2014/main" id="{68A20222-099F-4B6C-8133-185837F6BF7E}"/>
              </a:ext>
            </a:extLst>
          </p:cNvPr>
          <p:cNvSpPr>
            <a:spLocks noGrp="1"/>
          </p:cNvSpPr>
          <p:nvPr/>
        </p:nvSpPr>
        <p:spPr>
          <a:xfrm>
            <a:off x="857250" y="1581150"/>
            <a:ext cx="21717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2400" b="1">
                <a:solidFill>
                  <a:srgbClr val="FFFFFF"/>
                </a:solidFill>
                <a:latin typeface="Aptos Display"/>
                <a:ea typeface="Aptos Display"/>
                <a:cs typeface="Aptos Display"/>
              </a:defRPr>
            </a:pPr>
            <a:r>
              <a:rPr sz="2400" b="1">
                <a:solidFill>
                  <a:srgbClr val="FFFFFF"/>
                </a:solidFill>
                <a:latin typeface="Aptos Display"/>
                <a:ea typeface="Aptos Display"/>
                <a:cs typeface="Aptos Display"/>
              </a:rPr>
              <a:t>+30 %</a:t>
            </a:r>
          </a:p>
        </p:txBody>
      </p:sp>
      <p:sp>
        <p:nvSpPr>
          <p:cNvPr id="7" name="Rectangle 6">
            <a:extLst>
              <a:ext uri="{FF2B5EF4-FFF2-40B4-BE49-F238E27FC236}">
                <a16:creationId xmlns:a16="http://schemas.microsoft.com/office/drawing/2014/main" id="{58C605FD-9DC9-46AC-B171-BB32AC160A1B}"/>
              </a:ext>
            </a:extLst>
          </p:cNvPr>
          <p:cNvSpPr>
            <a:spLocks noGrp="1"/>
          </p:cNvSpPr>
          <p:nvPr/>
        </p:nvSpPr>
        <p:spPr>
          <a:xfrm>
            <a:off x="857250" y="2019300"/>
            <a:ext cx="21717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825" b="1">
                <a:solidFill>
                  <a:srgbClr val="FFFFFF"/>
                </a:solidFill>
                <a:latin typeface="Aptos"/>
                <a:ea typeface="Aptos"/>
                <a:cs typeface="Aptos"/>
              </a:defRPr>
            </a:pPr>
            <a:r>
              <a:rPr sz="825" b="1">
                <a:solidFill>
                  <a:srgbClr val="FFFFFF"/>
                </a:solidFill>
                <a:latin typeface="Aptos"/>
                <a:ea typeface="Aptos"/>
                <a:cs typeface="Aptos"/>
              </a:rPr>
              <a:t>productivité benchmark</a:t>
            </a:r>
          </a:p>
        </p:txBody>
      </p:sp>
      <p:sp>
        <p:nvSpPr>
          <p:cNvPr id="8" name="Rectangle 7">
            <a:extLst>
              <a:ext uri="{FF2B5EF4-FFF2-40B4-BE49-F238E27FC236}">
                <a16:creationId xmlns:a16="http://schemas.microsoft.com/office/drawing/2014/main" id="{C992E6D1-DD57-45A2-B658-87407485A8F0}"/>
              </a:ext>
            </a:extLst>
          </p:cNvPr>
          <p:cNvSpPr>
            <a:spLocks noGrp="1"/>
          </p:cNvSpPr>
          <p:nvPr/>
        </p:nvSpPr>
        <p:spPr>
          <a:xfrm>
            <a:off x="857250" y="2228850"/>
            <a:ext cx="21717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FFFFFF"/>
                </a:solidFill>
                <a:latin typeface="Aptos"/>
                <a:ea typeface="Aptos"/>
                <a:cs typeface="Aptos"/>
              </a:defRPr>
            </a:pPr>
            <a:r>
              <a:rPr sz="638" b="0">
                <a:solidFill>
                  <a:srgbClr val="FFFFFF"/>
                </a:solidFill>
                <a:latin typeface="Aptos"/>
                <a:ea typeface="Aptos"/>
                <a:cs typeface="Aptos"/>
              </a:rPr>
              <a:t>tâches répétitives, reporting, préparation de synthèses</a:t>
            </a:r>
          </a:p>
        </p:txBody>
      </p:sp>
      <p:sp>
        <p:nvSpPr>
          <p:cNvPr id="9" name="Rectangle 8">
            <a:extLst>
              <a:ext uri="{FF2B5EF4-FFF2-40B4-BE49-F238E27FC236}">
                <a16:creationId xmlns:a16="http://schemas.microsoft.com/office/drawing/2014/main" id="{3AC595A1-DED3-4EDA-A971-5FB53BC58813}"/>
              </a:ext>
            </a:extLst>
          </p:cNvPr>
          <p:cNvSpPr>
            <a:spLocks noGrp="1"/>
          </p:cNvSpPr>
          <p:nvPr/>
        </p:nvSpPr>
        <p:spPr>
          <a:xfrm>
            <a:off x="3390900" y="1409700"/>
            <a:ext cx="2514600" cy="1104900"/>
          </a:xfrm>
          <a:prstGeom prst="rect">
            <a:avLst/>
          </a:prstGeom>
          <a:solidFill>
            <a:srgbClr val="163556"/>
          </a:solidFill>
          <a:ln w="0">
            <a:solidFill>
              <a:srgbClr val="163556"/>
            </a:solidFill>
            <a:prstDash val="solid"/>
          </a:ln>
        </p:spPr>
      </p:sp>
      <p:sp>
        <p:nvSpPr>
          <p:cNvPr id="10" name="Rectangle 9">
            <a:extLst>
              <a:ext uri="{FF2B5EF4-FFF2-40B4-BE49-F238E27FC236}">
                <a16:creationId xmlns:a16="http://schemas.microsoft.com/office/drawing/2014/main" id="{86D43001-7498-4F74-879B-882B6DFF994F}"/>
              </a:ext>
            </a:extLst>
          </p:cNvPr>
          <p:cNvSpPr>
            <a:spLocks noGrp="1"/>
          </p:cNvSpPr>
          <p:nvPr/>
        </p:nvSpPr>
        <p:spPr>
          <a:xfrm>
            <a:off x="3562350" y="1581150"/>
            <a:ext cx="21717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2400" b="1">
                <a:solidFill>
                  <a:srgbClr val="FFFFFF"/>
                </a:solidFill>
                <a:latin typeface="Aptos Display"/>
                <a:ea typeface="Aptos Display"/>
                <a:cs typeface="Aptos Display"/>
              </a:defRPr>
            </a:pPr>
            <a:r>
              <a:rPr sz="2400" b="1">
                <a:solidFill>
                  <a:srgbClr val="FFFFFF"/>
                </a:solidFill>
                <a:latin typeface="Aptos Display"/>
                <a:ea typeface="Aptos Display"/>
                <a:cs typeface="Aptos Display"/>
              </a:rPr>
              <a:t>-45 %</a:t>
            </a:r>
          </a:p>
        </p:txBody>
      </p:sp>
      <p:sp>
        <p:nvSpPr>
          <p:cNvPr id="11" name="Rectangle 10">
            <a:extLst>
              <a:ext uri="{FF2B5EF4-FFF2-40B4-BE49-F238E27FC236}">
                <a16:creationId xmlns:a16="http://schemas.microsoft.com/office/drawing/2014/main" id="{81E1B706-3FFF-4C38-854F-D7A320886AFC}"/>
              </a:ext>
            </a:extLst>
          </p:cNvPr>
          <p:cNvSpPr>
            <a:spLocks noGrp="1"/>
          </p:cNvSpPr>
          <p:nvPr/>
        </p:nvSpPr>
        <p:spPr>
          <a:xfrm>
            <a:off x="3562350" y="2019300"/>
            <a:ext cx="21717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825" b="1">
                <a:solidFill>
                  <a:srgbClr val="FFFFFF"/>
                </a:solidFill>
                <a:latin typeface="Aptos"/>
                <a:ea typeface="Aptos"/>
                <a:cs typeface="Aptos"/>
              </a:defRPr>
            </a:pPr>
            <a:r>
              <a:rPr sz="825" b="1">
                <a:solidFill>
                  <a:srgbClr val="FFFFFF"/>
                </a:solidFill>
                <a:latin typeface="Aptos"/>
                <a:ea typeface="Aptos"/>
                <a:cs typeface="Aptos"/>
              </a:rPr>
              <a:t>effort de formation</a:t>
            </a:r>
          </a:p>
        </p:txBody>
      </p:sp>
      <p:sp>
        <p:nvSpPr>
          <p:cNvPr id="12" name="Rectangle 11">
            <a:extLst>
              <a:ext uri="{FF2B5EF4-FFF2-40B4-BE49-F238E27FC236}">
                <a16:creationId xmlns:a16="http://schemas.microsoft.com/office/drawing/2014/main" id="{97B344F9-5D33-4CD9-AEDF-D19B4247AEA0}"/>
              </a:ext>
            </a:extLst>
          </p:cNvPr>
          <p:cNvSpPr>
            <a:spLocks noGrp="1"/>
          </p:cNvSpPr>
          <p:nvPr/>
        </p:nvSpPr>
        <p:spPr>
          <a:xfrm>
            <a:off x="3562350" y="2228850"/>
            <a:ext cx="21717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FFFFFF"/>
                </a:solidFill>
                <a:latin typeface="Aptos"/>
                <a:ea typeface="Aptos"/>
                <a:cs typeface="Aptos"/>
              </a:defRPr>
            </a:pPr>
            <a:r>
              <a:rPr sz="638" b="0">
                <a:solidFill>
                  <a:srgbClr val="FFFFFF"/>
                </a:solidFill>
                <a:latin typeface="Aptos"/>
                <a:ea typeface="Aptos"/>
                <a:cs typeface="Aptos"/>
              </a:rPr>
              <a:t>onboarding, diffusion de pratiques et transfert de savoir</a:t>
            </a:r>
          </a:p>
        </p:txBody>
      </p:sp>
      <p:sp>
        <p:nvSpPr>
          <p:cNvPr id="13" name="Rectangle 12">
            <a:extLst>
              <a:ext uri="{FF2B5EF4-FFF2-40B4-BE49-F238E27FC236}">
                <a16:creationId xmlns:a16="http://schemas.microsoft.com/office/drawing/2014/main" id="{78AE7F63-23D2-4AA9-BA2C-CF81D38C3C6B}"/>
              </a:ext>
            </a:extLst>
          </p:cNvPr>
          <p:cNvSpPr>
            <a:spLocks noGrp="1"/>
          </p:cNvSpPr>
          <p:nvPr/>
        </p:nvSpPr>
        <p:spPr>
          <a:xfrm>
            <a:off x="6096000" y="1409700"/>
            <a:ext cx="2514600" cy="1104900"/>
          </a:xfrm>
          <a:prstGeom prst="rect">
            <a:avLst/>
          </a:prstGeom>
          <a:solidFill>
            <a:srgbClr val="E76F1D"/>
          </a:solidFill>
          <a:ln w="0">
            <a:solidFill>
              <a:srgbClr val="E76F1D"/>
            </a:solidFill>
            <a:prstDash val="solid"/>
          </a:ln>
        </p:spPr>
      </p:sp>
      <p:sp>
        <p:nvSpPr>
          <p:cNvPr id="14" name="Rectangle 13">
            <a:extLst>
              <a:ext uri="{FF2B5EF4-FFF2-40B4-BE49-F238E27FC236}">
                <a16:creationId xmlns:a16="http://schemas.microsoft.com/office/drawing/2014/main" id="{0DD48D82-04CD-44B0-9EA8-D127B146ED1E}"/>
              </a:ext>
            </a:extLst>
          </p:cNvPr>
          <p:cNvSpPr>
            <a:spLocks noGrp="1"/>
          </p:cNvSpPr>
          <p:nvPr/>
        </p:nvSpPr>
        <p:spPr>
          <a:xfrm>
            <a:off x="6267450" y="1581150"/>
            <a:ext cx="21717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2400" b="1">
                <a:solidFill>
                  <a:srgbClr val="FFFFFF"/>
                </a:solidFill>
                <a:latin typeface="Aptos Display"/>
                <a:ea typeface="Aptos Display"/>
                <a:cs typeface="Aptos Display"/>
              </a:defRPr>
            </a:pPr>
            <a:r>
              <a:rPr sz="2400" b="1">
                <a:solidFill>
                  <a:srgbClr val="FFFFFF"/>
                </a:solidFill>
                <a:latin typeface="Aptos Display"/>
                <a:ea typeface="Aptos Display"/>
                <a:cs typeface="Aptos Display"/>
              </a:rPr>
              <a:t>J+15</a:t>
            </a:r>
          </a:p>
        </p:txBody>
      </p:sp>
      <p:sp>
        <p:nvSpPr>
          <p:cNvPr id="15" name="Rectangle 14">
            <a:extLst>
              <a:ext uri="{FF2B5EF4-FFF2-40B4-BE49-F238E27FC236}">
                <a16:creationId xmlns:a16="http://schemas.microsoft.com/office/drawing/2014/main" id="{F378FB9F-0956-4668-AE50-92295D07BB6E}"/>
              </a:ext>
            </a:extLst>
          </p:cNvPr>
          <p:cNvSpPr>
            <a:spLocks noGrp="1"/>
          </p:cNvSpPr>
          <p:nvPr/>
        </p:nvSpPr>
        <p:spPr>
          <a:xfrm>
            <a:off x="6267450" y="2019300"/>
            <a:ext cx="21717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825" b="1">
                <a:solidFill>
                  <a:srgbClr val="FFFFFF"/>
                </a:solidFill>
                <a:latin typeface="Aptos"/>
                <a:ea typeface="Aptos"/>
                <a:cs typeface="Aptos"/>
              </a:defRPr>
            </a:pPr>
            <a:r>
              <a:rPr sz="825" b="1">
                <a:solidFill>
                  <a:srgbClr val="FFFFFF"/>
                </a:solidFill>
                <a:latin typeface="Aptos"/>
                <a:ea typeface="Aptos"/>
                <a:cs typeface="Aptos"/>
              </a:rPr>
              <a:t>premier livrable</a:t>
            </a:r>
          </a:p>
        </p:txBody>
      </p:sp>
      <p:sp>
        <p:nvSpPr>
          <p:cNvPr id="16" name="Rectangle 15">
            <a:extLst>
              <a:ext uri="{FF2B5EF4-FFF2-40B4-BE49-F238E27FC236}">
                <a16:creationId xmlns:a16="http://schemas.microsoft.com/office/drawing/2014/main" id="{CAB464F8-93DF-4674-B37E-AB73CD5797E9}"/>
              </a:ext>
            </a:extLst>
          </p:cNvPr>
          <p:cNvSpPr>
            <a:spLocks noGrp="1"/>
          </p:cNvSpPr>
          <p:nvPr/>
        </p:nvSpPr>
        <p:spPr>
          <a:xfrm>
            <a:off x="6267450" y="2228850"/>
            <a:ext cx="21717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FFFFFF"/>
                </a:solidFill>
                <a:latin typeface="Aptos"/>
                <a:ea typeface="Aptos"/>
                <a:cs typeface="Aptos"/>
              </a:defRPr>
            </a:pPr>
            <a:r>
              <a:rPr sz="638" b="0">
                <a:solidFill>
                  <a:srgbClr val="FFFFFF"/>
                </a:solidFill>
                <a:latin typeface="Aptos"/>
                <a:ea typeface="Aptos"/>
                <a:cs typeface="Aptos"/>
              </a:rPr>
              <a:t>audit, cadrage et priorisation ROI</a:t>
            </a:r>
          </a:p>
        </p:txBody>
      </p:sp>
      <p:sp>
        <p:nvSpPr>
          <p:cNvPr id="17" name="Rectangle 16">
            <a:extLst>
              <a:ext uri="{FF2B5EF4-FFF2-40B4-BE49-F238E27FC236}">
                <a16:creationId xmlns:a16="http://schemas.microsoft.com/office/drawing/2014/main" id="{837B1372-79C2-41E5-B867-8350BC5BDCF0}"/>
              </a:ext>
            </a:extLst>
          </p:cNvPr>
          <p:cNvSpPr>
            <a:spLocks noGrp="1"/>
          </p:cNvSpPr>
          <p:nvPr/>
        </p:nvSpPr>
        <p:spPr>
          <a:xfrm>
            <a:off x="8801100" y="1409700"/>
            <a:ext cx="2705100" cy="1104900"/>
          </a:xfrm>
          <a:prstGeom prst="rect">
            <a:avLst/>
          </a:prstGeom>
          <a:solidFill>
            <a:srgbClr val="C88C3A"/>
          </a:solidFill>
          <a:ln w="0">
            <a:solidFill>
              <a:srgbClr val="C88C3A"/>
            </a:solidFill>
            <a:prstDash val="solid"/>
          </a:ln>
        </p:spPr>
      </p:sp>
      <p:sp>
        <p:nvSpPr>
          <p:cNvPr id="18" name="Rectangle 17">
            <a:extLst>
              <a:ext uri="{FF2B5EF4-FFF2-40B4-BE49-F238E27FC236}">
                <a16:creationId xmlns:a16="http://schemas.microsoft.com/office/drawing/2014/main" id="{FC74D183-C014-4ADE-AE27-7283664435EB}"/>
              </a:ext>
            </a:extLst>
          </p:cNvPr>
          <p:cNvSpPr>
            <a:spLocks noGrp="1"/>
          </p:cNvSpPr>
          <p:nvPr/>
        </p:nvSpPr>
        <p:spPr>
          <a:xfrm>
            <a:off x="8972550" y="1581150"/>
            <a:ext cx="23622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2400" b="1">
                <a:solidFill>
                  <a:srgbClr val="FFFFFF"/>
                </a:solidFill>
                <a:latin typeface="Aptos Display"/>
                <a:ea typeface="Aptos Display"/>
                <a:cs typeface="Aptos Display"/>
              </a:defRPr>
            </a:pPr>
            <a:r>
              <a:rPr sz="2400" b="1">
                <a:solidFill>
                  <a:srgbClr val="FFFFFF"/>
                </a:solidFill>
                <a:latin typeface="Aptos Display"/>
                <a:ea typeface="Aptos Display"/>
                <a:cs typeface="Aptos Display"/>
              </a:rPr>
              <a:t>3,2x</a:t>
            </a:r>
          </a:p>
        </p:txBody>
      </p:sp>
      <p:sp>
        <p:nvSpPr>
          <p:cNvPr id="19" name="Rectangle 18">
            <a:extLst>
              <a:ext uri="{FF2B5EF4-FFF2-40B4-BE49-F238E27FC236}">
                <a16:creationId xmlns:a16="http://schemas.microsoft.com/office/drawing/2014/main" id="{F4928DC3-3C71-42D8-8ACE-AA696772757A}"/>
              </a:ext>
            </a:extLst>
          </p:cNvPr>
          <p:cNvSpPr>
            <a:spLocks noGrp="1"/>
          </p:cNvSpPr>
          <p:nvPr/>
        </p:nvSpPr>
        <p:spPr>
          <a:xfrm>
            <a:off x="8972550" y="2019300"/>
            <a:ext cx="23622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825" b="1">
                <a:solidFill>
                  <a:srgbClr val="FFFFFF"/>
                </a:solidFill>
                <a:latin typeface="Aptos"/>
                <a:ea typeface="Aptos"/>
                <a:cs typeface="Aptos"/>
              </a:defRPr>
            </a:pPr>
            <a:r>
              <a:rPr sz="825" b="1">
                <a:solidFill>
                  <a:srgbClr val="FFFFFF"/>
                </a:solidFill>
                <a:latin typeface="Aptos"/>
                <a:ea typeface="Aptos"/>
                <a:cs typeface="Aptos"/>
              </a:rPr>
              <a:t>potentiel de ROI</a:t>
            </a:r>
          </a:p>
        </p:txBody>
      </p:sp>
      <p:sp>
        <p:nvSpPr>
          <p:cNvPr id="20" name="Rectangle 19">
            <a:extLst>
              <a:ext uri="{FF2B5EF4-FFF2-40B4-BE49-F238E27FC236}">
                <a16:creationId xmlns:a16="http://schemas.microsoft.com/office/drawing/2014/main" id="{BB32D6EF-F12A-4964-99CF-22E22B18BC21}"/>
              </a:ext>
            </a:extLst>
          </p:cNvPr>
          <p:cNvSpPr>
            <a:spLocks noGrp="1"/>
          </p:cNvSpPr>
          <p:nvPr/>
        </p:nvSpPr>
        <p:spPr>
          <a:xfrm>
            <a:off x="8972550" y="2228850"/>
            <a:ext cx="23622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FFFFFF"/>
                </a:solidFill>
                <a:latin typeface="Aptos"/>
                <a:ea typeface="Aptos"/>
                <a:cs typeface="Aptos"/>
              </a:defRPr>
            </a:pPr>
            <a:r>
              <a:rPr sz="638" b="0">
                <a:solidFill>
                  <a:srgbClr val="FFFFFF"/>
                </a:solidFill>
                <a:latin typeface="Aptos"/>
                <a:ea typeface="Aptos"/>
                <a:cs typeface="Aptos"/>
              </a:rPr>
              <a:t>référence : projets comparables TransferAI</a:t>
            </a:r>
          </a:p>
        </p:txBody>
      </p:sp>
      <p:sp>
        <p:nvSpPr>
          <p:cNvPr id="21" name="Rectangle 20">
            <a:extLst>
              <a:ext uri="{FF2B5EF4-FFF2-40B4-BE49-F238E27FC236}">
                <a16:creationId xmlns:a16="http://schemas.microsoft.com/office/drawing/2014/main" id="{3E87DA59-92B7-4207-842F-94676908D7EC}"/>
              </a:ext>
            </a:extLst>
          </p:cNvPr>
          <p:cNvSpPr>
            <a:spLocks noGrp="1"/>
          </p:cNvSpPr>
          <p:nvPr/>
        </p:nvSpPr>
        <p:spPr>
          <a:xfrm>
            <a:off x="685800" y="3048000"/>
            <a:ext cx="47625" cy="457200"/>
          </a:xfrm>
          <a:prstGeom prst="rect">
            <a:avLst/>
          </a:prstGeom>
          <a:solidFill>
            <a:srgbClr val="E76F1D"/>
          </a:solidFill>
          <a:ln w="0">
            <a:solidFill>
              <a:srgbClr val="000000">
                <a:alpha val="0"/>
              </a:srgbClr>
            </a:solidFill>
            <a:prstDash val="solid"/>
          </a:ln>
        </p:spPr>
      </p:sp>
      <p:sp>
        <p:nvSpPr>
          <p:cNvPr id="22" name="Rectangle 21">
            <a:extLst>
              <a:ext uri="{FF2B5EF4-FFF2-40B4-BE49-F238E27FC236}">
                <a16:creationId xmlns:a16="http://schemas.microsoft.com/office/drawing/2014/main" id="{521BE232-1693-4054-AE3F-EB9A2BB1BF68}"/>
              </a:ext>
            </a:extLst>
          </p:cNvPr>
          <p:cNvSpPr>
            <a:spLocks noGrp="1"/>
          </p:cNvSpPr>
          <p:nvPr/>
        </p:nvSpPr>
        <p:spPr>
          <a:xfrm>
            <a:off x="876300" y="2952750"/>
            <a:ext cx="238125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1A3554"/>
                </a:solidFill>
                <a:latin typeface="Aptos Display"/>
                <a:ea typeface="Aptos Display"/>
                <a:cs typeface="Aptos Display"/>
              </a:defRPr>
            </a:pPr>
            <a:r>
              <a:rPr sz="1125" b="1">
                <a:solidFill>
                  <a:srgbClr val="1A3554"/>
                </a:solidFill>
                <a:latin typeface="Aptos Display"/>
                <a:ea typeface="Aptos Display"/>
                <a:cs typeface="Aptos Display"/>
              </a:rPr>
              <a:t>Comptes professionnels</a:t>
            </a:r>
          </a:p>
        </p:txBody>
      </p:sp>
      <p:sp>
        <p:nvSpPr>
          <p:cNvPr id="23" name="Rectangle 22">
            <a:extLst>
              <a:ext uri="{FF2B5EF4-FFF2-40B4-BE49-F238E27FC236}">
                <a16:creationId xmlns:a16="http://schemas.microsoft.com/office/drawing/2014/main" id="{0365B7BA-331B-4F0E-9F96-A1A7D3A58A22}"/>
              </a:ext>
            </a:extLst>
          </p:cNvPr>
          <p:cNvSpPr>
            <a:spLocks noGrp="1"/>
          </p:cNvSpPr>
          <p:nvPr/>
        </p:nvSpPr>
        <p:spPr>
          <a:xfrm>
            <a:off x="876300" y="3200400"/>
            <a:ext cx="485775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0">
                <a:solidFill>
                  <a:srgbClr val="617086"/>
                </a:solidFill>
                <a:latin typeface="Aptos"/>
                <a:ea typeface="Aptos"/>
                <a:cs typeface="Aptos"/>
              </a:defRPr>
            </a:pPr>
            <a:r>
              <a:rPr sz="900" b="0">
                <a:solidFill>
                  <a:srgbClr val="617086"/>
                </a:solidFill>
                <a:latin typeface="Aptos"/>
                <a:ea typeface="Aptos"/>
                <a:cs typeface="Aptos"/>
              </a:rPr>
              <a:t>Automatiser la préparation des relances, standardiser les revues de portefeuille et mieux signaler les comptes à risque ou en retard.</a:t>
            </a:r>
          </a:p>
        </p:txBody>
      </p:sp>
      <p:sp>
        <p:nvSpPr>
          <p:cNvPr id="24" name="Rectangle 23">
            <a:extLst>
              <a:ext uri="{FF2B5EF4-FFF2-40B4-BE49-F238E27FC236}">
                <a16:creationId xmlns:a16="http://schemas.microsoft.com/office/drawing/2014/main" id="{E4F6B421-165E-4D71-B333-A2F9C4752593}"/>
              </a:ext>
            </a:extLst>
          </p:cNvPr>
          <p:cNvSpPr>
            <a:spLocks noGrp="1"/>
          </p:cNvSpPr>
          <p:nvPr/>
        </p:nvSpPr>
        <p:spPr>
          <a:xfrm>
            <a:off x="6096000" y="2933700"/>
            <a:ext cx="5334000" cy="666750"/>
          </a:xfrm>
          <a:prstGeom prst="rect">
            <a:avLst/>
          </a:prstGeom>
          <a:solidFill>
            <a:srgbClr val="FBF5EE"/>
          </a:solidFill>
          <a:ln w="9525">
            <a:solidFill>
              <a:srgbClr val="D7CEC3"/>
            </a:solidFill>
            <a:prstDash val="solid"/>
          </a:ln>
        </p:spPr>
      </p:sp>
      <p:sp>
        <p:nvSpPr>
          <p:cNvPr id="25" name="Rectangle 24">
            <a:extLst>
              <a:ext uri="{FF2B5EF4-FFF2-40B4-BE49-F238E27FC236}">
                <a16:creationId xmlns:a16="http://schemas.microsoft.com/office/drawing/2014/main" id="{CC966112-711D-48D3-A057-28E9621A9144}"/>
              </a:ext>
            </a:extLst>
          </p:cNvPr>
          <p:cNvSpPr>
            <a:spLocks noGrp="1"/>
          </p:cNvSpPr>
          <p:nvPr/>
        </p:nvSpPr>
        <p:spPr>
          <a:xfrm>
            <a:off x="6305550" y="3048000"/>
            <a:ext cx="1333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E76F1D"/>
                </a:solidFill>
                <a:latin typeface="Aptos"/>
                <a:ea typeface="Aptos"/>
                <a:cs typeface="Aptos"/>
              </a:defRPr>
            </a:pPr>
            <a:r>
              <a:rPr sz="713" b="1">
                <a:solidFill>
                  <a:srgbClr val="E76F1D"/>
                </a:solidFill>
                <a:latin typeface="Aptos"/>
                <a:ea typeface="Aptos"/>
                <a:cs typeface="Aptos"/>
              </a:rPr>
              <a:t>KPI à instrumenter</a:t>
            </a:r>
          </a:p>
        </p:txBody>
      </p:sp>
      <p:sp>
        <p:nvSpPr>
          <p:cNvPr id="26" name="Rectangle 25">
            <a:extLst>
              <a:ext uri="{FF2B5EF4-FFF2-40B4-BE49-F238E27FC236}">
                <a16:creationId xmlns:a16="http://schemas.microsoft.com/office/drawing/2014/main" id="{66851940-8C82-4282-B968-086DFF6B8931}"/>
              </a:ext>
            </a:extLst>
          </p:cNvPr>
          <p:cNvSpPr>
            <a:spLocks noGrp="1"/>
          </p:cNvSpPr>
          <p:nvPr/>
        </p:nvSpPr>
        <p:spPr>
          <a:xfrm>
            <a:off x="6305550" y="3219450"/>
            <a:ext cx="491490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0">
                <a:solidFill>
                  <a:srgbClr val="1A3554"/>
                </a:solidFill>
                <a:latin typeface="Aptos"/>
                <a:ea typeface="Aptos"/>
                <a:cs typeface="Aptos"/>
              </a:defRPr>
            </a:pPr>
            <a:r>
              <a:rPr sz="900" b="0">
                <a:solidFill>
                  <a:srgbClr val="1A3554"/>
                </a:solidFill>
                <a:latin typeface="Aptos"/>
                <a:ea typeface="Aptos"/>
                <a:cs typeface="Aptos"/>
              </a:rPr>
              <a:t>délai moyen de relance, temps de préparation des revues clients, évolution des encours en retard</a:t>
            </a:r>
          </a:p>
        </p:txBody>
      </p:sp>
      <p:sp>
        <p:nvSpPr>
          <p:cNvPr id="27" name="Rectangle 26">
            <a:extLst>
              <a:ext uri="{FF2B5EF4-FFF2-40B4-BE49-F238E27FC236}">
                <a16:creationId xmlns:a16="http://schemas.microsoft.com/office/drawing/2014/main" id="{A23AC87E-6C17-4827-881B-D24A047D2A10}"/>
              </a:ext>
            </a:extLst>
          </p:cNvPr>
          <p:cNvSpPr>
            <a:spLocks noGrp="1"/>
          </p:cNvSpPr>
          <p:nvPr/>
        </p:nvSpPr>
        <p:spPr>
          <a:xfrm>
            <a:off x="685800" y="3829050"/>
            <a:ext cx="47625" cy="457200"/>
          </a:xfrm>
          <a:prstGeom prst="rect">
            <a:avLst/>
          </a:prstGeom>
          <a:solidFill>
            <a:srgbClr val="1C8A78"/>
          </a:solidFill>
          <a:ln w="0">
            <a:solidFill>
              <a:srgbClr val="000000">
                <a:alpha val="0"/>
              </a:srgbClr>
            </a:solidFill>
            <a:prstDash val="solid"/>
          </a:ln>
        </p:spPr>
      </p:sp>
      <p:sp>
        <p:nvSpPr>
          <p:cNvPr id="28" name="Rectangle 27">
            <a:extLst>
              <a:ext uri="{FF2B5EF4-FFF2-40B4-BE49-F238E27FC236}">
                <a16:creationId xmlns:a16="http://schemas.microsoft.com/office/drawing/2014/main" id="{6995D656-FAA5-4221-96B7-6ED5A28ACCE4}"/>
              </a:ext>
            </a:extLst>
          </p:cNvPr>
          <p:cNvSpPr>
            <a:spLocks noGrp="1"/>
          </p:cNvSpPr>
          <p:nvPr/>
        </p:nvSpPr>
        <p:spPr>
          <a:xfrm>
            <a:off x="876300" y="3733800"/>
            <a:ext cx="238125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1A3554"/>
                </a:solidFill>
                <a:latin typeface="Aptos Display"/>
                <a:ea typeface="Aptos Display"/>
                <a:cs typeface="Aptos Display"/>
              </a:defRPr>
            </a:pPr>
            <a:r>
              <a:rPr sz="1125" b="1">
                <a:solidFill>
                  <a:srgbClr val="1A3554"/>
                </a:solidFill>
                <a:latin typeface="Aptos Display"/>
                <a:ea typeface="Aptos Display"/>
                <a:cs typeface="Aptos Display"/>
              </a:rPr>
              <a:t>Flotte et cartes carburant</a:t>
            </a:r>
          </a:p>
        </p:txBody>
      </p:sp>
      <p:sp>
        <p:nvSpPr>
          <p:cNvPr id="29" name="Rectangle 28">
            <a:extLst>
              <a:ext uri="{FF2B5EF4-FFF2-40B4-BE49-F238E27FC236}">
                <a16:creationId xmlns:a16="http://schemas.microsoft.com/office/drawing/2014/main" id="{00123584-DB8C-4C4B-80AC-90FDC771B64D}"/>
              </a:ext>
            </a:extLst>
          </p:cNvPr>
          <p:cNvSpPr>
            <a:spLocks noGrp="1"/>
          </p:cNvSpPr>
          <p:nvPr/>
        </p:nvSpPr>
        <p:spPr>
          <a:xfrm>
            <a:off x="876300" y="3981450"/>
            <a:ext cx="485775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0">
                <a:solidFill>
                  <a:srgbClr val="617086"/>
                </a:solidFill>
                <a:latin typeface="Aptos"/>
                <a:ea typeface="Aptos"/>
                <a:cs typeface="Aptos"/>
              </a:defRPr>
            </a:pPr>
            <a:r>
              <a:rPr sz="900" b="0">
                <a:solidFill>
                  <a:srgbClr val="617086"/>
                </a:solidFill>
                <a:latin typeface="Aptos"/>
                <a:ea typeface="Aptos"/>
                <a:cs typeface="Aptos"/>
              </a:rPr>
              <a:t>Consolider les consommations, rapprocher les sources et produire des alertes simples sur les anomalies ou les dépassements inhabituels.</a:t>
            </a:r>
          </a:p>
        </p:txBody>
      </p:sp>
      <p:sp>
        <p:nvSpPr>
          <p:cNvPr id="30" name="Rectangle 29">
            <a:extLst>
              <a:ext uri="{FF2B5EF4-FFF2-40B4-BE49-F238E27FC236}">
                <a16:creationId xmlns:a16="http://schemas.microsoft.com/office/drawing/2014/main" id="{D2FA9268-F337-4B6F-BEED-3206EED86105}"/>
              </a:ext>
            </a:extLst>
          </p:cNvPr>
          <p:cNvSpPr>
            <a:spLocks noGrp="1"/>
          </p:cNvSpPr>
          <p:nvPr/>
        </p:nvSpPr>
        <p:spPr>
          <a:xfrm>
            <a:off x="6096000" y="3714750"/>
            <a:ext cx="5334000" cy="666750"/>
          </a:xfrm>
          <a:prstGeom prst="rect">
            <a:avLst/>
          </a:prstGeom>
          <a:solidFill>
            <a:srgbClr val="FBF5EE"/>
          </a:solidFill>
          <a:ln w="9525">
            <a:solidFill>
              <a:srgbClr val="D7CEC3"/>
            </a:solidFill>
            <a:prstDash val="solid"/>
          </a:ln>
        </p:spPr>
      </p:sp>
      <p:sp>
        <p:nvSpPr>
          <p:cNvPr id="31" name="Rectangle 30">
            <a:extLst>
              <a:ext uri="{FF2B5EF4-FFF2-40B4-BE49-F238E27FC236}">
                <a16:creationId xmlns:a16="http://schemas.microsoft.com/office/drawing/2014/main" id="{B8DB0FAC-F53D-4DDC-9C5F-AF7EFD19B97B}"/>
              </a:ext>
            </a:extLst>
          </p:cNvPr>
          <p:cNvSpPr>
            <a:spLocks noGrp="1"/>
          </p:cNvSpPr>
          <p:nvPr/>
        </p:nvSpPr>
        <p:spPr>
          <a:xfrm>
            <a:off x="6305550" y="3829050"/>
            <a:ext cx="1333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E76F1D"/>
                </a:solidFill>
                <a:latin typeface="Aptos"/>
                <a:ea typeface="Aptos"/>
                <a:cs typeface="Aptos"/>
              </a:defRPr>
            </a:pPr>
            <a:r>
              <a:rPr sz="713" b="1">
                <a:solidFill>
                  <a:srgbClr val="E76F1D"/>
                </a:solidFill>
                <a:latin typeface="Aptos"/>
                <a:ea typeface="Aptos"/>
                <a:cs typeface="Aptos"/>
              </a:rPr>
              <a:t>KPI à instrumenter</a:t>
            </a:r>
          </a:p>
        </p:txBody>
      </p:sp>
      <p:sp>
        <p:nvSpPr>
          <p:cNvPr id="32" name="Rectangle 31">
            <a:extLst>
              <a:ext uri="{FF2B5EF4-FFF2-40B4-BE49-F238E27FC236}">
                <a16:creationId xmlns:a16="http://schemas.microsoft.com/office/drawing/2014/main" id="{22F792B9-76FA-4B12-AED9-8622B9C2A76B}"/>
              </a:ext>
            </a:extLst>
          </p:cNvPr>
          <p:cNvSpPr>
            <a:spLocks noGrp="1"/>
          </p:cNvSpPr>
          <p:nvPr/>
        </p:nvSpPr>
        <p:spPr>
          <a:xfrm>
            <a:off x="6305550" y="4000500"/>
            <a:ext cx="491490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0">
                <a:solidFill>
                  <a:srgbClr val="1A3554"/>
                </a:solidFill>
                <a:latin typeface="Aptos"/>
                <a:ea typeface="Aptos"/>
                <a:cs typeface="Aptos"/>
              </a:defRPr>
            </a:pPr>
            <a:r>
              <a:rPr sz="900" b="0">
                <a:solidFill>
                  <a:srgbClr val="1A3554"/>
                </a:solidFill>
                <a:latin typeface="Aptos"/>
                <a:ea typeface="Aptos"/>
                <a:cs typeface="Aptos"/>
              </a:rPr>
              <a:t>temps de production du reporting flotte, nombre d'anomalies détectées, variation des coûts carburant</a:t>
            </a:r>
          </a:p>
        </p:txBody>
      </p:sp>
      <p:sp>
        <p:nvSpPr>
          <p:cNvPr id="33" name="Rectangle 32">
            <a:extLst>
              <a:ext uri="{FF2B5EF4-FFF2-40B4-BE49-F238E27FC236}">
                <a16:creationId xmlns:a16="http://schemas.microsoft.com/office/drawing/2014/main" id="{CF3EF3AC-1140-46A9-A517-4FD57679C7C7}"/>
              </a:ext>
            </a:extLst>
          </p:cNvPr>
          <p:cNvSpPr>
            <a:spLocks noGrp="1"/>
          </p:cNvSpPr>
          <p:nvPr/>
        </p:nvSpPr>
        <p:spPr>
          <a:xfrm>
            <a:off x="685800" y="4610100"/>
            <a:ext cx="47625" cy="457200"/>
          </a:xfrm>
          <a:prstGeom prst="rect">
            <a:avLst/>
          </a:prstGeom>
          <a:solidFill>
            <a:srgbClr val="163556"/>
          </a:solidFill>
          <a:ln w="0">
            <a:solidFill>
              <a:srgbClr val="000000">
                <a:alpha val="0"/>
              </a:srgbClr>
            </a:solidFill>
            <a:prstDash val="solid"/>
          </a:ln>
        </p:spPr>
      </p:sp>
      <p:sp>
        <p:nvSpPr>
          <p:cNvPr id="34" name="Rectangle 33">
            <a:extLst>
              <a:ext uri="{FF2B5EF4-FFF2-40B4-BE49-F238E27FC236}">
                <a16:creationId xmlns:a16="http://schemas.microsoft.com/office/drawing/2014/main" id="{00F49473-93B1-4BDA-BC7D-6EF94133DDFB}"/>
              </a:ext>
            </a:extLst>
          </p:cNvPr>
          <p:cNvSpPr>
            <a:spLocks noGrp="1"/>
          </p:cNvSpPr>
          <p:nvPr/>
        </p:nvSpPr>
        <p:spPr>
          <a:xfrm>
            <a:off x="876300" y="4514850"/>
            <a:ext cx="238125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1A3554"/>
                </a:solidFill>
                <a:latin typeface="Aptos Display"/>
                <a:ea typeface="Aptos Display"/>
                <a:cs typeface="Aptos Display"/>
              </a:defRPr>
            </a:pPr>
            <a:r>
              <a:rPr sz="1125" b="1">
                <a:solidFill>
                  <a:srgbClr val="1A3554"/>
                </a:solidFill>
                <a:latin typeface="Aptos Display"/>
                <a:ea typeface="Aptos Display"/>
                <a:cs typeface="Aptos Display"/>
              </a:rPr>
              <a:t>Service client et procédures</a:t>
            </a:r>
          </a:p>
        </p:txBody>
      </p:sp>
      <p:sp>
        <p:nvSpPr>
          <p:cNvPr id="35" name="Rectangle 34">
            <a:extLst>
              <a:ext uri="{FF2B5EF4-FFF2-40B4-BE49-F238E27FC236}">
                <a16:creationId xmlns:a16="http://schemas.microsoft.com/office/drawing/2014/main" id="{0AAB3421-A879-41BF-BB04-755124A6CF15}"/>
              </a:ext>
            </a:extLst>
          </p:cNvPr>
          <p:cNvSpPr>
            <a:spLocks noGrp="1"/>
          </p:cNvSpPr>
          <p:nvPr/>
        </p:nvSpPr>
        <p:spPr>
          <a:xfrm>
            <a:off x="876300" y="4762500"/>
            <a:ext cx="485775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0">
                <a:solidFill>
                  <a:srgbClr val="617086"/>
                </a:solidFill>
                <a:latin typeface="Aptos"/>
                <a:ea typeface="Aptos"/>
                <a:cs typeface="Aptos"/>
              </a:defRPr>
            </a:pPr>
            <a:r>
              <a:rPr sz="900" b="0">
                <a:solidFill>
                  <a:srgbClr val="617086"/>
                </a:solidFill>
                <a:latin typeface="Aptos"/>
                <a:ea typeface="Aptos"/>
                <a:cs typeface="Aptos"/>
              </a:rPr>
              <a:t>Rendre les réponses plus cohérentes, accélérer l'accès aux standards et réduire le temps de montée en main des équipes.</a:t>
            </a:r>
          </a:p>
        </p:txBody>
      </p:sp>
      <p:sp>
        <p:nvSpPr>
          <p:cNvPr id="36" name="Rectangle 35">
            <a:extLst>
              <a:ext uri="{FF2B5EF4-FFF2-40B4-BE49-F238E27FC236}">
                <a16:creationId xmlns:a16="http://schemas.microsoft.com/office/drawing/2014/main" id="{B7D002D3-28BC-4734-941F-C895056DA49B}"/>
              </a:ext>
            </a:extLst>
          </p:cNvPr>
          <p:cNvSpPr>
            <a:spLocks noGrp="1"/>
          </p:cNvSpPr>
          <p:nvPr/>
        </p:nvSpPr>
        <p:spPr>
          <a:xfrm>
            <a:off x="6096000" y="4495800"/>
            <a:ext cx="5334000" cy="666750"/>
          </a:xfrm>
          <a:prstGeom prst="rect">
            <a:avLst/>
          </a:prstGeom>
          <a:solidFill>
            <a:srgbClr val="FBF5EE"/>
          </a:solidFill>
          <a:ln w="9525">
            <a:solidFill>
              <a:srgbClr val="D7CEC3"/>
            </a:solidFill>
            <a:prstDash val="solid"/>
          </a:ln>
        </p:spPr>
      </p:sp>
      <p:sp>
        <p:nvSpPr>
          <p:cNvPr id="37" name="Rectangle 36">
            <a:extLst>
              <a:ext uri="{FF2B5EF4-FFF2-40B4-BE49-F238E27FC236}">
                <a16:creationId xmlns:a16="http://schemas.microsoft.com/office/drawing/2014/main" id="{730F27D3-E83D-49F4-B352-939F17EDF468}"/>
              </a:ext>
            </a:extLst>
          </p:cNvPr>
          <p:cNvSpPr>
            <a:spLocks noGrp="1"/>
          </p:cNvSpPr>
          <p:nvPr/>
        </p:nvSpPr>
        <p:spPr>
          <a:xfrm>
            <a:off x="6305550" y="4610100"/>
            <a:ext cx="1333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E76F1D"/>
                </a:solidFill>
                <a:latin typeface="Aptos"/>
                <a:ea typeface="Aptos"/>
                <a:cs typeface="Aptos"/>
              </a:defRPr>
            </a:pPr>
            <a:r>
              <a:rPr sz="713" b="1">
                <a:solidFill>
                  <a:srgbClr val="E76F1D"/>
                </a:solidFill>
                <a:latin typeface="Aptos"/>
                <a:ea typeface="Aptos"/>
                <a:cs typeface="Aptos"/>
              </a:rPr>
              <a:t>KPI à instrumenter</a:t>
            </a:r>
          </a:p>
        </p:txBody>
      </p:sp>
      <p:sp>
        <p:nvSpPr>
          <p:cNvPr id="38" name="Rectangle 37">
            <a:extLst>
              <a:ext uri="{FF2B5EF4-FFF2-40B4-BE49-F238E27FC236}">
                <a16:creationId xmlns:a16="http://schemas.microsoft.com/office/drawing/2014/main" id="{468D6485-EE07-4292-9195-4792A9248CAA}"/>
              </a:ext>
            </a:extLst>
          </p:cNvPr>
          <p:cNvSpPr>
            <a:spLocks noGrp="1"/>
          </p:cNvSpPr>
          <p:nvPr/>
        </p:nvSpPr>
        <p:spPr>
          <a:xfrm>
            <a:off x="6305550" y="4781550"/>
            <a:ext cx="491490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0">
                <a:solidFill>
                  <a:srgbClr val="1A3554"/>
                </a:solidFill>
                <a:latin typeface="Aptos"/>
                <a:ea typeface="Aptos"/>
                <a:cs typeface="Aptos"/>
              </a:defRPr>
            </a:pPr>
            <a:r>
              <a:rPr sz="900" b="0">
                <a:solidFill>
                  <a:srgbClr val="1A3554"/>
                </a:solidFill>
                <a:latin typeface="Aptos"/>
                <a:ea typeface="Aptos"/>
                <a:cs typeface="Aptos"/>
              </a:rPr>
              <a:t>délai de réponse, temps d'onboarding, usage de la base procédures / FAQ interne</a:t>
            </a:r>
          </a:p>
        </p:txBody>
      </p:sp>
      <p:sp>
        <p:nvSpPr>
          <p:cNvPr id="39" name="Rectangle 38">
            <a:extLst>
              <a:ext uri="{FF2B5EF4-FFF2-40B4-BE49-F238E27FC236}">
                <a16:creationId xmlns:a16="http://schemas.microsoft.com/office/drawing/2014/main" id="{EB0EA45E-AE28-418C-9D34-D511A4BC3A3D}"/>
              </a:ext>
            </a:extLst>
          </p:cNvPr>
          <p:cNvSpPr>
            <a:spLocks noGrp="1"/>
          </p:cNvSpPr>
          <p:nvPr/>
        </p:nvSpPr>
        <p:spPr>
          <a:xfrm>
            <a:off x="685800" y="5562600"/>
            <a:ext cx="10820400" cy="514350"/>
          </a:xfrm>
          <a:prstGeom prst="rect">
            <a:avLst/>
          </a:prstGeom>
          <a:solidFill>
            <a:srgbClr val="FBF5EE"/>
          </a:solidFill>
          <a:ln w="9525">
            <a:solidFill>
              <a:srgbClr val="D7CEC3"/>
            </a:solidFill>
            <a:prstDash val="solid"/>
          </a:ln>
        </p:spPr>
      </p:sp>
      <p:sp>
        <p:nvSpPr>
          <p:cNvPr id="40" name="Rectangle 39">
            <a:extLst>
              <a:ext uri="{FF2B5EF4-FFF2-40B4-BE49-F238E27FC236}">
                <a16:creationId xmlns:a16="http://schemas.microsoft.com/office/drawing/2014/main" id="{387BFB57-FF7A-4BB8-8ED1-FCF025259631}"/>
              </a:ext>
            </a:extLst>
          </p:cNvPr>
          <p:cNvSpPr>
            <a:spLocks noGrp="1"/>
          </p:cNvSpPr>
          <p:nvPr/>
        </p:nvSpPr>
        <p:spPr>
          <a:xfrm>
            <a:off x="895350" y="5734050"/>
            <a:ext cx="8572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E76F1D"/>
                </a:solidFill>
                <a:latin typeface="Aptos"/>
                <a:ea typeface="Aptos"/>
                <a:cs typeface="Aptos"/>
              </a:defRPr>
            </a:pPr>
            <a:r>
              <a:rPr sz="750" b="1">
                <a:solidFill>
                  <a:srgbClr val="E76F1D"/>
                </a:solidFill>
                <a:latin typeface="Aptos"/>
                <a:ea typeface="Aptos"/>
                <a:cs typeface="Aptos"/>
              </a:rPr>
              <a:t>Important</a:t>
            </a:r>
          </a:p>
        </p:txBody>
      </p:sp>
      <p:sp>
        <p:nvSpPr>
          <p:cNvPr id="41" name="Rectangle 40">
            <a:extLst>
              <a:ext uri="{FF2B5EF4-FFF2-40B4-BE49-F238E27FC236}">
                <a16:creationId xmlns:a16="http://schemas.microsoft.com/office/drawing/2014/main" id="{F31F8AC7-8658-4204-8F70-18C1CC3C6759}"/>
              </a:ext>
            </a:extLst>
          </p:cNvPr>
          <p:cNvSpPr>
            <a:spLocks noGrp="1"/>
          </p:cNvSpPr>
          <p:nvPr/>
        </p:nvSpPr>
        <p:spPr>
          <a:xfrm>
            <a:off x="1790700" y="5695950"/>
            <a:ext cx="9334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A3554"/>
                </a:solidFill>
                <a:latin typeface="Aptos"/>
                <a:ea typeface="Aptos"/>
                <a:cs typeface="Aptos"/>
              </a:defRPr>
            </a:pPr>
            <a:r>
              <a:rPr sz="863" b="0">
                <a:solidFill>
                  <a:srgbClr val="1A3554"/>
                </a:solidFill>
                <a:latin typeface="Aptos"/>
                <a:ea typeface="Aptos"/>
                <a:cs typeface="Aptos"/>
              </a:rPr>
              <a:t>Les chiffres affichés ci-dessus sont un référentiel ROI TransferAI sur des déploiements comparables. Les gains réels seront calibrés sur les volumes, les processus et les données du prospect pendant l'audit initial.</a:t>
            </a:r>
          </a:p>
        </p:txBody>
      </p:sp>
      <p:sp>
        <p:nvSpPr>
          <p:cNvPr id="42" name="Rectangle 41">
            <a:extLst>
              <a:ext uri="{FF2B5EF4-FFF2-40B4-BE49-F238E27FC236}">
                <a16:creationId xmlns:a16="http://schemas.microsoft.com/office/drawing/2014/main" id="{350B53ED-7171-40B9-AB2E-5B09802451DF}"/>
              </a:ext>
            </a:extLst>
          </p:cNvPr>
          <p:cNvSpPr>
            <a:spLocks noGrp="1"/>
          </p:cNvSpPr>
          <p:nvPr/>
        </p:nvSpPr>
        <p:spPr>
          <a:xfrm>
            <a:off x="647700" y="6496050"/>
            <a:ext cx="10896600" cy="9525"/>
          </a:xfrm>
          <a:prstGeom prst="rect">
            <a:avLst/>
          </a:prstGeom>
          <a:solidFill>
            <a:srgbClr val="D7CEC3"/>
          </a:solidFill>
          <a:ln w="0">
            <a:solidFill>
              <a:srgbClr val="000000">
                <a:alpha val="0"/>
              </a:srgbClr>
            </a:solidFill>
            <a:prstDash val="solid"/>
          </a:ln>
        </p:spPr>
      </p:sp>
      <p:sp>
        <p:nvSpPr>
          <p:cNvPr id="43" name="Rectangle 42">
            <a:extLst>
              <a:ext uri="{FF2B5EF4-FFF2-40B4-BE49-F238E27FC236}">
                <a16:creationId xmlns:a16="http://schemas.microsoft.com/office/drawing/2014/main" id="{2546BEE1-AE8A-4A88-912A-C9F73B676F78}"/>
              </a:ext>
            </a:extLst>
          </p:cNvPr>
          <p:cNvSpPr>
            <a:spLocks noGrp="1"/>
          </p:cNvSpPr>
          <p:nvPr/>
        </p:nvSpPr>
        <p:spPr>
          <a:xfrm>
            <a:off x="685800" y="6572250"/>
            <a:ext cx="8572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617086"/>
                </a:solidFill>
                <a:latin typeface="Aptos"/>
                <a:ea typeface="Aptos"/>
                <a:cs typeface="Aptos"/>
              </a:defRPr>
            </a:pPr>
            <a:r>
              <a:rPr sz="638" b="0">
                <a:solidFill>
                  <a:srgbClr val="617086"/>
                </a:solidFill>
                <a:latin typeface="Aptos"/>
                <a:ea typeface="Aptos"/>
                <a:cs typeface="Aptos"/>
              </a:rPr>
              <a:t>TransferAI | Hub IA de Nettelecom CI | Modèle deck institutionnel V3</a:t>
            </a:r>
          </a:p>
        </p:txBody>
      </p:sp>
      <p:sp>
        <p:nvSpPr>
          <p:cNvPr id="44" name="Rectangle 43">
            <a:extLst>
              <a:ext uri="{FF2B5EF4-FFF2-40B4-BE49-F238E27FC236}">
                <a16:creationId xmlns:a16="http://schemas.microsoft.com/office/drawing/2014/main" id="{F3B4C54B-0615-42CA-913A-1798FCD96A5A}"/>
              </a:ext>
            </a:extLst>
          </p:cNvPr>
          <p:cNvSpPr>
            <a:spLocks noGrp="1"/>
          </p:cNvSpPr>
          <p:nvPr/>
        </p:nvSpPr>
        <p:spPr>
          <a:xfrm>
            <a:off x="11049000" y="6553200"/>
            <a:ext cx="3429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1A3554"/>
                </a:solidFill>
                <a:latin typeface="Aptos"/>
                <a:ea typeface="Aptos"/>
                <a:cs typeface="Aptos"/>
              </a:defRPr>
            </a:pPr>
            <a:r>
              <a:rPr sz="750" b="1">
                <a:solidFill>
                  <a:srgbClr val="1A3554"/>
                </a:solidFill>
                <a:latin typeface="Aptos"/>
                <a:ea typeface="Aptos"/>
                <a:cs typeface="Aptos"/>
              </a:rPr>
              <a:t>06</a:t>
            </a:r>
          </a:p>
        </p:txBody>
      </p:sp>
    </p:spTree>
    <p:extLst>
      <p:ext uri="{BB962C8B-B14F-4D97-AF65-F5344CB8AC3E}">
        <p14:creationId xmlns:p14="http://schemas.microsoft.com/office/powerpoint/2010/main" val="14831019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39">
            <a:extLst>
              <a:ext uri="{FF2B5EF4-FFF2-40B4-BE49-F238E27FC236}">
                <a16:creationId xmlns:a16="http://schemas.microsoft.com/office/drawing/2014/main" id="{3C24FEA9-CFDB-403D-B135-6E3EA319AF38}"/>
              </a:ext>
            </a:extLst>
          </p:cNvPr>
          <p:cNvSpPr>
            <a:spLocks noGrp="1"/>
          </p:cNvSpPr>
          <p:nvPr/>
        </p:nvSpPr>
        <p:spPr>
          <a:xfrm>
            <a:off x="0" y="0"/>
            <a:ext cx="12192000" cy="6858000"/>
          </a:xfrm>
          <a:prstGeom prst="rect">
            <a:avLst/>
          </a:prstGeom>
          <a:solidFill>
            <a:srgbClr val="F5EFE7"/>
          </a:solidFill>
          <a:ln w="0">
            <a:solidFill>
              <a:srgbClr val="000000">
                <a:alpha val="0"/>
              </a:srgbClr>
            </a:solidFill>
            <a:prstDash val="solid"/>
          </a:ln>
        </p:spPr>
      </p:sp>
      <p:sp>
        <p:nvSpPr>
          <p:cNvPr id="2" name="Rectangle 1">
            <a:extLst>
              <a:ext uri="{FF2B5EF4-FFF2-40B4-BE49-F238E27FC236}">
                <a16:creationId xmlns:a16="http://schemas.microsoft.com/office/drawing/2014/main" id="{F05DE3BC-BBB6-4B29-99F4-5662654D9EEC}"/>
              </a:ext>
            </a:extLst>
          </p:cNvPr>
          <p:cNvSpPr>
            <a:spLocks noGrp="1"/>
          </p:cNvSpPr>
          <p:nvPr/>
        </p:nvSpPr>
        <p:spPr>
          <a:xfrm>
            <a:off x="685800" y="495300"/>
            <a:ext cx="2476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E76F1D"/>
                </a:solidFill>
                <a:latin typeface="Aptos"/>
                <a:ea typeface="Aptos"/>
                <a:cs typeface="Aptos"/>
              </a:defRPr>
            </a:pPr>
            <a:r>
              <a:rPr sz="788" b="1">
                <a:solidFill>
                  <a:srgbClr val="E76F1D"/>
                </a:solidFill>
                <a:latin typeface="Aptos"/>
                <a:ea typeface="Aptos"/>
                <a:cs typeface="Aptos"/>
              </a:rPr>
              <a:t>CAS D'USAGE PRIORITAIRES</a:t>
            </a:r>
          </a:p>
        </p:txBody>
      </p:sp>
      <p:sp>
        <p:nvSpPr>
          <p:cNvPr id="3" name="Rectangle 2">
            <a:extLst>
              <a:ext uri="{FF2B5EF4-FFF2-40B4-BE49-F238E27FC236}">
                <a16:creationId xmlns:a16="http://schemas.microsoft.com/office/drawing/2014/main" id="{7B51ACDF-5233-4A86-B499-75E6F4BACB23}"/>
              </a:ext>
            </a:extLst>
          </p:cNvPr>
          <p:cNvSpPr>
            <a:spLocks noGrp="1"/>
          </p:cNvSpPr>
          <p:nvPr/>
        </p:nvSpPr>
        <p:spPr>
          <a:xfrm>
            <a:off x="685800" y="819150"/>
            <a:ext cx="8572500" cy="800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550" b="1">
                <a:solidFill>
                  <a:srgbClr val="1A3554"/>
                </a:solidFill>
                <a:latin typeface="Aptos Display"/>
                <a:ea typeface="Aptos Display"/>
                <a:cs typeface="Aptos Display"/>
              </a:defRPr>
            </a:pPr>
            <a:r>
              <a:rPr sz="2550" b="1">
                <a:solidFill>
                  <a:srgbClr val="1A3554"/>
                </a:solidFill>
                <a:latin typeface="Aptos Display"/>
                <a:ea typeface="Aptos Display"/>
                <a:cs typeface="Aptos Display"/>
              </a:rPr>
              <a:t>Les 4 cas d'usage à mettre au centre de la proposition</a:t>
            </a:r>
          </a:p>
        </p:txBody>
      </p:sp>
      <p:sp>
        <p:nvSpPr>
          <p:cNvPr id="4" name="Rectangle 3">
            <a:extLst>
              <a:ext uri="{FF2B5EF4-FFF2-40B4-BE49-F238E27FC236}">
                <a16:creationId xmlns:a16="http://schemas.microsoft.com/office/drawing/2014/main" id="{A9798A0D-CC79-4537-9934-A17A53AD70ED}"/>
              </a:ext>
            </a:extLst>
          </p:cNvPr>
          <p:cNvSpPr>
            <a:spLocks noGrp="1"/>
          </p:cNvSpPr>
          <p:nvPr/>
        </p:nvSpPr>
        <p:spPr>
          <a:xfrm>
            <a:off x="685800" y="1676400"/>
            <a:ext cx="87630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617086"/>
                </a:solidFill>
                <a:latin typeface="Aptos"/>
                <a:ea typeface="Aptos"/>
                <a:cs typeface="Aptos"/>
              </a:defRPr>
            </a:pPr>
            <a:r>
              <a:rPr sz="1050" b="0">
                <a:solidFill>
                  <a:srgbClr val="617086"/>
                </a:solidFill>
                <a:latin typeface="Aptos"/>
                <a:ea typeface="Aptos"/>
                <a:cs typeface="Aptos"/>
              </a:rPr>
              <a:t>Chaque cas d'usage doit être présenté comme un flux métier visible, avec un avant, un après et des KPI de validation.</a:t>
            </a:r>
          </a:p>
        </p:txBody>
      </p:sp>
      <p:sp>
        <p:nvSpPr>
          <p:cNvPr id="5" name="Rectangle 4">
            <a:extLst>
              <a:ext uri="{FF2B5EF4-FFF2-40B4-BE49-F238E27FC236}">
                <a16:creationId xmlns:a16="http://schemas.microsoft.com/office/drawing/2014/main" id="{8FB26A20-D7C4-475D-835B-2DF9170A9B55}"/>
              </a:ext>
            </a:extLst>
          </p:cNvPr>
          <p:cNvSpPr>
            <a:spLocks noGrp="1"/>
          </p:cNvSpPr>
          <p:nvPr/>
        </p:nvSpPr>
        <p:spPr>
          <a:xfrm>
            <a:off x="685800" y="2114554"/>
            <a:ext cx="5143500" cy="1838014"/>
          </a:xfrm>
          <a:prstGeom prst="rect">
            <a:avLst/>
          </a:prstGeom>
          <a:solidFill>
            <a:srgbClr val="FFFDFC"/>
          </a:solidFill>
          <a:ln w="9525">
            <a:solidFill>
              <a:srgbClr val="D7CEC3"/>
            </a:solidFill>
            <a:prstDash val="solid"/>
          </a:ln>
        </p:spPr>
      </p:sp>
      <p:sp>
        <p:nvSpPr>
          <p:cNvPr id="6" name="Oval 5">
            <a:extLst>
              <a:ext uri="{FF2B5EF4-FFF2-40B4-BE49-F238E27FC236}">
                <a16:creationId xmlns:a16="http://schemas.microsoft.com/office/drawing/2014/main" id="{5E9C8E90-E3FF-4E64-B5DA-A84F960F94E8}"/>
              </a:ext>
            </a:extLst>
          </p:cNvPr>
          <p:cNvSpPr>
            <a:spLocks noGrp="1"/>
          </p:cNvSpPr>
          <p:nvPr/>
        </p:nvSpPr>
        <p:spPr>
          <a:xfrm>
            <a:off x="857250" y="2343150"/>
            <a:ext cx="419100" cy="419100"/>
          </a:xfrm>
          <a:prstGeom prst="ellipse">
            <a:avLst/>
          </a:prstGeom>
          <a:solidFill>
            <a:srgbClr val="E76F1D"/>
          </a:solidFill>
          <a:ln w="0">
            <a:solidFill>
              <a:srgbClr val="E76F1D"/>
            </a:solidFill>
            <a:prstDash val="solid"/>
          </a:ln>
        </p:spPr>
      </p:sp>
      <p:pic>
        <p:nvPicPr>
          <p:cNvPr id="7" name="Graphic 6"/>
          <p:cNvPicPr>
            <a:picLocks noChangeAspect="1"/>
          </p:cNvPicPr>
          <p:nvPr/>
        </p:nvPicPr>
        <p:blipFill>
          <a:blip>
            <a:extLst>
              <a:ext uri="{96DAC541-7B7A-43D3-8B79-37D633B846F1}">
                <asvg:svgBlip xmlns:asvg="http://schemas.microsoft.com/office/drawing/2016/SVG/main" r:embed="rId3"/>
              </a:ext>
            </a:extLst>
          </a:blip>
          <a:stretch/>
        </p:blipFill>
        <p:spPr>
          <a:xfrm>
            <a:off x="952500" y="2438400"/>
            <a:ext cx="228600" cy="228600"/>
          </a:xfrm>
          <a:prstGeom prst="rect">
            <a:avLst/>
          </a:prstGeom>
        </p:spPr>
      </p:pic>
      <p:sp>
        <p:nvSpPr>
          <p:cNvPr id="8" name="Rectangle 7">
            <a:extLst>
              <a:ext uri="{FF2B5EF4-FFF2-40B4-BE49-F238E27FC236}">
                <a16:creationId xmlns:a16="http://schemas.microsoft.com/office/drawing/2014/main" id="{F626A872-766B-49A6-B4BF-E2A69B43DBF5}"/>
              </a:ext>
            </a:extLst>
          </p:cNvPr>
          <p:cNvSpPr>
            <a:spLocks noGrp="1"/>
          </p:cNvSpPr>
          <p:nvPr/>
        </p:nvSpPr>
        <p:spPr>
          <a:xfrm>
            <a:off x="1409700" y="2381250"/>
            <a:ext cx="42291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63" b="1">
                <a:solidFill>
                  <a:srgbClr val="1A3554"/>
                </a:solidFill>
                <a:latin typeface="Aptos Display"/>
                <a:ea typeface="Aptos Display"/>
                <a:cs typeface="Aptos Display"/>
              </a:defRPr>
            </a:pPr>
            <a:r>
              <a:rPr sz="1163" b="1">
                <a:solidFill>
                  <a:srgbClr val="1A3554"/>
                </a:solidFill>
                <a:latin typeface="Aptos Display"/>
                <a:ea typeface="Aptos Display"/>
                <a:cs typeface="Aptos Display"/>
              </a:rPr>
              <a:t>1. Comptes professionnels et recouvrement</a:t>
            </a:r>
          </a:p>
        </p:txBody>
      </p:sp>
      <p:sp>
        <p:nvSpPr>
          <p:cNvPr id="9" name="Rectangle 8">
            <a:extLst>
              <a:ext uri="{FF2B5EF4-FFF2-40B4-BE49-F238E27FC236}">
                <a16:creationId xmlns:a16="http://schemas.microsoft.com/office/drawing/2014/main" id="{09E220D7-B2A4-465A-B4E6-53B14864FD43}"/>
              </a:ext>
            </a:extLst>
          </p:cNvPr>
          <p:cNvSpPr>
            <a:spLocks noGrp="1"/>
          </p:cNvSpPr>
          <p:nvPr/>
        </p:nvSpPr>
        <p:spPr>
          <a:xfrm>
            <a:off x="895350" y="2800350"/>
            <a:ext cx="7620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E76F1D"/>
                </a:solidFill>
                <a:latin typeface="Aptos"/>
                <a:ea typeface="Aptos"/>
                <a:cs typeface="Aptos"/>
              </a:defRPr>
            </a:pPr>
            <a:r>
              <a:rPr sz="675" b="1">
                <a:solidFill>
                  <a:srgbClr val="E76F1D"/>
                </a:solidFill>
                <a:latin typeface="Aptos"/>
                <a:ea typeface="Aptos"/>
                <a:cs typeface="Aptos"/>
              </a:rPr>
              <a:t>AVANT</a:t>
            </a:r>
          </a:p>
        </p:txBody>
      </p:sp>
      <p:sp>
        <p:nvSpPr>
          <p:cNvPr id="10" name="Rectangle 9">
            <a:extLst>
              <a:ext uri="{FF2B5EF4-FFF2-40B4-BE49-F238E27FC236}">
                <a16:creationId xmlns:a16="http://schemas.microsoft.com/office/drawing/2014/main" id="{F52BAA2A-3A07-4B18-B751-01C45781F469}"/>
              </a:ext>
            </a:extLst>
          </p:cNvPr>
          <p:cNvSpPr>
            <a:spLocks noGrp="1"/>
          </p:cNvSpPr>
          <p:nvPr/>
        </p:nvSpPr>
        <p:spPr>
          <a:xfrm>
            <a:off x="895350" y="2971800"/>
            <a:ext cx="47244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617086"/>
                </a:solidFill>
                <a:latin typeface="Aptos"/>
                <a:ea typeface="Aptos"/>
                <a:cs typeface="Aptos"/>
              </a:defRPr>
            </a:pPr>
            <a:r>
              <a:rPr sz="863" b="0">
                <a:solidFill>
                  <a:srgbClr val="617086"/>
                </a:solidFill>
                <a:latin typeface="Aptos"/>
                <a:ea typeface="Aptos"/>
                <a:cs typeface="Aptos"/>
              </a:rPr>
              <a:t>Relances, revues de portefeuille et synthèses commerciales dispersées entre plusieurs supports.</a:t>
            </a:r>
          </a:p>
        </p:txBody>
      </p:sp>
      <p:sp>
        <p:nvSpPr>
          <p:cNvPr id="11" name="Rectangle 10">
            <a:extLst>
              <a:ext uri="{FF2B5EF4-FFF2-40B4-BE49-F238E27FC236}">
                <a16:creationId xmlns:a16="http://schemas.microsoft.com/office/drawing/2014/main" id="{F62D7721-85BC-40C5-A849-C568DCA2FDCE}"/>
              </a:ext>
            </a:extLst>
          </p:cNvPr>
          <p:cNvSpPr>
            <a:spLocks noGrp="1"/>
          </p:cNvSpPr>
          <p:nvPr/>
        </p:nvSpPr>
        <p:spPr>
          <a:xfrm>
            <a:off x="895350" y="3409950"/>
            <a:ext cx="7620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1C8A78"/>
                </a:solidFill>
                <a:latin typeface="Aptos"/>
                <a:ea typeface="Aptos"/>
                <a:cs typeface="Aptos"/>
              </a:defRPr>
            </a:pPr>
            <a:r>
              <a:rPr sz="675" b="1">
                <a:solidFill>
                  <a:srgbClr val="1C8A78"/>
                </a:solidFill>
                <a:latin typeface="Aptos"/>
                <a:ea typeface="Aptos"/>
                <a:cs typeface="Aptos"/>
              </a:rPr>
              <a:t>APRÈS</a:t>
            </a:r>
          </a:p>
        </p:txBody>
      </p:sp>
      <p:sp>
        <p:nvSpPr>
          <p:cNvPr id="12" name="Rectangle 11">
            <a:extLst>
              <a:ext uri="{FF2B5EF4-FFF2-40B4-BE49-F238E27FC236}">
                <a16:creationId xmlns:a16="http://schemas.microsoft.com/office/drawing/2014/main" id="{104D213E-BBDD-4F1D-9DDC-79BA21449CB5}"/>
              </a:ext>
            </a:extLst>
          </p:cNvPr>
          <p:cNvSpPr>
            <a:spLocks noGrp="1"/>
          </p:cNvSpPr>
          <p:nvPr/>
        </p:nvSpPr>
        <p:spPr>
          <a:xfrm>
            <a:off x="895350" y="3581400"/>
            <a:ext cx="4724400" cy="114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A3554"/>
                </a:solidFill>
                <a:latin typeface="Aptos"/>
                <a:ea typeface="Aptos"/>
                <a:cs typeface="Aptos"/>
              </a:defRPr>
            </a:pPr>
            <a:r>
              <a:rPr sz="863" b="0">
                <a:solidFill>
                  <a:srgbClr val="1A3554"/>
                </a:solidFill>
                <a:latin typeface="Aptos"/>
                <a:ea typeface="Aptos"/>
                <a:cs typeface="Aptos"/>
              </a:rPr>
              <a:t>Assistant de préparation, synthèse portefeuille, priorisation des comptes à risque et routines de suivi mieux standardisées.</a:t>
            </a:r>
          </a:p>
        </p:txBody>
      </p:sp>
      <p:sp>
        <p:nvSpPr>
          <p:cNvPr id="13" name="Rectangle 12">
            <a:extLst>
              <a:ext uri="{FF2B5EF4-FFF2-40B4-BE49-F238E27FC236}">
                <a16:creationId xmlns:a16="http://schemas.microsoft.com/office/drawing/2014/main" id="{90F1305E-33E2-4D0F-98D4-61EAEBA3E506}"/>
              </a:ext>
            </a:extLst>
          </p:cNvPr>
          <p:cNvSpPr>
            <a:spLocks noGrp="1"/>
          </p:cNvSpPr>
          <p:nvPr/>
        </p:nvSpPr>
        <p:spPr>
          <a:xfrm>
            <a:off x="6096000" y="2085979"/>
            <a:ext cx="5410200" cy="1885942"/>
          </a:xfrm>
          <a:prstGeom prst="rect">
            <a:avLst/>
          </a:prstGeom>
          <a:solidFill>
            <a:srgbClr val="FFFDFC"/>
          </a:solidFill>
          <a:ln w="9525">
            <a:solidFill>
              <a:srgbClr val="D7CEC3"/>
            </a:solidFill>
            <a:prstDash val="solid"/>
          </a:ln>
        </p:spPr>
      </p:sp>
      <p:sp>
        <p:nvSpPr>
          <p:cNvPr id="14" name="Oval 13">
            <a:extLst>
              <a:ext uri="{FF2B5EF4-FFF2-40B4-BE49-F238E27FC236}">
                <a16:creationId xmlns:a16="http://schemas.microsoft.com/office/drawing/2014/main" id="{B2507774-9828-4A93-9A51-E9151C90157B}"/>
              </a:ext>
            </a:extLst>
          </p:cNvPr>
          <p:cNvSpPr>
            <a:spLocks noGrp="1"/>
          </p:cNvSpPr>
          <p:nvPr/>
        </p:nvSpPr>
        <p:spPr>
          <a:xfrm>
            <a:off x="6267450" y="2343150"/>
            <a:ext cx="419100" cy="419100"/>
          </a:xfrm>
          <a:prstGeom prst="ellipse">
            <a:avLst/>
          </a:prstGeom>
          <a:solidFill>
            <a:srgbClr val="1C8A78"/>
          </a:solidFill>
          <a:ln w="0">
            <a:solidFill>
              <a:srgbClr val="1C8A78"/>
            </a:solidFill>
            <a:prstDash val="solid"/>
          </a:ln>
        </p:spPr>
      </p:sp>
      <p:pic>
        <p:nvPicPr>
          <p:cNvPr id="15" name="Graphic 14"/>
          <p:cNvPicPr>
            <a:picLocks noChangeAspect="1"/>
          </p:cNvPicPr>
          <p:nvPr/>
        </p:nvPicPr>
        <p:blipFill>
          <a:blip>
            <a:extLst>
              <a:ext uri="{96DAC541-7B7A-43D3-8B79-37D633B846F1}">
                <asvg:svgBlip xmlns:asvg="http://schemas.microsoft.com/office/drawing/2016/SVG/main" r:embed="rId4"/>
              </a:ext>
            </a:extLst>
          </a:blip>
          <a:stretch/>
        </p:blipFill>
        <p:spPr>
          <a:xfrm>
            <a:off x="6362700" y="2438400"/>
            <a:ext cx="228600" cy="228600"/>
          </a:xfrm>
          <a:prstGeom prst="rect">
            <a:avLst/>
          </a:prstGeom>
        </p:spPr>
      </p:pic>
      <p:sp>
        <p:nvSpPr>
          <p:cNvPr id="16" name="Rectangle 15">
            <a:extLst>
              <a:ext uri="{FF2B5EF4-FFF2-40B4-BE49-F238E27FC236}">
                <a16:creationId xmlns:a16="http://schemas.microsoft.com/office/drawing/2014/main" id="{62221A4D-D2EE-46A7-8264-1A5BE966CC90}"/>
              </a:ext>
            </a:extLst>
          </p:cNvPr>
          <p:cNvSpPr>
            <a:spLocks noGrp="1"/>
          </p:cNvSpPr>
          <p:nvPr/>
        </p:nvSpPr>
        <p:spPr>
          <a:xfrm>
            <a:off x="6819900" y="2381250"/>
            <a:ext cx="44958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63" b="1">
                <a:solidFill>
                  <a:srgbClr val="1A3554"/>
                </a:solidFill>
                <a:latin typeface="Aptos Display"/>
                <a:ea typeface="Aptos Display"/>
                <a:cs typeface="Aptos Display"/>
              </a:defRPr>
            </a:pPr>
            <a:r>
              <a:rPr sz="1163" b="1">
                <a:solidFill>
                  <a:srgbClr val="1A3554"/>
                </a:solidFill>
                <a:latin typeface="Aptos Display"/>
                <a:ea typeface="Aptos Display"/>
                <a:cs typeface="Aptos Display"/>
              </a:rPr>
              <a:t>2. Flotte, cartes carburant et consommation</a:t>
            </a:r>
          </a:p>
        </p:txBody>
      </p:sp>
      <p:sp>
        <p:nvSpPr>
          <p:cNvPr id="17" name="Rectangle 16">
            <a:extLst>
              <a:ext uri="{FF2B5EF4-FFF2-40B4-BE49-F238E27FC236}">
                <a16:creationId xmlns:a16="http://schemas.microsoft.com/office/drawing/2014/main" id="{28270AEC-A214-4230-80B8-8D0B7A04334B}"/>
              </a:ext>
            </a:extLst>
          </p:cNvPr>
          <p:cNvSpPr>
            <a:spLocks noGrp="1"/>
          </p:cNvSpPr>
          <p:nvPr/>
        </p:nvSpPr>
        <p:spPr>
          <a:xfrm>
            <a:off x="6305550" y="2800350"/>
            <a:ext cx="7620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E76F1D"/>
                </a:solidFill>
                <a:latin typeface="Aptos"/>
                <a:ea typeface="Aptos"/>
                <a:cs typeface="Aptos"/>
              </a:defRPr>
            </a:pPr>
            <a:r>
              <a:rPr sz="675" b="1">
                <a:solidFill>
                  <a:srgbClr val="E76F1D"/>
                </a:solidFill>
                <a:latin typeface="Aptos"/>
                <a:ea typeface="Aptos"/>
                <a:cs typeface="Aptos"/>
              </a:rPr>
              <a:t>AVANT</a:t>
            </a:r>
          </a:p>
        </p:txBody>
      </p:sp>
      <p:sp>
        <p:nvSpPr>
          <p:cNvPr id="18" name="Rectangle 17">
            <a:extLst>
              <a:ext uri="{FF2B5EF4-FFF2-40B4-BE49-F238E27FC236}">
                <a16:creationId xmlns:a16="http://schemas.microsoft.com/office/drawing/2014/main" id="{4F23872F-347D-4011-980D-97EC1ABC7C52}"/>
              </a:ext>
            </a:extLst>
          </p:cNvPr>
          <p:cNvSpPr>
            <a:spLocks noGrp="1"/>
          </p:cNvSpPr>
          <p:nvPr/>
        </p:nvSpPr>
        <p:spPr>
          <a:xfrm>
            <a:off x="6305550" y="2971800"/>
            <a:ext cx="49911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617086"/>
                </a:solidFill>
                <a:latin typeface="Aptos"/>
                <a:ea typeface="Aptos"/>
                <a:cs typeface="Aptos"/>
              </a:defRPr>
            </a:pPr>
            <a:r>
              <a:rPr sz="863" b="0">
                <a:solidFill>
                  <a:srgbClr val="617086"/>
                </a:solidFill>
                <a:latin typeface="Aptos"/>
                <a:ea typeface="Aptos"/>
                <a:cs typeface="Aptos"/>
              </a:rPr>
              <a:t>Vision fragmentée des consommations, des écarts et des commentaires d'analyse.</a:t>
            </a:r>
          </a:p>
        </p:txBody>
      </p:sp>
      <p:sp>
        <p:nvSpPr>
          <p:cNvPr id="19" name="Rectangle 18">
            <a:extLst>
              <a:ext uri="{FF2B5EF4-FFF2-40B4-BE49-F238E27FC236}">
                <a16:creationId xmlns:a16="http://schemas.microsoft.com/office/drawing/2014/main" id="{EC233B85-7B94-4BC9-ABE5-D6E93F96D572}"/>
              </a:ext>
            </a:extLst>
          </p:cNvPr>
          <p:cNvSpPr>
            <a:spLocks noGrp="1"/>
          </p:cNvSpPr>
          <p:nvPr/>
        </p:nvSpPr>
        <p:spPr>
          <a:xfrm>
            <a:off x="6305550" y="3409950"/>
            <a:ext cx="7620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1C8A78"/>
                </a:solidFill>
                <a:latin typeface="Aptos"/>
                <a:ea typeface="Aptos"/>
                <a:cs typeface="Aptos"/>
              </a:defRPr>
            </a:pPr>
            <a:r>
              <a:rPr sz="675" b="1">
                <a:solidFill>
                  <a:srgbClr val="1C8A78"/>
                </a:solidFill>
                <a:latin typeface="Aptos"/>
                <a:ea typeface="Aptos"/>
                <a:cs typeface="Aptos"/>
              </a:rPr>
              <a:t>APRÈS</a:t>
            </a:r>
          </a:p>
        </p:txBody>
      </p:sp>
      <p:sp>
        <p:nvSpPr>
          <p:cNvPr id="20" name="Rectangle 19">
            <a:extLst>
              <a:ext uri="{FF2B5EF4-FFF2-40B4-BE49-F238E27FC236}">
                <a16:creationId xmlns:a16="http://schemas.microsoft.com/office/drawing/2014/main" id="{706CCF4B-2AFB-4096-92BC-A80A357F294A}"/>
              </a:ext>
            </a:extLst>
          </p:cNvPr>
          <p:cNvSpPr>
            <a:spLocks noGrp="1"/>
          </p:cNvSpPr>
          <p:nvPr/>
        </p:nvSpPr>
        <p:spPr>
          <a:xfrm>
            <a:off x="6305550" y="3581400"/>
            <a:ext cx="4991100" cy="114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A3554"/>
                </a:solidFill>
                <a:latin typeface="Aptos"/>
                <a:ea typeface="Aptos"/>
                <a:cs typeface="Aptos"/>
              </a:defRPr>
            </a:pPr>
            <a:r>
              <a:rPr sz="863" b="0" dirty="0">
                <a:solidFill>
                  <a:srgbClr val="1A3554"/>
                </a:solidFill>
                <a:latin typeface="Aptos"/>
                <a:ea typeface="Aptos"/>
                <a:cs typeface="Aptos"/>
              </a:rPr>
              <a:t>Tableau de bord </a:t>
            </a:r>
            <a:r>
              <a:rPr sz="863" b="0" dirty="0" err="1">
                <a:solidFill>
                  <a:srgbClr val="1A3554"/>
                </a:solidFill>
                <a:latin typeface="Aptos"/>
                <a:ea typeface="Aptos"/>
                <a:cs typeface="Aptos"/>
              </a:rPr>
              <a:t>consolidé</a:t>
            </a:r>
            <a:r>
              <a:rPr sz="863" b="0" dirty="0">
                <a:solidFill>
                  <a:srgbClr val="1A3554"/>
                </a:solidFill>
                <a:latin typeface="Aptos"/>
                <a:ea typeface="Aptos"/>
                <a:cs typeface="Aptos"/>
              </a:rPr>
              <a:t>, </a:t>
            </a:r>
            <a:r>
              <a:rPr sz="863" b="0" dirty="0" err="1">
                <a:solidFill>
                  <a:srgbClr val="1A3554"/>
                </a:solidFill>
                <a:latin typeface="Aptos"/>
                <a:ea typeface="Aptos"/>
                <a:cs typeface="Aptos"/>
              </a:rPr>
              <a:t>alertes</a:t>
            </a:r>
            <a:r>
              <a:rPr sz="863" b="0" dirty="0">
                <a:solidFill>
                  <a:srgbClr val="1A3554"/>
                </a:solidFill>
                <a:latin typeface="Aptos"/>
                <a:ea typeface="Aptos"/>
                <a:cs typeface="Aptos"/>
              </a:rPr>
              <a:t> simples sur anomalies et </a:t>
            </a:r>
            <a:r>
              <a:rPr sz="863" b="0" dirty="0" err="1">
                <a:solidFill>
                  <a:srgbClr val="1A3554"/>
                </a:solidFill>
                <a:latin typeface="Aptos"/>
                <a:ea typeface="Aptos"/>
                <a:cs typeface="Aptos"/>
              </a:rPr>
              <a:t>meilleure</a:t>
            </a:r>
            <a:r>
              <a:rPr sz="863" b="0" dirty="0">
                <a:solidFill>
                  <a:srgbClr val="1A3554"/>
                </a:solidFill>
                <a:latin typeface="Aptos"/>
                <a:ea typeface="Aptos"/>
                <a:cs typeface="Aptos"/>
              </a:rPr>
              <a:t> lecture des </a:t>
            </a:r>
            <a:r>
              <a:rPr sz="863" b="0" dirty="0" err="1">
                <a:solidFill>
                  <a:srgbClr val="1A3554"/>
                </a:solidFill>
                <a:latin typeface="Aptos"/>
                <a:ea typeface="Aptos"/>
                <a:cs typeface="Aptos"/>
              </a:rPr>
              <a:t>coûts</a:t>
            </a:r>
            <a:r>
              <a:rPr sz="863" b="0" dirty="0">
                <a:solidFill>
                  <a:srgbClr val="1A3554"/>
                </a:solidFill>
                <a:latin typeface="Aptos"/>
                <a:ea typeface="Aptos"/>
                <a:cs typeface="Aptos"/>
              </a:rPr>
              <a:t> par véhicule, site </a:t>
            </a:r>
            <a:r>
              <a:rPr sz="863" b="0" dirty="0" err="1">
                <a:solidFill>
                  <a:srgbClr val="1A3554"/>
                </a:solidFill>
                <a:latin typeface="Aptos"/>
                <a:ea typeface="Aptos"/>
                <a:cs typeface="Aptos"/>
              </a:rPr>
              <a:t>ou</a:t>
            </a:r>
            <a:r>
              <a:rPr sz="863" b="0" dirty="0">
                <a:solidFill>
                  <a:srgbClr val="1A3554"/>
                </a:solidFill>
                <a:latin typeface="Aptos"/>
                <a:ea typeface="Aptos"/>
                <a:cs typeface="Aptos"/>
              </a:rPr>
              <a:t> </a:t>
            </a:r>
            <a:r>
              <a:rPr sz="863" b="0" dirty="0" err="1">
                <a:solidFill>
                  <a:srgbClr val="1A3554"/>
                </a:solidFill>
                <a:latin typeface="Aptos"/>
                <a:ea typeface="Aptos"/>
                <a:cs typeface="Aptos"/>
              </a:rPr>
              <a:t>période</a:t>
            </a:r>
            <a:r>
              <a:rPr sz="863" b="0" dirty="0">
                <a:solidFill>
                  <a:srgbClr val="1A3554"/>
                </a:solidFill>
                <a:latin typeface="Aptos"/>
                <a:ea typeface="Aptos"/>
                <a:cs typeface="Aptos"/>
              </a:rPr>
              <a:t>.</a:t>
            </a:r>
          </a:p>
        </p:txBody>
      </p:sp>
      <p:sp>
        <p:nvSpPr>
          <p:cNvPr id="21" name="Rectangle 20">
            <a:extLst>
              <a:ext uri="{FF2B5EF4-FFF2-40B4-BE49-F238E27FC236}">
                <a16:creationId xmlns:a16="http://schemas.microsoft.com/office/drawing/2014/main" id="{B3238F5C-3A75-420B-A069-8410E6D5E9A1}"/>
              </a:ext>
            </a:extLst>
          </p:cNvPr>
          <p:cNvSpPr>
            <a:spLocks noGrp="1"/>
          </p:cNvSpPr>
          <p:nvPr/>
        </p:nvSpPr>
        <p:spPr>
          <a:xfrm>
            <a:off x="685800" y="4076696"/>
            <a:ext cx="5143500" cy="2038354"/>
          </a:xfrm>
          <a:prstGeom prst="rect">
            <a:avLst/>
          </a:prstGeom>
          <a:solidFill>
            <a:srgbClr val="FFFDFC"/>
          </a:solidFill>
          <a:ln w="9525">
            <a:solidFill>
              <a:srgbClr val="D7CEC3"/>
            </a:solidFill>
            <a:prstDash val="solid"/>
          </a:ln>
        </p:spPr>
      </p:sp>
      <p:sp>
        <p:nvSpPr>
          <p:cNvPr id="22" name="Oval 21">
            <a:extLst>
              <a:ext uri="{FF2B5EF4-FFF2-40B4-BE49-F238E27FC236}">
                <a16:creationId xmlns:a16="http://schemas.microsoft.com/office/drawing/2014/main" id="{D3E4873A-8F0A-42EF-9A4F-0EF051B40B76}"/>
              </a:ext>
            </a:extLst>
          </p:cNvPr>
          <p:cNvSpPr>
            <a:spLocks noGrp="1"/>
          </p:cNvSpPr>
          <p:nvPr/>
        </p:nvSpPr>
        <p:spPr>
          <a:xfrm>
            <a:off x="857250" y="4210050"/>
            <a:ext cx="419100" cy="419100"/>
          </a:xfrm>
          <a:prstGeom prst="ellipse">
            <a:avLst/>
          </a:prstGeom>
          <a:solidFill>
            <a:srgbClr val="163556"/>
          </a:solidFill>
          <a:ln w="0">
            <a:solidFill>
              <a:srgbClr val="163556"/>
            </a:solidFill>
            <a:prstDash val="solid"/>
          </a:ln>
        </p:spPr>
      </p:sp>
      <p:pic>
        <p:nvPicPr>
          <p:cNvPr id="23" name="Graphic 22"/>
          <p:cNvPicPr>
            <a:picLocks noChangeAspect="1"/>
          </p:cNvPicPr>
          <p:nvPr/>
        </p:nvPicPr>
        <p:blipFill>
          <a:blip>
            <a:extLst>
              <a:ext uri="{96DAC541-7B7A-43D3-8B79-37D633B846F1}">
                <asvg:svgBlip xmlns:asvg="http://schemas.microsoft.com/office/drawing/2016/SVG/main" r:embed="rId5"/>
              </a:ext>
            </a:extLst>
          </a:blip>
          <a:stretch/>
        </p:blipFill>
        <p:spPr>
          <a:xfrm>
            <a:off x="952500" y="4305300"/>
            <a:ext cx="228600" cy="228600"/>
          </a:xfrm>
          <a:prstGeom prst="rect">
            <a:avLst/>
          </a:prstGeom>
        </p:spPr>
      </p:pic>
      <p:sp>
        <p:nvSpPr>
          <p:cNvPr id="24" name="Rectangle 23">
            <a:extLst>
              <a:ext uri="{FF2B5EF4-FFF2-40B4-BE49-F238E27FC236}">
                <a16:creationId xmlns:a16="http://schemas.microsoft.com/office/drawing/2014/main" id="{EBB5C73B-5BF2-47DB-8AEA-FC65233BE38F}"/>
              </a:ext>
            </a:extLst>
          </p:cNvPr>
          <p:cNvSpPr>
            <a:spLocks noGrp="1"/>
          </p:cNvSpPr>
          <p:nvPr/>
        </p:nvSpPr>
        <p:spPr>
          <a:xfrm>
            <a:off x="1409700" y="4248150"/>
            <a:ext cx="42291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63" b="1">
                <a:solidFill>
                  <a:srgbClr val="1A3554"/>
                </a:solidFill>
                <a:latin typeface="Aptos Display"/>
                <a:ea typeface="Aptos Display"/>
                <a:cs typeface="Aptos Display"/>
              </a:defRPr>
            </a:pPr>
            <a:r>
              <a:rPr sz="1163" b="1">
                <a:solidFill>
                  <a:srgbClr val="1A3554"/>
                </a:solidFill>
                <a:latin typeface="Aptos Display"/>
                <a:ea typeface="Aptos Display"/>
                <a:cs typeface="Aptos Display"/>
              </a:rPr>
              <a:t>3. Service client / service auto</a:t>
            </a:r>
          </a:p>
        </p:txBody>
      </p:sp>
      <p:sp>
        <p:nvSpPr>
          <p:cNvPr id="25" name="Rectangle 24">
            <a:extLst>
              <a:ext uri="{FF2B5EF4-FFF2-40B4-BE49-F238E27FC236}">
                <a16:creationId xmlns:a16="http://schemas.microsoft.com/office/drawing/2014/main" id="{BB97B1C9-28A1-491D-8DFA-93441CD827AB}"/>
              </a:ext>
            </a:extLst>
          </p:cNvPr>
          <p:cNvSpPr>
            <a:spLocks noGrp="1"/>
          </p:cNvSpPr>
          <p:nvPr/>
        </p:nvSpPr>
        <p:spPr>
          <a:xfrm>
            <a:off x="895350" y="4667250"/>
            <a:ext cx="7620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E76F1D"/>
                </a:solidFill>
                <a:latin typeface="Aptos"/>
                <a:ea typeface="Aptos"/>
                <a:cs typeface="Aptos"/>
              </a:defRPr>
            </a:pPr>
            <a:r>
              <a:rPr sz="675" b="1">
                <a:solidFill>
                  <a:srgbClr val="E76F1D"/>
                </a:solidFill>
                <a:latin typeface="Aptos"/>
                <a:ea typeface="Aptos"/>
                <a:cs typeface="Aptos"/>
              </a:rPr>
              <a:t>AVANT</a:t>
            </a:r>
          </a:p>
        </p:txBody>
      </p:sp>
      <p:sp>
        <p:nvSpPr>
          <p:cNvPr id="26" name="Rectangle 25">
            <a:extLst>
              <a:ext uri="{FF2B5EF4-FFF2-40B4-BE49-F238E27FC236}">
                <a16:creationId xmlns:a16="http://schemas.microsoft.com/office/drawing/2014/main" id="{630AE3DF-590D-4EE1-B330-DD9E923432B1}"/>
              </a:ext>
            </a:extLst>
          </p:cNvPr>
          <p:cNvSpPr>
            <a:spLocks noGrp="1"/>
          </p:cNvSpPr>
          <p:nvPr/>
        </p:nvSpPr>
        <p:spPr>
          <a:xfrm>
            <a:off x="895350" y="4838700"/>
            <a:ext cx="47244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617086"/>
                </a:solidFill>
                <a:latin typeface="Aptos"/>
                <a:ea typeface="Aptos"/>
                <a:cs typeface="Aptos"/>
              </a:defRPr>
            </a:pPr>
            <a:r>
              <a:rPr sz="863" b="0">
                <a:solidFill>
                  <a:srgbClr val="617086"/>
                </a:solidFill>
                <a:latin typeface="Aptos"/>
                <a:ea typeface="Aptos"/>
                <a:cs typeface="Aptos"/>
              </a:rPr>
              <a:t>Demandes récurrentes, scripts variables et historique pas toujours exploitable pour mieux servir.</a:t>
            </a:r>
          </a:p>
        </p:txBody>
      </p:sp>
      <p:sp>
        <p:nvSpPr>
          <p:cNvPr id="27" name="Rectangle 26">
            <a:extLst>
              <a:ext uri="{FF2B5EF4-FFF2-40B4-BE49-F238E27FC236}">
                <a16:creationId xmlns:a16="http://schemas.microsoft.com/office/drawing/2014/main" id="{B522EAE9-5B0A-4999-BB2C-743753C7FE37}"/>
              </a:ext>
            </a:extLst>
          </p:cNvPr>
          <p:cNvSpPr>
            <a:spLocks noGrp="1"/>
          </p:cNvSpPr>
          <p:nvPr/>
        </p:nvSpPr>
        <p:spPr>
          <a:xfrm>
            <a:off x="895350" y="5276850"/>
            <a:ext cx="7620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1C8A78"/>
                </a:solidFill>
                <a:latin typeface="Aptos"/>
                <a:ea typeface="Aptos"/>
                <a:cs typeface="Aptos"/>
              </a:defRPr>
            </a:pPr>
            <a:r>
              <a:rPr sz="675" b="1">
                <a:solidFill>
                  <a:srgbClr val="1C8A78"/>
                </a:solidFill>
                <a:latin typeface="Aptos"/>
                <a:ea typeface="Aptos"/>
                <a:cs typeface="Aptos"/>
              </a:rPr>
              <a:t>APRÈS</a:t>
            </a:r>
          </a:p>
        </p:txBody>
      </p:sp>
      <p:sp>
        <p:nvSpPr>
          <p:cNvPr id="28" name="Rectangle 27">
            <a:extLst>
              <a:ext uri="{FF2B5EF4-FFF2-40B4-BE49-F238E27FC236}">
                <a16:creationId xmlns:a16="http://schemas.microsoft.com/office/drawing/2014/main" id="{11C2338D-A954-4ED6-AD04-0C852D936068}"/>
              </a:ext>
            </a:extLst>
          </p:cNvPr>
          <p:cNvSpPr>
            <a:spLocks noGrp="1"/>
          </p:cNvSpPr>
          <p:nvPr/>
        </p:nvSpPr>
        <p:spPr>
          <a:xfrm>
            <a:off x="895350" y="5448300"/>
            <a:ext cx="4724400" cy="114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A3554"/>
                </a:solidFill>
                <a:latin typeface="Aptos"/>
                <a:ea typeface="Aptos"/>
                <a:cs typeface="Aptos"/>
              </a:defRPr>
            </a:pPr>
            <a:r>
              <a:rPr sz="863" b="0">
                <a:solidFill>
                  <a:srgbClr val="1A3554"/>
                </a:solidFill>
                <a:latin typeface="Aptos"/>
                <a:ea typeface="Aptos"/>
                <a:cs typeface="Aptos"/>
              </a:rPr>
              <a:t>FAQ assistée, canevas de réponse, suivi plus continu et meilleur niveau de réactivité opérationnelle.</a:t>
            </a:r>
          </a:p>
        </p:txBody>
      </p:sp>
      <p:sp>
        <p:nvSpPr>
          <p:cNvPr id="29" name="Rectangle 28">
            <a:extLst>
              <a:ext uri="{FF2B5EF4-FFF2-40B4-BE49-F238E27FC236}">
                <a16:creationId xmlns:a16="http://schemas.microsoft.com/office/drawing/2014/main" id="{DF617314-C3A8-4D34-AA02-AD14AB85E5D8}"/>
              </a:ext>
            </a:extLst>
          </p:cNvPr>
          <p:cNvSpPr>
            <a:spLocks noGrp="1"/>
          </p:cNvSpPr>
          <p:nvPr/>
        </p:nvSpPr>
        <p:spPr>
          <a:xfrm>
            <a:off x="6096000" y="4067171"/>
            <a:ext cx="5410200" cy="2076453"/>
          </a:xfrm>
          <a:prstGeom prst="rect">
            <a:avLst/>
          </a:prstGeom>
          <a:solidFill>
            <a:srgbClr val="FFFDFC"/>
          </a:solidFill>
          <a:ln w="9525">
            <a:solidFill>
              <a:srgbClr val="D7CEC3"/>
            </a:solidFill>
            <a:prstDash val="solid"/>
          </a:ln>
        </p:spPr>
      </p:sp>
      <p:sp>
        <p:nvSpPr>
          <p:cNvPr id="30" name="Oval 29">
            <a:extLst>
              <a:ext uri="{FF2B5EF4-FFF2-40B4-BE49-F238E27FC236}">
                <a16:creationId xmlns:a16="http://schemas.microsoft.com/office/drawing/2014/main" id="{D8056D98-4718-4A6B-B126-57206D9027A7}"/>
              </a:ext>
            </a:extLst>
          </p:cNvPr>
          <p:cNvSpPr>
            <a:spLocks noGrp="1"/>
          </p:cNvSpPr>
          <p:nvPr/>
        </p:nvSpPr>
        <p:spPr>
          <a:xfrm>
            <a:off x="6267450" y="4210050"/>
            <a:ext cx="419100" cy="419100"/>
          </a:xfrm>
          <a:prstGeom prst="ellipse">
            <a:avLst/>
          </a:prstGeom>
          <a:solidFill>
            <a:srgbClr val="C88C3A"/>
          </a:solidFill>
          <a:ln w="0">
            <a:solidFill>
              <a:srgbClr val="C88C3A"/>
            </a:solidFill>
            <a:prstDash val="solid"/>
          </a:ln>
        </p:spPr>
      </p:sp>
      <p:pic>
        <p:nvPicPr>
          <p:cNvPr id="31" name="Graphic 30"/>
          <p:cNvPicPr>
            <a:picLocks noChangeAspect="1"/>
          </p:cNvPicPr>
          <p:nvPr/>
        </p:nvPicPr>
        <p:blipFill>
          <a:blip>
            <a:extLst>
              <a:ext uri="{96DAC541-7B7A-43D3-8B79-37D633B846F1}">
                <asvg:svgBlip xmlns:asvg="http://schemas.microsoft.com/office/drawing/2016/SVG/main" r:embed="rId6"/>
              </a:ext>
            </a:extLst>
          </a:blip>
          <a:stretch/>
        </p:blipFill>
        <p:spPr>
          <a:xfrm>
            <a:off x="6362700" y="4305300"/>
            <a:ext cx="228600" cy="228600"/>
          </a:xfrm>
          <a:prstGeom prst="rect">
            <a:avLst/>
          </a:prstGeom>
        </p:spPr>
      </p:pic>
      <p:sp>
        <p:nvSpPr>
          <p:cNvPr id="32" name="Rectangle 31">
            <a:extLst>
              <a:ext uri="{FF2B5EF4-FFF2-40B4-BE49-F238E27FC236}">
                <a16:creationId xmlns:a16="http://schemas.microsoft.com/office/drawing/2014/main" id="{9FAEAB07-7E70-48D7-AEC8-5DBB57A1FE30}"/>
              </a:ext>
            </a:extLst>
          </p:cNvPr>
          <p:cNvSpPr>
            <a:spLocks noGrp="1"/>
          </p:cNvSpPr>
          <p:nvPr/>
        </p:nvSpPr>
        <p:spPr>
          <a:xfrm>
            <a:off x="6819900" y="4248150"/>
            <a:ext cx="44958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63" b="1">
                <a:solidFill>
                  <a:srgbClr val="1A3554"/>
                </a:solidFill>
                <a:latin typeface="Aptos Display"/>
                <a:ea typeface="Aptos Display"/>
                <a:cs typeface="Aptos Display"/>
              </a:defRPr>
            </a:pPr>
            <a:r>
              <a:rPr sz="1163" b="1">
                <a:solidFill>
                  <a:srgbClr val="1A3554"/>
                </a:solidFill>
                <a:latin typeface="Aptos Display"/>
                <a:ea typeface="Aptos Display"/>
                <a:cs typeface="Aptos Display"/>
              </a:rPr>
              <a:t>4. Procédures internes et base de connaissances</a:t>
            </a:r>
          </a:p>
        </p:txBody>
      </p:sp>
      <p:sp>
        <p:nvSpPr>
          <p:cNvPr id="33" name="Rectangle 32">
            <a:extLst>
              <a:ext uri="{FF2B5EF4-FFF2-40B4-BE49-F238E27FC236}">
                <a16:creationId xmlns:a16="http://schemas.microsoft.com/office/drawing/2014/main" id="{55F9EA85-035D-4520-9B1F-EAA6F89FFE78}"/>
              </a:ext>
            </a:extLst>
          </p:cNvPr>
          <p:cNvSpPr>
            <a:spLocks noGrp="1"/>
          </p:cNvSpPr>
          <p:nvPr/>
        </p:nvSpPr>
        <p:spPr>
          <a:xfrm>
            <a:off x="6305550" y="4667250"/>
            <a:ext cx="7620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E76F1D"/>
                </a:solidFill>
                <a:latin typeface="Aptos"/>
                <a:ea typeface="Aptos"/>
                <a:cs typeface="Aptos"/>
              </a:defRPr>
            </a:pPr>
            <a:r>
              <a:rPr sz="675" b="1">
                <a:solidFill>
                  <a:srgbClr val="E76F1D"/>
                </a:solidFill>
                <a:latin typeface="Aptos"/>
                <a:ea typeface="Aptos"/>
                <a:cs typeface="Aptos"/>
              </a:rPr>
              <a:t>AVANT</a:t>
            </a:r>
          </a:p>
        </p:txBody>
      </p:sp>
      <p:sp>
        <p:nvSpPr>
          <p:cNvPr id="34" name="Rectangle 33">
            <a:extLst>
              <a:ext uri="{FF2B5EF4-FFF2-40B4-BE49-F238E27FC236}">
                <a16:creationId xmlns:a16="http://schemas.microsoft.com/office/drawing/2014/main" id="{E4B09D7C-40A3-48F5-8115-A318AC26C3D3}"/>
              </a:ext>
            </a:extLst>
          </p:cNvPr>
          <p:cNvSpPr>
            <a:spLocks noGrp="1"/>
          </p:cNvSpPr>
          <p:nvPr/>
        </p:nvSpPr>
        <p:spPr>
          <a:xfrm>
            <a:off x="6305550" y="4838700"/>
            <a:ext cx="49911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617086"/>
                </a:solidFill>
                <a:latin typeface="Aptos"/>
                <a:ea typeface="Aptos"/>
                <a:cs typeface="Aptos"/>
              </a:defRPr>
            </a:pPr>
            <a:r>
              <a:rPr sz="863" b="0">
                <a:solidFill>
                  <a:srgbClr val="617086"/>
                </a:solidFill>
                <a:latin typeface="Aptos"/>
                <a:ea typeface="Aptos"/>
                <a:cs typeface="Aptos"/>
              </a:rPr>
              <a:t>Procédures, standards et bonnes réponses éparpillés, donc difficilement réutilisables à grande échelle.</a:t>
            </a:r>
          </a:p>
        </p:txBody>
      </p:sp>
      <p:sp>
        <p:nvSpPr>
          <p:cNvPr id="35" name="Rectangle 34">
            <a:extLst>
              <a:ext uri="{FF2B5EF4-FFF2-40B4-BE49-F238E27FC236}">
                <a16:creationId xmlns:a16="http://schemas.microsoft.com/office/drawing/2014/main" id="{4D6A729F-70AA-4DBF-A194-BC040F3EA3A2}"/>
              </a:ext>
            </a:extLst>
          </p:cNvPr>
          <p:cNvSpPr>
            <a:spLocks noGrp="1"/>
          </p:cNvSpPr>
          <p:nvPr/>
        </p:nvSpPr>
        <p:spPr>
          <a:xfrm>
            <a:off x="6305550" y="5276850"/>
            <a:ext cx="7620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75" b="1">
                <a:solidFill>
                  <a:srgbClr val="1C8A78"/>
                </a:solidFill>
                <a:latin typeface="Aptos"/>
                <a:ea typeface="Aptos"/>
                <a:cs typeface="Aptos"/>
              </a:defRPr>
            </a:pPr>
            <a:r>
              <a:rPr sz="675" b="1">
                <a:solidFill>
                  <a:srgbClr val="1C8A78"/>
                </a:solidFill>
                <a:latin typeface="Aptos"/>
                <a:ea typeface="Aptos"/>
                <a:cs typeface="Aptos"/>
              </a:rPr>
              <a:t>APRÈS</a:t>
            </a:r>
          </a:p>
        </p:txBody>
      </p:sp>
      <p:sp>
        <p:nvSpPr>
          <p:cNvPr id="36" name="Rectangle 35">
            <a:extLst>
              <a:ext uri="{FF2B5EF4-FFF2-40B4-BE49-F238E27FC236}">
                <a16:creationId xmlns:a16="http://schemas.microsoft.com/office/drawing/2014/main" id="{493C1216-FDC0-4B9D-8B61-7AB3FCA47A69}"/>
              </a:ext>
            </a:extLst>
          </p:cNvPr>
          <p:cNvSpPr>
            <a:spLocks noGrp="1"/>
          </p:cNvSpPr>
          <p:nvPr/>
        </p:nvSpPr>
        <p:spPr>
          <a:xfrm>
            <a:off x="6305550" y="5448300"/>
            <a:ext cx="4991100" cy="114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1A3554"/>
                </a:solidFill>
                <a:latin typeface="Aptos"/>
                <a:ea typeface="Aptos"/>
                <a:cs typeface="Aptos"/>
              </a:defRPr>
            </a:pPr>
            <a:r>
              <a:rPr sz="863" b="0" dirty="0">
                <a:solidFill>
                  <a:srgbClr val="1A3554"/>
                </a:solidFill>
                <a:latin typeface="Aptos"/>
                <a:ea typeface="Aptos"/>
                <a:cs typeface="Aptos"/>
              </a:rPr>
              <a:t>Base interne plus accessible, </a:t>
            </a:r>
            <a:r>
              <a:rPr sz="863" b="0" dirty="0" err="1">
                <a:solidFill>
                  <a:srgbClr val="1A3554"/>
                </a:solidFill>
                <a:latin typeface="Aptos"/>
                <a:ea typeface="Aptos"/>
                <a:cs typeface="Aptos"/>
              </a:rPr>
              <a:t>exécution</a:t>
            </a:r>
            <a:r>
              <a:rPr sz="863" b="0" dirty="0">
                <a:solidFill>
                  <a:srgbClr val="1A3554"/>
                </a:solidFill>
                <a:latin typeface="Aptos"/>
                <a:ea typeface="Aptos"/>
                <a:cs typeface="Aptos"/>
              </a:rPr>
              <a:t> plus </a:t>
            </a:r>
            <a:r>
              <a:rPr sz="863" b="0" dirty="0" err="1">
                <a:solidFill>
                  <a:srgbClr val="1A3554"/>
                </a:solidFill>
                <a:latin typeface="Aptos"/>
                <a:ea typeface="Aptos"/>
                <a:cs typeface="Aptos"/>
              </a:rPr>
              <a:t>homogène</a:t>
            </a:r>
            <a:r>
              <a:rPr sz="863" b="0" dirty="0">
                <a:solidFill>
                  <a:srgbClr val="1A3554"/>
                </a:solidFill>
                <a:latin typeface="Aptos"/>
                <a:ea typeface="Aptos"/>
                <a:cs typeface="Aptos"/>
              </a:rPr>
              <a:t> et </a:t>
            </a:r>
            <a:r>
              <a:rPr sz="863" b="0" dirty="0" err="1">
                <a:solidFill>
                  <a:srgbClr val="1A3554"/>
                </a:solidFill>
                <a:latin typeface="Aptos"/>
                <a:ea typeface="Aptos"/>
                <a:cs typeface="Aptos"/>
              </a:rPr>
              <a:t>réduction</a:t>
            </a:r>
            <a:r>
              <a:rPr sz="863" b="0" dirty="0">
                <a:solidFill>
                  <a:srgbClr val="1A3554"/>
                </a:solidFill>
                <a:latin typeface="Aptos"/>
                <a:ea typeface="Aptos"/>
                <a:cs typeface="Aptos"/>
              </a:rPr>
              <a:t> du temps de recherche pour les équipes.</a:t>
            </a:r>
          </a:p>
        </p:txBody>
      </p:sp>
      <p:sp>
        <p:nvSpPr>
          <p:cNvPr id="37" name="Rectangle 36">
            <a:extLst>
              <a:ext uri="{FF2B5EF4-FFF2-40B4-BE49-F238E27FC236}">
                <a16:creationId xmlns:a16="http://schemas.microsoft.com/office/drawing/2014/main" id="{427429DC-54BA-4063-B9F1-50ADB363FA62}"/>
              </a:ext>
            </a:extLst>
          </p:cNvPr>
          <p:cNvSpPr>
            <a:spLocks noGrp="1"/>
          </p:cNvSpPr>
          <p:nvPr/>
        </p:nvSpPr>
        <p:spPr>
          <a:xfrm>
            <a:off x="647700" y="6496050"/>
            <a:ext cx="10896600" cy="9525"/>
          </a:xfrm>
          <a:prstGeom prst="rect">
            <a:avLst/>
          </a:prstGeom>
          <a:solidFill>
            <a:srgbClr val="D7CEC3"/>
          </a:solidFill>
          <a:ln w="0">
            <a:solidFill>
              <a:srgbClr val="000000">
                <a:alpha val="0"/>
              </a:srgbClr>
            </a:solidFill>
            <a:prstDash val="solid"/>
          </a:ln>
        </p:spPr>
      </p:sp>
      <p:sp>
        <p:nvSpPr>
          <p:cNvPr id="38" name="Rectangle 37">
            <a:extLst>
              <a:ext uri="{FF2B5EF4-FFF2-40B4-BE49-F238E27FC236}">
                <a16:creationId xmlns:a16="http://schemas.microsoft.com/office/drawing/2014/main" id="{BA09C256-2AF2-4799-857C-D4260BF89162}"/>
              </a:ext>
            </a:extLst>
          </p:cNvPr>
          <p:cNvSpPr>
            <a:spLocks noGrp="1"/>
          </p:cNvSpPr>
          <p:nvPr/>
        </p:nvSpPr>
        <p:spPr>
          <a:xfrm>
            <a:off x="685800" y="6572250"/>
            <a:ext cx="8572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617086"/>
                </a:solidFill>
                <a:latin typeface="Aptos"/>
                <a:ea typeface="Aptos"/>
                <a:cs typeface="Aptos"/>
              </a:defRPr>
            </a:pPr>
            <a:r>
              <a:rPr sz="638" b="0">
                <a:solidFill>
                  <a:srgbClr val="617086"/>
                </a:solidFill>
                <a:latin typeface="Aptos"/>
                <a:ea typeface="Aptos"/>
                <a:cs typeface="Aptos"/>
              </a:rPr>
              <a:t>TransferAI | Hub IA de Nettelecom CI | Modèle deck institutionnel V3</a:t>
            </a:r>
          </a:p>
        </p:txBody>
      </p:sp>
      <p:sp>
        <p:nvSpPr>
          <p:cNvPr id="39" name="Rectangle 38">
            <a:extLst>
              <a:ext uri="{FF2B5EF4-FFF2-40B4-BE49-F238E27FC236}">
                <a16:creationId xmlns:a16="http://schemas.microsoft.com/office/drawing/2014/main" id="{12EC4958-F728-4BB8-9F3B-0F4273064B29}"/>
              </a:ext>
            </a:extLst>
          </p:cNvPr>
          <p:cNvSpPr>
            <a:spLocks noGrp="1"/>
          </p:cNvSpPr>
          <p:nvPr/>
        </p:nvSpPr>
        <p:spPr>
          <a:xfrm>
            <a:off x="11049000" y="6553200"/>
            <a:ext cx="3429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1A3554"/>
                </a:solidFill>
                <a:latin typeface="Aptos"/>
                <a:ea typeface="Aptos"/>
                <a:cs typeface="Aptos"/>
              </a:defRPr>
            </a:pPr>
            <a:r>
              <a:rPr sz="750" b="1">
                <a:solidFill>
                  <a:srgbClr val="1A3554"/>
                </a:solidFill>
                <a:latin typeface="Aptos"/>
                <a:ea typeface="Aptos"/>
                <a:cs typeface="Aptos"/>
              </a:rPr>
              <a:t>07</a:t>
            </a:r>
          </a:p>
        </p:txBody>
      </p:sp>
    </p:spTree>
    <p:extLst>
      <p:ext uri="{BB962C8B-B14F-4D97-AF65-F5344CB8AC3E}">
        <p14:creationId xmlns:p14="http://schemas.microsoft.com/office/powerpoint/2010/main" val="3009559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83EB79F6-5F8F-4A04-9BB7-799C1470EE03}"/>
              </a:ext>
            </a:extLst>
          </p:cNvPr>
          <p:cNvSpPr>
            <a:spLocks noGrp="1"/>
          </p:cNvSpPr>
          <p:nvPr/>
        </p:nvSpPr>
        <p:spPr>
          <a:xfrm>
            <a:off x="0" y="0"/>
            <a:ext cx="12192000" cy="6858000"/>
          </a:xfrm>
          <a:prstGeom prst="rect">
            <a:avLst/>
          </a:prstGeom>
          <a:solidFill>
            <a:srgbClr val="F5EFE7"/>
          </a:solidFill>
          <a:ln w="0">
            <a:solidFill>
              <a:srgbClr val="000000">
                <a:alpha val="0"/>
              </a:srgbClr>
            </a:solidFill>
            <a:prstDash val="solid"/>
          </a:ln>
        </p:spPr>
      </p:sp>
      <p:sp>
        <p:nvSpPr>
          <p:cNvPr id="2" name="Rectangle 1">
            <a:extLst>
              <a:ext uri="{FF2B5EF4-FFF2-40B4-BE49-F238E27FC236}">
                <a16:creationId xmlns:a16="http://schemas.microsoft.com/office/drawing/2014/main" id="{3D1B7155-604D-42DD-9EC1-6A2C09C28D96}"/>
              </a:ext>
            </a:extLst>
          </p:cNvPr>
          <p:cNvSpPr>
            <a:spLocks noGrp="1"/>
          </p:cNvSpPr>
          <p:nvPr/>
        </p:nvSpPr>
        <p:spPr>
          <a:xfrm>
            <a:off x="0" y="0"/>
            <a:ext cx="12192000" cy="6858000"/>
          </a:xfrm>
          <a:prstGeom prst="rect">
            <a:avLst/>
          </a:prstGeom>
          <a:solidFill>
            <a:srgbClr val="163556"/>
          </a:solidFill>
          <a:ln w="0">
            <a:solidFill>
              <a:srgbClr val="163556"/>
            </a:solidFill>
            <a:prstDash val="solid"/>
          </a:ln>
        </p:spPr>
      </p:sp>
      <p:sp>
        <p:nvSpPr>
          <p:cNvPr id="3" name="Rectangle 2">
            <a:extLst>
              <a:ext uri="{FF2B5EF4-FFF2-40B4-BE49-F238E27FC236}">
                <a16:creationId xmlns:a16="http://schemas.microsoft.com/office/drawing/2014/main" id="{B2CF9C02-A25A-4975-8B9A-67CEFA8B6055}"/>
              </a:ext>
            </a:extLst>
          </p:cNvPr>
          <p:cNvSpPr>
            <a:spLocks noGrp="1"/>
          </p:cNvSpPr>
          <p:nvPr/>
        </p:nvSpPr>
        <p:spPr>
          <a:xfrm>
            <a:off x="685800" y="1066800"/>
            <a:ext cx="76200" cy="4324350"/>
          </a:xfrm>
          <a:prstGeom prst="rect">
            <a:avLst/>
          </a:prstGeom>
          <a:solidFill>
            <a:srgbClr val="1C8A78"/>
          </a:solidFill>
          <a:ln w="0">
            <a:solidFill>
              <a:srgbClr val="1C8A78"/>
            </a:solidFill>
            <a:prstDash val="solid"/>
          </a:ln>
        </p:spPr>
      </p:sp>
      <p:sp>
        <p:nvSpPr>
          <p:cNvPr id="4" name="Rectangle 3">
            <a:extLst>
              <a:ext uri="{FF2B5EF4-FFF2-40B4-BE49-F238E27FC236}">
                <a16:creationId xmlns:a16="http://schemas.microsoft.com/office/drawing/2014/main" id="{CE385B85-BD39-4BCF-8D50-45DE810131C2}"/>
              </a:ext>
            </a:extLst>
          </p:cNvPr>
          <p:cNvSpPr>
            <a:spLocks noGrp="1"/>
          </p:cNvSpPr>
          <p:nvPr/>
        </p:nvSpPr>
        <p:spPr>
          <a:xfrm>
            <a:off x="990600" y="1162050"/>
            <a:ext cx="2476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FFFFFF"/>
                </a:solidFill>
                <a:latin typeface="Aptos"/>
                <a:ea typeface="Aptos"/>
                <a:cs typeface="Aptos"/>
              </a:defRPr>
            </a:pPr>
            <a:r>
              <a:rPr sz="788" b="1">
                <a:solidFill>
                  <a:srgbClr val="FFFFFF"/>
                </a:solidFill>
                <a:latin typeface="Aptos"/>
                <a:ea typeface="Aptos"/>
                <a:cs typeface="Aptos"/>
              </a:rPr>
              <a:t>CE QUE NOUS RECOMMANDONS</a:t>
            </a:r>
          </a:p>
        </p:txBody>
      </p:sp>
      <p:sp>
        <p:nvSpPr>
          <p:cNvPr id="5" name="Rectangle 4">
            <a:extLst>
              <a:ext uri="{FF2B5EF4-FFF2-40B4-BE49-F238E27FC236}">
                <a16:creationId xmlns:a16="http://schemas.microsoft.com/office/drawing/2014/main" id="{AE2E437C-9EC2-4298-9088-B849AEC14FC4}"/>
              </a:ext>
            </a:extLst>
          </p:cNvPr>
          <p:cNvSpPr>
            <a:spLocks noGrp="1"/>
          </p:cNvSpPr>
          <p:nvPr/>
        </p:nvSpPr>
        <p:spPr>
          <a:xfrm>
            <a:off x="990600" y="1524000"/>
            <a:ext cx="6096000" cy="1295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3000" b="1">
                <a:solidFill>
                  <a:srgbClr val="FFFFFF"/>
                </a:solidFill>
                <a:latin typeface="Aptos Display"/>
                <a:ea typeface="Aptos Display"/>
                <a:cs typeface="Aptos Display"/>
              </a:defRPr>
            </a:pPr>
            <a:r>
              <a:rPr sz="3000" b="1">
                <a:solidFill>
                  <a:srgbClr val="FFFFFF"/>
                </a:solidFill>
                <a:latin typeface="Aptos Display"/>
                <a:ea typeface="Aptos Display"/>
                <a:cs typeface="Aptos Display"/>
              </a:rPr>
              <a:t>Les slides qui transforment</a:t>
            </a:r>
          </a:p>
          <a:p>
            <a:pPr algn="l">
              <a:defRPr sz="3000" b="1">
                <a:solidFill>
                  <a:srgbClr val="FFFFFF"/>
                </a:solidFill>
                <a:latin typeface="Aptos Display"/>
                <a:ea typeface="Aptos Display"/>
                <a:cs typeface="Aptos Display"/>
              </a:defRPr>
            </a:pPr>
            <a:r>
              <a:rPr sz="3000" b="1">
                <a:solidFill>
                  <a:srgbClr val="FFFFFF"/>
                </a:solidFill>
                <a:latin typeface="Aptos Display"/>
                <a:ea typeface="Aptos Display"/>
                <a:cs typeface="Aptos Display"/>
              </a:rPr>
              <a:t>les enjeux en feuille de route</a:t>
            </a:r>
          </a:p>
          <a:p>
            <a:pPr algn="l">
              <a:defRPr sz="3000" b="1">
                <a:solidFill>
                  <a:srgbClr val="FFFFFF"/>
                </a:solidFill>
                <a:latin typeface="Aptos Display"/>
                <a:ea typeface="Aptos Display"/>
                <a:cs typeface="Aptos Display"/>
              </a:defRPr>
            </a:pPr>
            <a:r>
              <a:rPr sz="3000" b="1">
                <a:solidFill>
                  <a:srgbClr val="FFFFFF"/>
                </a:solidFill>
                <a:latin typeface="Aptos Display"/>
                <a:ea typeface="Aptos Display"/>
                <a:cs typeface="Aptos Display"/>
              </a:rPr>
              <a:t>gouvernée.</a:t>
            </a:r>
          </a:p>
        </p:txBody>
      </p:sp>
      <p:sp>
        <p:nvSpPr>
          <p:cNvPr id="6" name="Rectangle 5">
            <a:extLst>
              <a:ext uri="{FF2B5EF4-FFF2-40B4-BE49-F238E27FC236}">
                <a16:creationId xmlns:a16="http://schemas.microsoft.com/office/drawing/2014/main" id="{58AA6345-5747-4112-9794-66EB44BDF39F}"/>
              </a:ext>
            </a:extLst>
          </p:cNvPr>
          <p:cNvSpPr>
            <a:spLocks noGrp="1"/>
          </p:cNvSpPr>
          <p:nvPr/>
        </p:nvSpPr>
        <p:spPr>
          <a:xfrm>
            <a:off x="990600" y="3086100"/>
            <a:ext cx="5334000" cy="10668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00" b="0">
                <a:solidFill>
                  <a:srgbClr val="D7E5F3"/>
                </a:solidFill>
                <a:latin typeface="Aptos"/>
                <a:ea typeface="Aptos"/>
                <a:cs typeface="Aptos"/>
              </a:defRPr>
            </a:pPr>
            <a:r>
              <a:rPr sz="1200" b="0">
                <a:solidFill>
                  <a:srgbClr val="D7E5F3"/>
                </a:solidFill>
                <a:latin typeface="Aptos"/>
                <a:ea typeface="Aptos"/>
                <a:cs typeface="Aptos"/>
              </a:rPr>
              <a:t>Cette deuxième partie du deck convertit les cas d'usage en feuille de route, en gouvernance et en prochaine étape institutionnelle simple.</a:t>
            </a:r>
          </a:p>
        </p:txBody>
      </p:sp>
      <p:sp>
        <p:nvSpPr>
          <p:cNvPr id="7" name="Rectangle 6">
            <a:extLst>
              <a:ext uri="{FF2B5EF4-FFF2-40B4-BE49-F238E27FC236}">
                <a16:creationId xmlns:a16="http://schemas.microsoft.com/office/drawing/2014/main" id="{D89CCADE-837F-4278-836F-79A8E74F1BAD}"/>
              </a:ext>
            </a:extLst>
          </p:cNvPr>
          <p:cNvSpPr>
            <a:spLocks noGrp="1"/>
          </p:cNvSpPr>
          <p:nvPr/>
        </p:nvSpPr>
        <p:spPr>
          <a:xfrm>
            <a:off x="7410450" y="1257300"/>
            <a:ext cx="3752850" cy="1619250"/>
          </a:xfrm>
          <a:prstGeom prst="rect">
            <a:avLst/>
          </a:prstGeom>
          <a:solidFill>
            <a:srgbClr val="244667"/>
          </a:solidFill>
          <a:ln w="9525">
            <a:solidFill>
              <a:srgbClr val="244667"/>
            </a:solidFill>
            <a:prstDash val="solid"/>
          </a:ln>
        </p:spPr>
      </p:sp>
      <p:sp>
        <p:nvSpPr>
          <p:cNvPr id="8" name="Rectangle 7">
            <a:extLst>
              <a:ext uri="{FF2B5EF4-FFF2-40B4-BE49-F238E27FC236}">
                <a16:creationId xmlns:a16="http://schemas.microsoft.com/office/drawing/2014/main" id="{BF3D8C11-1C12-4FB0-A50D-C4B47C9EFFEB}"/>
              </a:ext>
            </a:extLst>
          </p:cNvPr>
          <p:cNvSpPr>
            <a:spLocks noGrp="1"/>
          </p:cNvSpPr>
          <p:nvPr/>
        </p:nvSpPr>
        <p:spPr>
          <a:xfrm>
            <a:off x="7658100" y="1485900"/>
            <a:ext cx="2095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D7E5F3"/>
                </a:solidFill>
                <a:latin typeface="Aptos"/>
                <a:ea typeface="Aptos"/>
                <a:cs typeface="Aptos"/>
              </a:defRPr>
            </a:pPr>
            <a:r>
              <a:rPr sz="750" b="1">
                <a:solidFill>
                  <a:srgbClr val="D7E5F3"/>
                </a:solidFill>
                <a:latin typeface="Aptos"/>
                <a:ea typeface="Aptos"/>
                <a:cs typeface="Aptos"/>
              </a:rPr>
              <a:t>Ce que le prospect doit retenir</a:t>
            </a:r>
          </a:p>
        </p:txBody>
      </p:sp>
      <p:sp>
        <p:nvSpPr>
          <p:cNvPr id="9" name="Rectangle 8">
            <a:extLst>
              <a:ext uri="{FF2B5EF4-FFF2-40B4-BE49-F238E27FC236}">
                <a16:creationId xmlns:a16="http://schemas.microsoft.com/office/drawing/2014/main" id="{6D1EBDF1-6C7E-4A1E-9C3E-644FFAC77EC1}"/>
              </a:ext>
            </a:extLst>
          </p:cNvPr>
          <p:cNvSpPr>
            <a:spLocks noGrp="1"/>
          </p:cNvSpPr>
          <p:nvPr/>
        </p:nvSpPr>
        <p:spPr>
          <a:xfrm>
            <a:off x="7658100" y="1733550"/>
            <a:ext cx="3257550" cy="8382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13" b="1">
                <a:solidFill>
                  <a:srgbClr val="FFFFFF"/>
                </a:solidFill>
                <a:latin typeface="Aptos"/>
                <a:ea typeface="Aptos"/>
                <a:cs typeface="Aptos"/>
              </a:defRPr>
            </a:pPr>
            <a:r>
              <a:rPr sz="1013" b="1">
                <a:solidFill>
                  <a:srgbClr val="FFFFFF"/>
                </a:solidFill>
                <a:latin typeface="Aptos"/>
                <a:ea typeface="Aptos"/>
                <a:cs typeface="Aptos"/>
              </a:rPr>
              <a:t>TransferAI aide à choisir un premier terrain, à cadrer le pilote, à former les bonnes équipes et à mesurer si l'extension est justifiée dans un cadre maîtrisé.</a:t>
            </a:r>
          </a:p>
        </p:txBody>
      </p:sp>
      <p:sp>
        <p:nvSpPr>
          <p:cNvPr id="10" name="Rectangle 9">
            <a:extLst>
              <a:ext uri="{FF2B5EF4-FFF2-40B4-BE49-F238E27FC236}">
                <a16:creationId xmlns:a16="http://schemas.microsoft.com/office/drawing/2014/main" id="{20AAA7D9-B184-458F-9859-BB6B63DD5CC5}"/>
              </a:ext>
            </a:extLst>
          </p:cNvPr>
          <p:cNvSpPr>
            <a:spLocks noGrp="1"/>
          </p:cNvSpPr>
          <p:nvPr/>
        </p:nvSpPr>
        <p:spPr>
          <a:xfrm>
            <a:off x="7410450" y="3200400"/>
            <a:ext cx="3752850" cy="1695450"/>
          </a:xfrm>
          <a:prstGeom prst="rect">
            <a:avLst/>
          </a:prstGeom>
          <a:solidFill>
            <a:srgbClr val="10263F"/>
          </a:solidFill>
          <a:ln w="9525">
            <a:solidFill>
              <a:srgbClr val="2F587F"/>
            </a:solidFill>
            <a:prstDash val="solid"/>
          </a:ln>
        </p:spPr>
      </p:sp>
      <p:sp>
        <p:nvSpPr>
          <p:cNvPr id="11" name="Rectangle 10">
            <a:extLst>
              <a:ext uri="{FF2B5EF4-FFF2-40B4-BE49-F238E27FC236}">
                <a16:creationId xmlns:a16="http://schemas.microsoft.com/office/drawing/2014/main" id="{6AAEC49E-D3C2-4099-82A7-113A9858FB34}"/>
              </a:ext>
            </a:extLst>
          </p:cNvPr>
          <p:cNvSpPr>
            <a:spLocks noGrp="1"/>
          </p:cNvSpPr>
          <p:nvPr/>
        </p:nvSpPr>
        <p:spPr>
          <a:xfrm>
            <a:off x="7658100" y="3429000"/>
            <a:ext cx="1714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CFE0F0"/>
                </a:solidFill>
                <a:latin typeface="Aptos"/>
                <a:ea typeface="Aptos"/>
                <a:cs typeface="Aptos"/>
              </a:defRPr>
            </a:pPr>
            <a:r>
              <a:rPr sz="750" b="1">
                <a:solidFill>
                  <a:srgbClr val="CFE0F0"/>
                </a:solidFill>
                <a:latin typeface="Aptos"/>
                <a:ea typeface="Aptos"/>
                <a:cs typeface="Aptos"/>
              </a:rPr>
              <a:t>Fil conducteur</a:t>
            </a:r>
          </a:p>
        </p:txBody>
      </p:sp>
      <p:sp>
        <p:nvSpPr>
          <p:cNvPr id="12" name="Rectangle 11">
            <a:extLst>
              <a:ext uri="{FF2B5EF4-FFF2-40B4-BE49-F238E27FC236}">
                <a16:creationId xmlns:a16="http://schemas.microsoft.com/office/drawing/2014/main" id="{714A8632-C1A8-4DAC-99B0-336F3853ED71}"/>
              </a:ext>
            </a:extLst>
          </p:cNvPr>
          <p:cNvSpPr>
            <a:spLocks noGrp="1"/>
          </p:cNvSpPr>
          <p:nvPr/>
        </p:nvSpPr>
        <p:spPr>
          <a:xfrm>
            <a:off x="7658100" y="3714750"/>
            <a:ext cx="3105150" cy="533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650" b="1">
                <a:solidFill>
                  <a:srgbClr val="FFFFFF"/>
                </a:solidFill>
                <a:latin typeface="Aptos Display"/>
                <a:ea typeface="Aptos Display"/>
                <a:cs typeface="Aptos Display"/>
              </a:defRPr>
            </a:pPr>
            <a:r>
              <a:rPr sz="1650" b="1">
                <a:solidFill>
                  <a:srgbClr val="FFFFFF"/>
                </a:solidFill>
                <a:latin typeface="Aptos Display"/>
                <a:ea typeface="Aptos Display"/>
                <a:cs typeface="Aptos Display"/>
              </a:rPr>
              <a:t>Recommander sans surpromettre.</a:t>
            </a:r>
          </a:p>
        </p:txBody>
      </p:sp>
      <p:sp>
        <p:nvSpPr>
          <p:cNvPr id="13" name="Rectangle 12">
            <a:extLst>
              <a:ext uri="{FF2B5EF4-FFF2-40B4-BE49-F238E27FC236}">
                <a16:creationId xmlns:a16="http://schemas.microsoft.com/office/drawing/2014/main" id="{C160F952-878F-4439-8D57-0A44343FD073}"/>
              </a:ext>
            </a:extLst>
          </p:cNvPr>
          <p:cNvSpPr>
            <a:spLocks noGrp="1"/>
          </p:cNvSpPr>
          <p:nvPr/>
        </p:nvSpPr>
        <p:spPr>
          <a:xfrm>
            <a:off x="7658100" y="4305300"/>
            <a:ext cx="320040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0">
                <a:solidFill>
                  <a:srgbClr val="D7E5F3"/>
                </a:solidFill>
                <a:latin typeface="Aptos"/>
                <a:ea typeface="Aptos"/>
                <a:cs typeface="Aptos"/>
              </a:defRPr>
            </a:pPr>
            <a:r>
              <a:rPr sz="900" b="0">
                <a:solidFill>
                  <a:srgbClr val="D7E5F3"/>
                </a:solidFill>
                <a:latin typeface="Aptos"/>
                <a:ea typeface="Aptos"/>
                <a:cs typeface="Aptos"/>
              </a:rPr>
              <a:t>Un pilote utile, encadré et lisible vaut mieux qu'un grand plan flou ou trop large dès le départ.</a:t>
            </a:r>
          </a:p>
        </p:txBody>
      </p:sp>
      <p:sp>
        <p:nvSpPr>
          <p:cNvPr id="14" name="Rectangle 13">
            <a:extLst>
              <a:ext uri="{FF2B5EF4-FFF2-40B4-BE49-F238E27FC236}">
                <a16:creationId xmlns:a16="http://schemas.microsoft.com/office/drawing/2014/main" id="{F33E3177-F77C-4E9C-AAAF-85F1AECBA375}"/>
              </a:ext>
            </a:extLst>
          </p:cNvPr>
          <p:cNvSpPr>
            <a:spLocks noGrp="1"/>
          </p:cNvSpPr>
          <p:nvPr/>
        </p:nvSpPr>
        <p:spPr>
          <a:xfrm>
            <a:off x="647700" y="6496050"/>
            <a:ext cx="10896600" cy="9525"/>
          </a:xfrm>
          <a:prstGeom prst="rect">
            <a:avLst/>
          </a:prstGeom>
          <a:solidFill>
            <a:srgbClr val="D7CEC3"/>
          </a:solidFill>
          <a:ln w="0">
            <a:solidFill>
              <a:srgbClr val="000000">
                <a:alpha val="0"/>
              </a:srgbClr>
            </a:solidFill>
            <a:prstDash val="solid"/>
          </a:ln>
        </p:spPr>
      </p:sp>
      <p:sp>
        <p:nvSpPr>
          <p:cNvPr id="15" name="Rectangle 14">
            <a:extLst>
              <a:ext uri="{FF2B5EF4-FFF2-40B4-BE49-F238E27FC236}">
                <a16:creationId xmlns:a16="http://schemas.microsoft.com/office/drawing/2014/main" id="{AEA5CFCE-FAB8-4CCD-95B9-169CBC26490A}"/>
              </a:ext>
            </a:extLst>
          </p:cNvPr>
          <p:cNvSpPr>
            <a:spLocks noGrp="1"/>
          </p:cNvSpPr>
          <p:nvPr/>
        </p:nvSpPr>
        <p:spPr>
          <a:xfrm>
            <a:off x="685800" y="6572250"/>
            <a:ext cx="8572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617086"/>
                </a:solidFill>
                <a:latin typeface="Aptos"/>
                <a:ea typeface="Aptos"/>
                <a:cs typeface="Aptos"/>
              </a:defRPr>
            </a:pPr>
            <a:r>
              <a:rPr sz="638" b="0">
                <a:solidFill>
                  <a:srgbClr val="617086"/>
                </a:solidFill>
                <a:latin typeface="Aptos"/>
                <a:ea typeface="Aptos"/>
                <a:cs typeface="Aptos"/>
              </a:rPr>
              <a:t>TransferAI | Hub IA de Nettelecom CI | Modèle deck institutionnel V3</a:t>
            </a:r>
          </a:p>
        </p:txBody>
      </p:sp>
      <p:sp>
        <p:nvSpPr>
          <p:cNvPr id="16" name="Rectangle 15">
            <a:extLst>
              <a:ext uri="{FF2B5EF4-FFF2-40B4-BE49-F238E27FC236}">
                <a16:creationId xmlns:a16="http://schemas.microsoft.com/office/drawing/2014/main" id="{44959AF5-7790-4686-9CA9-D98627482DB4}"/>
              </a:ext>
            </a:extLst>
          </p:cNvPr>
          <p:cNvSpPr>
            <a:spLocks noGrp="1"/>
          </p:cNvSpPr>
          <p:nvPr/>
        </p:nvSpPr>
        <p:spPr>
          <a:xfrm>
            <a:off x="11049000" y="6553200"/>
            <a:ext cx="3429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1A3554"/>
                </a:solidFill>
                <a:latin typeface="Aptos"/>
                <a:ea typeface="Aptos"/>
                <a:cs typeface="Aptos"/>
              </a:defRPr>
            </a:pPr>
            <a:r>
              <a:rPr sz="750" b="1">
                <a:solidFill>
                  <a:srgbClr val="1A3554"/>
                </a:solidFill>
                <a:latin typeface="Aptos"/>
                <a:ea typeface="Aptos"/>
                <a:cs typeface="Aptos"/>
              </a:rPr>
              <a:t>08</a:t>
            </a:r>
          </a:p>
        </p:txBody>
      </p:sp>
    </p:spTree>
    <p:extLst>
      <p:ext uri="{BB962C8B-B14F-4D97-AF65-F5344CB8AC3E}">
        <p14:creationId xmlns:p14="http://schemas.microsoft.com/office/powerpoint/2010/main" val="18918598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E2E0301F-502D-4115-805C-29BCDF042CE9}"/>
              </a:ext>
            </a:extLst>
          </p:cNvPr>
          <p:cNvSpPr>
            <a:spLocks noGrp="1"/>
          </p:cNvSpPr>
          <p:nvPr/>
        </p:nvSpPr>
        <p:spPr>
          <a:xfrm>
            <a:off x="0" y="0"/>
            <a:ext cx="12192000" cy="6858000"/>
          </a:xfrm>
          <a:prstGeom prst="rect">
            <a:avLst/>
          </a:prstGeom>
          <a:solidFill>
            <a:srgbClr val="F5EFE7"/>
          </a:solidFill>
          <a:ln w="0">
            <a:solidFill>
              <a:srgbClr val="000000">
                <a:alpha val="0"/>
              </a:srgbClr>
            </a:solidFill>
            <a:prstDash val="solid"/>
          </a:ln>
        </p:spPr>
      </p:sp>
      <p:sp>
        <p:nvSpPr>
          <p:cNvPr id="2" name="Rectangle 1">
            <a:extLst>
              <a:ext uri="{FF2B5EF4-FFF2-40B4-BE49-F238E27FC236}">
                <a16:creationId xmlns:a16="http://schemas.microsoft.com/office/drawing/2014/main" id="{3AF9BF51-8B4D-4B3B-8DEA-ED2B2B105C0D}"/>
              </a:ext>
            </a:extLst>
          </p:cNvPr>
          <p:cNvSpPr>
            <a:spLocks noGrp="1"/>
          </p:cNvSpPr>
          <p:nvPr/>
        </p:nvSpPr>
        <p:spPr>
          <a:xfrm>
            <a:off x="685800" y="495300"/>
            <a:ext cx="2476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E76F1D"/>
                </a:solidFill>
                <a:latin typeface="Aptos"/>
                <a:ea typeface="Aptos"/>
                <a:cs typeface="Aptos"/>
              </a:defRPr>
            </a:pPr>
            <a:r>
              <a:rPr sz="788" b="1">
                <a:solidFill>
                  <a:srgbClr val="E76F1D"/>
                </a:solidFill>
                <a:latin typeface="Aptos"/>
                <a:ea typeface="Aptos"/>
                <a:cs typeface="Aptos"/>
              </a:rPr>
              <a:t>DÉTAIL DES CAS D'USAGE</a:t>
            </a:r>
          </a:p>
        </p:txBody>
      </p:sp>
      <p:sp>
        <p:nvSpPr>
          <p:cNvPr id="3" name="Rectangle 2">
            <a:extLst>
              <a:ext uri="{FF2B5EF4-FFF2-40B4-BE49-F238E27FC236}">
                <a16:creationId xmlns:a16="http://schemas.microsoft.com/office/drawing/2014/main" id="{F41402B0-FF2A-492A-8BDD-3C7206A5EC99}"/>
              </a:ext>
            </a:extLst>
          </p:cNvPr>
          <p:cNvSpPr>
            <a:spLocks noGrp="1"/>
          </p:cNvSpPr>
          <p:nvPr/>
        </p:nvSpPr>
        <p:spPr>
          <a:xfrm>
            <a:off x="685800" y="819150"/>
            <a:ext cx="8001000" cy="800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550" b="1">
                <a:solidFill>
                  <a:srgbClr val="1A3554"/>
                </a:solidFill>
                <a:latin typeface="Aptos Display"/>
                <a:ea typeface="Aptos Display"/>
                <a:cs typeface="Aptos Display"/>
              </a:defRPr>
            </a:pPr>
            <a:r>
              <a:rPr sz="2550" b="1">
                <a:solidFill>
                  <a:srgbClr val="1A3554"/>
                </a:solidFill>
                <a:latin typeface="Aptos Display"/>
                <a:ea typeface="Aptos Display"/>
                <a:cs typeface="Aptos Display"/>
              </a:rPr>
              <a:t>Les deux premiers terrains à lancer rapidement</a:t>
            </a:r>
          </a:p>
        </p:txBody>
      </p:sp>
      <p:sp>
        <p:nvSpPr>
          <p:cNvPr id="4" name="Rectangle 3">
            <a:extLst>
              <a:ext uri="{FF2B5EF4-FFF2-40B4-BE49-F238E27FC236}">
                <a16:creationId xmlns:a16="http://schemas.microsoft.com/office/drawing/2014/main" id="{89596109-87B8-4DD4-B3D5-403F5AA5601D}"/>
              </a:ext>
            </a:extLst>
          </p:cNvPr>
          <p:cNvSpPr>
            <a:spLocks noGrp="1"/>
          </p:cNvSpPr>
          <p:nvPr/>
        </p:nvSpPr>
        <p:spPr>
          <a:xfrm>
            <a:off x="685799" y="1676400"/>
            <a:ext cx="9726561"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617086"/>
                </a:solidFill>
                <a:latin typeface="Aptos"/>
                <a:ea typeface="Aptos"/>
                <a:cs typeface="Aptos"/>
              </a:defRPr>
            </a:pPr>
            <a:r>
              <a:rPr sz="1050" b="0" dirty="0">
                <a:solidFill>
                  <a:srgbClr val="617086"/>
                </a:solidFill>
                <a:latin typeface="Aptos"/>
                <a:ea typeface="Aptos"/>
                <a:cs typeface="Aptos"/>
              </a:rPr>
              <a:t>Nous </a:t>
            </a:r>
            <a:r>
              <a:rPr sz="1050" b="0" dirty="0" err="1">
                <a:solidFill>
                  <a:srgbClr val="617086"/>
                </a:solidFill>
                <a:latin typeface="Aptos"/>
                <a:ea typeface="Aptos"/>
                <a:cs typeface="Aptos"/>
              </a:rPr>
              <a:t>recommandons</a:t>
            </a:r>
            <a:r>
              <a:rPr sz="1050" b="0" dirty="0">
                <a:solidFill>
                  <a:srgbClr val="617086"/>
                </a:solidFill>
                <a:latin typeface="Aptos"/>
                <a:ea typeface="Aptos"/>
                <a:cs typeface="Aptos"/>
              </a:rPr>
              <a:t> de </a:t>
            </a:r>
            <a:r>
              <a:rPr sz="1050" b="0" dirty="0" err="1">
                <a:solidFill>
                  <a:srgbClr val="617086"/>
                </a:solidFill>
                <a:latin typeface="Aptos"/>
                <a:ea typeface="Aptos"/>
                <a:cs typeface="Aptos"/>
              </a:rPr>
              <a:t>démarrer</a:t>
            </a:r>
            <a:r>
              <a:rPr sz="1050" b="0" dirty="0">
                <a:solidFill>
                  <a:srgbClr val="617086"/>
                </a:solidFill>
                <a:latin typeface="Aptos"/>
                <a:ea typeface="Aptos"/>
                <a:cs typeface="Aptos"/>
              </a:rPr>
              <a:t> par deux flux </a:t>
            </a:r>
            <a:r>
              <a:rPr sz="1050" b="0" dirty="0" err="1">
                <a:solidFill>
                  <a:srgbClr val="617086"/>
                </a:solidFill>
                <a:latin typeface="Aptos"/>
                <a:ea typeface="Aptos"/>
                <a:cs typeface="Aptos"/>
              </a:rPr>
              <a:t>où</a:t>
            </a:r>
            <a:r>
              <a:rPr sz="1050" b="0" dirty="0">
                <a:solidFill>
                  <a:srgbClr val="617086"/>
                </a:solidFill>
                <a:latin typeface="Aptos"/>
                <a:ea typeface="Aptos"/>
                <a:cs typeface="Aptos"/>
              </a:rPr>
              <a:t> la </a:t>
            </a:r>
            <a:r>
              <a:rPr sz="1050" b="0" dirty="0" err="1">
                <a:solidFill>
                  <a:srgbClr val="617086"/>
                </a:solidFill>
                <a:latin typeface="Aptos"/>
                <a:ea typeface="Aptos"/>
                <a:cs typeface="Aptos"/>
              </a:rPr>
              <a:t>valeur</a:t>
            </a:r>
            <a:r>
              <a:rPr sz="1050" b="0" dirty="0">
                <a:solidFill>
                  <a:srgbClr val="617086"/>
                </a:solidFill>
                <a:latin typeface="Aptos"/>
                <a:ea typeface="Aptos"/>
                <a:cs typeface="Aptos"/>
              </a:rPr>
              <a:t> est plus facile à </a:t>
            </a:r>
            <a:r>
              <a:rPr sz="1050" b="0" dirty="0" err="1">
                <a:solidFill>
                  <a:srgbClr val="617086"/>
                </a:solidFill>
                <a:latin typeface="Aptos"/>
                <a:ea typeface="Aptos"/>
                <a:cs typeface="Aptos"/>
              </a:rPr>
              <a:t>rendre</a:t>
            </a:r>
            <a:r>
              <a:rPr sz="1050" b="0" dirty="0">
                <a:solidFill>
                  <a:srgbClr val="617086"/>
                </a:solidFill>
                <a:latin typeface="Aptos"/>
                <a:ea typeface="Aptos"/>
                <a:cs typeface="Aptos"/>
              </a:rPr>
              <a:t> visible pour la direction : </a:t>
            </a:r>
            <a:r>
              <a:rPr sz="1050" b="0" dirty="0" err="1">
                <a:solidFill>
                  <a:srgbClr val="617086"/>
                </a:solidFill>
                <a:latin typeface="Aptos"/>
                <a:ea typeface="Aptos"/>
                <a:cs typeface="Aptos"/>
              </a:rPr>
              <a:t>comptes</a:t>
            </a:r>
            <a:r>
              <a:rPr sz="1050" b="0" dirty="0">
                <a:solidFill>
                  <a:srgbClr val="617086"/>
                </a:solidFill>
                <a:latin typeface="Aptos"/>
                <a:ea typeface="Aptos"/>
                <a:cs typeface="Aptos"/>
              </a:rPr>
              <a:t> </a:t>
            </a:r>
            <a:r>
              <a:rPr sz="1050" b="0" dirty="0" err="1">
                <a:solidFill>
                  <a:srgbClr val="617086"/>
                </a:solidFill>
                <a:latin typeface="Aptos"/>
                <a:ea typeface="Aptos"/>
                <a:cs typeface="Aptos"/>
              </a:rPr>
              <a:t>professionnels</a:t>
            </a:r>
            <a:r>
              <a:rPr sz="1050" b="0" dirty="0">
                <a:solidFill>
                  <a:srgbClr val="617086"/>
                </a:solidFill>
                <a:latin typeface="Aptos"/>
                <a:ea typeface="Aptos"/>
                <a:cs typeface="Aptos"/>
              </a:rPr>
              <a:t> et </a:t>
            </a:r>
            <a:r>
              <a:rPr sz="1050" b="0" dirty="0" err="1">
                <a:solidFill>
                  <a:srgbClr val="617086"/>
                </a:solidFill>
                <a:latin typeface="Aptos"/>
                <a:ea typeface="Aptos"/>
                <a:cs typeface="Aptos"/>
              </a:rPr>
              <a:t>flotte</a:t>
            </a:r>
            <a:r>
              <a:rPr sz="1050" b="0" dirty="0">
                <a:solidFill>
                  <a:srgbClr val="617086"/>
                </a:solidFill>
                <a:latin typeface="Aptos"/>
                <a:ea typeface="Aptos"/>
                <a:cs typeface="Aptos"/>
              </a:rPr>
              <a:t> / </a:t>
            </a:r>
            <a:r>
              <a:rPr sz="1050" b="0" dirty="0" err="1">
                <a:solidFill>
                  <a:srgbClr val="617086"/>
                </a:solidFill>
                <a:latin typeface="Aptos"/>
                <a:ea typeface="Aptos"/>
                <a:cs typeface="Aptos"/>
              </a:rPr>
              <a:t>cartes</a:t>
            </a:r>
            <a:r>
              <a:rPr sz="1050" b="0" dirty="0">
                <a:solidFill>
                  <a:srgbClr val="617086"/>
                </a:solidFill>
                <a:latin typeface="Aptos"/>
                <a:ea typeface="Aptos"/>
                <a:cs typeface="Aptos"/>
              </a:rPr>
              <a:t> carburant.</a:t>
            </a:r>
          </a:p>
        </p:txBody>
      </p:sp>
      <p:sp>
        <p:nvSpPr>
          <p:cNvPr id="5" name="Rectangle 4">
            <a:extLst>
              <a:ext uri="{FF2B5EF4-FFF2-40B4-BE49-F238E27FC236}">
                <a16:creationId xmlns:a16="http://schemas.microsoft.com/office/drawing/2014/main" id="{7B0D9681-5B3B-409E-A8B7-D43A972F5F40}"/>
              </a:ext>
            </a:extLst>
          </p:cNvPr>
          <p:cNvSpPr>
            <a:spLocks noGrp="1"/>
          </p:cNvSpPr>
          <p:nvPr/>
        </p:nvSpPr>
        <p:spPr>
          <a:xfrm>
            <a:off x="685800" y="2171700"/>
            <a:ext cx="5143500" cy="3105150"/>
          </a:xfrm>
          <a:prstGeom prst="rect">
            <a:avLst/>
          </a:prstGeom>
          <a:solidFill>
            <a:srgbClr val="FFFDFC"/>
          </a:solidFill>
          <a:ln w="9525">
            <a:solidFill>
              <a:srgbClr val="D7CEC3"/>
            </a:solidFill>
            <a:prstDash val="solid"/>
          </a:ln>
        </p:spPr>
      </p:sp>
      <p:sp>
        <p:nvSpPr>
          <p:cNvPr id="6" name="Oval 5">
            <a:extLst>
              <a:ext uri="{FF2B5EF4-FFF2-40B4-BE49-F238E27FC236}">
                <a16:creationId xmlns:a16="http://schemas.microsoft.com/office/drawing/2014/main" id="{4BA52CD0-E238-433E-B548-EC761E84A613}"/>
              </a:ext>
            </a:extLst>
          </p:cNvPr>
          <p:cNvSpPr>
            <a:spLocks noGrp="1"/>
          </p:cNvSpPr>
          <p:nvPr/>
        </p:nvSpPr>
        <p:spPr>
          <a:xfrm>
            <a:off x="895350" y="2362200"/>
            <a:ext cx="419100" cy="419100"/>
          </a:xfrm>
          <a:prstGeom prst="ellipse">
            <a:avLst/>
          </a:prstGeom>
          <a:solidFill>
            <a:srgbClr val="E76F1D"/>
          </a:solidFill>
          <a:ln w="0">
            <a:solidFill>
              <a:srgbClr val="E76F1D"/>
            </a:solidFill>
            <a:prstDash val="solid"/>
          </a:ln>
        </p:spPr>
      </p:sp>
      <p:pic>
        <p:nvPicPr>
          <p:cNvPr id="7" name="Graphic 6"/>
          <p:cNvPicPr>
            <a:picLocks noChangeAspect="1"/>
          </p:cNvPicPr>
          <p:nvPr/>
        </p:nvPicPr>
        <p:blipFill>
          <a:blip>
            <a:extLst>
              <a:ext uri="{96DAC541-7B7A-43D3-8B79-37D633B846F1}">
                <asvg:svgBlip xmlns:asvg="http://schemas.microsoft.com/office/drawing/2016/SVG/main" r:embed="rId3"/>
              </a:ext>
            </a:extLst>
          </a:blip>
          <a:stretch/>
        </p:blipFill>
        <p:spPr>
          <a:xfrm>
            <a:off x="990600" y="2457450"/>
            <a:ext cx="228600" cy="228600"/>
          </a:xfrm>
          <a:prstGeom prst="rect">
            <a:avLst/>
          </a:prstGeom>
        </p:spPr>
      </p:pic>
      <p:sp>
        <p:nvSpPr>
          <p:cNvPr id="8" name="Rectangle 7">
            <a:extLst>
              <a:ext uri="{FF2B5EF4-FFF2-40B4-BE49-F238E27FC236}">
                <a16:creationId xmlns:a16="http://schemas.microsoft.com/office/drawing/2014/main" id="{65898EED-78E2-4BF6-A00C-43D19A915E0E}"/>
              </a:ext>
            </a:extLst>
          </p:cNvPr>
          <p:cNvSpPr>
            <a:spLocks noGrp="1"/>
          </p:cNvSpPr>
          <p:nvPr/>
        </p:nvSpPr>
        <p:spPr>
          <a:xfrm>
            <a:off x="1428750" y="2362200"/>
            <a:ext cx="39052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Comptes professionnels et recouvrement</a:t>
            </a:r>
          </a:p>
        </p:txBody>
      </p:sp>
      <p:sp>
        <p:nvSpPr>
          <p:cNvPr id="9" name="Rectangle 8">
            <a:extLst>
              <a:ext uri="{FF2B5EF4-FFF2-40B4-BE49-F238E27FC236}">
                <a16:creationId xmlns:a16="http://schemas.microsoft.com/office/drawing/2014/main" id="{A2D0F6A0-C8D7-4319-BCA7-9A5D66C6CEE9}"/>
              </a:ext>
            </a:extLst>
          </p:cNvPr>
          <p:cNvSpPr>
            <a:spLocks noGrp="1"/>
          </p:cNvSpPr>
          <p:nvPr/>
        </p:nvSpPr>
        <p:spPr>
          <a:xfrm>
            <a:off x="895350" y="2857500"/>
            <a:ext cx="6667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E76F1D"/>
                </a:solidFill>
                <a:latin typeface="Aptos"/>
                <a:ea typeface="Aptos"/>
                <a:cs typeface="Aptos"/>
              </a:defRPr>
            </a:pPr>
            <a:r>
              <a:rPr sz="750" b="1">
                <a:solidFill>
                  <a:srgbClr val="E76F1D"/>
                </a:solidFill>
                <a:latin typeface="Aptos"/>
                <a:ea typeface="Aptos"/>
                <a:cs typeface="Aptos"/>
              </a:rPr>
              <a:t>AVANT</a:t>
            </a:r>
          </a:p>
        </p:txBody>
      </p:sp>
      <p:sp>
        <p:nvSpPr>
          <p:cNvPr id="10" name="Rectangle 9">
            <a:extLst>
              <a:ext uri="{FF2B5EF4-FFF2-40B4-BE49-F238E27FC236}">
                <a16:creationId xmlns:a16="http://schemas.microsoft.com/office/drawing/2014/main" id="{86748AFC-97C2-451D-B683-D5928B743891}"/>
              </a:ext>
            </a:extLst>
          </p:cNvPr>
          <p:cNvSpPr>
            <a:spLocks noGrp="1"/>
          </p:cNvSpPr>
          <p:nvPr/>
        </p:nvSpPr>
        <p:spPr>
          <a:xfrm>
            <a:off x="895350" y="3086100"/>
            <a:ext cx="4476750" cy="704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0">
                <a:solidFill>
                  <a:srgbClr val="617086"/>
                </a:solidFill>
                <a:latin typeface="Aptos"/>
                <a:ea typeface="Aptos"/>
                <a:cs typeface="Aptos"/>
              </a:defRPr>
            </a:pPr>
            <a:r>
              <a:rPr sz="938" b="0">
                <a:solidFill>
                  <a:srgbClr val="617086"/>
                </a:solidFill>
                <a:latin typeface="Aptos"/>
                <a:ea typeface="Aptos"/>
                <a:cs typeface="Aptos"/>
              </a:rPr>
              <a:t>• relances préparées à la main</a:t>
            </a:r>
          </a:p>
          <a:p>
            <a:pPr algn="l">
              <a:defRPr sz="938" b="0">
                <a:solidFill>
                  <a:srgbClr val="617086"/>
                </a:solidFill>
                <a:latin typeface="Aptos"/>
                <a:ea typeface="Aptos"/>
                <a:cs typeface="Aptos"/>
              </a:defRPr>
            </a:pPr>
            <a:r>
              <a:rPr sz="938" b="0">
                <a:solidFill>
                  <a:srgbClr val="617086"/>
                </a:solidFill>
                <a:latin typeface="Aptos"/>
                <a:ea typeface="Aptos"/>
                <a:cs typeface="Aptos"/>
              </a:rPr>
              <a:t>• revues de portefeuille longues à consolider</a:t>
            </a:r>
          </a:p>
          <a:p>
            <a:pPr algn="l">
              <a:defRPr sz="938" b="0">
                <a:solidFill>
                  <a:srgbClr val="617086"/>
                </a:solidFill>
                <a:latin typeface="Aptos"/>
                <a:ea typeface="Aptos"/>
                <a:cs typeface="Aptos"/>
              </a:defRPr>
            </a:pPr>
            <a:r>
              <a:rPr sz="938" b="0">
                <a:solidFill>
                  <a:srgbClr val="617086"/>
                </a:solidFill>
                <a:latin typeface="Aptos"/>
                <a:ea typeface="Aptos"/>
                <a:cs typeface="Aptos"/>
              </a:rPr>
              <a:t>• informations dispersées entre mails, fichiers et historique commercial</a:t>
            </a:r>
          </a:p>
        </p:txBody>
      </p:sp>
      <p:sp>
        <p:nvSpPr>
          <p:cNvPr id="11" name="Rectangle 10">
            <a:extLst>
              <a:ext uri="{FF2B5EF4-FFF2-40B4-BE49-F238E27FC236}">
                <a16:creationId xmlns:a16="http://schemas.microsoft.com/office/drawing/2014/main" id="{5E9D43FA-CA61-42B9-B1D4-1AD0DF4502D4}"/>
              </a:ext>
            </a:extLst>
          </p:cNvPr>
          <p:cNvSpPr>
            <a:spLocks noGrp="1"/>
          </p:cNvSpPr>
          <p:nvPr/>
        </p:nvSpPr>
        <p:spPr>
          <a:xfrm>
            <a:off x="895350" y="3981450"/>
            <a:ext cx="6667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1C8A78"/>
                </a:solidFill>
                <a:latin typeface="Aptos"/>
                <a:ea typeface="Aptos"/>
                <a:cs typeface="Aptos"/>
              </a:defRPr>
            </a:pPr>
            <a:r>
              <a:rPr sz="750" b="1">
                <a:solidFill>
                  <a:srgbClr val="1C8A78"/>
                </a:solidFill>
                <a:latin typeface="Aptos"/>
                <a:ea typeface="Aptos"/>
                <a:cs typeface="Aptos"/>
              </a:rPr>
              <a:t>APRÈS</a:t>
            </a:r>
          </a:p>
        </p:txBody>
      </p:sp>
      <p:sp>
        <p:nvSpPr>
          <p:cNvPr id="12" name="Rectangle 11">
            <a:extLst>
              <a:ext uri="{FF2B5EF4-FFF2-40B4-BE49-F238E27FC236}">
                <a16:creationId xmlns:a16="http://schemas.microsoft.com/office/drawing/2014/main" id="{FD110412-6C56-4AED-A8DD-2B4711FBEA6A}"/>
              </a:ext>
            </a:extLst>
          </p:cNvPr>
          <p:cNvSpPr>
            <a:spLocks noGrp="1"/>
          </p:cNvSpPr>
          <p:nvPr/>
        </p:nvSpPr>
        <p:spPr>
          <a:xfrm>
            <a:off x="895350" y="4210050"/>
            <a:ext cx="4476750" cy="704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0">
                <a:solidFill>
                  <a:srgbClr val="1A3554"/>
                </a:solidFill>
                <a:latin typeface="Aptos"/>
                <a:ea typeface="Aptos"/>
                <a:cs typeface="Aptos"/>
              </a:defRPr>
            </a:pPr>
            <a:r>
              <a:rPr sz="938" b="0">
                <a:solidFill>
                  <a:srgbClr val="1A3554"/>
                </a:solidFill>
                <a:latin typeface="Aptos"/>
                <a:ea typeface="Aptos"/>
                <a:cs typeface="Aptos"/>
              </a:rPr>
              <a:t>• canevas de relance et brouillons assistés</a:t>
            </a:r>
          </a:p>
          <a:p>
            <a:pPr algn="l">
              <a:defRPr sz="938" b="0">
                <a:solidFill>
                  <a:srgbClr val="1A3554"/>
                </a:solidFill>
                <a:latin typeface="Aptos"/>
                <a:ea typeface="Aptos"/>
                <a:cs typeface="Aptos"/>
              </a:defRPr>
            </a:pPr>
            <a:r>
              <a:rPr sz="938" b="0">
                <a:solidFill>
                  <a:srgbClr val="1A3554"/>
                </a:solidFill>
                <a:latin typeface="Aptos"/>
                <a:ea typeface="Aptos"/>
                <a:cs typeface="Aptos"/>
              </a:rPr>
              <a:t>• synthèse de portefeuille pré-préparée pour les revues</a:t>
            </a:r>
          </a:p>
          <a:p>
            <a:pPr algn="l">
              <a:defRPr sz="938" b="0">
                <a:solidFill>
                  <a:srgbClr val="1A3554"/>
                </a:solidFill>
                <a:latin typeface="Aptos"/>
                <a:ea typeface="Aptos"/>
                <a:cs typeface="Aptos"/>
              </a:defRPr>
            </a:pPr>
            <a:r>
              <a:rPr sz="938" b="0">
                <a:solidFill>
                  <a:srgbClr val="1A3554"/>
                </a:solidFill>
                <a:latin typeface="Aptos"/>
                <a:ea typeface="Aptos"/>
                <a:cs typeface="Aptos"/>
              </a:rPr>
              <a:t>• signalement des comptes sensibles ou des échéances critiques</a:t>
            </a:r>
          </a:p>
        </p:txBody>
      </p:sp>
      <p:sp>
        <p:nvSpPr>
          <p:cNvPr id="13" name="Rectangle 12">
            <a:extLst>
              <a:ext uri="{FF2B5EF4-FFF2-40B4-BE49-F238E27FC236}">
                <a16:creationId xmlns:a16="http://schemas.microsoft.com/office/drawing/2014/main" id="{11D247FD-BFC2-47D7-A54E-F190D9AD6D3E}"/>
              </a:ext>
            </a:extLst>
          </p:cNvPr>
          <p:cNvSpPr>
            <a:spLocks noGrp="1"/>
          </p:cNvSpPr>
          <p:nvPr/>
        </p:nvSpPr>
        <p:spPr>
          <a:xfrm>
            <a:off x="895350" y="4972050"/>
            <a:ext cx="4667250" cy="381000"/>
          </a:xfrm>
          <a:prstGeom prst="rect">
            <a:avLst/>
          </a:prstGeom>
          <a:solidFill>
            <a:srgbClr val="FBF5EE"/>
          </a:solidFill>
          <a:ln w="9525">
            <a:solidFill>
              <a:srgbClr val="D7CEC3"/>
            </a:solidFill>
            <a:prstDash val="solid"/>
          </a:ln>
        </p:spPr>
      </p:sp>
      <p:sp>
        <p:nvSpPr>
          <p:cNvPr id="14" name="Rectangle 13">
            <a:extLst>
              <a:ext uri="{FF2B5EF4-FFF2-40B4-BE49-F238E27FC236}">
                <a16:creationId xmlns:a16="http://schemas.microsoft.com/office/drawing/2014/main" id="{84F3FC1D-ED84-4F8A-A839-A4C22A671018}"/>
              </a:ext>
            </a:extLst>
          </p:cNvPr>
          <p:cNvSpPr>
            <a:spLocks noGrp="1"/>
          </p:cNvSpPr>
          <p:nvPr/>
        </p:nvSpPr>
        <p:spPr>
          <a:xfrm>
            <a:off x="1047750" y="5086350"/>
            <a:ext cx="43434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1">
                <a:solidFill>
                  <a:srgbClr val="1A3554"/>
                </a:solidFill>
                <a:latin typeface="Aptos"/>
                <a:ea typeface="Aptos"/>
                <a:cs typeface="Aptos"/>
              </a:defRPr>
            </a:pPr>
            <a:r>
              <a:rPr sz="863" b="1">
                <a:solidFill>
                  <a:srgbClr val="1A3554"/>
                </a:solidFill>
                <a:latin typeface="Aptos"/>
                <a:ea typeface="Aptos"/>
                <a:cs typeface="Aptos"/>
              </a:rPr>
              <a:t>KPI : délai de relance | temps de préparation des revues | visibilité sur les encours en retard</a:t>
            </a:r>
          </a:p>
        </p:txBody>
      </p:sp>
      <p:sp>
        <p:nvSpPr>
          <p:cNvPr id="15" name="Rectangle 14">
            <a:extLst>
              <a:ext uri="{FF2B5EF4-FFF2-40B4-BE49-F238E27FC236}">
                <a16:creationId xmlns:a16="http://schemas.microsoft.com/office/drawing/2014/main" id="{99D1500A-3511-4CDD-BD97-51E010BD0482}"/>
              </a:ext>
            </a:extLst>
          </p:cNvPr>
          <p:cNvSpPr>
            <a:spLocks noGrp="1"/>
          </p:cNvSpPr>
          <p:nvPr/>
        </p:nvSpPr>
        <p:spPr>
          <a:xfrm>
            <a:off x="6096000" y="2171700"/>
            <a:ext cx="5410200" cy="3105150"/>
          </a:xfrm>
          <a:prstGeom prst="rect">
            <a:avLst/>
          </a:prstGeom>
          <a:solidFill>
            <a:srgbClr val="FFFDFC"/>
          </a:solidFill>
          <a:ln w="9525">
            <a:solidFill>
              <a:srgbClr val="D7CEC3"/>
            </a:solidFill>
            <a:prstDash val="solid"/>
          </a:ln>
        </p:spPr>
      </p:sp>
      <p:sp>
        <p:nvSpPr>
          <p:cNvPr id="16" name="Oval 15">
            <a:extLst>
              <a:ext uri="{FF2B5EF4-FFF2-40B4-BE49-F238E27FC236}">
                <a16:creationId xmlns:a16="http://schemas.microsoft.com/office/drawing/2014/main" id="{08CF3F03-3867-4CB9-B19D-D634EB3DA868}"/>
              </a:ext>
            </a:extLst>
          </p:cNvPr>
          <p:cNvSpPr>
            <a:spLocks noGrp="1"/>
          </p:cNvSpPr>
          <p:nvPr/>
        </p:nvSpPr>
        <p:spPr>
          <a:xfrm>
            <a:off x="6305550" y="2362200"/>
            <a:ext cx="419100" cy="419100"/>
          </a:xfrm>
          <a:prstGeom prst="ellipse">
            <a:avLst/>
          </a:prstGeom>
          <a:solidFill>
            <a:srgbClr val="1C8A78"/>
          </a:solidFill>
          <a:ln w="0">
            <a:solidFill>
              <a:srgbClr val="1C8A78"/>
            </a:solidFill>
            <a:prstDash val="solid"/>
          </a:ln>
        </p:spPr>
      </p:sp>
      <p:pic>
        <p:nvPicPr>
          <p:cNvPr id="17" name="Graphic 16"/>
          <p:cNvPicPr>
            <a:picLocks noChangeAspect="1"/>
          </p:cNvPicPr>
          <p:nvPr/>
        </p:nvPicPr>
        <p:blipFill>
          <a:blip>
            <a:extLst>
              <a:ext uri="{96DAC541-7B7A-43D3-8B79-37D633B846F1}">
                <asvg:svgBlip xmlns:asvg="http://schemas.microsoft.com/office/drawing/2016/SVG/main" r:embed="rId4"/>
              </a:ext>
            </a:extLst>
          </a:blip>
          <a:stretch/>
        </p:blipFill>
        <p:spPr>
          <a:xfrm>
            <a:off x="6400800" y="2457450"/>
            <a:ext cx="228600" cy="228600"/>
          </a:xfrm>
          <a:prstGeom prst="rect">
            <a:avLst/>
          </a:prstGeom>
        </p:spPr>
      </p:pic>
      <p:sp>
        <p:nvSpPr>
          <p:cNvPr id="18" name="Rectangle 17">
            <a:extLst>
              <a:ext uri="{FF2B5EF4-FFF2-40B4-BE49-F238E27FC236}">
                <a16:creationId xmlns:a16="http://schemas.microsoft.com/office/drawing/2014/main" id="{0A6E76BF-E541-42B5-9888-883DB0D88342}"/>
              </a:ext>
            </a:extLst>
          </p:cNvPr>
          <p:cNvSpPr>
            <a:spLocks noGrp="1"/>
          </p:cNvSpPr>
          <p:nvPr/>
        </p:nvSpPr>
        <p:spPr>
          <a:xfrm>
            <a:off x="6838950" y="2362200"/>
            <a:ext cx="4000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Flotte, cartes carburant et consommation</a:t>
            </a:r>
          </a:p>
        </p:txBody>
      </p:sp>
      <p:sp>
        <p:nvSpPr>
          <p:cNvPr id="19" name="Rectangle 18">
            <a:extLst>
              <a:ext uri="{FF2B5EF4-FFF2-40B4-BE49-F238E27FC236}">
                <a16:creationId xmlns:a16="http://schemas.microsoft.com/office/drawing/2014/main" id="{17887EE9-6635-4920-BC0E-7C265423B955}"/>
              </a:ext>
            </a:extLst>
          </p:cNvPr>
          <p:cNvSpPr>
            <a:spLocks noGrp="1"/>
          </p:cNvSpPr>
          <p:nvPr/>
        </p:nvSpPr>
        <p:spPr>
          <a:xfrm>
            <a:off x="6305550" y="2857500"/>
            <a:ext cx="6667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E76F1D"/>
                </a:solidFill>
                <a:latin typeface="Aptos"/>
                <a:ea typeface="Aptos"/>
                <a:cs typeface="Aptos"/>
              </a:defRPr>
            </a:pPr>
            <a:r>
              <a:rPr sz="750" b="1">
                <a:solidFill>
                  <a:srgbClr val="E76F1D"/>
                </a:solidFill>
                <a:latin typeface="Aptos"/>
                <a:ea typeface="Aptos"/>
                <a:cs typeface="Aptos"/>
              </a:rPr>
              <a:t>AVANT</a:t>
            </a:r>
          </a:p>
        </p:txBody>
      </p:sp>
      <p:sp>
        <p:nvSpPr>
          <p:cNvPr id="20" name="Rectangle 19">
            <a:extLst>
              <a:ext uri="{FF2B5EF4-FFF2-40B4-BE49-F238E27FC236}">
                <a16:creationId xmlns:a16="http://schemas.microsoft.com/office/drawing/2014/main" id="{26974E4B-2C53-488C-86CB-2868CE19E08D}"/>
              </a:ext>
            </a:extLst>
          </p:cNvPr>
          <p:cNvSpPr>
            <a:spLocks noGrp="1"/>
          </p:cNvSpPr>
          <p:nvPr/>
        </p:nvSpPr>
        <p:spPr>
          <a:xfrm>
            <a:off x="6305550" y="3086100"/>
            <a:ext cx="4743450" cy="704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0">
                <a:solidFill>
                  <a:srgbClr val="617086"/>
                </a:solidFill>
                <a:latin typeface="Aptos"/>
                <a:ea typeface="Aptos"/>
                <a:cs typeface="Aptos"/>
              </a:defRPr>
            </a:pPr>
            <a:r>
              <a:rPr sz="938" b="0">
                <a:solidFill>
                  <a:srgbClr val="617086"/>
                </a:solidFill>
                <a:latin typeface="Aptos"/>
                <a:ea typeface="Aptos"/>
                <a:cs typeface="Aptos"/>
              </a:rPr>
              <a:t>• reporting flotte et carburant peu harmonisé</a:t>
            </a:r>
          </a:p>
          <a:p>
            <a:pPr algn="l">
              <a:defRPr sz="938" b="0">
                <a:solidFill>
                  <a:srgbClr val="617086"/>
                </a:solidFill>
                <a:latin typeface="Aptos"/>
                <a:ea typeface="Aptos"/>
                <a:cs typeface="Aptos"/>
              </a:defRPr>
            </a:pPr>
            <a:r>
              <a:rPr sz="938" b="0">
                <a:solidFill>
                  <a:srgbClr val="617086"/>
                </a:solidFill>
                <a:latin typeface="Aptos"/>
                <a:ea typeface="Aptos"/>
                <a:cs typeface="Aptos"/>
              </a:rPr>
              <a:t>• écarts détectés tardivement</a:t>
            </a:r>
          </a:p>
          <a:p>
            <a:pPr algn="l">
              <a:defRPr sz="938" b="0">
                <a:solidFill>
                  <a:srgbClr val="617086"/>
                </a:solidFill>
                <a:latin typeface="Aptos"/>
                <a:ea typeface="Aptos"/>
                <a:cs typeface="Aptos"/>
              </a:defRPr>
            </a:pPr>
            <a:r>
              <a:rPr sz="938" b="0">
                <a:solidFill>
                  <a:srgbClr val="617086"/>
                </a:solidFill>
                <a:latin typeface="Aptos"/>
                <a:ea typeface="Aptos"/>
                <a:cs typeface="Aptos"/>
              </a:rPr>
              <a:t>• lecture difficile des coûts par site, véhicule ou période</a:t>
            </a:r>
          </a:p>
        </p:txBody>
      </p:sp>
      <p:sp>
        <p:nvSpPr>
          <p:cNvPr id="21" name="Rectangle 20">
            <a:extLst>
              <a:ext uri="{FF2B5EF4-FFF2-40B4-BE49-F238E27FC236}">
                <a16:creationId xmlns:a16="http://schemas.microsoft.com/office/drawing/2014/main" id="{65ED36D0-CF58-405C-9445-5A959B155835}"/>
              </a:ext>
            </a:extLst>
          </p:cNvPr>
          <p:cNvSpPr>
            <a:spLocks noGrp="1"/>
          </p:cNvSpPr>
          <p:nvPr/>
        </p:nvSpPr>
        <p:spPr>
          <a:xfrm>
            <a:off x="6305550" y="3981450"/>
            <a:ext cx="6667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1C8A78"/>
                </a:solidFill>
                <a:latin typeface="Aptos"/>
                <a:ea typeface="Aptos"/>
                <a:cs typeface="Aptos"/>
              </a:defRPr>
            </a:pPr>
            <a:r>
              <a:rPr sz="750" b="1">
                <a:solidFill>
                  <a:srgbClr val="1C8A78"/>
                </a:solidFill>
                <a:latin typeface="Aptos"/>
                <a:ea typeface="Aptos"/>
                <a:cs typeface="Aptos"/>
              </a:rPr>
              <a:t>APRÈS</a:t>
            </a:r>
          </a:p>
        </p:txBody>
      </p:sp>
      <p:sp>
        <p:nvSpPr>
          <p:cNvPr id="22" name="Rectangle 21">
            <a:extLst>
              <a:ext uri="{FF2B5EF4-FFF2-40B4-BE49-F238E27FC236}">
                <a16:creationId xmlns:a16="http://schemas.microsoft.com/office/drawing/2014/main" id="{A032BF2C-ABAF-41F9-9F91-53799FDA1D39}"/>
              </a:ext>
            </a:extLst>
          </p:cNvPr>
          <p:cNvSpPr>
            <a:spLocks noGrp="1"/>
          </p:cNvSpPr>
          <p:nvPr/>
        </p:nvSpPr>
        <p:spPr>
          <a:xfrm>
            <a:off x="6305550" y="4210050"/>
            <a:ext cx="4743450" cy="704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0">
                <a:solidFill>
                  <a:srgbClr val="1A3554"/>
                </a:solidFill>
                <a:latin typeface="Aptos"/>
                <a:ea typeface="Aptos"/>
                <a:cs typeface="Aptos"/>
              </a:defRPr>
            </a:pPr>
            <a:r>
              <a:rPr sz="938" b="0">
                <a:solidFill>
                  <a:srgbClr val="1A3554"/>
                </a:solidFill>
                <a:latin typeface="Aptos"/>
                <a:ea typeface="Aptos"/>
                <a:cs typeface="Aptos"/>
              </a:rPr>
              <a:t>• tableau de bord consolidé</a:t>
            </a:r>
          </a:p>
          <a:p>
            <a:pPr algn="l">
              <a:defRPr sz="938" b="0">
                <a:solidFill>
                  <a:srgbClr val="1A3554"/>
                </a:solidFill>
                <a:latin typeface="Aptos"/>
                <a:ea typeface="Aptos"/>
                <a:cs typeface="Aptos"/>
              </a:defRPr>
            </a:pPr>
            <a:r>
              <a:rPr sz="938" b="0">
                <a:solidFill>
                  <a:srgbClr val="1A3554"/>
                </a:solidFill>
                <a:latin typeface="Aptos"/>
                <a:ea typeface="Aptos"/>
                <a:cs typeface="Aptos"/>
              </a:rPr>
              <a:t>• alertes sur anomalies de consommation</a:t>
            </a:r>
          </a:p>
          <a:p>
            <a:pPr algn="l">
              <a:defRPr sz="938" b="0">
                <a:solidFill>
                  <a:srgbClr val="1A3554"/>
                </a:solidFill>
                <a:latin typeface="Aptos"/>
                <a:ea typeface="Aptos"/>
                <a:cs typeface="Aptos"/>
              </a:defRPr>
            </a:pPr>
            <a:r>
              <a:rPr sz="938" b="0">
                <a:solidFill>
                  <a:srgbClr val="1A3554"/>
                </a:solidFill>
                <a:latin typeface="Aptos"/>
                <a:ea typeface="Aptos"/>
                <a:cs typeface="Aptos"/>
              </a:rPr>
              <a:t>• comparatifs plus simples pour arbitrer et commenter les écarts</a:t>
            </a:r>
          </a:p>
        </p:txBody>
      </p:sp>
      <p:sp>
        <p:nvSpPr>
          <p:cNvPr id="23" name="Rectangle 22">
            <a:extLst>
              <a:ext uri="{FF2B5EF4-FFF2-40B4-BE49-F238E27FC236}">
                <a16:creationId xmlns:a16="http://schemas.microsoft.com/office/drawing/2014/main" id="{A28CD674-FC7E-48C9-A02D-322E51AF8B75}"/>
              </a:ext>
            </a:extLst>
          </p:cNvPr>
          <p:cNvSpPr>
            <a:spLocks noGrp="1"/>
          </p:cNvSpPr>
          <p:nvPr/>
        </p:nvSpPr>
        <p:spPr>
          <a:xfrm>
            <a:off x="6305550" y="4972050"/>
            <a:ext cx="4743450" cy="381000"/>
          </a:xfrm>
          <a:prstGeom prst="rect">
            <a:avLst/>
          </a:prstGeom>
          <a:solidFill>
            <a:srgbClr val="FBF5EE"/>
          </a:solidFill>
          <a:ln w="9525">
            <a:solidFill>
              <a:srgbClr val="D7CEC3"/>
            </a:solidFill>
            <a:prstDash val="solid"/>
          </a:ln>
        </p:spPr>
      </p:sp>
      <p:sp>
        <p:nvSpPr>
          <p:cNvPr id="24" name="Rectangle 23">
            <a:extLst>
              <a:ext uri="{FF2B5EF4-FFF2-40B4-BE49-F238E27FC236}">
                <a16:creationId xmlns:a16="http://schemas.microsoft.com/office/drawing/2014/main" id="{13880EFB-F34A-4500-B92B-BA5139AE0A6D}"/>
              </a:ext>
            </a:extLst>
          </p:cNvPr>
          <p:cNvSpPr>
            <a:spLocks noGrp="1"/>
          </p:cNvSpPr>
          <p:nvPr/>
        </p:nvSpPr>
        <p:spPr>
          <a:xfrm>
            <a:off x="6457950" y="5086350"/>
            <a:ext cx="44386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1">
                <a:solidFill>
                  <a:srgbClr val="1A3554"/>
                </a:solidFill>
                <a:latin typeface="Aptos"/>
                <a:ea typeface="Aptos"/>
                <a:cs typeface="Aptos"/>
              </a:defRPr>
            </a:pPr>
            <a:r>
              <a:rPr sz="863" b="1">
                <a:solidFill>
                  <a:srgbClr val="1A3554"/>
                </a:solidFill>
                <a:latin typeface="Aptos"/>
                <a:ea typeface="Aptos"/>
                <a:cs typeface="Aptos"/>
              </a:rPr>
              <a:t>KPI : temps de production du reporting | anomalies détectées | variation du coût carburant</a:t>
            </a:r>
          </a:p>
        </p:txBody>
      </p:sp>
      <p:sp>
        <p:nvSpPr>
          <p:cNvPr id="25" name="Rectangle 24">
            <a:extLst>
              <a:ext uri="{FF2B5EF4-FFF2-40B4-BE49-F238E27FC236}">
                <a16:creationId xmlns:a16="http://schemas.microsoft.com/office/drawing/2014/main" id="{9027C7C0-CFE6-4EB0-B3EE-D73BDBBE175F}"/>
              </a:ext>
            </a:extLst>
          </p:cNvPr>
          <p:cNvSpPr>
            <a:spLocks noGrp="1"/>
          </p:cNvSpPr>
          <p:nvPr/>
        </p:nvSpPr>
        <p:spPr>
          <a:xfrm>
            <a:off x="685800" y="5619750"/>
            <a:ext cx="10820400" cy="514350"/>
          </a:xfrm>
          <a:prstGeom prst="rect">
            <a:avLst/>
          </a:prstGeom>
          <a:solidFill>
            <a:srgbClr val="163556"/>
          </a:solidFill>
          <a:ln w="0">
            <a:solidFill>
              <a:srgbClr val="163556"/>
            </a:solidFill>
            <a:prstDash val="solid"/>
          </a:ln>
        </p:spPr>
      </p:sp>
      <p:sp>
        <p:nvSpPr>
          <p:cNvPr id="26" name="Rectangle 25">
            <a:extLst>
              <a:ext uri="{FF2B5EF4-FFF2-40B4-BE49-F238E27FC236}">
                <a16:creationId xmlns:a16="http://schemas.microsoft.com/office/drawing/2014/main" id="{94EEF69F-2971-4DAE-B118-677297D975F2}"/>
              </a:ext>
            </a:extLst>
          </p:cNvPr>
          <p:cNvSpPr>
            <a:spLocks noGrp="1"/>
          </p:cNvSpPr>
          <p:nvPr/>
        </p:nvSpPr>
        <p:spPr>
          <a:xfrm>
            <a:off x="914400" y="5772150"/>
            <a:ext cx="103632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0">
                <a:solidFill>
                  <a:srgbClr val="FFFFFF"/>
                </a:solidFill>
                <a:latin typeface="Aptos"/>
                <a:ea typeface="Aptos"/>
                <a:cs typeface="Aptos"/>
              </a:defRPr>
            </a:pPr>
            <a:r>
              <a:rPr sz="938" b="0">
                <a:solidFill>
                  <a:srgbClr val="FFFFFF"/>
                </a:solidFill>
                <a:latin typeface="Aptos"/>
                <a:ea typeface="Aptos"/>
                <a:cs typeface="Aptos"/>
              </a:rPr>
              <a:t>Ces deux flux ont un avantage : ils parlent à la fois à la direction, aux opérations et aux équipes métier. Ils permettent donc de montrer très vite une valeur concrète, sans promettre une transformation trop large dès le départ.</a:t>
            </a:r>
          </a:p>
        </p:txBody>
      </p:sp>
      <p:sp>
        <p:nvSpPr>
          <p:cNvPr id="27" name="Rectangle 26">
            <a:extLst>
              <a:ext uri="{FF2B5EF4-FFF2-40B4-BE49-F238E27FC236}">
                <a16:creationId xmlns:a16="http://schemas.microsoft.com/office/drawing/2014/main" id="{392C9872-C11A-473A-B91D-6AE5485F19D9}"/>
              </a:ext>
            </a:extLst>
          </p:cNvPr>
          <p:cNvSpPr>
            <a:spLocks noGrp="1"/>
          </p:cNvSpPr>
          <p:nvPr/>
        </p:nvSpPr>
        <p:spPr>
          <a:xfrm>
            <a:off x="647700" y="6496050"/>
            <a:ext cx="10896600" cy="9525"/>
          </a:xfrm>
          <a:prstGeom prst="rect">
            <a:avLst/>
          </a:prstGeom>
          <a:solidFill>
            <a:srgbClr val="D7CEC3"/>
          </a:solidFill>
          <a:ln w="0">
            <a:solidFill>
              <a:srgbClr val="000000">
                <a:alpha val="0"/>
              </a:srgbClr>
            </a:solidFill>
            <a:prstDash val="solid"/>
          </a:ln>
        </p:spPr>
      </p:sp>
      <p:sp>
        <p:nvSpPr>
          <p:cNvPr id="28" name="Rectangle 27">
            <a:extLst>
              <a:ext uri="{FF2B5EF4-FFF2-40B4-BE49-F238E27FC236}">
                <a16:creationId xmlns:a16="http://schemas.microsoft.com/office/drawing/2014/main" id="{6F490560-2308-4AA7-BB19-23190D412290}"/>
              </a:ext>
            </a:extLst>
          </p:cNvPr>
          <p:cNvSpPr>
            <a:spLocks noGrp="1"/>
          </p:cNvSpPr>
          <p:nvPr/>
        </p:nvSpPr>
        <p:spPr>
          <a:xfrm>
            <a:off x="685800" y="6572250"/>
            <a:ext cx="8572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617086"/>
                </a:solidFill>
                <a:latin typeface="Aptos"/>
                <a:ea typeface="Aptos"/>
                <a:cs typeface="Aptos"/>
              </a:defRPr>
            </a:pPr>
            <a:r>
              <a:rPr sz="638" b="0">
                <a:solidFill>
                  <a:srgbClr val="617086"/>
                </a:solidFill>
                <a:latin typeface="Aptos"/>
                <a:ea typeface="Aptos"/>
                <a:cs typeface="Aptos"/>
              </a:rPr>
              <a:t>TransferAI | Hub IA de Nettelecom CI | Modèle deck institutionnel V3</a:t>
            </a:r>
          </a:p>
        </p:txBody>
      </p:sp>
      <p:sp>
        <p:nvSpPr>
          <p:cNvPr id="29" name="Rectangle 28">
            <a:extLst>
              <a:ext uri="{FF2B5EF4-FFF2-40B4-BE49-F238E27FC236}">
                <a16:creationId xmlns:a16="http://schemas.microsoft.com/office/drawing/2014/main" id="{E79D760B-A745-4E56-A9DE-88EC9C0AA194}"/>
              </a:ext>
            </a:extLst>
          </p:cNvPr>
          <p:cNvSpPr>
            <a:spLocks noGrp="1"/>
          </p:cNvSpPr>
          <p:nvPr/>
        </p:nvSpPr>
        <p:spPr>
          <a:xfrm>
            <a:off x="11049000" y="6553200"/>
            <a:ext cx="3429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1A3554"/>
                </a:solidFill>
                <a:latin typeface="Aptos"/>
                <a:ea typeface="Aptos"/>
                <a:cs typeface="Aptos"/>
              </a:defRPr>
            </a:pPr>
            <a:r>
              <a:rPr sz="750" b="1">
                <a:solidFill>
                  <a:srgbClr val="1A3554"/>
                </a:solidFill>
                <a:latin typeface="Aptos"/>
                <a:ea typeface="Aptos"/>
                <a:cs typeface="Aptos"/>
              </a:rPr>
              <a:t>09</a:t>
            </a:r>
          </a:p>
        </p:txBody>
      </p:sp>
    </p:spTree>
    <p:extLst>
      <p:ext uri="{BB962C8B-B14F-4D97-AF65-F5344CB8AC3E}">
        <p14:creationId xmlns:p14="http://schemas.microsoft.com/office/powerpoint/2010/main" val="8268348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A5531BB8-BCFC-45C8-867E-05BB6DB11F73}"/>
              </a:ext>
            </a:extLst>
          </p:cNvPr>
          <p:cNvSpPr>
            <a:spLocks noGrp="1"/>
          </p:cNvSpPr>
          <p:nvPr/>
        </p:nvSpPr>
        <p:spPr>
          <a:xfrm>
            <a:off x="0" y="0"/>
            <a:ext cx="12192000" cy="6858000"/>
          </a:xfrm>
          <a:prstGeom prst="rect">
            <a:avLst/>
          </a:prstGeom>
          <a:solidFill>
            <a:srgbClr val="F5EFE7"/>
          </a:solidFill>
          <a:ln w="0">
            <a:solidFill>
              <a:srgbClr val="000000">
                <a:alpha val="0"/>
              </a:srgbClr>
            </a:solidFill>
            <a:prstDash val="solid"/>
          </a:ln>
        </p:spPr>
      </p:sp>
      <p:sp>
        <p:nvSpPr>
          <p:cNvPr id="2" name="Rectangle 1">
            <a:extLst>
              <a:ext uri="{FF2B5EF4-FFF2-40B4-BE49-F238E27FC236}">
                <a16:creationId xmlns:a16="http://schemas.microsoft.com/office/drawing/2014/main" id="{1CF83810-F14F-4DF2-976A-B553EC94F966}"/>
              </a:ext>
            </a:extLst>
          </p:cNvPr>
          <p:cNvSpPr>
            <a:spLocks noGrp="1"/>
          </p:cNvSpPr>
          <p:nvPr/>
        </p:nvSpPr>
        <p:spPr>
          <a:xfrm>
            <a:off x="685800" y="495300"/>
            <a:ext cx="2476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E76F1D"/>
                </a:solidFill>
                <a:latin typeface="Aptos"/>
                <a:ea typeface="Aptos"/>
                <a:cs typeface="Aptos"/>
              </a:defRPr>
            </a:pPr>
            <a:r>
              <a:rPr sz="788" b="1">
                <a:solidFill>
                  <a:srgbClr val="E76F1D"/>
                </a:solidFill>
                <a:latin typeface="Aptos"/>
                <a:ea typeface="Aptos"/>
                <a:cs typeface="Aptos"/>
              </a:rPr>
              <a:t>DÉTAIL DES CAS D'USAGE</a:t>
            </a:r>
          </a:p>
        </p:txBody>
      </p:sp>
      <p:sp>
        <p:nvSpPr>
          <p:cNvPr id="3" name="Rectangle 2">
            <a:extLst>
              <a:ext uri="{FF2B5EF4-FFF2-40B4-BE49-F238E27FC236}">
                <a16:creationId xmlns:a16="http://schemas.microsoft.com/office/drawing/2014/main" id="{B529F6EB-0DC4-425F-9F09-1F0454CC02EE}"/>
              </a:ext>
            </a:extLst>
          </p:cNvPr>
          <p:cNvSpPr>
            <a:spLocks noGrp="1"/>
          </p:cNvSpPr>
          <p:nvPr/>
        </p:nvSpPr>
        <p:spPr>
          <a:xfrm>
            <a:off x="685800" y="819150"/>
            <a:ext cx="10287000" cy="800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550" b="1">
                <a:solidFill>
                  <a:srgbClr val="1A3554"/>
                </a:solidFill>
                <a:latin typeface="Aptos Display"/>
                <a:ea typeface="Aptos Display"/>
                <a:cs typeface="Aptos Display"/>
              </a:defRPr>
            </a:pPr>
            <a:r>
              <a:rPr sz="2550" b="1" dirty="0">
                <a:solidFill>
                  <a:srgbClr val="1A3554"/>
                </a:solidFill>
                <a:latin typeface="Aptos Display"/>
                <a:ea typeface="Aptos Display"/>
                <a:cs typeface="Aptos Display"/>
              </a:rPr>
              <a:t>Les </a:t>
            </a:r>
            <a:r>
              <a:rPr sz="2550" b="1" dirty="0" err="1">
                <a:solidFill>
                  <a:srgbClr val="1A3554"/>
                </a:solidFill>
                <a:latin typeface="Aptos Display"/>
                <a:ea typeface="Aptos Display"/>
                <a:cs typeface="Aptos Display"/>
              </a:rPr>
              <a:t>cas</a:t>
            </a:r>
            <a:r>
              <a:rPr sz="2550" b="1" dirty="0">
                <a:solidFill>
                  <a:srgbClr val="1A3554"/>
                </a:solidFill>
                <a:latin typeface="Aptos Display"/>
                <a:ea typeface="Aptos Display"/>
                <a:cs typeface="Aptos Display"/>
              </a:rPr>
              <a:t> </a:t>
            </a:r>
            <a:r>
              <a:rPr sz="2550" b="1" dirty="0" err="1">
                <a:solidFill>
                  <a:srgbClr val="1A3554"/>
                </a:solidFill>
                <a:latin typeface="Aptos Display"/>
                <a:ea typeface="Aptos Display"/>
                <a:cs typeface="Aptos Display"/>
              </a:rPr>
              <a:t>d'usage</a:t>
            </a:r>
            <a:r>
              <a:rPr sz="2550" b="1" dirty="0">
                <a:solidFill>
                  <a:srgbClr val="1A3554"/>
                </a:solidFill>
                <a:latin typeface="Aptos Display"/>
                <a:ea typeface="Aptos Display"/>
                <a:cs typeface="Aptos Display"/>
              </a:rPr>
              <a:t> qui </a:t>
            </a:r>
            <a:r>
              <a:rPr sz="2550" b="1" dirty="0" err="1">
                <a:solidFill>
                  <a:srgbClr val="1A3554"/>
                </a:solidFill>
                <a:latin typeface="Aptos Display"/>
                <a:ea typeface="Aptos Display"/>
                <a:cs typeface="Aptos Display"/>
              </a:rPr>
              <a:t>renforcent</a:t>
            </a:r>
            <a:r>
              <a:rPr sz="2550" b="1" dirty="0">
                <a:solidFill>
                  <a:srgbClr val="1A3554"/>
                </a:solidFill>
                <a:latin typeface="Aptos Display"/>
                <a:ea typeface="Aptos Display"/>
                <a:cs typeface="Aptos Display"/>
              </a:rPr>
              <a:t> la </a:t>
            </a:r>
            <a:r>
              <a:rPr sz="2550" b="1" dirty="0" err="1">
                <a:solidFill>
                  <a:srgbClr val="1A3554"/>
                </a:solidFill>
                <a:latin typeface="Aptos Display"/>
                <a:ea typeface="Aptos Display"/>
                <a:cs typeface="Aptos Display"/>
              </a:rPr>
              <a:t>qualité</a:t>
            </a:r>
            <a:r>
              <a:rPr sz="2550" b="1" dirty="0">
                <a:solidFill>
                  <a:srgbClr val="1A3554"/>
                </a:solidFill>
                <a:latin typeface="Aptos Display"/>
                <a:ea typeface="Aptos Display"/>
                <a:cs typeface="Aptos Display"/>
              </a:rPr>
              <a:t> de service et la </a:t>
            </a:r>
            <a:r>
              <a:rPr sz="2550" b="1" dirty="0" err="1">
                <a:solidFill>
                  <a:srgbClr val="1A3554"/>
                </a:solidFill>
                <a:latin typeface="Aptos Display"/>
                <a:ea typeface="Aptos Display"/>
                <a:cs typeface="Aptos Display"/>
              </a:rPr>
              <a:t>standardisation</a:t>
            </a:r>
            <a:endParaRPr sz="2550" b="1" dirty="0">
              <a:solidFill>
                <a:srgbClr val="1A3554"/>
              </a:solidFill>
              <a:latin typeface="Aptos Display"/>
              <a:ea typeface="Aptos Display"/>
              <a:cs typeface="Aptos Display"/>
            </a:endParaRPr>
          </a:p>
        </p:txBody>
      </p:sp>
      <p:sp>
        <p:nvSpPr>
          <p:cNvPr id="4" name="Rectangle 3">
            <a:extLst>
              <a:ext uri="{FF2B5EF4-FFF2-40B4-BE49-F238E27FC236}">
                <a16:creationId xmlns:a16="http://schemas.microsoft.com/office/drawing/2014/main" id="{F023700F-2007-4AF9-BA8A-712943193732}"/>
              </a:ext>
            </a:extLst>
          </p:cNvPr>
          <p:cNvSpPr>
            <a:spLocks noGrp="1"/>
          </p:cNvSpPr>
          <p:nvPr/>
        </p:nvSpPr>
        <p:spPr>
          <a:xfrm>
            <a:off x="685800" y="1676400"/>
            <a:ext cx="91440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617086"/>
                </a:solidFill>
                <a:latin typeface="Aptos"/>
                <a:ea typeface="Aptos"/>
                <a:cs typeface="Aptos"/>
              </a:defRPr>
            </a:pPr>
            <a:r>
              <a:rPr sz="1050" b="0">
                <a:solidFill>
                  <a:srgbClr val="617086"/>
                </a:solidFill>
                <a:latin typeface="Aptos"/>
                <a:ea typeface="Aptos"/>
                <a:cs typeface="Aptos"/>
              </a:rPr>
              <a:t>Ces deux usages rendent aussi la formation plus crédible : on apprend sur des situations réelles, pas sur des exemples génériques.</a:t>
            </a:r>
          </a:p>
        </p:txBody>
      </p:sp>
      <p:sp>
        <p:nvSpPr>
          <p:cNvPr id="5" name="Rectangle 4">
            <a:extLst>
              <a:ext uri="{FF2B5EF4-FFF2-40B4-BE49-F238E27FC236}">
                <a16:creationId xmlns:a16="http://schemas.microsoft.com/office/drawing/2014/main" id="{4EB643C7-FF76-44E2-88C9-1D0D31042ACA}"/>
              </a:ext>
            </a:extLst>
          </p:cNvPr>
          <p:cNvSpPr>
            <a:spLocks noGrp="1"/>
          </p:cNvSpPr>
          <p:nvPr/>
        </p:nvSpPr>
        <p:spPr>
          <a:xfrm>
            <a:off x="685800" y="2171700"/>
            <a:ext cx="5143500" cy="2933700"/>
          </a:xfrm>
          <a:prstGeom prst="rect">
            <a:avLst/>
          </a:prstGeom>
          <a:solidFill>
            <a:srgbClr val="FFFDFC"/>
          </a:solidFill>
          <a:ln w="9525">
            <a:solidFill>
              <a:srgbClr val="D7CEC3"/>
            </a:solidFill>
            <a:prstDash val="solid"/>
          </a:ln>
        </p:spPr>
      </p:sp>
      <p:sp>
        <p:nvSpPr>
          <p:cNvPr id="6" name="Oval 5">
            <a:extLst>
              <a:ext uri="{FF2B5EF4-FFF2-40B4-BE49-F238E27FC236}">
                <a16:creationId xmlns:a16="http://schemas.microsoft.com/office/drawing/2014/main" id="{631B0223-DD57-45A9-A025-0B20A24D4761}"/>
              </a:ext>
            </a:extLst>
          </p:cNvPr>
          <p:cNvSpPr>
            <a:spLocks noGrp="1"/>
          </p:cNvSpPr>
          <p:nvPr/>
        </p:nvSpPr>
        <p:spPr>
          <a:xfrm>
            <a:off x="895350" y="2362200"/>
            <a:ext cx="419100" cy="419100"/>
          </a:xfrm>
          <a:prstGeom prst="ellipse">
            <a:avLst/>
          </a:prstGeom>
          <a:solidFill>
            <a:srgbClr val="163556"/>
          </a:solidFill>
          <a:ln w="0">
            <a:solidFill>
              <a:srgbClr val="163556"/>
            </a:solidFill>
            <a:prstDash val="solid"/>
          </a:ln>
        </p:spPr>
      </p:sp>
      <p:pic>
        <p:nvPicPr>
          <p:cNvPr id="7" name="Graphic 6"/>
          <p:cNvPicPr>
            <a:picLocks noChangeAspect="1"/>
          </p:cNvPicPr>
          <p:nvPr/>
        </p:nvPicPr>
        <p:blipFill>
          <a:blip>
            <a:extLst>
              <a:ext uri="{96DAC541-7B7A-43D3-8B79-37D633B846F1}">
                <asvg:svgBlip xmlns:asvg="http://schemas.microsoft.com/office/drawing/2016/SVG/main" r:embed="rId3"/>
              </a:ext>
            </a:extLst>
          </a:blip>
          <a:stretch/>
        </p:blipFill>
        <p:spPr>
          <a:xfrm>
            <a:off x="990600" y="2457450"/>
            <a:ext cx="228600" cy="228600"/>
          </a:xfrm>
          <a:prstGeom prst="rect">
            <a:avLst/>
          </a:prstGeom>
        </p:spPr>
      </p:pic>
      <p:sp>
        <p:nvSpPr>
          <p:cNvPr id="8" name="Rectangle 7">
            <a:extLst>
              <a:ext uri="{FF2B5EF4-FFF2-40B4-BE49-F238E27FC236}">
                <a16:creationId xmlns:a16="http://schemas.microsoft.com/office/drawing/2014/main" id="{493E5FCF-6ED7-4CB5-8D8D-E1764FF11761}"/>
              </a:ext>
            </a:extLst>
          </p:cNvPr>
          <p:cNvSpPr>
            <a:spLocks noGrp="1"/>
          </p:cNvSpPr>
          <p:nvPr/>
        </p:nvSpPr>
        <p:spPr>
          <a:xfrm>
            <a:off x="1428750" y="2362200"/>
            <a:ext cx="37147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Service client / service auto</a:t>
            </a:r>
          </a:p>
        </p:txBody>
      </p:sp>
      <p:sp>
        <p:nvSpPr>
          <p:cNvPr id="9" name="Rectangle 8">
            <a:extLst>
              <a:ext uri="{FF2B5EF4-FFF2-40B4-BE49-F238E27FC236}">
                <a16:creationId xmlns:a16="http://schemas.microsoft.com/office/drawing/2014/main" id="{9FF35322-5095-4DBF-A500-B29960D61E19}"/>
              </a:ext>
            </a:extLst>
          </p:cNvPr>
          <p:cNvSpPr>
            <a:spLocks noGrp="1"/>
          </p:cNvSpPr>
          <p:nvPr/>
        </p:nvSpPr>
        <p:spPr>
          <a:xfrm>
            <a:off x="895350" y="2857500"/>
            <a:ext cx="11430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E76F1D"/>
                </a:solidFill>
                <a:latin typeface="Aptos"/>
                <a:ea typeface="Aptos"/>
                <a:cs typeface="Aptos"/>
              </a:defRPr>
            </a:pPr>
            <a:r>
              <a:rPr sz="750" b="1">
                <a:solidFill>
                  <a:srgbClr val="E76F1D"/>
                </a:solidFill>
                <a:latin typeface="Aptos"/>
                <a:ea typeface="Aptos"/>
                <a:cs typeface="Aptos"/>
              </a:rPr>
              <a:t>Usages proposés</a:t>
            </a:r>
          </a:p>
        </p:txBody>
      </p:sp>
      <p:sp>
        <p:nvSpPr>
          <p:cNvPr id="10" name="Rectangle 9">
            <a:extLst>
              <a:ext uri="{FF2B5EF4-FFF2-40B4-BE49-F238E27FC236}">
                <a16:creationId xmlns:a16="http://schemas.microsoft.com/office/drawing/2014/main" id="{B60E7446-3548-4C37-AB38-67D9F398F733}"/>
              </a:ext>
            </a:extLst>
          </p:cNvPr>
          <p:cNvSpPr>
            <a:spLocks noGrp="1"/>
          </p:cNvSpPr>
          <p:nvPr/>
        </p:nvSpPr>
        <p:spPr>
          <a:xfrm>
            <a:off x="895350" y="3086100"/>
            <a:ext cx="4343400" cy="857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0">
                <a:solidFill>
                  <a:srgbClr val="1A3554"/>
                </a:solidFill>
                <a:latin typeface="Aptos"/>
                <a:ea typeface="Aptos"/>
                <a:cs typeface="Aptos"/>
              </a:defRPr>
            </a:pPr>
            <a:r>
              <a:rPr sz="938" b="0">
                <a:solidFill>
                  <a:srgbClr val="1A3554"/>
                </a:solidFill>
                <a:latin typeface="Aptos"/>
                <a:ea typeface="Aptos"/>
                <a:cs typeface="Aptos"/>
              </a:rPr>
              <a:t>• FAQ assistée pour les questions récurrentes</a:t>
            </a:r>
          </a:p>
          <a:p>
            <a:pPr algn="l">
              <a:defRPr sz="938" b="0">
                <a:solidFill>
                  <a:srgbClr val="1A3554"/>
                </a:solidFill>
                <a:latin typeface="Aptos"/>
                <a:ea typeface="Aptos"/>
                <a:cs typeface="Aptos"/>
              </a:defRPr>
            </a:pPr>
            <a:r>
              <a:rPr sz="938" b="0">
                <a:solidFill>
                  <a:srgbClr val="1A3554"/>
                </a:solidFill>
                <a:latin typeface="Aptos"/>
                <a:ea typeface="Aptos"/>
                <a:cs typeface="Aptos"/>
              </a:rPr>
              <a:t>• canevas de réponse ou de rappel</a:t>
            </a:r>
          </a:p>
          <a:p>
            <a:pPr algn="l">
              <a:defRPr sz="938" b="0">
                <a:solidFill>
                  <a:srgbClr val="1A3554"/>
                </a:solidFill>
                <a:latin typeface="Aptos"/>
                <a:ea typeface="Aptos"/>
                <a:cs typeface="Aptos"/>
              </a:defRPr>
            </a:pPr>
            <a:r>
              <a:rPr sz="938" b="0">
                <a:solidFill>
                  <a:srgbClr val="1A3554"/>
                </a:solidFill>
                <a:latin typeface="Aptos"/>
                <a:ea typeface="Aptos"/>
                <a:cs typeface="Aptos"/>
              </a:rPr>
              <a:t>• historique d'interactions mieux exploitable</a:t>
            </a:r>
          </a:p>
          <a:p>
            <a:pPr algn="l">
              <a:defRPr sz="938" b="0">
                <a:solidFill>
                  <a:srgbClr val="1A3554"/>
                </a:solidFill>
                <a:latin typeface="Aptos"/>
                <a:ea typeface="Aptos"/>
                <a:cs typeface="Aptos"/>
              </a:defRPr>
            </a:pPr>
            <a:r>
              <a:rPr sz="938" b="0">
                <a:solidFill>
                  <a:srgbClr val="1A3554"/>
                </a:solidFill>
                <a:latin typeface="Aptos"/>
                <a:ea typeface="Aptos"/>
                <a:cs typeface="Aptos"/>
              </a:rPr>
              <a:t>• synthèses rapides avant rappel ou traitement</a:t>
            </a:r>
          </a:p>
        </p:txBody>
      </p:sp>
      <p:sp>
        <p:nvSpPr>
          <p:cNvPr id="11" name="Rectangle 10">
            <a:extLst>
              <a:ext uri="{FF2B5EF4-FFF2-40B4-BE49-F238E27FC236}">
                <a16:creationId xmlns:a16="http://schemas.microsoft.com/office/drawing/2014/main" id="{8948ECD4-A55F-44D4-89F6-4463F44286C6}"/>
              </a:ext>
            </a:extLst>
          </p:cNvPr>
          <p:cNvSpPr>
            <a:spLocks noGrp="1"/>
          </p:cNvSpPr>
          <p:nvPr/>
        </p:nvSpPr>
        <p:spPr>
          <a:xfrm>
            <a:off x="895350" y="4114800"/>
            <a:ext cx="4667250" cy="800100"/>
          </a:xfrm>
          <a:prstGeom prst="rect">
            <a:avLst/>
          </a:prstGeom>
          <a:solidFill>
            <a:srgbClr val="FBF5EE"/>
          </a:solidFill>
          <a:ln w="9525">
            <a:solidFill>
              <a:srgbClr val="D7CEC3"/>
            </a:solidFill>
            <a:prstDash val="solid"/>
          </a:ln>
        </p:spPr>
      </p:sp>
      <p:sp>
        <p:nvSpPr>
          <p:cNvPr id="12" name="Rectangle 11">
            <a:extLst>
              <a:ext uri="{FF2B5EF4-FFF2-40B4-BE49-F238E27FC236}">
                <a16:creationId xmlns:a16="http://schemas.microsoft.com/office/drawing/2014/main" id="{6C918078-3FD6-44B0-8A39-97CD0430F45C}"/>
              </a:ext>
            </a:extLst>
          </p:cNvPr>
          <p:cNvSpPr>
            <a:spLocks noGrp="1"/>
          </p:cNvSpPr>
          <p:nvPr/>
        </p:nvSpPr>
        <p:spPr>
          <a:xfrm>
            <a:off x="1066800" y="4362450"/>
            <a:ext cx="4286250"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1">
                <a:solidFill>
                  <a:srgbClr val="1A3554"/>
                </a:solidFill>
                <a:latin typeface="Aptos"/>
                <a:ea typeface="Aptos"/>
                <a:cs typeface="Aptos"/>
              </a:defRPr>
            </a:pPr>
            <a:r>
              <a:rPr sz="863" b="1">
                <a:solidFill>
                  <a:srgbClr val="1A3554"/>
                </a:solidFill>
                <a:latin typeface="Aptos"/>
                <a:ea typeface="Aptos"/>
                <a:cs typeface="Aptos"/>
              </a:rPr>
              <a:t>KPI : délai de réponse | qualité perçue | taux de réouverture / relance | standardisation des scripts</a:t>
            </a:r>
          </a:p>
        </p:txBody>
      </p:sp>
      <p:sp>
        <p:nvSpPr>
          <p:cNvPr id="13" name="Rectangle 12">
            <a:extLst>
              <a:ext uri="{FF2B5EF4-FFF2-40B4-BE49-F238E27FC236}">
                <a16:creationId xmlns:a16="http://schemas.microsoft.com/office/drawing/2014/main" id="{A52BAE19-DD4B-4E71-A6DC-A5E3A2E2895F}"/>
              </a:ext>
            </a:extLst>
          </p:cNvPr>
          <p:cNvSpPr>
            <a:spLocks noGrp="1"/>
          </p:cNvSpPr>
          <p:nvPr/>
        </p:nvSpPr>
        <p:spPr>
          <a:xfrm>
            <a:off x="6096000" y="2171700"/>
            <a:ext cx="5410200" cy="2933700"/>
          </a:xfrm>
          <a:prstGeom prst="rect">
            <a:avLst/>
          </a:prstGeom>
          <a:solidFill>
            <a:srgbClr val="FFFDFC"/>
          </a:solidFill>
          <a:ln w="9525">
            <a:solidFill>
              <a:srgbClr val="D7CEC3"/>
            </a:solidFill>
            <a:prstDash val="solid"/>
          </a:ln>
        </p:spPr>
      </p:sp>
      <p:sp>
        <p:nvSpPr>
          <p:cNvPr id="14" name="Oval 13">
            <a:extLst>
              <a:ext uri="{FF2B5EF4-FFF2-40B4-BE49-F238E27FC236}">
                <a16:creationId xmlns:a16="http://schemas.microsoft.com/office/drawing/2014/main" id="{888B007A-532F-4C1E-A776-C2A8B9198726}"/>
              </a:ext>
            </a:extLst>
          </p:cNvPr>
          <p:cNvSpPr>
            <a:spLocks noGrp="1"/>
          </p:cNvSpPr>
          <p:nvPr/>
        </p:nvSpPr>
        <p:spPr>
          <a:xfrm>
            <a:off x="6305550" y="2362200"/>
            <a:ext cx="419100" cy="419100"/>
          </a:xfrm>
          <a:prstGeom prst="ellipse">
            <a:avLst/>
          </a:prstGeom>
          <a:solidFill>
            <a:srgbClr val="C88C3A"/>
          </a:solidFill>
          <a:ln w="0">
            <a:solidFill>
              <a:srgbClr val="C88C3A"/>
            </a:solidFill>
            <a:prstDash val="solid"/>
          </a:ln>
        </p:spPr>
      </p:sp>
      <p:pic>
        <p:nvPicPr>
          <p:cNvPr id="15" name="Graphic 14"/>
          <p:cNvPicPr>
            <a:picLocks noChangeAspect="1"/>
          </p:cNvPicPr>
          <p:nvPr/>
        </p:nvPicPr>
        <p:blipFill>
          <a:blip>
            <a:extLst>
              <a:ext uri="{96DAC541-7B7A-43D3-8B79-37D633B846F1}">
                <asvg:svgBlip xmlns:asvg="http://schemas.microsoft.com/office/drawing/2016/SVG/main" r:embed="rId4"/>
              </a:ext>
            </a:extLst>
          </a:blip>
          <a:stretch/>
        </p:blipFill>
        <p:spPr>
          <a:xfrm>
            <a:off x="6400800" y="2457450"/>
            <a:ext cx="228600" cy="228600"/>
          </a:xfrm>
          <a:prstGeom prst="rect">
            <a:avLst/>
          </a:prstGeom>
        </p:spPr>
      </p:pic>
      <p:sp>
        <p:nvSpPr>
          <p:cNvPr id="16" name="Rectangle 15">
            <a:extLst>
              <a:ext uri="{FF2B5EF4-FFF2-40B4-BE49-F238E27FC236}">
                <a16:creationId xmlns:a16="http://schemas.microsoft.com/office/drawing/2014/main" id="{733EE2B8-6F0C-474F-9665-D3CE7DEAE6F7}"/>
              </a:ext>
            </a:extLst>
          </p:cNvPr>
          <p:cNvSpPr>
            <a:spLocks noGrp="1"/>
          </p:cNvSpPr>
          <p:nvPr/>
        </p:nvSpPr>
        <p:spPr>
          <a:xfrm>
            <a:off x="6838950" y="2362200"/>
            <a:ext cx="41148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650" b="1">
                <a:solidFill>
                  <a:srgbClr val="1A3554"/>
                </a:solidFill>
                <a:latin typeface="Aptos Display"/>
                <a:ea typeface="Aptos Display"/>
                <a:cs typeface="Aptos Display"/>
              </a:defRPr>
            </a:pPr>
            <a:r>
              <a:rPr sz="1650" b="1">
                <a:solidFill>
                  <a:srgbClr val="1A3554"/>
                </a:solidFill>
                <a:latin typeface="Aptos Display"/>
                <a:ea typeface="Aptos Display"/>
                <a:cs typeface="Aptos Display"/>
              </a:rPr>
              <a:t>Procédures internes et base de connaissances</a:t>
            </a:r>
          </a:p>
        </p:txBody>
      </p:sp>
      <p:sp>
        <p:nvSpPr>
          <p:cNvPr id="17" name="Rectangle 16">
            <a:extLst>
              <a:ext uri="{FF2B5EF4-FFF2-40B4-BE49-F238E27FC236}">
                <a16:creationId xmlns:a16="http://schemas.microsoft.com/office/drawing/2014/main" id="{DA239BEF-6508-4C78-8BEF-997CBBE529B7}"/>
              </a:ext>
            </a:extLst>
          </p:cNvPr>
          <p:cNvSpPr>
            <a:spLocks noGrp="1"/>
          </p:cNvSpPr>
          <p:nvPr/>
        </p:nvSpPr>
        <p:spPr>
          <a:xfrm>
            <a:off x="6305550" y="2857500"/>
            <a:ext cx="11430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E76F1D"/>
                </a:solidFill>
                <a:latin typeface="Aptos"/>
                <a:ea typeface="Aptos"/>
                <a:cs typeface="Aptos"/>
              </a:defRPr>
            </a:pPr>
            <a:r>
              <a:rPr sz="750" b="1">
                <a:solidFill>
                  <a:srgbClr val="E76F1D"/>
                </a:solidFill>
                <a:latin typeface="Aptos"/>
                <a:ea typeface="Aptos"/>
                <a:cs typeface="Aptos"/>
              </a:rPr>
              <a:t>Usages proposés</a:t>
            </a:r>
          </a:p>
        </p:txBody>
      </p:sp>
      <p:sp>
        <p:nvSpPr>
          <p:cNvPr id="18" name="Rectangle 17">
            <a:extLst>
              <a:ext uri="{FF2B5EF4-FFF2-40B4-BE49-F238E27FC236}">
                <a16:creationId xmlns:a16="http://schemas.microsoft.com/office/drawing/2014/main" id="{B664E814-E72A-4AAC-A55E-78FE31AD9D86}"/>
              </a:ext>
            </a:extLst>
          </p:cNvPr>
          <p:cNvSpPr>
            <a:spLocks noGrp="1"/>
          </p:cNvSpPr>
          <p:nvPr/>
        </p:nvSpPr>
        <p:spPr>
          <a:xfrm>
            <a:off x="6305550" y="3086100"/>
            <a:ext cx="4667250" cy="857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0">
                <a:solidFill>
                  <a:srgbClr val="1A3554"/>
                </a:solidFill>
                <a:latin typeface="Aptos"/>
                <a:ea typeface="Aptos"/>
                <a:cs typeface="Aptos"/>
              </a:defRPr>
            </a:pPr>
            <a:r>
              <a:rPr sz="938" b="0">
                <a:solidFill>
                  <a:srgbClr val="1A3554"/>
                </a:solidFill>
                <a:latin typeface="Aptos"/>
                <a:ea typeface="Aptos"/>
                <a:cs typeface="Aptos"/>
              </a:rPr>
              <a:t>• base de procédures consultable rapidement</a:t>
            </a:r>
          </a:p>
          <a:p>
            <a:pPr algn="l">
              <a:defRPr sz="938" b="0">
                <a:solidFill>
                  <a:srgbClr val="1A3554"/>
                </a:solidFill>
                <a:latin typeface="Aptos"/>
                <a:ea typeface="Aptos"/>
                <a:cs typeface="Aptos"/>
              </a:defRPr>
            </a:pPr>
            <a:r>
              <a:rPr sz="938" b="0">
                <a:solidFill>
                  <a:srgbClr val="1A3554"/>
                </a:solidFill>
                <a:latin typeface="Aptos"/>
                <a:ea typeface="Aptos"/>
                <a:cs typeface="Aptos"/>
              </a:rPr>
              <a:t>• réponses homogènes pour les équipes support et métier</a:t>
            </a:r>
          </a:p>
          <a:p>
            <a:pPr algn="l">
              <a:defRPr sz="938" b="0">
                <a:solidFill>
                  <a:srgbClr val="1A3554"/>
                </a:solidFill>
                <a:latin typeface="Aptos"/>
                <a:ea typeface="Aptos"/>
                <a:cs typeface="Aptos"/>
              </a:defRPr>
            </a:pPr>
            <a:r>
              <a:rPr sz="938" b="0">
                <a:solidFill>
                  <a:srgbClr val="1A3554"/>
                </a:solidFill>
                <a:latin typeface="Aptos"/>
                <a:ea typeface="Aptos"/>
                <a:cs typeface="Aptos"/>
              </a:rPr>
              <a:t>• onboarding accéléré sur les standards, scripts et points de contrôle</a:t>
            </a:r>
          </a:p>
          <a:p>
            <a:pPr algn="l">
              <a:defRPr sz="938" b="0">
                <a:solidFill>
                  <a:srgbClr val="1A3554"/>
                </a:solidFill>
                <a:latin typeface="Aptos"/>
                <a:ea typeface="Aptos"/>
                <a:cs typeface="Aptos"/>
              </a:defRPr>
            </a:pPr>
            <a:r>
              <a:rPr sz="938" b="0">
                <a:solidFill>
                  <a:srgbClr val="1A3554"/>
                </a:solidFill>
                <a:latin typeface="Aptos"/>
                <a:ea typeface="Aptos"/>
                <a:cs typeface="Aptos"/>
              </a:rPr>
              <a:t>• diffusion plus simple des mises à jour internes</a:t>
            </a:r>
          </a:p>
        </p:txBody>
      </p:sp>
      <p:sp>
        <p:nvSpPr>
          <p:cNvPr id="19" name="Rectangle 18">
            <a:extLst>
              <a:ext uri="{FF2B5EF4-FFF2-40B4-BE49-F238E27FC236}">
                <a16:creationId xmlns:a16="http://schemas.microsoft.com/office/drawing/2014/main" id="{6CA5E414-A7E5-4629-AB1B-02EFD8EEC628}"/>
              </a:ext>
            </a:extLst>
          </p:cNvPr>
          <p:cNvSpPr>
            <a:spLocks noGrp="1"/>
          </p:cNvSpPr>
          <p:nvPr/>
        </p:nvSpPr>
        <p:spPr>
          <a:xfrm>
            <a:off x="6305550" y="4114800"/>
            <a:ext cx="4743450" cy="800100"/>
          </a:xfrm>
          <a:prstGeom prst="rect">
            <a:avLst/>
          </a:prstGeom>
          <a:solidFill>
            <a:srgbClr val="FBF5EE"/>
          </a:solidFill>
          <a:ln w="9525">
            <a:solidFill>
              <a:srgbClr val="D7CEC3"/>
            </a:solidFill>
            <a:prstDash val="solid"/>
          </a:ln>
        </p:spPr>
      </p:sp>
      <p:sp>
        <p:nvSpPr>
          <p:cNvPr id="20" name="Rectangle 19">
            <a:extLst>
              <a:ext uri="{FF2B5EF4-FFF2-40B4-BE49-F238E27FC236}">
                <a16:creationId xmlns:a16="http://schemas.microsoft.com/office/drawing/2014/main" id="{922AA5BD-E44B-414C-8AEB-4D6BBE961ED4}"/>
              </a:ext>
            </a:extLst>
          </p:cNvPr>
          <p:cNvSpPr>
            <a:spLocks noGrp="1"/>
          </p:cNvSpPr>
          <p:nvPr/>
        </p:nvSpPr>
        <p:spPr>
          <a:xfrm>
            <a:off x="6477000" y="4362450"/>
            <a:ext cx="4381500"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1">
                <a:solidFill>
                  <a:srgbClr val="1A3554"/>
                </a:solidFill>
                <a:latin typeface="Aptos"/>
                <a:ea typeface="Aptos"/>
                <a:cs typeface="Aptos"/>
              </a:defRPr>
            </a:pPr>
            <a:r>
              <a:rPr sz="863" b="1">
                <a:solidFill>
                  <a:srgbClr val="1A3554"/>
                </a:solidFill>
                <a:latin typeface="Aptos"/>
                <a:ea typeface="Aptos"/>
                <a:cs typeface="Aptos"/>
              </a:rPr>
              <a:t>KPI : temps de recherche d'information | temps d'onboarding | taux d'usage de la base interne</a:t>
            </a:r>
          </a:p>
        </p:txBody>
      </p:sp>
      <p:sp>
        <p:nvSpPr>
          <p:cNvPr id="21" name="Rectangle 20">
            <a:extLst>
              <a:ext uri="{FF2B5EF4-FFF2-40B4-BE49-F238E27FC236}">
                <a16:creationId xmlns:a16="http://schemas.microsoft.com/office/drawing/2014/main" id="{DC7389B9-79F2-488B-B1BB-758ACE327D9B}"/>
              </a:ext>
            </a:extLst>
          </p:cNvPr>
          <p:cNvSpPr>
            <a:spLocks noGrp="1"/>
          </p:cNvSpPr>
          <p:nvPr/>
        </p:nvSpPr>
        <p:spPr>
          <a:xfrm>
            <a:off x="685800" y="5391150"/>
            <a:ext cx="10820400" cy="914400"/>
          </a:xfrm>
          <a:prstGeom prst="rect">
            <a:avLst/>
          </a:prstGeom>
          <a:solidFill>
            <a:srgbClr val="1C8A78"/>
          </a:solidFill>
          <a:ln w="0">
            <a:solidFill>
              <a:srgbClr val="1C8A78"/>
            </a:solidFill>
            <a:prstDash val="solid"/>
          </a:ln>
        </p:spPr>
      </p:sp>
      <p:sp>
        <p:nvSpPr>
          <p:cNvPr id="22" name="Rectangle 21">
            <a:extLst>
              <a:ext uri="{FF2B5EF4-FFF2-40B4-BE49-F238E27FC236}">
                <a16:creationId xmlns:a16="http://schemas.microsoft.com/office/drawing/2014/main" id="{CD60A74C-1B6C-42CC-861D-3303E4896306}"/>
              </a:ext>
            </a:extLst>
          </p:cNvPr>
          <p:cNvSpPr>
            <a:spLocks noGrp="1"/>
          </p:cNvSpPr>
          <p:nvPr/>
        </p:nvSpPr>
        <p:spPr>
          <a:xfrm>
            <a:off x="914400" y="5581650"/>
            <a:ext cx="16192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DDF5EF"/>
                </a:solidFill>
                <a:latin typeface="Aptos"/>
                <a:ea typeface="Aptos"/>
                <a:cs typeface="Aptos"/>
              </a:defRPr>
            </a:pPr>
            <a:r>
              <a:rPr sz="750" b="1">
                <a:solidFill>
                  <a:srgbClr val="DDF5EF"/>
                </a:solidFill>
                <a:latin typeface="Aptos"/>
                <a:ea typeface="Aptos"/>
                <a:cs typeface="Aptos"/>
              </a:rPr>
              <a:t>Pourquoi cette slide compte</a:t>
            </a:r>
          </a:p>
        </p:txBody>
      </p:sp>
      <p:sp>
        <p:nvSpPr>
          <p:cNvPr id="23" name="Rectangle 22">
            <a:extLst>
              <a:ext uri="{FF2B5EF4-FFF2-40B4-BE49-F238E27FC236}">
                <a16:creationId xmlns:a16="http://schemas.microsoft.com/office/drawing/2014/main" id="{45A6C7B7-D889-45B2-8DF9-BE8FE07E7C15}"/>
              </a:ext>
            </a:extLst>
          </p:cNvPr>
          <p:cNvSpPr>
            <a:spLocks noGrp="1"/>
          </p:cNvSpPr>
          <p:nvPr/>
        </p:nvSpPr>
        <p:spPr>
          <a:xfrm>
            <a:off x="914400" y="5791200"/>
            <a:ext cx="53340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650" b="1">
                <a:solidFill>
                  <a:srgbClr val="FFFFFF"/>
                </a:solidFill>
                <a:latin typeface="Aptos Display"/>
                <a:ea typeface="Aptos Display"/>
                <a:cs typeface="Aptos Display"/>
              </a:defRPr>
            </a:pPr>
            <a:r>
              <a:rPr sz="1650" b="1">
                <a:solidFill>
                  <a:srgbClr val="FFFFFF"/>
                </a:solidFill>
                <a:latin typeface="Aptos Display"/>
                <a:ea typeface="Aptos Display"/>
                <a:cs typeface="Aptos Display"/>
              </a:rPr>
              <a:t>La formation devient crédible quand elle prépare des usages visibles.</a:t>
            </a:r>
          </a:p>
        </p:txBody>
      </p:sp>
      <p:sp>
        <p:nvSpPr>
          <p:cNvPr id="24" name="Rectangle 23">
            <a:extLst>
              <a:ext uri="{FF2B5EF4-FFF2-40B4-BE49-F238E27FC236}">
                <a16:creationId xmlns:a16="http://schemas.microsoft.com/office/drawing/2014/main" id="{A6512B0C-DBF8-442D-BFDD-C2DF4A1DEA2A}"/>
              </a:ext>
            </a:extLst>
          </p:cNvPr>
          <p:cNvSpPr>
            <a:spLocks noGrp="1"/>
          </p:cNvSpPr>
          <p:nvPr/>
        </p:nvSpPr>
        <p:spPr>
          <a:xfrm>
            <a:off x="6667500" y="5734050"/>
            <a:ext cx="4476750" cy="247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0">
                <a:solidFill>
                  <a:srgbClr val="FFFFFF"/>
                </a:solidFill>
                <a:latin typeface="Aptos"/>
                <a:ea typeface="Aptos"/>
                <a:cs typeface="Aptos"/>
              </a:defRPr>
            </a:pPr>
            <a:r>
              <a:rPr sz="938" b="0">
                <a:solidFill>
                  <a:srgbClr val="FFFFFF"/>
                </a:solidFill>
                <a:latin typeface="Aptos"/>
                <a:ea typeface="Aptos"/>
                <a:cs typeface="Aptos"/>
              </a:rPr>
              <a:t>Cela permet d'éviter un discours abstrait : les équipes voient tout de suite sur quels gestes métier l'IA doit les aider.</a:t>
            </a:r>
          </a:p>
        </p:txBody>
      </p:sp>
      <p:sp>
        <p:nvSpPr>
          <p:cNvPr id="25" name="Rectangle 24">
            <a:extLst>
              <a:ext uri="{FF2B5EF4-FFF2-40B4-BE49-F238E27FC236}">
                <a16:creationId xmlns:a16="http://schemas.microsoft.com/office/drawing/2014/main" id="{F9DE7B25-8B9B-44B5-804E-AAC22415E2E9}"/>
              </a:ext>
            </a:extLst>
          </p:cNvPr>
          <p:cNvSpPr>
            <a:spLocks noGrp="1"/>
          </p:cNvSpPr>
          <p:nvPr/>
        </p:nvSpPr>
        <p:spPr>
          <a:xfrm>
            <a:off x="647700" y="6496050"/>
            <a:ext cx="10896600" cy="9525"/>
          </a:xfrm>
          <a:prstGeom prst="rect">
            <a:avLst/>
          </a:prstGeom>
          <a:solidFill>
            <a:srgbClr val="D7CEC3"/>
          </a:solidFill>
          <a:ln w="0">
            <a:solidFill>
              <a:srgbClr val="000000">
                <a:alpha val="0"/>
              </a:srgbClr>
            </a:solidFill>
            <a:prstDash val="solid"/>
          </a:ln>
        </p:spPr>
      </p:sp>
      <p:sp>
        <p:nvSpPr>
          <p:cNvPr id="26" name="Rectangle 25">
            <a:extLst>
              <a:ext uri="{FF2B5EF4-FFF2-40B4-BE49-F238E27FC236}">
                <a16:creationId xmlns:a16="http://schemas.microsoft.com/office/drawing/2014/main" id="{4868CA50-7C7C-4080-B396-F5FF8ED93E47}"/>
              </a:ext>
            </a:extLst>
          </p:cNvPr>
          <p:cNvSpPr>
            <a:spLocks noGrp="1"/>
          </p:cNvSpPr>
          <p:nvPr/>
        </p:nvSpPr>
        <p:spPr>
          <a:xfrm>
            <a:off x="685800" y="6572250"/>
            <a:ext cx="8572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617086"/>
                </a:solidFill>
                <a:latin typeface="Aptos"/>
                <a:ea typeface="Aptos"/>
                <a:cs typeface="Aptos"/>
              </a:defRPr>
            </a:pPr>
            <a:r>
              <a:rPr sz="638" b="0">
                <a:solidFill>
                  <a:srgbClr val="617086"/>
                </a:solidFill>
                <a:latin typeface="Aptos"/>
                <a:ea typeface="Aptos"/>
                <a:cs typeface="Aptos"/>
              </a:rPr>
              <a:t>TransferAI | Hub IA de Nettelecom CI | Modèle deck institutionnel V3</a:t>
            </a:r>
          </a:p>
        </p:txBody>
      </p:sp>
      <p:sp>
        <p:nvSpPr>
          <p:cNvPr id="27" name="Rectangle 26">
            <a:extLst>
              <a:ext uri="{FF2B5EF4-FFF2-40B4-BE49-F238E27FC236}">
                <a16:creationId xmlns:a16="http://schemas.microsoft.com/office/drawing/2014/main" id="{65464089-ED46-4DD1-A1A8-2FDF755D8A39}"/>
              </a:ext>
            </a:extLst>
          </p:cNvPr>
          <p:cNvSpPr>
            <a:spLocks noGrp="1"/>
          </p:cNvSpPr>
          <p:nvPr/>
        </p:nvSpPr>
        <p:spPr>
          <a:xfrm>
            <a:off x="11049000" y="6553200"/>
            <a:ext cx="3429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1A3554"/>
                </a:solidFill>
                <a:latin typeface="Aptos"/>
                <a:ea typeface="Aptos"/>
                <a:cs typeface="Aptos"/>
              </a:defRPr>
            </a:pPr>
            <a:r>
              <a:rPr sz="750" b="1">
                <a:solidFill>
                  <a:srgbClr val="1A3554"/>
                </a:solidFill>
                <a:latin typeface="Aptos"/>
                <a:ea typeface="Aptos"/>
                <a:cs typeface="Aptos"/>
              </a:rPr>
              <a:t>10</a:t>
            </a:r>
          </a:p>
        </p:txBody>
      </p:sp>
    </p:spTree>
    <p:extLst>
      <p:ext uri="{BB962C8B-B14F-4D97-AF65-F5344CB8AC3E}">
        <p14:creationId xmlns:p14="http://schemas.microsoft.com/office/powerpoint/2010/main" val="11602549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0BB3D90D-D314-4BE8-84EC-0B58527D1CBA}"/>
              </a:ext>
            </a:extLst>
          </p:cNvPr>
          <p:cNvSpPr>
            <a:spLocks noGrp="1"/>
          </p:cNvSpPr>
          <p:nvPr/>
        </p:nvSpPr>
        <p:spPr>
          <a:xfrm>
            <a:off x="0" y="0"/>
            <a:ext cx="12192000" cy="6858000"/>
          </a:xfrm>
          <a:prstGeom prst="rect">
            <a:avLst/>
          </a:prstGeom>
          <a:solidFill>
            <a:srgbClr val="F5EFE7"/>
          </a:solidFill>
          <a:ln w="0">
            <a:solidFill>
              <a:srgbClr val="000000">
                <a:alpha val="0"/>
              </a:srgbClr>
            </a:solidFill>
            <a:prstDash val="solid"/>
          </a:ln>
        </p:spPr>
      </p:sp>
      <p:sp>
        <p:nvSpPr>
          <p:cNvPr id="2" name="Rectangle 1">
            <a:extLst>
              <a:ext uri="{FF2B5EF4-FFF2-40B4-BE49-F238E27FC236}">
                <a16:creationId xmlns:a16="http://schemas.microsoft.com/office/drawing/2014/main" id="{3BB12406-15F6-4E2F-B828-C5FEEE190602}"/>
              </a:ext>
            </a:extLst>
          </p:cNvPr>
          <p:cNvSpPr>
            <a:spLocks noGrp="1"/>
          </p:cNvSpPr>
          <p:nvPr/>
        </p:nvSpPr>
        <p:spPr>
          <a:xfrm>
            <a:off x="685800" y="495300"/>
            <a:ext cx="2476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E76F1D"/>
                </a:solidFill>
                <a:latin typeface="Aptos"/>
                <a:ea typeface="Aptos"/>
                <a:cs typeface="Aptos"/>
              </a:defRPr>
            </a:pPr>
            <a:r>
              <a:rPr sz="788" b="1">
                <a:solidFill>
                  <a:srgbClr val="E76F1D"/>
                </a:solidFill>
                <a:latin typeface="Aptos"/>
                <a:ea typeface="Aptos"/>
                <a:cs typeface="Aptos"/>
              </a:rPr>
              <a:t>PARCOURS 90 JOURS</a:t>
            </a:r>
          </a:p>
        </p:txBody>
      </p:sp>
      <p:sp>
        <p:nvSpPr>
          <p:cNvPr id="3" name="Rectangle 2">
            <a:extLst>
              <a:ext uri="{FF2B5EF4-FFF2-40B4-BE49-F238E27FC236}">
                <a16:creationId xmlns:a16="http://schemas.microsoft.com/office/drawing/2014/main" id="{D68D691C-393E-4198-92E5-8EC83E296B1C}"/>
              </a:ext>
            </a:extLst>
          </p:cNvPr>
          <p:cNvSpPr>
            <a:spLocks noGrp="1"/>
          </p:cNvSpPr>
          <p:nvPr/>
        </p:nvSpPr>
        <p:spPr>
          <a:xfrm>
            <a:off x="685800" y="819150"/>
            <a:ext cx="8572500" cy="800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550" b="1">
                <a:solidFill>
                  <a:srgbClr val="1A3554"/>
                </a:solidFill>
                <a:latin typeface="Aptos Display"/>
                <a:ea typeface="Aptos Display"/>
                <a:cs typeface="Aptos Display"/>
              </a:defRPr>
            </a:pPr>
            <a:r>
              <a:rPr sz="2550" b="1">
                <a:solidFill>
                  <a:srgbClr val="1A3554"/>
                </a:solidFill>
                <a:latin typeface="Aptos Display"/>
                <a:ea typeface="Aptos Display"/>
                <a:cs typeface="Aptos Display"/>
              </a:rPr>
              <a:t>La séquence recommandée pour passer du cadrage au pilote</a:t>
            </a:r>
          </a:p>
        </p:txBody>
      </p:sp>
      <p:sp>
        <p:nvSpPr>
          <p:cNvPr id="4" name="Rectangle 3">
            <a:extLst>
              <a:ext uri="{FF2B5EF4-FFF2-40B4-BE49-F238E27FC236}">
                <a16:creationId xmlns:a16="http://schemas.microsoft.com/office/drawing/2014/main" id="{32AF4707-FFAB-4E7C-B8FF-EA500A47CECA}"/>
              </a:ext>
            </a:extLst>
          </p:cNvPr>
          <p:cNvSpPr>
            <a:spLocks noGrp="1"/>
          </p:cNvSpPr>
          <p:nvPr/>
        </p:nvSpPr>
        <p:spPr>
          <a:xfrm>
            <a:off x="685800" y="1676400"/>
            <a:ext cx="8953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617086"/>
                </a:solidFill>
                <a:latin typeface="Aptos"/>
                <a:ea typeface="Aptos"/>
                <a:cs typeface="Aptos"/>
              </a:defRPr>
            </a:pPr>
            <a:r>
              <a:rPr sz="1050" b="0">
                <a:solidFill>
                  <a:srgbClr val="617086"/>
                </a:solidFill>
                <a:latin typeface="Aptos"/>
                <a:ea typeface="Aptos"/>
                <a:cs typeface="Aptos"/>
              </a:rPr>
              <a:t>Le bon scénario n'est pas de tout vendre d'un bloc, mais d'enchaîner les étapes utiles dans le bon ordre, avec validation à chaque palier.</a:t>
            </a:r>
          </a:p>
        </p:txBody>
      </p:sp>
      <p:sp>
        <p:nvSpPr>
          <p:cNvPr id="5" name="Rectangle 4">
            <a:extLst>
              <a:ext uri="{FF2B5EF4-FFF2-40B4-BE49-F238E27FC236}">
                <a16:creationId xmlns:a16="http://schemas.microsoft.com/office/drawing/2014/main" id="{12555E0C-C2C4-442F-B7CE-47F98DDFCBFF}"/>
              </a:ext>
            </a:extLst>
          </p:cNvPr>
          <p:cNvSpPr>
            <a:spLocks noGrp="1"/>
          </p:cNvSpPr>
          <p:nvPr/>
        </p:nvSpPr>
        <p:spPr>
          <a:xfrm>
            <a:off x="685800" y="2247900"/>
            <a:ext cx="2438400" cy="2362200"/>
          </a:xfrm>
          <a:prstGeom prst="rect">
            <a:avLst/>
          </a:prstGeom>
          <a:solidFill>
            <a:srgbClr val="FFFDFC"/>
          </a:solidFill>
          <a:ln w="9525">
            <a:solidFill>
              <a:srgbClr val="D7CEC3"/>
            </a:solidFill>
            <a:prstDash val="solid"/>
          </a:ln>
        </p:spPr>
      </p:sp>
      <p:sp>
        <p:nvSpPr>
          <p:cNvPr id="6" name="Rectangle 5">
            <a:extLst>
              <a:ext uri="{FF2B5EF4-FFF2-40B4-BE49-F238E27FC236}">
                <a16:creationId xmlns:a16="http://schemas.microsoft.com/office/drawing/2014/main" id="{D61D9A2B-1180-4DC3-8E52-D6D9DC1BEC42}"/>
              </a:ext>
            </a:extLst>
          </p:cNvPr>
          <p:cNvSpPr>
            <a:spLocks noGrp="1"/>
          </p:cNvSpPr>
          <p:nvPr/>
        </p:nvSpPr>
        <p:spPr>
          <a:xfrm>
            <a:off x="857250" y="2400300"/>
            <a:ext cx="571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500" b="1">
                <a:solidFill>
                  <a:srgbClr val="E76F1D"/>
                </a:solidFill>
                <a:latin typeface="Aptos Display"/>
                <a:ea typeface="Aptos Display"/>
                <a:cs typeface="Aptos Display"/>
              </a:defRPr>
            </a:pPr>
            <a:r>
              <a:rPr sz="1500" b="1">
                <a:solidFill>
                  <a:srgbClr val="E76F1D"/>
                </a:solidFill>
                <a:latin typeface="Aptos Display"/>
                <a:ea typeface="Aptos Display"/>
                <a:cs typeface="Aptos Display"/>
              </a:rPr>
              <a:t>01</a:t>
            </a:r>
          </a:p>
        </p:txBody>
      </p:sp>
      <p:sp>
        <p:nvSpPr>
          <p:cNvPr id="7" name="Rectangle 6">
            <a:extLst>
              <a:ext uri="{FF2B5EF4-FFF2-40B4-BE49-F238E27FC236}">
                <a16:creationId xmlns:a16="http://schemas.microsoft.com/office/drawing/2014/main" id="{7ABBAFEE-252C-4B5D-8AAE-A1800063DCE9}"/>
              </a:ext>
            </a:extLst>
          </p:cNvPr>
          <p:cNvSpPr>
            <a:spLocks noGrp="1"/>
          </p:cNvSpPr>
          <p:nvPr/>
        </p:nvSpPr>
        <p:spPr>
          <a:xfrm>
            <a:off x="857250" y="2762250"/>
            <a:ext cx="2095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1A3554"/>
                </a:solidFill>
                <a:latin typeface="Aptos Display"/>
                <a:ea typeface="Aptos Display"/>
                <a:cs typeface="Aptos Display"/>
              </a:defRPr>
            </a:pPr>
            <a:r>
              <a:rPr sz="1350" b="1">
                <a:solidFill>
                  <a:srgbClr val="1A3554"/>
                </a:solidFill>
                <a:latin typeface="Aptos Display"/>
                <a:ea typeface="Aptos Display"/>
                <a:cs typeface="Aptos Display"/>
              </a:rPr>
              <a:t>J+0 | Audit et cadrage</a:t>
            </a:r>
          </a:p>
        </p:txBody>
      </p:sp>
      <p:sp>
        <p:nvSpPr>
          <p:cNvPr id="8" name="Rectangle 7">
            <a:extLst>
              <a:ext uri="{FF2B5EF4-FFF2-40B4-BE49-F238E27FC236}">
                <a16:creationId xmlns:a16="http://schemas.microsoft.com/office/drawing/2014/main" id="{B76C57D9-9913-45B2-BD8A-FE551F501719}"/>
              </a:ext>
            </a:extLst>
          </p:cNvPr>
          <p:cNvSpPr>
            <a:spLocks noGrp="1"/>
          </p:cNvSpPr>
          <p:nvPr/>
        </p:nvSpPr>
        <p:spPr>
          <a:xfrm>
            <a:off x="857250" y="3333750"/>
            <a:ext cx="2095500" cy="1104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0">
                <a:solidFill>
                  <a:srgbClr val="617086"/>
                </a:solidFill>
                <a:latin typeface="Aptos"/>
                <a:ea typeface="Aptos"/>
                <a:cs typeface="Aptos"/>
              </a:defRPr>
            </a:pPr>
            <a:r>
              <a:rPr sz="938" b="0">
                <a:solidFill>
                  <a:srgbClr val="617086"/>
                </a:solidFill>
                <a:latin typeface="Aptos"/>
                <a:ea typeface="Aptos"/>
                <a:cs typeface="Aptos"/>
              </a:rPr>
              <a:t>Cartographier les irritants, choisir les cas d'usage prioritaires et définir les KPI de preuve.</a:t>
            </a:r>
          </a:p>
        </p:txBody>
      </p:sp>
      <p:sp>
        <p:nvSpPr>
          <p:cNvPr id="9" name="Rectangle 8">
            <a:extLst>
              <a:ext uri="{FF2B5EF4-FFF2-40B4-BE49-F238E27FC236}">
                <a16:creationId xmlns:a16="http://schemas.microsoft.com/office/drawing/2014/main" id="{8CB741B6-965E-4953-9EB6-9C52876A8EA9}"/>
              </a:ext>
            </a:extLst>
          </p:cNvPr>
          <p:cNvSpPr>
            <a:spLocks noGrp="1"/>
          </p:cNvSpPr>
          <p:nvPr/>
        </p:nvSpPr>
        <p:spPr>
          <a:xfrm>
            <a:off x="3352800" y="2247900"/>
            <a:ext cx="2438400" cy="2362200"/>
          </a:xfrm>
          <a:prstGeom prst="rect">
            <a:avLst/>
          </a:prstGeom>
          <a:solidFill>
            <a:srgbClr val="FFFDFC"/>
          </a:solidFill>
          <a:ln w="9525">
            <a:solidFill>
              <a:srgbClr val="D7CEC3"/>
            </a:solidFill>
            <a:prstDash val="solid"/>
          </a:ln>
        </p:spPr>
      </p:sp>
      <p:sp>
        <p:nvSpPr>
          <p:cNvPr id="10" name="Rectangle 9">
            <a:extLst>
              <a:ext uri="{FF2B5EF4-FFF2-40B4-BE49-F238E27FC236}">
                <a16:creationId xmlns:a16="http://schemas.microsoft.com/office/drawing/2014/main" id="{ACB105CE-8D3E-49CE-BC5D-A2AAF2E42D59}"/>
              </a:ext>
            </a:extLst>
          </p:cNvPr>
          <p:cNvSpPr>
            <a:spLocks noGrp="1"/>
          </p:cNvSpPr>
          <p:nvPr/>
        </p:nvSpPr>
        <p:spPr>
          <a:xfrm>
            <a:off x="3524250" y="2400300"/>
            <a:ext cx="571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500" b="1">
                <a:solidFill>
                  <a:srgbClr val="1C8A78"/>
                </a:solidFill>
                <a:latin typeface="Aptos Display"/>
                <a:ea typeface="Aptos Display"/>
                <a:cs typeface="Aptos Display"/>
              </a:defRPr>
            </a:pPr>
            <a:r>
              <a:rPr sz="1500" b="1">
                <a:solidFill>
                  <a:srgbClr val="1C8A78"/>
                </a:solidFill>
                <a:latin typeface="Aptos Display"/>
                <a:ea typeface="Aptos Display"/>
                <a:cs typeface="Aptos Display"/>
              </a:rPr>
              <a:t>02</a:t>
            </a:r>
          </a:p>
        </p:txBody>
      </p:sp>
      <p:sp>
        <p:nvSpPr>
          <p:cNvPr id="11" name="Rectangle 10">
            <a:extLst>
              <a:ext uri="{FF2B5EF4-FFF2-40B4-BE49-F238E27FC236}">
                <a16:creationId xmlns:a16="http://schemas.microsoft.com/office/drawing/2014/main" id="{FF6D6DCA-1D91-4F1C-AF90-498B6BD5F87D}"/>
              </a:ext>
            </a:extLst>
          </p:cNvPr>
          <p:cNvSpPr>
            <a:spLocks noGrp="1"/>
          </p:cNvSpPr>
          <p:nvPr/>
        </p:nvSpPr>
        <p:spPr>
          <a:xfrm>
            <a:off x="3524250" y="2762250"/>
            <a:ext cx="2095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1A3554"/>
                </a:solidFill>
                <a:latin typeface="Aptos Display"/>
                <a:ea typeface="Aptos Display"/>
                <a:cs typeface="Aptos Display"/>
              </a:defRPr>
            </a:pPr>
            <a:r>
              <a:rPr sz="1350" b="1">
                <a:solidFill>
                  <a:srgbClr val="1A3554"/>
                </a:solidFill>
                <a:latin typeface="Aptos Display"/>
                <a:ea typeface="Aptos Display"/>
                <a:cs typeface="Aptos Display"/>
              </a:rPr>
              <a:t>J+15 | Prototype ciblé</a:t>
            </a:r>
          </a:p>
        </p:txBody>
      </p:sp>
      <p:sp>
        <p:nvSpPr>
          <p:cNvPr id="12" name="Rectangle 11">
            <a:extLst>
              <a:ext uri="{FF2B5EF4-FFF2-40B4-BE49-F238E27FC236}">
                <a16:creationId xmlns:a16="http://schemas.microsoft.com/office/drawing/2014/main" id="{B203EBEE-1A61-477E-A6F3-31B863F9B0C1}"/>
              </a:ext>
            </a:extLst>
          </p:cNvPr>
          <p:cNvSpPr>
            <a:spLocks noGrp="1"/>
          </p:cNvSpPr>
          <p:nvPr/>
        </p:nvSpPr>
        <p:spPr>
          <a:xfrm>
            <a:off x="3524250" y="3333750"/>
            <a:ext cx="2095500" cy="1104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0">
                <a:solidFill>
                  <a:srgbClr val="617086"/>
                </a:solidFill>
                <a:latin typeface="Aptos"/>
                <a:ea typeface="Aptos"/>
                <a:cs typeface="Aptos"/>
              </a:defRPr>
            </a:pPr>
            <a:r>
              <a:rPr sz="938" b="0">
                <a:solidFill>
                  <a:srgbClr val="617086"/>
                </a:solidFill>
                <a:latin typeface="Aptos"/>
                <a:ea typeface="Aptos"/>
                <a:cs typeface="Aptos"/>
              </a:rPr>
              <a:t>Produire un premier livrable exploitable : synthèse, tableau de bord, assistant ou routine de pilotage.</a:t>
            </a:r>
          </a:p>
        </p:txBody>
      </p:sp>
      <p:sp>
        <p:nvSpPr>
          <p:cNvPr id="13" name="Rectangle 12">
            <a:extLst>
              <a:ext uri="{FF2B5EF4-FFF2-40B4-BE49-F238E27FC236}">
                <a16:creationId xmlns:a16="http://schemas.microsoft.com/office/drawing/2014/main" id="{E904DC09-9E2D-4631-B6AB-A47214618753}"/>
              </a:ext>
            </a:extLst>
          </p:cNvPr>
          <p:cNvSpPr>
            <a:spLocks noGrp="1"/>
          </p:cNvSpPr>
          <p:nvPr/>
        </p:nvSpPr>
        <p:spPr>
          <a:xfrm>
            <a:off x="6019800" y="2247900"/>
            <a:ext cx="2438400" cy="2362200"/>
          </a:xfrm>
          <a:prstGeom prst="rect">
            <a:avLst/>
          </a:prstGeom>
          <a:solidFill>
            <a:srgbClr val="FFFDFC"/>
          </a:solidFill>
          <a:ln w="9525">
            <a:solidFill>
              <a:srgbClr val="D7CEC3"/>
            </a:solidFill>
            <a:prstDash val="solid"/>
          </a:ln>
        </p:spPr>
      </p:sp>
      <p:sp>
        <p:nvSpPr>
          <p:cNvPr id="14" name="Rectangle 13">
            <a:extLst>
              <a:ext uri="{FF2B5EF4-FFF2-40B4-BE49-F238E27FC236}">
                <a16:creationId xmlns:a16="http://schemas.microsoft.com/office/drawing/2014/main" id="{2CC78D47-8E27-4CE4-8A78-71F05DCDC284}"/>
              </a:ext>
            </a:extLst>
          </p:cNvPr>
          <p:cNvSpPr>
            <a:spLocks noGrp="1"/>
          </p:cNvSpPr>
          <p:nvPr/>
        </p:nvSpPr>
        <p:spPr>
          <a:xfrm>
            <a:off x="6191250" y="2400300"/>
            <a:ext cx="571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500" b="1">
                <a:solidFill>
                  <a:srgbClr val="163556"/>
                </a:solidFill>
                <a:latin typeface="Aptos Display"/>
                <a:ea typeface="Aptos Display"/>
                <a:cs typeface="Aptos Display"/>
              </a:defRPr>
            </a:pPr>
            <a:r>
              <a:rPr sz="1500" b="1">
                <a:solidFill>
                  <a:srgbClr val="163556"/>
                </a:solidFill>
                <a:latin typeface="Aptos Display"/>
                <a:ea typeface="Aptos Display"/>
                <a:cs typeface="Aptos Display"/>
              </a:rPr>
              <a:t>03</a:t>
            </a:r>
          </a:p>
        </p:txBody>
      </p:sp>
      <p:sp>
        <p:nvSpPr>
          <p:cNvPr id="15" name="Rectangle 14">
            <a:extLst>
              <a:ext uri="{FF2B5EF4-FFF2-40B4-BE49-F238E27FC236}">
                <a16:creationId xmlns:a16="http://schemas.microsoft.com/office/drawing/2014/main" id="{C8EF6150-28D7-4E9C-BAC6-8D0E777F0179}"/>
              </a:ext>
            </a:extLst>
          </p:cNvPr>
          <p:cNvSpPr>
            <a:spLocks noGrp="1"/>
          </p:cNvSpPr>
          <p:nvPr/>
        </p:nvSpPr>
        <p:spPr>
          <a:xfrm>
            <a:off x="6191250" y="2762250"/>
            <a:ext cx="2095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1A3554"/>
                </a:solidFill>
                <a:latin typeface="Aptos Display"/>
                <a:ea typeface="Aptos Display"/>
                <a:cs typeface="Aptos Display"/>
              </a:defRPr>
            </a:pPr>
            <a:r>
              <a:rPr sz="1350" b="1">
                <a:solidFill>
                  <a:srgbClr val="1A3554"/>
                </a:solidFill>
                <a:latin typeface="Aptos Display"/>
                <a:ea typeface="Aptos Display"/>
                <a:cs typeface="Aptos Display"/>
              </a:rPr>
              <a:t>J+45 | Formation et pilote</a:t>
            </a:r>
          </a:p>
        </p:txBody>
      </p:sp>
      <p:sp>
        <p:nvSpPr>
          <p:cNvPr id="16" name="Rectangle 15">
            <a:extLst>
              <a:ext uri="{FF2B5EF4-FFF2-40B4-BE49-F238E27FC236}">
                <a16:creationId xmlns:a16="http://schemas.microsoft.com/office/drawing/2014/main" id="{659749A6-6AF4-40F1-B31D-41B79193775E}"/>
              </a:ext>
            </a:extLst>
          </p:cNvPr>
          <p:cNvSpPr>
            <a:spLocks noGrp="1"/>
          </p:cNvSpPr>
          <p:nvPr/>
        </p:nvSpPr>
        <p:spPr>
          <a:xfrm>
            <a:off x="6191250" y="3333750"/>
            <a:ext cx="2095500" cy="1104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0">
                <a:solidFill>
                  <a:srgbClr val="617086"/>
                </a:solidFill>
                <a:latin typeface="Aptos"/>
                <a:ea typeface="Aptos"/>
                <a:cs typeface="Aptos"/>
              </a:defRPr>
            </a:pPr>
            <a:r>
              <a:rPr sz="938" b="0">
                <a:solidFill>
                  <a:srgbClr val="617086"/>
                </a:solidFill>
                <a:latin typeface="Aptos"/>
                <a:ea typeface="Aptos"/>
                <a:cs typeface="Aptos"/>
              </a:rPr>
              <a:t>Former la bonne population et lancer le pilote sur un flux concret, avec supervision et revue métier.</a:t>
            </a:r>
          </a:p>
        </p:txBody>
      </p:sp>
      <p:sp>
        <p:nvSpPr>
          <p:cNvPr id="17" name="Rectangle 16">
            <a:extLst>
              <a:ext uri="{FF2B5EF4-FFF2-40B4-BE49-F238E27FC236}">
                <a16:creationId xmlns:a16="http://schemas.microsoft.com/office/drawing/2014/main" id="{E68347D4-1940-4E24-A22A-DAB0190A7B4A}"/>
              </a:ext>
            </a:extLst>
          </p:cNvPr>
          <p:cNvSpPr>
            <a:spLocks noGrp="1"/>
          </p:cNvSpPr>
          <p:nvPr/>
        </p:nvSpPr>
        <p:spPr>
          <a:xfrm>
            <a:off x="8686800" y="2247900"/>
            <a:ext cx="2819400" cy="2362200"/>
          </a:xfrm>
          <a:prstGeom prst="rect">
            <a:avLst/>
          </a:prstGeom>
          <a:solidFill>
            <a:srgbClr val="FFFDFC"/>
          </a:solidFill>
          <a:ln w="9525">
            <a:solidFill>
              <a:srgbClr val="D7CEC3"/>
            </a:solidFill>
            <a:prstDash val="solid"/>
          </a:ln>
        </p:spPr>
      </p:sp>
      <p:sp>
        <p:nvSpPr>
          <p:cNvPr id="18" name="Rectangle 17">
            <a:extLst>
              <a:ext uri="{FF2B5EF4-FFF2-40B4-BE49-F238E27FC236}">
                <a16:creationId xmlns:a16="http://schemas.microsoft.com/office/drawing/2014/main" id="{DE0BD8F7-067A-4205-9787-0282FFC8D806}"/>
              </a:ext>
            </a:extLst>
          </p:cNvPr>
          <p:cNvSpPr>
            <a:spLocks noGrp="1"/>
          </p:cNvSpPr>
          <p:nvPr/>
        </p:nvSpPr>
        <p:spPr>
          <a:xfrm>
            <a:off x="8858250" y="2400300"/>
            <a:ext cx="571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500" b="1">
                <a:solidFill>
                  <a:srgbClr val="C88C3A"/>
                </a:solidFill>
                <a:latin typeface="Aptos Display"/>
                <a:ea typeface="Aptos Display"/>
                <a:cs typeface="Aptos Display"/>
              </a:defRPr>
            </a:pPr>
            <a:r>
              <a:rPr sz="1500" b="1">
                <a:solidFill>
                  <a:srgbClr val="C88C3A"/>
                </a:solidFill>
                <a:latin typeface="Aptos Display"/>
                <a:ea typeface="Aptos Display"/>
                <a:cs typeface="Aptos Display"/>
              </a:rPr>
              <a:t>04</a:t>
            </a:r>
          </a:p>
        </p:txBody>
      </p:sp>
      <p:sp>
        <p:nvSpPr>
          <p:cNvPr id="19" name="Rectangle 18">
            <a:extLst>
              <a:ext uri="{FF2B5EF4-FFF2-40B4-BE49-F238E27FC236}">
                <a16:creationId xmlns:a16="http://schemas.microsoft.com/office/drawing/2014/main" id="{6C1D88BB-902C-44C0-9966-D05593D8D734}"/>
              </a:ext>
            </a:extLst>
          </p:cNvPr>
          <p:cNvSpPr>
            <a:spLocks noGrp="1"/>
          </p:cNvSpPr>
          <p:nvPr/>
        </p:nvSpPr>
        <p:spPr>
          <a:xfrm>
            <a:off x="8858250" y="2762250"/>
            <a:ext cx="2476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1A3554"/>
                </a:solidFill>
                <a:latin typeface="Aptos Display"/>
                <a:ea typeface="Aptos Display"/>
                <a:cs typeface="Aptos Display"/>
              </a:defRPr>
            </a:pPr>
            <a:r>
              <a:rPr sz="1350" b="1">
                <a:solidFill>
                  <a:srgbClr val="1A3554"/>
                </a:solidFill>
                <a:latin typeface="Aptos Display"/>
                <a:ea typeface="Aptos Display"/>
                <a:cs typeface="Aptos Display"/>
              </a:rPr>
              <a:t>J+90 | ROI et extension</a:t>
            </a:r>
          </a:p>
        </p:txBody>
      </p:sp>
      <p:sp>
        <p:nvSpPr>
          <p:cNvPr id="20" name="Rectangle 19">
            <a:extLst>
              <a:ext uri="{FF2B5EF4-FFF2-40B4-BE49-F238E27FC236}">
                <a16:creationId xmlns:a16="http://schemas.microsoft.com/office/drawing/2014/main" id="{4E6EB29F-653B-46BC-9E9D-DC6C66A104C4}"/>
              </a:ext>
            </a:extLst>
          </p:cNvPr>
          <p:cNvSpPr>
            <a:spLocks noGrp="1"/>
          </p:cNvSpPr>
          <p:nvPr/>
        </p:nvSpPr>
        <p:spPr>
          <a:xfrm>
            <a:off x="8858250" y="3333750"/>
            <a:ext cx="2476500" cy="1104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0">
                <a:solidFill>
                  <a:srgbClr val="617086"/>
                </a:solidFill>
                <a:latin typeface="Aptos"/>
                <a:ea typeface="Aptos"/>
                <a:cs typeface="Aptos"/>
              </a:defRPr>
            </a:pPr>
            <a:r>
              <a:rPr sz="938" b="0">
                <a:solidFill>
                  <a:srgbClr val="617086"/>
                </a:solidFill>
                <a:latin typeface="Aptos"/>
                <a:ea typeface="Aptos"/>
                <a:cs typeface="Aptos"/>
              </a:rPr>
              <a:t>Mesurer les premiers résultats, documenter les apprentissages et décider ce qui mérite d'être étendu.</a:t>
            </a:r>
          </a:p>
        </p:txBody>
      </p:sp>
      <p:sp>
        <p:nvSpPr>
          <p:cNvPr id="21" name="Rectangle 20">
            <a:extLst>
              <a:ext uri="{FF2B5EF4-FFF2-40B4-BE49-F238E27FC236}">
                <a16:creationId xmlns:a16="http://schemas.microsoft.com/office/drawing/2014/main" id="{716AA788-1C9B-485C-82A9-BC25BE72A3E3}"/>
              </a:ext>
            </a:extLst>
          </p:cNvPr>
          <p:cNvSpPr>
            <a:spLocks noGrp="1"/>
          </p:cNvSpPr>
          <p:nvPr/>
        </p:nvSpPr>
        <p:spPr>
          <a:xfrm>
            <a:off x="685800" y="4953000"/>
            <a:ext cx="10820400" cy="1066800"/>
          </a:xfrm>
          <a:prstGeom prst="rect">
            <a:avLst/>
          </a:prstGeom>
          <a:solidFill>
            <a:srgbClr val="163556"/>
          </a:solidFill>
          <a:ln w="0">
            <a:solidFill>
              <a:srgbClr val="163556"/>
            </a:solidFill>
            <a:prstDash val="solid"/>
          </a:ln>
        </p:spPr>
      </p:sp>
      <p:sp>
        <p:nvSpPr>
          <p:cNvPr id="22" name="Rectangle 21">
            <a:extLst>
              <a:ext uri="{FF2B5EF4-FFF2-40B4-BE49-F238E27FC236}">
                <a16:creationId xmlns:a16="http://schemas.microsoft.com/office/drawing/2014/main" id="{8CEA209F-5C65-490D-9B42-77125410CA80}"/>
              </a:ext>
            </a:extLst>
          </p:cNvPr>
          <p:cNvSpPr>
            <a:spLocks noGrp="1"/>
          </p:cNvSpPr>
          <p:nvPr/>
        </p:nvSpPr>
        <p:spPr>
          <a:xfrm>
            <a:off x="914400" y="5162550"/>
            <a:ext cx="27622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CFE0F0"/>
                </a:solidFill>
                <a:latin typeface="Aptos"/>
                <a:ea typeface="Aptos"/>
                <a:cs typeface="Aptos"/>
              </a:defRPr>
            </a:pPr>
            <a:r>
              <a:rPr sz="750" b="1">
                <a:solidFill>
                  <a:srgbClr val="CFE0F0"/>
                </a:solidFill>
                <a:latin typeface="Aptos"/>
                <a:ea typeface="Aptos"/>
                <a:cs typeface="Aptos"/>
              </a:rPr>
              <a:t>Ce que l'organisation obtient à chaque étape</a:t>
            </a:r>
          </a:p>
        </p:txBody>
      </p:sp>
      <p:sp>
        <p:nvSpPr>
          <p:cNvPr id="23" name="Rectangle 22">
            <a:extLst>
              <a:ext uri="{FF2B5EF4-FFF2-40B4-BE49-F238E27FC236}">
                <a16:creationId xmlns:a16="http://schemas.microsoft.com/office/drawing/2014/main" id="{379B90A8-964C-4DCA-9400-4925619C7EAA}"/>
              </a:ext>
            </a:extLst>
          </p:cNvPr>
          <p:cNvSpPr>
            <a:spLocks noGrp="1"/>
          </p:cNvSpPr>
          <p:nvPr/>
        </p:nvSpPr>
        <p:spPr>
          <a:xfrm>
            <a:off x="914400" y="5391150"/>
            <a:ext cx="2476500" cy="533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FFFFFF"/>
                </a:solidFill>
                <a:latin typeface="Aptos"/>
                <a:ea typeface="Aptos"/>
                <a:cs typeface="Aptos"/>
              </a:defRPr>
            </a:pPr>
            <a:r>
              <a:rPr sz="863" b="0">
                <a:solidFill>
                  <a:srgbClr val="FFFFFF"/>
                </a:solidFill>
                <a:latin typeface="Aptos"/>
                <a:ea typeface="Aptos"/>
                <a:cs typeface="Aptos"/>
              </a:rPr>
              <a:t>• priorités mieux choisies</a:t>
            </a:r>
          </a:p>
          <a:p>
            <a:pPr algn="l">
              <a:defRPr sz="863" b="0">
                <a:solidFill>
                  <a:srgbClr val="FFFFFF"/>
                </a:solidFill>
                <a:latin typeface="Aptos"/>
                <a:ea typeface="Aptos"/>
                <a:cs typeface="Aptos"/>
              </a:defRPr>
            </a:pPr>
            <a:r>
              <a:rPr sz="863" b="0">
                <a:solidFill>
                  <a:srgbClr val="FFFFFF"/>
                </a:solidFill>
                <a:latin typeface="Aptos"/>
                <a:ea typeface="Aptos"/>
                <a:cs typeface="Aptos"/>
              </a:rPr>
              <a:t>• cas d'usage mieux qualifiés</a:t>
            </a:r>
          </a:p>
          <a:p>
            <a:pPr algn="l">
              <a:defRPr sz="863" b="0">
                <a:solidFill>
                  <a:srgbClr val="FFFFFF"/>
                </a:solidFill>
                <a:latin typeface="Aptos"/>
                <a:ea typeface="Aptos"/>
                <a:cs typeface="Aptos"/>
              </a:defRPr>
            </a:pPr>
            <a:r>
              <a:rPr sz="863" b="0">
                <a:solidFill>
                  <a:srgbClr val="FFFFFF"/>
                </a:solidFill>
                <a:latin typeface="Aptos"/>
                <a:ea typeface="Aptos"/>
                <a:cs typeface="Aptos"/>
              </a:rPr>
              <a:t>• formation plus ciblée</a:t>
            </a:r>
          </a:p>
          <a:p>
            <a:pPr algn="l">
              <a:defRPr sz="863" b="0">
                <a:solidFill>
                  <a:srgbClr val="FFFFFF"/>
                </a:solidFill>
                <a:latin typeface="Aptos"/>
                <a:ea typeface="Aptos"/>
                <a:cs typeface="Aptos"/>
              </a:defRPr>
            </a:pPr>
            <a:r>
              <a:rPr sz="863" b="0">
                <a:solidFill>
                  <a:srgbClr val="FFFFFF"/>
                </a:solidFill>
                <a:latin typeface="Aptos"/>
                <a:ea typeface="Aptos"/>
                <a:cs typeface="Aptos"/>
              </a:rPr>
              <a:t>• décision plus simple sur le passage à l'échelle</a:t>
            </a:r>
          </a:p>
        </p:txBody>
      </p:sp>
      <p:sp>
        <p:nvSpPr>
          <p:cNvPr id="24" name="Rectangle 23">
            <a:extLst>
              <a:ext uri="{FF2B5EF4-FFF2-40B4-BE49-F238E27FC236}">
                <a16:creationId xmlns:a16="http://schemas.microsoft.com/office/drawing/2014/main" id="{6CACB69D-F382-491D-A2AA-59AC491C1830}"/>
              </a:ext>
            </a:extLst>
          </p:cNvPr>
          <p:cNvSpPr>
            <a:spLocks noGrp="1"/>
          </p:cNvSpPr>
          <p:nvPr/>
        </p:nvSpPr>
        <p:spPr>
          <a:xfrm>
            <a:off x="3943350" y="5505450"/>
            <a:ext cx="70104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1">
                <a:solidFill>
                  <a:srgbClr val="D7E5F3"/>
                </a:solidFill>
                <a:latin typeface="Aptos"/>
                <a:ea typeface="Aptos"/>
                <a:cs typeface="Aptos"/>
              </a:defRPr>
            </a:pPr>
            <a:r>
              <a:rPr sz="938" b="1">
                <a:solidFill>
                  <a:srgbClr val="D7E5F3"/>
                </a:solidFill>
                <a:latin typeface="Aptos"/>
                <a:ea typeface="Aptos"/>
                <a:cs typeface="Aptos"/>
              </a:rPr>
              <a:t>Principe de gouvernance : aucun passage à l'étape suivante sans validation des livrables, des accès et des usages autorisés.</a:t>
            </a:r>
          </a:p>
        </p:txBody>
      </p:sp>
      <p:sp>
        <p:nvSpPr>
          <p:cNvPr id="25" name="Rectangle 24">
            <a:extLst>
              <a:ext uri="{FF2B5EF4-FFF2-40B4-BE49-F238E27FC236}">
                <a16:creationId xmlns:a16="http://schemas.microsoft.com/office/drawing/2014/main" id="{AC7CC2D3-477F-459A-861A-44EB1463DDC6}"/>
              </a:ext>
            </a:extLst>
          </p:cNvPr>
          <p:cNvSpPr>
            <a:spLocks noGrp="1"/>
          </p:cNvSpPr>
          <p:nvPr/>
        </p:nvSpPr>
        <p:spPr>
          <a:xfrm>
            <a:off x="647700" y="6496050"/>
            <a:ext cx="10896600" cy="9525"/>
          </a:xfrm>
          <a:prstGeom prst="rect">
            <a:avLst/>
          </a:prstGeom>
          <a:solidFill>
            <a:srgbClr val="D7CEC3"/>
          </a:solidFill>
          <a:ln w="0">
            <a:solidFill>
              <a:srgbClr val="000000">
                <a:alpha val="0"/>
              </a:srgbClr>
            </a:solidFill>
            <a:prstDash val="solid"/>
          </a:ln>
        </p:spPr>
      </p:sp>
      <p:sp>
        <p:nvSpPr>
          <p:cNvPr id="26" name="Rectangle 25">
            <a:extLst>
              <a:ext uri="{FF2B5EF4-FFF2-40B4-BE49-F238E27FC236}">
                <a16:creationId xmlns:a16="http://schemas.microsoft.com/office/drawing/2014/main" id="{A04AE2F2-77FC-43F2-B103-098F8509D7DE}"/>
              </a:ext>
            </a:extLst>
          </p:cNvPr>
          <p:cNvSpPr>
            <a:spLocks noGrp="1"/>
          </p:cNvSpPr>
          <p:nvPr/>
        </p:nvSpPr>
        <p:spPr>
          <a:xfrm>
            <a:off x="685800" y="6572250"/>
            <a:ext cx="8572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617086"/>
                </a:solidFill>
                <a:latin typeface="Aptos"/>
                <a:ea typeface="Aptos"/>
                <a:cs typeface="Aptos"/>
              </a:defRPr>
            </a:pPr>
            <a:r>
              <a:rPr sz="638" b="0">
                <a:solidFill>
                  <a:srgbClr val="617086"/>
                </a:solidFill>
                <a:latin typeface="Aptos"/>
                <a:ea typeface="Aptos"/>
                <a:cs typeface="Aptos"/>
              </a:rPr>
              <a:t>TransferAI | Hub IA de Nettelecom CI | Modèle deck institutionnel V3</a:t>
            </a:r>
          </a:p>
        </p:txBody>
      </p:sp>
      <p:sp>
        <p:nvSpPr>
          <p:cNvPr id="27" name="Rectangle 26">
            <a:extLst>
              <a:ext uri="{FF2B5EF4-FFF2-40B4-BE49-F238E27FC236}">
                <a16:creationId xmlns:a16="http://schemas.microsoft.com/office/drawing/2014/main" id="{F12D8D90-5974-4253-87A8-4C2E8BA62921}"/>
              </a:ext>
            </a:extLst>
          </p:cNvPr>
          <p:cNvSpPr>
            <a:spLocks noGrp="1"/>
          </p:cNvSpPr>
          <p:nvPr/>
        </p:nvSpPr>
        <p:spPr>
          <a:xfrm>
            <a:off x="11049000" y="6553200"/>
            <a:ext cx="3429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1A3554"/>
                </a:solidFill>
                <a:latin typeface="Aptos"/>
                <a:ea typeface="Aptos"/>
                <a:cs typeface="Aptos"/>
              </a:defRPr>
            </a:pPr>
            <a:r>
              <a:rPr sz="750" b="1">
                <a:solidFill>
                  <a:srgbClr val="1A3554"/>
                </a:solidFill>
                <a:latin typeface="Aptos"/>
                <a:ea typeface="Aptos"/>
                <a:cs typeface="Aptos"/>
              </a:rPr>
              <a:t>11</a:t>
            </a:r>
          </a:p>
        </p:txBody>
      </p:sp>
    </p:spTree>
    <p:extLst>
      <p:ext uri="{BB962C8B-B14F-4D97-AF65-F5344CB8AC3E}">
        <p14:creationId xmlns:p14="http://schemas.microsoft.com/office/powerpoint/2010/main" val="18424822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69EEBBF8-3D44-4628-BB48-A1E1F51D598E}"/>
              </a:ext>
            </a:extLst>
          </p:cNvPr>
          <p:cNvSpPr>
            <a:spLocks noGrp="1"/>
          </p:cNvSpPr>
          <p:nvPr/>
        </p:nvSpPr>
        <p:spPr>
          <a:xfrm>
            <a:off x="0" y="0"/>
            <a:ext cx="12192000" cy="6858000"/>
          </a:xfrm>
          <a:prstGeom prst="rect">
            <a:avLst/>
          </a:prstGeom>
          <a:solidFill>
            <a:srgbClr val="F5EFE7"/>
          </a:solidFill>
          <a:ln w="0">
            <a:solidFill>
              <a:srgbClr val="000000">
                <a:alpha val="0"/>
              </a:srgbClr>
            </a:solidFill>
            <a:prstDash val="solid"/>
          </a:ln>
        </p:spPr>
      </p:sp>
      <p:sp>
        <p:nvSpPr>
          <p:cNvPr id="2" name="Rectangle 1">
            <a:extLst>
              <a:ext uri="{FF2B5EF4-FFF2-40B4-BE49-F238E27FC236}">
                <a16:creationId xmlns:a16="http://schemas.microsoft.com/office/drawing/2014/main" id="{ED99C717-A1A7-4900-8104-2D9C55781E07}"/>
              </a:ext>
            </a:extLst>
          </p:cNvPr>
          <p:cNvSpPr>
            <a:spLocks noGrp="1"/>
          </p:cNvSpPr>
          <p:nvPr/>
        </p:nvSpPr>
        <p:spPr>
          <a:xfrm>
            <a:off x="685800" y="495300"/>
            <a:ext cx="2476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E76F1D"/>
                </a:solidFill>
                <a:latin typeface="Aptos"/>
                <a:ea typeface="Aptos"/>
                <a:cs typeface="Aptos"/>
              </a:defRPr>
            </a:pPr>
            <a:r>
              <a:rPr sz="788" b="1">
                <a:solidFill>
                  <a:srgbClr val="E76F1D"/>
                </a:solidFill>
                <a:latin typeface="Aptos"/>
                <a:ea typeface="Aptos"/>
                <a:cs typeface="Aptos"/>
              </a:rPr>
              <a:t>OFFRE RECOMMANDÉE</a:t>
            </a:r>
          </a:p>
        </p:txBody>
      </p:sp>
      <p:sp>
        <p:nvSpPr>
          <p:cNvPr id="3" name="Rectangle 2">
            <a:extLst>
              <a:ext uri="{FF2B5EF4-FFF2-40B4-BE49-F238E27FC236}">
                <a16:creationId xmlns:a16="http://schemas.microsoft.com/office/drawing/2014/main" id="{9B21810A-58E8-4C6B-8387-181A36C0665F}"/>
              </a:ext>
            </a:extLst>
          </p:cNvPr>
          <p:cNvSpPr>
            <a:spLocks noGrp="1"/>
          </p:cNvSpPr>
          <p:nvPr/>
        </p:nvSpPr>
        <p:spPr>
          <a:xfrm>
            <a:off x="857250" y="781050"/>
            <a:ext cx="8001000" cy="800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550" b="1">
                <a:solidFill>
                  <a:srgbClr val="1A3554"/>
                </a:solidFill>
                <a:latin typeface="Aptos Display"/>
                <a:ea typeface="Aptos Display"/>
                <a:cs typeface="Aptos Display"/>
              </a:defRPr>
            </a:pPr>
            <a:r>
              <a:rPr sz="2550" b="1" dirty="0">
                <a:solidFill>
                  <a:srgbClr val="1A3554"/>
                </a:solidFill>
                <a:latin typeface="Aptos Display"/>
                <a:ea typeface="Aptos Display"/>
                <a:cs typeface="Aptos Display"/>
              </a:rPr>
              <a:t>La proposition </a:t>
            </a:r>
            <a:r>
              <a:rPr sz="2550" b="1" dirty="0" err="1">
                <a:solidFill>
                  <a:srgbClr val="1A3554"/>
                </a:solidFill>
                <a:latin typeface="Aptos Display"/>
                <a:ea typeface="Aptos Display"/>
                <a:cs typeface="Aptos Display"/>
              </a:rPr>
              <a:t>TransferAI</a:t>
            </a:r>
            <a:r>
              <a:rPr sz="2550" b="1" dirty="0">
                <a:solidFill>
                  <a:srgbClr val="1A3554"/>
                </a:solidFill>
                <a:latin typeface="Aptos Display"/>
                <a:ea typeface="Aptos Display"/>
                <a:cs typeface="Aptos Display"/>
              </a:rPr>
              <a:t> pour </a:t>
            </a:r>
            <a:r>
              <a:rPr sz="2550" b="1" dirty="0" err="1">
                <a:solidFill>
                  <a:srgbClr val="1A3554"/>
                </a:solidFill>
                <a:latin typeface="Aptos Display"/>
                <a:ea typeface="Aptos Display"/>
                <a:cs typeface="Aptos Display"/>
              </a:rPr>
              <a:t>votre</a:t>
            </a:r>
            <a:r>
              <a:rPr sz="2550" b="1" dirty="0">
                <a:solidFill>
                  <a:srgbClr val="1A3554"/>
                </a:solidFill>
                <a:latin typeface="Aptos Display"/>
                <a:ea typeface="Aptos Display"/>
                <a:cs typeface="Aptos Display"/>
              </a:rPr>
              <a:t> </a:t>
            </a:r>
            <a:r>
              <a:rPr sz="2550" b="1" dirty="0" err="1">
                <a:solidFill>
                  <a:srgbClr val="1A3554"/>
                </a:solidFill>
                <a:latin typeface="Aptos Display"/>
                <a:ea typeface="Aptos Display"/>
                <a:cs typeface="Aptos Display"/>
              </a:rPr>
              <a:t>organisation</a:t>
            </a:r>
            <a:endParaRPr sz="2550" b="1" dirty="0">
              <a:solidFill>
                <a:srgbClr val="1A3554"/>
              </a:solidFill>
              <a:latin typeface="Aptos Display"/>
              <a:ea typeface="Aptos Display"/>
              <a:cs typeface="Aptos Display"/>
            </a:endParaRPr>
          </a:p>
        </p:txBody>
      </p:sp>
      <p:sp>
        <p:nvSpPr>
          <p:cNvPr id="4" name="Rectangle 3">
            <a:extLst>
              <a:ext uri="{FF2B5EF4-FFF2-40B4-BE49-F238E27FC236}">
                <a16:creationId xmlns:a16="http://schemas.microsoft.com/office/drawing/2014/main" id="{671AF4DB-42DD-4E59-A34B-11F0ACCEC887}"/>
              </a:ext>
            </a:extLst>
          </p:cNvPr>
          <p:cNvSpPr>
            <a:spLocks noGrp="1"/>
          </p:cNvSpPr>
          <p:nvPr/>
        </p:nvSpPr>
        <p:spPr>
          <a:xfrm>
            <a:off x="685800" y="1676400"/>
            <a:ext cx="923925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617086"/>
                </a:solidFill>
                <a:latin typeface="Aptos"/>
                <a:ea typeface="Aptos"/>
                <a:cs typeface="Aptos"/>
              </a:defRPr>
            </a:pPr>
            <a:r>
              <a:rPr sz="1050" b="0">
                <a:solidFill>
                  <a:srgbClr val="617086"/>
                </a:solidFill>
                <a:latin typeface="Aptos"/>
                <a:ea typeface="Aptos"/>
                <a:cs typeface="Aptos"/>
              </a:rPr>
              <a:t>Notre valeur ne vient pas d'un outil unique, mais de l'enchaînement entre diagnostic, formation utile, gouvernance et premier terrain d'exécution.</a:t>
            </a:r>
          </a:p>
        </p:txBody>
      </p:sp>
      <p:sp>
        <p:nvSpPr>
          <p:cNvPr id="5" name="Rectangle 4">
            <a:extLst>
              <a:ext uri="{FF2B5EF4-FFF2-40B4-BE49-F238E27FC236}">
                <a16:creationId xmlns:a16="http://schemas.microsoft.com/office/drawing/2014/main" id="{BA47ECA3-271B-4C37-B414-7DBF888BE9F1}"/>
              </a:ext>
            </a:extLst>
          </p:cNvPr>
          <p:cNvSpPr>
            <a:spLocks noGrp="1"/>
          </p:cNvSpPr>
          <p:nvPr/>
        </p:nvSpPr>
        <p:spPr>
          <a:xfrm>
            <a:off x="685800" y="2247900"/>
            <a:ext cx="5181600" cy="1333500"/>
          </a:xfrm>
          <a:prstGeom prst="rect">
            <a:avLst/>
          </a:prstGeom>
          <a:solidFill>
            <a:srgbClr val="163556"/>
          </a:solidFill>
          <a:ln w="0">
            <a:solidFill>
              <a:srgbClr val="163556"/>
            </a:solidFill>
            <a:prstDash val="solid"/>
          </a:ln>
        </p:spPr>
      </p:sp>
      <p:sp>
        <p:nvSpPr>
          <p:cNvPr id="6" name="Rectangle 5">
            <a:extLst>
              <a:ext uri="{FF2B5EF4-FFF2-40B4-BE49-F238E27FC236}">
                <a16:creationId xmlns:a16="http://schemas.microsoft.com/office/drawing/2014/main" id="{4B54B35D-BBAD-4DBB-8C2C-6D1F066ADC32}"/>
              </a:ext>
            </a:extLst>
          </p:cNvPr>
          <p:cNvSpPr>
            <a:spLocks noGrp="1"/>
          </p:cNvSpPr>
          <p:nvPr/>
        </p:nvSpPr>
        <p:spPr>
          <a:xfrm>
            <a:off x="857250" y="2419350"/>
            <a:ext cx="483870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FFFFFF"/>
                </a:solidFill>
                <a:latin typeface="Aptos Display"/>
                <a:ea typeface="Aptos Display"/>
                <a:cs typeface="Aptos Display"/>
              </a:defRPr>
            </a:pPr>
            <a:r>
              <a:rPr sz="1350" b="1">
                <a:solidFill>
                  <a:srgbClr val="FFFFFF"/>
                </a:solidFill>
                <a:latin typeface="Aptos Display"/>
                <a:ea typeface="Aptos Display"/>
                <a:cs typeface="Aptos Display"/>
              </a:rPr>
              <a:t>1. Audit, cadrage et feuille de route</a:t>
            </a:r>
          </a:p>
        </p:txBody>
      </p:sp>
      <p:sp>
        <p:nvSpPr>
          <p:cNvPr id="7" name="Rectangle 6">
            <a:extLst>
              <a:ext uri="{FF2B5EF4-FFF2-40B4-BE49-F238E27FC236}">
                <a16:creationId xmlns:a16="http://schemas.microsoft.com/office/drawing/2014/main" id="{D7B60735-6EDD-4B3A-A210-C50060BBE122}"/>
              </a:ext>
            </a:extLst>
          </p:cNvPr>
          <p:cNvSpPr>
            <a:spLocks noGrp="1"/>
          </p:cNvSpPr>
          <p:nvPr/>
        </p:nvSpPr>
        <p:spPr>
          <a:xfrm>
            <a:off x="857250" y="2933700"/>
            <a:ext cx="48387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0">
                <a:solidFill>
                  <a:srgbClr val="FFFFFF"/>
                </a:solidFill>
                <a:latin typeface="Aptos"/>
                <a:ea typeface="Aptos"/>
                <a:cs typeface="Aptos"/>
              </a:defRPr>
            </a:pPr>
            <a:r>
              <a:rPr sz="938" b="0">
                <a:solidFill>
                  <a:srgbClr val="FFFFFF"/>
                </a:solidFill>
                <a:latin typeface="Aptos"/>
                <a:ea typeface="Aptos"/>
                <a:cs typeface="Aptos"/>
              </a:rPr>
              <a:t>• priorités métier</a:t>
            </a:r>
          </a:p>
          <a:p>
            <a:pPr algn="l">
              <a:defRPr sz="938" b="0">
                <a:solidFill>
                  <a:srgbClr val="FFFFFF"/>
                </a:solidFill>
                <a:latin typeface="Aptos"/>
                <a:ea typeface="Aptos"/>
                <a:cs typeface="Aptos"/>
              </a:defRPr>
            </a:pPr>
            <a:r>
              <a:rPr sz="938" b="0">
                <a:solidFill>
                  <a:srgbClr val="FFFFFF"/>
                </a:solidFill>
                <a:latin typeface="Aptos"/>
                <a:ea typeface="Aptos"/>
                <a:cs typeface="Aptos"/>
              </a:rPr>
              <a:t>• cartographie des flux</a:t>
            </a:r>
          </a:p>
          <a:p>
            <a:pPr algn="l">
              <a:defRPr sz="938" b="0">
                <a:solidFill>
                  <a:srgbClr val="FFFFFF"/>
                </a:solidFill>
                <a:latin typeface="Aptos"/>
                <a:ea typeface="Aptos"/>
                <a:cs typeface="Aptos"/>
              </a:defRPr>
            </a:pPr>
            <a:r>
              <a:rPr sz="938" b="0">
                <a:solidFill>
                  <a:srgbClr val="FFFFFF"/>
                </a:solidFill>
                <a:latin typeface="Aptos"/>
                <a:ea typeface="Aptos"/>
                <a:cs typeface="Aptos"/>
              </a:rPr>
              <a:t>• KPI de preuve et conditions de pilotage</a:t>
            </a:r>
          </a:p>
        </p:txBody>
      </p:sp>
      <p:sp>
        <p:nvSpPr>
          <p:cNvPr id="8" name="Rectangle 7">
            <a:extLst>
              <a:ext uri="{FF2B5EF4-FFF2-40B4-BE49-F238E27FC236}">
                <a16:creationId xmlns:a16="http://schemas.microsoft.com/office/drawing/2014/main" id="{750AE59E-B242-4D5D-BDA7-68F87D8E0573}"/>
              </a:ext>
            </a:extLst>
          </p:cNvPr>
          <p:cNvSpPr>
            <a:spLocks noGrp="1"/>
          </p:cNvSpPr>
          <p:nvPr/>
        </p:nvSpPr>
        <p:spPr>
          <a:xfrm>
            <a:off x="6096000" y="2247900"/>
            <a:ext cx="5410200" cy="1333500"/>
          </a:xfrm>
          <a:prstGeom prst="rect">
            <a:avLst/>
          </a:prstGeom>
          <a:solidFill>
            <a:srgbClr val="E76F1D"/>
          </a:solidFill>
          <a:ln w="0">
            <a:solidFill>
              <a:srgbClr val="E76F1D"/>
            </a:solidFill>
            <a:prstDash val="solid"/>
          </a:ln>
        </p:spPr>
      </p:sp>
      <p:sp>
        <p:nvSpPr>
          <p:cNvPr id="9" name="Rectangle 8">
            <a:extLst>
              <a:ext uri="{FF2B5EF4-FFF2-40B4-BE49-F238E27FC236}">
                <a16:creationId xmlns:a16="http://schemas.microsoft.com/office/drawing/2014/main" id="{6B0C658B-4AB0-4C40-B6E0-E40EAB238325}"/>
              </a:ext>
            </a:extLst>
          </p:cNvPr>
          <p:cNvSpPr>
            <a:spLocks noGrp="1"/>
          </p:cNvSpPr>
          <p:nvPr/>
        </p:nvSpPr>
        <p:spPr>
          <a:xfrm>
            <a:off x="6267450" y="2419350"/>
            <a:ext cx="506730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FFFFFF"/>
                </a:solidFill>
                <a:latin typeface="Aptos Display"/>
                <a:ea typeface="Aptos Display"/>
                <a:cs typeface="Aptos Display"/>
              </a:defRPr>
            </a:pPr>
            <a:r>
              <a:rPr sz="1350" b="1">
                <a:solidFill>
                  <a:srgbClr val="FFFFFF"/>
                </a:solidFill>
                <a:latin typeface="Aptos Display"/>
                <a:ea typeface="Aptos Display"/>
                <a:cs typeface="Aptos Display"/>
              </a:rPr>
              <a:t>2. Formation dirigeants et managers</a:t>
            </a:r>
          </a:p>
        </p:txBody>
      </p:sp>
      <p:sp>
        <p:nvSpPr>
          <p:cNvPr id="10" name="Rectangle 9">
            <a:extLst>
              <a:ext uri="{FF2B5EF4-FFF2-40B4-BE49-F238E27FC236}">
                <a16:creationId xmlns:a16="http://schemas.microsoft.com/office/drawing/2014/main" id="{E3841D0D-D562-4C4C-9D9C-3612915A6D53}"/>
              </a:ext>
            </a:extLst>
          </p:cNvPr>
          <p:cNvSpPr>
            <a:spLocks noGrp="1"/>
          </p:cNvSpPr>
          <p:nvPr/>
        </p:nvSpPr>
        <p:spPr>
          <a:xfrm>
            <a:off x="6267450" y="2933700"/>
            <a:ext cx="50673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0">
                <a:solidFill>
                  <a:srgbClr val="FFFFFF"/>
                </a:solidFill>
                <a:latin typeface="Aptos"/>
                <a:ea typeface="Aptos"/>
                <a:cs typeface="Aptos"/>
              </a:defRPr>
            </a:pPr>
            <a:r>
              <a:rPr sz="938" b="0">
                <a:solidFill>
                  <a:srgbClr val="FFFFFF"/>
                </a:solidFill>
                <a:latin typeface="Aptos"/>
                <a:ea typeface="Aptos"/>
                <a:cs typeface="Aptos"/>
              </a:rPr>
              <a:t>• lecture exécutive des usages IA</a:t>
            </a:r>
          </a:p>
          <a:p>
            <a:pPr algn="l">
              <a:defRPr sz="938" b="0">
                <a:solidFill>
                  <a:srgbClr val="FFFFFF"/>
                </a:solidFill>
                <a:latin typeface="Aptos"/>
                <a:ea typeface="Aptos"/>
                <a:cs typeface="Aptos"/>
              </a:defRPr>
            </a:pPr>
            <a:r>
              <a:rPr sz="938" b="0">
                <a:solidFill>
                  <a:srgbClr val="FFFFFF"/>
                </a:solidFill>
                <a:latin typeface="Aptos"/>
                <a:ea typeface="Aptos"/>
                <a:cs typeface="Aptos"/>
              </a:rPr>
              <a:t>• arbitrage, gouvernance et conduite du changement</a:t>
            </a:r>
          </a:p>
        </p:txBody>
      </p:sp>
      <p:sp>
        <p:nvSpPr>
          <p:cNvPr id="11" name="Rectangle 10">
            <a:extLst>
              <a:ext uri="{FF2B5EF4-FFF2-40B4-BE49-F238E27FC236}">
                <a16:creationId xmlns:a16="http://schemas.microsoft.com/office/drawing/2014/main" id="{6D4F41BF-26DA-4903-A4CC-2781B830EB1D}"/>
              </a:ext>
            </a:extLst>
          </p:cNvPr>
          <p:cNvSpPr>
            <a:spLocks noGrp="1"/>
          </p:cNvSpPr>
          <p:nvPr/>
        </p:nvSpPr>
        <p:spPr>
          <a:xfrm>
            <a:off x="685800" y="3810000"/>
            <a:ext cx="5181600" cy="1333500"/>
          </a:xfrm>
          <a:prstGeom prst="rect">
            <a:avLst/>
          </a:prstGeom>
          <a:solidFill>
            <a:srgbClr val="1C8A78"/>
          </a:solidFill>
          <a:ln w="0">
            <a:solidFill>
              <a:srgbClr val="1C8A78"/>
            </a:solidFill>
            <a:prstDash val="solid"/>
          </a:ln>
        </p:spPr>
      </p:sp>
      <p:sp>
        <p:nvSpPr>
          <p:cNvPr id="12" name="Rectangle 11">
            <a:extLst>
              <a:ext uri="{FF2B5EF4-FFF2-40B4-BE49-F238E27FC236}">
                <a16:creationId xmlns:a16="http://schemas.microsoft.com/office/drawing/2014/main" id="{95FEFD1B-BB02-4920-A04C-B957D1386813}"/>
              </a:ext>
            </a:extLst>
          </p:cNvPr>
          <p:cNvSpPr>
            <a:spLocks noGrp="1"/>
          </p:cNvSpPr>
          <p:nvPr/>
        </p:nvSpPr>
        <p:spPr>
          <a:xfrm>
            <a:off x="857250" y="3981450"/>
            <a:ext cx="483870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FFFFFF"/>
                </a:solidFill>
                <a:latin typeface="Aptos Display"/>
                <a:ea typeface="Aptos Display"/>
                <a:cs typeface="Aptos Display"/>
              </a:defRPr>
            </a:pPr>
            <a:r>
              <a:rPr sz="1350" b="1">
                <a:solidFill>
                  <a:srgbClr val="FFFFFF"/>
                </a:solidFill>
                <a:latin typeface="Aptos Display"/>
                <a:ea typeface="Aptos Display"/>
                <a:cs typeface="Aptos Display"/>
              </a:rPr>
              <a:t>3. Formation équipes métier</a:t>
            </a:r>
          </a:p>
        </p:txBody>
      </p:sp>
      <p:sp>
        <p:nvSpPr>
          <p:cNvPr id="13" name="Rectangle 12">
            <a:extLst>
              <a:ext uri="{FF2B5EF4-FFF2-40B4-BE49-F238E27FC236}">
                <a16:creationId xmlns:a16="http://schemas.microsoft.com/office/drawing/2014/main" id="{00EA8E49-9224-462F-96FC-F83F96E71187}"/>
              </a:ext>
            </a:extLst>
          </p:cNvPr>
          <p:cNvSpPr>
            <a:spLocks noGrp="1"/>
          </p:cNvSpPr>
          <p:nvPr/>
        </p:nvSpPr>
        <p:spPr>
          <a:xfrm>
            <a:off x="857250" y="4495800"/>
            <a:ext cx="48387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0">
                <a:solidFill>
                  <a:srgbClr val="FFFFFF"/>
                </a:solidFill>
                <a:latin typeface="Aptos"/>
                <a:ea typeface="Aptos"/>
                <a:cs typeface="Aptos"/>
              </a:defRPr>
            </a:pPr>
            <a:r>
              <a:rPr sz="938" b="0">
                <a:solidFill>
                  <a:srgbClr val="FFFFFF"/>
                </a:solidFill>
                <a:latin typeface="Aptos"/>
                <a:ea typeface="Aptos"/>
                <a:cs typeface="Aptos"/>
              </a:rPr>
              <a:t>• comptes, flotte, relation client, support</a:t>
            </a:r>
          </a:p>
          <a:p>
            <a:pPr algn="l">
              <a:defRPr sz="938" b="0">
                <a:solidFill>
                  <a:srgbClr val="FFFFFF"/>
                </a:solidFill>
                <a:latin typeface="Aptos"/>
                <a:ea typeface="Aptos"/>
                <a:cs typeface="Aptos"/>
              </a:defRPr>
            </a:pPr>
            <a:r>
              <a:rPr sz="938" b="0">
                <a:solidFill>
                  <a:srgbClr val="FFFFFF"/>
                </a:solidFill>
                <a:latin typeface="Aptos"/>
                <a:ea typeface="Aptos"/>
                <a:cs typeface="Aptos"/>
              </a:rPr>
              <a:t>• outils, scripts et routines liés aux vrais cas d'usage</a:t>
            </a:r>
          </a:p>
        </p:txBody>
      </p:sp>
      <p:sp>
        <p:nvSpPr>
          <p:cNvPr id="14" name="Rectangle 13">
            <a:extLst>
              <a:ext uri="{FF2B5EF4-FFF2-40B4-BE49-F238E27FC236}">
                <a16:creationId xmlns:a16="http://schemas.microsoft.com/office/drawing/2014/main" id="{707EEB1D-7C3D-4309-8A94-D86F64768F87}"/>
              </a:ext>
            </a:extLst>
          </p:cNvPr>
          <p:cNvSpPr>
            <a:spLocks noGrp="1"/>
          </p:cNvSpPr>
          <p:nvPr/>
        </p:nvSpPr>
        <p:spPr>
          <a:xfrm>
            <a:off x="6096000" y="3810000"/>
            <a:ext cx="5410200" cy="1333500"/>
          </a:xfrm>
          <a:prstGeom prst="rect">
            <a:avLst/>
          </a:prstGeom>
          <a:solidFill>
            <a:srgbClr val="C88C3A"/>
          </a:solidFill>
          <a:ln w="0">
            <a:solidFill>
              <a:srgbClr val="C88C3A"/>
            </a:solidFill>
            <a:prstDash val="solid"/>
          </a:ln>
        </p:spPr>
      </p:sp>
      <p:sp>
        <p:nvSpPr>
          <p:cNvPr id="15" name="Rectangle 14">
            <a:extLst>
              <a:ext uri="{FF2B5EF4-FFF2-40B4-BE49-F238E27FC236}">
                <a16:creationId xmlns:a16="http://schemas.microsoft.com/office/drawing/2014/main" id="{522DC1FE-54F1-42D2-B16F-37AC41DDED79}"/>
              </a:ext>
            </a:extLst>
          </p:cNvPr>
          <p:cNvSpPr>
            <a:spLocks noGrp="1"/>
          </p:cNvSpPr>
          <p:nvPr/>
        </p:nvSpPr>
        <p:spPr>
          <a:xfrm>
            <a:off x="6267450" y="3981450"/>
            <a:ext cx="506730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FFFFFF"/>
                </a:solidFill>
                <a:latin typeface="Aptos Display"/>
                <a:ea typeface="Aptos Display"/>
                <a:cs typeface="Aptos Display"/>
              </a:defRPr>
            </a:pPr>
            <a:r>
              <a:rPr sz="1350" b="1">
                <a:solidFill>
                  <a:srgbClr val="FFFFFF"/>
                </a:solidFill>
                <a:latin typeface="Aptos Display"/>
                <a:ea typeface="Aptos Display"/>
                <a:cs typeface="Aptos Display"/>
              </a:rPr>
              <a:t>4. Pilote métier encadré</a:t>
            </a:r>
          </a:p>
        </p:txBody>
      </p:sp>
      <p:sp>
        <p:nvSpPr>
          <p:cNvPr id="16" name="Rectangle 15">
            <a:extLst>
              <a:ext uri="{FF2B5EF4-FFF2-40B4-BE49-F238E27FC236}">
                <a16:creationId xmlns:a16="http://schemas.microsoft.com/office/drawing/2014/main" id="{6F0E0762-E8D4-4B95-89D8-4066B4DE9E75}"/>
              </a:ext>
            </a:extLst>
          </p:cNvPr>
          <p:cNvSpPr>
            <a:spLocks noGrp="1"/>
          </p:cNvSpPr>
          <p:nvPr/>
        </p:nvSpPr>
        <p:spPr>
          <a:xfrm>
            <a:off x="6267450" y="4495800"/>
            <a:ext cx="50673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0">
                <a:solidFill>
                  <a:srgbClr val="FFFFFF"/>
                </a:solidFill>
                <a:latin typeface="Aptos"/>
                <a:ea typeface="Aptos"/>
                <a:cs typeface="Aptos"/>
              </a:defRPr>
            </a:pPr>
            <a:r>
              <a:rPr sz="938" b="0">
                <a:solidFill>
                  <a:srgbClr val="FFFFFF"/>
                </a:solidFill>
                <a:latin typeface="Aptos"/>
                <a:ea typeface="Aptos"/>
                <a:cs typeface="Aptos"/>
              </a:rPr>
              <a:t>• assistant ciblé, tableau de bord ou base interne</a:t>
            </a:r>
          </a:p>
          <a:p>
            <a:pPr algn="l">
              <a:defRPr sz="938" b="0">
                <a:solidFill>
                  <a:srgbClr val="FFFFFF"/>
                </a:solidFill>
                <a:latin typeface="Aptos"/>
                <a:ea typeface="Aptos"/>
                <a:cs typeface="Aptos"/>
              </a:defRPr>
            </a:pPr>
            <a:r>
              <a:rPr sz="938" b="0">
                <a:solidFill>
                  <a:srgbClr val="FFFFFF"/>
                </a:solidFill>
                <a:latin typeface="Aptos"/>
                <a:ea typeface="Aptos"/>
                <a:cs typeface="Aptos"/>
              </a:rPr>
              <a:t>• supervision, mesure et décision d'extension</a:t>
            </a:r>
          </a:p>
        </p:txBody>
      </p:sp>
      <p:sp>
        <p:nvSpPr>
          <p:cNvPr id="17" name="Rectangle 16">
            <a:extLst>
              <a:ext uri="{FF2B5EF4-FFF2-40B4-BE49-F238E27FC236}">
                <a16:creationId xmlns:a16="http://schemas.microsoft.com/office/drawing/2014/main" id="{636FDB0F-3EB9-40BF-A314-7DAA2ED3E53E}"/>
              </a:ext>
            </a:extLst>
          </p:cNvPr>
          <p:cNvSpPr>
            <a:spLocks noGrp="1"/>
          </p:cNvSpPr>
          <p:nvPr/>
        </p:nvSpPr>
        <p:spPr>
          <a:xfrm>
            <a:off x="685800" y="5486400"/>
            <a:ext cx="10820400" cy="628650"/>
          </a:xfrm>
          <a:prstGeom prst="rect">
            <a:avLst/>
          </a:prstGeom>
          <a:solidFill>
            <a:srgbClr val="FBF5EE"/>
          </a:solidFill>
          <a:ln w="9525">
            <a:solidFill>
              <a:srgbClr val="D7CEC3"/>
            </a:solidFill>
            <a:prstDash val="solid"/>
          </a:ln>
        </p:spPr>
      </p:sp>
      <p:sp>
        <p:nvSpPr>
          <p:cNvPr id="18" name="Rectangle 17">
            <a:extLst>
              <a:ext uri="{FF2B5EF4-FFF2-40B4-BE49-F238E27FC236}">
                <a16:creationId xmlns:a16="http://schemas.microsoft.com/office/drawing/2014/main" id="{4C34ADFF-099B-4E35-A9F7-68F7AFA31025}"/>
              </a:ext>
            </a:extLst>
          </p:cNvPr>
          <p:cNvSpPr>
            <a:spLocks noGrp="1"/>
          </p:cNvSpPr>
          <p:nvPr/>
        </p:nvSpPr>
        <p:spPr>
          <a:xfrm>
            <a:off x="914400" y="5676900"/>
            <a:ext cx="1714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E76F1D"/>
                </a:solidFill>
                <a:latin typeface="Aptos"/>
                <a:ea typeface="Aptos"/>
                <a:cs typeface="Aptos"/>
              </a:defRPr>
            </a:pPr>
            <a:r>
              <a:rPr sz="750" b="1">
                <a:solidFill>
                  <a:srgbClr val="E76F1D"/>
                </a:solidFill>
                <a:latin typeface="Aptos"/>
                <a:ea typeface="Aptos"/>
                <a:cs typeface="Aptos"/>
              </a:rPr>
              <a:t>Recommandation de départ</a:t>
            </a:r>
          </a:p>
        </p:txBody>
      </p:sp>
      <p:sp>
        <p:nvSpPr>
          <p:cNvPr id="19" name="Rectangle 18">
            <a:extLst>
              <a:ext uri="{FF2B5EF4-FFF2-40B4-BE49-F238E27FC236}">
                <a16:creationId xmlns:a16="http://schemas.microsoft.com/office/drawing/2014/main" id="{DECE4BBF-7F5C-4107-A4F6-4FDDA81B2B57}"/>
              </a:ext>
            </a:extLst>
          </p:cNvPr>
          <p:cNvSpPr>
            <a:spLocks noGrp="1"/>
          </p:cNvSpPr>
          <p:nvPr/>
        </p:nvSpPr>
        <p:spPr>
          <a:xfrm>
            <a:off x="2819400" y="5638800"/>
            <a:ext cx="82486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8" b="1">
                <a:solidFill>
                  <a:srgbClr val="1A3554"/>
                </a:solidFill>
                <a:latin typeface="Aptos"/>
                <a:ea typeface="Aptos"/>
                <a:cs typeface="Aptos"/>
              </a:defRPr>
            </a:pPr>
            <a:r>
              <a:rPr sz="938" b="1">
                <a:solidFill>
                  <a:srgbClr val="1A3554"/>
                </a:solidFill>
                <a:latin typeface="Aptos"/>
                <a:ea typeface="Aptos"/>
                <a:cs typeface="Aptos"/>
              </a:rPr>
              <a:t>Commencer par deux flux à forte lisibilité de valeur : comptes professionnels + flotte / cartes carburant. Les autres cas d'usage restent dans la feuille de route, mais n'encombrent pas le pilote initial.</a:t>
            </a:r>
          </a:p>
        </p:txBody>
      </p:sp>
      <p:sp>
        <p:nvSpPr>
          <p:cNvPr id="20" name="Rectangle 19">
            <a:extLst>
              <a:ext uri="{FF2B5EF4-FFF2-40B4-BE49-F238E27FC236}">
                <a16:creationId xmlns:a16="http://schemas.microsoft.com/office/drawing/2014/main" id="{A1DC8EC2-7899-4469-AB2E-DC649F47EBD9}"/>
              </a:ext>
            </a:extLst>
          </p:cNvPr>
          <p:cNvSpPr>
            <a:spLocks noGrp="1"/>
          </p:cNvSpPr>
          <p:nvPr/>
        </p:nvSpPr>
        <p:spPr>
          <a:xfrm>
            <a:off x="647700" y="6496050"/>
            <a:ext cx="10896600" cy="9525"/>
          </a:xfrm>
          <a:prstGeom prst="rect">
            <a:avLst/>
          </a:prstGeom>
          <a:solidFill>
            <a:srgbClr val="D7CEC3"/>
          </a:solidFill>
          <a:ln w="0">
            <a:solidFill>
              <a:srgbClr val="000000">
                <a:alpha val="0"/>
              </a:srgbClr>
            </a:solidFill>
            <a:prstDash val="solid"/>
          </a:ln>
        </p:spPr>
      </p:sp>
      <p:sp>
        <p:nvSpPr>
          <p:cNvPr id="21" name="Rectangle 20">
            <a:extLst>
              <a:ext uri="{FF2B5EF4-FFF2-40B4-BE49-F238E27FC236}">
                <a16:creationId xmlns:a16="http://schemas.microsoft.com/office/drawing/2014/main" id="{5A14C254-F2F3-4199-8B9F-5378F107C5E4}"/>
              </a:ext>
            </a:extLst>
          </p:cNvPr>
          <p:cNvSpPr>
            <a:spLocks noGrp="1"/>
          </p:cNvSpPr>
          <p:nvPr/>
        </p:nvSpPr>
        <p:spPr>
          <a:xfrm>
            <a:off x="685800" y="6572250"/>
            <a:ext cx="8572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617086"/>
                </a:solidFill>
                <a:latin typeface="Aptos"/>
                <a:ea typeface="Aptos"/>
                <a:cs typeface="Aptos"/>
              </a:defRPr>
            </a:pPr>
            <a:r>
              <a:rPr sz="638" b="0">
                <a:solidFill>
                  <a:srgbClr val="617086"/>
                </a:solidFill>
                <a:latin typeface="Aptos"/>
                <a:ea typeface="Aptos"/>
                <a:cs typeface="Aptos"/>
              </a:rPr>
              <a:t>TransferAI | Hub IA de Nettelecom CI | Modèle deck institutionnel V3</a:t>
            </a:r>
          </a:p>
        </p:txBody>
      </p:sp>
      <p:sp>
        <p:nvSpPr>
          <p:cNvPr id="22" name="Rectangle 21">
            <a:extLst>
              <a:ext uri="{FF2B5EF4-FFF2-40B4-BE49-F238E27FC236}">
                <a16:creationId xmlns:a16="http://schemas.microsoft.com/office/drawing/2014/main" id="{549036CB-F85A-4D67-813B-35B399B9D444}"/>
              </a:ext>
            </a:extLst>
          </p:cNvPr>
          <p:cNvSpPr>
            <a:spLocks noGrp="1"/>
          </p:cNvSpPr>
          <p:nvPr/>
        </p:nvSpPr>
        <p:spPr>
          <a:xfrm>
            <a:off x="11049000" y="6553200"/>
            <a:ext cx="3429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1A3554"/>
                </a:solidFill>
                <a:latin typeface="Aptos"/>
                <a:ea typeface="Aptos"/>
                <a:cs typeface="Aptos"/>
              </a:defRPr>
            </a:pPr>
            <a:r>
              <a:rPr sz="750" b="1">
                <a:solidFill>
                  <a:srgbClr val="1A3554"/>
                </a:solidFill>
                <a:latin typeface="Aptos"/>
                <a:ea typeface="Aptos"/>
                <a:cs typeface="Aptos"/>
              </a:rPr>
              <a:t>12</a:t>
            </a:r>
          </a:p>
        </p:txBody>
      </p:sp>
    </p:spTree>
    <p:extLst>
      <p:ext uri="{BB962C8B-B14F-4D97-AF65-F5344CB8AC3E}">
        <p14:creationId xmlns:p14="http://schemas.microsoft.com/office/powerpoint/2010/main" val="461157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33595852-C7D9-45BC-8B23-E733512EB2CB}"/>
              </a:ext>
            </a:extLst>
          </p:cNvPr>
          <p:cNvSpPr>
            <a:spLocks noGrp="1"/>
          </p:cNvSpPr>
          <p:nvPr/>
        </p:nvSpPr>
        <p:spPr>
          <a:xfrm>
            <a:off x="0" y="0"/>
            <a:ext cx="12192000" cy="6858000"/>
          </a:xfrm>
          <a:prstGeom prst="rect">
            <a:avLst/>
          </a:prstGeom>
          <a:solidFill>
            <a:srgbClr val="F5EFE7"/>
          </a:solidFill>
          <a:ln w="0">
            <a:solidFill>
              <a:srgbClr val="000000">
                <a:alpha val="0"/>
              </a:srgbClr>
            </a:solidFill>
            <a:prstDash val="solid"/>
          </a:ln>
        </p:spPr>
      </p:sp>
      <p:sp>
        <p:nvSpPr>
          <p:cNvPr id="2" name="Rectangle 1">
            <a:extLst>
              <a:ext uri="{FF2B5EF4-FFF2-40B4-BE49-F238E27FC236}">
                <a16:creationId xmlns:a16="http://schemas.microsoft.com/office/drawing/2014/main" id="{F372BF9E-CB22-462B-A3B5-AE839F71E678}"/>
              </a:ext>
            </a:extLst>
          </p:cNvPr>
          <p:cNvSpPr>
            <a:spLocks noGrp="1"/>
          </p:cNvSpPr>
          <p:nvPr/>
        </p:nvSpPr>
        <p:spPr>
          <a:xfrm>
            <a:off x="685800" y="495300"/>
            <a:ext cx="2476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E76F1D"/>
                </a:solidFill>
                <a:latin typeface="Aptos"/>
                <a:ea typeface="Aptos"/>
                <a:cs typeface="Aptos"/>
              </a:defRPr>
            </a:pPr>
            <a:r>
              <a:rPr sz="788" b="1">
                <a:solidFill>
                  <a:srgbClr val="E76F1D"/>
                </a:solidFill>
                <a:latin typeface="Aptos"/>
                <a:ea typeface="Aptos"/>
                <a:cs typeface="Aptos"/>
              </a:rPr>
              <a:t>CONFIANCE ET PROCHAINE ÉTAPE</a:t>
            </a:r>
          </a:p>
        </p:txBody>
      </p:sp>
      <p:sp>
        <p:nvSpPr>
          <p:cNvPr id="3" name="Rectangle 2">
            <a:extLst>
              <a:ext uri="{FF2B5EF4-FFF2-40B4-BE49-F238E27FC236}">
                <a16:creationId xmlns:a16="http://schemas.microsoft.com/office/drawing/2014/main" id="{3CE9D0D8-DFD9-4D0C-B375-746BE048A997}"/>
              </a:ext>
            </a:extLst>
          </p:cNvPr>
          <p:cNvSpPr>
            <a:spLocks noGrp="1"/>
          </p:cNvSpPr>
          <p:nvPr/>
        </p:nvSpPr>
        <p:spPr>
          <a:xfrm>
            <a:off x="685800" y="819150"/>
            <a:ext cx="8572500" cy="800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550" b="1">
                <a:solidFill>
                  <a:srgbClr val="1A3554"/>
                </a:solidFill>
                <a:latin typeface="Aptos Display"/>
                <a:ea typeface="Aptos Display"/>
                <a:cs typeface="Aptos Display"/>
              </a:defRPr>
            </a:pPr>
            <a:r>
              <a:rPr sz="2550" b="1">
                <a:solidFill>
                  <a:srgbClr val="1A3554"/>
                </a:solidFill>
                <a:latin typeface="Aptos Display"/>
                <a:ea typeface="Aptos Display"/>
                <a:cs typeface="Aptos Display"/>
              </a:rPr>
              <a:t>Proposer un pilote utile, gouverné et mesurable</a:t>
            </a:r>
          </a:p>
        </p:txBody>
      </p:sp>
      <p:sp>
        <p:nvSpPr>
          <p:cNvPr id="4" name="Rectangle 3">
            <a:extLst>
              <a:ext uri="{FF2B5EF4-FFF2-40B4-BE49-F238E27FC236}">
                <a16:creationId xmlns:a16="http://schemas.microsoft.com/office/drawing/2014/main" id="{35465679-1D31-44AC-858E-4F749B70BAA7}"/>
              </a:ext>
            </a:extLst>
          </p:cNvPr>
          <p:cNvSpPr>
            <a:spLocks noGrp="1"/>
          </p:cNvSpPr>
          <p:nvPr/>
        </p:nvSpPr>
        <p:spPr>
          <a:xfrm>
            <a:off x="685800" y="1714500"/>
            <a:ext cx="4953000" cy="3714750"/>
          </a:xfrm>
          <a:prstGeom prst="rect">
            <a:avLst/>
          </a:prstGeom>
          <a:solidFill>
            <a:srgbClr val="FFFDFC"/>
          </a:solidFill>
          <a:ln w="9525">
            <a:solidFill>
              <a:srgbClr val="D7CEC3"/>
            </a:solidFill>
            <a:prstDash val="solid"/>
          </a:ln>
        </p:spPr>
      </p:sp>
      <p:sp>
        <p:nvSpPr>
          <p:cNvPr id="5" name="Oval 4">
            <a:extLst>
              <a:ext uri="{FF2B5EF4-FFF2-40B4-BE49-F238E27FC236}">
                <a16:creationId xmlns:a16="http://schemas.microsoft.com/office/drawing/2014/main" id="{C5F9E43F-40A3-4045-A2CD-1631FD4859FC}"/>
              </a:ext>
            </a:extLst>
          </p:cNvPr>
          <p:cNvSpPr>
            <a:spLocks noGrp="1"/>
          </p:cNvSpPr>
          <p:nvPr/>
        </p:nvSpPr>
        <p:spPr>
          <a:xfrm>
            <a:off x="895350" y="1943100"/>
            <a:ext cx="419100" cy="419100"/>
          </a:xfrm>
          <a:prstGeom prst="ellipse">
            <a:avLst/>
          </a:prstGeom>
          <a:solidFill>
            <a:srgbClr val="1C8A78"/>
          </a:solidFill>
          <a:ln w="0">
            <a:solidFill>
              <a:srgbClr val="1C8A78"/>
            </a:solidFill>
            <a:prstDash val="solid"/>
          </a:ln>
        </p:spPr>
      </p:sp>
      <p:pic>
        <p:nvPicPr>
          <p:cNvPr id="6" name="Graphic 5"/>
          <p:cNvPicPr>
            <a:picLocks noChangeAspect="1"/>
          </p:cNvPicPr>
          <p:nvPr/>
        </p:nvPicPr>
        <p:blipFill>
          <a:blip>
            <a:extLst>
              <a:ext uri="{96DAC541-7B7A-43D3-8B79-37D633B846F1}">
                <asvg:svgBlip xmlns:asvg="http://schemas.microsoft.com/office/drawing/2016/SVG/main" r:embed="rId3"/>
              </a:ext>
            </a:extLst>
          </a:blip>
          <a:stretch/>
        </p:blipFill>
        <p:spPr>
          <a:xfrm>
            <a:off x="990600" y="2038350"/>
            <a:ext cx="228600" cy="228600"/>
          </a:xfrm>
          <a:prstGeom prst="rect">
            <a:avLst/>
          </a:prstGeom>
        </p:spPr>
      </p:pic>
      <p:sp>
        <p:nvSpPr>
          <p:cNvPr id="7" name="Rectangle 6">
            <a:extLst>
              <a:ext uri="{FF2B5EF4-FFF2-40B4-BE49-F238E27FC236}">
                <a16:creationId xmlns:a16="http://schemas.microsoft.com/office/drawing/2014/main" id="{8373FB81-EAE4-435B-B404-5DE2375821D5}"/>
              </a:ext>
            </a:extLst>
          </p:cNvPr>
          <p:cNvSpPr>
            <a:spLocks noGrp="1"/>
          </p:cNvSpPr>
          <p:nvPr/>
        </p:nvSpPr>
        <p:spPr>
          <a:xfrm>
            <a:off x="1428750" y="1943100"/>
            <a:ext cx="3619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650" b="1">
                <a:solidFill>
                  <a:srgbClr val="1A3554"/>
                </a:solidFill>
                <a:latin typeface="Aptos Display"/>
                <a:ea typeface="Aptos Display"/>
                <a:cs typeface="Aptos Display"/>
              </a:defRPr>
            </a:pPr>
            <a:r>
              <a:rPr sz="1650" b="1" dirty="0">
                <a:solidFill>
                  <a:srgbClr val="1A3554"/>
                </a:solidFill>
                <a:latin typeface="Aptos Display"/>
                <a:ea typeface="Aptos Display"/>
                <a:cs typeface="Aptos Display"/>
              </a:rPr>
              <a:t>Le cadre de </a:t>
            </a:r>
            <a:r>
              <a:rPr sz="1650" b="1" dirty="0" err="1">
                <a:solidFill>
                  <a:srgbClr val="1A3554"/>
                </a:solidFill>
                <a:latin typeface="Aptos Display"/>
                <a:ea typeface="Aptos Display"/>
                <a:cs typeface="Aptos Display"/>
              </a:rPr>
              <a:t>confiance</a:t>
            </a:r>
            <a:r>
              <a:rPr sz="1650" b="1" dirty="0">
                <a:solidFill>
                  <a:srgbClr val="1A3554"/>
                </a:solidFill>
                <a:latin typeface="Aptos Display"/>
                <a:ea typeface="Aptos Display"/>
                <a:cs typeface="Aptos Display"/>
              </a:rPr>
              <a:t> à </a:t>
            </a:r>
            <a:r>
              <a:rPr sz="1650" b="1" dirty="0" err="1">
                <a:solidFill>
                  <a:srgbClr val="1A3554"/>
                </a:solidFill>
                <a:latin typeface="Aptos Display"/>
                <a:ea typeface="Aptos Display"/>
                <a:cs typeface="Aptos Display"/>
              </a:rPr>
              <a:t>présenter</a:t>
            </a:r>
            <a:r>
              <a:rPr sz="1650" b="1" dirty="0">
                <a:solidFill>
                  <a:srgbClr val="1A3554"/>
                </a:solidFill>
                <a:latin typeface="Aptos Display"/>
                <a:ea typeface="Aptos Display"/>
                <a:cs typeface="Aptos Display"/>
              </a:rPr>
              <a:t> au prospect</a:t>
            </a:r>
          </a:p>
        </p:txBody>
      </p:sp>
      <p:sp>
        <p:nvSpPr>
          <p:cNvPr id="8" name="Rectangle 7">
            <a:extLst>
              <a:ext uri="{FF2B5EF4-FFF2-40B4-BE49-F238E27FC236}">
                <a16:creationId xmlns:a16="http://schemas.microsoft.com/office/drawing/2014/main" id="{31DAF6B2-8046-47C5-BA43-3A296AB0ABFA}"/>
              </a:ext>
            </a:extLst>
          </p:cNvPr>
          <p:cNvSpPr>
            <a:spLocks noGrp="1"/>
          </p:cNvSpPr>
          <p:nvPr/>
        </p:nvSpPr>
        <p:spPr>
          <a:xfrm>
            <a:off x="895350" y="2644876"/>
            <a:ext cx="4267200" cy="1584223"/>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60" b="0">
                <a:solidFill>
                  <a:srgbClr val="1A3554"/>
                </a:solidFill>
                <a:latin typeface="Aptos"/>
                <a:ea typeface="Aptos"/>
                <a:cs typeface="Aptos"/>
              </a:defRPr>
            </a:pPr>
            <a:r>
              <a:rPr sz="960" b="0" dirty="0">
                <a:solidFill>
                  <a:srgbClr val="1A3554"/>
                </a:solidFill>
                <a:latin typeface="Aptos"/>
                <a:ea typeface="Aptos"/>
                <a:cs typeface="Aptos"/>
              </a:rPr>
              <a:t>• </a:t>
            </a:r>
            <a:r>
              <a:rPr sz="960" b="0" dirty="0" err="1">
                <a:solidFill>
                  <a:srgbClr val="1A3554"/>
                </a:solidFill>
                <a:latin typeface="Aptos"/>
                <a:ea typeface="Aptos"/>
                <a:cs typeface="Aptos"/>
              </a:rPr>
              <a:t>aucune</a:t>
            </a:r>
            <a:r>
              <a:rPr sz="960" b="0" dirty="0">
                <a:solidFill>
                  <a:srgbClr val="1A3554"/>
                </a:solidFill>
                <a:latin typeface="Aptos"/>
                <a:ea typeface="Aptos"/>
                <a:cs typeface="Aptos"/>
              </a:rPr>
              <a:t> donnée sensible </a:t>
            </a:r>
            <a:r>
              <a:rPr sz="960" b="0" dirty="0" err="1">
                <a:solidFill>
                  <a:srgbClr val="1A3554"/>
                </a:solidFill>
                <a:latin typeface="Aptos"/>
                <a:ea typeface="Aptos"/>
                <a:cs typeface="Aptos"/>
              </a:rPr>
              <a:t>n'est</a:t>
            </a:r>
            <a:r>
              <a:rPr sz="960" b="0" dirty="0">
                <a:solidFill>
                  <a:srgbClr val="1A3554"/>
                </a:solidFill>
                <a:latin typeface="Aptos"/>
                <a:ea typeface="Aptos"/>
                <a:cs typeface="Aptos"/>
              </a:rPr>
              <a:t> </a:t>
            </a:r>
            <a:r>
              <a:rPr sz="960" b="0" dirty="0" err="1">
                <a:solidFill>
                  <a:srgbClr val="1A3554"/>
                </a:solidFill>
                <a:latin typeface="Aptos"/>
                <a:ea typeface="Aptos"/>
                <a:cs typeface="Aptos"/>
              </a:rPr>
              <a:t>exposée</a:t>
            </a:r>
            <a:r>
              <a:rPr sz="960" b="0" dirty="0">
                <a:solidFill>
                  <a:srgbClr val="1A3554"/>
                </a:solidFill>
                <a:latin typeface="Aptos"/>
                <a:ea typeface="Aptos"/>
                <a:cs typeface="Aptos"/>
              </a:rPr>
              <a:t> sans </a:t>
            </a:r>
            <a:r>
              <a:rPr sz="960" b="0" dirty="0" err="1">
                <a:solidFill>
                  <a:srgbClr val="1A3554"/>
                </a:solidFill>
                <a:latin typeface="Aptos"/>
                <a:ea typeface="Aptos"/>
                <a:cs typeface="Aptos"/>
              </a:rPr>
              <a:t>règles</a:t>
            </a:r>
            <a:r>
              <a:rPr sz="960" b="0" dirty="0">
                <a:solidFill>
                  <a:srgbClr val="1A3554"/>
                </a:solidFill>
                <a:latin typeface="Aptos"/>
                <a:ea typeface="Aptos"/>
                <a:cs typeface="Aptos"/>
              </a:rPr>
              <a:t> </a:t>
            </a:r>
            <a:r>
              <a:rPr sz="960" b="0" dirty="0" err="1">
                <a:solidFill>
                  <a:srgbClr val="1A3554"/>
                </a:solidFill>
                <a:latin typeface="Aptos"/>
                <a:ea typeface="Aptos"/>
                <a:cs typeface="Aptos"/>
              </a:rPr>
              <a:t>d'usage</a:t>
            </a:r>
            <a:r>
              <a:rPr sz="960" b="0" dirty="0">
                <a:solidFill>
                  <a:srgbClr val="1A3554"/>
                </a:solidFill>
                <a:latin typeface="Aptos"/>
                <a:ea typeface="Aptos"/>
                <a:cs typeface="Aptos"/>
              </a:rPr>
              <a:t>, </a:t>
            </a:r>
            <a:r>
              <a:rPr sz="960" b="0" dirty="0" err="1">
                <a:solidFill>
                  <a:srgbClr val="1A3554"/>
                </a:solidFill>
                <a:latin typeface="Aptos"/>
                <a:ea typeface="Aptos"/>
                <a:cs typeface="Aptos"/>
              </a:rPr>
              <a:t>rôles</a:t>
            </a:r>
            <a:r>
              <a:rPr sz="960" b="0" dirty="0">
                <a:solidFill>
                  <a:srgbClr val="1A3554"/>
                </a:solidFill>
                <a:latin typeface="Aptos"/>
                <a:ea typeface="Aptos"/>
                <a:cs typeface="Aptos"/>
              </a:rPr>
              <a:t> et validation</a:t>
            </a:r>
          </a:p>
          <a:p>
            <a:pPr algn="l">
              <a:defRPr sz="960" b="0">
                <a:solidFill>
                  <a:srgbClr val="1A3554"/>
                </a:solidFill>
                <a:latin typeface="Aptos"/>
                <a:ea typeface="Aptos"/>
                <a:cs typeface="Aptos"/>
              </a:defRPr>
            </a:pPr>
            <a:r>
              <a:rPr sz="960" b="0" dirty="0">
                <a:solidFill>
                  <a:srgbClr val="1A3554"/>
                </a:solidFill>
                <a:latin typeface="Aptos"/>
                <a:ea typeface="Aptos"/>
                <a:cs typeface="Aptos"/>
              </a:rPr>
              <a:t>• revue humaine avant toute </a:t>
            </a:r>
            <a:r>
              <a:rPr sz="960" b="0" dirty="0" err="1">
                <a:solidFill>
                  <a:srgbClr val="1A3554"/>
                </a:solidFill>
                <a:latin typeface="Aptos"/>
                <a:ea typeface="Aptos"/>
                <a:cs typeface="Aptos"/>
              </a:rPr>
              <a:t>automatisation</a:t>
            </a:r>
            <a:r>
              <a:rPr sz="960" b="0" dirty="0">
                <a:solidFill>
                  <a:srgbClr val="1A3554"/>
                </a:solidFill>
                <a:latin typeface="Aptos"/>
                <a:ea typeface="Aptos"/>
                <a:cs typeface="Aptos"/>
              </a:rPr>
              <a:t> critique</a:t>
            </a:r>
          </a:p>
          <a:p>
            <a:pPr algn="l">
              <a:defRPr sz="960" b="0">
                <a:solidFill>
                  <a:srgbClr val="1A3554"/>
                </a:solidFill>
                <a:latin typeface="Aptos"/>
                <a:ea typeface="Aptos"/>
                <a:cs typeface="Aptos"/>
              </a:defRPr>
            </a:pPr>
            <a:r>
              <a:rPr sz="960" b="0" dirty="0">
                <a:solidFill>
                  <a:srgbClr val="1A3554"/>
                </a:solidFill>
                <a:latin typeface="Aptos"/>
                <a:ea typeface="Aptos"/>
                <a:cs typeface="Aptos"/>
              </a:rPr>
              <a:t>• </a:t>
            </a:r>
            <a:r>
              <a:rPr sz="960" b="0" dirty="0" err="1">
                <a:solidFill>
                  <a:srgbClr val="1A3554"/>
                </a:solidFill>
                <a:latin typeface="Aptos"/>
                <a:ea typeface="Aptos"/>
                <a:cs typeface="Aptos"/>
              </a:rPr>
              <a:t>traçabilité</a:t>
            </a:r>
            <a:r>
              <a:rPr sz="960" b="0" dirty="0">
                <a:solidFill>
                  <a:srgbClr val="1A3554"/>
                </a:solidFill>
                <a:latin typeface="Aptos"/>
                <a:ea typeface="Aptos"/>
                <a:cs typeface="Aptos"/>
              </a:rPr>
              <a:t> des </a:t>
            </a:r>
            <a:r>
              <a:rPr sz="960" b="0" dirty="0" err="1">
                <a:solidFill>
                  <a:srgbClr val="1A3554"/>
                </a:solidFill>
                <a:latin typeface="Aptos"/>
                <a:ea typeface="Aptos"/>
                <a:cs typeface="Aptos"/>
              </a:rPr>
              <a:t>accès</a:t>
            </a:r>
            <a:r>
              <a:rPr sz="960" b="0" dirty="0">
                <a:solidFill>
                  <a:srgbClr val="1A3554"/>
                </a:solidFill>
                <a:latin typeface="Aptos"/>
                <a:ea typeface="Aptos"/>
                <a:cs typeface="Aptos"/>
              </a:rPr>
              <a:t> et des sorties</a:t>
            </a:r>
          </a:p>
          <a:p>
            <a:pPr algn="l">
              <a:defRPr sz="960" b="0">
                <a:solidFill>
                  <a:srgbClr val="1A3554"/>
                </a:solidFill>
                <a:latin typeface="Aptos"/>
                <a:ea typeface="Aptos"/>
                <a:cs typeface="Aptos"/>
              </a:defRPr>
            </a:pPr>
            <a:r>
              <a:rPr sz="960" b="0" dirty="0">
                <a:solidFill>
                  <a:srgbClr val="1A3554"/>
                </a:solidFill>
                <a:latin typeface="Aptos"/>
                <a:ea typeface="Aptos"/>
                <a:cs typeface="Aptos"/>
              </a:rPr>
              <a:t>• </a:t>
            </a:r>
            <a:r>
              <a:rPr sz="960" b="0" dirty="0" err="1">
                <a:solidFill>
                  <a:srgbClr val="1A3554"/>
                </a:solidFill>
                <a:latin typeface="Aptos"/>
                <a:ea typeface="Aptos"/>
                <a:cs typeface="Aptos"/>
              </a:rPr>
              <a:t>périmètre</a:t>
            </a:r>
            <a:r>
              <a:rPr sz="960" b="0" dirty="0">
                <a:solidFill>
                  <a:srgbClr val="1A3554"/>
                </a:solidFill>
                <a:latin typeface="Aptos"/>
                <a:ea typeface="Aptos"/>
                <a:cs typeface="Aptos"/>
              </a:rPr>
              <a:t> </a:t>
            </a:r>
            <a:r>
              <a:rPr sz="960" b="0" dirty="0" err="1">
                <a:solidFill>
                  <a:srgbClr val="1A3554"/>
                </a:solidFill>
                <a:latin typeface="Aptos"/>
                <a:ea typeface="Aptos"/>
                <a:cs typeface="Aptos"/>
              </a:rPr>
              <a:t>pilote</a:t>
            </a:r>
            <a:r>
              <a:rPr sz="960" b="0" dirty="0">
                <a:solidFill>
                  <a:srgbClr val="1A3554"/>
                </a:solidFill>
                <a:latin typeface="Aptos"/>
                <a:ea typeface="Aptos"/>
                <a:cs typeface="Aptos"/>
              </a:rPr>
              <a:t> </a:t>
            </a:r>
            <a:r>
              <a:rPr sz="960" b="0" dirty="0" err="1">
                <a:solidFill>
                  <a:srgbClr val="1A3554"/>
                </a:solidFill>
                <a:latin typeface="Aptos"/>
                <a:ea typeface="Aptos"/>
                <a:cs typeface="Aptos"/>
              </a:rPr>
              <a:t>strictement</a:t>
            </a:r>
            <a:r>
              <a:rPr sz="960" b="0" dirty="0">
                <a:solidFill>
                  <a:srgbClr val="1A3554"/>
                </a:solidFill>
                <a:latin typeface="Aptos"/>
                <a:ea typeface="Aptos"/>
                <a:cs typeface="Aptos"/>
              </a:rPr>
              <a:t> </a:t>
            </a:r>
            <a:r>
              <a:rPr sz="960" b="0" dirty="0" err="1">
                <a:solidFill>
                  <a:srgbClr val="1A3554"/>
                </a:solidFill>
                <a:latin typeface="Aptos"/>
                <a:ea typeface="Aptos"/>
                <a:cs typeface="Aptos"/>
              </a:rPr>
              <a:t>défini</a:t>
            </a:r>
            <a:r>
              <a:rPr sz="960" b="0" dirty="0">
                <a:solidFill>
                  <a:srgbClr val="1A3554"/>
                </a:solidFill>
                <a:latin typeface="Aptos"/>
                <a:ea typeface="Aptos"/>
                <a:cs typeface="Aptos"/>
              </a:rPr>
              <a:t> avant extension</a:t>
            </a:r>
          </a:p>
          <a:p>
            <a:pPr algn="l">
              <a:defRPr sz="960" b="0">
                <a:solidFill>
                  <a:srgbClr val="1A3554"/>
                </a:solidFill>
                <a:latin typeface="Aptos"/>
                <a:ea typeface="Aptos"/>
                <a:cs typeface="Aptos"/>
              </a:defRPr>
            </a:pPr>
            <a:r>
              <a:rPr sz="960" b="0" dirty="0">
                <a:solidFill>
                  <a:srgbClr val="1A3554"/>
                </a:solidFill>
                <a:latin typeface="Aptos"/>
                <a:ea typeface="Aptos"/>
                <a:cs typeface="Aptos"/>
              </a:rPr>
              <a:t>• formation </a:t>
            </a:r>
            <a:r>
              <a:rPr sz="960" b="0" dirty="0" err="1">
                <a:solidFill>
                  <a:srgbClr val="1A3554"/>
                </a:solidFill>
                <a:latin typeface="Aptos"/>
                <a:ea typeface="Aptos"/>
                <a:cs typeface="Aptos"/>
              </a:rPr>
              <a:t>intégrée</a:t>
            </a:r>
            <a:r>
              <a:rPr sz="960" b="0" dirty="0">
                <a:solidFill>
                  <a:srgbClr val="1A3554"/>
                </a:solidFill>
                <a:latin typeface="Aptos"/>
                <a:ea typeface="Aptos"/>
                <a:cs typeface="Aptos"/>
              </a:rPr>
              <a:t> aux exigences de </a:t>
            </a:r>
            <a:r>
              <a:rPr sz="960" b="0" dirty="0" err="1">
                <a:solidFill>
                  <a:srgbClr val="1A3554"/>
                </a:solidFill>
                <a:latin typeface="Aptos"/>
                <a:ea typeface="Aptos"/>
                <a:cs typeface="Aptos"/>
              </a:rPr>
              <a:t>confidentialité</a:t>
            </a:r>
            <a:r>
              <a:rPr sz="960" b="0" dirty="0">
                <a:solidFill>
                  <a:srgbClr val="1A3554"/>
                </a:solidFill>
                <a:latin typeface="Aptos"/>
                <a:ea typeface="Aptos"/>
                <a:cs typeface="Aptos"/>
              </a:rPr>
              <a:t> et de supervision</a:t>
            </a:r>
          </a:p>
        </p:txBody>
      </p:sp>
      <p:sp>
        <p:nvSpPr>
          <p:cNvPr id="9" name="Rectangle 8">
            <a:extLst>
              <a:ext uri="{FF2B5EF4-FFF2-40B4-BE49-F238E27FC236}">
                <a16:creationId xmlns:a16="http://schemas.microsoft.com/office/drawing/2014/main" id="{E2753A4E-F14E-469E-825D-A69EA42A7CA7}"/>
              </a:ext>
            </a:extLst>
          </p:cNvPr>
          <p:cNvSpPr>
            <a:spLocks noGrp="1"/>
          </p:cNvSpPr>
          <p:nvPr/>
        </p:nvSpPr>
        <p:spPr>
          <a:xfrm>
            <a:off x="895350" y="4343400"/>
            <a:ext cx="4343400" cy="838200"/>
          </a:xfrm>
          <a:prstGeom prst="rect">
            <a:avLst/>
          </a:prstGeom>
          <a:solidFill>
            <a:srgbClr val="FBF5EE"/>
          </a:solidFill>
          <a:ln w="9525">
            <a:solidFill>
              <a:srgbClr val="D7CEC3"/>
            </a:solidFill>
            <a:prstDash val="solid"/>
          </a:ln>
        </p:spPr>
      </p:sp>
      <p:sp>
        <p:nvSpPr>
          <p:cNvPr id="10" name="Rectangle 9">
            <a:extLst>
              <a:ext uri="{FF2B5EF4-FFF2-40B4-BE49-F238E27FC236}">
                <a16:creationId xmlns:a16="http://schemas.microsoft.com/office/drawing/2014/main" id="{CE0F9777-9AF4-4EEF-AA42-37A0B55D1A32}"/>
              </a:ext>
            </a:extLst>
          </p:cNvPr>
          <p:cNvSpPr>
            <a:spLocks noGrp="1"/>
          </p:cNvSpPr>
          <p:nvPr/>
        </p:nvSpPr>
        <p:spPr>
          <a:xfrm>
            <a:off x="1085850" y="4514850"/>
            <a:ext cx="952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E76F1D"/>
                </a:solidFill>
                <a:latin typeface="Aptos"/>
                <a:ea typeface="Aptos"/>
                <a:cs typeface="Aptos"/>
              </a:defRPr>
            </a:pPr>
            <a:r>
              <a:rPr sz="750" b="1">
                <a:solidFill>
                  <a:srgbClr val="E76F1D"/>
                </a:solidFill>
                <a:latin typeface="Aptos"/>
                <a:ea typeface="Aptos"/>
                <a:cs typeface="Aptos"/>
              </a:rPr>
              <a:t>Message fort</a:t>
            </a:r>
          </a:p>
        </p:txBody>
      </p:sp>
      <p:sp>
        <p:nvSpPr>
          <p:cNvPr id="11" name="Rectangle 10">
            <a:extLst>
              <a:ext uri="{FF2B5EF4-FFF2-40B4-BE49-F238E27FC236}">
                <a16:creationId xmlns:a16="http://schemas.microsoft.com/office/drawing/2014/main" id="{32B309C8-1BBC-4C01-B8E5-C30E141E8A11}"/>
              </a:ext>
            </a:extLst>
          </p:cNvPr>
          <p:cNvSpPr>
            <a:spLocks noGrp="1"/>
          </p:cNvSpPr>
          <p:nvPr/>
        </p:nvSpPr>
        <p:spPr>
          <a:xfrm>
            <a:off x="1085850" y="4724400"/>
            <a:ext cx="373380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1A3554"/>
                </a:solidFill>
                <a:latin typeface="Aptos Display"/>
                <a:ea typeface="Aptos Display"/>
                <a:cs typeface="Aptos Display"/>
              </a:defRPr>
            </a:pPr>
            <a:r>
              <a:rPr sz="1350" b="1">
                <a:solidFill>
                  <a:srgbClr val="1A3554"/>
                </a:solidFill>
                <a:latin typeface="Aptos Display"/>
                <a:ea typeface="Aptos Display"/>
                <a:cs typeface="Aptos Display"/>
              </a:rPr>
              <a:t>Une IA utile, maîtrisée et compatible avec vos exigences de confidentialité.</a:t>
            </a:r>
          </a:p>
        </p:txBody>
      </p:sp>
      <p:sp>
        <p:nvSpPr>
          <p:cNvPr id="12" name="Rectangle 11">
            <a:extLst>
              <a:ext uri="{FF2B5EF4-FFF2-40B4-BE49-F238E27FC236}">
                <a16:creationId xmlns:a16="http://schemas.microsoft.com/office/drawing/2014/main" id="{45F4ACB1-53BA-416E-AF4D-7B1B3B0A28F7}"/>
              </a:ext>
            </a:extLst>
          </p:cNvPr>
          <p:cNvSpPr>
            <a:spLocks noGrp="1"/>
          </p:cNvSpPr>
          <p:nvPr/>
        </p:nvSpPr>
        <p:spPr>
          <a:xfrm>
            <a:off x="6096000" y="1714500"/>
            <a:ext cx="5410200" cy="3714750"/>
          </a:xfrm>
          <a:prstGeom prst="rect">
            <a:avLst/>
          </a:prstGeom>
          <a:solidFill>
            <a:srgbClr val="163556"/>
          </a:solidFill>
          <a:ln w="0">
            <a:solidFill>
              <a:srgbClr val="163556"/>
            </a:solidFill>
            <a:prstDash val="solid"/>
          </a:ln>
        </p:spPr>
      </p:sp>
      <p:sp>
        <p:nvSpPr>
          <p:cNvPr id="13" name="Rectangle 12">
            <a:extLst>
              <a:ext uri="{FF2B5EF4-FFF2-40B4-BE49-F238E27FC236}">
                <a16:creationId xmlns:a16="http://schemas.microsoft.com/office/drawing/2014/main" id="{EA0A1D0D-07AB-4471-A3F2-4C5D1B904C27}"/>
              </a:ext>
            </a:extLst>
          </p:cNvPr>
          <p:cNvSpPr>
            <a:spLocks noGrp="1"/>
          </p:cNvSpPr>
          <p:nvPr/>
        </p:nvSpPr>
        <p:spPr>
          <a:xfrm>
            <a:off x="6362700" y="1981200"/>
            <a:ext cx="2476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FFFFFF"/>
                </a:solidFill>
                <a:latin typeface="Aptos"/>
                <a:ea typeface="Aptos"/>
                <a:cs typeface="Aptos"/>
              </a:defRPr>
            </a:pPr>
            <a:r>
              <a:rPr sz="788" b="1">
                <a:solidFill>
                  <a:srgbClr val="FFFFFF"/>
                </a:solidFill>
                <a:latin typeface="Aptos"/>
                <a:ea typeface="Aptos"/>
                <a:cs typeface="Aptos"/>
              </a:rPr>
              <a:t>PROCHAINE ÉTAPE</a:t>
            </a:r>
          </a:p>
        </p:txBody>
      </p:sp>
      <p:sp>
        <p:nvSpPr>
          <p:cNvPr id="14" name="Rectangle 13">
            <a:extLst>
              <a:ext uri="{FF2B5EF4-FFF2-40B4-BE49-F238E27FC236}">
                <a16:creationId xmlns:a16="http://schemas.microsoft.com/office/drawing/2014/main" id="{1A1E08C8-78F9-4073-A4EA-0D661250CC63}"/>
              </a:ext>
            </a:extLst>
          </p:cNvPr>
          <p:cNvSpPr>
            <a:spLocks noGrp="1"/>
          </p:cNvSpPr>
          <p:nvPr/>
        </p:nvSpPr>
        <p:spPr>
          <a:xfrm>
            <a:off x="6362700" y="2247900"/>
            <a:ext cx="3429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00" b="1">
                <a:solidFill>
                  <a:srgbClr val="FFFFFF"/>
                </a:solidFill>
                <a:latin typeface="Aptos Display"/>
                <a:ea typeface="Aptos Display"/>
                <a:cs typeface="Aptos Display"/>
              </a:defRPr>
            </a:pPr>
            <a:r>
              <a:rPr sz="1800" b="1">
                <a:solidFill>
                  <a:srgbClr val="FFFFFF"/>
                </a:solidFill>
                <a:latin typeface="Aptos Display"/>
                <a:ea typeface="Aptos Display"/>
                <a:cs typeface="Aptos Display"/>
              </a:rPr>
              <a:t>Sortie attendue du rendez-vous</a:t>
            </a:r>
          </a:p>
        </p:txBody>
      </p:sp>
      <p:sp>
        <p:nvSpPr>
          <p:cNvPr id="15" name="Rectangle 14">
            <a:extLst>
              <a:ext uri="{FF2B5EF4-FFF2-40B4-BE49-F238E27FC236}">
                <a16:creationId xmlns:a16="http://schemas.microsoft.com/office/drawing/2014/main" id="{A9ABE8A7-3972-4DB4-A4D5-ABEDFE9A54F1}"/>
              </a:ext>
            </a:extLst>
          </p:cNvPr>
          <p:cNvSpPr>
            <a:spLocks noGrp="1"/>
          </p:cNvSpPr>
          <p:nvPr/>
        </p:nvSpPr>
        <p:spPr>
          <a:xfrm>
            <a:off x="6362700" y="2724150"/>
            <a:ext cx="3429000" cy="12192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0">
                <a:solidFill>
                  <a:srgbClr val="FFFFFF"/>
                </a:solidFill>
                <a:latin typeface="Aptos"/>
                <a:ea typeface="Aptos"/>
                <a:cs typeface="Aptos"/>
              </a:defRPr>
            </a:pPr>
            <a:r>
              <a:rPr sz="1125" b="0">
                <a:solidFill>
                  <a:srgbClr val="FFFFFF"/>
                </a:solidFill>
                <a:latin typeface="Aptos"/>
                <a:ea typeface="Aptos"/>
                <a:cs typeface="Aptos"/>
              </a:rPr>
              <a:t>1. Tenir un échange expert de 30 minutes</a:t>
            </a:r>
          </a:p>
          <a:p>
            <a:pPr algn="l">
              <a:defRPr sz="1125" b="0">
                <a:solidFill>
                  <a:srgbClr val="FFFFFF"/>
                </a:solidFill>
                <a:latin typeface="Aptos"/>
                <a:ea typeface="Aptos"/>
                <a:cs typeface="Aptos"/>
              </a:defRPr>
            </a:pPr>
            <a:r>
              <a:rPr sz="1125" b="0">
                <a:solidFill>
                  <a:srgbClr val="FFFFFF"/>
                </a:solidFill>
                <a:latin typeface="Aptos"/>
                <a:ea typeface="Aptos"/>
                <a:cs typeface="Aptos"/>
              </a:rPr>
              <a:t>2. Remplir ou envoyer le formulaire d'audit IA</a:t>
            </a:r>
          </a:p>
          <a:p>
            <a:pPr algn="l">
              <a:defRPr sz="1125" b="0">
                <a:solidFill>
                  <a:srgbClr val="FFFFFF"/>
                </a:solidFill>
                <a:latin typeface="Aptos"/>
                <a:ea typeface="Aptos"/>
                <a:cs typeface="Aptos"/>
              </a:defRPr>
            </a:pPr>
            <a:r>
              <a:rPr sz="1125" b="0">
                <a:solidFill>
                  <a:srgbClr val="FFFFFF"/>
                </a:solidFill>
                <a:latin typeface="Aptos"/>
                <a:ea typeface="Aptos"/>
                <a:cs typeface="Aptos"/>
              </a:rPr>
              <a:t>3. Recevoir une priorisation claire des cas d'usage</a:t>
            </a:r>
          </a:p>
          <a:p>
            <a:pPr algn="l">
              <a:defRPr sz="1125" b="0">
                <a:solidFill>
                  <a:srgbClr val="FFFFFF"/>
                </a:solidFill>
                <a:latin typeface="Aptos"/>
                <a:ea typeface="Aptos"/>
                <a:cs typeface="Aptos"/>
              </a:defRPr>
            </a:pPr>
            <a:r>
              <a:rPr sz="1125" b="0">
                <a:solidFill>
                  <a:srgbClr val="FFFFFF"/>
                </a:solidFill>
                <a:latin typeface="Aptos"/>
                <a:ea typeface="Aptos"/>
                <a:cs typeface="Aptos"/>
              </a:rPr>
              <a:t>4. Valider un premier pilote et ses KPI</a:t>
            </a:r>
          </a:p>
        </p:txBody>
      </p:sp>
      <p:sp>
        <p:nvSpPr>
          <p:cNvPr id="16" name="Rectangle 15">
            <a:extLst>
              <a:ext uri="{FF2B5EF4-FFF2-40B4-BE49-F238E27FC236}">
                <a16:creationId xmlns:a16="http://schemas.microsoft.com/office/drawing/2014/main" id="{910D7C5F-FCE1-4AB4-A1E7-906CAB943A7B}"/>
              </a:ext>
            </a:extLst>
          </p:cNvPr>
          <p:cNvSpPr>
            <a:spLocks noGrp="1"/>
          </p:cNvSpPr>
          <p:nvPr/>
        </p:nvSpPr>
        <p:spPr>
          <a:xfrm>
            <a:off x="9906000" y="2400300"/>
            <a:ext cx="1219200" cy="971550"/>
          </a:xfrm>
          <a:prstGeom prst="rect">
            <a:avLst/>
          </a:prstGeom>
          <a:solidFill>
            <a:srgbClr val="244667"/>
          </a:solidFill>
          <a:ln w="9525">
            <a:solidFill>
              <a:srgbClr val="244667"/>
            </a:solidFill>
            <a:prstDash val="solid"/>
          </a:ln>
        </p:spPr>
      </p:sp>
      <p:sp>
        <p:nvSpPr>
          <p:cNvPr id="17" name="Rectangle 16">
            <a:extLst>
              <a:ext uri="{FF2B5EF4-FFF2-40B4-BE49-F238E27FC236}">
                <a16:creationId xmlns:a16="http://schemas.microsoft.com/office/drawing/2014/main" id="{E636BB6A-A557-4BA1-AFB4-D6BF3601CC76}"/>
              </a:ext>
            </a:extLst>
          </p:cNvPr>
          <p:cNvSpPr>
            <a:spLocks noGrp="1"/>
          </p:cNvSpPr>
          <p:nvPr/>
        </p:nvSpPr>
        <p:spPr>
          <a:xfrm>
            <a:off x="10077450" y="2628900"/>
            <a:ext cx="8763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800" b="1">
                <a:solidFill>
                  <a:srgbClr val="FFFFFF"/>
                </a:solidFill>
                <a:latin typeface="Aptos Display"/>
                <a:ea typeface="Aptos Display"/>
                <a:cs typeface="Aptos Display"/>
              </a:defRPr>
            </a:pPr>
            <a:r>
              <a:rPr sz="1800" b="1">
                <a:solidFill>
                  <a:srgbClr val="FFFFFF"/>
                </a:solidFill>
                <a:latin typeface="Aptos Display"/>
                <a:ea typeface="Aptos Display"/>
                <a:cs typeface="Aptos Display"/>
              </a:rPr>
              <a:t>30 min</a:t>
            </a:r>
          </a:p>
        </p:txBody>
      </p:sp>
      <p:sp>
        <p:nvSpPr>
          <p:cNvPr id="18" name="Rectangle 17">
            <a:extLst>
              <a:ext uri="{FF2B5EF4-FFF2-40B4-BE49-F238E27FC236}">
                <a16:creationId xmlns:a16="http://schemas.microsoft.com/office/drawing/2014/main" id="{B8392605-8303-42AB-AEBD-73CD401121CA}"/>
              </a:ext>
            </a:extLst>
          </p:cNvPr>
          <p:cNvSpPr>
            <a:spLocks noGrp="1"/>
          </p:cNvSpPr>
          <p:nvPr/>
        </p:nvSpPr>
        <p:spPr>
          <a:xfrm>
            <a:off x="10077450" y="2933700"/>
            <a:ext cx="8763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88" b="0">
                <a:solidFill>
                  <a:srgbClr val="FFFFFF"/>
                </a:solidFill>
                <a:latin typeface="Aptos"/>
                <a:ea typeface="Aptos"/>
                <a:cs typeface="Aptos"/>
              </a:defRPr>
            </a:pPr>
            <a:r>
              <a:rPr sz="788" b="0">
                <a:solidFill>
                  <a:srgbClr val="FFFFFF"/>
                </a:solidFill>
                <a:latin typeface="Aptos"/>
                <a:ea typeface="Aptos"/>
                <a:cs typeface="Aptos"/>
              </a:rPr>
              <a:t>échange expert</a:t>
            </a:r>
          </a:p>
        </p:txBody>
      </p:sp>
      <p:sp>
        <p:nvSpPr>
          <p:cNvPr id="19" name="Rectangle 18">
            <a:extLst>
              <a:ext uri="{FF2B5EF4-FFF2-40B4-BE49-F238E27FC236}">
                <a16:creationId xmlns:a16="http://schemas.microsoft.com/office/drawing/2014/main" id="{F2ABD5B1-0EC4-4343-BF02-4C9F18EC1F1B}"/>
              </a:ext>
            </a:extLst>
          </p:cNvPr>
          <p:cNvSpPr>
            <a:spLocks noGrp="1"/>
          </p:cNvSpPr>
          <p:nvPr/>
        </p:nvSpPr>
        <p:spPr>
          <a:xfrm>
            <a:off x="9906000" y="3524250"/>
            <a:ext cx="1219200" cy="971550"/>
          </a:xfrm>
          <a:prstGeom prst="rect">
            <a:avLst/>
          </a:prstGeom>
          <a:solidFill>
            <a:srgbClr val="244667"/>
          </a:solidFill>
          <a:ln w="9525">
            <a:solidFill>
              <a:srgbClr val="244667"/>
            </a:solidFill>
            <a:prstDash val="solid"/>
          </a:ln>
        </p:spPr>
      </p:sp>
      <p:sp>
        <p:nvSpPr>
          <p:cNvPr id="20" name="Rectangle 19">
            <a:extLst>
              <a:ext uri="{FF2B5EF4-FFF2-40B4-BE49-F238E27FC236}">
                <a16:creationId xmlns:a16="http://schemas.microsoft.com/office/drawing/2014/main" id="{8A01BF3E-4B56-4C74-9EBB-4126CCE8854D}"/>
              </a:ext>
            </a:extLst>
          </p:cNvPr>
          <p:cNvSpPr>
            <a:spLocks noGrp="1"/>
          </p:cNvSpPr>
          <p:nvPr/>
        </p:nvSpPr>
        <p:spPr>
          <a:xfrm>
            <a:off x="10077450" y="3752850"/>
            <a:ext cx="8763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1800" b="1">
                <a:solidFill>
                  <a:srgbClr val="FFFFFF"/>
                </a:solidFill>
                <a:latin typeface="Aptos Display"/>
                <a:ea typeface="Aptos Display"/>
                <a:cs typeface="Aptos Display"/>
              </a:defRPr>
            </a:pPr>
            <a:r>
              <a:rPr sz="1800" b="1">
                <a:solidFill>
                  <a:srgbClr val="FFFFFF"/>
                </a:solidFill>
                <a:latin typeface="Aptos Display"/>
                <a:ea typeface="Aptos Display"/>
                <a:cs typeface="Aptos Display"/>
              </a:rPr>
              <a:t>J+15</a:t>
            </a:r>
          </a:p>
        </p:txBody>
      </p:sp>
      <p:sp>
        <p:nvSpPr>
          <p:cNvPr id="21" name="Rectangle 20">
            <a:extLst>
              <a:ext uri="{FF2B5EF4-FFF2-40B4-BE49-F238E27FC236}">
                <a16:creationId xmlns:a16="http://schemas.microsoft.com/office/drawing/2014/main" id="{0185BD08-117B-468D-935F-96A6CB140701}"/>
              </a:ext>
            </a:extLst>
          </p:cNvPr>
          <p:cNvSpPr>
            <a:spLocks noGrp="1"/>
          </p:cNvSpPr>
          <p:nvPr/>
        </p:nvSpPr>
        <p:spPr>
          <a:xfrm>
            <a:off x="10077450" y="4057650"/>
            <a:ext cx="8763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788" b="0">
                <a:solidFill>
                  <a:srgbClr val="FFFFFF"/>
                </a:solidFill>
                <a:latin typeface="Aptos"/>
                <a:ea typeface="Aptos"/>
                <a:cs typeface="Aptos"/>
              </a:defRPr>
            </a:pPr>
            <a:r>
              <a:rPr sz="788" b="0">
                <a:solidFill>
                  <a:srgbClr val="FFFFFF"/>
                </a:solidFill>
                <a:latin typeface="Aptos"/>
                <a:ea typeface="Aptos"/>
                <a:cs typeface="Aptos"/>
              </a:rPr>
              <a:t>premier livrable</a:t>
            </a:r>
          </a:p>
        </p:txBody>
      </p:sp>
      <p:sp>
        <p:nvSpPr>
          <p:cNvPr id="22" name="Rectangle 21">
            <a:extLst>
              <a:ext uri="{FF2B5EF4-FFF2-40B4-BE49-F238E27FC236}">
                <a16:creationId xmlns:a16="http://schemas.microsoft.com/office/drawing/2014/main" id="{046C651E-B048-454F-9E24-4EFE226366FB}"/>
              </a:ext>
            </a:extLst>
          </p:cNvPr>
          <p:cNvSpPr>
            <a:spLocks noGrp="1"/>
          </p:cNvSpPr>
          <p:nvPr/>
        </p:nvSpPr>
        <p:spPr>
          <a:xfrm>
            <a:off x="6362700" y="4229100"/>
            <a:ext cx="4762500" cy="800100"/>
          </a:xfrm>
          <a:prstGeom prst="rect">
            <a:avLst/>
          </a:prstGeom>
          <a:solidFill>
            <a:srgbClr val="244667"/>
          </a:solidFill>
          <a:ln w="9525">
            <a:solidFill>
              <a:srgbClr val="244667"/>
            </a:solidFill>
            <a:prstDash val="solid"/>
          </a:ln>
        </p:spPr>
      </p:sp>
      <p:sp>
        <p:nvSpPr>
          <p:cNvPr id="23" name="Rectangle 22">
            <a:extLst>
              <a:ext uri="{FF2B5EF4-FFF2-40B4-BE49-F238E27FC236}">
                <a16:creationId xmlns:a16="http://schemas.microsoft.com/office/drawing/2014/main" id="{E1D9DC76-0365-4DD3-8FE4-0EE245CF8646}"/>
              </a:ext>
            </a:extLst>
          </p:cNvPr>
          <p:cNvSpPr>
            <a:spLocks noGrp="1"/>
          </p:cNvSpPr>
          <p:nvPr/>
        </p:nvSpPr>
        <p:spPr>
          <a:xfrm>
            <a:off x="6572250" y="4438650"/>
            <a:ext cx="4343400" cy="3810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D7E5F3"/>
                </a:solidFill>
                <a:latin typeface="Aptos"/>
                <a:ea typeface="Aptos"/>
                <a:cs typeface="Aptos"/>
              </a:defRPr>
            </a:pPr>
            <a:r>
              <a:rPr sz="863" b="0">
                <a:solidFill>
                  <a:srgbClr val="D7E5F3"/>
                </a:solidFill>
                <a:latin typeface="Aptos"/>
                <a:ea typeface="Aptos"/>
                <a:cs typeface="Aptos"/>
              </a:rPr>
              <a:t>Formule courte à utiliser : TransferAI aide votre organisation à identifier les usages les plus utiles, à former les bonnes équipes et à choisir la bonne suite entre pilote, accompagnement et extension. Formulaire d'audit : www.transferai.ci/formulaire-audit-ia/index.html</a:t>
            </a:r>
          </a:p>
        </p:txBody>
      </p:sp>
      <p:sp>
        <p:nvSpPr>
          <p:cNvPr id="24" name="Rectangle 23">
            <a:extLst>
              <a:ext uri="{FF2B5EF4-FFF2-40B4-BE49-F238E27FC236}">
                <a16:creationId xmlns:a16="http://schemas.microsoft.com/office/drawing/2014/main" id="{03943572-9296-4317-AA36-E1142220EC1C}"/>
              </a:ext>
            </a:extLst>
          </p:cNvPr>
          <p:cNvSpPr>
            <a:spLocks noGrp="1"/>
          </p:cNvSpPr>
          <p:nvPr/>
        </p:nvSpPr>
        <p:spPr>
          <a:xfrm>
            <a:off x="647700" y="6496050"/>
            <a:ext cx="10896600" cy="9525"/>
          </a:xfrm>
          <a:prstGeom prst="rect">
            <a:avLst/>
          </a:prstGeom>
          <a:solidFill>
            <a:srgbClr val="D7CEC3"/>
          </a:solidFill>
          <a:ln w="0">
            <a:solidFill>
              <a:srgbClr val="000000">
                <a:alpha val="0"/>
              </a:srgbClr>
            </a:solidFill>
            <a:prstDash val="solid"/>
          </a:ln>
        </p:spPr>
      </p:sp>
      <p:sp>
        <p:nvSpPr>
          <p:cNvPr id="25" name="Rectangle 24">
            <a:extLst>
              <a:ext uri="{FF2B5EF4-FFF2-40B4-BE49-F238E27FC236}">
                <a16:creationId xmlns:a16="http://schemas.microsoft.com/office/drawing/2014/main" id="{1F162CE5-0278-4FDF-993F-1029CB0CDD7C}"/>
              </a:ext>
            </a:extLst>
          </p:cNvPr>
          <p:cNvSpPr>
            <a:spLocks noGrp="1"/>
          </p:cNvSpPr>
          <p:nvPr/>
        </p:nvSpPr>
        <p:spPr>
          <a:xfrm>
            <a:off x="685800" y="6572250"/>
            <a:ext cx="85725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38" b="0">
                <a:solidFill>
                  <a:srgbClr val="617086"/>
                </a:solidFill>
                <a:latin typeface="Aptos"/>
                <a:ea typeface="Aptos"/>
                <a:cs typeface="Aptos"/>
              </a:defRPr>
            </a:pPr>
            <a:r>
              <a:rPr sz="638" b="0">
                <a:solidFill>
                  <a:srgbClr val="617086"/>
                </a:solidFill>
                <a:latin typeface="Aptos"/>
                <a:ea typeface="Aptos"/>
                <a:cs typeface="Aptos"/>
              </a:rPr>
              <a:t>TransferAI | Hub IA de Nettelecom CI | Modèle deck institutionnel V3</a:t>
            </a:r>
          </a:p>
        </p:txBody>
      </p:sp>
      <p:sp>
        <p:nvSpPr>
          <p:cNvPr id="26" name="Rectangle 25">
            <a:extLst>
              <a:ext uri="{FF2B5EF4-FFF2-40B4-BE49-F238E27FC236}">
                <a16:creationId xmlns:a16="http://schemas.microsoft.com/office/drawing/2014/main" id="{B5D146B8-56E5-42C2-86EB-7047E70BA3D4}"/>
              </a:ext>
            </a:extLst>
          </p:cNvPr>
          <p:cNvSpPr>
            <a:spLocks noGrp="1"/>
          </p:cNvSpPr>
          <p:nvPr/>
        </p:nvSpPr>
        <p:spPr>
          <a:xfrm>
            <a:off x="11049000" y="6553200"/>
            <a:ext cx="3429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1">
                <a:solidFill>
                  <a:srgbClr val="1A3554"/>
                </a:solidFill>
                <a:latin typeface="Aptos"/>
                <a:ea typeface="Aptos"/>
                <a:cs typeface="Aptos"/>
              </a:defRPr>
            </a:pPr>
            <a:r>
              <a:rPr sz="750" b="1">
                <a:solidFill>
                  <a:srgbClr val="1A3554"/>
                </a:solidFill>
                <a:latin typeface="Aptos"/>
                <a:ea typeface="Aptos"/>
                <a:cs typeface="Aptos"/>
              </a:rPr>
              <a:t>13</a:t>
            </a:r>
          </a:p>
        </p:txBody>
      </p:sp>
    </p:spTree>
    <p:extLst>
      <p:ext uri="{BB962C8B-B14F-4D97-AF65-F5344CB8AC3E}">
        <p14:creationId xmlns:p14="http://schemas.microsoft.com/office/powerpoint/2010/main" val="102005595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2580</Words>
  <Application>Microsoft Macintosh PowerPoint</Application>
  <DocSecurity>0</DocSecurity>
  <PresentationFormat>Widescreen</PresentationFormat>
  <Paragraphs>308</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Aptos Display</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vtoc limited</cp:lastModifiedBy>
  <cp:revision>1</cp:revision>
  <dcterms:created xsi:type="dcterms:W3CDTF">2026-05-31T10:12:23Z</dcterms:created>
  <dcterms:modified xsi:type="dcterms:W3CDTF">2026-06-10T18:47:00Z</dcterms:modified>
</cp:coreProperties>
</file>