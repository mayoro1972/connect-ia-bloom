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38f1f9acd1466a" /><Relationship Type="http://schemas.openxmlformats.org/officeDocument/2006/relationships/extended-properties" Target="/docProps/app.xml" Id="R86421f0d9daa4ebb" /><Relationship Type="http://schemas.openxmlformats.org/officeDocument/2006/relationships/officeDocument" Target="/ppt/presentation.xml" Id="Rf6313fb61a1149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132d2f43bc42e1"/>
  </p:sldMasterIdLst>
  <p:notesMasterIdLst>
    <p:notesMasterId xmlns:r="http://schemas.openxmlformats.org/officeDocument/2006/relationships" r:id="R8c76324afc7c4171"/>
  </p:notesMasterIdLst>
  <p:sldIdLst>
    <p:sldId xmlns:r="http://schemas.openxmlformats.org/officeDocument/2006/relationships" id="256" r:id="Re9fca2bc261e4f66"/>
    <p:sldId xmlns:r="http://schemas.openxmlformats.org/officeDocument/2006/relationships" id="257" r:id="R86ab2e48f7e94422"/>
    <p:sldId xmlns:r="http://schemas.openxmlformats.org/officeDocument/2006/relationships" id="258" r:id="R91fe4b808b674b37"/>
    <p:sldId xmlns:r="http://schemas.openxmlformats.org/officeDocument/2006/relationships" id="259" r:id="Reebbce78ed174cd1"/>
    <p:sldId xmlns:r="http://schemas.openxmlformats.org/officeDocument/2006/relationships" id="260" r:id="R039717b9ee764e01"/>
    <p:sldId xmlns:r="http://schemas.openxmlformats.org/officeDocument/2006/relationships" id="261" r:id="Rd1d057eafb5e41ef"/>
    <p:sldId xmlns:r="http://schemas.openxmlformats.org/officeDocument/2006/relationships" id="262" r:id="Rb39d6ab8613448fe"/>
    <p:sldId xmlns:r="http://schemas.openxmlformats.org/officeDocument/2006/relationships" id="263" r:id="R326c32024edb4dac"/>
    <p:sldId xmlns:r="http://schemas.openxmlformats.org/officeDocument/2006/relationships" id="264" r:id="Rd10214369b244eea"/>
    <p:sldId xmlns:r="http://schemas.openxmlformats.org/officeDocument/2006/relationships" id="265" r:id="R72bb0bfb091e4b75"/>
    <p:sldId xmlns:r="http://schemas.openxmlformats.org/officeDocument/2006/relationships" id="266" r:id="R651bc14f0f7e450f"/>
    <p:sldId xmlns:r="http://schemas.openxmlformats.org/officeDocument/2006/relationships" id="267" r:id="Rb43642d1c5414f77"/>
    <p:sldId xmlns:r="http://schemas.openxmlformats.org/officeDocument/2006/relationships" id="268" r:id="R0c4854e729b24e0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ba958cf27b41de" /><Relationship Type="http://schemas.openxmlformats.org/officeDocument/2006/relationships/slideMaster" Target="/ppt/slideMasters/slideMaster1.xml" Id="Rc8132d2f43bc42e1" /><Relationship Type="http://schemas.openxmlformats.org/officeDocument/2006/relationships/notesMaster" Target="/ppt/notesMasters/notesMaster1.xml" Id="R8c76324afc7c4171" /><Relationship Type="http://schemas.openxmlformats.org/officeDocument/2006/relationships/presProps" Target="/ppt/presProps.xml" Id="Rb596ba8ea3ba4a8d" /><Relationship Type="http://schemas.openxmlformats.org/officeDocument/2006/relationships/viewProps" Target="/ppt/viewProps.xml" Id="R3e1af0d4f6364085" /><Relationship Type="http://schemas.openxmlformats.org/officeDocument/2006/relationships/tableStyles" Target="/ppt/tableStyles.xml" Id="Rc856cd651bad4049" /><Relationship Type="http://schemas.openxmlformats.org/officeDocument/2006/relationships/slide" Target="/ppt/slides/slide1.xml" Id="Re9fca2bc261e4f66" /><Relationship Type="http://schemas.openxmlformats.org/officeDocument/2006/relationships/slide" Target="/ppt/slides/slide2.xml" Id="R86ab2e48f7e94422" /><Relationship Type="http://schemas.openxmlformats.org/officeDocument/2006/relationships/slide" Target="/ppt/slides/slide3.xml" Id="R91fe4b808b674b37" /><Relationship Type="http://schemas.openxmlformats.org/officeDocument/2006/relationships/slide" Target="/ppt/slides/slide4.xml" Id="Reebbce78ed174cd1" /><Relationship Type="http://schemas.openxmlformats.org/officeDocument/2006/relationships/slide" Target="/ppt/slides/slide5.xml" Id="R039717b9ee764e01" /><Relationship Type="http://schemas.openxmlformats.org/officeDocument/2006/relationships/slide" Target="/ppt/slides/slide6.xml" Id="Rd1d057eafb5e41ef" /><Relationship Type="http://schemas.openxmlformats.org/officeDocument/2006/relationships/slide" Target="/ppt/slides/slide7.xml" Id="Rb39d6ab8613448fe" /><Relationship Type="http://schemas.openxmlformats.org/officeDocument/2006/relationships/slide" Target="/ppt/slides/slide8.xml" Id="R326c32024edb4dac" /><Relationship Type="http://schemas.openxmlformats.org/officeDocument/2006/relationships/slide" Target="/ppt/slides/slide9.xml" Id="Rd10214369b244eea" /><Relationship Type="http://schemas.openxmlformats.org/officeDocument/2006/relationships/slide" Target="/ppt/slides/slide10.xml" Id="R72bb0bfb091e4b75" /><Relationship Type="http://schemas.openxmlformats.org/officeDocument/2006/relationships/slide" Target="/ppt/slides/slide11.xml" Id="R651bc14f0f7e450f" /><Relationship Type="http://schemas.openxmlformats.org/officeDocument/2006/relationships/slide" Target="/ppt/slides/slide12.xml" Id="Rb43642d1c5414f77" /><Relationship Type="http://schemas.openxmlformats.org/officeDocument/2006/relationships/slide" Target="/ppt/slides/slide13.xml" Id="R0c4854e729b24e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99dc63b26242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e0893cffd94348" /><Relationship Type="http://schemas.openxmlformats.org/officeDocument/2006/relationships/notesMaster" Target="/ppt/notesMasters/notesMaster1.xml" Id="Re5500c56221147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252c02581b414d" /><Relationship Type="http://schemas.openxmlformats.org/officeDocument/2006/relationships/notesMaster" Target="/ppt/notesMasters/notesMaster1.xml" Id="R473f4b3938b04b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efcc2283e148ef" /><Relationship Type="http://schemas.openxmlformats.org/officeDocument/2006/relationships/notesMaster" Target="/ppt/notesMasters/notesMaster1.xml" Id="Rc6f6b358c87c49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a8dd697c0d4202" /><Relationship Type="http://schemas.openxmlformats.org/officeDocument/2006/relationships/notesMaster" Target="/ppt/notesMasters/notesMaster1.xml" Id="R453d44c664c942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278a69815b4809" /><Relationship Type="http://schemas.openxmlformats.org/officeDocument/2006/relationships/notesMaster" Target="/ppt/notesMasters/notesMaster1.xml" Id="R9efdaf49313f46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7144157eeb4b07" /><Relationship Type="http://schemas.openxmlformats.org/officeDocument/2006/relationships/notesMaster" Target="/ppt/notesMasters/notesMaster1.xml" Id="R35e916ff778149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7603087e8c47c4" /><Relationship Type="http://schemas.openxmlformats.org/officeDocument/2006/relationships/notesMaster" Target="/ppt/notesMasters/notesMaster1.xml" Id="Rce3df75c16bb4a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3acd3456624d9e" /><Relationship Type="http://schemas.openxmlformats.org/officeDocument/2006/relationships/notesMaster" Target="/ppt/notesMasters/notesMaster1.xml" Id="Re5001e84073945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1662dc860b4a92" /><Relationship Type="http://schemas.openxmlformats.org/officeDocument/2006/relationships/notesMaster" Target="/ppt/notesMasters/notesMaster1.xml" Id="Rea8e85881d5841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2cc32ed8cf45da" /><Relationship Type="http://schemas.openxmlformats.org/officeDocument/2006/relationships/notesMaster" Target="/ppt/notesMasters/notesMaster1.xml" Id="Re97944974f1f48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6366473efc442d" /><Relationship Type="http://schemas.openxmlformats.org/officeDocument/2006/relationships/notesMaster" Target="/ppt/notesMasters/notesMaster1.xml" Id="R9bdec1715e6245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5ee2a2c5994d2e" /><Relationship Type="http://schemas.openxmlformats.org/officeDocument/2006/relationships/notesMaster" Target="/ppt/notesMasters/notesMaster1.xml" Id="R39f678010cd14b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8e25fe89c646a7" /><Relationship Type="http://schemas.openxmlformats.org/officeDocument/2006/relationships/notesMaster" Target="/ppt/notesMasters/notesMaster1.xml" Id="R3944087c7b884b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bc6543cbf94e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26f3b7b1d44a1b" /><Relationship Type="http://schemas.openxmlformats.org/officeDocument/2006/relationships/slideLayout" Target="/ppt/slideLayouts/slideLayout1.xml" Id="Rc836feed46f342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36feed46f342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2fbb1620a4316" /><Relationship Type="http://schemas.openxmlformats.org/officeDocument/2006/relationships/notesSlide" Target="/ppt/notesSlides/notesSlide1.xml" Id="Rcd5d3a653eb049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35247951e4b00" /><Relationship Type="http://schemas.openxmlformats.org/officeDocument/2006/relationships/notesSlide" Target="/ppt/notesSlides/notesSlide2.xml" Id="R12cdb5ecdb0947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dda6bf96e4aa7" /><Relationship Type="http://schemas.openxmlformats.org/officeDocument/2006/relationships/notesSlide" Target="/ppt/notesSlides/notesSlide3.xml" Id="R49d0c947e3f840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142b67fd24e8b" /><Relationship Type="http://schemas.openxmlformats.org/officeDocument/2006/relationships/image" Target="/ppt/media/image.png" Id="R1d86226336824f56" /><Relationship Type="http://schemas.openxmlformats.org/officeDocument/2006/relationships/image" Target="/ppt/media/image.svg" Id="Rc64061dd47e64f0c" /><Relationship Type="http://schemas.openxmlformats.org/officeDocument/2006/relationships/image" Target="/ppt/media/image2.png" Id="R962c756253dd4001" /><Relationship Type="http://schemas.openxmlformats.org/officeDocument/2006/relationships/image" Target="/ppt/media/image2.svg" Id="Ra769731b2cae4e7f" /><Relationship Type="http://schemas.openxmlformats.org/officeDocument/2006/relationships/image" Target="/ppt/media/image3.png" Id="R08480b88641945ed" /><Relationship Type="http://schemas.openxmlformats.org/officeDocument/2006/relationships/image" Target="/ppt/media/image3.svg" Id="R807a881d11d2435e" /><Relationship Type="http://schemas.openxmlformats.org/officeDocument/2006/relationships/image" Target="/ppt/media/image4.png" Id="Rd21a2ce793dd4928" /><Relationship Type="http://schemas.openxmlformats.org/officeDocument/2006/relationships/image" Target="/ppt/media/image4.svg" Id="Rcfe6b33eba7e4cb0" /><Relationship Type="http://schemas.openxmlformats.org/officeDocument/2006/relationships/notesSlide" Target="/ppt/notesSlides/notesSlide4.xml" Id="R7a417fbe7a5a47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fea2814994235" /><Relationship Type="http://schemas.openxmlformats.org/officeDocument/2006/relationships/image" Target="/ppt/media/image5.png" Id="R92e3f30ecaf84495" /><Relationship Type="http://schemas.openxmlformats.org/officeDocument/2006/relationships/image" Target="/ppt/media/image5.svg" Id="Rd156b42191cf4266" /><Relationship Type="http://schemas.openxmlformats.org/officeDocument/2006/relationships/image" Target="/ppt/media/image6.png" Id="Rd87e397897854c37" /><Relationship Type="http://schemas.openxmlformats.org/officeDocument/2006/relationships/image" Target="/ppt/media/image6.svg" Id="R23bc5f78935f4791" /><Relationship Type="http://schemas.openxmlformats.org/officeDocument/2006/relationships/image" Target="/ppt/media/image7.png" Id="Rb78ee91115e24e1b" /><Relationship Type="http://schemas.openxmlformats.org/officeDocument/2006/relationships/image" Target="/ppt/media/image7.svg" Id="Rdbd08e8b00f54f1e" /><Relationship Type="http://schemas.openxmlformats.org/officeDocument/2006/relationships/image" Target="/ppt/media/image8.png" Id="Rb2d08d85fe9f4759" /><Relationship Type="http://schemas.openxmlformats.org/officeDocument/2006/relationships/image" Target="/ppt/media/image8.svg" Id="Rf0d91cd9ba5c46b7" /><Relationship Type="http://schemas.openxmlformats.org/officeDocument/2006/relationships/notesSlide" Target="/ppt/notesSlides/notesSlide5.xml" Id="R99e97c30288047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2472e45234d01" /><Relationship Type="http://schemas.openxmlformats.org/officeDocument/2006/relationships/notesSlide" Target="/ppt/notesSlides/notesSlide6.xml" Id="Rc19ca4ad623f42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badc847374f7b" /><Relationship Type="http://schemas.openxmlformats.org/officeDocument/2006/relationships/image" Target="/ppt/media/image9.png" Id="R4bb9fba671c24992" /><Relationship Type="http://schemas.openxmlformats.org/officeDocument/2006/relationships/image" Target="/ppt/media/image9.svg" Id="Rbd47094761234ded" /><Relationship Type="http://schemas.openxmlformats.org/officeDocument/2006/relationships/image" Target="/ppt/media/image10.png" Id="R208f52f695814555" /><Relationship Type="http://schemas.openxmlformats.org/officeDocument/2006/relationships/image" Target="/ppt/media/image10.svg" Id="R839e2cd1fd94472d" /><Relationship Type="http://schemas.openxmlformats.org/officeDocument/2006/relationships/image" Target="/ppt/media/image11.png" Id="Rc72e77da05bd4858" /><Relationship Type="http://schemas.openxmlformats.org/officeDocument/2006/relationships/image" Target="/ppt/media/image11.svg" Id="Rf6143854f8434702" /><Relationship Type="http://schemas.openxmlformats.org/officeDocument/2006/relationships/image" Target="/ppt/media/image12.png" Id="R75a1252bdf4d4cfb" /><Relationship Type="http://schemas.openxmlformats.org/officeDocument/2006/relationships/image" Target="/ppt/media/image12.svg" Id="R3a6123a1d9ab46f8" /><Relationship Type="http://schemas.openxmlformats.org/officeDocument/2006/relationships/notesSlide" Target="/ppt/notesSlides/notesSlide7.xml" Id="R47dd0e5955444f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ebd189dca4262" /><Relationship Type="http://schemas.openxmlformats.org/officeDocument/2006/relationships/notesSlide" Target="/ppt/notesSlides/notesSlide8.xml" Id="Rb6ec49e518954f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779f3577f4774" /><Relationship Type="http://schemas.openxmlformats.org/officeDocument/2006/relationships/image" Target="/ppt/media/image13.png" Id="Rf6da2f4e46ab4686" /><Relationship Type="http://schemas.openxmlformats.org/officeDocument/2006/relationships/image" Target="/ppt/media/image13.svg" Id="R3332530ba397489a" /><Relationship Type="http://schemas.openxmlformats.org/officeDocument/2006/relationships/image" Target="/ppt/media/image14.png" Id="R799092147f0346d8" /><Relationship Type="http://schemas.openxmlformats.org/officeDocument/2006/relationships/image" Target="/ppt/media/image14.svg" Id="R4a372ce378ea4877" /><Relationship Type="http://schemas.openxmlformats.org/officeDocument/2006/relationships/notesSlide" Target="/ppt/notesSlides/notesSlide9.xml" Id="R2496b253fbcc48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b997a92ab423f" /><Relationship Type="http://schemas.openxmlformats.org/officeDocument/2006/relationships/image" Target="/ppt/media/image15.png" Id="Ra33d06c8b1564c7f" /><Relationship Type="http://schemas.openxmlformats.org/officeDocument/2006/relationships/image" Target="/ppt/media/image15.svg" Id="Raa00394ba5684356" /><Relationship Type="http://schemas.openxmlformats.org/officeDocument/2006/relationships/image" Target="/ppt/media/image16.png" Id="R7def4abd8c0f4b94" /><Relationship Type="http://schemas.openxmlformats.org/officeDocument/2006/relationships/image" Target="/ppt/media/image16.svg" Id="Rf816369cdd08438e" /><Relationship Type="http://schemas.openxmlformats.org/officeDocument/2006/relationships/notesSlide" Target="/ppt/notesSlides/notesSlide10.xml" Id="Re3ca9eb813cb4e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d47b6983f4bf2" /><Relationship Type="http://schemas.openxmlformats.org/officeDocument/2006/relationships/notesSlide" Target="/ppt/notesSlides/notesSlide11.xml" Id="R46989da7482a4a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d611ab70a4883" /><Relationship Type="http://schemas.openxmlformats.org/officeDocument/2006/relationships/notesSlide" Target="/ppt/notesSlides/notesSlide12.xml" Id="R4ea6339ba4a046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aea761c3e463a" /><Relationship Type="http://schemas.openxmlformats.org/officeDocument/2006/relationships/image" Target="/ppt/media/image17.png" Id="R59fbda1cb4e54c1c" /><Relationship Type="http://schemas.openxmlformats.org/officeDocument/2006/relationships/image" Target="/ppt/media/image17.svg" Id="R2f7e26c630ae47b7" /><Relationship Type="http://schemas.openxmlformats.org/officeDocument/2006/relationships/notesSlide" Target="/ppt/notesSlides/notesSlide13.xml" Id="Rc61b91e9bf39476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A291A6-E332-4F91-97F0-65CDA4E6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2C544-84EA-4D69-8289-D8C9180A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64389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88E06-2524-43D3-BBEA-B1C8D1C2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781050"/>
            <a:ext cx="42672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95E69-92EC-41FC-B80D-0A9DC91B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781050"/>
            <a:ext cx="952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BCEAD-197D-4FE4-BD97-8CA4B39B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47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MODÈLE INSTITUTIONNEL | SERVICE ET GOUVERNANCE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D14CF-C826-423C-B0D2-F05D3ADE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5334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Transformer l'IA</a:t>
            </a:r>
          </a:p>
          <a:p xmlns:a="http://schemas.openxmlformats.org/drawingml/2006/main">
            <a:pPr algn="l">
              <a:defRPr sz="31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 impact utile et</a:t>
            </a:r>
          </a:p>
          <a:p xmlns:a="http://schemas.openxmlformats.org/drawingml/2006/main">
            <a:pPr algn="l">
              <a:defRPr sz="31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gouverné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26249-1196-458A-8B16-C29CF853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552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Une proposition construite à partir du cadre TransferAI, puis traduite dans le contexte du prospect autour de quatre terrains d'impact : qualité de service, coordination, pilotage, diffusion des procédures et renforcement des capacités.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08C66-1491-40C4-9435-FBB774CE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3137D-0690-48FA-A685-3B86B314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361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TransferAI est le hub IA de Nettelecom CI.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76D6E-2873-490C-8AB2-A77F54DC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Point d'entrée recommandé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65269-206C-4DE0-9E0B-712AA45C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 + échange expert de 30 minutes pour qualifier les priorités, les indicateurs de preuve et la bonne séquence de déploiement.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DB7D5-F74B-4DD6-AD6C-5D66C33D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31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B7A90-D60C-4048-AC69-1F3ABD95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819F3-0DD9-4395-A97A-92004E43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768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25800-B20F-49A8-BAC2-61C87F6B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626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4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4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premier livrable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8E648-8539-4BD9-B623-CC3C1128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5310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lecture claire des gains rapides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9F203-B06B-4821-A59E-693715FD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43500"/>
            <a:ext cx="131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E7D5B-FD5A-4A00-A953-576898C6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1495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B45B6-C686-43A4-A30E-7CE03E92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768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A648A-3929-449A-BDB2-D09B3E25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626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4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4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experts 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9F2EFD-7414-495A-880B-923DCA4B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75310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mobilisés via TransferAI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E3544D-4FAE-4494-98A2-4DECC167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43500"/>
            <a:ext cx="131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B40B2-C4A4-4950-B26F-3DD011B9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31495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128463-4D6A-43FA-970E-FD18BBEB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768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+30 %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011B93-B205-44DB-BDB7-8F3DDD84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5626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4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4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productivité benchmark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E20544-A74D-4E97-BED5-E066DFD1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5310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sur des flux répétitifs comparables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77DE66-990F-41F5-8E9B-5087AADE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43500"/>
            <a:ext cx="131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687899-B68A-427E-A623-B52D157D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31495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92D309-1D0D-4CED-981A-58192A42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768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-45 %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D93D51-A570-4AC2-A2B5-158333DD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5626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4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4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effort de formation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AA6D34-7579-4621-BD49-51C1863E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75310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benchmark onboarding / diffusion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EB499D-BF68-4EE5-B7A5-08962F63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162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 QUE NOUS PROPOSONS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49CA1D-B870-409E-B571-6A4A76FD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668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Une offre exécutive,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maîtrisée et adaptée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 cadre institutionnel.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33FBEB-CDD1-429A-9990-9B2BA769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28900"/>
            <a:ext cx="3219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4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4E1"/>
                </a:solidFill>
                <a:latin typeface="Aptos"/>
                <a:ea typeface="Aptos"/>
                <a:cs typeface="Aptos"/>
              </a:rPr>
              <a:t>• Partir des vrais enjeux de service et de coordination</a:t>
            </a:r>
          </a:p>
          <a:p xmlns:a="http://schemas.openxmlformats.org/drawingml/2006/main">
            <a:pPr algn="l">
              <a:defRPr sz="1125" b="0">
                <a:solidFill>
                  <a:srgbClr val="C9D4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4E1"/>
                </a:solidFill>
                <a:latin typeface="Aptos"/>
                <a:ea typeface="Aptos"/>
                <a:cs typeface="Aptos"/>
              </a:rPr>
              <a:t>• Cadrer des cas d'usage utiles avant tout déploiement</a:t>
            </a:r>
          </a:p>
          <a:p xmlns:a="http://schemas.openxmlformats.org/drawingml/2006/main">
            <a:pPr algn="l">
              <a:defRPr sz="1125" b="0">
                <a:solidFill>
                  <a:srgbClr val="C9D4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4E1"/>
                </a:solidFill>
                <a:latin typeface="Aptos"/>
                <a:ea typeface="Aptos"/>
                <a:cs typeface="Aptos"/>
              </a:rPr>
              <a:t>• Former les bonnes équipes au bon niveau</a:t>
            </a:r>
          </a:p>
          <a:p xmlns:a="http://schemas.openxmlformats.org/drawingml/2006/main">
            <a:pPr algn="l">
              <a:defRPr sz="1125" b="0">
                <a:solidFill>
                  <a:srgbClr val="C9D4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4E1"/>
                </a:solidFill>
                <a:latin typeface="Aptos"/>
                <a:ea typeface="Aptos"/>
                <a:cs typeface="Aptos"/>
              </a:rPr>
              <a:t>• Lancer un pilote avec supervision et mesure des résultats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8982CD-6780-408A-9D48-6E6856B6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0"/>
            <a:ext cx="3143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67"/>
          </a:solidFill>
          <a:ln xmlns:a="http://schemas.openxmlformats.org/drawingml/2006/main" w="9525">
            <a:solidFill>
              <a:srgbClr val="24466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C5FC2D-C6D4-4A65-ADF4-00B3FF3D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7E5F3"/>
                </a:solidFill>
                <a:latin typeface="Aptos"/>
                <a:ea typeface="Aptos"/>
                <a:cs typeface="Aptos"/>
              </a:rPr>
              <a:t>Promesse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91CDD1-726C-424B-AA86-90E2DC1F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76750"/>
            <a:ext cx="2724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Faire de l'IA un levier de qualité de service, de coordination et de rigueur opérationnelle pour le prospect.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3E8C7A-D595-4394-9976-BC8D4ED8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006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F"/>
          </a:solidFill>
          <a:ln xmlns:a="http://schemas.openxmlformats.org/drawingml/2006/main" w="9525">
            <a:solidFill>
              <a:srgbClr val="2F587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22E5D9-B70D-48CC-A6FB-8803327D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5305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Important : les chiffres de ROI affichés dans ce deck sont des benchmarks de référence TransferAI, à confirmer sur les données du prospect pendant l'audit.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0DDA1A-75F1-4F0B-87D7-792D4535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F65A60-CF89-4F7D-87BB-A6E24B04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Hub IA de Nettelecom CI | Modèle deck institutionnel premium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DC4A38-620F-4AA9-9F1E-3DDC8FCC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71722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9D4B68-7839-4BF4-A0ED-2D807E40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31F8B-A9FF-47A6-B79C-28150B1F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SOMMAIRE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4F1EE-9A31-4ED5-9B1A-A25DA7FC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parcours de lecture recommandé pour un deck institutionnel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DE625-5C05-41C9-8B82-05D711B6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sommaire rassure la direction, structure la lecture en PDF et prépare les deux temps forts du deck : ce que nous avons compris, puis ce que nous recommandons dans un cadre gouverné.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81B43-DCD7-45C4-AAF0-6F5D665A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4483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751B1-333B-47C4-A8D6-2CE1CBAB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Chemin de lecture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FB6CF-6D0C-4EA5-96BE-B00A62EA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B860A-6D95-4F6D-87E9-D59B08DC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C7426-03D7-4E18-BE88-16CC9883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765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DF184-9EA6-4F4A-88E2-633BF765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7180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Impact et 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93620-E598-4BF4-8748-3EC84A9B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718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 que l'on cherche à améliorer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97DEF-3B43-4302-BDE3-7EDA4904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99AE6-E70F-47BE-A1D5-CB1D6D1B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D70D6-FF65-4AA4-B234-74EB6F32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2900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B0A1A-6017-4020-82D7-DABA0E09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242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Cadre TransferAI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215E5-58F9-475C-B2E4-8361CF82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242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qui porte l'exécution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83148-1618-4D4F-BA05-B5A552CA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9439E-A7EB-4EF9-BF99-A679158A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84F77-9FAA-4348-A256-9DE6B861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814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B6B77-ACC3-4599-BE62-C9DE76E8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7670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Enjeux de 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8048E-E5E2-44F5-B5B9-FE762AE4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767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où la valeur devient visible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E471A8-49AB-4D09-AB90-1E90D5A0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8B5B67-58EC-44CB-9F01-DBE4F1F8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755A77-36B3-4AFA-93F5-8BD4E956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3390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6FAEAB-9A15-4156-9458-369AE72D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291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Gouvernance et capacités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644B3E-74C4-47E6-9EFE-F7C07D85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291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 qu'il faut sécuriser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8F1B7F-CC6A-4383-ADF9-0B976D1C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12D3BB-44D0-4A91-876F-5BDBFCDB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030F64-DB43-4FEF-A6C8-3E66088B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863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7E4A07-9DEB-4B7F-B823-826EEC2E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8160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Feuille de route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6CFBE0-5BC1-4482-B106-EE57CA85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1816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 que l'on recommande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F6BF9A-9813-4199-BB21-E76A6BDA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48958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40AE9B-09E3-4B05-B6DD-C350F344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90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LECTURE DÉCISIONNELLE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9DE5AE-229E-493E-86E9-57040636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956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 deck court,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mais guidé comme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 cadre d'action.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AF11B7-4036-4108-B691-98CADAF0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33850"/>
            <a:ext cx="2914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1. Comprendre les enjeux de service.</a:t>
            </a:r>
          </a:p>
          <a:p xmlns:a="http://schemas.openxmlformats.org/drawingml/2006/main">
            <a:pPr algn="l">
              <a:defRPr sz="1050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2. Donner des indicateurs de preuve crédibles.</a:t>
            </a:r>
          </a:p>
          <a:p xmlns:a="http://schemas.openxmlformats.org/drawingml/2006/main">
            <a:pPr algn="l">
              <a:defRPr sz="1050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3. Recommander un premier pilote gouverné.</a:t>
            </a:r>
          </a:p>
          <a:p xmlns:a="http://schemas.openxmlformats.org/drawingml/2006/main">
            <a:pPr algn="l">
              <a:defRPr sz="1050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4. Finir sur une prochaine étape simple : audit IA + échange expert de 30 minutes.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718194-A77D-4FF8-8ADA-7B1D2E57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95600"/>
            <a:ext cx="1257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67"/>
          </a:solidFill>
          <a:ln xmlns:a="http://schemas.openxmlformats.org/drawingml/2006/main" w="9525">
            <a:solidFill>
              <a:srgbClr val="24466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D4CB54-B0FA-41BE-BE7D-F1CA911A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813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PDF ready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609BF1-942F-445F-A523-FDE403B3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lecture rapide direction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40CA9B-50F1-4EB0-B0FA-7AFF6812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981450"/>
            <a:ext cx="1257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67"/>
          </a:solidFill>
          <a:ln xmlns:a="http://schemas.openxmlformats.org/drawingml/2006/main" w="9525">
            <a:solidFill>
              <a:srgbClr val="24466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633126-C0F8-4603-A8C5-BF4BBA55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672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 temps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2526A0-713F-4657-8F68-872C402A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148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comprendre puis cadrer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B545A2-F279-4E36-9781-A91385E7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5D5335-8BFD-42F7-A195-2D38D97F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Hub IA de Nettelecom CI | Modèle deck institutionnel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7DDA0B-4E0A-4AE6-9E1E-80417DDD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674995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DF0B1C-4034-4168-A621-E965FCFA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E1B95-F2D8-4448-8C14-34EEB29E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9C4E9-BDEB-4EDF-9D9D-BFEF9D14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62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731BC-CB08-45FA-BEB1-92FE3C91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62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 QUE NOUS AVONS COMPRIS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2F3CE-ABCD-409B-B0FB-443329E2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24000"/>
            <a:ext cx="6096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Les slides qui cadrent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les enjeux de service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avant de parler déploiement.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B0D5A-FE4F-4FF0-AE2A-4DFB9DD6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Cette première partie du deck doit montrer que nous comprenons les priorités institutionnelles, les irritants visibles et les indicateurs de preuve qui feront foi pour la direction.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BAD40-A6D0-41FD-905C-6EEFE6B5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57300"/>
            <a:ext cx="37528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67"/>
          </a:solidFill>
          <a:ln xmlns:a="http://schemas.openxmlformats.org/drawingml/2006/main" w="9525">
            <a:solidFill>
              <a:srgbClr val="2446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F4153-E2E0-4AB4-8FDF-CC32DD69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859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E5F3"/>
                </a:solidFill>
                <a:latin typeface="Aptos"/>
                <a:ea typeface="Aptos"/>
                <a:cs typeface="Aptos"/>
              </a:rPr>
              <a:t>Cette section doit prouver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B1F1C-08E7-44DB-9EC9-9F8444E7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33550"/>
            <a:ext cx="3257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Nous ne venons pas avec un catalogue. Nous partons des flux qui coûtent déjà du temps, de la rigueur, de la coordination et de la qualité de service.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A511B-7AED-4C27-AD54-9DD3FC0A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00400"/>
            <a:ext cx="3752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F"/>
          </a:solidFill>
          <a:ln xmlns:a="http://schemas.openxmlformats.org/drawingml/2006/main" w="9525">
            <a:solidFill>
              <a:srgbClr val="2F587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6DCB4-CBA4-441E-A9D5-59989049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290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FE0F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FE0F0"/>
                </a:solidFill>
                <a:latin typeface="Aptos"/>
                <a:ea typeface="Aptos"/>
                <a:cs typeface="Aptos"/>
              </a:rPr>
              <a:t>Promesse de lecture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1947A-AE54-4041-A9E6-29E81997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14750"/>
            <a:ext cx="3105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Comprendre avant de cadrer.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FF511-CC2D-46A1-A220-B4E996C6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05300"/>
            <a:ext cx="320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La crédibilité institutionnelle se joue ici : ancrage local, preuve d'exécution et lecture claire des enjeux de service.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0C840-B7EB-4400-9E42-4A72940D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B2B8B-200B-47DD-9F9D-EC619C1A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Hub IA de Nettelecom CI | Modèle deck institutionnel premium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1E632-6D05-4D41-BCF7-14559C80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282051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87E312-9109-4330-8C61-432CDF1D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9D252-5B43-48AD-8EE2-B0474D73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QUI SOMMES-NOUS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839BB-CFB7-46C4-852D-3A851FE6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191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TransferAI, le hub IA de Nettelecom CI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F528E-5B78-4872-991D-806D61D6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23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crédibilité de l'offre dépend d'un point simple : qui porte l'exécution, avec quelle profondeur d'expertise et dans quel cadre de confiance.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A7E38-3072-4432-833B-D508A667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1148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17125-7022-4C2F-8D48-01143953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7E5F3"/>
                </a:solidFill>
                <a:latin typeface="Aptos"/>
                <a:ea typeface="Aptos"/>
                <a:cs typeface="Aptos"/>
              </a:rPr>
              <a:t>TransferAI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CB94D-E115-45C2-812E-7C34AEA3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276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plateforme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d'exécution IA de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Nettelecom 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8B693-7D6C-4BD4-A5B6-53A13D0A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272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TransferAI relie stratégie, formation, gouvernance et déploiement progressif pour transformer l'IA en résultats utiles.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4049F-A788-45B0-949F-F13729BA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67"/>
          </a:solidFill>
          <a:ln xmlns:a="http://schemas.openxmlformats.org/drawingml/2006/main" w="9525">
            <a:solidFill>
              <a:srgbClr val="2446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89B99-5B85-44C1-8557-D2EE6CD4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 partenaire structuré pour cadrer, former et déployer.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4F74E-6638-43F1-AD64-009085F4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71700"/>
            <a:ext cx="2857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EF5F8-15E0-49B3-9B5D-B87F2D32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6226336824f56">
            <a:extLst>
              <a:ext uri="{96DAC541-7B7A-43D3-8B79-37D633B846F1}">
                <asvg:svgBlip xmlns:asvg="http://schemas.microsoft.com/office/drawing/2016/SVG/main" r:embed="Rc64061dd47e64f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24765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412E7-AA1F-4EA3-8C78-33E0B60D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812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13 experts mobilisables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1CC4D-AC66-4A2F-A9B2-B8485F72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57500"/>
            <a:ext cx="2247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équipe mobilisable sur le diagnostic, la formation, la gouvernance et les premiers déploiements.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4BDBB-8852-408C-BBD4-EE692943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335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CD8DF-CE73-4150-AD96-14387301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c756253dd4001">
            <a:extLst>
              <a:ext uri="{96DAC541-7B7A-43D3-8B79-37D633B846F1}">
                <asvg:svgBlip xmlns:asvg="http://schemas.microsoft.com/office/drawing/2016/SVG/main" r:embed="Ra769731b2cae4e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58200" y="24765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96EB4-180B-4268-BA0C-10703C82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81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Expertises multi-secteurs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CF3DE-2E14-4DF0-8806-577D7E84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2743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expertises capables d'adapter les usages IA aux réalités opérationnelles de chaque organisation.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8A7D13-CA72-44BF-9EFA-5BF9D441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90950"/>
            <a:ext cx="2857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F0E740-0BB9-4203-ACCD-AAFAD39B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00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80b88641945ed">
            <a:extLst>
              <a:ext uri="{96DAC541-7B7A-43D3-8B79-37D633B846F1}">
                <asvg:svgBlip xmlns:asvg="http://schemas.microsoft.com/office/drawing/2016/SVG/main" r:embed="R807a881d11d243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40957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343CD-E3BA-49F4-8AE2-CC153219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00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logique d'exécution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CE0CE0-92FF-4227-865F-475AE93A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7675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Nous ne présentons pas seulement l'IA : nous cadrons, priorisons, formons et transformons un besoin flou en trajectoire lisible.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6D326E-8D1E-4810-9B32-93801190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90950"/>
            <a:ext cx="335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775D0E-A7B0-46DB-B384-4BC5FD16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00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a2ce793dd4928">
            <a:extLst>
              <a:ext uri="{96DAC541-7B7A-43D3-8B79-37D633B846F1}">
                <asvg:svgBlip xmlns:asvg="http://schemas.microsoft.com/office/drawing/2016/SVG/main" r:embed="Rcfe6b33eba7e4c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58200" y="40957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C3F11F-31D9-4C67-9DB2-8FA38BCC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00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Cadre de confiance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921565-8F8F-45DC-98C8-1E593121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approche sérieuse de la confidentialité, des accès, de la supervision et du passage du pilote à l'échelle.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20778B-AED3-460E-AF3D-B45B59EC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F934C3-A5DE-4834-BE79-894ABECA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Pourquoi l'ajouter tôt dans le deck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ABB9A7-4B90-4679-BD70-B9A83D01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781675"/>
            <a:ext cx="798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Avant de parler ROI, le prospect doit voir une structure crédible, locale, encadrée et capable d'exécuter.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F0F135-5418-4451-84E5-98581C54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E25635-E9CA-44C4-AEF2-E39A6E63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Hub IA de Nettelecom CI | Modèle deck institutionnel premium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0493B8-9F1D-462D-A55D-07A7CB78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958615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FC749E-DF52-4813-8D98-645FB499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DA666-AE99-4DE0-B519-575FBBC3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ENJEUX TRANSVERSAUX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86BD0-466D-4484-96EB-5FCE2877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Pourquoi cette proposition peut parler à toute organisation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200D1-C02E-4022-9EF2-47F3729A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04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L'objectif n'est pas d'ajouter un outil de plus. Il s'agit de mieux piloter, mieux coordonner et mieux exploiter l'information utile là où l'exécution ralentit.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4DD47-A09D-464A-8B3D-1802524F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571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940A5-C424-4FDE-B05E-B625D47D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3f30ecaf84495">
            <a:extLst>
              <a:ext uri="{96DAC541-7B7A-43D3-8B79-37D633B846F1}">
                <asvg:svgBlip xmlns:asvg="http://schemas.microsoft.com/office/drawing/2016/SVG/main" r:embed="Rd156b42191cf42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2628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2EFA2-D6CB-45A5-A716-CD917950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717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Coordination et suivi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446DA-790F-4D6F-8DEF-898A3A0D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41CBE-93CF-4BF2-91EE-466F70A7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L'information utile circule mal entre les équipes, les validations et les points de contact.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52BAD-59A4-4898-8437-166A30A4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90C98-15B6-4F93-AD45-0A4EF55E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Décisions plus lisibles, suivi plus régulier et moins de perte entre acteurs.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7BD51-8853-47CF-8792-86092404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2571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55621-2BAA-47BE-9084-FD8863BC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33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e397897854c37">
            <a:extLst>
              <a:ext uri="{96DAC541-7B7A-43D3-8B79-37D633B846F1}">
                <asvg:svgBlip xmlns:asvg="http://schemas.microsoft.com/office/drawing/2016/SVG/main" r:embed="R23bc5f78935f47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14750" y="2628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352E1-4776-4CD9-AC54-32D1511B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717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et reporting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F56A55-F87C-4896-BDA1-8C754EA9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908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87B46-9B13-4454-9E5F-9DC396DE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623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données existent, mais restent longues à consolider, commenter et exploiter.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D9D81-AC87-4A7B-B2D0-F45AD710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004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A9DFE0-D8F3-4FEE-82F1-0776EDF9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71900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Synthèses plus rapides, alertes plus simples et meilleure lecture des priorités.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A2C63D-F5D6-4D0A-AB49-62625086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2571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C4073-5456-4DF3-B1A1-33FFD317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ee91115e24e1b">
            <a:extLst>
              <a:ext uri="{96DAC541-7B7A-43D3-8B79-37D633B846F1}">
                <asvg:svgBlip xmlns:asvg="http://schemas.microsoft.com/office/drawing/2016/SVG/main" r:embed="Rdbd08e8b00f54f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7000" y="2628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A69C40-5259-4227-8296-1869BABA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Qualité de 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7ECD57-8FE6-4AAA-B347-DEC824F6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08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3CE9D0-21C5-492A-B689-F3331C17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Réponses variables, délais inégaux et continuité de service difficile à tenir.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794977-A362-4ED8-AE56-E0E53547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004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4A220F-F9E0-4F41-A5BA-7A0AB625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71900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Réponses plus homogènes, délais mieux suivis et expérience mieux maîtrisée.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5FDAD2-0C80-4713-B438-00D42031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62200"/>
            <a:ext cx="2533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C11CBD-8612-4232-A151-BC8DD640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33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08d85fe9f4759">
            <a:extLst>
              <a:ext uri="{96DAC541-7B7A-43D3-8B79-37D633B846F1}">
                <asvg:svgBlip xmlns:asvg="http://schemas.microsoft.com/office/drawing/2016/SVG/main" r:embed="Rf0d91cd9ba5c46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39250" y="2628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A8674C-FABE-4A97-A2A9-290542DD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71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Procédures et connaissances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22D623-FA2F-4000-9D5E-F641CA68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908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DD072B-DFC4-4391-9EDF-4AB9140B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6230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standards existent, mais restent dispersés dans les documents et les équipes.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E6D06B-C370-4EBD-8F6C-4EA06F98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004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C24454-4C33-41BF-AEFB-D25FA203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71900"/>
            <a:ext cx="2114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Accès plus rapide aux bonnes pratiques, onboarding plus fluide et exécution plus cohérente.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16461D-D600-44F6-A531-DB73E7C1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1502BF-DE19-4BFB-950F-0ED3F536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FE0F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FE0F0"/>
                </a:solidFill>
                <a:latin typeface="Aptos"/>
                <a:ea typeface="Aptos"/>
                <a:cs typeface="Aptos"/>
              </a:rPr>
              <a:t>Le bon angle commercial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7882CC-EDBF-4556-8052-88EB00BF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552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Partir des points de friction qui ralentissent déjà l'exécution.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7EF01C-966D-48E7-9F62-87994375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7680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TransferAI ne vend pas un catalogue. TransferAI part des flux où le temps, la coordination et la qualité de service se dégradent déjà.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DAA318-69FF-4E22-9B00-0561B892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D76403-8C82-499E-97C0-30F8DAE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Hub IA de Nettelecom CI | Modèle deck institutionnel premium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6AEAFA-1927-45F7-9266-802CE4F3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301505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906570-03BC-417F-A00A-0F3DD0FA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4CB76-897A-4C85-95CD-B46C03D6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6191A-CCAB-4936-9281-47DE66E4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D69DF-BC9E-4C57-8935-20BC46A0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ROI devient crédible quand il est instrumenté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8127D-DD00-4BEF-9BF2-43648588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2514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81B87-A7E5-4C70-B5D5-338B29FA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+30 %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9DE7D-F532-4F5B-89B5-4B0AA026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productivité benchmark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90672-242D-413F-8E27-D52DCE4D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flux répétitifs et préparation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1C3BB-F079-4C52-A694-C614451C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09700"/>
            <a:ext cx="2514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8EF71-E7E7-4901-839D-9E7532DE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8115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-45 %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5FFEA-4CD1-4084-94C5-8FB4277D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1930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effort de 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49A57-2CDB-47F4-ADEB-0D276470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9075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onboarding et diffusion interne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25361-2B3F-4E06-888B-D1954B3B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2514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95824-012A-44C4-958A-3E78CB2C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8115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J+15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448FB-32F9-4D0F-8369-EC372195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1930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premier livrable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97360-B9B7-43D0-81DE-B04FFC35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audit, cadrage et priorisation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49507-1A24-4D50-9351-7433CA10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09700"/>
            <a:ext cx="270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534C53-5D8D-46EB-B469-62B7BFB7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811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3,2x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0D6C6-A7FB-46AC-A192-86F5650D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19300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potentiel de ROI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DC1625-AF80-4CFA-BC36-A9C1288C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90750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références TransferAI comparables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6791B-B51F-4105-8A32-F9EBB684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0DDE7-46B0-43F4-8AB5-F8096D75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Productivité et délai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11B7FA-1C99-4836-A63B-405ECBC3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485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Réduire le temps passé sur la préparation, la consolidation et la circulation de l'information.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C9CACB-E334-4D3A-850A-43085639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370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9822D9-2EBE-4766-8F6B-AC51AC28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KPI à instrumenter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C7D5DA-4345-4242-B188-428D0417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491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temps de traitement, temps de préparation, délai de réponse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667FBC-100B-4FDD-8455-2D5A6ACE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475040-5E4B-48F0-B3DB-23BE552B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Qualité de service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FBB0E4-9D31-47F2-895B-CC144388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85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Rendre les réponses plus cohérentes, mieux tracées et plus faciles à superviser.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04EE15-8B6F-4FAA-A5E6-A192ECE9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067E2F-9092-43F6-AC37-63A60ED0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KPI à instrumenter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774837-9D8D-426D-9A7E-A1526D78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491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qualité perçue, taux de réouverture, délai de clôture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139D06-779B-4E75-B09F-5019DCEB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2125F8-8C93-4CD8-8B6B-BCFB0896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Capitalisation et adoption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06E800-6E06-4D16-A24A-86248D69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485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Accélérer l'accès aux procédures, l'onboarding et l'appropriation des nouveaux usages.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E148F7-9C1B-492E-B892-75BFBFBB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70F92F-78EB-4889-8C7E-4444109D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01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KPI à instrumenter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DB62F0-894B-4B3D-9383-C40E1ED8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491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temps d'onboarding, temps de recherche, taux d'usage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BF63DD-A411-4369-B447-84A4A679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D6FEA8-48F4-4A70-A851-1E2CD592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Important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D497B6-CCAE-4DBE-8702-449430BC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959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chiffres ci-dessus servent de repères. Les gains réels seront calibrés à partir des volumes, des processus et des données du prospect.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EDFF9B-5B28-4735-ABF7-3EFE1C26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800D53-29CB-43F3-88EF-BE22F2F4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Hub IA de Nettelecom CI | Modèle deck institutionnel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933E78-945A-4713-AA36-5FD6B77C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163121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479833-8C97-4657-B532-3E66FE90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B0C38-D096-43BA-83FC-E18BADCA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CAS D'USAGE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4A86C-7FAA-47DB-B812-6941E15C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4 familles de cas d'usage à prioriser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79D83-27AF-4162-BE61-0BBD94B4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deck doit montrer des familles d'usages adaptables, pas des scénarios déjà figés pour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94555-96D1-4086-B972-CCC28653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143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82948-7040-48F4-9CD8-8948D83C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9fba671c24992">
            <a:extLst>
              <a:ext uri="{96DAC541-7B7A-43D3-8B79-37D633B846F1}">
                <asvg:svgBlip xmlns:asvg="http://schemas.microsoft.com/office/drawing/2016/SVG/main" r:embed="Rbd47094761234d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2438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122B8-8F73-4E4B-898A-87CF2E41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81250"/>
            <a:ext cx="422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1. Relation usagers / clients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9FDCE-C3D7-4F9A-B39A-6CFB3AC3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51B12-FAAC-45DD-B64F-0A85029E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472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Demandes récurrentes, réponses hétérogènes et historique peu exploité.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D8D6E-403E-4A19-963F-AB0D9A63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1E765-B8B9-4163-9048-3F3CB672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472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Réponses assistées, suivi continu et meilleure qualité de service.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D70A1-B57B-4C0B-A1C5-50D1FAFC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5410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2DC5F-E1FA-4841-B3B3-500851C9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8f52f695814555">
            <a:extLst>
              <a:ext uri="{96DAC541-7B7A-43D3-8B79-37D633B846F1}">
                <asvg:svgBlip xmlns:asvg="http://schemas.microsoft.com/office/drawing/2016/SVG/main" r:embed="R839e2cd1fd9447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62700" y="2438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BE56A-3648-4013-9A38-2627275D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449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2. Back-office et reporting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E2F6D-A6CC-4949-99AD-19BC477F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09190-41EB-4A9D-AC76-2879CA58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71800"/>
            <a:ext cx="499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Consolidations, contrôles et synthèses encore très manuels.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1602B-D669-440B-AF46-C2815882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815A84-299F-4F81-B0D4-7C819D2F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81400"/>
            <a:ext cx="4991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Préparation plus rapide, reporting mieux structuré et alertes utiles.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B3F73-6C30-4FDE-8845-6602111E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143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9BFB8-55F0-49E7-AD5E-0BB3DF04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e77da05bd4858">
            <a:extLst>
              <a:ext uri="{96DAC541-7B7A-43D3-8B79-37D633B846F1}">
                <asvg:svgBlip xmlns:asvg="http://schemas.microsoft.com/office/drawing/2016/SVG/main" r:embed="Rf6143854f84347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43053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63A474-4AB5-4E0E-BA9C-A4FD7DF2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48150"/>
            <a:ext cx="422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3. Procédures et knowledge base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92AF6D-CBCA-40AB-8DB7-6948B0DA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BE7785-E70E-4CA2-BF94-953520C7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472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Standards dispersés, transmission lente et onboarding fragile.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A6B806-841F-4A9D-ACA9-E2BFD5D1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CE31EA-3021-4F87-B47B-81793604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472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Référentiel plus accessible, exécution plus homogène et transfert plus fiable.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383A49-8F3F-4238-AC0B-EC110A3F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38600"/>
            <a:ext cx="5410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250DF4-89BC-4BC1-8469-E25D367A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1252bdf4d4cfb">
            <a:extLst>
              <a:ext uri="{96DAC541-7B7A-43D3-8B79-37D633B846F1}">
                <asvg:svgBlip xmlns:asvg="http://schemas.microsoft.com/office/drawing/2016/SVG/main" r:embed="R3a6123a1d9ab46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62700" y="43053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C16D8F-E332-4FA5-A2DE-AE4943AD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48150"/>
            <a:ext cx="449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4. Aide à la décision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BDC9B5-00CC-4705-858C-45F6348B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672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FC2290-FE2B-4720-9C57-7D05AEB1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38700"/>
            <a:ext cx="499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Décisions prises avec une lecture partielle ou tardive des données utiles.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FDF198-7BA1-4B3C-A947-7453542B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768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C141FA-9463-4AC1-849C-C17D054B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48300"/>
            <a:ext cx="4991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Synthèses plus lisibles, signaux utiles et arbitrages mieux préparés.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64CC67-02FA-432A-93D1-0332D9D0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FBEE88-41F9-459D-BB2B-62315F80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Hub IA de Nettelecom CI | Modèle deck institutionnel premium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1927B9-02C9-48DC-B1B3-AE7DBB82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136066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29E553-A9C7-401B-BA47-01EACDB3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3EB14-8202-49DF-8E8F-4A4B0F2C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A3E5B-3B2A-4616-A4B2-C505DB84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62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75466-F1D4-4561-82B8-443F7A71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62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 QUE NOUS RECOMMANDONS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9379C-C66F-4E14-9659-D62E530F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24000"/>
            <a:ext cx="6096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Transformer les enjeux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 feuille de route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gouvernée.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C1F44-AC1C-409D-B0CD-66FE14F3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À partir des priorités repérées, le deck doit montrer comment TransferAI cadre, forme, pilote et mesure sans brûler les étapes.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D5138-AAAE-43A2-BF52-3A735AE2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57300"/>
            <a:ext cx="37528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67"/>
          </a:solidFill>
          <a:ln xmlns:a="http://schemas.openxmlformats.org/drawingml/2006/main" w="9525">
            <a:solidFill>
              <a:srgbClr val="2446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2199F-55A1-4BD4-B27F-D1D8CB79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859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E5F3"/>
                </a:solidFill>
                <a:latin typeface="Aptos"/>
                <a:ea typeface="Aptos"/>
                <a:cs typeface="Aptos"/>
              </a:rPr>
              <a:t>Ce que le prospect doit retenir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11CD1-ABC9-43F9-9E58-28FC8954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33550"/>
            <a:ext cx="3257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TransferAI aide à choisir un point de départ, à cadrer le pilote, à former les bonnes équipes et à mesurer si l'extension est justifiée.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418D4-F148-4F7E-9189-CBB1BAE5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00400"/>
            <a:ext cx="3752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F"/>
          </a:solidFill>
          <a:ln xmlns:a="http://schemas.openxmlformats.org/drawingml/2006/main" w="9525">
            <a:solidFill>
              <a:srgbClr val="2F587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115202-450E-4851-9E7D-36B1E241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290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FE0F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FE0F0"/>
                </a:solidFill>
                <a:latin typeface="Aptos"/>
                <a:ea typeface="Aptos"/>
                <a:cs typeface="Aptos"/>
              </a:rPr>
              <a:t>Fil conducteur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90575-947E-47E5-BA1B-6D4E726F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14750"/>
            <a:ext cx="3105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Recommander sans surpromettre.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7DE42-ED12-4A87-84F8-F68B0D73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05300"/>
            <a:ext cx="320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Un pilote utile, encadré et lisible vaut mieux qu'un grand plan trop large dès le départ.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E3C32-1F17-462F-BFD2-CBDC0174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E21F0-BB53-45BA-8588-A921C08F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Hub IA de Nettelecom CI | Modèle deck institutionnel premium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D572C-0BBF-47C3-8E8B-B43321AB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782267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24EC56-73CE-4389-B685-0AA8113F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43D5F-6420-4E9C-AC39-E992A64F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DÉTAIL DES CAS D'USAGE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DE05F-E9EE-4FE0-AB9B-7C311794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Deux portes d'entrée qui rendent la valeur vite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0FAC9-17F2-44DF-8562-EA330F28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un premier pilote, mieux vaut démarrer par des usages simples à démontrer pour la direction et utiles aux équipes.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35384-1883-4976-A61C-EE670B53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143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1B437-26D8-430C-B378-E0AAF708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a2f4e46ab4686">
            <a:extLst>
              <a:ext uri="{96DAC541-7B7A-43D3-8B79-37D633B846F1}">
                <asvg:svgBlip xmlns:asvg="http://schemas.microsoft.com/office/drawing/2016/SVG/main" r:embed="R3332530ba39748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24574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43059-7D63-445D-B38A-07B90EC2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Productivité interne et reporting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1C79A-A1F6-426D-8BD9-61CFB350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B4AE6-E376-4BD1-9C91-2D502B36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préparations manuelles</a:t>
            </a:r>
          </a:p>
          <a:p xmlns:a="http://schemas.openxmlformats.org/drawingml/2006/main">
            <a:pPr algn="l">
              <a:defRPr sz="9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synthèses longues à produire</a:t>
            </a:r>
          </a:p>
          <a:p xmlns:a="http://schemas.openxmlformats.org/drawingml/2006/main">
            <a:pPr algn="l">
              <a:defRPr sz="9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informations dispersées entre supports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FF4EB-FA2C-49A0-A05D-E470DB1E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B9C2C-FFF7-4320-9573-DA2601ED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brouillons assistés</a:t>
            </a:r>
          </a:p>
          <a:p xmlns:a="http://schemas.openxmlformats.org/drawingml/2006/main">
            <a:pPr algn="l">
              <a:defRPr sz="938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synthèses pré-structurées</a:t>
            </a:r>
          </a:p>
          <a:p xmlns:a="http://schemas.openxmlformats.org/drawingml/2006/main">
            <a:pPr algn="l">
              <a:defRPr sz="938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lecture plus rapide des points critiques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E5DB7-E5C5-4AB1-9E18-CD2380E2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4667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1B116-CF04-40B9-A037-FC58CCD4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434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: temps de préparation | temps de consolidation | délai de production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9F5DB-3A75-46A0-AFC9-DE54F4EE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54102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5898C-5C16-462A-B579-CA06A563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092147f0346d8">
            <a:extLst>
              <a:ext uri="{96DAC541-7B7A-43D3-8B79-37D633B846F1}">
                <asvg:svgBlip xmlns:asvg="http://schemas.microsoft.com/office/drawing/2016/SVG/main" r:embed="R4a372ce378ea48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00800" y="24574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FF8CC-D1A6-4053-93D2-69348118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Qualité de service et coordination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61194-23FE-4C0A-BFF3-105DF33A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5F07AD-ABC8-4D2E-8393-00F90759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86100"/>
            <a:ext cx="4743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réponses inégales</a:t>
            </a:r>
          </a:p>
          <a:p xmlns:a="http://schemas.openxmlformats.org/drawingml/2006/main">
            <a:pPr algn="l">
              <a:defRPr sz="9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suivi difficile à tracer</a:t>
            </a:r>
          </a:p>
          <a:p xmlns:a="http://schemas.openxmlformats.org/drawingml/2006/main">
            <a:pPr algn="l">
              <a:defRPr sz="9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dépendance aux personnes clés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75B667-B6FE-49F7-9388-247D83BB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F713A-C2FB-4F45-96BC-9E535C7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10050"/>
            <a:ext cx="4743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canevas de réponse</a:t>
            </a:r>
          </a:p>
          <a:p xmlns:a="http://schemas.openxmlformats.org/drawingml/2006/main">
            <a:pPr algn="l">
              <a:defRPr sz="938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suivi plus homogène</a:t>
            </a:r>
          </a:p>
          <a:p xmlns:a="http://schemas.openxmlformats.org/drawingml/2006/main">
            <a:pPr algn="l">
              <a:defRPr sz="938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continuité de service renforcée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8A8DB-C6DE-4388-9C53-09E385A8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95850"/>
            <a:ext cx="4743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DDB1F3-D662-4BD1-96D6-67BB0D00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43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: délai de réponse | qualité perçue | taux de réouverture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022164-1D2A-4C99-B2E0-93D5FA9A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1A20-12E7-4AAE-AA36-725F38D4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10363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Ces deux portes d'entrée parlent à la direction comme aux équipes : elles permettent de démontrer vite une valeur utile sans enfermer le pilote dans un secteur précis.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F24C08-58CE-46D5-AE51-738DAD63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561EA3-57D3-430B-AD3D-DE065FFA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Hub IA de Nettelecom CI | Modèle deck institutionnel premium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061E4F-D6DC-4E1C-BB67-82533035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895271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83E700-3F56-4A1F-995B-7A63624C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3E9F2-D8DC-4FC4-8E51-E3348C16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DÉTAIL DES CAS D'USAGE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78F74-4C69-4F73-A776-315F0149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Deux familles d'usages qui sécurisent l'adoption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D6DB2-AE2D-405A-BCE4-B8E4D625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Ces usages rendent l'IA visible dans le quotidien tout en renforçant les standards internes.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51578-0053-48A4-9BBE-76A62B1E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1435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EE36C-AE78-4C0F-90D4-7A23C876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d06c8b1564c7f">
            <a:extLst>
              <a:ext uri="{96DAC541-7B7A-43D3-8B79-37D633B846F1}">
                <asvg:svgBlip xmlns:asvg="http://schemas.microsoft.com/office/drawing/2016/SVG/main" r:embed="Raa00394ba56843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24574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D03C5-340F-45EB-BB43-2EE4A359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Support et relation usagers / clients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8497F-61FC-43BF-924D-776CF393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Usages proposés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E2651-D2D3-4A6B-B93C-3E92C683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4343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réponses assistées sur questions récurrentes</a:t>
            </a:r>
          </a:p>
          <a:p xmlns:a="http://schemas.openxmlformats.org/drawingml/2006/main">
            <a:pPr algn="l">
              <a:defRPr sz="938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canevas de réponse ou de rappel</a:t>
            </a:r>
          </a:p>
          <a:p xmlns:a="http://schemas.openxmlformats.org/drawingml/2006/main">
            <a:pPr algn="l">
              <a:defRPr sz="938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historique mieux exploitable</a:t>
            </a:r>
          </a:p>
          <a:p xmlns:a="http://schemas.openxmlformats.org/drawingml/2006/main">
            <a:pPr algn="l">
              <a:defRPr sz="938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synthèses rapides avant traitement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550CF-DE26-4651-BB6A-76939B56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66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50438-7DEE-4E26-A127-E2D7F0D7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28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: délai de réponse | qualité perçue | taux de réouverture | homogénéité des scripts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746BC-1D27-487D-90F0-A69923FC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54102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FE510-7C6C-46D9-8BB0-C6AFE884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f4abd8c0f4b94">
            <a:extLst>
              <a:ext uri="{96DAC541-7B7A-43D3-8B79-37D633B846F1}">
                <asvg:svgBlip xmlns:asvg="http://schemas.microsoft.com/office/drawing/2016/SVG/main" r:embed="Rf816369cdd0843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00800" y="24574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EBD9E-86E8-4071-BDB6-46261086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411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Procédures, knowledge base et onboarding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EFD2B6-55D3-490F-A84D-9F0AB679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Usages proposés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8AF335-CCA8-422A-9E44-8AA00C0B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86100"/>
            <a:ext cx="466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base de procédures consultable rapidement</a:t>
            </a:r>
          </a:p>
          <a:p xmlns:a="http://schemas.openxmlformats.org/drawingml/2006/main">
            <a:pPr algn="l">
              <a:defRPr sz="938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réponses homogènes pour les équipes support et métier</a:t>
            </a:r>
          </a:p>
          <a:p xmlns:a="http://schemas.openxmlformats.org/drawingml/2006/main">
            <a:pPr algn="l">
              <a:defRPr sz="938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onboarding accéléré sur les standards et points de contrôle</a:t>
            </a:r>
          </a:p>
          <a:p xmlns:a="http://schemas.openxmlformats.org/drawingml/2006/main">
            <a:pPr algn="l">
              <a:defRPr sz="938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diffusion plus simple des mises à jour internes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BA307-78AE-42CD-82C7-5CB184AA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14800"/>
            <a:ext cx="4743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A217F-88AF-4887-8D3F-EAB195A6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62450"/>
            <a:ext cx="438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: temps de recherche | temps d'onboarding | taux d'usage de la base interne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8A253-BF62-444B-A989-6AC77B00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EBBE6-B08C-4BB3-849D-CD522DDE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DF5E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DF5EF"/>
                </a:solidFill>
                <a:latin typeface="Aptos"/>
                <a:ea typeface="Aptos"/>
                <a:cs typeface="Aptos"/>
              </a:rPr>
              <a:t>Pourquoi cette slide compte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A2B175-57BE-4B32-8B82-11BF6336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L'adoption devient crédible quand elle prépare des usages visibles.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CCF29E-2EE1-4F36-A17B-3DE47817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3405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Les équipes comprennent tout de suite sur quels gestes concrets l'IA doit les aider.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C2E717-4945-4EE5-ABD2-BB76622B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9C1D8E-0F3C-4D90-9EE3-EE85A1C0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Hub IA de Nettelecom CI | Modèle deck institutionnel premium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C145B1-4B49-4FC7-A837-BEB43FE0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75277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D7AE5B-C288-4D00-AD68-5BA97BBB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E46E9-8722-4AA3-95FC-A9EF0F44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ADCD0-23D9-4058-8F30-1603E02F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pour passer du cadrage au pilote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C4CE6-A373-4C95-BAB3-D13EEAD4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bon scénario n'est pas de tout vendre d'un bloc, mais d'enchaîner les étapes utiles dans le bon ordre, avec validation à chaque palier.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4FA55-4387-4B24-A201-4BF9BD38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4384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B4722-6C99-44A7-B3C9-57142CEE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6F1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76F1D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1E576-F0B2-4BEC-AD45-5C169602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J+0 | Audit et cadrage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4E6AE-7C2B-4612-9D0F-E968E5C0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Cartographier les irritants, choisir les cas d'usage prioritaires et définir les KPI de preuve.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8D768-44C6-4985-A5D3-8546528C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47900"/>
            <a:ext cx="24384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9811C-549B-4BB1-8443-A076D6EF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8A7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C8A7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A6A88-EC75-4325-8338-F6F626CE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J+15 | Prototype ciblé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8C8E3-FD63-4872-825F-7BB8B073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premier livrable exploitable : synthèse, tableau de bord, assistant ou routine de pilotage.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884EB-AD81-4B3E-9B06-EA4998D7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47900"/>
            <a:ext cx="24384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06292-C88E-41A6-97CB-5F1701D3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55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3556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323BB-EAA2-4506-8BE3-B8655021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J+45 | Formation et pilote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E1D58-5768-4B40-A0D6-F4109694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la bonne population et lancer le pilote sur un flux concret, avec supervision et revue métier.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61B06-6D49-458E-A82A-F1383CF6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47900"/>
            <a:ext cx="28194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029AD7-BEEC-47CA-9D90-DEC1DF51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8C3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88C3A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9CF10-2F9C-45CE-859C-92EC1C50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 | ROI et extension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8E4FB-8871-4A89-A21E-EC4D459D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Mesurer les premiers résultats, documenter les apprentissages et décider ce qui mérite d'être étendu.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3A790D-BD79-45B5-B17F-1CA5CAD4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787985-5FC7-4968-9D61-B2DAF22A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FE0F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FE0F0"/>
                </a:solidFill>
                <a:latin typeface="Aptos"/>
                <a:ea typeface="Aptos"/>
                <a:cs typeface="Aptos"/>
              </a:rPr>
              <a:t>Ce que l'organisation obtient à chaque étape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225F3C-0763-4889-BF79-2EF5B3E1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priorités mieux choisies</a:t>
            </a:r>
          </a:p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cas d'usage mieux qualifiés</a:t>
            </a:r>
          </a:p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formation plus ciblée</a:t>
            </a:r>
          </a:p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décision plus simple sur le passage à l'échelle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4B29AF-3C79-4335-B7DA-BDFAAAE4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05450"/>
            <a:ext cx="701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D7E5F3"/>
                </a:solidFill>
                <a:latin typeface="Aptos"/>
                <a:ea typeface="Aptos"/>
                <a:cs typeface="Aptos"/>
              </a:rPr>
              <a:t>Principe de gouvernance : aucun passage à l'étape suivante sans validation des livrables, des accès et des usages autorisés.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6179DA-02DE-4FD5-B4CE-1AF6885D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B58D25-130A-4EAA-AE77-8AEB6C6E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Hub IA de Nettelecom CI | Modèle deck institutionnel premium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9146F9-FF66-4291-9880-3656AAD7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272989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CDCF0A-FBF9-47A0-83E2-FE598812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D966A-3AF2-4237-865B-5C125ECC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8A706-6BF9-4E3D-8A12-E1E85D2D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votre organisation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A12E5-81EB-4033-B7C4-F3D51EDF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23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Notre valeur ne vient pas d'un outil unique, mais de l'enchaînement entre diagnostic, formation utile, gouvernance et premier terrain d'exécution.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A4244-5571-47FD-84C7-9264629E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181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5FF2B-3D19-43FA-99FA-66B43E3E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838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1. Audit, cadrage et feuille de route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F9883-647E-460A-BE18-75C7CB92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4838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priorités métier</a:t>
            </a:r>
          </a:p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cartographie des flux</a:t>
            </a:r>
          </a:p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KPI de preuve et conditions de pilotage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78D78-1666-4998-8982-8C5F68E1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5410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34DE4-FC60-4848-BEC4-AAE5FCC0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19350"/>
            <a:ext cx="506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2. Formation dirigeants et managers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B9F3E-418C-44ED-B890-B2488C4D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33700"/>
            <a:ext cx="506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lecture exécutive des usages IA</a:t>
            </a:r>
          </a:p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arbitrage, gouvernance et conduite du changement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C7A3F-386A-4C36-BDB0-63735DB1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181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72027-A562-4755-A8D8-1D0D6C1F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4838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3. Formation équipes métier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554F4-AB2A-4B3D-BB18-A673E262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38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comptes, flotte, relation client, support</a:t>
            </a:r>
          </a:p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outils, scripts et routines liés aux vrais cas d'usage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1D1DD-DCF1-4201-BD9E-59B00ECD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5410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49763-39AD-44E7-A309-F95683DF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81450"/>
            <a:ext cx="506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4. Pilote métier encadré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5CB9D-1F81-4D20-8F83-C8252B0F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95800"/>
            <a:ext cx="506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assistant ciblé, tableau de bord ou base interne</a:t>
            </a:r>
          </a:p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supervision, mesure et décision d'extension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118FA-9651-4553-A16A-C3CA51D1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C8506-70EF-486D-B083-D51ED994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Recommandation de départ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ED8C4-D4A2-49DE-B37E-19A4CD3B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638800"/>
            <a:ext cx="824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Commencer par deux flux à forte lisibilité de valeur : comptes professionnels + flotte / cartes carburant. Les autres cas d'usage restent dans la feuille de route, mais n'encombrent pas le pilote initial.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C79828-F8CF-4EEE-B511-FEBCE511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B2B168-19F9-4F6B-8593-3CE05DAB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Hub IA de Nettelecom CI | Modèle deck institutionnel premium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B18CE-BDC0-436D-8EDE-938C53EC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159807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D42B28-B809-4CC1-8942-E0988762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8F3A9-2F47-4ABB-AD7D-8D56EFC3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00762-91FE-442F-AA7F-C71E5BFC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Ouvrir sur un pilote utile, gouverné et mesurable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244EB-F37D-44D6-9F9F-F22420E7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AB1EC-8EFE-43F5-92B6-9E9EEEFC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bda1cb4e54c1c">
            <a:extLst>
              <a:ext uri="{96DAC541-7B7A-43D3-8B79-37D633B846F1}">
                <asvg:svgBlip xmlns:asvg="http://schemas.microsoft.com/office/drawing/2016/SVG/main" r:embed="R2f7e26c630ae47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20383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0A38C-A5D6-414D-A2A5-BACC59E8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431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cadre de confiance à présenter au prospect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CC57E-4AE6-4C85-905C-10A2F925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4267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règles d'usage, rôles et validation avant exposition de données sensibles</a:t>
            </a:r>
          </a:p>
          <a:p xmlns:a="http://schemas.openxmlformats.org/drawingml/2006/main">
            <a:pPr algn="l">
              <a:defRPr sz="96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revue humaine avant toute automatisation critique</a:t>
            </a:r>
          </a:p>
          <a:p xmlns:a="http://schemas.openxmlformats.org/drawingml/2006/main">
            <a:pPr algn="l">
              <a:defRPr sz="96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traçabilité des accès et des sorties</a:t>
            </a:r>
          </a:p>
          <a:p xmlns:a="http://schemas.openxmlformats.org/drawingml/2006/main">
            <a:pPr algn="l">
              <a:defRPr sz="96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périmètre pilote défini avant extension</a:t>
            </a:r>
          </a:p>
          <a:p xmlns:a="http://schemas.openxmlformats.org/drawingml/2006/main">
            <a:pPr algn="l">
              <a:defRPr sz="96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intégrée aux exigences de supervision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0AC94-3FC4-4582-BCD7-4A7807CB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4343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1AC38-11A3-48D8-ADAF-BD9656A3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148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Message fort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DE10B-8BAC-49F8-9C8F-B063A12F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3733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IA utile, maîtrisée et compatible avec vos exigences de confidentialité.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C6EA2-B830-48AA-BA67-C23B4683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410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CE6FE-B44D-4734-92E2-21A6CF06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812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PROCHAINE ÉTAPE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32BD8-582B-43E9-A5B9-CF4F883F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38D4C-AEA7-4C6E-983F-0DE522F1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1. Qualifier les priorités et les irritants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2. Choisir le bon point d'entrée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Cadrer l'audit, le pilote ou la formation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C082D-2593-4927-B6DE-9FDED9BC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1219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67"/>
          </a:solidFill>
          <a:ln xmlns:a="http://schemas.openxmlformats.org/drawingml/2006/main" w="9525">
            <a:solidFill>
              <a:srgbClr val="24466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06D0F-26A9-4B4E-8BE7-BC76BADA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289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30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1A975-F3DD-4208-B93E-03056FBB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337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échange expert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FE350-BB64-422A-AE2D-EE609DB3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24250"/>
            <a:ext cx="1219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67"/>
          </a:solidFill>
          <a:ln xmlns:a="http://schemas.openxmlformats.org/drawingml/2006/main" w="9525">
            <a:solidFill>
              <a:srgbClr val="24466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05578B-CF19-4303-886D-12A25F26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7528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J+15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0373D6-46CD-4791-98EC-1B345D4F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576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premier livrable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81632-2C88-4EEA-AEB6-6706050F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2910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67"/>
          </a:solidFill>
          <a:ln xmlns:a="http://schemas.openxmlformats.org/drawingml/2006/main" w="9525">
            <a:solidFill>
              <a:srgbClr val="24466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3166A5-CA26-4CCD-939E-D5803858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434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TransferAI aide votre organisation à identifier les usages utiles, former les bonnes équipes et choisir la bonne suite. Point d'entrée : transferai.ci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486BA3-A492-4C5E-A30D-5830CFCD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2C0A10-6088-44C3-80FE-6D973428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Hub IA de Nettelecom CI | Modèle deck institutionnel premium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EB29A5-0D66-4906-A5AD-BE01DBBD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32372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2026-06-10T17:56:00.5320000Z</dcterms:created>
  <dcterms:modified xsi:type="dcterms:W3CDTF">2026-06-10T17:56:00.5320000Z</dcterms:modified>
</coreProperties>
</file>