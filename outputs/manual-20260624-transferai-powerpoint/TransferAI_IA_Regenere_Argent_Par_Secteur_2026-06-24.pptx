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90"/>
  </p:normalViewPr>
  <p:slideViewPr>
    <p:cSldViewPr snapToGrid="0">
      <p:cViewPr varScale="1">
        <p:scale>
          <a:sx n="151" d="100"/>
          <a:sy n="151" d="100"/>
        </p:scale>
        <p:origin x="9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cover-panel">
            <a:extLst>
              <a:ext uri="{FF2B5EF4-FFF2-40B4-BE49-F238E27FC236}">
                <a16:creationId xmlns:a16="http://schemas.microsoft.com/office/drawing/2014/main" id="{C33DFD57-10A0-474B-BF1B-E1FC0A1454E0}"/>
              </a:ext>
            </a:extLst>
          </p:cNvPr>
          <p:cNvSpPr>
            <a:spLocks noGrp="1"/>
          </p:cNvSpPr>
          <p:nvPr/>
        </p:nvSpPr>
        <p:spPr>
          <a:xfrm>
            <a:off x="514350" y="571500"/>
            <a:ext cx="5981700" cy="5715000"/>
          </a:xfrm>
          <a:prstGeom prst="roundRect">
            <a:avLst>
              <a:gd name="adj" fmla="val 4000"/>
            </a:avLst>
          </a:prstGeom>
          <a:solidFill>
            <a:srgbClr val="FFFDFC"/>
          </a:solidFill>
          <a:ln w="0">
            <a:solidFill>
              <a:srgbClr val="FFFDF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" name="cover-side">
            <a:extLst>
              <a:ext uri="{FF2B5EF4-FFF2-40B4-BE49-F238E27FC236}">
                <a16:creationId xmlns:a16="http://schemas.microsoft.com/office/drawing/2014/main" id="{5AAB0E3C-64A9-44E8-9959-6AAD455670DB}"/>
              </a:ext>
            </a:extLst>
          </p:cNvPr>
          <p:cNvSpPr>
            <a:spLocks noGrp="1"/>
          </p:cNvSpPr>
          <p:nvPr/>
        </p:nvSpPr>
        <p:spPr>
          <a:xfrm>
            <a:off x="6972300" y="571500"/>
            <a:ext cx="4705350" cy="5715000"/>
          </a:xfrm>
          <a:prstGeom prst="roundRect">
            <a:avLst>
              <a:gd name="adj" fmla="val 4858"/>
            </a:avLst>
          </a:prstGeom>
          <a:solidFill>
            <a:srgbClr val="EEE6DE"/>
          </a:solidFill>
          <a:ln w="0">
            <a:solidFill>
              <a:srgbClr val="EEE6DE"/>
            </a:solidFill>
            <a:prstDash val="solid"/>
          </a:ln>
        </p:spPr>
      </p:sp>
      <p:sp>
        <p:nvSpPr>
          <p:cNvPr id="3" name="cover-kicker">
            <a:extLst>
              <a:ext uri="{FF2B5EF4-FFF2-40B4-BE49-F238E27FC236}">
                <a16:creationId xmlns:a16="http://schemas.microsoft.com/office/drawing/2014/main" id="{50D7D31B-78E2-4BE0-91B6-E906DAD84493}"/>
              </a:ext>
            </a:extLst>
          </p:cNvPr>
          <p:cNvSpPr>
            <a:spLocks noGrp="1"/>
          </p:cNvSpPr>
          <p:nvPr/>
        </p:nvSpPr>
        <p:spPr>
          <a:xfrm>
            <a:off x="857250" y="9334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D66724"/>
                </a:solidFill>
              </a:defRPr>
            </a:pPr>
            <a:r>
              <a:rPr sz="1050" b="1">
                <a:solidFill>
                  <a:srgbClr val="D66724"/>
                </a:solidFill>
              </a:rPr>
              <a:t>TRANSFERAI | DECK COMMERCIAL</a:t>
            </a:r>
          </a:p>
        </p:txBody>
      </p:sp>
      <p:sp>
        <p:nvSpPr>
          <p:cNvPr id="4" name="cover-title">
            <a:extLst>
              <a:ext uri="{FF2B5EF4-FFF2-40B4-BE49-F238E27FC236}">
                <a16:creationId xmlns:a16="http://schemas.microsoft.com/office/drawing/2014/main" id="{E438259C-7B33-4124-B843-6854551887E1}"/>
              </a:ext>
            </a:extLst>
          </p:cNvPr>
          <p:cNvSpPr>
            <a:spLocks noGrp="1"/>
          </p:cNvSpPr>
          <p:nvPr/>
        </p:nvSpPr>
        <p:spPr>
          <a:xfrm>
            <a:off x="857250" y="1371600"/>
            <a:ext cx="4953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900" b="1">
                <a:solidFill>
                  <a:srgbClr val="10213D"/>
                </a:solidFill>
              </a:defRPr>
            </a:pPr>
            <a:r>
              <a:rPr sz="3900" b="1">
                <a:solidFill>
                  <a:srgbClr val="10213D"/>
                </a:solidFill>
              </a:rPr>
              <a:t>Comment l’IA régénère</a:t>
            </a:r>
          </a:p>
          <a:p>
            <a:pPr algn="l">
              <a:defRPr sz="3900" b="1">
                <a:solidFill>
                  <a:srgbClr val="10213D"/>
                </a:solidFill>
              </a:defRPr>
            </a:pPr>
            <a:r>
              <a:rPr sz="3900" b="1">
                <a:solidFill>
                  <a:srgbClr val="10213D"/>
                </a:solidFill>
              </a:rPr>
              <a:t>de l’argent</a:t>
            </a:r>
          </a:p>
          <a:p>
            <a:pPr algn="l">
              <a:defRPr sz="3900" b="1">
                <a:solidFill>
                  <a:srgbClr val="10213D"/>
                </a:solidFill>
              </a:defRPr>
            </a:pPr>
            <a:r>
              <a:rPr sz="3900" b="1">
                <a:solidFill>
                  <a:srgbClr val="10213D"/>
                </a:solidFill>
              </a:rPr>
              <a:t>par secteur</a:t>
            </a:r>
          </a:p>
        </p:txBody>
      </p:sp>
      <p:sp>
        <p:nvSpPr>
          <p:cNvPr id="5" name="cover-subtitle">
            <a:extLst>
              <a:ext uri="{FF2B5EF4-FFF2-40B4-BE49-F238E27FC236}">
                <a16:creationId xmlns:a16="http://schemas.microsoft.com/office/drawing/2014/main" id="{9CBE96AA-48F4-48DC-AFA5-88EEE9544C38}"/>
              </a:ext>
            </a:extLst>
          </p:cNvPr>
          <p:cNvSpPr>
            <a:spLocks noGrp="1"/>
          </p:cNvSpPr>
          <p:nvPr/>
        </p:nvSpPr>
        <p:spPr>
          <a:xfrm>
            <a:off x="857250" y="3714750"/>
            <a:ext cx="48577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556274"/>
                </a:solidFill>
              </a:defRPr>
            </a:pPr>
            <a:r>
              <a:rPr sz="1650" b="0">
                <a:solidFill>
                  <a:srgbClr val="556274"/>
                </a:solidFill>
              </a:rPr>
              <a:t>Récupérer le revenu perdu, accélérer la conversion, protéger la marge et augmenter la capacité d’exécution.</a:t>
            </a:r>
          </a:p>
        </p:txBody>
      </p:sp>
      <p:sp>
        <p:nvSpPr>
          <p:cNvPr id="6" name="cover-callout">
            <a:extLst>
              <a:ext uri="{FF2B5EF4-FFF2-40B4-BE49-F238E27FC236}">
                <a16:creationId xmlns:a16="http://schemas.microsoft.com/office/drawing/2014/main" id="{E57D410D-6942-4891-BD96-4CFE051D6208}"/>
              </a:ext>
            </a:extLst>
          </p:cNvPr>
          <p:cNvSpPr>
            <a:spLocks noGrp="1"/>
          </p:cNvSpPr>
          <p:nvPr/>
        </p:nvSpPr>
        <p:spPr>
          <a:xfrm>
            <a:off x="857250" y="4762500"/>
            <a:ext cx="4762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0213D"/>
                </a:solidFill>
              </a:defRPr>
            </a:pPr>
            <a:r>
              <a:rPr sz="1500" b="1">
                <a:solidFill>
                  <a:srgbClr val="10213D"/>
                </a:solidFill>
              </a:rPr>
              <a:t>Le bon angle TransferAI : relier chaque usage IA à un KPI métier que la direction suit déjà.</a:t>
            </a:r>
          </a:p>
        </p:txBody>
      </p:sp>
      <p:sp>
        <p:nvSpPr>
          <p:cNvPr id="7" name="Revenu-cover-card">
            <a:extLst>
              <a:ext uri="{FF2B5EF4-FFF2-40B4-BE49-F238E27FC236}">
                <a16:creationId xmlns:a16="http://schemas.microsoft.com/office/drawing/2014/main" id="{1A09DFAA-BB5C-4E4D-98FE-2F37F0B12F2A}"/>
              </a:ext>
            </a:extLst>
          </p:cNvPr>
          <p:cNvSpPr>
            <a:spLocks noGrp="1"/>
          </p:cNvSpPr>
          <p:nvPr/>
        </p:nvSpPr>
        <p:spPr>
          <a:xfrm>
            <a:off x="7486650" y="1085850"/>
            <a:ext cx="3695700" cy="876300"/>
          </a:xfrm>
          <a:prstGeom prst="roundRect">
            <a:avLst>
              <a:gd name="adj" fmla="val 17391"/>
            </a:avLst>
          </a:prstGeom>
          <a:solidFill>
            <a:srgbClr val="FFFDFC"/>
          </a:solidFill>
          <a:ln w="9525">
            <a:solidFill>
              <a:srgbClr val="D8D1C8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FF518D-6B76-41A1-AA24-BBBD0C465CD7}"/>
              </a:ext>
            </a:extLst>
          </p:cNvPr>
          <p:cNvSpPr>
            <a:spLocks noGrp="1"/>
          </p:cNvSpPr>
          <p:nvPr/>
        </p:nvSpPr>
        <p:spPr>
          <a:xfrm>
            <a:off x="7677150" y="1257300"/>
            <a:ext cx="57150" cy="533400"/>
          </a:xfrm>
          <a:prstGeom prst="rect">
            <a:avLst/>
          </a:prstGeom>
          <a:solidFill>
            <a:srgbClr val="D66724"/>
          </a:solidFill>
          <a:ln w="0">
            <a:solidFill>
              <a:srgbClr val="D66724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177A4F-1CD9-45BD-9C65-CEE7F1CB1E2E}"/>
              </a:ext>
            </a:extLst>
          </p:cNvPr>
          <p:cNvSpPr>
            <a:spLocks noGrp="1"/>
          </p:cNvSpPr>
          <p:nvPr/>
        </p:nvSpPr>
        <p:spPr>
          <a:xfrm>
            <a:off x="7924800" y="12573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0213D"/>
                </a:solidFill>
              </a:defRPr>
            </a:pPr>
            <a:r>
              <a:rPr sz="2100" b="1">
                <a:solidFill>
                  <a:srgbClr val="10213D"/>
                </a:solidFill>
              </a:rPr>
              <a:t>Revenu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67A332-4E80-4777-BA74-292EE0EF5E44}"/>
              </a:ext>
            </a:extLst>
          </p:cNvPr>
          <p:cNvSpPr>
            <a:spLocks noGrp="1"/>
          </p:cNvSpPr>
          <p:nvPr/>
        </p:nvSpPr>
        <p:spPr>
          <a:xfrm>
            <a:off x="7924800" y="156210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6274"/>
                </a:solidFill>
              </a:defRPr>
            </a:pPr>
            <a:r>
              <a:rPr sz="1350" b="0">
                <a:solidFill>
                  <a:srgbClr val="556274"/>
                </a:solidFill>
              </a:rPr>
              <a:t>récupéré</a:t>
            </a:r>
          </a:p>
        </p:txBody>
      </p:sp>
      <p:sp>
        <p:nvSpPr>
          <p:cNvPr id="11" name="Conversion-cover-card">
            <a:extLst>
              <a:ext uri="{FF2B5EF4-FFF2-40B4-BE49-F238E27FC236}">
                <a16:creationId xmlns:a16="http://schemas.microsoft.com/office/drawing/2014/main" id="{FC2BB495-C8ED-47EC-809D-1E0E50724FF0}"/>
              </a:ext>
            </a:extLst>
          </p:cNvPr>
          <p:cNvSpPr>
            <a:spLocks noGrp="1"/>
          </p:cNvSpPr>
          <p:nvPr/>
        </p:nvSpPr>
        <p:spPr>
          <a:xfrm>
            <a:off x="7486650" y="2266950"/>
            <a:ext cx="3695700" cy="876300"/>
          </a:xfrm>
          <a:prstGeom prst="roundRect">
            <a:avLst>
              <a:gd name="adj" fmla="val 17391"/>
            </a:avLst>
          </a:prstGeom>
          <a:solidFill>
            <a:srgbClr val="FFFDFC"/>
          </a:solidFill>
          <a:ln w="9525">
            <a:solidFill>
              <a:srgbClr val="D8D1C8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8497D8-1F25-4CDC-8963-B80CDE635D6F}"/>
              </a:ext>
            </a:extLst>
          </p:cNvPr>
          <p:cNvSpPr>
            <a:spLocks noGrp="1"/>
          </p:cNvSpPr>
          <p:nvPr/>
        </p:nvSpPr>
        <p:spPr>
          <a:xfrm>
            <a:off x="7677150" y="2438400"/>
            <a:ext cx="57150" cy="533400"/>
          </a:xfrm>
          <a:prstGeom prst="rect">
            <a:avLst/>
          </a:prstGeom>
          <a:solidFill>
            <a:srgbClr val="295E99"/>
          </a:solidFill>
          <a:ln w="0">
            <a:solidFill>
              <a:srgbClr val="295E99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73B5D8-131D-4860-865F-D20EA3A6EEEA}"/>
              </a:ext>
            </a:extLst>
          </p:cNvPr>
          <p:cNvSpPr>
            <a:spLocks noGrp="1"/>
          </p:cNvSpPr>
          <p:nvPr/>
        </p:nvSpPr>
        <p:spPr>
          <a:xfrm>
            <a:off x="7924800" y="24384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0213D"/>
                </a:solidFill>
              </a:defRPr>
            </a:pPr>
            <a:r>
              <a:rPr sz="2100" b="1">
                <a:solidFill>
                  <a:srgbClr val="10213D"/>
                </a:solidFill>
              </a:rPr>
              <a:t>Conversion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628659D-5F91-4F87-AF73-FDAA878FEE75}"/>
              </a:ext>
            </a:extLst>
          </p:cNvPr>
          <p:cNvSpPr>
            <a:spLocks noGrp="1"/>
          </p:cNvSpPr>
          <p:nvPr/>
        </p:nvSpPr>
        <p:spPr>
          <a:xfrm>
            <a:off x="7924800" y="274320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6274"/>
                </a:solidFill>
              </a:defRPr>
            </a:pPr>
            <a:r>
              <a:rPr sz="1350" b="0">
                <a:solidFill>
                  <a:srgbClr val="556274"/>
                </a:solidFill>
              </a:rPr>
              <a:t>accélérée</a:t>
            </a:r>
          </a:p>
        </p:txBody>
      </p:sp>
      <p:sp>
        <p:nvSpPr>
          <p:cNvPr id="15" name="Marge-cover-card">
            <a:extLst>
              <a:ext uri="{FF2B5EF4-FFF2-40B4-BE49-F238E27FC236}">
                <a16:creationId xmlns:a16="http://schemas.microsoft.com/office/drawing/2014/main" id="{C5C3546B-1DD6-41AA-A650-62BB9AB9BB6B}"/>
              </a:ext>
            </a:extLst>
          </p:cNvPr>
          <p:cNvSpPr>
            <a:spLocks noGrp="1"/>
          </p:cNvSpPr>
          <p:nvPr/>
        </p:nvSpPr>
        <p:spPr>
          <a:xfrm>
            <a:off x="7486650" y="3448050"/>
            <a:ext cx="3695700" cy="876300"/>
          </a:xfrm>
          <a:prstGeom prst="roundRect">
            <a:avLst>
              <a:gd name="adj" fmla="val 17391"/>
            </a:avLst>
          </a:prstGeom>
          <a:solidFill>
            <a:srgbClr val="FFFDFC"/>
          </a:solidFill>
          <a:ln w="9525">
            <a:solidFill>
              <a:srgbClr val="D8D1C8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C0E04A-3ED8-43CD-8BD7-3510DD96CFC1}"/>
              </a:ext>
            </a:extLst>
          </p:cNvPr>
          <p:cNvSpPr>
            <a:spLocks noGrp="1"/>
          </p:cNvSpPr>
          <p:nvPr/>
        </p:nvSpPr>
        <p:spPr>
          <a:xfrm>
            <a:off x="7677150" y="3619500"/>
            <a:ext cx="57150" cy="533400"/>
          </a:xfrm>
          <a:prstGeom prst="rect">
            <a:avLst/>
          </a:prstGeom>
          <a:solidFill>
            <a:srgbClr val="2F8F7C"/>
          </a:solidFill>
          <a:ln w="0">
            <a:solidFill>
              <a:srgbClr val="2F8F7C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1F6C94-1ADE-4487-B96C-B7D5D90F295E}"/>
              </a:ext>
            </a:extLst>
          </p:cNvPr>
          <p:cNvSpPr>
            <a:spLocks noGrp="1"/>
          </p:cNvSpPr>
          <p:nvPr/>
        </p:nvSpPr>
        <p:spPr>
          <a:xfrm>
            <a:off x="7924800" y="36195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0213D"/>
                </a:solidFill>
              </a:defRPr>
            </a:pPr>
            <a:r>
              <a:rPr sz="2100" b="1">
                <a:solidFill>
                  <a:srgbClr val="10213D"/>
                </a:solidFill>
              </a:rPr>
              <a:t>Marge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64C9B92-BC40-44BF-810E-1DBE86A79B77}"/>
              </a:ext>
            </a:extLst>
          </p:cNvPr>
          <p:cNvSpPr>
            <a:spLocks noGrp="1"/>
          </p:cNvSpPr>
          <p:nvPr/>
        </p:nvSpPr>
        <p:spPr>
          <a:xfrm>
            <a:off x="7924800" y="392430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6274"/>
                </a:solidFill>
              </a:defRPr>
            </a:pPr>
            <a:r>
              <a:rPr sz="1350" b="0">
                <a:solidFill>
                  <a:srgbClr val="556274"/>
                </a:solidFill>
              </a:rPr>
              <a:t>protégée</a:t>
            </a:r>
          </a:p>
        </p:txBody>
      </p:sp>
      <p:sp>
        <p:nvSpPr>
          <p:cNvPr id="19" name="Capacité-cover-card">
            <a:extLst>
              <a:ext uri="{FF2B5EF4-FFF2-40B4-BE49-F238E27FC236}">
                <a16:creationId xmlns:a16="http://schemas.microsoft.com/office/drawing/2014/main" id="{82F03C87-6488-48EA-BB78-D4BBE7C88A24}"/>
              </a:ext>
            </a:extLst>
          </p:cNvPr>
          <p:cNvSpPr>
            <a:spLocks noGrp="1"/>
          </p:cNvSpPr>
          <p:nvPr/>
        </p:nvSpPr>
        <p:spPr>
          <a:xfrm>
            <a:off x="7486650" y="4629150"/>
            <a:ext cx="3695700" cy="876300"/>
          </a:xfrm>
          <a:prstGeom prst="roundRect">
            <a:avLst>
              <a:gd name="adj" fmla="val 17391"/>
            </a:avLst>
          </a:prstGeom>
          <a:solidFill>
            <a:srgbClr val="FFFDFC"/>
          </a:solidFill>
          <a:ln w="9525">
            <a:solidFill>
              <a:srgbClr val="D8D1C8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DC83738-692D-480E-AE83-5B4B8B07B2B2}"/>
              </a:ext>
            </a:extLst>
          </p:cNvPr>
          <p:cNvSpPr>
            <a:spLocks noGrp="1"/>
          </p:cNvSpPr>
          <p:nvPr/>
        </p:nvSpPr>
        <p:spPr>
          <a:xfrm>
            <a:off x="7677150" y="4800600"/>
            <a:ext cx="57150" cy="533400"/>
          </a:xfrm>
          <a:prstGeom prst="rect">
            <a:avLst/>
          </a:prstGeom>
          <a:solidFill>
            <a:srgbClr val="A0781E"/>
          </a:solidFill>
          <a:ln w="0">
            <a:solidFill>
              <a:srgbClr val="A0781E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1CE1B6D-690E-4D4D-9374-E1282318BD7C}"/>
              </a:ext>
            </a:extLst>
          </p:cNvPr>
          <p:cNvSpPr>
            <a:spLocks noGrp="1"/>
          </p:cNvSpPr>
          <p:nvPr/>
        </p:nvSpPr>
        <p:spPr>
          <a:xfrm>
            <a:off x="7924800" y="48006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0213D"/>
                </a:solidFill>
              </a:defRPr>
            </a:pPr>
            <a:r>
              <a:rPr sz="2100" b="1">
                <a:solidFill>
                  <a:srgbClr val="10213D"/>
                </a:solidFill>
              </a:rPr>
              <a:t>Capacité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34F24D8-5506-486E-A27E-0657EAEF2E09}"/>
              </a:ext>
            </a:extLst>
          </p:cNvPr>
          <p:cNvSpPr>
            <a:spLocks noGrp="1"/>
          </p:cNvSpPr>
          <p:nvPr/>
        </p:nvSpPr>
        <p:spPr>
          <a:xfrm>
            <a:off x="7924800" y="510540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6274"/>
                </a:solidFill>
              </a:defRPr>
            </a:pPr>
            <a:r>
              <a:rPr sz="1350" b="0">
                <a:solidFill>
                  <a:srgbClr val="556274"/>
                </a:solidFill>
              </a:rPr>
              <a:t>augmentée</a:t>
            </a:r>
          </a:p>
        </p:txBody>
      </p:sp>
      <p:sp>
        <p:nvSpPr>
          <p:cNvPr id="23" name="footer-rule-1">
            <a:extLst>
              <a:ext uri="{FF2B5EF4-FFF2-40B4-BE49-F238E27FC236}">
                <a16:creationId xmlns:a16="http://schemas.microsoft.com/office/drawing/2014/main" id="{909B21C8-72A3-4963-8270-CC85BB2AAB9A}"/>
              </a:ext>
            </a:extLst>
          </p:cNvPr>
          <p:cNvSpPr>
            <a:spLocks noGrp="1"/>
          </p:cNvSpPr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D8D1C8"/>
          </a:solidFill>
          <a:ln w="0">
            <a:solidFill>
              <a:srgbClr val="D8D1C8"/>
            </a:solidFill>
            <a:prstDash val="solid"/>
          </a:ln>
        </p:spPr>
      </p:sp>
      <p:sp>
        <p:nvSpPr>
          <p:cNvPr id="24" name="footer-text-1">
            <a:extLst>
              <a:ext uri="{FF2B5EF4-FFF2-40B4-BE49-F238E27FC236}">
                <a16:creationId xmlns:a16="http://schemas.microsoft.com/office/drawing/2014/main" id="{50D726F7-B337-40AA-BE1B-25862FC8E22B}"/>
              </a:ext>
            </a:extLst>
          </p:cNvPr>
          <p:cNvSpPr>
            <a:spLocks noGrp="1"/>
          </p:cNvSpPr>
          <p:nvPr/>
        </p:nvSpPr>
        <p:spPr>
          <a:xfrm>
            <a:off x="571500" y="6553200"/>
            <a:ext cx="933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56274"/>
                </a:solidFill>
              </a:defRPr>
            </a:pPr>
            <a:r>
              <a:rPr sz="825" b="0">
                <a:solidFill>
                  <a:srgbClr val="556274"/>
                </a:solidFill>
              </a:rPr>
              <a:t>TransferAI | L’IA devient précieuse quand elle améliore un KPI métier clair.</a:t>
            </a:r>
          </a:p>
        </p:txBody>
      </p:sp>
      <p:sp>
        <p:nvSpPr>
          <p:cNvPr id="25" name="footer-page-1">
            <a:extLst>
              <a:ext uri="{FF2B5EF4-FFF2-40B4-BE49-F238E27FC236}">
                <a16:creationId xmlns:a16="http://schemas.microsoft.com/office/drawing/2014/main" id="{024AC651-2DCE-42FC-BC9E-C83D037BEC10}"/>
              </a:ext>
            </a:extLst>
          </p:cNvPr>
          <p:cNvSpPr>
            <a:spLocks noGrp="1"/>
          </p:cNvSpPr>
          <p:nvPr/>
        </p:nvSpPr>
        <p:spPr>
          <a:xfrm>
            <a:off x="10896600" y="65151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10213D"/>
                </a:solidFill>
              </a:defRPr>
            </a:pPr>
            <a:r>
              <a:rPr sz="900" b="1">
                <a:solidFill>
                  <a:srgbClr val="10213D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20434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49BEE0C3-0390-4C95-A4BB-59DE2F384598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D66724"/>
                </a:solidFill>
              </a:defRPr>
            </a:pPr>
            <a:r>
              <a:rPr sz="1050" b="1">
                <a:solidFill>
                  <a:srgbClr val="D66724"/>
                </a:solidFill>
              </a:rPr>
              <a:t>Cadre de lecture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E5A6D1-0EEE-4838-8A42-1B00AF90792B}"/>
              </a:ext>
            </a:extLst>
          </p:cNvPr>
          <p:cNvSpPr>
            <a:spLocks noGrp="1"/>
          </p:cNvSpPr>
          <p:nvPr/>
        </p:nvSpPr>
        <p:spPr>
          <a:xfrm>
            <a:off x="571500" y="762000"/>
            <a:ext cx="7239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10213D"/>
                </a:solidFill>
              </a:defRPr>
            </a:pPr>
            <a:r>
              <a:rPr sz="3000" b="1">
                <a:solidFill>
                  <a:srgbClr val="10213D"/>
                </a:solidFill>
              </a:rPr>
              <a:t>L’IA régénère de l’argent de 4 façons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935412-D8A9-4C34-BA33-2ACDAEA0EC7B}"/>
              </a:ext>
            </a:extLst>
          </p:cNvPr>
          <p:cNvSpPr>
            <a:spLocks noGrp="1"/>
          </p:cNvSpPr>
          <p:nvPr/>
        </p:nvSpPr>
        <p:spPr>
          <a:xfrm>
            <a:off x="571500" y="1314450"/>
            <a:ext cx="590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56274"/>
                </a:solidFill>
              </a:defRPr>
            </a:pPr>
            <a:r>
              <a:rPr sz="1500" b="0">
                <a:solidFill>
                  <a:srgbClr val="556274"/>
                </a:solidFill>
              </a:rPr>
              <a:t>Chaque usage IA doit être rattaché à un gain visible en moins de 90 jours.</a:t>
            </a:r>
          </a:p>
        </p:txBody>
      </p:sp>
      <p:sp>
        <p:nvSpPr>
          <p:cNvPr id="4" name="Récupérer du revenu perdu-card">
            <a:extLst>
              <a:ext uri="{FF2B5EF4-FFF2-40B4-BE49-F238E27FC236}">
                <a16:creationId xmlns:a16="http://schemas.microsoft.com/office/drawing/2014/main" id="{18C5759C-4360-4FE3-9ED1-822FC977570C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5429250" cy="1790700"/>
          </a:xfrm>
          <a:prstGeom prst="roundRect">
            <a:avLst>
              <a:gd name="adj" fmla="val 8511"/>
            </a:avLst>
          </a:prstGeom>
          <a:solidFill>
            <a:srgbClr val="F6D9C9"/>
          </a:solidFill>
          <a:ln w="9525">
            <a:solidFill>
              <a:srgbClr val="D8D1C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" name="Récupérer du revenu perdu-accent">
            <a:extLst>
              <a:ext uri="{FF2B5EF4-FFF2-40B4-BE49-F238E27FC236}">
                <a16:creationId xmlns:a16="http://schemas.microsoft.com/office/drawing/2014/main" id="{29A6081A-5E34-49FD-A05C-941200A4C110}"/>
              </a:ext>
            </a:extLst>
          </p:cNvPr>
          <p:cNvSpPr>
            <a:spLocks noGrp="1"/>
          </p:cNvSpPr>
          <p:nvPr/>
        </p:nvSpPr>
        <p:spPr>
          <a:xfrm>
            <a:off x="742950" y="2247900"/>
            <a:ext cx="57150" cy="1447800"/>
          </a:xfrm>
          <a:prstGeom prst="rect">
            <a:avLst/>
          </a:prstGeom>
          <a:solidFill>
            <a:srgbClr val="D66724"/>
          </a:solidFill>
          <a:ln w="0">
            <a:solidFill>
              <a:srgbClr val="D66724"/>
            </a:solidFill>
            <a:prstDash val="solid"/>
          </a:ln>
        </p:spPr>
      </p:sp>
      <p:sp>
        <p:nvSpPr>
          <p:cNvPr id="6" name="Récupérer du revenu perdu-title">
            <a:extLst>
              <a:ext uri="{FF2B5EF4-FFF2-40B4-BE49-F238E27FC236}">
                <a16:creationId xmlns:a16="http://schemas.microsoft.com/office/drawing/2014/main" id="{2477892D-BA08-44BC-8C09-FD7C0544E752}"/>
              </a:ext>
            </a:extLst>
          </p:cNvPr>
          <p:cNvSpPr>
            <a:spLocks noGrp="1"/>
          </p:cNvSpPr>
          <p:nvPr/>
        </p:nvSpPr>
        <p:spPr>
          <a:xfrm>
            <a:off x="914400" y="2305050"/>
            <a:ext cx="4914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0213D"/>
                </a:solidFill>
              </a:defRPr>
            </a:pPr>
            <a:r>
              <a:rPr sz="1800" b="1">
                <a:solidFill>
                  <a:srgbClr val="10213D"/>
                </a:solidFill>
              </a:rPr>
              <a:t>Récupérer du revenu perdu</a:t>
            </a:r>
          </a:p>
        </p:txBody>
      </p:sp>
      <p:sp>
        <p:nvSpPr>
          <p:cNvPr id="7" name="Récupérer du revenu perdu-body">
            <a:extLst>
              <a:ext uri="{FF2B5EF4-FFF2-40B4-BE49-F238E27FC236}">
                <a16:creationId xmlns:a16="http://schemas.microsoft.com/office/drawing/2014/main" id="{C8E817AA-24D7-4967-9103-1DC66FA0C316}"/>
              </a:ext>
            </a:extLst>
          </p:cNvPr>
          <p:cNvSpPr>
            <a:spLocks noGrp="1"/>
          </p:cNvSpPr>
          <p:nvPr/>
        </p:nvSpPr>
        <p:spPr>
          <a:xfrm>
            <a:off x="914400" y="2781300"/>
            <a:ext cx="48958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0213D"/>
                </a:solidFill>
              </a:defRPr>
            </a:pPr>
            <a:r>
              <a:rPr sz="1350" b="0">
                <a:solidFill>
                  <a:srgbClr val="10213D"/>
                </a:solidFill>
              </a:rPr>
              <a:t>Moins de churn</a:t>
            </a:r>
          </a:p>
          <a:p>
            <a:pPr algn="l">
              <a:defRPr sz="1350" b="0">
                <a:solidFill>
                  <a:srgbClr val="10213D"/>
                </a:solidFill>
              </a:defRPr>
            </a:pPr>
            <a:r>
              <a:rPr sz="1350" b="0">
                <a:solidFill>
                  <a:srgbClr val="10213D"/>
                </a:solidFill>
              </a:rPr>
              <a:t>Moins d’abandon</a:t>
            </a:r>
          </a:p>
          <a:p>
            <a:pPr algn="l">
              <a:defRPr sz="1350" b="0">
                <a:solidFill>
                  <a:srgbClr val="10213D"/>
                </a:solidFill>
              </a:defRPr>
            </a:pPr>
            <a:r>
              <a:rPr sz="1350" b="0">
                <a:solidFill>
                  <a:srgbClr val="10213D"/>
                </a:solidFill>
              </a:rPr>
              <a:t>Plus de rétention</a:t>
            </a:r>
          </a:p>
        </p:txBody>
      </p:sp>
      <p:sp>
        <p:nvSpPr>
          <p:cNvPr id="8" name="Convertir plus vite-card">
            <a:extLst>
              <a:ext uri="{FF2B5EF4-FFF2-40B4-BE49-F238E27FC236}">
                <a16:creationId xmlns:a16="http://schemas.microsoft.com/office/drawing/2014/main" id="{8AF98A0E-9047-46F3-86C6-503FAB615EBA}"/>
              </a:ext>
            </a:extLst>
          </p:cNvPr>
          <p:cNvSpPr>
            <a:spLocks noGrp="1"/>
          </p:cNvSpPr>
          <p:nvPr/>
        </p:nvSpPr>
        <p:spPr>
          <a:xfrm>
            <a:off x="6191250" y="2076450"/>
            <a:ext cx="5429250" cy="1790700"/>
          </a:xfrm>
          <a:prstGeom prst="roundRect">
            <a:avLst>
              <a:gd name="adj" fmla="val 8511"/>
            </a:avLst>
          </a:prstGeom>
          <a:solidFill>
            <a:srgbClr val="D8E5F2"/>
          </a:solidFill>
          <a:ln w="9525">
            <a:solidFill>
              <a:srgbClr val="D8D1C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Convertir plus vite-accent">
            <a:extLst>
              <a:ext uri="{FF2B5EF4-FFF2-40B4-BE49-F238E27FC236}">
                <a16:creationId xmlns:a16="http://schemas.microsoft.com/office/drawing/2014/main" id="{FF2B6838-7FA7-423A-BE25-6CE7300D8E91}"/>
              </a:ext>
            </a:extLst>
          </p:cNvPr>
          <p:cNvSpPr>
            <a:spLocks noGrp="1"/>
          </p:cNvSpPr>
          <p:nvPr/>
        </p:nvSpPr>
        <p:spPr>
          <a:xfrm>
            <a:off x="6362700" y="2247900"/>
            <a:ext cx="57150" cy="1447800"/>
          </a:xfrm>
          <a:prstGeom prst="rect">
            <a:avLst/>
          </a:prstGeom>
          <a:solidFill>
            <a:srgbClr val="295E99"/>
          </a:solidFill>
          <a:ln w="0">
            <a:solidFill>
              <a:srgbClr val="295E99"/>
            </a:solidFill>
            <a:prstDash val="solid"/>
          </a:ln>
        </p:spPr>
      </p:sp>
      <p:sp>
        <p:nvSpPr>
          <p:cNvPr id="10" name="Convertir plus vite-title">
            <a:extLst>
              <a:ext uri="{FF2B5EF4-FFF2-40B4-BE49-F238E27FC236}">
                <a16:creationId xmlns:a16="http://schemas.microsoft.com/office/drawing/2014/main" id="{6E3EF0BE-956C-4B13-A4D2-D2969854D0D6}"/>
              </a:ext>
            </a:extLst>
          </p:cNvPr>
          <p:cNvSpPr>
            <a:spLocks noGrp="1"/>
          </p:cNvSpPr>
          <p:nvPr/>
        </p:nvSpPr>
        <p:spPr>
          <a:xfrm>
            <a:off x="6534150" y="2305050"/>
            <a:ext cx="4914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0213D"/>
                </a:solidFill>
              </a:defRPr>
            </a:pPr>
            <a:r>
              <a:rPr sz="1800" b="1">
                <a:solidFill>
                  <a:srgbClr val="10213D"/>
                </a:solidFill>
              </a:rPr>
              <a:t>Convertir plus vite</a:t>
            </a:r>
          </a:p>
        </p:txBody>
      </p:sp>
      <p:sp>
        <p:nvSpPr>
          <p:cNvPr id="11" name="Convertir plus vite-body">
            <a:extLst>
              <a:ext uri="{FF2B5EF4-FFF2-40B4-BE49-F238E27FC236}">
                <a16:creationId xmlns:a16="http://schemas.microsoft.com/office/drawing/2014/main" id="{A86F8600-FA6C-40C7-B437-7F834C8A9C9B}"/>
              </a:ext>
            </a:extLst>
          </p:cNvPr>
          <p:cNvSpPr>
            <a:spLocks noGrp="1"/>
          </p:cNvSpPr>
          <p:nvPr/>
        </p:nvSpPr>
        <p:spPr>
          <a:xfrm>
            <a:off x="6534150" y="2781300"/>
            <a:ext cx="48958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0213D"/>
                </a:solidFill>
              </a:defRPr>
            </a:pPr>
            <a:r>
              <a:rPr sz="1350" b="0">
                <a:solidFill>
                  <a:srgbClr val="10213D"/>
                </a:solidFill>
              </a:rPr>
              <a:t>Segmentation plus utile</a:t>
            </a:r>
          </a:p>
          <a:p>
            <a:pPr algn="l">
              <a:defRPr sz="1350" b="0">
                <a:solidFill>
                  <a:srgbClr val="10213D"/>
                </a:solidFill>
              </a:defRPr>
            </a:pPr>
            <a:r>
              <a:rPr sz="1350" b="0">
                <a:solidFill>
                  <a:srgbClr val="10213D"/>
                </a:solidFill>
              </a:rPr>
              <a:t>Relances plus rapides</a:t>
            </a:r>
          </a:p>
          <a:p>
            <a:pPr algn="l">
              <a:defRPr sz="1350" b="0">
                <a:solidFill>
                  <a:srgbClr val="10213D"/>
                </a:solidFill>
              </a:defRPr>
            </a:pPr>
            <a:r>
              <a:rPr sz="1350" b="0">
                <a:solidFill>
                  <a:srgbClr val="10213D"/>
                </a:solidFill>
              </a:rPr>
              <a:t>Messages plus performants</a:t>
            </a:r>
          </a:p>
        </p:txBody>
      </p:sp>
      <p:sp>
        <p:nvSpPr>
          <p:cNvPr id="12" name="Protéger la marge-card">
            <a:extLst>
              <a:ext uri="{FF2B5EF4-FFF2-40B4-BE49-F238E27FC236}">
                <a16:creationId xmlns:a16="http://schemas.microsoft.com/office/drawing/2014/main" id="{C0FA3757-973E-4DAC-8CC1-C46CC5EAA5F6}"/>
              </a:ext>
            </a:extLst>
          </p:cNvPr>
          <p:cNvSpPr>
            <a:spLocks noGrp="1"/>
          </p:cNvSpPr>
          <p:nvPr/>
        </p:nvSpPr>
        <p:spPr>
          <a:xfrm>
            <a:off x="571500" y="4286250"/>
            <a:ext cx="5429250" cy="1790700"/>
          </a:xfrm>
          <a:prstGeom prst="roundRect">
            <a:avLst>
              <a:gd name="adj" fmla="val 8511"/>
            </a:avLst>
          </a:prstGeom>
          <a:solidFill>
            <a:srgbClr val="DCEEE8"/>
          </a:solidFill>
          <a:ln w="9525">
            <a:solidFill>
              <a:srgbClr val="D8D1C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Protéger la marge-accent">
            <a:extLst>
              <a:ext uri="{FF2B5EF4-FFF2-40B4-BE49-F238E27FC236}">
                <a16:creationId xmlns:a16="http://schemas.microsoft.com/office/drawing/2014/main" id="{4AE3822D-5DCC-4F14-AA82-B35678D38CF3}"/>
              </a:ext>
            </a:extLst>
          </p:cNvPr>
          <p:cNvSpPr>
            <a:spLocks noGrp="1"/>
          </p:cNvSpPr>
          <p:nvPr/>
        </p:nvSpPr>
        <p:spPr>
          <a:xfrm>
            <a:off x="742950" y="4457700"/>
            <a:ext cx="57150" cy="1447800"/>
          </a:xfrm>
          <a:prstGeom prst="rect">
            <a:avLst/>
          </a:prstGeom>
          <a:solidFill>
            <a:srgbClr val="2F8F7C"/>
          </a:solidFill>
          <a:ln w="0">
            <a:solidFill>
              <a:srgbClr val="2F8F7C"/>
            </a:solidFill>
            <a:prstDash val="solid"/>
          </a:ln>
        </p:spPr>
      </p:sp>
      <p:sp>
        <p:nvSpPr>
          <p:cNvPr id="14" name="Protéger la marge-title">
            <a:extLst>
              <a:ext uri="{FF2B5EF4-FFF2-40B4-BE49-F238E27FC236}">
                <a16:creationId xmlns:a16="http://schemas.microsoft.com/office/drawing/2014/main" id="{EEFF41E7-7924-408D-AEAF-44C9DA5D9EB9}"/>
              </a:ext>
            </a:extLst>
          </p:cNvPr>
          <p:cNvSpPr>
            <a:spLocks noGrp="1"/>
          </p:cNvSpPr>
          <p:nvPr/>
        </p:nvSpPr>
        <p:spPr>
          <a:xfrm>
            <a:off x="914400" y="4514850"/>
            <a:ext cx="4914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0213D"/>
                </a:solidFill>
              </a:defRPr>
            </a:pPr>
            <a:r>
              <a:rPr sz="1800" b="1">
                <a:solidFill>
                  <a:srgbClr val="10213D"/>
                </a:solidFill>
              </a:rPr>
              <a:t>Protéger la marge</a:t>
            </a:r>
          </a:p>
        </p:txBody>
      </p:sp>
      <p:sp>
        <p:nvSpPr>
          <p:cNvPr id="15" name="Protéger la marge-body">
            <a:extLst>
              <a:ext uri="{FF2B5EF4-FFF2-40B4-BE49-F238E27FC236}">
                <a16:creationId xmlns:a16="http://schemas.microsoft.com/office/drawing/2014/main" id="{C05F22A3-3FE3-4991-A4CA-1746C2C19955}"/>
              </a:ext>
            </a:extLst>
          </p:cNvPr>
          <p:cNvSpPr>
            <a:spLocks noGrp="1"/>
          </p:cNvSpPr>
          <p:nvPr/>
        </p:nvSpPr>
        <p:spPr>
          <a:xfrm>
            <a:off x="914400" y="4991100"/>
            <a:ext cx="48958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0213D"/>
                </a:solidFill>
              </a:defRPr>
            </a:pPr>
            <a:r>
              <a:rPr sz="1350" b="0">
                <a:solidFill>
                  <a:srgbClr val="10213D"/>
                </a:solidFill>
              </a:rPr>
              <a:t>Moins d’erreurs</a:t>
            </a:r>
          </a:p>
          <a:p>
            <a:pPr algn="l">
              <a:defRPr sz="1350" b="0">
                <a:solidFill>
                  <a:srgbClr val="10213D"/>
                </a:solidFill>
              </a:defRPr>
            </a:pPr>
            <a:r>
              <a:rPr sz="1350" b="0">
                <a:solidFill>
                  <a:srgbClr val="10213D"/>
                </a:solidFill>
              </a:rPr>
              <a:t>Moins de retards</a:t>
            </a:r>
          </a:p>
          <a:p>
            <a:pPr algn="l">
              <a:defRPr sz="1350" b="0">
                <a:solidFill>
                  <a:srgbClr val="10213D"/>
                </a:solidFill>
              </a:defRPr>
            </a:pPr>
            <a:r>
              <a:rPr sz="1350" b="0">
                <a:solidFill>
                  <a:srgbClr val="10213D"/>
                </a:solidFill>
              </a:rPr>
              <a:t>Moins de rework</a:t>
            </a:r>
          </a:p>
        </p:txBody>
      </p:sp>
      <p:sp>
        <p:nvSpPr>
          <p:cNvPr id="16" name="Traiter plus sans recruter-card">
            <a:extLst>
              <a:ext uri="{FF2B5EF4-FFF2-40B4-BE49-F238E27FC236}">
                <a16:creationId xmlns:a16="http://schemas.microsoft.com/office/drawing/2014/main" id="{1506757E-1495-4329-8218-34F8ECB0D8AC}"/>
              </a:ext>
            </a:extLst>
          </p:cNvPr>
          <p:cNvSpPr>
            <a:spLocks noGrp="1"/>
          </p:cNvSpPr>
          <p:nvPr/>
        </p:nvSpPr>
        <p:spPr>
          <a:xfrm>
            <a:off x="6191250" y="4286250"/>
            <a:ext cx="5429250" cy="1790700"/>
          </a:xfrm>
          <a:prstGeom prst="roundRect">
            <a:avLst>
              <a:gd name="adj" fmla="val 8511"/>
            </a:avLst>
          </a:prstGeom>
          <a:solidFill>
            <a:srgbClr val="F8EBC5"/>
          </a:solidFill>
          <a:ln w="9525">
            <a:solidFill>
              <a:srgbClr val="D8D1C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7" name="Traiter plus sans recruter-accent">
            <a:extLst>
              <a:ext uri="{FF2B5EF4-FFF2-40B4-BE49-F238E27FC236}">
                <a16:creationId xmlns:a16="http://schemas.microsoft.com/office/drawing/2014/main" id="{24C34E76-5BE4-4DD8-BC4E-E75658D1B29E}"/>
              </a:ext>
            </a:extLst>
          </p:cNvPr>
          <p:cNvSpPr>
            <a:spLocks noGrp="1"/>
          </p:cNvSpPr>
          <p:nvPr/>
        </p:nvSpPr>
        <p:spPr>
          <a:xfrm>
            <a:off x="6362700" y="4457700"/>
            <a:ext cx="57150" cy="1447800"/>
          </a:xfrm>
          <a:prstGeom prst="rect">
            <a:avLst/>
          </a:prstGeom>
          <a:solidFill>
            <a:srgbClr val="A0781E"/>
          </a:solidFill>
          <a:ln w="0">
            <a:solidFill>
              <a:srgbClr val="A0781E"/>
            </a:solidFill>
            <a:prstDash val="solid"/>
          </a:ln>
        </p:spPr>
      </p:sp>
      <p:sp>
        <p:nvSpPr>
          <p:cNvPr id="18" name="Traiter plus sans recruter-title">
            <a:extLst>
              <a:ext uri="{FF2B5EF4-FFF2-40B4-BE49-F238E27FC236}">
                <a16:creationId xmlns:a16="http://schemas.microsoft.com/office/drawing/2014/main" id="{E72CEB4F-D71A-4DDB-9905-ECB162AE2D3B}"/>
              </a:ext>
            </a:extLst>
          </p:cNvPr>
          <p:cNvSpPr>
            <a:spLocks noGrp="1"/>
          </p:cNvSpPr>
          <p:nvPr/>
        </p:nvSpPr>
        <p:spPr>
          <a:xfrm>
            <a:off x="6534150" y="4514850"/>
            <a:ext cx="4914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0213D"/>
                </a:solidFill>
              </a:defRPr>
            </a:pPr>
            <a:r>
              <a:rPr sz="1800" b="1">
                <a:solidFill>
                  <a:srgbClr val="10213D"/>
                </a:solidFill>
              </a:rPr>
              <a:t>Traiter plus sans recruter</a:t>
            </a:r>
          </a:p>
        </p:txBody>
      </p:sp>
      <p:sp>
        <p:nvSpPr>
          <p:cNvPr id="19" name="Traiter plus sans recruter-body">
            <a:extLst>
              <a:ext uri="{FF2B5EF4-FFF2-40B4-BE49-F238E27FC236}">
                <a16:creationId xmlns:a16="http://schemas.microsoft.com/office/drawing/2014/main" id="{01B313CA-6CD8-4951-9F88-B0781EAF2C65}"/>
              </a:ext>
            </a:extLst>
          </p:cNvPr>
          <p:cNvSpPr>
            <a:spLocks noGrp="1"/>
          </p:cNvSpPr>
          <p:nvPr/>
        </p:nvSpPr>
        <p:spPr>
          <a:xfrm>
            <a:off x="6534150" y="4991100"/>
            <a:ext cx="48958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0213D"/>
                </a:solidFill>
              </a:defRPr>
            </a:pPr>
            <a:r>
              <a:rPr sz="1350" b="0">
                <a:solidFill>
                  <a:srgbClr val="10213D"/>
                </a:solidFill>
              </a:rPr>
              <a:t>Plus de volume</a:t>
            </a:r>
          </a:p>
          <a:p>
            <a:pPr algn="l">
              <a:defRPr sz="1350" b="0">
                <a:solidFill>
                  <a:srgbClr val="10213D"/>
                </a:solidFill>
              </a:defRPr>
            </a:pPr>
            <a:r>
              <a:rPr sz="1350" b="0">
                <a:solidFill>
                  <a:srgbClr val="10213D"/>
                </a:solidFill>
              </a:rPr>
              <a:t>Même équipe</a:t>
            </a:r>
          </a:p>
          <a:p>
            <a:pPr algn="l">
              <a:defRPr sz="1350" b="0">
                <a:solidFill>
                  <a:srgbClr val="10213D"/>
                </a:solidFill>
              </a:defRPr>
            </a:pPr>
            <a:r>
              <a:rPr sz="1350" b="0">
                <a:solidFill>
                  <a:srgbClr val="10213D"/>
                </a:solidFill>
              </a:rPr>
              <a:t>Décisions plus rapides</a:t>
            </a:r>
          </a:p>
        </p:txBody>
      </p:sp>
      <p:sp>
        <p:nvSpPr>
          <p:cNvPr id="20" name="footer-rule-2">
            <a:extLst>
              <a:ext uri="{FF2B5EF4-FFF2-40B4-BE49-F238E27FC236}">
                <a16:creationId xmlns:a16="http://schemas.microsoft.com/office/drawing/2014/main" id="{DBF1B841-C647-49A2-819A-D17E74B8F472}"/>
              </a:ext>
            </a:extLst>
          </p:cNvPr>
          <p:cNvSpPr>
            <a:spLocks noGrp="1"/>
          </p:cNvSpPr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D8D1C8"/>
          </a:solidFill>
          <a:ln w="0">
            <a:solidFill>
              <a:srgbClr val="D8D1C8"/>
            </a:solidFill>
            <a:prstDash val="solid"/>
          </a:ln>
        </p:spPr>
      </p:sp>
      <p:sp>
        <p:nvSpPr>
          <p:cNvPr id="21" name="footer-text-2">
            <a:extLst>
              <a:ext uri="{FF2B5EF4-FFF2-40B4-BE49-F238E27FC236}">
                <a16:creationId xmlns:a16="http://schemas.microsoft.com/office/drawing/2014/main" id="{F2F0B4C0-3B5B-4D9B-ABD3-AEF42D0C4D9C}"/>
              </a:ext>
            </a:extLst>
          </p:cNvPr>
          <p:cNvSpPr>
            <a:spLocks noGrp="1"/>
          </p:cNvSpPr>
          <p:nvPr/>
        </p:nvSpPr>
        <p:spPr>
          <a:xfrm>
            <a:off x="571500" y="6553200"/>
            <a:ext cx="933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56274"/>
                </a:solidFill>
              </a:defRPr>
            </a:pPr>
            <a:r>
              <a:rPr sz="825" b="0">
                <a:solidFill>
                  <a:srgbClr val="556274"/>
                </a:solidFill>
              </a:rPr>
              <a:t>Le bon discours n’est pas “l’IA en général” : c’est un cas d’usage précis, un KPI connu et un ROI visible.</a:t>
            </a:r>
          </a:p>
        </p:txBody>
      </p:sp>
      <p:sp>
        <p:nvSpPr>
          <p:cNvPr id="22" name="footer-page-2">
            <a:extLst>
              <a:ext uri="{FF2B5EF4-FFF2-40B4-BE49-F238E27FC236}">
                <a16:creationId xmlns:a16="http://schemas.microsoft.com/office/drawing/2014/main" id="{CD681BD7-B64A-41F9-8E41-E42ED3C63AAD}"/>
              </a:ext>
            </a:extLst>
          </p:cNvPr>
          <p:cNvSpPr>
            <a:spLocks noGrp="1"/>
          </p:cNvSpPr>
          <p:nvPr/>
        </p:nvSpPr>
        <p:spPr>
          <a:xfrm>
            <a:off x="10896600" y="65151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10213D"/>
                </a:solidFill>
              </a:defRPr>
            </a:pPr>
            <a:r>
              <a:rPr sz="900" b="1">
                <a:solidFill>
                  <a:srgbClr val="10213D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789202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60C241C1-DDF1-4E68-8637-048E2BA2164C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2476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D66724"/>
                </a:solidFill>
              </a:defRPr>
            </a:pPr>
            <a:r>
              <a:rPr sz="1050" b="1">
                <a:solidFill>
                  <a:srgbClr val="D66724"/>
                </a:solidFill>
              </a:rPr>
              <a:t>Illustrations sectorielles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14A904-E0AF-41D6-B58A-2BAF4FFE7A40}"/>
              </a:ext>
            </a:extLst>
          </p:cNvPr>
          <p:cNvSpPr>
            <a:spLocks noGrp="1"/>
          </p:cNvSpPr>
          <p:nvPr/>
        </p:nvSpPr>
        <p:spPr>
          <a:xfrm>
            <a:off x="571500" y="762000"/>
            <a:ext cx="7239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10213D"/>
                </a:solidFill>
              </a:defRPr>
            </a:pPr>
            <a:r>
              <a:rPr sz="3000" b="1">
                <a:solidFill>
                  <a:srgbClr val="10213D"/>
                </a:solidFill>
              </a:rPr>
              <a:t>Où l’argent se régénère concrètement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1010964-AC37-4C66-AED8-D42DEF6012F1}"/>
              </a:ext>
            </a:extLst>
          </p:cNvPr>
          <p:cNvSpPr>
            <a:spLocks noGrp="1"/>
          </p:cNvSpPr>
          <p:nvPr/>
        </p:nvSpPr>
        <p:spPr>
          <a:xfrm>
            <a:off x="571500" y="1828800"/>
            <a:ext cx="2476500" cy="1562100"/>
          </a:xfrm>
          <a:prstGeom prst="roundRect">
            <a:avLst>
              <a:gd name="adj" fmla="val 9756"/>
            </a:avLst>
          </a:prstGeom>
          <a:solidFill>
            <a:srgbClr val="FFFDFC"/>
          </a:solidFill>
          <a:ln w="9525">
            <a:solidFill>
              <a:srgbClr val="D8D1C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C2B4B2-DAAD-43EA-AED1-E1D44D33B52B}"/>
              </a:ext>
            </a:extLst>
          </p:cNvPr>
          <p:cNvSpPr>
            <a:spLocks noGrp="1"/>
          </p:cNvSpPr>
          <p:nvPr/>
        </p:nvSpPr>
        <p:spPr>
          <a:xfrm>
            <a:off x="781050" y="20574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0213D"/>
                </a:solidFill>
              </a:defRPr>
            </a:pPr>
            <a:r>
              <a:rPr sz="1800" b="1">
                <a:solidFill>
                  <a:srgbClr val="10213D"/>
                </a:solidFill>
              </a:rPr>
              <a:t>Télécoms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EC2E10-2A1E-45CB-A0B2-655C75533B00}"/>
              </a:ext>
            </a:extLst>
          </p:cNvPr>
          <p:cNvSpPr>
            <a:spLocks noGrp="1"/>
          </p:cNvSpPr>
          <p:nvPr/>
        </p:nvSpPr>
        <p:spPr>
          <a:xfrm>
            <a:off x="781050" y="2514600"/>
            <a:ext cx="2057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6274"/>
                </a:solidFill>
              </a:defRPr>
            </a:pPr>
            <a:r>
              <a:rPr sz="1275" b="0">
                <a:solidFill>
                  <a:srgbClr val="556274"/>
                </a:solidFill>
              </a:rPr>
              <a:t>Churn mieux anticipé</a:t>
            </a:r>
          </a:p>
          <a:p>
            <a:pPr algn="l">
              <a:defRPr sz="1275" b="0">
                <a:solidFill>
                  <a:srgbClr val="556274"/>
                </a:solidFill>
              </a:defRPr>
            </a:pPr>
            <a:r>
              <a:rPr sz="1275" b="0">
                <a:solidFill>
                  <a:srgbClr val="556274"/>
                </a:solidFill>
              </a:rPr>
              <a:t>Upsell mieux ciblé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1B568C8-874A-4443-BAD0-114EDE6A0D92}"/>
              </a:ext>
            </a:extLst>
          </p:cNvPr>
          <p:cNvSpPr>
            <a:spLocks noGrp="1"/>
          </p:cNvSpPr>
          <p:nvPr/>
        </p:nvSpPr>
        <p:spPr>
          <a:xfrm>
            <a:off x="3333750" y="1828800"/>
            <a:ext cx="2476500" cy="1562100"/>
          </a:xfrm>
          <a:prstGeom prst="roundRect">
            <a:avLst>
              <a:gd name="adj" fmla="val 9756"/>
            </a:avLst>
          </a:prstGeom>
          <a:solidFill>
            <a:srgbClr val="FFFDFC"/>
          </a:solidFill>
          <a:ln w="9525">
            <a:solidFill>
              <a:srgbClr val="D8D1C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EB7308-9792-4181-BC71-CDD292871672}"/>
              </a:ext>
            </a:extLst>
          </p:cNvPr>
          <p:cNvSpPr>
            <a:spLocks noGrp="1"/>
          </p:cNvSpPr>
          <p:nvPr/>
        </p:nvSpPr>
        <p:spPr>
          <a:xfrm>
            <a:off x="3543300" y="20574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0213D"/>
                </a:solidFill>
              </a:defRPr>
            </a:pPr>
            <a:r>
              <a:rPr sz="1800" b="1">
                <a:solidFill>
                  <a:srgbClr val="10213D"/>
                </a:solidFill>
              </a:rPr>
              <a:t>Banque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BDD0D29-FF6B-4068-B005-00B663649721}"/>
              </a:ext>
            </a:extLst>
          </p:cNvPr>
          <p:cNvSpPr>
            <a:spLocks noGrp="1"/>
          </p:cNvSpPr>
          <p:nvPr/>
        </p:nvSpPr>
        <p:spPr>
          <a:xfrm>
            <a:off x="3543300" y="2514600"/>
            <a:ext cx="2057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6274"/>
                </a:solidFill>
              </a:defRPr>
            </a:pPr>
            <a:r>
              <a:rPr sz="1275" b="0">
                <a:solidFill>
                  <a:srgbClr val="556274"/>
                </a:solidFill>
              </a:rPr>
              <a:t>Dossiers traités plus vite</a:t>
            </a:r>
          </a:p>
          <a:p>
            <a:pPr algn="l">
              <a:defRPr sz="1275" b="0">
                <a:solidFill>
                  <a:srgbClr val="556274"/>
                </a:solidFill>
              </a:defRPr>
            </a:pPr>
            <a:r>
              <a:rPr sz="1275" b="0">
                <a:solidFill>
                  <a:srgbClr val="556274"/>
                </a:solidFill>
              </a:rPr>
              <a:t>Conversion accélérée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A3B5000-021E-4292-A976-4A28CD30C11C}"/>
              </a:ext>
            </a:extLst>
          </p:cNvPr>
          <p:cNvSpPr>
            <a:spLocks noGrp="1"/>
          </p:cNvSpPr>
          <p:nvPr/>
        </p:nvSpPr>
        <p:spPr>
          <a:xfrm>
            <a:off x="6096000" y="1828800"/>
            <a:ext cx="2476500" cy="1562100"/>
          </a:xfrm>
          <a:prstGeom prst="roundRect">
            <a:avLst>
              <a:gd name="adj" fmla="val 9756"/>
            </a:avLst>
          </a:prstGeom>
          <a:solidFill>
            <a:srgbClr val="FFFDFC"/>
          </a:solidFill>
          <a:ln w="9525">
            <a:solidFill>
              <a:srgbClr val="D8D1C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0DB462-D341-4954-A573-C4C048B5E4CC}"/>
              </a:ext>
            </a:extLst>
          </p:cNvPr>
          <p:cNvSpPr>
            <a:spLocks noGrp="1"/>
          </p:cNvSpPr>
          <p:nvPr/>
        </p:nvSpPr>
        <p:spPr>
          <a:xfrm>
            <a:off x="6305550" y="20574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0213D"/>
                </a:solidFill>
              </a:defRPr>
            </a:pPr>
            <a:r>
              <a:rPr sz="1800" b="1">
                <a:solidFill>
                  <a:srgbClr val="10213D"/>
                </a:solidFill>
              </a:rPr>
              <a:t>Assurance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E39D0B-344D-4683-A38F-F79CE08CC671}"/>
              </a:ext>
            </a:extLst>
          </p:cNvPr>
          <p:cNvSpPr>
            <a:spLocks noGrp="1"/>
          </p:cNvSpPr>
          <p:nvPr/>
        </p:nvSpPr>
        <p:spPr>
          <a:xfrm>
            <a:off x="6305550" y="2514600"/>
            <a:ext cx="2057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6274"/>
                </a:solidFill>
              </a:defRPr>
            </a:pPr>
            <a:r>
              <a:rPr sz="1275" b="0">
                <a:solidFill>
                  <a:srgbClr val="556274"/>
                </a:solidFill>
              </a:rPr>
              <a:t>Réclamations mieux lues</a:t>
            </a:r>
          </a:p>
          <a:p>
            <a:pPr algn="l">
              <a:defRPr sz="1275" b="0">
                <a:solidFill>
                  <a:srgbClr val="556274"/>
                </a:solidFill>
              </a:defRPr>
            </a:pPr>
            <a:r>
              <a:rPr sz="1275" b="0">
                <a:solidFill>
                  <a:srgbClr val="556274"/>
                </a:solidFill>
              </a:rPr>
              <a:t>Rétention renforcée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F918168-8F14-44B4-A60F-DD06077C0300}"/>
              </a:ext>
            </a:extLst>
          </p:cNvPr>
          <p:cNvSpPr>
            <a:spLocks noGrp="1"/>
          </p:cNvSpPr>
          <p:nvPr/>
        </p:nvSpPr>
        <p:spPr>
          <a:xfrm>
            <a:off x="8858250" y="1828800"/>
            <a:ext cx="2476500" cy="1562100"/>
          </a:xfrm>
          <a:prstGeom prst="roundRect">
            <a:avLst>
              <a:gd name="adj" fmla="val 9756"/>
            </a:avLst>
          </a:prstGeom>
          <a:solidFill>
            <a:srgbClr val="FFFDFC"/>
          </a:solidFill>
          <a:ln w="9525">
            <a:solidFill>
              <a:srgbClr val="D8D1C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776963-A332-44BA-B1C6-FE00C48E45AD}"/>
              </a:ext>
            </a:extLst>
          </p:cNvPr>
          <p:cNvSpPr>
            <a:spLocks noGrp="1"/>
          </p:cNvSpPr>
          <p:nvPr/>
        </p:nvSpPr>
        <p:spPr>
          <a:xfrm>
            <a:off x="9067800" y="20574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0213D"/>
                </a:solidFill>
              </a:defRPr>
            </a:pPr>
            <a:r>
              <a:rPr sz="1800" b="1">
                <a:solidFill>
                  <a:srgbClr val="10213D"/>
                </a:solidFill>
              </a:rPr>
              <a:t>Retail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FDD4AC-CE9B-46FC-8D6A-040B201C5699}"/>
              </a:ext>
            </a:extLst>
          </p:cNvPr>
          <p:cNvSpPr>
            <a:spLocks noGrp="1"/>
          </p:cNvSpPr>
          <p:nvPr/>
        </p:nvSpPr>
        <p:spPr>
          <a:xfrm>
            <a:off x="9067800" y="2514600"/>
            <a:ext cx="2057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6274"/>
                </a:solidFill>
              </a:defRPr>
            </a:pPr>
            <a:r>
              <a:rPr sz="1275" b="0">
                <a:solidFill>
                  <a:srgbClr val="556274"/>
                </a:solidFill>
              </a:rPr>
              <a:t>Campagnes plus ciblées</a:t>
            </a:r>
          </a:p>
          <a:p>
            <a:pPr algn="l">
              <a:defRPr sz="1275" b="0">
                <a:solidFill>
                  <a:srgbClr val="556274"/>
                </a:solidFill>
              </a:defRPr>
            </a:pPr>
            <a:r>
              <a:rPr sz="1275" b="0">
                <a:solidFill>
                  <a:srgbClr val="556274"/>
                </a:solidFill>
              </a:rPr>
              <a:t>Ventes mieux activées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752446B-2A9E-44CE-8CFC-4DBA43CCA814}"/>
              </a:ext>
            </a:extLst>
          </p:cNvPr>
          <p:cNvSpPr>
            <a:spLocks noGrp="1"/>
          </p:cNvSpPr>
          <p:nvPr/>
        </p:nvSpPr>
        <p:spPr>
          <a:xfrm>
            <a:off x="571500" y="3771900"/>
            <a:ext cx="2476500" cy="1562100"/>
          </a:xfrm>
          <a:prstGeom prst="roundRect">
            <a:avLst>
              <a:gd name="adj" fmla="val 9756"/>
            </a:avLst>
          </a:prstGeom>
          <a:solidFill>
            <a:srgbClr val="FFFDFC"/>
          </a:solidFill>
          <a:ln w="9525">
            <a:solidFill>
              <a:srgbClr val="D8D1C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61F199-9ADC-4DC3-8A6D-E7B9960B5A7A}"/>
              </a:ext>
            </a:extLst>
          </p:cNvPr>
          <p:cNvSpPr>
            <a:spLocks noGrp="1"/>
          </p:cNvSpPr>
          <p:nvPr/>
        </p:nvSpPr>
        <p:spPr>
          <a:xfrm>
            <a:off x="781050" y="40005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0213D"/>
                </a:solidFill>
              </a:defRPr>
            </a:pPr>
            <a:r>
              <a:rPr sz="1800" b="1">
                <a:solidFill>
                  <a:srgbClr val="10213D"/>
                </a:solidFill>
              </a:rPr>
              <a:t>Industrie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EDDD2E6-EF66-4BE2-BD32-90A309556215}"/>
              </a:ext>
            </a:extLst>
          </p:cNvPr>
          <p:cNvSpPr>
            <a:spLocks noGrp="1"/>
          </p:cNvSpPr>
          <p:nvPr/>
        </p:nvSpPr>
        <p:spPr>
          <a:xfrm>
            <a:off x="781050" y="4457700"/>
            <a:ext cx="2057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6274"/>
                </a:solidFill>
              </a:defRPr>
            </a:pPr>
            <a:r>
              <a:rPr sz="1275" b="0">
                <a:solidFill>
                  <a:srgbClr val="556274"/>
                </a:solidFill>
              </a:rPr>
              <a:t>Moins de pertes cachées</a:t>
            </a:r>
          </a:p>
          <a:p>
            <a:pPr algn="l">
              <a:defRPr sz="1275" b="0">
                <a:solidFill>
                  <a:srgbClr val="556274"/>
                </a:solidFill>
              </a:defRPr>
            </a:pPr>
            <a:r>
              <a:rPr sz="1275" b="0">
                <a:solidFill>
                  <a:srgbClr val="556274"/>
                </a:solidFill>
              </a:rPr>
              <a:t>Marge protégée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DA3D18D-62DF-43CB-84FF-B482F85CB302}"/>
              </a:ext>
            </a:extLst>
          </p:cNvPr>
          <p:cNvSpPr>
            <a:spLocks noGrp="1"/>
          </p:cNvSpPr>
          <p:nvPr/>
        </p:nvSpPr>
        <p:spPr>
          <a:xfrm>
            <a:off x="3333750" y="3771900"/>
            <a:ext cx="2476500" cy="1562100"/>
          </a:xfrm>
          <a:prstGeom prst="roundRect">
            <a:avLst>
              <a:gd name="adj" fmla="val 9756"/>
            </a:avLst>
          </a:prstGeom>
          <a:solidFill>
            <a:srgbClr val="FFFDFC"/>
          </a:solidFill>
          <a:ln w="9525">
            <a:solidFill>
              <a:srgbClr val="D8D1C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44F5E72-4049-43C0-8A54-4EBA7AFEB2E3}"/>
              </a:ext>
            </a:extLst>
          </p:cNvPr>
          <p:cNvSpPr>
            <a:spLocks noGrp="1"/>
          </p:cNvSpPr>
          <p:nvPr/>
        </p:nvSpPr>
        <p:spPr>
          <a:xfrm>
            <a:off x="3543300" y="40005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0213D"/>
                </a:solidFill>
              </a:defRPr>
            </a:pPr>
            <a:r>
              <a:rPr sz="1800" b="1">
                <a:solidFill>
                  <a:srgbClr val="10213D"/>
                </a:solidFill>
              </a:rPr>
              <a:t>Logistique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12B655-2C11-46D2-B9AE-1518C9E2763A}"/>
              </a:ext>
            </a:extLst>
          </p:cNvPr>
          <p:cNvSpPr>
            <a:spLocks noGrp="1"/>
          </p:cNvSpPr>
          <p:nvPr/>
        </p:nvSpPr>
        <p:spPr>
          <a:xfrm>
            <a:off x="3543300" y="4457700"/>
            <a:ext cx="2057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6274"/>
                </a:solidFill>
              </a:defRPr>
            </a:pPr>
            <a:r>
              <a:rPr sz="1275" b="0">
                <a:solidFill>
                  <a:srgbClr val="556274"/>
                </a:solidFill>
              </a:rPr>
              <a:t>Retards mieux pilotés</a:t>
            </a:r>
          </a:p>
          <a:p>
            <a:pPr algn="l">
              <a:defRPr sz="1275" b="0">
                <a:solidFill>
                  <a:srgbClr val="556274"/>
                </a:solidFill>
              </a:defRPr>
            </a:pPr>
            <a:r>
              <a:rPr sz="1275" b="0">
                <a:solidFill>
                  <a:srgbClr val="556274"/>
                </a:solidFill>
              </a:rPr>
              <a:t>Décisions plus rapides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528D59EE-0FCB-4DB4-A7DA-6D2070BD84D7}"/>
              </a:ext>
            </a:extLst>
          </p:cNvPr>
          <p:cNvSpPr>
            <a:spLocks noGrp="1"/>
          </p:cNvSpPr>
          <p:nvPr/>
        </p:nvSpPr>
        <p:spPr>
          <a:xfrm>
            <a:off x="6096000" y="3771900"/>
            <a:ext cx="2476500" cy="1562100"/>
          </a:xfrm>
          <a:prstGeom prst="roundRect">
            <a:avLst>
              <a:gd name="adj" fmla="val 9756"/>
            </a:avLst>
          </a:prstGeom>
          <a:solidFill>
            <a:srgbClr val="FFFDFC"/>
          </a:solidFill>
          <a:ln w="9525">
            <a:solidFill>
              <a:srgbClr val="D8D1C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44F944-ED32-4616-BA7E-470D0FD851DA}"/>
              </a:ext>
            </a:extLst>
          </p:cNvPr>
          <p:cNvSpPr>
            <a:spLocks noGrp="1"/>
          </p:cNvSpPr>
          <p:nvPr/>
        </p:nvSpPr>
        <p:spPr>
          <a:xfrm>
            <a:off x="6305550" y="40005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0213D"/>
                </a:solidFill>
              </a:defRPr>
            </a:pPr>
            <a:r>
              <a:rPr sz="1800" b="1">
                <a:solidFill>
                  <a:srgbClr val="10213D"/>
                </a:solidFill>
              </a:rPr>
              <a:t>RH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50EA189-8239-4E12-A971-B49465A0E242}"/>
              </a:ext>
            </a:extLst>
          </p:cNvPr>
          <p:cNvSpPr>
            <a:spLocks noGrp="1"/>
          </p:cNvSpPr>
          <p:nvPr/>
        </p:nvSpPr>
        <p:spPr>
          <a:xfrm>
            <a:off x="6305550" y="4457700"/>
            <a:ext cx="2057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6274"/>
                </a:solidFill>
              </a:defRPr>
            </a:pPr>
            <a:r>
              <a:rPr sz="1275" b="0">
                <a:solidFill>
                  <a:srgbClr val="556274"/>
                </a:solidFill>
              </a:rPr>
              <a:t>Plus de volume traité</a:t>
            </a:r>
          </a:p>
          <a:p>
            <a:pPr algn="l">
              <a:defRPr sz="1275" b="0">
                <a:solidFill>
                  <a:srgbClr val="556274"/>
                </a:solidFill>
              </a:defRPr>
            </a:pPr>
            <a:r>
              <a:rPr sz="1275" b="0">
                <a:solidFill>
                  <a:srgbClr val="556274"/>
                </a:solidFill>
              </a:rPr>
              <a:t>Sans surcoût immédiat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7C10276F-8ACE-47DD-A985-5121B5909609}"/>
              </a:ext>
            </a:extLst>
          </p:cNvPr>
          <p:cNvSpPr>
            <a:spLocks noGrp="1"/>
          </p:cNvSpPr>
          <p:nvPr/>
        </p:nvSpPr>
        <p:spPr>
          <a:xfrm>
            <a:off x="8858250" y="3771900"/>
            <a:ext cx="2476500" cy="1562100"/>
          </a:xfrm>
          <a:prstGeom prst="roundRect">
            <a:avLst>
              <a:gd name="adj" fmla="val 9756"/>
            </a:avLst>
          </a:prstGeom>
          <a:solidFill>
            <a:srgbClr val="FFFDFC"/>
          </a:solidFill>
          <a:ln w="9525">
            <a:solidFill>
              <a:srgbClr val="D8D1C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C7ACDEB-412B-4AD4-A2EF-BDA998A3F04C}"/>
              </a:ext>
            </a:extLst>
          </p:cNvPr>
          <p:cNvSpPr>
            <a:spLocks noGrp="1"/>
          </p:cNvSpPr>
          <p:nvPr/>
        </p:nvSpPr>
        <p:spPr>
          <a:xfrm>
            <a:off x="9067800" y="40005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0213D"/>
                </a:solidFill>
              </a:defRPr>
            </a:pPr>
            <a:r>
              <a:rPr sz="1800" b="1">
                <a:solidFill>
                  <a:srgbClr val="10213D"/>
                </a:solidFill>
              </a:rPr>
              <a:t>Administration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057AC95-B97B-4D07-B911-9C04F5D222CB}"/>
              </a:ext>
            </a:extLst>
          </p:cNvPr>
          <p:cNvSpPr>
            <a:spLocks noGrp="1"/>
          </p:cNvSpPr>
          <p:nvPr/>
        </p:nvSpPr>
        <p:spPr>
          <a:xfrm>
            <a:off x="9067800" y="4457700"/>
            <a:ext cx="2057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6274"/>
                </a:solidFill>
              </a:defRPr>
            </a:pPr>
            <a:r>
              <a:rPr sz="1275" b="0">
                <a:solidFill>
                  <a:srgbClr val="556274"/>
                </a:solidFill>
              </a:rPr>
              <a:t>Plus de fluidité</a:t>
            </a:r>
          </a:p>
          <a:p>
            <a:pPr algn="l">
              <a:defRPr sz="1275" b="0">
                <a:solidFill>
                  <a:srgbClr val="556274"/>
                </a:solidFill>
              </a:defRPr>
            </a:pPr>
            <a:r>
              <a:rPr sz="1275" b="0">
                <a:solidFill>
                  <a:srgbClr val="556274"/>
                </a:solidFill>
              </a:rPr>
              <a:t>Même équipe, meilleure exécution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6C2AE3E-F87D-4373-89C8-95406FAE35A0}"/>
              </a:ext>
            </a:extLst>
          </p:cNvPr>
          <p:cNvSpPr>
            <a:spLocks noGrp="1"/>
          </p:cNvSpPr>
          <p:nvPr/>
        </p:nvSpPr>
        <p:spPr>
          <a:xfrm>
            <a:off x="952500" y="6000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556274"/>
                </a:solidFill>
              </a:defRPr>
            </a:pPr>
            <a:r>
              <a:rPr sz="1050" b="1">
                <a:solidFill>
                  <a:srgbClr val="556274"/>
                </a:solidFill>
              </a:rPr>
              <a:t>Télécoms | Banque | Assurance | Retail | Industrie | Logistique | RH | Administration</a:t>
            </a:r>
          </a:p>
        </p:txBody>
      </p:sp>
      <p:sp>
        <p:nvSpPr>
          <p:cNvPr id="28" name="footer-rule-3">
            <a:extLst>
              <a:ext uri="{FF2B5EF4-FFF2-40B4-BE49-F238E27FC236}">
                <a16:creationId xmlns:a16="http://schemas.microsoft.com/office/drawing/2014/main" id="{8EB83CD5-4B7D-4703-9312-6B3FBDDDEFE7}"/>
              </a:ext>
            </a:extLst>
          </p:cNvPr>
          <p:cNvSpPr>
            <a:spLocks noGrp="1"/>
          </p:cNvSpPr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D8D1C8"/>
          </a:solidFill>
          <a:ln w="0">
            <a:solidFill>
              <a:srgbClr val="D8D1C8"/>
            </a:solidFill>
            <a:prstDash val="solid"/>
          </a:ln>
        </p:spPr>
      </p:sp>
      <p:sp>
        <p:nvSpPr>
          <p:cNvPr id="29" name="footer-text-3">
            <a:extLst>
              <a:ext uri="{FF2B5EF4-FFF2-40B4-BE49-F238E27FC236}">
                <a16:creationId xmlns:a16="http://schemas.microsoft.com/office/drawing/2014/main" id="{E20E29CF-67EB-49B5-AF12-5D90D7A9501D}"/>
              </a:ext>
            </a:extLst>
          </p:cNvPr>
          <p:cNvSpPr>
            <a:spLocks noGrp="1"/>
          </p:cNvSpPr>
          <p:nvPr/>
        </p:nvSpPr>
        <p:spPr>
          <a:xfrm>
            <a:off x="571500" y="6553200"/>
            <a:ext cx="933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56274"/>
                </a:solidFill>
              </a:defRPr>
            </a:pPr>
            <a:r>
              <a:rPr sz="825" b="0">
                <a:solidFill>
                  <a:srgbClr val="556274"/>
                </a:solidFill>
              </a:rPr>
              <a:t>Les secteurs changent, mais la logique reste la même : revenu récupéré, conversion, marge et capacité.</a:t>
            </a:r>
          </a:p>
        </p:txBody>
      </p:sp>
      <p:sp>
        <p:nvSpPr>
          <p:cNvPr id="30" name="footer-page-3">
            <a:extLst>
              <a:ext uri="{FF2B5EF4-FFF2-40B4-BE49-F238E27FC236}">
                <a16:creationId xmlns:a16="http://schemas.microsoft.com/office/drawing/2014/main" id="{8DA8AD43-07C0-4CA1-9AD4-6E52068AD93C}"/>
              </a:ext>
            </a:extLst>
          </p:cNvPr>
          <p:cNvSpPr>
            <a:spLocks noGrp="1"/>
          </p:cNvSpPr>
          <p:nvPr/>
        </p:nvSpPr>
        <p:spPr>
          <a:xfrm>
            <a:off x="10896600" y="65151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10213D"/>
                </a:solidFill>
              </a:defRPr>
            </a:pPr>
            <a:r>
              <a:rPr sz="900" b="1">
                <a:solidFill>
                  <a:srgbClr val="10213D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51177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C6030BC6-1A96-4108-AC7D-327F43498C53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4953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>
                <a:solidFill>
                  <a:srgbClr val="10213D"/>
                </a:solidFill>
              </a:defRPr>
            </a:pPr>
            <a:r>
              <a:rPr sz="3300" b="1">
                <a:solidFill>
                  <a:srgbClr val="10213D"/>
                </a:solidFill>
              </a:rPr>
              <a:t>Comment l’IA régénère</a:t>
            </a:r>
          </a:p>
          <a:p>
            <a:pPr algn="l">
              <a:defRPr sz="3300" b="1">
                <a:solidFill>
                  <a:srgbClr val="10213D"/>
                </a:solidFill>
              </a:defRPr>
            </a:pPr>
            <a:r>
              <a:rPr sz="3300" b="1">
                <a:solidFill>
                  <a:srgbClr val="10213D"/>
                </a:solidFill>
              </a:rPr>
              <a:t>de l’argent par secteur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91D6B3-BB3B-4871-8E05-6609FF18834D}"/>
              </a:ext>
            </a:extLst>
          </p:cNvPr>
          <p:cNvSpPr>
            <a:spLocks noGrp="1"/>
          </p:cNvSpPr>
          <p:nvPr/>
        </p:nvSpPr>
        <p:spPr>
          <a:xfrm>
            <a:off x="571500" y="1485900"/>
            <a:ext cx="476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56274"/>
                </a:solidFill>
              </a:defRPr>
            </a:pPr>
            <a:r>
              <a:rPr sz="1500" b="0" dirty="0" err="1">
                <a:solidFill>
                  <a:srgbClr val="556274"/>
                </a:solidFill>
              </a:rPr>
              <a:t>Récupérer</a:t>
            </a:r>
            <a:r>
              <a:rPr sz="1500" b="0" dirty="0">
                <a:solidFill>
                  <a:srgbClr val="556274"/>
                </a:solidFill>
              </a:rPr>
              <a:t> le </a:t>
            </a:r>
            <a:r>
              <a:rPr sz="1500" b="0" dirty="0" err="1">
                <a:solidFill>
                  <a:srgbClr val="556274"/>
                </a:solidFill>
              </a:rPr>
              <a:t>revenu</a:t>
            </a:r>
            <a:r>
              <a:rPr sz="1500" b="0" dirty="0">
                <a:solidFill>
                  <a:srgbClr val="556274"/>
                </a:solidFill>
              </a:rPr>
              <a:t> perdu, </a:t>
            </a:r>
            <a:r>
              <a:rPr sz="1500" b="0" dirty="0" err="1">
                <a:solidFill>
                  <a:srgbClr val="556274"/>
                </a:solidFill>
              </a:rPr>
              <a:t>accélérer</a:t>
            </a:r>
            <a:r>
              <a:rPr sz="1500" b="0" dirty="0">
                <a:solidFill>
                  <a:srgbClr val="556274"/>
                </a:solidFill>
              </a:rPr>
              <a:t> la conversion, </a:t>
            </a:r>
            <a:r>
              <a:rPr sz="1500" b="0" dirty="0" err="1">
                <a:solidFill>
                  <a:srgbClr val="556274"/>
                </a:solidFill>
              </a:rPr>
              <a:t>protéger</a:t>
            </a:r>
            <a:r>
              <a:rPr sz="1500" b="0" dirty="0">
                <a:solidFill>
                  <a:srgbClr val="556274"/>
                </a:solidFill>
              </a:rPr>
              <a:t> la marge et augmenter la </a:t>
            </a:r>
            <a:r>
              <a:rPr sz="1500" b="0" dirty="0" err="1">
                <a:solidFill>
                  <a:srgbClr val="556274"/>
                </a:solidFill>
              </a:rPr>
              <a:t>capacité</a:t>
            </a:r>
            <a:r>
              <a:rPr sz="1500" b="0" dirty="0">
                <a:solidFill>
                  <a:srgbClr val="556274"/>
                </a:solidFill>
              </a:rPr>
              <a:t> </a:t>
            </a:r>
            <a:r>
              <a:rPr sz="1500" b="0" dirty="0" err="1">
                <a:solidFill>
                  <a:srgbClr val="556274"/>
                </a:solidFill>
              </a:rPr>
              <a:t>d’exécution</a:t>
            </a:r>
            <a:r>
              <a:rPr sz="1500" b="0" dirty="0">
                <a:solidFill>
                  <a:srgbClr val="556274"/>
                </a:solidFill>
              </a:rPr>
              <a:t>.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33FA1B8-DCAD-465F-9D41-A0D2AA1157D4}"/>
              </a:ext>
            </a:extLst>
          </p:cNvPr>
          <p:cNvSpPr>
            <a:spLocks noGrp="1"/>
          </p:cNvSpPr>
          <p:nvPr/>
        </p:nvSpPr>
        <p:spPr>
          <a:xfrm>
            <a:off x="7239000" y="514350"/>
            <a:ext cx="4000500" cy="1200150"/>
          </a:xfrm>
          <a:prstGeom prst="roundRect">
            <a:avLst>
              <a:gd name="adj" fmla="val 19048"/>
            </a:avLst>
          </a:prstGeom>
          <a:solidFill>
            <a:srgbClr val="D66724"/>
          </a:solidFill>
          <a:ln w="0">
            <a:solidFill>
              <a:srgbClr val="D6672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5DD743-9FF0-40FF-985D-FFB800BCFA76}"/>
              </a:ext>
            </a:extLst>
          </p:cNvPr>
          <p:cNvSpPr>
            <a:spLocks noGrp="1"/>
          </p:cNvSpPr>
          <p:nvPr/>
        </p:nvSpPr>
        <p:spPr>
          <a:xfrm>
            <a:off x="7524750" y="781050"/>
            <a:ext cx="342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L’IA crée de la valeur</a:t>
            </a:r>
          </a:p>
          <a:p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quand elle améliore</a:t>
            </a:r>
          </a:p>
          <a:p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un KPI métier déjà connu</a:t>
            </a:r>
          </a:p>
        </p:txBody>
      </p:sp>
      <p:sp>
        <p:nvSpPr>
          <p:cNvPr id="5" name="Revenu récupéré-card">
            <a:extLst>
              <a:ext uri="{FF2B5EF4-FFF2-40B4-BE49-F238E27FC236}">
                <a16:creationId xmlns:a16="http://schemas.microsoft.com/office/drawing/2014/main" id="{690318AE-C263-4E62-A2B8-218160D4BDC1}"/>
              </a:ext>
            </a:extLst>
          </p:cNvPr>
          <p:cNvSpPr>
            <a:spLocks noGrp="1"/>
          </p:cNvSpPr>
          <p:nvPr/>
        </p:nvSpPr>
        <p:spPr>
          <a:xfrm>
            <a:off x="571500" y="2400300"/>
            <a:ext cx="5429250" cy="1638300"/>
          </a:xfrm>
          <a:prstGeom prst="roundRect">
            <a:avLst>
              <a:gd name="adj" fmla="val 9302"/>
            </a:avLst>
          </a:prstGeom>
          <a:solidFill>
            <a:srgbClr val="FFFDFC"/>
          </a:solidFill>
          <a:ln w="9525">
            <a:solidFill>
              <a:srgbClr val="D8D1C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Revenu récupéré-accent">
            <a:extLst>
              <a:ext uri="{FF2B5EF4-FFF2-40B4-BE49-F238E27FC236}">
                <a16:creationId xmlns:a16="http://schemas.microsoft.com/office/drawing/2014/main" id="{ABEE1535-707D-4F55-91A3-810EC47C7916}"/>
              </a:ext>
            </a:extLst>
          </p:cNvPr>
          <p:cNvSpPr>
            <a:spLocks noGrp="1"/>
          </p:cNvSpPr>
          <p:nvPr/>
        </p:nvSpPr>
        <p:spPr>
          <a:xfrm>
            <a:off x="742950" y="2571750"/>
            <a:ext cx="57150" cy="1295400"/>
          </a:xfrm>
          <a:prstGeom prst="rect">
            <a:avLst/>
          </a:prstGeom>
          <a:solidFill>
            <a:srgbClr val="D66724"/>
          </a:solidFill>
          <a:ln w="0">
            <a:solidFill>
              <a:srgbClr val="D66724"/>
            </a:solidFill>
            <a:prstDash val="solid"/>
          </a:ln>
        </p:spPr>
      </p:sp>
      <p:sp>
        <p:nvSpPr>
          <p:cNvPr id="7" name="Revenu récupéré-title">
            <a:extLst>
              <a:ext uri="{FF2B5EF4-FFF2-40B4-BE49-F238E27FC236}">
                <a16:creationId xmlns:a16="http://schemas.microsoft.com/office/drawing/2014/main" id="{29A85A46-FDB6-4FB9-9470-372D8F1BA580}"/>
              </a:ext>
            </a:extLst>
          </p:cNvPr>
          <p:cNvSpPr>
            <a:spLocks noGrp="1"/>
          </p:cNvSpPr>
          <p:nvPr/>
        </p:nvSpPr>
        <p:spPr>
          <a:xfrm>
            <a:off x="914400" y="2609850"/>
            <a:ext cx="4914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0213D"/>
                </a:solidFill>
              </a:defRPr>
            </a:pPr>
            <a:r>
              <a:rPr sz="1800" b="1">
                <a:solidFill>
                  <a:srgbClr val="10213D"/>
                </a:solidFill>
              </a:rPr>
              <a:t>Revenu récupéré</a:t>
            </a:r>
          </a:p>
        </p:txBody>
      </p:sp>
      <p:sp>
        <p:nvSpPr>
          <p:cNvPr id="8" name="Revenu récupéré-body">
            <a:extLst>
              <a:ext uri="{FF2B5EF4-FFF2-40B4-BE49-F238E27FC236}">
                <a16:creationId xmlns:a16="http://schemas.microsoft.com/office/drawing/2014/main" id="{BA9561E4-E585-4004-AC85-A77D3BF3692F}"/>
              </a:ext>
            </a:extLst>
          </p:cNvPr>
          <p:cNvSpPr>
            <a:spLocks noGrp="1"/>
          </p:cNvSpPr>
          <p:nvPr/>
        </p:nvSpPr>
        <p:spPr>
          <a:xfrm>
            <a:off x="914400" y="3105150"/>
            <a:ext cx="48958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0213D"/>
                </a:solidFill>
              </a:defRPr>
            </a:pPr>
            <a:r>
              <a:rPr sz="1275" b="0">
                <a:solidFill>
                  <a:srgbClr val="10213D"/>
                </a:solidFill>
              </a:rPr>
              <a:t>Churn réduit</a:t>
            </a:r>
          </a:p>
          <a:p>
            <a:pPr algn="l">
              <a:defRPr sz="1275" b="0">
                <a:solidFill>
                  <a:srgbClr val="10213D"/>
                </a:solidFill>
              </a:defRPr>
            </a:pPr>
            <a:r>
              <a:rPr sz="1275" b="0">
                <a:solidFill>
                  <a:srgbClr val="10213D"/>
                </a:solidFill>
              </a:rPr>
              <a:t>Réclamations mieux traitées</a:t>
            </a:r>
          </a:p>
          <a:p>
            <a:pPr algn="l">
              <a:defRPr sz="1275" b="0">
                <a:solidFill>
                  <a:srgbClr val="10213D"/>
                </a:solidFill>
              </a:defRPr>
            </a:pPr>
            <a:r>
              <a:rPr sz="1275" b="0">
                <a:solidFill>
                  <a:srgbClr val="10213D"/>
                </a:solidFill>
              </a:rPr>
              <a:t>Signaux clients mieux détectés</a:t>
            </a:r>
          </a:p>
        </p:txBody>
      </p:sp>
      <p:sp>
        <p:nvSpPr>
          <p:cNvPr id="9" name="Conversion accélérée-card">
            <a:extLst>
              <a:ext uri="{FF2B5EF4-FFF2-40B4-BE49-F238E27FC236}">
                <a16:creationId xmlns:a16="http://schemas.microsoft.com/office/drawing/2014/main" id="{201D7E0D-E716-4706-9108-049409865604}"/>
              </a:ext>
            </a:extLst>
          </p:cNvPr>
          <p:cNvSpPr>
            <a:spLocks noGrp="1"/>
          </p:cNvSpPr>
          <p:nvPr/>
        </p:nvSpPr>
        <p:spPr>
          <a:xfrm>
            <a:off x="6191250" y="2400300"/>
            <a:ext cx="5429250" cy="1638300"/>
          </a:xfrm>
          <a:prstGeom prst="roundRect">
            <a:avLst>
              <a:gd name="adj" fmla="val 9302"/>
            </a:avLst>
          </a:prstGeom>
          <a:solidFill>
            <a:srgbClr val="FFFDFC"/>
          </a:solidFill>
          <a:ln w="9525">
            <a:solidFill>
              <a:srgbClr val="D8D1C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Conversion accélérée-accent">
            <a:extLst>
              <a:ext uri="{FF2B5EF4-FFF2-40B4-BE49-F238E27FC236}">
                <a16:creationId xmlns:a16="http://schemas.microsoft.com/office/drawing/2014/main" id="{0F593FBC-DFF2-417D-8474-357EE01350AB}"/>
              </a:ext>
            </a:extLst>
          </p:cNvPr>
          <p:cNvSpPr>
            <a:spLocks noGrp="1"/>
          </p:cNvSpPr>
          <p:nvPr/>
        </p:nvSpPr>
        <p:spPr>
          <a:xfrm>
            <a:off x="6362700" y="2571750"/>
            <a:ext cx="57150" cy="1295400"/>
          </a:xfrm>
          <a:prstGeom prst="rect">
            <a:avLst/>
          </a:prstGeom>
          <a:solidFill>
            <a:srgbClr val="295E99"/>
          </a:solidFill>
          <a:ln w="0">
            <a:solidFill>
              <a:srgbClr val="295E99"/>
            </a:solidFill>
            <a:prstDash val="solid"/>
          </a:ln>
        </p:spPr>
      </p:sp>
      <p:sp>
        <p:nvSpPr>
          <p:cNvPr id="11" name="Conversion accélérée-title">
            <a:extLst>
              <a:ext uri="{FF2B5EF4-FFF2-40B4-BE49-F238E27FC236}">
                <a16:creationId xmlns:a16="http://schemas.microsoft.com/office/drawing/2014/main" id="{27C696EC-49F0-493C-92DB-46607F2E6E88}"/>
              </a:ext>
            </a:extLst>
          </p:cNvPr>
          <p:cNvSpPr>
            <a:spLocks noGrp="1"/>
          </p:cNvSpPr>
          <p:nvPr/>
        </p:nvSpPr>
        <p:spPr>
          <a:xfrm>
            <a:off x="6534150" y="2609850"/>
            <a:ext cx="4914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0213D"/>
                </a:solidFill>
              </a:defRPr>
            </a:pPr>
            <a:r>
              <a:rPr sz="1800" b="1">
                <a:solidFill>
                  <a:srgbClr val="10213D"/>
                </a:solidFill>
              </a:rPr>
              <a:t>Conversion accélérée</a:t>
            </a:r>
          </a:p>
        </p:txBody>
      </p:sp>
      <p:sp>
        <p:nvSpPr>
          <p:cNvPr id="12" name="Conversion accélérée-body">
            <a:extLst>
              <a:ext uri="{FF2B5EF4-FFF2-40B4-BE49-F238E27FC236}">
                <a16:creationId xmlns:a16="http://schemas.microsoft.com/office/drawing/2014/main" id="{04296BFC-8A3D-4A74-B893-601822A2CBD3}"/>
              </a:ext>
            </a:extLst>
          </p:cNvPr>
          <p:cNvSpPr>
            <a:spLocks noGrp="1"/>
          </p:cNvSpPr>
          <p:nvPr/>
        </p:nvSpPr>
        <p:spPr>
          <a:xfrm>
            <a:off x="6534150" y="3105150"/>
            <a:ext cx="48958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0213D"/>
                </a:solidFill>
              </a:defRPr>
            </a:pPr>
            <a:r>
              <a:rPr sz="1275" b="0">
                <a:solidFill>
                  <a:srgbClr val="10213D"/>
                </a:solidFill>
              </a:rPr>
              <a:t>Segmentation plus utile</a:t>
            </a:r>
          </a:p>
          <a:p>
            <a:pPr algn="l">
              <a:defRPr sz="1275" b="0">
                <a:solidFill>
                  <a:srgbClr val="10213D"/>
                </a:solidFill>
              </a:defRPr>
            </a:pPr>
            <a:r>
              <a:rPr sz="1275" b="0">
                <a:solidFill>
                  <a:srgbClr val="10213D"/>
                </a:solidFill>
              </a:rPr>
              <a:t>Relances plus rapides</a:t>
            </a:r>
          </a:p>
          <a:p>
            <a:pPr algn="l">
              <a:defRPr sz="1275" b="0">
                <a:solidFill>
                  <a:srgbClr val="10213D"/>
                </a:solidFill>
              </a:defRPr>
            </a:pPr>
            <a:r>
              <a:rPr sz="1275" b="0">
                <a:solidFill>
                  <a:srgbClr val="10213D"/>
                </a:solidFill>
              </a:rPr>
              <a:t>Messages plus performants</a:t>
            </a:r>
          </a:p>
        </p:txBody>
      </p:sp>
      <p:sp>
        <p:nvSpPr>
          <p:cNvPr id="13" name="Marge protégée-card">
            <a:extLst>
              <a:ext uri="{FF2B5EF4-FFF2-40B4-BE49-F238E27FC236}">
                <a16:creationId xmlns:a16="http://schemas.microsoft.com/office/drawing/2014/main" id="{386797E3-55DD-42EE-88A2-A34D935A0D64}"/>
              </a:ext>
            </a:extLst>
          </p:cNvPr>
          <p:cNvSpPr>
            <a:spLocks noGrp="1"/>
          </p:cNvSpPr>
          <p:nvPr/>
        </p:nvSpPr>
        <p:spPr>
          <a:xfrm>
            <a:off x="571500" y="4476750"/>
            <a:ext cx="5429250" cy="1638300"/>
          </a:xfrm>
          <a:prstGeom prst="roundRect">
            <a:avLst>
              <a:gd name="adj" fmla="val 9302"/>
            </a:avLst>
          </a:prstGeom>
          <a:solidFill>
            <a:srgbClr val="FFFDFC"/>
          </a:solidFill>
          <a:ln w="9525">
            <a:solidFill>
              <a:srgbClr val="D8D1C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4" name="Marge protégée-accent">
            <a:extLst>
              <a:ext uri="{FF2B5EF4-FFF2-40B4-BE49-F238E27FC236}">
                <a16:creationId xmlns:a16="http://schemas.microsoft.com/office/drawing/2014/main" id="{3988FE81-BE65-456B-AC33-CBE6FCC4D4DD}"/>
              </a:ext>
            </a:extLst>
          </p:cNvPr>
          <p:cNvSpPr>
            <a:spLocks noGrp="1"/>
          </p:cNvSpPr>
          <p:nvPr/>
        </p:nvSpPr>
        <p:spPr>
          <a:xfrm>
            <a:off x="742950" y="4648200"/>
            <a:ext cx="57150" cy="1295400"/>
          </a:xfrm>
          <a:prstGeom prst="rect">
            <a:avLst/>
          </a:prstGeom>
          <a:solidFill>
            <a:srgbClr val="2F8F7C"/>
          </a:solidFill>
          <a:ln w="0">
            <a:solidFill>
              <a:srgbClr val="2F8F7C"/>
            </a:solidFill>
            <a:prstDash val="solid"/>
          </a:ln>
        </p:spPr>
      </p:sp>
      <p:sp>
        <p:nvSpPr>
          <p:cNvPr id="15" name="Marge protégée-title">
            <a:extLst>
              <a:ext uri="{FF2B5EF4-FFF2-40B4-BE49-F238E27FC236}">
                <a16:creationId xmlns:a16="http://schemas.microsoft.com/office/drawing/2014/main" id="{FF879496-5D23-454D-8342-51642962D6EF}"/>
              </a:ext>
            </a:extLst>
          </p:cNvPr>
          <p:cNvSpPr>
            <a:spLocks noGrp="1"/>
          </p:cNvSpPr>
          <p:nvPr/>
        </p:nvSpPr>
        <p:spPr>
          <a:xfrm>
            <a:off x="914400" y="4686300"/>
            <a:ext cx="4914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0213D"/>
                </a:solidFill>
              </a:defRPr>
            </a:pPr>
            <a:r>
              <a:rPr sz="1800" b="1">
                <a:solidFill>
                  <a:srgbClr val="10213D"/>
                </a:solidFill>
              </a:rPr>
              <a:t>Marge protégée</a:t>
            </a:r>
          </a:p>
        </p:txBody>
      </p:sp>
      <p:sp>
        <p:nvSpPr>
          <p:cNvPr id="16" name="Marge protégée-body">
            <a:extLst>
              <a:ext uri="{FF2B5EF4-FFF2-40B4-BE49-F238E27FC236}">
                <a16:creationId xmlns:a16="http://schemas.microsoft.com/office/drawing/2014/main" id="{F5127343-480C-4A3C-B015-5B2CA5EBA1D0}"/>
              </a:ext>
            </a:extLst>
          </p:cNvPr>
          <p:cNvSpPr>
            <a:spLocks noGrp="1"/>
          </p:cNvSpPr>
          <p:nvPr/>
        </p:nvSpPr>
        <p:spPr>
          <a:xfrm>
            <a:off x="914400" y="5181600"/>
            <a:ext cx="48958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0213D"/>
                </a:solidFill>
              </a:defRPr>
            </a:pPr>
            <a:r>
              <a:rPr sz="1275" b="0">
                <a:solidFill>
                  <a:srgbClr val="10213D"/>
                </a:solidFill>
              </a:rPr>
              <a:t>Moins d’erreurs</a:t>
            </a:r>
          </a:p>
          <a:p>
            <a:pPr algn="l">
              <a:defRPr sz="1275" b="0">
                <a:solidFill>
                  <a:srgbClr val="10213D"/>
                </a:solidFill>
              </a:defRPr>
            </a:pPr>
            <a:r>
              <a:rPr sz="1275" b="0">
                <a:solidFill>
                  <a:srgbClr val="10213D"/>
                </a:solidFill>
              </a:rPr>
              <a:t>Moins de retards</a:t>
            </a:r>
          </a:p>
          <a:p>
            <a:pPr algn="l">
              <a:defRPr sz="1275" b="0">
                <a:solidFill>
                  <a:srgbClr val="10213D"/>
                </a:solidFill>
              </a:defRPr>
            </a:pPr>
            <a:r>
              <a:rPr sz="1275" b="0">
                <a:solidFill>
                  <a:srgbClr val="10213D"/>
                </a:solidFill>
              </a:rPr>
              <a:t>Moins de rework</a:t>
            </a:r>
          </a:p>
        </p:txBody>
      </p:sp>
      <p:sp>
        <p:nvSpPr>
          <p:cNvPr id="17" name="Capacité augmentée-card">
            <a:extLst>
              <a:ext uri="{FF2B5EF4-FFF2-40B4-BE49-F238E27FC236}">
                <a16:creationId xmlns:a16="http://schemas.microsoft.com/office/drawing/2014/main" id="{D97812F1-3A7B-4B5A-808E-955A51E3C612}"/>
              </a:ext>
            </a:extLst>
          </p:cNvPr>
          <p:cNvSpPr>
            <a:spLocks noGrp="1"/>
          </p:cNvSpPr>
          <p:nvPr/>
        </p:nvSpPr>
        <p:spPr>
          <a:xfrm>
            <a:off x="6191250" y="4476750"/>
            <a:ext cx="5429250" cy="1638300"/>
          </a:xfrm>
          <a:prstGeom prst="roundRect">
            <a:avLst>
              <a:gd name="adj" fmla="val 9302"/>
            </a:avLst>
          </a:prstGeom>
          <a:solidFill>
            <a:srgbClr val="FFFDFC"/>
          </a:solidFill>
          <a:ln w="9525">
            <a:solidFill>
              <a:srgbClr val="D8D1C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8" name="Capacité augmentée-accent">
            <a:extLst>
              <a:ext uri="{FF2B5EF4-FFF2-40B4-BE49-F238E27FC236}">
                <a16:creationId xmlns:a16="http://schemas.microsoft.com/office/drawing/2014/main" id="{E46318A2-3DA9-4E3D-B33B-D56EBFE93DAD}"/>
              </a:ext>
            </a:extLst>
          </p:cNvPr>
          <p:cNvSpPr>
            <a:spLocks noGrp="1"/>
          </p:cNvSpPr>
          <p:nvPr/>
        </p:nvSpPr>
        <p:spPr>
          <a:xfrm>
            <a:off x="6362700" y="4648200"/>
            <a:ext cx="57150" cy="1295400"/>
          </a:xfrm>
          <a:prstGeom prst="rect">
            <a:avLst/>
          </a:prstGeom>
          <a:solidFill>
            <a:srgbClr val="A0781E"/>
          </a:solidFill>
          <a:ln w="0">
            <a:solidFill>
              <a:srgbClr val="A0781E"/>
            </a:solidFill>
            <a:prstDash val="solid"/>
          </a:ln>
        </p:spPr>
      </p:sp>
      <p:sp>
        <p:nvSpPr>
          <p:cNvPr id="19" name="Capacité augmentée-title">
            <a:extLst>
              <a:ext uri="{FF2B5EF4-FFF2-40B4-BE49-F238E27FC236}">
                <a16:creationId xmlns:a16="http://schemas.microsoft.com/office/drawing/2014/main" id="{971B997D-B5BF-44A8-9544-277B12079F29}"/>
              </a:ext>
            </a:extLst>
          </p:cNvPr>
          <p:cNvSpPr>
            <a:spLocks noGrp="1"/>
          </p:cNvSpPr>
          <p:nvPr/>
        </p:nvSpPr>
        <p:spPr>
          <a:xfrm>
            <a:off x="6534150" y="4686300"/>
            <a:ext cx="4914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0213D"/>
                </a:solidFill>
              </a:defRPr>
            </a:pPr>
            <a:r>
              <a:rPr sz="1800" b="1">
                <a:solidFill>
                  <a:srgbClr val="10213D"/>
                </a:solidFill>
              </a:rPr>
              <a:t>Capacité augmentée</a:t>
            </a:r>
          </a:p>
        </p:txBody>
      </p:sp>
      <p:sp>
        <p:nvSpPr>
          <p:cNvPr id="20" name="Capacité augmentée-body">
            <a:extLst>
              <a:ext uri="{FF2B5EF4-FFF2-40B4-BE49-F238E27FC236}">
                <a16:creationId xmlns:a16="http://schemas.microsoft.com/office/drawing/2014/main" id="{91CA3DEE-DC92-49F7-A03A-365FF84E52A0}"/>
              </a:ext>
            </a:extLst>
          </p:cNvPr>
          <p:cNvSpPr>
            <a:spLocks noGrp="1"/>
          </p:cNvSpPr>
          <p:nvPr/>
        </p:nvSpPr>
        <p:spPr>
          <a:xfrm>
            <a:off x="6534150" y="5181600"/>
            <a:ext cx="48958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0213D"/>
                </a:solidFill>
              </a:defRPr>
            </a:pPr>
            <a:r>
              <a:rPr sz="1275" b="0">
                <a:solidFill>
                  <a:srgbClr val="10213D"/>
                </a:solidFill>
              </a:rPr>
              <a:t>Plus de volume traité</a:t>
            </a:r>
          </a:p>
          <a:p>
            <a:pPr algn="l">
              <a:defRPr sz="1275" b="0">
                <a:solidFill>
                  <a:srgbClr val="10213D"/>
                </a:solidFill>
              </a:defRPr>
            </a:pPr>
            <a:r>
              <a:rPr sz="1275" b="0">
                <a:solidFill>
                  <a:srgbClr val="10213D"/>
                </a:solidFill>
              </a:rPr>
              <a:t>Même équipe</a:t>
            </a:r>
          </a:p>
          <a:p>
            <a:pPr algn="l">
              <a:defRPr sz="1275" b="0">
                <a:solidFill>
                  <a:srgbClr val="10213D"/>
                </a:solidFill>
              </a:defRPr>
            </a:pPr>
            <a:r>
              <a:rPr sz="1275" b="0">
                <a:solidFill>
                  <a:srgbClr val="10213D"/>
                </a:solidFill>
              </a:rPr>
              <a:t>Décisions plus rapides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F81EBA0-C86C-4DC6-A547-427D88C4D4B3}"/>
              </a:ext>
            </a:extLst>
          </p:cNvPr>
          <p:cNvSpPr>
            <a:spLocks noGrp="1"/>
          </p:cNvSpPr>
          <p:nvPr/>
        </p:nvSpPr>
        <p:spPr>
          <a:xfrm>
            <a:off x="762000" y="6305550"/>
            <a:ext cx="1066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556274"/>
                </a:solidFill>
              </a:defRPr>
            </a:pPr>
            <a:r>
              <a:rPr sz="1050" b="1">
                <a:solidFill>
                  <a:srgbClr val="556274"/>
                </a:solidFill>
              </a:rPr>
              <a:t>Télécoms | Banque | Assurance | Retail | Industrie | Logistique | RH | Administration</a:t>
            </a:r>
          </a:p>
        </p:txBody>
      </p:sp>
      <p:sp>
        <p:nvSpPr>
          <p:cNvPr id="22" name="footer-rule-4">
            <a:extLst>
              <a:ext uri="{FF2B5EF4-FFF2-40B4-BE49-F238E27FC236}">
                <a16:creationId xmlns:a16="http://schemas.microsoft.com/office/drawing/2014/main" id="{942319C1-BD16-4155-B308-8E01262955A4}"/>
              </a:ext>
            </a:extLst>
          </p:cNvPr>
          <p:cNvSpPr>
            <a:spLocks noGrp="1"/>
          </p:cNvSpPr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D8D1C8"/>
          </a:solidFill>
          <a:ln w="0">
            <a:solidFill>
              <a:srgbClr val="D8D1C8"/>
            </a:solidFill>
            <a:prstDash val="solid"/>
          </a:ln>
        </p:spPr>
      </p:sp>
      <p:sp>
        <p:nvSpPr>
          <p:cNvPr id="23" name="footer-text-4">
            <a:extLst>
              <a:ext uri="{FF2B5EF4-FFF2-40B4-BE49-F238E27FC236}">
                <a16:creationId xmlns:a16="http://schemas.microsoft.com/office/drawing/2014/main" id="{02E9E1AC-7941-4F45-A485-0DCCDF8AF61B}"/>
              </a:ext>
            </a:extLst>
          </p:cNvPr>
          <p:cNvSpPr>
            <a:spLocks noGrp="1"/>
          </p:cNvSpPr>
          <p:nvPr/>
        </p:nvSpPr>
        <p:spPr>
          <a:xfrm>
            <a:off x="571500" y="6553200"/>
            <a:ext cx="933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56274"/>
                </a:solidFill>
              </a:defRPr>
            </a:pPr>
            <a:r>
              <a:rPr sz="825" b="0">
                <a:solidFill>
                  <a:srgbClr val="556274"/>
                </a:solidFill>
              </a:rPr>
              <a:t>TransferAI transforme l’IA en résultats mesurables sur les KPI que les directions suivent déjà.</a:t>
            </a:r>
          </a:p>
        </p:txBody>
      </p:sp>
      <p:sp>
        <p:nvSpPr>
          <p:cNvPr id="24" name="footer-page-4">
            <a:extLst>
              <a:ext uri="{FF2B5EF4-FFF2-40B4-BE49-F238E27FC236}">
                <a16:creationId xmlns:a16="http://schemas.microsoft.com/office/drawing/2014/main" id="{0953A981-0A63-469A-85D8-D03F6598CD4D}"/>
              </a:ext>
            </a:extLst>
          </p:cNvPr>
          <p:cNvSpPr>
            <a:spLocks noGrp="1"/>
          </p:cNvSpPr>
          <p:nvPr/>
        </p:nvSpPr>
        <p:spPr>
          <a:xfrm>
            <a:off x="10896600" y="65151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10213D"/>
                </a:solidFill>
              </a:defRPr>
            </a:pPr>
            <a:r>
              <a:rPr sz="900" b="1">
                <a:solidFill>
                  <a:srgbClr val="10213D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494871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134B7A1A-D6C5-4099-A44B-681109E062A5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D66724"/>
                </a:solidFill>
              </a:defRPr>
            </a:pPr>
            <a:r>
              <a:rPr sz="1050" b="1">
                <a:solidFill>
                  <a:srgbClr val="D66724"/>
                </a:solidFill>
              </a:rPr>
              <a:t>Synthèse commerciale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CCFA34-F10D-47AC-B9BB-3035C40A8D56}"/>
              </a:ext>
            </a:extLst>
          </p:cNvPr>
          <p:cNvSpPr>
            <a:spLocks noGrp="1"/>
          </p:cNvSpPr>
          <p:nvPr/>
        </p:nvSpPr>
        <p:spPr>
          <a:xfrm>
            <a:off x="571500" y="762000"/>
            <a:ext cx="5143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10213D"/>
                </a:solidFill>
              </a:defRPr>
            </a:pPr>
            <a:r>
              <a:rPr sz="3000" b="1">
                <a:solidFill>
                  <a:srgbClr val="10213D"/>
                </a:solidFill>
              </a:rPr>
              <a:t>La formule TransferAI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96C86A-12AC-4340-8781-A8F58ADDF454}"/>
              </a:ext>
            </a:extLst>
          </p:cNvPr>
          <p:cNvSpPr>
            <a:spLocks noGrp="1"/>
          </p:cNvSpPr>
          <p:nvPr/>
        </p:nvSpPr>
        <p:spPr>
          <a:xfrm>
            <a:off x="571500" y="1314450"/>
            <a:ext cx="590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556274"/>
                </a:solidFill>
              </a:defRPr>
            </a:pPr>
            <a:r>
              <a:rPr sz="1650" b="0">
                <a:solidFill>
                  <a:srgbClr val="556274"/>
                </a:solidFill>
              </a:rPr>
              <a:t>L’IA régénère de l’argent quand elle agit sur un KPI métier clair.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67E5C97-5344-4E52-9976-088334533D70}"/>
              </a:ext>
            </a:extLst>
          </p:cNvPr>
          <p:cNvSpPr>
            <a:spLocks noGrp="1"/>
          </p:cNvSpPr>
          <p:nvPr/>
        </p:nvSpPr>
        <p:spPr>
          <a:xfrm>
            <a:off x="571500" y="2152650"/>
            <a:ext cx="4572000" cy="552450"/>
          </a:xfrm>
          <a:prstGeom prst="roundRect">
            <a:avLst>
              <a:gd name="adj" fmla="val 27586"/>
            </a:avLst>
          </a:prstGeom>
          <a:solidFill>
            <a:srgbClr val="F6D9C9"/>
          </a:solidFill>
          <a:ln w="0">
            <a:solidFill>
              <a:srgbClr val="F6D9C9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0FBE3D-FFD1-4EEC-A326-DDB914FCC5F5}"/>
              </a:ext>
            </a:extLst>
          </p:cNvPr>
          <p:cNvSpPr>
            <a:spLocks noGrp="1"/>
          </p:cNvSpPr>
          <p:nvPr/>
        </p:nvSpPr>
        <p:spPr>
          <a:xfrm>
            <a:off x="800100" y="228600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0213D"/>
                </a:solidFill>
              </a:defRPr>
            </a:pPr>
            <a:r>
              <a:rPr sz="1950" b="1">
                <a:solidFill>
                  <a:srgbClr val="10213D"/>
                </a:solidFill>
              </a:rPr>
              <a:t>Revenu récupéré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6B0DE60-B5B7-4F55-8C55-1AD8DE13EE7B}"/>
              </a:ext>
            </a:extLst>
          </p:cNvPr>
          <p:cNvSpPr>
            <a:spLocks noGrp="1"/>
          </p:cNvSpPr>
          <p:nvPr/>
        </p:nvSpPr>
        <p:spPr>
          <a:xfrm>
            <a:off x="571500" y="2914650"/>
            <a:ext cx="4572000" cy="552450"/>
          </a:xfrm>
          <a:prstGeom prst="roundRect">
            <a:avLst>
              <a:gd name="adj" fmla="val 27586"/>
            </a:avLst>
          </a:prstGeom>
          <a:solidFill>
            <a:srgbClr val="D8E5F2"/>
          </a:solidFill>
          <a:ln w="0">
            <a:solidFill>
              <a:srgbClr val="D8E5F2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D6F7D3-90B8-45E6-9D7F-8E4BF06D7501}"/>
              </a:ext>
            </a:extLst>
          </p:cNvPr>
          <p:cNvSpPr>
            <a:spLocks noGrp="1"/>
          </p:cNvSpPr>
          <p:nvPr/>
        </p:nvSpPr>
        <p:spPr>
          <a:xfrm>
            <a:off x="800100" y="304800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0213D"/>
                </a:solidFill>
              </a:defRPr>
            </a:pPr>
            <a:r>
              <a:rPr sz="1950" b="1">
                <a:solidFill>
                  <a:srgbClr val="10213D"/>
                </a:solidFill>
              </a:rPr>
              <a:t>Conversion accélérée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1B3CE9A-03F0-4992-AD5F-7D97C4D37492}"/>
              </a:ext>
            </a:extLst>
          </p:cNvPr>
          <p:cNvSpPr>
            <a:spLocks noGrp="1"/>
          </p:cNvSpPr>
          <p:nvPr/>
        </p:nvSpPr>
        <p:spPr>
          <a:xfrm>
            <a:off x="571500" y="3676650"/>
            <a:ext cx="4572000" cy="552450"/>
          </a:xfrm>
          <a:prstGeom prst="roundRect">
            <a:avLst>
              <a:gd name="adj" fmla="val 27586"/>
            </a:avLst>
          </a:prstGeom>
          <a:solidFill>
            <a:srgbClr val="DCEEE8"/>
          </a:solidFill>
          <a:ln w="0">
            <a:solidFill>
              <a:srgbClr val="DCEEE8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143A561-9FEC-46CC-8C89-8A4A1A73CDB9}"/>
              </a:ext>
            </a:extLst>
          </p:cNvPr>
          <p:cNvSpPr>
            <a:spLocks noGrp="1"/>
          </p:cNvSpPr>
          <p:nvPr/>
        </p:nvSpPr>
        <p:spPr>
          <a:xfrm>
            <a:off x="800100" y="381000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0213D"/>
                </a:solidFill>
              </a:defRPr>
            </a:pPr>
            <a:r>
              <a:rPr sz="1950" b="1">
                <a:solidFill>
                  <a:srgbClr val="10213D"/>
                </a:solidFill>
              </a:rPr>
              <a:t>Marge protégée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6325A9D-6C3F-4403-B89B-8C7ADD7815C9}"/>
              </a:ext>
            </a:extLst>
          </p:cNvPr>
          <p:cNvSpPr>
            <a:spLocks noGrp="1"/>
          </p:cNvSpPr>
          <p:nvPr/>
        </p:nvSpPr>
        <p:spPr>
          <a:xfrm>
            <a:off x="571500" y="4438650"/>
            <a:ext cx="4572000" cy="552450"/>
          </a:xfrm>
          <a:prstGeom prst="roundRect">
            <a:avLst>
              <a:gd name="adj" fmla="val 27586"/>
            </a:avLst>
          </a:prstGeom>
          <a:solidFill>
            <a:srgbClr val="F8EBC5"/>
          </a:solidFill>
          <a:ln w="0">
            <a:solidFill>
              <a:srgbClr val="F8EBC5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6AEE483-D697-44EC-8E1E-C5DC3DF107C1}"/>
              </a:ext>
            </a:extLst>
          </p:cNvPr>
          <p:cNvSpPr>
            <a:spLocks noGrp="1"/>
          </p:cNvSpPr>
          <p:nvPr/>
        </p:nvSpPr>
        <p:spPr>
          <a:xfrm>
            <a:off x="800100" y="457200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0213D"/>
                </a:solidFill>
              </a:defRPr>
            </a:pPr>
            <a:r>
              <a:rPr sz="1950" b="1">
                <a:solidFill>
                  <a:srgbClr val="10213D"/>
                </a:solidFill>
              </a:rPr>
              <a:t>Capacité augmentée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CAEFAF4-F53C-4E8B-8E1E-F8DD13E84711}"/>
              </a:ext>
            </a:extLst>
          </p:cNvPr>
          <p:cNvSpPr>
            <a:spLocks noGrp="1"/>
          </p:cNvSpPr>
          <p:nvPr/>
        </p:nvSpPr>
        <p:spPr>
          <a:xfrm>
            <a:off x="5886450" y="2038350"/>
            <a:ext cx="5734050" cy="3124200"/>
          </a:xfrm>
          <a:prstGeom prst="roundRect">
            <a:avLst>
              <a:gd name="adj" fmla="val 7317"/>
            </a:avLst>
          </a:prstGeom>
          <a:solidFill>
            <a:srgbClr val="F7F3EE"/>
          </a:solidFill>
          <a:ln w="9525">
            <a:solidFill>
              <a:srgbClr val="D8D1C8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57412D-8296-44CE-AF16-6007CDAAFB73}"/>
              </a:ext>
            </a:extLst>
          </p:cNvPr>
          <p:cNvSpPr>
            <a:spLocks noGrp="1"/>
          </p:cNvSpPr>
          <p:nvPr/>
        </p:nvSpPr>
        <p:spPr>
          <a:xfrm>
            <a:off x="6210300" y="23622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0213D"/>
                </a:solidFill>
              </a:defRPr>
            </a:pPr>
            <a:r>
              <a:rPr sz="1950" b="1">
                <a:solidFill>
                  <a:srgbClr val="10213D"/>
                </a:solidFill>
              </a:rPr>
              <a:t>KPI à citer en rendez-vous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A28ECB-13C1-482C-84DA-B570C36B9134}"/>
              </a:ext>
            </a:extLst>
          </p:cNvPr>
          <p:cNvSpPr>
            <a:spLocks noGrp="1"/>
          </p:cNvSpPr>
          <p:nvPr/>
        </p:nvSpPr>
        <p:spPr>
          <a:xfrm>
            <a:off x="6210300" y="3028950"/>
            <a:ext cx="2286000" cy="1638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56274"/>
                </a:solidFill>
              </a:defRPr>
            </a:pPr>
            <a:r>
              <a:rPr sz="1500" b="0" dirty="0">
                <a:solidFill>
                  <a:srgbClr val="556274"/>
                </a:solidFill>
              </a:rPr>
              <a:t>Conversion</a:t>
            </a:r>
          </a:p>
          <a:p>
            <a:pPr algn="l">
              <a:defRPr sz="1500" b="0">
                <a:solidFill>
                  <a:srgbClr val="556274"/>
                </a:solidFill>
              </a:defRPr>
            </a:pPr>
            <a:r>
              <a:rPr sz="1500" b="0" dirty="0">
                <a:solidFill>
                  <a:srgbClr val="556274"/>
                </a:solidFill>
              </a:rPr>
              <a:t>Churn</a:t>
            </a:r>
          </a:p>
          <a:p>
            <a:pPr algn="l">
              <a:defRPr sz="1500" b="0">
                <a:solidFill>
                  <a:srgbClr val="556274"/>
                </a:solidFill>
              </a:defRPr>
            </a:pPr>
            <a:r>
              <a:rPr sz="1500" b="0" dirty="0" err="1">
                <a:solidFill>
                  <a:srgbClr val="556274"/>
                </a:solidFill>
              </a:rPr>
              <a:t>Délai</a:t>
            </a:r>
            <a:r>
              <a:rPr sz="1500" b="0" dirty="0">
                <a:solidFill>
                  <a:srgbClr val="556274"/>
                </a:solidFill>
              </a:rPr>
              <a:t> de </a:t>
            </a:r>
            <a:r>
              <a:rPr sz="1500" b="0" dirty="0" err="1">
                <a:solidFill>
                  <a:srgbClr val="556274"/>
                </a:solidFill>
              </a:rPr>
              <a:t>traitement</a:t>
            </a:r>
            <a:endParaRPr sz="1500" b="0" dirty="0">
              <a:solidFill>
                <a:srgbClr val="556274"/>
              </a:solidFill>
            </a:endParaRPr>
          </a:p>
          <a:p>
            <a:pPr algn="l">
              <a:defRPr sz="1500" b="0">
                <a:solidFill>
                  <a:srgbClr val="556274"/>
                </a:solidFill>
              </a:defRPr>
            </a:pPr>
            <a:r>
              <a:rPr sz="1500" b="0" dirty="0">
                <a:solidFill>
                  <a:srgbClr val="556274"/>
                </a:solidFill>
              </a:rPr>
              <a:t>Volume </a:t>
            </a:r>
            <a:r>
              <a:rPr sz="1500" b="0" dirty="0" err="1">
                <a:solidFill>
                  <a:srgbClr val="556274"/>
                </a:solidFill>
              </a:rPr>
              <a:t>traité</a:t>
            </a:r>
            <a:endParaRPr sz="1500" b="0" dirty="0">
              <a:solidFill>
                <a:srgbClr val="556274"/>
              </a:solidFill>
            </a:endParaRPr>
          </a:p>
          <a:p>
            <a:pPr algn="l">
              <a:defRPr sz="1500" b="0">
                <a:solidFill>
                  <a:srgbClr val="556274"/>
                </a:solidFill>
              </a:defRPr>
            </a:pPr>
            <a:r>
              <a:rPr sz="1500" b="0" dirty="0" err="1">
                <a:solidFill>
                  <a:srgbClr val="556274"/>
                </a:solidFill>
              </a:rPr>
              <a:t>Coût</a:t>
            </a:r>
            <a:r>
              <a:rPr sz="1500" b="0" dirty="0">
                <a:solidFill>
                  <a:srgbClr val="556274"/>
                </a:solidFill>
              </a:rPr>
              <a:t> par dossier</a:t>
            </a:r>
          </a:p>
          <a:p>
            <a:pPr algn="l">
              <a:defRPr sz="1500" b="0">
                <a:solidFill>
                  <a:srgbClr val="556274"/>
                </a:solidFill>
              </a:defRPr>
            </a:pPr>
            <a:r>
              <a:rPr sz="1500" b="0" dirty="0">
                <a:solidFill>
                  <a:srgbClr val="556274"/>
                </a:solidFill>
              </a:rPr>
              <a:t>Marge protégée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7BE8D47-1933-4AEE-BB83-44032E676E41}"/>
              </a:ext>
            </a:extLst>
          </p:cNvPr>
          <p:cNvSpPr>
            <a:spLocks noGrp="1"/>
          </p:cNvSpPr>
          <p:nvPr/>
        </p:nvSpPr>
        <p:spPr>
          <a:xfrm>
            <a:off x="8572500" y="2857500"/>
            <a:ext cx="26098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0213D"/>
                </a:solidFill>
              </a:defRPr>
            </a:pPr>
            <a:r>
              <a:rPr sz="1350" b="1" dirty="0">
                <a:solidFill>
                  <a:srgbClr val="10213D"/>
                </a:solidFill>
              </a:rPr>
              <a:t>Notre </a:t>
            </a:r>
            <a:r>
              <a:rPr sz="1350" b="1" dirty="0" err="1">
                <a:solidFill>
                  <a:srgbClr val="10213D"/>
                </a:solidFill>
              </a:rPr>
              <a:t>promesse</a:t>
            </a:r>
            <a:r>
              <a:rPr sz="1350" b="1" dirty="0">
                <a:solidFill>
                  <a:srgbClr val="10213D"/>
                </a:solidFill>
              </a:rPr>
              <a:t> </a:t>
            </a:r>
            <a:r>
              <a:rPr sz="1350" b="1" dirty="0" err="1">
                <a:solidFill>
                  <a:srgbClr val="10213D"/>
                </a:solidFill>
              </a:rPr>
              <a:t>n’est</a:t>
            </a:r>
            <a:r>
              <a:rPr sz="1350" b="1" dirty="0">
                <a:solidFill>
                  <a:srgbClr val="10213D"/>
                </a:solidFill>
              </a:rPr>
              <a:t> pas </a:t>
            </a:r>
            <a:r>
              <a:rPr sz="1350" b="1" dirty="0" err="1">
                <a:solidFill>
                  <a:srgbClr val="10213D"/>
                </a:solidFill>
              </a:rPr>
              <a:t>l’IA</a:t>
            </a:r>
            <a:r>
              <a:rPr sz="1350" b="1" dirty="0">
                <a:solidFill>
                  <a:srgbClr val="10213D"/>
                </a:solidFill>
              </a:rPr>
              <a:t> pour </a:t>
            </a:r>
            <a:r>
              <a:rPr sz="1350" b="1" dirty="0" err="1">
                <a:solidFill>
                  <a:srgbClr val="10213D"/>
                </a:solidFill>
              </a:rPr>
              <a:t>l’IA</a:t>
            </a:r>
            <a:r>
              <a:rPr sz="1350" b="1" dirty="0">
                <a:solidFill>
                  <a:srgbClr val="10213D"/>
                </a:solidFill>
              </a:rPr>
              <a:t>. Notre </a:t>
            </a:r>
            <a:r>
              <a:rPr sz="1350" b="1" dirty="0" err="1">
                <a:solidFill>
                  <a:srgbClr val="10213D"/>
                </a:solidFill>
              </a:rPr>
              <a:t>promesse</a:t>
            </a:r>
            <a:r>
              <a:rPr sz="1350" b="1">
                <a:solidFill>
                  <a:srgbClr val="10213D"/>
                </a:solidFill>
              </a:rPr>
              <a:t> est simple : </a:t>
            </a:r>
            <a:r>
              <a:rPr sz="1350" b="1" dirty="0" err="1">
                <a:solidFill>
                  <a:srgbClr val="10213D"/>
                </a:solidFill>
              </a:rPr>
              <a:t>récupérer</a:t>
            </a:r>
            <a:r>
              <a:rPr sz="1350" b="1" dirty="0">
                <a:solidFill>
                  <a:srgbClr val="10213D"/>
                </a:solidFill>
              </a:rPr>
              <a:t> le </a:t>
            </a:r>
            <a:r>
              <a:rPr sz="1350" b="1" dirty="0" err="1">
                <a:solidFill>
                  <a:srgbClr val="10213D"/>
                </a:solidFill>
              </a:rPr>
              <a:t>revenu</a:t>
            </a:r>
            <a:r>
              <a:rPr sz="1350" b="1" dirty="0">
                <a:solidFill>
                  <a:srgbClr val="10213D"/>
                </a:solidFill>
              </a:rPr>
              <a:t> qui </a:t>
            </a:r>
            <a:r>
              <a:rPr sz="1350" b="1" dirty="0" err="1">
                <a:solidFill>
                  <a:srgbClr val="10213D"/>
                </a:solidFill>
              </a:rPr>
              <a:t>fuit</a:t>
            </a:r>
            <a:r>
              <a:rPr sz="1350" b="1" dirty="0">
                <a:solidFill>
                  <a:srgbClr val="10213D"/>
                </a:solidFill>
              </a:rPr>
              <a:t>, </a:t>
            </a:r>
            <a:r>
              <a:rPr sz="1350" b="1" dirty="0" err="1">
                <a:solidFill>
                  <a:srgbClr val="10213D"/>
                </a:solidFill>
              </a:rPr>
              <a:t>convertir</a:t>
            </a:r>
            <a:r>
              <a:rPr sz="1350" b="1" dirty="0">
                <a:solidFill>
                  <a:srgbClr val="10213D"/>
                </a:solidFill>
              </a:rPr>
              <a:t> plus </a:t>
            </a:r>
            <a:r>
              <a:rPr sz="1350" b="1" dirty="0" err="1">
                <a:solidFill>
                  <a:srgbClr val="10213D"/>
                </a:solidFill>
              </a:rPr>
              <a:t>vite</a:t>
            </a:r>
            <a:r>
              <a:rPr sz="1350" b="1" dirty="0">
                <a:solidFill>
                  <a:srgbClr val="10213D"/>
                </a:solidFill>
              </a:rPr>
              <a:t>, </a:t>
            </a:r>
            <a:r>
              <a:rPr sz="1350" b="1" dirty="0" err="1">
                <a:solidFill>
                  <a:srgbClr val="10213D"/>
                </a:solidFill>
              </a:rPr>
              <a:t>protéger</a:t>
            </a:r>
            <a:r>
              <a:rPr sz="1350" b="1" dirty="0">
                <a:solidFill>
                  <a:srgbClr val="10213D"/>
                </a:solidFill>
              </a:rPr>
              <a:t> la marge et augmenter la </a:t>
            </a:r>
            <a:r>
              <a:rPr sz="1350" b="1" dirty="0" err="1">
                <a:solidFill>
                  <a:srgbClr val="10213D"/>
                </a:solidFill>
              </a:rPr>
              <a:t>capacité</a:t>
            </a:r>
            <a:r>
              <a:rPr sz="1350" b="1" dirty="0">
                <a:solidFill>
                  <a:srgbClr val="10213D"/>
                </a:solidFill>
              </a:rPr>
              <a:t> des équipes, </a:t>
            </a:r>
            <a:r>
              <a:rPr sz="1350" b="1" dirty="0" err="1">
                <a:solidFill>
                  <a:srgbClr val="10213D"/>
                </a:solidFill>
              </a:rPr>
              <a:t>secteur</a:t>
            </a:r>
            <a:r>
              <a:rPr sz="1350" b="1" dirty="0">
                <a:solidFill>
                  <a:srgbClr val="10213D"/>
                </a:solidFill>
              </a:rPr>
              <a:t> par </a:t>
            </a:r>
            <a:r>
              <a:rPr sz="1350" b="1" dirty="0" err="1">
                <a:solidFill>
                  <a:srgbClr val="10213D"/>
                </a:solidFill>
              </a:rPr>
              <a:t>secteur</a:t>
            </a:r>
            <a:r>
              <a:rPr sz="1350" b="1" dirty="0">
                <a:solidFill>
                  <a:srgbClr val="10213D"/>
                </a:solidFill>
              </a:rPr>
              <a:t>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C5C229D-78F9-48EB-A20F-EC8BFD029E1B}"/>
              </a:ext>
            </a:extLst>
          </p:cNvPr>
          <p:cNvSpPr>
            <a:spLocks noGrp="1"/>
          </p:cNvSpPr>
          <p:nvPr/>
        </p:nvSpPr>
        <p:spPr>
          <a:xfrm>
            <a:off x="571500" y="5810250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0213D"/>
                </a:solidFill>
              </a:defRPr>
            </a:pPr>
            <a:r>
              <a:rPr sz="1650" b="1">
                <a:solidFill>
                  <a:srgbClr val="10213D"/>
                </a:solidFill>
              </a:rPr>
              <a:t>TransferAI transforme l’IA en résultats mesurables sur les KPI que les directions suivent déjà.</a:t>
            </a:r>
          </a:p>
        </p:txBody>
      </p:sp>
      <p:sp>
        <p:nvSpPr>
          <p:cNvPr id="17" name="footer-rule-5">
            <a:extLst>
              <a:ext uri="{FF2B5EF4-FFF2-40B4-BE49-F238E27FC236}">
                <a16:creationId xmlns:a16="http://schemas.microsoft.com/office/drawing/2014/main" id="{9541B84D-B25A-42E3-B670-5050744D9EC3}"/>
              </a:ext>
            </a:extLst>
          </p:cNvPr>
          <p:cNvSpPr>
            <a:spLocks noGrp="1"/>
          </p:cNvSpPr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D8D1C8"/>
          </a:solidFill>
          <a:ln w="0">
            <a:solidFill>
              <a:srgbClr val="D8D1C8"/>
            </a:solidFill>
            <a:prstDash val="solid"/>
          </a:ln>
        </p:spPr>
      </p:sp>
      <p:sp>
        <p:nvSpPr>
          <p:cNvPr id="18" name="footer-text-5">
            <a:extLst>
              <a:ext uri="{FF2B5EF4-FFF2-40B4-BE49-F238E27FC236}">
                <a16:creationId xmlns:a16="http://schemas.microsoft.com/office/drawing/2014/main" id="{7ED69258-BE05-49C0-83C3-3461A0201316}"/>
              </a:ext>
            </a:extLst>
          </p:cNvPr>
          <p:cNvSpPr>
            <a:spLocks noGrp="1"/>
          </p:cNvSpPr>
          <p:nvPr/>
        </p:nvSpPr>
        <p:spPr>
          <a:xfrm>
            <a:off x="571500" y="6553200"/>
            <a:ext cx="933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56274"/>
                </a:solidFill>
              </a:defRPr>
            </a:pPr>
            <a:r>
              <a:rPr sz="825" b="0">
                <a:solidFill>
                  <a:srgbClr val="556274"/>
                </a:solidFill>
              </a:rPr>
              <a:t>Clôture | Le discours de vente doit rester simple, mesurable et sectorisé.</a:t>
            </a:r>
          </a:p>
        </p:txBody>
      </p:sp>
      <p:sp>
        <p:nvSpPr>
          <p:cNvPr id="19" name="footer-page-5">
            <a:extLst>
              <a:ext uri="{FF2B5EF4-FFF2-40B4-BE49-F238E27FC236}">
                <a16:creationId xmlns:a16="http://schemas.microsoft.com/office/drawing/2014/main" id="{6E047871-C577-4016-9690-93A52BBD1F63}"/>
              </a:ext>
            </a:extLst>
          </p:cNvPr>
          <p:cNvSpPr>
            <a:spLocks noGrp="1"/>
          </p:cNvSpPr>
          <p:nvPr/>
        </p:nvSpPr>
        <p:spPr>
          <a:xfrm>
            <a:off x="10896600" y="6515100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10213D"/>
                </a:solidFill>
              </a:defRPr>
            </a:pPr>
            <a:r>
              <a:rPr sz="900" b="1">
                <a:solidFill>
                  <a:srgbClr val="10213D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3958193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492</Words>
  <Application>Microsoft Macintosh PowerPoint</Application>
  <DocSecurity>0</DocSecurity>
  <PresentationFormat>Widescreen</PresentationFormat>
  <Paragraphs>109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vtoc limited</cp:lastModifiedBy>
  <cp:revision>1</cp:revision>
  <dcterms:created xsi:type="dcterms:W3CDTF">2026-06-24T07:08:24Z</dcterms:created>
  <dcterms:modified xsi:type="dcterms:W3CDTF">2026-06-24T07:11:01Z</dcterms:modified>
</cp:coreProperties>
</file>