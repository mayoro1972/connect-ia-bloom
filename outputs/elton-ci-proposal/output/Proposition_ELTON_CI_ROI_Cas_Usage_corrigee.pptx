
<file path=[Content_Types].xml><?xml version="1.0" encoding="utf-8"?>
<Types xmlns="http://schemas.openxmlformats.org/package/2006/content-types">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08"/>
    <p:restoredTop sz="94635"/>
  </p:normalViewPr>
  <p:slideViewPr>
    <p:cSldViewPr snapToGrid="0">
      <p:cViewPr>
        <p:scale>
          <a:sx n="150" d="100"/>
          <a:sy n="150" d="100"/>
        </p:scale>
        <p:origin x="128"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svg"/><Relationship Id="rId5" Type="http://schemas.openxmlformats.org/officeDocument/2006/relationships/image" Target="../media/image3.svg"/><Relationship Id="rId4" Type="http://schemas.openxmlformats.org/officeDocument/2006/relationships/image" Target="../media/image2.svg"/></Relationships>
</file>

<file path=ppt/slides/_rels/slide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8.svg"/><Relationship Id="rId5" Type="http://schemas.openxmlformats.org/officeDocument/2006/relationships/image" Target="../media/image7.svg"/><Relationship Id="rId4" Type="http://schemas.openxmlformats.org/officeDocument/2006/relationships/image" Target="../media/image6.sv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8.svg"/><Relationship Id="rId5" Type="http://schemas.openxmlformats.org/officeDocument/2006/relationships/image" Target="../media/image10.svg"/><Relationship Id="rId4" Type="http://schemas.openxmlformats.org/officeDocument/2006/relationships/image" Target="../media/image6.svg"/></Relationships>
</file>

<file path=ppt/slides/_rels/slide6.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6.svg"/></Relationships>
</file>

<file path=ppt/slides/_rels/slide7.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8.sv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Rectangle 42">
            <a:extLst>
              <a:ext uri="{FF2B5EF4-FFF2-40B4-BE49-F238E27FC236}">
                <a16:creationId xmlns:a16="http://schemas.microsoft.com/office/drawing/2014/main" id="{3817BC20-D415-4CAC-BDA6-821C28805DF1}"/>
              </a:ext>
            </a:extLst>
          </p:cNvPr>
          <p:cNvSpPr>
            <a:spLocks noGrp="1"/>
          </p:cNvSpPr>
          <p:nvPr/>
        </p:nvSpPr>
        <p:spPr>
          <a:xfrm>
            <a:off x="38100" y="270933"/>
            <a:ext cx="12192000" cy="6858000"/>
          </a:xfrm>
          <a:prstGeom prst="rect">
            <a:avLst/>
          </a:prstGeom>
          <a:solidFill>
            <a:srgbClr val="F5EFE7"/>
          </a:solidFill>
          <a:ln w="0">
            <a:solidFill>
              <a:srgbClr val="000000">
                <a:alpha val="0"/>
              </a:srgbClr>
            </a:solidFill>
            <a:prstDash val="solid"/>
          </a:ln>
        </p:spPr>
      </p:sp>
      <p:sp>
        <p:nvSpPr>
          <p:cNvPr id="2" name="Rectangle 1">
            <a:extLst>
              <a:ext uri="{FF2B5EF4-FFF2-40B4-BE49-F238E27FC236}">
                <a16:creationId xmlns:a16="http://schemas.microsoft.com/office/drawing/2014/main" id="{7E2947E2-ACE8-4F9D-89CF-4C2F3EF4EA1C}"/>
              </a:ext>
            </a:extLst>
          </p:cNvPr>
          <p:cNvSpPr>
            <a:spLocks noGrp="1"/>
          </p:cNvSpPr>
          <p:nvPr/>
        </p:nvSpPr>
        <p:spPr>
          <a:xfrm>
            <a:off x="552450" y="781050"/>
            <a:ext cx="6438900" cy="4800600"/>
          </a:xfrm>
          <a:prstGeom prst="rect">
            <a:avLst/>
          </a:prstGeom>
          <a:solidFill>
            <a:srgbClr val="FFFDFC"/>
          </a:solidFill>
          <a:ln w="9525">
            <a:solidFill>
              <a:srgbClr val="D7CEC3"/>
            </a:solidFill>
            <a:prstDash val="solid"/>
          </a:ln>
        </p:spPr>
      </p:sp>
      <p:sp>
        <p:nvSpPr>
          <p:cNvPr id="3" name="Rectangle 2">
            <a:extLst>
              <a:ext uri="{FF2B5EF4-FFF2-40B4-BE49-F238E27FC236}">
                <a16:creationId xmlns:a16="http://schemas.microsoft.com/office/drawing/2014/main" id="{11A0FF5B-7737-46AD-A538-0CAF5AFFB275}"/>
              </a:ext>
            </a:extLst>
          </p:cNvPr>
          <p:cNvSpPr>
            <a:spLocks noGrp="1"/>
          </p:cNvSpPr>
          <p:nvPr/>
        </p:nvSpPr>
        <p:spPr>
          <a:xfrm>
            <a:off x="7372350" y="781050"/>
            <a:ext cx="4267200" cy="4800600"/>
          </a:xfrm>
          <a:prstGeom prst="rect">
            <a:avLst/>
          </a:prstGeom>
          <a:solidFill>
            <a:srgbClr val="163556"/>
          </a:solidFill>
          <a:ln w="0">
            <a:solidFill>
              <a:srgbClr val="163556"/>
            </a:solidFill>
            <a:prstDash val="solid"/>
          </a:ln>
        </p:spPr>
      </p:sp>
      <p:sp>
        <p:nvSpPr>
          <p:cNvPr id="4" name="Rectangle 3">
            <a:extLst>
              <a:ext uri="{FF2B5EF4-FFF2-40B4-BE49-F238E27FC236}">
                <a16:creationId xmlns:a16="http://schemas.microsoft.com/office/drawing/2014/main" id="{CC923E5B-F4D9-416F-864F-24516AB6DE1B}"/>
              </a:ext>
            </a:extLst>
          </p:cNvPr>
          <p:cNvSpPr>
            <a:spLocks noGrp="1"/>
          </p:cNvSpPr>
          <p:nvPr/>
        </p:nvSpPr>
        <p:spPr>
          <a:xfrm>
            <a:off x="7372350" y="781050"/>
            <a:ext cx="95250" cy="4800600"/>
          </a:xfrm>
          <a:prstGeom prst="rect">
            <a:avLst/>
          </a:prstGeom>
          <a:solidFill>
            <a:srgbClr val="1C8A78"/>
          </a:solidFill>
          <a:ln w="0">
            <a:solidFill>
              <a:srgbClr val="1C8A78"/>
            </a:solidFill>
            <a:prstDash val="solid"/>
          </a:ln>
        </p:spPr>
      </p:sp>
      <p:sp>
        <p:nvSpPr>
          <p:cNvPr id="5" name="Rectangle 4">
            <a:extLst>
              <a:ext uri="{FF2B5EF4-FFF2-40B4-BE49-F238E27FC236}">
                <a16:creationId xmlns:a16="http://schemas.microsoft.com/office/drawing/2014/main" id="{E70AC76F-FCA0-4474-B3AF-D33099C23B08}"/>
              </a:ext>
            </a:extLst>
          </p:cNvPr>
          <p:cNvSpPr>
            <a:spLocks noGrp="1"/>
          </p:cNvSpPr>
          <p:nvPr/>
        </p:nvSpPr>
        <p:spPr>
          <a:xfrm>
            <a:off x="800100" y="1047750"/>
            <a:ext cx="24765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88" b="1">
                <a:solidFill>
                  <a:srgbClr val="E76F1D"/>
                </a:solidFill>
                <a:latin typeface="Aptos"/>
                <a:ea typeface="Aptos"/>
                <a:cs typeface="Aptos"/>
              </a:defRPr>
            </a:pPr>
            <a:r>
              <a:rPr sz="788" b="1">
                <a:solidFill>
                  <a:srgbClr val="E76F1D"/>
                </a:solidFill>
                <a:latin typeface="Aptos"/>
                <a:ea typeface="Aptos"/>
                <a:cs typeface="Aptos"/>
              </a:rPr>
              <a:t>PROPOSITION CIBLÉE | ELTON CI</a:t>
            </a:r>
          </a:p>
        </p:txBody>
      </p:sp>
      <p:sp>
        <p:nvSpPr>
          <p:cNvPr id="6" name="Rectangle 5">
            <a:extLst>
              <a:ext uri="{FF2B5EF4-FFF2-40B4-BE49-F238E27FC236}">
                <a16:creationId xmlns:a16="http://schemas.microsoft.com/office/drawing/2014/main" id="{A774236C-073B-47EC-8287-FD8F21905D65}"/>
              </a:ext>
            </a:extLst>
          </p:cNvPr>
          <p:cNvSpPr>
            <a:spLocks noGrp="1"/>
          </p:cNvSpPr>
          <p:nvPr/>
        </p:nvSpPr>
        <p:spPr>
          <a:xfrm>
            <a:off x="800100" y="1409700"/>
            <a:ext cx="5334000" cy="1466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3150" b="1">
                <a:solidFill>
                  <a:srgbClr val="1A3554"/>
                </a:solidFill>
                <a:latin typeface="Aptos Display"/>
                <a:ea typeface="Aptos Display"/>
                <a:cs typeface="Aptos Display"/>
              </a:defRPr>
            </a:pPr>
            <a:r>
              <a:rPr sz="3150" b="1">
                <a:solidFill>
                  <a:srgbClr val="1A3554"/>
                </a:solidFill>
                <a:latin typeface="Aptos Display"/>
                <a:ea typeface="Aptos Display"/>
                <a:cs typeface="Aptos Display"/>
              </a:rPr>
              <a:t>Transformer l'IA</a:t>
            </a:r>
          </a:p>
          <a:p>
            <a:pPr algn="l">
              <a:defRPr sz="3150" b="1">
                <a:solidFill>
                  <a:srgbClr val="1A3554"/>
                </a:solidFill>
                <a:latin typeface="Aptos Display"/>
                <a:ea typeface="Aptos Display"/>
                <a:cs typeface="Aptos Display"/>
              </a:defRPr>
            </a:pPr>
            <a:r>
              <a:rPr sz="3150" b="1">
                <a:solidFill>
                  <a:srgbClr val="1A3554"/>
                </a:solidFill>
                <a:latin typeface="Aptos Display"/>
                <a:ea typeface="Aptos Display"/>
                <a:cs typeface="Aptos Display"/>
              </a:rPr>
              <a:t>en gains visibles</a:t>
            </a:r>
          </a:p>
          <a:p>
            <a:pPr algn="l">
              <a:defRPr sz="3150" b="1">
                <a:solidFill>
                  <a:srgbClr val="1A3554"/>
                </a:solidFill>
                <a:latin typeface="Aptos Display"/>
                <a:ea typeface="Aptos Display"/>
                <a:cs typeface="Aptos Display"/>
              </a:defRPr>
            </a:pPr>
            <a:r>
              <a:rPr sz="3150" b="1">
                <a:solidFill>
                  <a:srgbClr val="1A3554"/>
                </a:solidFill>
                <a:latin typeface="Aptos Display"/>
                <a:ea typeface="Aptos Display"/>
                <a:cs typeface="Aptos Display"/>
              </a:rPr>
              <a:t>pour ELTON CI</a:t>
            </a:r>
          </a:p>
        </p:txBody>
      </p:sp>
      <p:sp>
        <p:nvSpPr>
          <p:cNvPr id="7" name="Rectangle 6">
            <a:extLst>
              <a:ext uri="{FF2B5EF4-FFF2-40B4-BE49-F238E27FC236}">
                <a16:creationId xmlns:a16="http://schemas.microsoft.com/office/drawing/2014/main" id="{C149813A-64B3-4445-989D-FEAE9EBDD78A}"/>
              </a:ext>
            </a:extLst>
          </p:cNvPr>
          <p:cNvSpPr>
            <a:spLocks noGrp="1"/>
          </p:cNvSpPr>
          <p:nvPr/>
        </p:nvSpPr>
        <p:spPr>
          <a:xfrm>
            <a:off x="800100" y="3086100"/>
            <a:ext cx="5524500" cy="1123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0">
                <a:solidFill>
                  <a:srgbClr val="617086"/>
                </a:solidFill>
                <a:latin typeface="Aptos"/>
                <a:ea typeface="Aptos"/>
                <a:cs typeface="Aptos"/>
              </a:defRPr>
            </a:pPr>
            <a:r>
              <a:rPr sz="1200" b="0">
                <a:solidFill>
                  <a:srgbClr val="617086"/>
                </a:solidFill>
                <a:latin typeface="Aptos"/>
                <a:ea typeface="Aptos"/>
                <a:cs typeface="Aptos"/>
              </a:rPr>
              <a:t>Une proposition construite à partir du ROI de référence TransferAI, mais traduite dans le contexte ELTON CI autour de quatre terrains d'impact : comptes professionnels, flotte et cartes carburant, service client, procédures internes.</a:t>
            </a:r>
          </a:p>
        </p:txBody>
      </p:sp>
      <p:sp>
        <p:nvSpPr>
          <p:cNvPr id="8" name="Rectangle 7">
            <a:extLst>
              <a:ext uri="{FF2B5EF4-FFF2-40B4-BE49-F238E27FC236}">
                <a16:creationId xmlns:a16="http://schemas.microsoft.com/office/drawing/2014/main" id="{1091E25C-BC84-4859-873B-FA3752FD6278}"/>
              </a:ext>
            </a:extLst>
          </p:cNvPr>
          <p:cNvSpPr>
            <a:spLocks noGrp="1"/>
          </p:cNvSpPr>
          <p:nvPr/>
        </p:nvSpPr>
        <p:spPr>
          <a:xfrm>
            <a:off x="800100" y="3981450"/>
            <a:ext cx="3905250" cy="285750"/>
          </a:xfrm>
          <a:prstGeom prst="rect">
            <a:avLst/>
          </a:prstGeom>
          <a:solidFill>
            <a:srgbClr val="FBF5EE"/>
          </a:solidFill>
          <a:ln w="9525">
            <a:solidFill>
              <a:srgbClr val="D7CEC3"/>
            </a:solidFill>
            <a:prstDash val="solid"/>
          </a:ln>
        </p:spPr>
      </p:sp>
      <p:sp>
        <p:nvSpPr>
          <p:cNvPr id="9" name="Rectangle 8">
            <a:extLst>
              <a:ext uri="{FF2B5EF4-FFF2-40B4-BE49-F238E27FC236}">
                <a16:creationId xmlns:a16="http://schemas.microsoft.com/office/drawing/2014/main" id="{9F8ADB3B-494D-4A3D-9E39-72A7B6737ED3}"/>
              </a:ext>
            </a:extLst>
          </p:cNvPr>
          <p:cNvSpPr>
            <a:spLocks noGrp="1"/>
          </p:cNvSpPr>
          <p:nvPr/>
        </p:nvSpPr>
        <p:spPr>
          <a:xfrm>
            <a:off x="952500" y="4048125"/>
            <a:ext cx="361950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63" b="1">
                <a:solidFill>
                  <a:srgbClr val="1A3554"/>
                </a:solidFill>
                <a:latin typeface="Aptos"/>
                <a:ea typeface="Aptos"/>
                <a:cs typeface="Aptos"/>
              </a:defRPr>
            </a:pPr>
            <a:r>
              <a:rPr sz="863" b="1" dirty="0" err="1">
                <a:solidFill>
                  <a:srgbClr val="1A3554"/>
                </a:solidFill>
                <a:latin typeface="Aptos"/>
                <a:ea typeface="Aptos"/>
                <a:cs typeface="Aptos"/>
              </a:rPr>
              <a:t>TransferAI</a:t>
            </a:r>
            <a:r>
              <a:rPr sz="863" b="1" dirty="0">
                <a:solidFill>
                  <a:srgbClr val="1A3554"/>
                </a:solidFill>
                <a:latin typeface="Aptos"/>
                <a:ea typeface="Aptos"/>
                <a:cs typeface="Aptos"/>
              </a:rPr>
              <a:t> est le hub I</a:t>
            </a:r>
            <a:r>
              <a:rPr lang="en-GB" sz="863" b="1" dirty="0">
                <a:solidFill>
                  <a:srgbClr val="1A3554"/>
                </a:solidFill>
                <a:latin typeface="Aptos"/>
                <a:ea typeface="Aptos"/>
                <a:cs typeface="Aptos"/>
              </a:rPr>
              <a:t>A</a:t>
            </a:r>
            <a:r>
              <a:rPr sz="863" b="1" dirty="0">
                <a:solidFill>
                  <a:srgbClr val="1A3554"/>
                </a:solidFill>
                <a:latin typeface="Aptos"/>
                <a:ea typeface="Aptos"/>
                <a:cs typeface="Aptos"/>
              </a:rPr>
              <a:t> de </a:t>
            </a:r>
            <a:r>
              <a:rPr sz="863" b="1" dirty="0" err="1">
                <a:solidFill>
                  <a:srgbClr val="1A3554"/>
                </a:solidFill>
                <a:latin typeface="Aptos"/>
                <a:ea typeface="Aptos"/>
                <a:cs typeface="Aptos"/>
              </a:rPr>
              <a:t>Nettelecom</a:t>
            </a:r>
            <a:r>
              <a:rPr sz="863" b="1" dirty="0">
                <a:solidFill>
                  <a:srgbClr val="1A3554"/>
                </a:solidFill>
                <a:latin typeface="Aptos"/>
                <a:ea typeface="Aptos"/>
                <a:cs typeface="Aptos"/>
              </a:rPr>
              <a:t> CI</a:t>
            </a:r>
          </a:p>
        </p:txBody>
      </p:sp>
      <p:sp>
        <p:nvSpPr>
          <p:cNvPr id="10" name="Rectangle 9">
            <a:extLst>
              <a:ext uri="{FF2B5EF4-FFF2-40B4-BE49-F238E27FC236}">
                <a16:creationId xmlns:a16="http://schemas.microsoft.com/office/drawing/2014/main" id="{70AF58CB-4DD8-490A-A7DB-3EAE0ABCB994}"/>
              </a:ext>
            </a:extLst>
          </p:cNvPr>
          <p:cNvSpPr>
            <a:spLocks noGrp="1"/>
          </p:cNvSpPr>
          <p:nvPr/>
        </p:nvSpPr>
        <p:spPr>
          <a:xfrm>
            <a:off x="800100" y="4324350"/>
            <a:ext cx="20955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1">
                <a:solidFill>
                  <a:srgbClr val="E76F1D"/>
                </a:solidFill>
                <a:latin typeface="Aptos"/>
                <a:ea typeface="Aptos"/>
                <a:cs typeface="Aptos"/>
              </a:defRPr>
            </a:pPr>
            <a:r>
              <a:rPr sz="750" b="1">
                <a:solidFill>
                  <a:srgbClr val="E76F1D"/>
                </a:solidFill>
                <a:latin typeface="Aptos"/>
                <a:ea typeface="Aptos"/>
                <a:cs typeface="Aptos"/>
              </a:rPr>
              <a:t>Point d'entrée recommandé</a:t>
            </a:r>
          </a:p>
        </p:txBody>
      </p:sp>
      <p:sp>
        <p:nvSpPr>
          <p:cNvPr id="11" name="Rectangle 10">
            <a:extLst>
              <a:ext uri="{FF2B5EF4-FFF2-40B4-BE49-F238E27FC236}">
                <a16:creationId xmlns:a16="http://schemas.microsoft.com/office/drawing/2014/main" id="{550C7CA9-6CCA-4A02-AEEE-E76194539426}"/>
              </a:ext>
            </a:extLst>
          </p:cNvPr>
          <p:cNvSpPr>
            <a:spLocks noGrp="1"/>
          </p:cNvSpPr>
          <p:nvPr/>
        </p:nvSpPr>
        <p:spPr>
          <a:xfrm>
            <a:off x="800100" y="4533900"/>
            <a:ext cx="5219700" cy="533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1">
                <a:solidFill>
                  <a:srgbClr val="1A3554"/>
                </a:solidFill>
                <a:latin typeface="Aptos"/>
                <a:ea typeface="Aptos"/>
                <a:cs typeface="Aptos"/>
              </a:defRPr>
            </a:pPr>
            <a:r>
              <a:rPr sz="1050" b="1">
                <a:solidFill>
                  <a:srgbClr val="1A3554"/>
                </a:solidFill>
                <a:latin typeface="Aptos"/>
                <a:ea typeface="Aptos"/>
                <a:cs typeface="Aptos"/>
              </a:rPr>
              <a:t>Audit IA gratuit + atelier métier de 45 minutes pour qualifier les priorités, les KPI et la bonne séquence de déploiement.</a:t>
            </a:r>
          </a:p>
        </p:txBody>
      </p:sp>
      <p:sp>
        <p:nvSpPr>
          <p:cNvPr id="12" name="Rectangle 11">
            <a:extLst>
              <a:ext uri="{FF2B5EF4-FFF2-40B4-BE49-F238E27FC236}">
                <a16:creationId xmlns:a16="http://schemas.microsoft.com/office/drawing/2014/main" id="{14BF964B-3B72-4359-A66F-3831CA311CFA}"/>
              </a:ext>
            </a:extLst>
          </p:cNvPr>
          <p:cNvSpPr>
            <a:spLocks noGrp="1"/>
          </p:cNvSpPr>
          <p:nvPr/>
        </p:nvSpPr>
        <p:spPr>
          <a:xfrm>
            <a:off x="800100" y="5219699"/>
            <a:ext cx="1314450" cy="864653"/>
          </a:xfrm>
          <a:prstGeom prst="rect">
            <a:avLst/>
          </a:prstGeom>
          <a:solidFill>
            <a:srgbClr val="FFFDFC"/>
          </a:solidFill>
          <a:ln w="9525">
            <a:solidFill>
              <a:srgbClr val="D7CEC3"/>
            </a:solidFill>
            <a:prstDash val="solid"/>
          </a:ln>
        </p:spPr>
      </p:sp>
      <p:sp>
        <p:nvSpPr>
          <p:cNvPr id="13" name="Rectangle 12">
            <a:extLst>
              <a:ext uri="{FF2B5EF4-FFF2-40B4-BE49-F238E27FC236}">
                <a16:creationId xmlns:a16="http://schemas.microsoft.com/office/drawing/2014/main" id="{EA19C6A6-C2DC-4E96-A9D3-EA7930585DD1}"/>
              </a:ext>
            </a:extLst>
          </p:cNvPr>
          <p:cNvSpPr>
            <a:spLocks noGrp="1"/>
          </p:cNvSpPr>
          <p:nvPr/>
        </p:nvSpPr>
        <p:spPr>
          <a:xfrm>
            <a:off x="952500" y="5391150"/>
            <a:ext cx="28575" cy="476250"/>
          </a:xfrm>
          <a:prstGeom prst="rect">
            <a:avLst/>
          </a:prstGeom>
          <a:solidFill>
            <a:srgbClr val="E76F1D"/>
          </a:solidFill>
          <a:ln w="0">
            <a:solidFill>
              <a:srgbClr val="000000">
                <a:alpha val="0"/>
              </a:srgbClr>
            </a:solidFill>
            <a:prstDash val="solid"/>
          </a:ln>
        </p:spPr>
      </p:sp>
      <p:sp>
        <p:nvSpPr>
          <p:cNvPr id="14" name="Rectangle 13">
            <a:extLst>
              <a:ext uri="{FF2B5EF4-FFF2-40B4-BE49-F238E27FC236}">
                <a16:creationId xmlns:a16="http://schemas.microsoft.com/office/drawing/2014/main" id="{E11D0E52-46A8-4157-A604-0867F06FDAB1}"/>
              </a:ext>
            </a:extLst>
          </p:cNvPr>
          <p:cNvSpPr>
            <a:spLocks noGrp="1"/>
          </p:cNvSpPr>
          <p:nvPr/>
        </p:nvSpPr>
        <p:spPr>
          <a:xfrm>
            <a:off x="1085850" y="5353050"/>
            <a:ext cx="89535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650" b="1">
                <a:solidFill>
                  <a:srgbClr val="1A3554"/>
                </a:solidFill>
                <a:latin typeface="Aptos Display"/>
                <a:ea typeface="Aptos Display"/>
                <a:cs typeface="Aptos Display"/>
              </a:defRPr>
            </a:pPr>
            <a:r>
              <a:rPr sz="1650" b="1">
                <a:solidFill>
                  <a:srgbClr val="1A3554"/>
                </a:solidFill>
                <a:latin typeface="Aptos Display"/>
                <a:ea typeface="Aptos Display"/>
                <a:cs typeface="Aptos Display"/>
              </a:rPr>
              <a:t>J+15</a:t>
            </a:r>
          </a:p>
        </p:txBody>
      </p:sp>
      <p:sp>
        <p:nvSpPr>
          <p:cNvPr id="15" name="Rectangle 14">
            <a:extLst>
              <a:ext uri="{FF2B5EF4-FFF2-40B4-BE49-F238E27FC236}">
                <a16:creationId xmlns:a16="http://schemas.microsoft.com/office/drawing/2014/main" id="{4D374A4A-D9E2-4E93-8E88-D6E77E72A8AF}"/>
              </a:ext>
            </a:extLst>
          </p:cNvPr>
          <p:cNvSpPr>
            <a:spLocks noGrp="1"/>
          </p:cNvSpPr>
          <p:nvPr/>
        </p:nvSpPr>
        <p:spPr>
          <a:xfrm>
            <a:off x="1085850" y="5657850"/>
            <a:ext cx="8953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1">
                <a:solidFill>
                  <a:srgbClr val="617086"/>
                </a:solidFill>
                <a:latin typeface="Aptos"/>
                <a:ea typeface="Aptos"/>
                <a:cs typeface="Aptos"/>
              </a:defRPr>
            </a:pPr>
            <a:r>
              <a:rPr sz="713" b="1">
                <a:solidFill>
                  <a:srgbClr val="617086"/>
                </a:solidFill>
                <a:latin typeface="Aptos"/>
                <a:ea typeface="Aptos"/>
                <a:cs typeface="Aptos"/>
              </a:rPr>
              <a:t>premier livrable</a:t>
            </a:r>
          </a:p>
        </p:txBody>
      </p:sp>
      <p:sp>
        <p:nvSpPr>
          <p:cNvPr id="16" name="Rectangle 15">
            <a:extLst>
              <a:ext uri="{FF2B5EF4-FFF2-40B4-BE49-F238E27FC236}">
                <a16:creationId xmlns:a16="http://schemas.microsoft.com/office/drawing/2014/main" id="{B7C928AF-9C0A-4A29-B65F-D76F365AE21D}"/>
              </a:ext>
            </a:extLst>
          </p:cNvPr>
          <p:cNvSpPr>
            <a:spLocks noGrp="1"/>
          </p:cNvSpPr>
          <p:nvPr/>
        </p:nvSpPr>
        <p:spPr>
          <a:xfrm>
            <a:off x="1085850" y="5829300"/>
            <a:ext cx="8953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38" b="0">
                <a:solidFill>
                  <a:srgbClr val="617086"/>
                </a:solidFill>
                <a:latin typeface="Aptos"/>
                <a:ea typeface="Aptos"/>
                <a:cs typeface="Aptos"/>
              </a:defRPr>
            </a:pPr>
            <a:r>
              <a:rPr sz="638" b="0" dirty="0">
                <a:solidFill>
                  <a:srgbClr val="617086"/>
                </a:solidFill>
                <a:latin typeface="Aptos"/>
                <a:ea typeface="Aptos"/>
                <a:cs typeface="Aptos"/>
              </a:rPr>
              <a:t>lecture </a:t>
            </a:r>
            <a:r>
              <a:rPr sz="638" b="0" dirty="0" err="1">
                <a:solidFill>
                  <a:srgbClr val="617086"/>
                </a:solidFill>
                <a:latin typeface="Aptos"/>
                <a:ea typeface="Aptos"/>
                <a:cs typeface="Aptos"/>
              </a:rPr>
              <a:t>claire</a:t>
            </a:r>
            <a:r>
              <a:rPr sz="638" b="0" dirty="0">
                <a:solidFill>
                  <a:srgbClr val="617086"/>
                </a:solidFill>
                <a:latin typeface="Aptos"/>
                <a:ea typeface="Aptos"/>
                <a:cs typeface="Aptos"/>
              </a:rPr>
              <a:t> des gains </a:t>
            </a:r>
            <a:r>
              <a:rPr sz="638" b="0" dirty="0" err="1">
                <a:solidFill>
                  <a:srgbClr val="617086"/>
                </a:solidFill>
                <a:latin typeface="Aptos"/>
                <a:ea typeface="Aptos"/>
                <a:cs typeface="Aptos"/>
              </a:rPr>
              <a:t>rapides</a:t>
            </a:r>
            <a:endParaRPr sz="638" b="0" dirty="0">
              <a:solidFill>
                <a:srgbClr val="617086"/>
              </a:solidFill>
              <a:latin typeface="Aptos"/>
              <a:ea typeface="Aptos"/>
              <a:cs typeface="Aptos"/>
            </a:endParaRPr>
          </a:p>
        </p:txBody>
      </p:sp>
      <p:sp>
        <p:nvSpPr>
          <p:cNvPr id="17" name="Rectangle 16">
            <a:extLst>
              <a:ext uri="{FF2B5EF4-FFF2-40B4-BE49-F238E27FC236}">
                <a16:creationId xmlns:a16="http://schemas.microsoft.com/office/drawing/2014/main" id="{59248F2B-0EC2-49E0-B9A2-B5715D6D3804}"/>
              </a:ext>
            </a:extLst>
          </p:cNvPr>
          <p:cNvSpPr>
            <a:spLocks noGrp="1"/>
          </p:cNvSpPr>
          <p:nvPr/>
        </p:nvSpPr>
        <p:spPr>
          <a:xfrm>
            <a:off x="2247900" y="5219700"/>
            <a:ext cx="1314450" cy="874180"/>
          </a:xfrm>
          <a:prstGeom prst="rect">
            <a:avLst/>
          </a:prstGeom>
          <a:solidFill>
            <a:srgbClr val="FFFDFC"/>
          </a:solidFill>
          <a:ln w="9525">
            <a:solidFill>
              <a:srgbClr val="D7CEC3"/>
            </a:solidFill>
            <a:prstDash val="solid"/>
          </a:ln>
        </p:spPr>
      </p:sp>
      <p:sp>
        <p:nvSpPr>
          <p:cNvPr id="18" name="Rectangle 17">
            <a:extLst>
              <a:ext uri="{FF2B5EF4-FFF2-40B4-BE49-F238E27FC236}">
                <a16:creationId xmlns:a16="http://schemas.microsoft.com/office/drawing/2014/main" id="{B45A7152-56D1-4830-866A-827F792B0269}"/>
              </a:ext>
            </a:extLst>
          </p:cNvPr>
          <p:cNvSpPr>
            <a:spLocks noGrp="1"/>
          </p:cNvSpPr>
          <p:nvPr/>
        </p:nvSpPr>
        <p:spPr>
          <a:xfrm>
            <a:off x="2400300" y="5391150"/>
            <a:ext cx="28575" cy="476250"/>
          </a:xfrm>
          <a:prstGeom prst="rect">
            <a:avLst/>
          </a:prstGeom>
          <a:solidFill>
            <a:srgbClr val="1C8A78"/>
          </a:solidFill>
          <a:ln w="0">
            <a:solidFill>
              <a:srgbClr val="000000">
                <a:alpha val="0"/>
              </a:srgbClr>
            </a:solidFill>
            <a:prstDash val="solid"/>
          </a:ln>
        </p:spPr>
      </p:sp>
      <p:sp>
        <p:nvSpPr>
          <p:cNvPr id="19" name="Rectangle 18">
            <a:extLst>
              <a:ext uri="{FF2B5EF4-FFF2-40B4-BE49-F238E27FC236}">
                <a16:creationId xmlns:a16="http://schemas.microsoft.com/office/drawing/2014/main" id="{64FE4E08-FE6F-4E59-A08D-4F330F240D85}"/>
              </a:ext>
            </a:extLst>
          </p:cNvPr>
          <p:cNvSpPr>
            <a:spLocks noGrp="1"/>
          </p:cNvSpPr>
          <p:nvPr/>
        </p:nvSpPr>
        <p:spPr>
          <a:xfrm>
            <a:off x="2533650" y="5353050"/>
            <a:ext cx="89535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650" b="1">
                <a:solidFill>
                  <a:srgbClr val="1A3554"/>
                </a:solidFill>
                <a:latin typeface="Aptos Display"/>
                <a:ea typeface="Aptos Display"/>
                <a:cs typeface="Aptos Display"/>
              </a:defRPr>
            </a:pPr>
            <a:r>
              <a:rPr sz="1650" b="1">
                <a:solidFill>
                  <a:srgbClr val="1A3554"/>
                </a:solidFill>
                <a:latin typeface="Aptos Display"/>
                <a:ea typeface="Aptos Display"/>
                <a:cs typeface="Aptos Display"/>
              </a:rPr>
              <a:t>13</a:t>
            </a:r>
          </a:p>
        </p:txBody>
      </p:sp>
      <p:sp>
        <p:nvSpPr>
          <p:cNvPr id="20" name="Rectangle 19">
            <a:extLst>
              <a:ext uri="{FF2B5EF4-FFF2-40B4-BE49-F238E27FC236}">
                <a16:creationId xmlns:a16="http://schemas.microsoft.com/office/drawing/2014/main" id="{2A3E163C-C35F-4ECD-80A0-8BDC21BD2BDF}"/>
              </a:ext>
            </a:extLst>
          </p:cNvPr>
          <p:cNvSpPr>
            <a:spLocks noGrp="1"/>
          </p:cNvSpPr>
          <p:nvPr/>
        </p:nvSpPr>
        <p:spPr>
          <a:xfrm>
            <a:off x="2533650" y="5657850"/>
            <a:ext cx="8953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1">
                <a:solidFill>
                  <a:srgbClr val="617086"/>
                </a:solidFill>
                <a:latin typeface="Aptos"/>
                <a:ea typeface="Aptos"/>
                <a:cs typeface="Aptos"/>
              </a:defRPr>
            </a:pPr>
            <a:r>
              <a:rPr sz="713" b="1">
                <a:solidFill>
                  <a:srgbClr val="617086"/>
                </a:solidFill>
                <a:latin typeface="Aptos"/>
                <a:ea typeface="Aptos"/>
                <a:cs typeface="Aptos"/>
              </a:rPr>
              <a:t>experts IA</a:t>
            </a:r>
          </a:p>
        </p:txBody>
      </p:sp>
      <p:sp>
        <p:nvSpPr>
          <p:cNvPr id="21" name="Rectangle 20">
            <a:extLst>
              <a:ext uri="{FF2B5EF4-FFF2-40B4-BE49-F238E27FC236}">
                <a16:creationId xmlns:a16="http://schemas.microsoft.com/office/drawing/2014/main" id="{C6ED4EBE-5B04-4ADE-9E96-FD8353DA7292}"/>
              </a:ext>
            </a:extLst>
          </p:cNvPr>
          <p:cNvSpPr>
            <a:spLocks noGrp="1"/>
          </p:cNvSpPr>
          <p:nvPr/>
        </p:nvSpPr>
        <p:spPr>
          <a:xfrm>
            <a:off x="2533650" y="5829300"/>
            <a:ext cx="8953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38" b="0">
                <a:solidFill>
                  <a:srgbClr val="617086"/>
                </a:solidFill>
                <a:latin typeface="Aptos"/>
                <a:ea typeface="Aptos"/>
                <a:cs typeface="Aptos"/>
              </a:defRPr>
            </a:pPr>
            <a:r>
              <a:rPr sz="638" b="0">
                <a:solidFill>
                  <a:srgbClr val="617086"/>
                </a:solidFill>
                <a:latin typeface="Aptos"/>
                <a:ea typeface="Aptos"/>
                <a:cs typeface="Aptos"/>
              </a:rPr>
              <a:t>mobilisés via TransferAI</a:t>
            </a:r>
          </a:p>
        </p:txBody>
      </p:sp>
      <p:sp>
        <p:nvSpPr>
          <p:cNvPr id="22" name="Rectangle 21">
            <a:extLst>
              <a:ext uri="{FF2B5EF4-FFF2-40B4-BE49-F238E27FC236}">
                <a16:creationId xmlns:a16="http://schemas.microsoft.com/office/drawing/2014/main" id="{27BF012B-1963-4153-B3C8-C23E29A1812D}"/>
              </a:ext>
            </a:extLst>
          </p:cNvPr>
          <p:cNvSpPr>
            <a:spLocks noGrp="1"/>
          </p:cNvSpPr>
          <p:nvPr/>
        </p:nvSpPr>
        <p:spPr>
          <a:xfrm>
            <a:off x="3695700" y="5219699"/>
            <a:ext cx="1314450" cy="874181"/>
          </a:xfrm>
          <a:prstGeom prst="rect">
            <a:avLst/>
          </a:prstGeom>
          <a:solidFill>
            <a:srgbClr val="FFFDFC"/>
          </a:solidFill>
          <a:ln w="9525">
            <a:solidFill>
              <a:srgbClr val="D7CEC3"/>
            </a:solidFill>
            <a:prstDash val="solid"/>
          </a:ln>
        </p:spPr>
      </p:sp>
      <p:sp>
        <p:nvSpPr>
          <p:cNvPr id="23" name="Rectangle 22">
            <a:extLst>
              <a:ext uri="{FF2B5EF4-FFF2-40B4-BE49-F238E27FC236}">
                <a16:creationId xmlns:a16="http://schemas.microsoft.com/office/drawing/2014/main" id="{E15E01AA-C7E2-4CE8-972B-E06DB468AADC}"/>
              </a:ext>
            </a:extLst>
          </p:cNvPr>
          <p:cNvSpPr>
            <a:spLocks noGrp="1"/>
          </p:cNvSpPr>
          <p:nvPr/>
        </p:nvSpPr>
        <p:spPr>
          <a:xfrm>
            <a:off x="3848100" y="5391150"/>
            <a:ext cx="28575" cy="476250"/>
          </a:xfrm>
          <a:prstGeom prst="rect">
            <a:avLst/>
          </a:prstGeom>
          <a:solidFill>
            <a:srgbClr val="163556"/>
          </a:solidFill>
          <a:ln w="0">
            <a:solidFill>
              <a:srgbClr val="000000">
                <a:alpha val="0"/>
              </a:srgbClr>
            </a:solidFill>
            <a:prstDash val="solid"/>
          </a:ln>
        </p:spPr>
      </p:sp>
      <p:sp>
        <p:nvSpPr>
          <p:cNvPr id="24" name="Rectangle 23">
            <a:extLst>
              <a:ext uri="{FF2B5EF4-FFF2-40B4-BE49-F238E27FC236}">
                <a16:creationId xmlns:a16="http://schemas.microsoft.com/office/drawing/2014/main" id="{23C52225-9074-4F18-9759-66C9999EA855}"/>
              </a:ext>
            </a:extLst>
          </p:cNvPr>
          <p:cNvSpPr>
            <a:spLocks noGrp="1"/>
          </p:cNvSpPr>
          <p:nvPr/>
        </p:nvSpPr>
        <p:spPr>
          <a:xfrm>
            <a:off x="3981450" y="5353050"/>
            <a:ext cx="895350" cy="238125"/>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650" b="1">
                <a:solidFill>
                  <a:srgbClr val="1A3554"/>
                </a:solidFill>
                <a:latin typeface="Aptos Display"/>
                <a:ea typeface="Aptos Display"/>
                <a:cs typeface="Aptos Display"/>
              </a:defRPr>
            </a:pPr>
            <a:r>
              <a:rPr sz="1650" b="1" dirty="0">
                <a:solidFill>
                  <a:srgbClr val="1A3554"/>
                </a:solidFill>
                <a:latin typeface="Aptos Display"/>
                <a:ea typeface="Aptos Display"/>
                <a:cs typeface="Aptos Display"/>
              </a:rPr>
              <a:t>+30 %</a:t>
            </a:r>
          </a:p>
        </p:txBody>
      </p:sp>
      <p:sp>
        <p:nvSpPr>
          <p:cNvPr id="25" name="Rectangle 24">
            <a:extLst>
              <a:ext uri="{FF2B5EF4-FFF2-40B4-BE49-F238E27FC236}">
                <a16:creationId xmlns:a16="http://schemas.microsoft.com/office/drawing/2014/main" id="{40D437FD-7AAE-4619-8D67-D48566AB6810}"/>
              </a:ext>
            </a:extLst>
          </p:cNvPr>
          <p:cNvSpPr>
            <a:spLocks noGrp="1"/>
          </p:cNvSpPr>
          <p:nvPr/>
        </p:nvSpPr>
        <p:spPr>
          <a:xfrm>
            <a:off x="3981450" y="5615514"/>
            <a:ext cx="895350" cy="213785"/>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1">
                <a:solidFill>
                  <a:srgbClr val="617086"/>
                </a:solidFill>
                <a:latin typeface="Aptos"/>
                <a:ea typeface="Aptos"/>
                <a:cs typeface="Aptos"/>
              </a:defRPr>
            </a:pPr>
            <a:r>
              <a:rPr sz="713" b="1" dirty="0" err="1">
                <a:solidFill>
                  <a:srgbClr val="617086"/>
                </a:solidFill>
                <a:latin typeface="Aptos"/>
                <a:ea typeface="Aptos"/>
                <a:cs typeface="Aptos"/>
              </a:rPr>
              <a:t>productivité</a:t>
            </a:r>
            <a:r>
              <a:rPr sz="713" b="1" dirty="0">
                <a:solidFill>
                  <a:srgbClr val="617086"/>
                </a:solidFill>
                <a:latin typeface="Aptos"/>
                <a:ea typeface="Aptos"/>
                <a:cs typeface="Aptos"/>
              </a:rPr>
              <a:t> benchmark</a:t>
            </a:r>
          </a:p>
        </p:txBody>
      </p:sp>
      <p:sp>
        <p:nvSpPr>
          <p:cNvPr id="26" name="Rectangle 25">
            <a:extLst>
              <a:ext uri="{FF2B5EF4-FFF2-40B4-BE49-F238E27FC236}">
                <a16:creationId xmlns:a16="http://schemas.microsoft.com/office/drawing/2014/main" id="{48ABD836-4F8A-4D40-AD39-B06986A4DCD2}"/>
              </a:ext>
            </a:extLst>
          </p:cNvPr>
          <p:cNvSpPr>
            <a:spLocks noGrp="1"/>
          </p:cNvSpPr>
          <p:nvPr/>
        </p:nvSpPr>
        <p:spPr>
          <a:xfrm>
            <a:off x="3981450" y="5854701"/>
            <a:ext cx="8953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38" b="0">
                <a:solidFill>
                  <a:srgbClr val="617086"/>
                </a:solidFill>
                <a:latin typeface="Aptos"/>
                <a:ea typeface="Aptos"/>
                <a:cs typeface="Aptos"/>
              </a:defRPr>
            </a:pPr>
            <a:r>
              <a:rPr sz="638" b="0" dirty="0">
                <a:solidFill>
                  <a:srgbClr val="617086"/>
                </a:solidFill>
                <a:latin typeface="Aptos"/>
                <a:ea typeface="Aptos"/>
                <a:cs typeface="Aptos"/>
              </a:rPr>
              <a:t>sur des flux </a:t>
            </a:r>
            <a:r>
              <a:rPr sz="638" b="0" dirty="0" err="1">
                <a:solidFill>
                  <a:srgbClr val="617086"/>
                </a:solidFill>
                <a:latin typeface="Aptos"/>
                <a:ea typeface="Aptos"/>
                <a:cs typeface="Aptos"/>
              </a:rPr>
              <a:t>répétitifs</a:t>
            </a:r>
            <a:r>
              <a:rPr sz="638" b="0" dirty="0">
                <a:solidFill>
                  <a:srgbClr val="617086"/>
                </a:solidFill>
                <a:latin typeface="Aptos"/>
                <a:ea typeface="Aptos"/>
                <a:cs typeface="Aptos"/>
              </a:rPr>
              <a:t> comparables</a:t>
            </a:r>
          </a:p>
        </p:txBody>
      </p:sp>
      <p:sp>
        <p:nvSpPr>
          <p:cNvPr id="27" name="Rectangle 26">
            <a:extLst>
              <a:ext uri="{FF2B5EF4-FFF2-40B4-BE49-F238E27FC236}">
                <a16:creationId xmlns:a16="http://schemas.microsoft.com/office/drawing/2014/main" id="{642D2164-BDF3-4D1A-9C16-8A1A1FF6005A}"/>
              </a:ext>
            </a:extLst>
          </p:cNvPr>
          <p:cNvSpPr>
            <a:spLocks noGrp="1"/>
          </p:cNvSpPr>
          <p:nvPr/>
        </p:nvSpPr>
        <p:spPr>
          <a:xfrm>
            <a:off x="5143500" y="5219700"/>
            <a:ext cx="1314450" cy="857250"/>
          </a:xfrm>
          <a:prstGeom prst="rect">
            <a:avLst/>
          </a:prstGeom>
          <a:solidFill>
            <a:srgbClr val="FFFDFC"/>
          </a:solidFill>
          <a:ln w="9525">
            <a:solidFill>
              <a:srgbClr val="D7CEC3"/>
            </a:solidFill>
            <a:prstDash val="solid"/>
          </a:ln>
        </p:spPr>
      </p:sp>
      <p:sp>
        <p:nvSpPr>
          <p:cNvPr id="28" name="Rectangle 27">
            <a:extLst>
              <a:ext uri="{FF2B5EF4-FFF2-40B4-BE49-F238E27FC236}">
                <a16:creationId xmlns:a16="http://schemas.microsoft.com/office/drawing/2014/main" id="{375A6B07-F94F-48DE-976B-10070207EF60}"/>
              </a:ext>
            </a:extLst>
          </p:cNvPr>
          <p:cNvSpPr>
            <a:spLocks noGrp="1"/>
          </p:cNvSpPr>
          <p:nvPr/>
        </p:nvSpPr>
        <p:spPr>
          <a:xfrm>
            <a:off x="5295900" y="5391150"/>
            <a:ext cx="28575" cy="476250"/>
          </a:xfrm>
          <a:prstGeom prst="rect">
            <a:avLst/>
          </a:prstGeom>
          <a:solidFill>
            <a:srgbClr val="C88C3A"/>
          </a:solidFill>
          <a:ln w="0">
            <a:solidFill>
              <a:srgbClr val="000000">
                <a:alpha val="0"/>
              </a:srgbClr>
            </a:solidFill>
            <a:prstDash val="solid"/>
          </a:ln>
        </p:spPr>
      </p:sp>
      <p:sp>
        <p:nvSpPr>
          <p:cNvPr id="29" name="Rectangle 28">
            <a:extLst>
              <a:ext uri="{FF2B5EF4-FFF2-40B4-BE49-F238E27FC236}">
                <a16:creationId xmlns:a16="http://schemas.microsoft.com/office/drawing/2014/main" id="{0DBB07E5-0917-4D43-A667-5948EB86AB8C}"/>
              </a:ext>
            </a:extLst>
          </p:cNvPr>
          <p:cNvSpPr>
            <a:spLocks noGrp="1"/>
          </p:cNvSpPr>
          <p:nvPr/>
        </p:nvSpPr>
        <p:spPr>
          <a:xfrm>
            <a:off x="5429250" y="5353050"/>
            <a:ext cx="89535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650" b="1">
                <a:solidFill>
                  <a:srgbClr val="1A3554"/>
                </a:solidFill>
                <a:latin typeface="Aptos Display"/>
                <a:ea typeface="Aptos Display"/>
                <a:cs typeface="Aptos Display"/>
              </a:defRPr>
            </a:pPr>
            <a:r>
              <a:rPr sz="1650" b="1">
                <a:solidFill>
                  <a:srgbClr val="1A3554"/>
                </a:solidFill>
                <a:latin typeface="Aptos Display"/>
                <a:ea typeface="Aptos Display"/>
                <a:cs typeface="Aptos Display"/>
              </a:rPr>
              <a:t>-45 %</a:t>
            </a:r>
          </a:p>
        </p:txBody>
      </p:sp>
      <p:sp>
        <p:nvSpPr>
          <p:cNvPr id="30" name="Rectangle 29">
            <a:extLst>
              <a:ext uri="{FF2B5EF4-FFF2-40B4-BE49-F238E27FC236}">
                <a16:creationId xmlns:a16="http://schemas.microsoft.com/office/drawing/2014/main" id="{877489E5-6324-4E4C-A6E4-4E67136106F0}"/>
              </a:ext>
            </a:extLst>
          </p:cNvPr>
          <p:cNvSpPr>
            <a:spLocks noGrp="1"/>
          </p:cNvSpPr>
          <p:nvPr/>
        </p:nvSpPr>
        <p:spPr>
          <a:xfrm>
            <a:off x="5429250" y="5657850"/>
            <a:ext cx="8953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1">
                <a:solidFill>
                  <a:srgbClr val="617086"/>
                </a:solidFill>
                <a:latin typeface="Aptos"/>
                <a:ea typeface="Aptos"/>
                <a:cs typeface="Aptos"/>
              </a:defRPr>
            </a:pPr>
            <a:r>
              <a:rPr sz="713" b="1">
                <a:solidFill>
                  <a:srgbClr val="617086"/>
                </a:solidFill>
                <a:latin typeface="Aptos"/>
                <a:ea typeface="Aptos"/>
                <a:cs typeface="Aptos"/>
              </a:rPr>
              <a:t>effort de formation</a:t>
            </a:r>
          </a:p>
        </p:txBody>
      </p:sp>
      <p:sp>
        <p:nvSpPr>
          <p:cNvPr id="31" name="Rectangle 30">
            <a:extLst>
              <a:ext uri="{FF2B5EF4-FFF2-40B4-BE49-F238E27FC236}">
                <a16:creationId xmlns:a16="http://schemas.microsoft.com/office/drawing/2014/main" id="{12EFD79F-5391-4F37-9A7B-2F23EF4BC3E9}"/>
              </a:ext>
            </a:extLst>
          </p:cNvPr>
          <p:cNvSpPr>
            <a:spLocks noGrp="1"/>
          </p:cNvSpPr>
          <p:nvPr/>
        </p:nvSpPr>
        <p:spPr>
          <a:xfrm>
            <a:off x="5429250" y="5829300"/>
            <a:ext cx="8953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38" b="0">
                <a:solidFill>
                  <a:srgbClr val="617086"/>
                </a:solidFill>
                <a:latin typeface="Aptos"/>
                <a:ea typeface="Aptos"/>
                <a:cs typeface="Aptos"/>
              </a:defRPr>
            </a:pPr>
            <a:r>
              <a:rPr sz="638" b="0">
                <a:solidFill>
                  <a:srgbClr val="617086"/>
                </a:solidFill>
                <a:latin typeface="Aptos"/>
                <a:ea typeface="Aptos"/>
                <a:cs typeface="Aptos"/>
              </a:rPr>
              <a:t>benchmark onboarding / diffusion</a:t>
            </a:r>
          </a:p>
        </p:txBody>
      </p:sp>
      <p:sp>
        <p:nvSpPr>
          <p:cNvPr id="32" name="Rectangle 31">
            <a:extLst>
              <a:ext uri="{FF2B5EF4-FFF2-40B4-BE49-F238E27FC236}">
                <a16:creationId xmlns:a16="http://schemas.microsoft.com/office/drawing/2014/main" id="{42590AC6-9058-4C99-917B-25D9EFEBD116}"/>
              </a:ext>
            </a:extLst>
          </p:cNvPr>
          <p:cNvSpPr>
            <a:spLocks noGrp="1"/>
          </p:cNvSpPr>
          <p:nvPr/>
        </p:nvSpPr>
        <p:spPr>
          <a:xfrm>
            <a:off x="7734300" y="1162050"/>
            <a:ext cx="24765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88" b="1">
                <a:solidFill>
                  <a:srgbClr val="FFFFFF"/>
                </a:solidFill>
                <a:latin typeface="Aptos"/>
                <a:ea typeface="Aptos"/>
                <a:cs typeface="Aptos"/>
              </a:defRPr>
            </a:pPr>
            <a:r>
              <a:rPr sz="788" b="1">
                <a:solidFill>
                  <a:srgbClr val="FFFFFF"/>
                </a:solidFill>
                <a:latin typeface="Aptos"/>
                <a:ea typeface="Aptos"/>
                <a:cs typeface="Aptos"/>
              </a:rPr>
              <a:t>CE QUE NOUS PROPOSONS</a:t>
            </a:r>
          </a:p>
        </p:txBody>
      </p:sp>
      <p:sp>
        <p:nvSpPr>
          <p:cNvPr id="33" name="Rectangle 32">
            <a:extLst>
              <a:ext uri="{FF2B5EF4-FFF2-40B4-BE49-F238E27FC236}">
                <a16:creationId xmlns:a16="http://schemas.microsoft.com/office/drawing/2014/main" id="{464D1726-4F7D-4236-B550-A51616D5D551}"/>
              </a:ext>
            </a:extLst>
          </p:cNvPr>
          <p:cNvSpPr>
            <a:spLocks noGrp="1"/>
          </p:cNvSpPr>
          <p:nvPr/>
        </p:nvSpPr>
        <p:spPr>
          <a:xfrm>
            <a:off x="7734300" y="1466850"/>
            <a:ext cx="3238500" cy="8001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00" b="1">
                <a:solidFill>
                  <a:srgbClr val="FFFFFF"/>
                </a:solidFill>
                <a:latin typeface="Aptos Display"/>
                <a:ea typeface="Aptos Display"/>
                <a:cs typeface="Aptos Display"/>
              </a:defRPr>
            </a:pPr>
            <a:r>
              <a:rPr sz="2100" b="1">
                <a:solidFill>
                  <a:srgbClr val="FFFFFF"/>
                </a:solidFill>
                <a:latin typeface="Aptos Display"/>
                <a:ea typeface="Aptos Display"/>
                <a:cs typeface="Aptos Display"/>
              </a:rPr>
              <a:t>Une offre exécutive,</a:t>
            </a:r>
          </a:p>
          <a:p>
            <a:pPr algn="l">
              <a:defRPr sz="2100" b="1">
                <a:solidFill>
                  <a:srgbClr val="FFFFFF"/>
                </a:solidFill>
                <a:latin typeface="Aptos Display"/>
                <a:ea typeface="Aptos Display"/>
                <a:cs typeface="Aptos Display"/>
              </a:defRPr>
            </a:pPr>
            <a:r>
              <a:rPr sz="2100" b="1">
                <a:solidFill>
                  <a:srgbClr val="FFFFFF"/>
                </a:solidFill>
                <a:latin typeface="Aptos Display"/>
                <a:ea typeface="Aptos Display"/>
                <a:cs typeface="Aptos Display"/>
              </a:rPr>
              <a:t>métier et mesurable.</a:t>
            </a:r>
          </a:p>
        </p:txBody>
      </p:sp>
      <p:sp>
        <p:nvSpPr>
          <p:cNvPr id="34" name="Rectangle 33">
            <a:extLst>
              <a:ext uri="{FF2B5EF4-FFF2-40B4-BE49-F238E27FC236}">
                <a16:creationId xmlns:a16="http://schemas.microsoft.com/office/drawing/2014/main" id="{836E727E-916C-4106-B99D-9A29615A21E0}"/>
              </a:ext>
            </a:extLst>
          </p:cNvPr>
          <p:cNvSpPr>
            <a:spLocks noGrp="1"/>
          </p:cNvSpPr>
          <p:nvPr/>
        </p:nvSpPr>
        <p:spPr>
          <a:xfrm>
            <a:off x="7734300" y="2628900"/>
            <a:ext cx="3219450" cy="11811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0">
                <a:solidFill>
                  <a:srgbClr val="C9D4E1"/>
                </a:solidFill>
                <a:latin typeface="Aptos"/>
                <a:ea typeface="Aptos"/>
                <a:cs typeface="Aptos"/>
              </a:defRPr>
            </a:pPr>
            <a:r>
              <a:rPr sz="1125" b="0">
                <a:solidFill>
                  <a:srgbClr val="C9D4E1"/>
                </a:solidFill>
                <a:latin typeface="Aptos"/>
                <a:ea typeface="Aptos"/>
                <a:cs typeface="Aptos"/>
              </a:rPr>
              <a:t>• Partir des vrais irritants d'ELTON CI</a:t>
            </a:r>
          </a:p>
          <a:p>
            <a:pPr algn="l">
              <a:defRPr sz="1125" b="0">
                <a:solidFill>
                  <a:srgbClr val="C9D4E1"/>
                </a:solidFill>
                <a:latin typeface="Aptos"/>
                <a:ea typeface="Aptos"/>
                <a:cs typeface="Aptos"/>
              </a:defRPr>
            </a:pPr>
            <a:r>
              <a:rPr sz="1125" b="0">
                <a:solidFill>
                  <a:srgbClr val="C9D4E1"/>
                </a:solidFill>
                <a:latin typeface="Aptos"/>
                <a:ea typeface="Aptos"/>
                <a:cs typeface="Aptos"/>
              </a:rPr>
              <a:t>• Cadrer des cas d'usage utiles avant tout déploiement</a:t>
            </a:r>
          </a:p>
          <a:p>
            <a:pPr algn="l">
              <a:defRPr sz="1125" b="0">
                <a:solidFill>
                  <a:srgbClr val="C9D4E1"/>
                </a:solidFill>
                <a:latin typeface="Aptos"/>
                <a:ea typeface="Aptos"/>
                <a:cs typeface="Aptos"/>
              </a:defRPr>
            </a:pPr>
            <a:r>
              <a:rPr sz="1125" b="0">
                <a:solidFill>
                  <a:srgbClr val="C9D4E1"/>
                </a:solidFill>
                <a:latin typeface="Aptos"/>
                <a:ea typeface="Aptos"/>
                <a:cs typeface="Aptos"/>
              </a:rPr>
              <a:t>• Former les bonnes équipes au bon niveau</a:t>
            </a:r>
          </a:p>
          <a:p>
            <a:pPr algn="l">
              <a:defRPr sz="1125" b="0">
                <a:solidFill>
                  <a:srgbClr val="C9D4E1"/>
                </a:solidFill>
                <a:latin typeface="Aptos"/>
                <a:ea typeface="Aptos"/>
                <a:cs typeface="Aptos"/>
              </a:defRPr>
            </a:pPr>
            <a:r>
              <a:rPr sz="1125" b="0">
                <a:solidFill>
                  <a:srgbClr val="C9D4E1"/>
                </a:solidFill>
                <a:latin typeface="Aptos"/>
                <a:ea typeface="Aptos"/>
                <a:cs typeface="Aptos"/>
              </a:rPr>
              <a:t>• Lancer un pilote avec mesure du ROI</a:t>
            </a:r>
          </a:p>
        </p:txBody>
      </p:sp>
      <p:sp>
        <p:nvSpPr>
          <p:cNvPr id="35" name="Rectangle 34">
            <a:extLst>
              <a:ext uri="{FF2B5EF4-FFF2-40B4-BE49-F238E27FC236}">
                <a16:creationId xmlns:a16="http://schemas.microsoft.com/office/drawing/2014/main" id="{1CA565C8-B526-45E9-8F68-8C534950A36E}"/>
              </a:ext>
            </a:extLst>
          </p:cNvPr>
          <p:cNvSpPr>
            <a:spLocks noGrp="1"/>
          </p:cNvSpPr>
          <p:nvPr/>
        </p:nvSpPr>
        <p:spPr>
          <a:xfrm>
            <a:off x="7734300" y="4095750"/>
            <a:ext cx="3143250" cy="971550"/>
          </a:xfrm>
          <a:prstGeom prst="rect">
            <a:avLst/>
          </a:prstGeom>
          <a:solidFill>
            <a:srgbClr val="244667"/>
          </a:solidFill>
          <a:ln w="9525">
            <a:solidFill>
              <a:srgbClr val="244667"/>
            </a:solidFill>
            <a:prstDash val="solid"/>
          </a:ln>
        </p:spPr>
      </p:sp>
      <p:sp>
        <p:nvSpPr>
          <p:cNvPr id="36" name="Rectangle 35">
            <a:extLst>
              <a:ext uri="{FF2B5EF4-FFF2-40B4-BE49-F238E27FC236}">
                <a16:creationId xmlns:a16="http://schemas.microsoft.com/office/drawing/2014/main" id="{5DAA2D4E-E4AC-4183-9613-3BEBA6698D65}"/>
              </a:ext>
            </a:extLst>
          </p:cNvPr>
          <p:cNvSpPr>
            <a:spLocks noGrp="1"/>
          </p:cNvSpPr>
          <p:nvPr/>
        </p:nvSpPr>
        <p:spPr>
          <a:xfrm>
            <a:off x="7943850" y="4267200"/>
            <a:ext cx="8572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1">
                <a:solidFill>
                  <a:srgbClr val="D7E5F3"/>
                </a:solidFill>
                <a:latin typeface="Aptos"/>
                <a:ea typeface="Aptos"/>
                <a:cs typeface="Aptos"/>
              </a:defRPr>
            </a:pPr>
            <a:r>
              <a:rPr sz="713" b="1">
                <a:solidFill>
                  <a:srgbClr val="D7E5F3"/>
                </a:solidFill>
                <a:latin typeface="Aptos"/>
                <a:ea typeface="Aptos"/>
                <a:cs typeface="Aptos"/>
              </a:rPr>
              <a:t>Promesse</a:t>
            </a:r>
          </a:p>
        </p:txBody>
      </p:sp>
      <p:sp>
        <p:nvSpPr>
          <p:cNvPr id="37" name="Rectangle 36">
            <a:extLst>
              <a:ext uri="{FF2B5EF4-FFF2-40B4-BE49-F238E27FC236}">
                <a16:creationId xmlns:a16="http://schemas.microsoft.com/office/drawing/2014/main" id="{85E8361B-9909-46E7-AB68-609A24491B02}"/>
              </a:ext>
            </a:extLst>
          </p:cNvPr>
          <p:cNvSpPr>
            <a:spLocks noGrp="1"/>
          </p:cNvSpPr>
          <p:nvPr/>
        </p:nvSpPr>
        <p:spPr>
          <a:xfrm>
            <a:off x="7943850" y="4476750"/>
            <a:ext cx="2724150" cy="4191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1">
                <a:solidFill>
                  <a:srgbClr val="FFFFFF"/>
                </a:solidFill>
                <a:latin typeface="Aptos"/>
                <a:ea typeface="Aptos"/>
                <a:cs typeface="Aptos"/>
              </a:defRPr>
            </a:pPr>
            <a:r>
              <a:rPr sz="1050" b="1">
                <a:solidFill>
                  <a:srgbClr val="FFFFFF"/>
                </a:solidFill>
                <a:latin typeface="Aptos"/>
                <a:ea typeface="Aptos"/>
                <a:cs typeface="Aptos"/>
              </a:rPr>
              <a:t>Faire de l'IA un levier de pilotage, de rigueur opérationnelle et de qualité de service pour ELTON CI.</a:t>
            </a:r>
          </a:p>
        </p:txBody>
      </p:sp>
      <p:sp>
        <p:nvSpPr>
          <p:cNvPr id="38" name="Rectangle 37">
            <a:extLst>
              <a:ext uri="{FF2B5EF4-FFF2-40B4-BE49-F238E27FC236}">
                <a16:creationId xmlns:a16="http://schemas.microsoft.com/office/drawing/2014/main" id="{2E1F01EE-F4CF-418C-88EF-E1A25B276588}"/>
              </a:ext>
            </a:extLst>
          </p:cNvPr>
          <p:cNvSpPr>
            <a:spLocks noGrp="1"/>
          </p:cNvSpPr>
          <p:nvPr/>
        </p:nvSpPr>
        <p:spPr>
          <a:xfrm>
            <a:off x="7734300" y="5219700"/>
            <a:ext cx="3143250" cy="819150"/>
          </a:xfrm>
          <a:prstGeom prst="rect">
            <a:avLst/>
          </a:prstGeom>
          <a:solidFill>
            <a:srgbClr val="10263F"/>
          </a:solidFill>
          <a:ln w="9525">
            <a:solidFill>
              <a:srgbClr val="2F587F"/>
            </a:solidFill>
            <a:prstDash val="solid"/>
          </a:ln>
        </p:spPr>
      </p:sp>
      <p:sp>
        <p:nvSpPr>
          <p:cNvPr id="39" name="Rectangle 38">
            <a:extLst>
              <a:ext uri="{FF2B5EF4-FFF2-40B4-BE49-F238E27FC236}">
                <a16:creationId xmlns:a16="http://schemas.microsoft.com/office/drawing/2014/main" id="{13786E3D-95A5-41A2-A8AF-B5277D227182}"/>
              </a:ext>
            </a:extLst>
          </p:cNvPr>
          <p:cNvSpPr>
            <a:spLocks noGrp="1"/>
          </p:cNvSpPr>
          <p:nvPr/>
        </p:nvSpPr>
        <p:spPr>
          <a:xfrm>
            <a:off x="7829551" y="5391150"/>
            <a:ext cx="2838449" cy="419100"/>
          </a:xfrm>
          <a:prstGeom prst="rect">
            <a:avLst/>
          </a:prstGeom>
          <a:solidFill>
            <a:srgbClr val="000000">
              <a:alpha val="0"/>
            </a:srgbClr>
          </a:solidFill>
          <a:ln w="0">
            <a:solidFill>
              <a:srgbClr val="000000">
                <a:alpha val="0"/>
              </a:srgbClr>
            </a:solidFill>
            <a:prstDash val="solid"/>
          </a:ln>
        </p:spPr>
        <p:txBody>
          <a:bodyPr lIns="0" tIns="0" rIns="0" bIns="0" anchor="t"/>
          <a:lstStyle/>
          <a:p>
            <a:pPr>
              <a:defRPr sz="863" b="0">
                <a:solidFill>
                  <a:srgbClr val="D7E5F3"/>
                </a:solidFill>
                <a:latin typeface="Aptos"/>
                <a:ea typeface="Aptos"/>
                <a:cs typeface="Aptos"/>
              </a:defRPr>
            </a:pPr>
            <a:r>
              <a:rPr sz="863" b="0" dirty="0">
                <a:solidFill>
                  <a:srgbClr val="D7E5F3"/>
                </a:solidFill>
                <a:latin typeface="Aptos"/>
                <a:ea typeface="Aptos"/>
                <a:cs typeface="Aptos"/>
              </a:rPr>
              <a:t>Important : les chiffres de ROI </a:t>
            </a:r>
            <a:r>
              <a:rPr sz="863" b="0" dirty="0" err="1">
                <a:solidFill>
                  <a:srgbClr val="D7E5F3"/>
                </a:solidFill>
                <a:latin typeface="Aptos"/>
                <a:ea typeface="Aptos"/>
                <a:cs typeface="Aptos"/>
              </a:rPr>
              <a:t>affichés</a:t>
            </a:r>
            <a:r>
              <a:rPr sz="863" b="0" dirty="0">
                <a:solidFill>
                  <a:srgbClr val="D7E5F3"/>
                </a:solidFill>
                <a:latin typeface="Aptos"/>
                <a:ea typeface="Aptos"/>
                <a:cs typeface="Aptos"/>
              </a:rPr>
              <a:t> dans </a:t>
            </a:r>
            <a:r>
              <a:rPr sz="863" b="0" dirty="0" err="1">
                <a:solidFill>
                  <a:srgbClr val="D7E5F3"/>
                </a:solidFill>
                <a:latin typeface="Aptos"/>
                <a:ea typeface="Aptos"/>
                <a:cs typeface="Aptos"/>
              </a:rPr>
              <a:t>ce</a:t>
            </a:r>
            <a:r>
              <a:rPr lang="en-GB" sz="863" b="0" dirty="0" err="1">
                <a:solidFill>
                  <a:srgbClr val="D7E5F3"/>
                </a:solidFill>
                <a:latin typeface="Aptos"/>
                <a:ea typeface="Aptos"/>
                <a:cs typeface="Aptos"/>
              </a:rPr>
              <a:t>tt</a:t>
            </a:r>
            <a:r>
              <a:rPr lang="en-GB" sz="863" dirty="0" err="1">
                <a:solidFill>
                  <a:srgbClr val="D7E5F3"/>
                </a:solidFill>
                <a:latin typeface="Aptos"/>
                <a:ea typeface="Aptos"/>
                <a:cs typeface="Aptos"/>
              </a:rPr>
              <a:t>e</a:t>
            </a:r>
            <a:r>
              <a:rPr lang="en-GB" sz="863" dirty="0">
                <a:solidFill>
                  <a:srgbClr val="D7E5F3"/>
                </a:solidFill>
                <a:latin typeface="Aptos"/>
                <a:ea typeface="Aptos"/>
                <a:cs typeface="Aptos"/>
              </a:rPr>
              <a:t> </a:t>
            </a:r>
            <a:r>
              <a:rPr lang="en-GB" sz="863" dirty="0" err="1">
                <a:solidFill>
                  <a:srgbClr val="D7E5F3"/>
                </a:solidFill>
                <a:latin typeface="Aptos"/>
                <a:ea typeface="Aptos"/>
                <a:cs typeface="Aptos"/>
              </a:rPr>
              <a:t>présentation</a:t>
            </a:r>
            <a:r>
              <a:rPr lang="en-GB" sz="863" dirty="0">
                <a:solidFill>
                  <a:srgbClr val="D7E5F3"/>
                </a:solidFill>
                <a:latin typeface="Aptos"/>
                <a:ea typeface="Aptos"/>
                <a:cs typeface="Aptos"/>
              </a:rPr>
              <a:t> </a:t>
            </a:r>
            <a:r>
              <a:rPr sz="863" b="0" dirty="0" err="1">
                <a:solidFill>
                  <a:srgbClr val="D7E5F3"/>
                </a:solidFill>
                <a:latin typeface="Aptos"/>
                <a:ea typeface="Aptos"/>
                <a:cs typeface="Aptos"/>
              </a:rPr>
              <a:t>sont</a:t>
            </a:r>
            <a:r>
              <a:rPr sz="863" b="0" dirty="0">
                <a:solidFill>
                  <a:srgbClr val="D7E5F3"/>
                </a:solidFill>
                <a:latin typeface="Aptos"/>
                <a:ea typeface="Aptos"/>
                <a:cs typeface="Aptos"/>
              </a:rPr>
              <a:t> des benchmarks de </a:t>
            </a:r>
            <a:r>
              <a:rPr sz="863" b="0" dirty="0" err="1">
                <a:solidFill>
                  <a:srgbClr val="D7E5F3"/>
                </a:solidFill>
                <a:latin typeface="Aptos"/>
                <a:ea typeface="Aptos"/>
                <a:cs typeface="Aptos"/>
              </a:rPr>
              <a:t>référence</a:t>
            </a:r>
            <a:r>
              <a:rPr sz="863" b="0" dirty="0">
                <a:solidFill>
                  <a:srgbClr val="D7E5F3"/>
                </a:solidFill>
                <a:latin typeface="Aptos"/>
                <a:ea typeface="Aptos"/>
                <a:cs typeface="Aptos"/>
              </a:rPr>
              <a:t> </a:t>
            </a:r>
            <a:r>
              <a:rPr sz="863" b="0" dirty="0" err="1">
                <a:solidFill>
                  <a:srgbClr val="D7E5F3"/>
                </a:solidFill>
                <a:latin typeface="Aptos"/>
                <a:ea typeface="Aptos"/>
                <a:cs typeface="Aptos"/>
              </a:rPr>
              <a:t>TransferAI</a:t>
            </a:r>
            <a:r>
              <a:rPr sz="863" b="0" dirty="0">
                <a:solidFill>
                  <a:srgbClr val="D7E5F3"/>
                </a:solidFill>
                <a:latin typeface="Aptos"/>
                <a:ea typeface="Aptos"/>
                <a:cs typeface="Aptos"/>
              </a:rPr>
              <a:t>, à confirmer sur les données </a:t>
            </a:r>
            <a:r>
              <a:rPr sz="863" b="0" dirty="0" err="1">
                <a:solidFill>
                  <a:srgbClr val="D7E5F3"/>
                </a:solidFill>
                <a:latin typeface="Aptos"/>
                <a:ea typeface="Aptos"/>
                <a:cs typeface="Aptos"/>
              </a:rPr>
              <a:t>d'ELTON</a:t>
            </a:r>
            <a:r>
              <a:rPr sz="863" b="0" dirty="0">
                <a:solidFill>
                  <a:srgbClr val="D7E5F3"/>
                </a:solidFill>
                <a:latin typeface="Aptos"/>
                <a:ea typeface="Aptos"/>
                <a:cs typeface="Aptos"/>
              </a:rPr>
              <a:t> CI pendant </a:t>
            </a:r>
            <a:r>
              <a:rPr sz="863" b="0" dirty="0" err="1">
                <a:solidFill>
                  <a:srgbClr val="D7E5F3"/>
                </a:solidFill>
                <a:latin typeface="Aptos"/>
                <a:ea typeface="Aptos"/>
                <a:cs typeface="Aptos"/>
              </a:rPr>
              <a:t>l'audit</a:t>
            </a:r>
            <a:r>
              <a:rPr sz="863" b="0" dirty="0">
                <a:solidFill>
                  <a:srgbClr val="D7E5F3"/>
                </a:solidFill>
                <a:latin typeface="Aptos"/>
                <a:ea typeface="Aptos"/>
                <a:cs typeface="Aptos"/>
              </a:rPr>
              <a:t>.</a:t>
            </a:r>
          </a:p>
        </p:txBody>
      </p:sp>
      <p:sp>
        <p:nvSpPr>
          <p:cNvPr id="40" name="Rectangle 39">
            <a:extLst>
              <a:ext uri="{FF2B5EF4-FFF2-40B4-BE49-F238E27FC236}">
                <a16:creationId xmlns:a16="http://schemas.microsoft.com/office/drawing/2014/main" id="{198ACB38-8CF2-412B-9DED-9AA51743656B}"/>
              </a:ext>
            </a:extLst>
          </p:cNvPr>
          <p:cNvSpPr>
            <a:spLocks noGrp="1"/>
          </p:cNvSpPr>
          <p:nvPr/>
        </p:nvSpPr>
        <p:spPr>
          <a:xfrm>
            <a:off x="647700" y="6496050"/>
            <a:ext cx="10896600" cy="9525"/>
          </a:xfrm>
          <a:prstGeom prst="rect">
            <a:avLst/>
          </a:prstGeom>
          <a:solidFill>
            <a:srgbClr val="D7CEC3"/>
          </a:solidFill>
          <a:ln w="0">
            <a:solidFill>
              <a:srgbClr val="000000">
                <a:alpha val="0"/>
              </a:srgbClr>
            </a:solidFill>
            <a:prstDash val="solid"/>
          </a:ln>
        </p:spPr>
      </p:sp>
      <p:sp>
        <p:nvSpPr>
          <p:cNvPr id="41" name="Rectangle 40">
            <a:extLst>
              <a:ext uri="{FF2B5EF4-FFF2-40B4-BE49-F238E27FC236}">
                <a16:creationId xmlns:a16="http://schemas.microsoft.com/office/drawing/2014/main" id="{925D9102-BEF1-45C0-A7FB-5D658506EAD8}"/>
              </a:ext>
            </a:extLst>
          </p:cNvPr>
          <p:cNvSpPr>
            <a:spLocks noGrp="1"/>
          </p:cNvSpPr>
          <p:nvPr/>
        </p:nvSpPr>
        <p:spPr>
          <a:xfrm>
            <a:off x="685800" y="6572250"/>
            <a:ext cx="857250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38" b="0">
                <a:solidFill>
                  <a:srgbClr val="617086"/>
                </a:solidFill>
                <a:latin typeface="Aptos"/>
                <a:ea typeface="Aptos"/>
                <a:cs typeface="Aptos"/>
              </a:defRPr>
            </a:pPr>
            <a:r>
              <a:rPr sz="638" b="0" dirty="0" err="1">
                <a:solidFill>
                  <a:srgbClr val="617086"/>
                </a:solidFill>
                <a:latin typeface="Aptos"/>
                <a:ea typeface="Aptos"/>
                <a:cs typeface="Aptos"/>
              </a:rPr>
              <a:t>TransferAI</a:t>
            </a:r>
            <a:r>
              <a:rPr sz="638" b="0" dirty="0">
                <a:solidFill>
                  <a:srgbClr val="617086"/>
                </a:solidFill>
                <a:latin typeface="Aptos"/>
                <a:ea typeface="Aptos"/>
                <a:cs typeface="Aptos"/>
              </a:rPr>
              <a:t> | Hub </a:t>
            </a:r>
            <a:r>
              <a:rPr lang="en-GB" sz="638" b="0" dirty="0">
                <a:solidFill>
                  <a:srgbClr val="617086"/>
                </a:solidFill>
                <a:latin typeface="Aptos"/>
                <a:ea typeface="Aptos"/>
                <a:cs typeface="Aptos"/>
              </a:rPr>
              <a:t>IA</a:t>
            </a:r>
            <a:r>
              <a:rPr sz="638" b="0" dirty="0">
                <a:solidFill>
                  <a:srgbClr val="617086"/>
                </a:solidFill>
                <a:latin typeface="Aptos"/>
                <a:ea typeface="Aptos"/>
                <a:cs typeface="Aptos"/>
              </a:rPr>
              <a:t> de </a:t>
            </a:r>
            <a:r>
              <a:rPr sz="638" b="0" dirty="0" err="1">
                <a:solidFill>
                  <a:srgbClr val="617086"/>
                </a:solidFill>
                <a:latin typeface="Aptos"/>
                <a:ea typeface="Aptos"/>
                <a:cs typeface="Aptos"/>
              </a:rPr>
              <a:t>Nettelecom</a:t>
            </a:r>
            <a:r>
              <a:rPr sz="638" b="0" dirty="0">
                <a:solidFill>
                  <a:srgbClr val="617086"/>
                </a:solidFill>
                <a:latin typeface="Aptos"/>
                <a:ea typeface="Aptos"/>
                <a:cs typeface="Aptos"/>
              </a:rPr>
              <a:t> CI | Proposition </a:t>
            </a:r>
            <a:r>
              <a:rPr sz="638" b="0" dirty="0" err="1">
                <a:solidFill>
                  <a:srgbClr val="617086"/>
                </a:solidFill>
                <a:latin typeface="Aptos"/>
                <a:ea typeface="Aptos"/>
                <a:cs typeface="Aptos"/>
              </a:rPr>
              <a:t>ciblée</a:t>
            </a:r>
            <a:r>
              <a:rPr sz="638" b="0" dirty="0">
                <a:solidFill>
                  <a:srgbClr val="617086"/>
                </a:solidFill>
                <a:latin typeface="Aptos"/>
                <a:ea typeface="Aptos"/>
                <a:cs typeface="Aptos"/>
              </a:rPr>
              <a:t> ELTON CI</a:t>
            </a:r>
          </a:p>
        </p:txBody>
      </p:sp>
      <p:sp>
        <p:nvSpPr>
          <p:cNvPr id="42" name="Rectangle 41">
            <a:extLst>
              <a:ext uri="{FF2B5EF4-FFF2-40B4-BE49-F238E27FC236}">
                <a16:creationId xmlns:a16="http://schemas.microsoft.com/office/drawing/2014/main" id="{2D28F96A-0377-47BC-AB5E-853785D97D70}"/>
              </a:ext>
            </a:extLst>
          </p:cNvPr>
          <p:cNvSpPr>
            <a:spLocks noGrp="1"/>
          </p:cNvSpPr>
          <p:nvPr/>
        </p:nvSpPr>
        <p:spPr>
          <a:xfrm>
            <a:off x="11049000" y="6553200"/>
            <a:ext cx="3429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750" b="1">
                <a:solidFill>
                  <a:srgbClr val="1A3554"/>
                </a:solidFill>
                <a:latin typeface="Aptos"/>
                <a:ea typeface="Aptos"/>
                <a:cs typeface="Aptos"/>
              </a:defRPr>
            </a:pPr>
            <a:r>
              <a:rPr sz="750" b="1">
                <a:solidFill>
                  <a:srgbClr val="1A3554"/>
                </a:solidFill>
                <a:latin typeface="Aptos"/>
                <a:ea typeface="Aptos"/>
                <a:cs typeface="Aptos"/>
              </a:rPr>
              <a:t>01</a:t>
            </a:r>
          </a:p>
        </p:txBody>
      </p:sp>
    </p:spTree>
    <p:extLst>
      <p:ext uri="{BB962C8B-B14F-4D97-AF65-F5344CB8AC3E}">
        <p14:creationId xmlns:p14="http://schemas.microsoft.com/office/powerpoint/2010/main" val="703297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Rectangle 36">
            <a:extLst>
              <a:ext uri="{FF2B5EF4-FFF2-40B4-BE49-F238E27FC236}">
                <a16:creationId xmlns:a16="http://schemas.microsoft.com/office/drawing/2014/main" id="{AD5E5912-8461-4B84-A7F2-981FA925A865}"/>
              </a:ext>
            </a:extLst>
          </p:cNvPr>
          <p:cNvSpPr>
            <a:spLocks noGrp="1"/>
          </p:cNvSpPr>
          <p:nvPr/>
        </p:nvSpPr>
        <p:spPr>
          <a:xfrm>
            <a:off x="0" y="0"/>
            <a:ext cx="12192000" cy="6858000"/>
          </a:xfrm>
          <a:prstGeom prst="rect">
            <a:avLst/>
          </a:prstGeom>
          <a:solidFill>
            <a:srgbClr val="F5EFE7"/>
          </a:solidFill>
          <a:ln w="0">
            <a:solidFill>
              <a:srgbClr val="000000">
                <a:alpha val="0"/>
              </a:srgbClr>
            </a:solidFill>
            <a:prstDash val="solid"/>
          </a:ln>
        </p:spPr>
        <p:txBody>
          <a:bodyPr/>
          <a:lstStyle/>
          <a:p>
            <a:endParaRPr lang="en-US" dirty="0"/>
          </a:p>
        </p:txBody>
      </p:sp>
      <p:sp>
        <p:nvSpPr>
          <p:cNvPr id="2" name="Rectangle 1">
            <a:extLst>
              <a:ext uri="{FF2B5EF4-FFF2-40B4-BE49-F238E27FC236}">
                <a16:creationId xmlns:a16="http://schemas.microsoft.com/office/drawing/2014/main" id="{B7811385-88EF-4C36-9E7E-D9AD2A9AAFB9}"/>
              </a:ext>
            </a:extLst>
          </p:cNvPr>
          <p:cNvSpPr>
            <a:spLocks noGrp="1"/>
          </p:cNvSpPr>
          <p:nvPr/>
        </p:nvSpPr>
        <p:spPr>
          <a:xfrm>
            <a:off x="685800" y="495300"/>
            <a:ext cx="24765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88" b="1">
                <a:solidFill>
                  <a:srgbClr val="E76F1D"/>
                </a:solidFill>
                <a:latin typeface="Aptos"/>
                <a:ea typeface="Aptos"/>
                <a:cs typeface="Aptos"/>
              </a:defRPr>
            </a:pPr>
            <a:r>
              <a:rPr sz="788" b="1">
                <a:solidFill>
                  <a:srgbClr val="E76F1D"/>
                </a:solidFill>
                <a:latin typeface="Aptos"/>
                <a:ea typeface="Aptos"/>
                <a:cs typeface="Aptos"/>
              </a:rPr>
              <a:t>QUI SOMMES-NOUS</a:t>
            </a:r>
          </a:p>
        </p:txBody>
      </p:sp>
      <p:sp>
        <p:nvSpPr>
          <p:cNvPr id="3" name="Rectangle 2">
            <a:extLst>
              <a:ext uri="{FF2B5EF4-FFF2-40B4-BE49-F238E27FC236}">
                <a16:creationId xmlns:a16="http://schemas.microsoft.com/office/drawing/2014/main" id="{C4829012-77B5-4A81-94E9-B03D4BFF1725}"/>
              </a:ext>
            </a:extLst>
          </p:cNvPr>
          <p:cNvSpPr>
            <a:spLocks noGrp="1"/>
          </p:cNvSpPr>
          <p:nvPr/>
        </p:nvSpPr>
        <p:spPr>
          <a:xfrm>
            <a:off x="685800" y="819150"/>
            <a:ext cx="8191500" cy="8001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550" b="1">
                <a:solidFill>
                  <a:srgbClr val="1A3554"/>
                </a:solidFill>
                <a:latin typeface="Aptos Display"/>
                <a:ea typeface="Aptos Display"/>
                <a:cs typeface="Aptos Display"/>
              </a:defRPr>
            </a:pPr>
            <a:r>
              <a:rPr sz="2550" b="1" dirty="0" err="1">
                <a:solidFill>
                  <a:srgbClr val="1A3554"/>
                </a:solidFill>
                <a:latin typeface="Aptos Display"/>
                <a:ea typeface="Aptos Display"/>
                <a:cs typeface="Aptos Display"/>
              </a:rPr>
              <a:t>TransferAI</a:t>
            </a:r>
            <a:r>
              <a:rPr sz="2550" b="1" dirty="0">
                <a:solidFill>
                  <a:srgbClr val="1A3554"/>
                </a:solidFill>
                <a:latin typeface="Aptos Display"/>
                <a:ea typeface="Aptos Display"/>
                <a:cs typeface="Aptos Display"/>
              </a:rPr>
              <a:t>, le hub I</a:t>
            </a:r>
            <a:r>
              <a:rPr lang="en-GB" sz="2550" b="1" dirty="0">
                <a:solidFill>
                  <a:srgbClr val="1A3554"/>
                </a:solidFill>
                <a:latin typeface="Aptos Display"/>
                <a:ea typeface="Aptos Display"/>
                <a:cs typeface="Aptos Display"/>
              </a:rPr>
              <a:t>A</a:t>
            </a:r>
            <a:r>
              <a:rPr sz="2550" b="1" dirty="0">
                <a:solidFill>
                  <a:srgbClr val="1A3554"/>
                </a:solidFill>
                <a:latin typeface="Aptos Display"/>
                <a:ea typeface="Aptos Display"/>
                <a:cs typeface="Aptos Display"/>
              </a:rPr>
              <a:t> de </a:t>
            </a:r>
            <a:r>
              <a:rPr sz="2550" b="1" dirty="0" err="1">
                <a:solidFill>
                  <a:srgbClr val="1A3554"/>
                </a:solidFill>
                <a:latin typeface="Aptos Display"/>
                <a:ea typeface="Aptos Display"/>
                <a:cs typeface="Aptos Display"/>
              </a:rPr>
              <a:t>Nettelecom</a:t>
            </a:r>
            <a:r>
              <a:rPr sz="2550" b="1" dirty="0">
                <a:solidFill>
                  <a:srgbClr val="1A3554"/>
                </a:solidFill>
                <a:latin typeface="Aptos Display"/>
                <a:ea typeface="Aptos Display"/>
                <a:cs typeface="Aptos Display"/>
              </a:rPr>
              <a:t> CI</a:t>
            </a:r>
          </a:p>
        </p:txBody>
      </p:sp>
      <p:sp>
        <p:nvSpPr>
          <p:cNvPr id="4" name="Rectangle 3">
            <a:extLst>
              <a:ext uri="{FF2B5EF4-FFF2-40B4-BE49-F238E27FC236}">
                <a16:creationId xmlns:a16="http://schemas.microsoft.com/office/drawing/2014/main" id="{1CB185E7-2782-450A-B8A1-F5893A71799F}"/>
              </a:ext>
            </a:extLst>
          </p:cNvPr>
          <p:cNvSpPr>
            <a:spLocks noGrp="1"/>
          </p:cNvSpPr>
          <p:nvPr/>
        </p:nvSpPr>
        <p:spPr>
          <a:xfrm>
            <a:off x="685800" y="1676400"/>
            <a:ext cx="92392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0">
                <a:solidFill>
                  <a:srgbClr val="617086"/>
                </a:solidFill>
                <a:latin typeface="Aptos"/>
                <a:ea typeface="Aptos"/>
                <a:cs typeface="Aptos"/>
              </a:defRPr>
            </a:pPr>
            <a:endParaRPr sz="1050" b="0" dirty="0">
              <a:solidFill>
                <a:srgbClr val="617086"/>
              </a:solidFill>
              <a:latin typeface="Aptos"/>
              <a:ea typeface="Aptos"/>
              <a:cs typeface="Aptos"/>
            </a:endParaRPr>
          </a:p>
        </p:txBody>
      </p:sp>
      <p:sp>
        <p:nvSpPr>
          <p:cNvPr id="5" name="Rectangle 4">
            <a:extLst>
              <a:ext uri="{FF2B5EF4-FFF2-40B4-BE49-F238E27FC236}">
                <a16:creationId xmlns:a16="http://schemas.microsoft.com/office/drawing/2014/main" id="{CF01B9E0-0E3B-4BD5-A2DA-A8DCA2B83538}"/>
              </a:ext>
            </a:extLst>
          </p:cNvPr>
          <p:cNvSpPr>
            <a:spLocks noGrp="1"/>
          </p:cNvSpPr>
          <p:nvPr/>
        </p:nvSpPr>
        <p:spPr>
          <a:xfrm>
            <a:off x="685800" y="2171700"/>
            <a:ext cx="4114800" cy="3238500"/>
          </a:xfrm>
          <a:prstGeom prst="rect">
            <a:avLst/>
          </a:prstGeom>
          <a:solidFill>
            <a:srgbClr val="163556"/>
          </a:solidFill>
          <a:ln w="0">
            <a:solidFill>
              <a:srgbClr val="163556"/>
            </a:solidFill>
            <a:prstDash val="solid"/>
          </a:ln>
        </p:spPr>
      </p:sp>
      <p:sp>
        <p:nvSpPr>
          <p:cNvPr id="6" name="Rectangle 5">
            <a:extLst>
              <a:ext uri="{FF2B5EF4-FFF2-40B4-BE49-F238E27FC236}">
                <a16:creationId xmlns:a16="http://schemas.microsoft.com/office/drawing/2014/main" id="{770EFFFE-41F9-4AC8-89A1-698FC2719CF7}"/>
              </a:ext>
            </a:extLst>
          </p:cNvPr>
          <p:cNvSpPr>
            <a:spLocks noGrp="1"/>
          </p:cNvSpPr>
          <p:nvPr/>
        </p:nvSpPr>
        <p:spPr>
          <a:xfrm>
            <a:off x="933450" y="2400300"/>
            <a:ext cx="15240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25" b="1">
                <a:solidFill>
                  <a:srgbClr val="D7E5F3"/>
                </a:solidFill>
                <a:latin typeface="Aptos"/>
                <a:ea typeface="Aptos"/>
                <a:cs typeface="Aptos"/>
              </a:defRPr>
            </a:pPr>
            <a:r>
              <a:rPr sz="825" b="1">
                <a:solidFill>
                  <a:srgbClr val="D7E5F3"/>
                </a:solidFill>
                <a:latin typeface="Aptos"/>
                <a:ea typeface="Aptos"/>
                <a:cs typeface="Aptos"/>
              </a:rPr>
              <a:t>TransferAI</a:t>
            </a:r>
          </a:p>
        </p:txBody>
      </p:sp>
      <p:sp>
        <p:nvSpPr>
          <p:cNvPr id="7" name="Rectangle 6">
            <a:extLst>
              <a:ext uri="{FF2B5EF4-FFF2-40B4-BE49-F238E27FC236}">
                <a16:creationId xmlns:a16="http://schemas.microsoft.com/office/drawing/2014/main" id="{7FA62C26-78C4-4857-BFB8-C096A421A99F}"/>
              </a:ext>
            </a:extLst>
          </p:cNvPr>
          <p:cNvSpPr>
            <a:spLocks noGrp="1"/>
          </p:cNvSpPr>
          <p:nvPr/>
        </p:nvSpPr>
        <p:spPr>
          <a:xfrm>
            <a:off x="933450" y="2724150"/>
            <a:ext cx="2571750" cy="1257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250" b="1">
                <a:solidFill>
                  <a:srgbClr val="FFFFFF"/>
                </a:solidFill>
                <a:latin typeface="Aptos Display"/>
                <a:ea typeface="Aptos Display"/>
                <a:cs typeface="Aptos Display"/>
              </a:defRPr>
            </a:pPr>
            <a:r>
              <a:rPr sz="2250" b="1" dirty="0">
                <a:solidFill>
                  <a:srgbClr val="FFFFFF"/>
                </a:solidFill>
                <a:latin typeface="Aptos Display"/>
                <a:ea typeface="Aptos Display"/>
                <a:cs typeface="Aptos Display"/>
              </a:rPr>
              <a:t>Le hub I</a:t>
            </a:r>
            <a:r>
              <a:rPr lang="en-GB" sz="2250" b="1" dirty="0">
                <a:solidFill>
                  <a:srgbClr val="FFFFFF"/>
                </a:solidFill>
                <a:latin typeface="Aptos Display"/>
                <a:ea typeface="Aptos Display"/>
                <a:cs typeface="Aptos Display"/>
              </a:rPr>
              <a:t>A</a:t>
            </a:r>
            <a:endParaRPr sz="2250" b="1" dirty="0">
              <a:solidFill>
                <a:srgbClr val="FFFFFF"/>
              </a:solidFill>
              <a:latin typeface="Aptos Display"/>
              <a:ea typeface="Aptos Display"/>
              <a:cs typeface="Aptos Display"/>
            </a:endParaRPr>
          </a:p>
          <a:p>
            <a:pPr algn="l">
              <a:defRPr sz="2250" b="1">
                <a:solidFill>
                  <a:srgbClr val="FFFFFF"/>
                </a:solidFill>
                <a:latin typeface="Aptos Display"/>
                <a:ea typeface="Aptos Display"/>
                <a:cs typeface="Aptos Display"/>
              </a:defRPr>
            </a:pPr>
            <a:r>
              <a:rPr sz="2250" b="1" dirty="0" err="1">
                <a:solidFill>
                  <a:srgbClr val="FFFFFF"/>
                </a:solidFill>
                <a:latin typeface="Aptos Display"/>
                <a:ea typeface="Aptos Display"/>
                <a:cs typeface="Aptos Display"/>
              </a:rPr>
              <a:t>opérationnel</a:t>
            </a:r>
            <a:r>
              <a:rPr sz="2250" b="1" dirty="0">
                <a:solidFill>
                  <a:srgbClr val="FFFFFF"/>
                </a:solidFill>
                <a:latin typeface="Aptos Display"/>
                <a:ea typeface="Aptos Display"/>
                <a:cs typeface="Aptos Display"/>
              </a:rPr>
              <a:t> de</a:t>
            </a:r>
          </a:p>
          <a:p>
            <a:pPr algn="l">
              <a:defRPr sz="2250" b="1">
                <a:solidFill>
                  <a:srgbClr val="FFFFFF"/>
                </a:solidFill>
                <a:latin typeface="Aptos Display"/>
                <a:ea typeface="Aptos Display"/>
                <a:cs typeface="Aptos Display"/>
              </a:defRPr>
            </a:pPr>
            <a:r>
              <a:rPr sz="2250" b="1" dirty="0" err="1">
                <a:solidFill>
                  <a:srgbClr val="FFFFFF"/>
                </a:solidFill>
                <a:latin typeface="Aptos Display"/>
                <a:ea typeface="Aptos Display"/>
                <a:cs typeface="Aptos Display"/>
              </a:rPr>
              <a:t>Nettelecom</a:t>
            </a:r>
            <a:r>
              <a:rPr sz="2250" b="1" dirty="0">
                <a:solidFill>
                  <a:srgbClr val="FFFFFF"/>
                </a:solidFill>
                <a:latin typeface="Aptos Display"/>
                <a:ea typeface="Aptos Display"/>
                <a:cs typeface="Aptos Display"/>
              </a:rPr>
              <a:t> CI</a:t>
            </a:r>
          </a:p>
        </p:txBody>
      </p:sp>
      <p:sp>
        <p:nvSpPr>
          <p:cNvPr id="8" name="Rectangle 7">
            <a:extLst>
              <a:ext uri="{FF2B5EF4-FFF2-40B4-BE49-F238E27FC236}">
                <a16:creationId xmlns:a16="http://schemas.microsoft.com/office/drawing/2014/main" id="{C91FE52D-05EB-4AA2-A74A-CD400F09C79D}"/>
              </a:ext>
            </a:extLst>
          </p:cNvPr>
          <p:cNvSpPr>
            <a:spLocks noGrp="1"/>
          </p:cNvSpPr>
          <p:nvPr/>
        </p:nvSpPr>
        <p:spPr>
          <a:xfrm>
            <a:off x="933450" y="3886200"/>
            <a:ext cx="2724150" cy="742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13" b="0">
                <a:solidFill>
                  <a:srgbClr val="D7E5F3"/>
                </a:solidFill>
                <a:latin typeface="Aptos"/>
                <a:ea typeface="Aptos"/>
                <a:cs typeface="Aptos"/>
              </a:defRPr>
            </a:pPr>
            <a:r>
              <a:rPr sz="1013" b="0">
                <a:solidFill>
                  <a:srgbClr val="D7E5F3"/>
                </a:solidFill>
                <a:latin typeface="Aptos"/>
                <a:ea typeface="Aptos"/>
                <a:cs typeface="Aptos"/>
              </a:rPr>
              <a:t>Nous positionnons TransferAI comme la structure qui relie stratégie, automatisation, data, formation et gouvernance pour transformer l'IA en exécution métier.</a:t>
            </a:r>
          </a:p>
        </p:txBody>
      </p:sp>
      <p:sp>
        <p:nvSpPr>
          <p:cNvPr id="9" name="Rectangle 8">
            <a:extLst>
              <a:ext uri="{FF2B5EF4-FFF2-40B4-BE49-F238E27FC236}">
                <a16:creationId xmlns:a16="http://schemas.microsoft.com/office/drawing/2014/main" id="{54F99166-57BD-4792-96D1-50A6EAD6D657}"/>
              </a:ext>
            </a:extLst>
          </p:cNvPr>
          <p:cNvSpPr>
            <a:spLocks noGrp="1"/>
          </p:cNvSpPr>
          <p:nvPr/>
        </p:nvSpPr>
        <p:spPr>
          <a:xfrm>
            <a:off x="933450" y="4876800"/>
            <a:ext cx="2762250" cy="400050"/>
          </a:xfrm>
          <a:prstGeom prst="rect">
            <a:avLst/>
          </a:prstGeom>
          <a:solidFill>
            <a:srgbClr val="244667"/>
          </a:solidFill>
          <a:ln w="9525">
            <a:solidFill>
              <a:srgbClr val="244667"/>
            </a:solidFill>
            <a:prstDash val="solid"/>
          </a:ln>
        </p:spPr>
      </p:sp>
      <p:sp>
        <p:nvSpPr>
          <p:cNvPr id="10" name="Rectangle 9">
            <a:extLst>
              <a:ext uri="{FF2B5EF4-FFF2-40B4-BE49-F238E27FC236}">
                <a16:creationId xmlns:a16="http://schemas.microsoft.com/office/drawing/2014/main" id="{5263FC2D-0C8A-4657-B09D-A392E0F7A3B8}"/>
              </a:ext>
            </a:extLst>
          </p:cNvPr>
          <p:cNvSpPr>
            <a:spLocks noGrp="1"/>
          </p:cNvSpPr>
          <p:nvPr/>
        </p:nvSpPr>
        <p:spPr>
          <a:xfrm>
            <a:off x="1085850" y="4991100"/>
            <a:ext cx="24574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25" b="1">
                <a:solidFill>
                  <a:srgbClr val="FFFFFF"/>
                </a:solidFill>
                <a:latin typeface="Aptos"/>
                <a:ea typeface="Aptos"/>
                <a:cs typeface="Aptos"/>
              </a:defRPr>
            </a:pPr>
            <a:r>
              <a:rPr sz="825" b="1">
                <a:solidFill>
                  <a:srgbClr val="FFFFFF"/>
                </a:solidFill>
                <a:latin typeface="Aptos"/>
                <a:ea typeface="Aptos"/>
                <a:cs typeface="Aptos"/>
              </a:rPr>
              <a:t>Pour ELTON CI : un interlocuteur IA structuré, pas un simple catalogue.</a:t>
            </a:r>
          </a:p>
        </p:txBody>
      </p:sp>
      <p:sp>
        <p:nvSpPr>
          <p:cNvPr id="11" name="Rectangle 10">
            <a:extLst>
              <a:ext uri="{FF2B5EF4-FFF2-40B4-BE49-F238E27FC236}">
                <a16:creationId xmlns:a16="http://schemas.microsoft.com/office/drawing/2014/main" id="{6AE26FD2-FEB0-401E-971A-5ED3F6666AD9}"/>
              </a:ext>
            </a:extLst>
          </p:cNvPr>
          <p:cNvSpPr>
            <a:spLocks noGrp="1"/>
          </p:cNvSpPr>
          <p:nvPr/>
        </p:nvSpPr>
        <p:spPr>
          <a:xfrm>
            <a:off x="5086350" y="2171700"/>
            <a:ext cx="2857500" cy="1409700"/>
          </a:xfrm>
          <a:prstGeom prst="rect">
            <a:avLst/>
          </a:prstGeom>
          <a:solidFill>
            <a:srgbClr val="FFFDFC"/>
          </a:solidFill>
          <a:ln w="9525">
            <a:solidFill>
              <a:srgbClr val="D7CEC3"/>
            </a:solidFill>
            <a:prstDash val="solid"/>
          </a:ln>
        </p:spPr>
      </p:sp>
      <p:sp>
        <p:nvSpPr>
          <p:cNvPr id="12" name="Oval 11">
            <a:extLst>
              <a:ext uri="{FF2B5EF4-FFF2-40B4-BE49-F238E27FC236}">
                <a16:creationId xmlns:a16="http://schemas.microsoft.com/office/drawing/2014/main" id="{8D9AC9A2-880D-47F2-ABAE-060DBA0EC42D}"/>
              </a:ext>
            </a:extLst>
          </p:cNvPr>
          <p:cNvSpPr>
            <a:spLocks noGrp="1"/>
          </p:cNvSpPr>
          <p:nvPr/>
        </p:nvSpPr>
        <p:spPr>
          <a:xfrm>
            <a:off x="5295900" y="2381250"/>
            <a:ext cx="419100" cy="419100"/>
          </a:xfrm>
          <a:prstGeom prst="ellipse">
            <a:avLst/>
          </a:prstGeom>
          <a:solidFill>
            <a:srgbClr val="E76F1D"/>
          </a:solidFill>
          <a:ln w="0">
            <a:solidFill>
              <a:srgbClr val="E76F1D"/>
            </a:solidFill>
            <a:prstDash val="solid"/>
          </a:ln>
        </p:spPr>
      </p:sp>
      <p:pic>
        <p:nvPicPr>
          <p:cNvPr id="13" name="Graphic 12"/>
          <p:cNvPicPr>
            <a:picLocks noChangeAspect="1"/>
          </p:cNvPicPr>
          <p:nvPr/>
        </p:nvPicPr>
        <p:blipFill>
          <a:blip>
            <a:extLst>
              <a:ext uri="{96DAC541-7B7A-43D3-8B79-37D633B846F1}">
                <asvg:svgBlip xmlns:asvg="http://schemas.microsoft.com/office/drawing/2016/SVG/main" r:embed="rId3"/>
              </a:ext>
            </a:extLst>
          </a:blip>
          <a:stretch/>
        </p:blipFill>
        <p:spPr>
          <a:xfrm>
            <a:off x="5391150" y="2476500"/>
            <a:ext cx="228600" cy="228600"/>
          </a:xfrm>
          <a:prstGeom prst="rect">
            <a:avLst/>
          </a:prstGeom>
        </p:spPr>
      </p:pic>
      <p:sp>
        <p:nvSpPr>
          <p:cNvPr id="14" name="Rectangle 13">
            <a:extLst>
              <a:ext uri="{FF2B5EF4-FFF2-40B4-BE49-F238E27FC236}">
                <a16:creationId xmlns:a16="http://schemas.microsoft.com/office/drawing/2014/main" id="{C4F3B06C-6728-4FA1-81F0-72C2468CE89D}"/>
              </a:ext>
            </a:extLst>
          </p:cNvPr>
          <p:cNvSpPr>
            <a:spLocks noGrp="1"/>
          </p:cNvSpPr>
          <p:nvPr/>
        </p:nvSpPr>
        <p:spPr>
          <a:xfrm>
            <a:off x="5829300" y="2381250"/>
            <a:ext cx="17145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650" b="1">
                <a:solidFill>
                  <a:srgbClr val="1A3554"/>
                </a:solidFill>
                <a:latin typeface="Aptos Display"/>
                <a:ea typeface="Aptos Display"/>
                <a:cs typeface="Aptos Display"/>
              </a:defRPr>
            </a:pPr>
            <a:r>
              <a:rPr sz="1650" b="1">
                <a:solidFill>
                  <a:srgbClr val="1A3554"/>
                </a:solidFill>
                <a:latin typeface="Aptos Display"/>
                <a:ea typeface="Aptos Display"/>
                <a:cs typeface="Aptos Display"/>
              </a:rPr>
              <a:t>13 experts en IA</a:t>
            </a:r>
          </a:p>
        </p:txBody>
      </p:sp>
      <p:sp>
        <p:nvSpPr>
          <p:cNvPr id="15" name="Rectangle 14">
            <a:extLst>
              <a:ext uri="{FF2B5EF4-FFF2-40B4-BE49-F238E27FC236}">
                <a16:creationId xmlns:a16="http://schemas.microsoft.com/office/drawing/2014/main" id="{94E93403-9495-4EFC-BC39-04DE1612E1B5}"/>
              </a:ext>
            </a:extLst>
          </p:cNvPr>
          <p:cNvSpPr>
            <a:spLocks noGrp="1"/>
          </p:cNvSpPr>
          <p:nvPr/>
        </p:nvSpPr>
        <p:spPr>
          <a:xfrm>
            <a:off x="5295900" y="2857500"/>
            <a:ext cx="2247900" cy="514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38" b="0">
                <a:solidFill>
                  <a:srgbClr val="1A3554"/>
                </a:solidFill>
                <a:latin typeface="Aptos"/>
                <a:ea typeface="Aptos"/>
                <a:cs typeface="Aptos"/>
              </a:defRPr>
            </a:pPr>
            <a:r>
              <a:rPr sz="938" b="0">
                <a:solidFill>
                  <a:srgbClr val="1A3554"/>
                </a:solidFill>
                <a:latin typeface="Aptos"/>
                <a:ea typeface="Aptos"/>
                <a:cs typeface="Aptos"/>
              </a:rPr>
              <a:t>Une équipe de 13 experts en IA, mobilisable sur des enjeux de diagnostic, d'automatisation, de pilotage, de formation et de gouvernance.</a:t>
            </a:r>
          </a:p>
        </p:txBody>
      </p:sp>
      <p:sp>
        <p:nvSpPr>
          <p:cNvPr id="16" name="Rectangle 15">
            <a:extLst>
              <a:ext uri="{FF2B5EF4-FFF2-40B4-BE49-F238E27FC236}">
                <a16:creationId xmlns:a16="http://schemas.microsoft.com/office/drawing/2014/main" id="{136E09DE-E911-4125-AF30-DF4207CCFB88}"/>
              </a:ext>
            </a:extLst>
          </p:cNvPr>
          <p:cNvSpPr>
            <a:spLocks noGrp="1"/>
          </p:cNvSpPr>
          <p:nvPr/>
        </p:nvSpPr>
        <p:spPr>
          <a:xfrm>
            <a:off x="8153400" y="2171700"/>
            <a:ext cx="3352800" cy="1409700"/>
          </a:xfrm>
          <a:prstGeom prst="rect">
            <a:avLst/>
          </a:prstGeom>
          <a:solidFill>
            <a:srgbClr val="FFFDFC"/>
          </a:solidFill>
          <a:ln w="9525">
            <a:solidFill>
              <a:srgbClr val="D7CEC3"/>
            </a:solidFill>
            <a:prstDash val="solid"/>
          </a:ln>
        </p:spPr>
      </p:sp>
      <p:sp>
        <p:nvSpPr>
          <p:cNvPr id="17" name="Oval 16">
            <a:extLst>
              <a:ext uri="{FF2B5EF4-FFF2-40B4-BE49-F238E27FC236}">
                <a16:creationId xmlns:a16="http://schemas.microsoft.com/office/drawing/2014/main" id="{372C8272-6A24-415D-8D71-EE362485C66B}"/>
              </a:ext>
            </a:extLst>
          </p:cNvPr>
          <p:cNvSpPr>
            <a:spLocks noGrp="1"/>
          </p:cNvSpPr>
          <p:nvPr/>
        </p:nvSpPr>
        <p:spPr>
          <a:xfrm>
            <a:off x="8362950" y="2381250"/>
            <a:ext cx="419100" cy="419100"/>
          </a:xfrm>
          <a:prstGeom prst="ellipse">
            <a:avLst/>
          </a:prstGeom>
          <a:solidFill>
            <a:srgbClr val="1C8A78"/>
          </a:solidFill>
          <a:ln w="0">
            <a:solidFill>
              <a:srgbClr val="1C8A78"/>
            </a:solidFill>
            <a:prstDash val="solid"/>
          </a:ln>
        </p:spPr>
      </p:sp>
      <p:pic>
        <p:nvPicPr>
          <p:cNvPr id="18" name="Graphic 17"/>
          <p:cNvPicPr>
            <a:picLocks noChangeAspect="1"/>
          </p:cNvPicPr>
          <p:nvPr/>
        </p:nvPicPr>
        <p:blipFill>
          <a:blip>
            <a:extLst>
              <a:ext uri="{96DAC541-7B7A-43D3-8B79-37D633B846F1}">
                <asvg:svgBlip xmlns:asvg="http://schemas.microsoft.com/office/drawing/2016/SVG/main" r:embed="rId4"/>
              </a:ext>
            </a:extLst>
          </a:blip>
          <a:stretch/>
        </p:blipFill>
        <p:spPr>
          <a:xfrm>
            <a:off x="8458200" y="2476500"/>
            <a:ext cx="228600" cy="228600"/>
          </a:xfrm>
          <a:prstGeom prst="rect">
            <a:avLst/>
          </a:prstGeom>
        </p:spPr>
      </p:pic>
      <p:sp>
        <p:nvSpPr>
          <p:cNvPr id="19" name="Rectangle 18">
            <a:extLst>
              <a:ext uri="{FF2B5EF4-FFF2-40B4-BE49-F238E27FC236}">
                <a16:creationId xmlns:a16="http://schemas.microsoft.com/office/drawing/2014/main" id="{EBDFC62A-EF69-4677-9E80-E60090448682}"/>
              </a:ext>
            </a:extLst>
          </p:cNvPr>
          <p:cNvSpPr>
            <a:spLocks noGrp="1"/>
          </p:cNvSpPr>
          <p:nvPr/>
        </p:nvSpPr>
        <p:spPr>
          <a:xfrm>
            <a:off x="8896350" y="2381250"/>
            <a:ext cx="21907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650" b="1">
                <a:solidFill>
                  <a:srgbClr val="1A3554"/>
                </a:solidFill>
                <a:latin typeface="Aptos Display"/>
                <a:ea typeface="Aptos Display"/>
                <a:cs typeface="Aptos Display"/>
              </a:defRPr>
            </a:pPr>
            <a:r>
              <a:rPr sz="1650" b="1">
                <a:solidFill>
                  <a:srgbClr val="1A3554"/>
                </a:solidFill>
                <a:latin typeface="Aptos Display"/>
                <a:ea typeface="Aptos Display"/>
                <a:cs typeface="Aptos Display"/>
              </a:rPr>
              <a:t>Différents secteurs couverts</a:t>
            </a:r>
          </a:p>
        </p:txBody>
      </p:sp>
      <p:sp>
        <p:nvSpPr>
          <p:cNvPr id="20" name="Rectangle 19">
            <a:extLst>
              <a:ext uri="{FF2B5EF4-FFF2-40B4-BE49-F238E27FC236}">
                <a16:creationId xmlns:a16="http://schemas.microsoft.com/office/drawing/2014/main" id="{976655F4-AA95-4480-BBA3-40C4C8F8AD1F}"/>
              </a:ext>
            </a:extLst>
          </p:cNvPr>
          <p:cNvSpPr>
            <a:spLocks noGrp="1"/>
          </p:cNvSpPr>
          <p:nvPr/>
        </p:nvSpPr>
        <p:spPr>
          <a:xfrm>
            <a:off x="8362950" y="2857500"/>
            <a:ext cx="2743200" cy="514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38" b="0">
                <a:solidFill>
                  <a:srgbClr val="1A3554"/>
                </a:solidFill>
                <a:latin typeface="Aptos"/>
                <a:ea typeface="Aptos"/>
                <a:cs typeface="Aptos"/>
              </a:defRPr>
            </a:pPr>
            <a:r>
              <a:rPr sz="938" b="0">
                <a:solidFill>
                  <a:srgbClr val="1A3554"/>
                </a:solidFill>
                <a:latin typeface="Aptos"/>
                <a:ea typeface="Aptos"/>
                <a:cs typeface="Aptos"/>
              </a:rPr>
              <a:t>TransferAI rassemble des expertises IA appliquées dans différents secteurs d'activité, ce qui permet de relier les usages technologiques aux contraintes métier.</a:t>
            </a:r>
          </a:p>
        </p:txBody>
      </p:sp>
      <p:sp>
        <p:nvSpPr>
          <p:cNvPr id="21" name="Rectangle 20">
            <a:extLst>
              <a:ext uri="{FF2B5EF4-FFF2-40B4-BE49-F238E27FC236}">
                <a16:creationId xmlns:a16="http://schemas.microsoft.com/office/drawing/2014/main" id="{3FC5D0C0-E2A0-48E2-8C7F-34B6163DA689}"/>
              </a:ext>
            </a:extLst>
          </p:cNvPr>
          <p:cNvSpPr>
            <a:spLocks noGrp="1"/>
          </p:cNvSpPr>
          <p:nvPr/>
        </p:nvSpPr>
        <p:spPr>
          <a:xfrm>
            <a:off x="5086350" y="3790950"/>
            <a:ext cx="2857500" cy="1409700"/>
          </a:xfrm>
          <a:prstGeom prst="rect">
            <a:avLst/>
          </a:prstGeom>
          <a:solidFill>
            <a:srgbClr val="FFFDFC"/>
          </a:solidFill>
          <a:ln w="9525">
            <a:solidFill>
              <a:srgbClr val="D7CEC3"/>
            </a:solidFill>
            <a:prstDash val="solid"/>
          </a:ln>
        </p:spPr>
      </p:sp>
      <p:sp>
        <p:nvSpPr>
          <p:cNvPr id="22" name="Oval 21">
            <a:extLst>
              <a:ext uri="{FF2B5EF4-FFF2-40B4-BE49-F238E27FC236}">
                <a16:creationId xmlns:a16="http://schemas.microsoft.com/office/drawing/2014/main" id="{6220A28B-C813-479F-8E9B-7E2133F2CA1C}"/>
              </a:ext>
            </a:extLst>
          </p:cNvPr>
          <p:cNvSpPr>
            <a:spLocks noGrp="1"/>
          </p:cNvSpPr>
          <p:nvPr/>
        </p:nvSpPr>
        <p:spPr>
          <a:xfrm>
            <a:off x="5295900" y="4000500"/>
            <a:ext cx="419100" cy="419100"/>
          </a:xfrm>
          <a:prstGeom prst="ellipse">
            <a:avLst/>
          </a:prstGeom>
          <a:solidFill>
            <a:srgbClr val="163556"/>
          </a:solidFill>
          <a:ln w="0">
            <a:solidFill>
              <a:srgbClr val="163556"/>
            </a:solidFill>
            <a:prstDash val="solid"/>
          </a:ln>
        </p:spPr>
      </p:sp>
      <p:pic>
        <p:nvPicPr>
          <p:cNvPr id="23" name="Graphic 22"/>
          <p:cNvPicPr>
            <a:picLocks noChangeAspect="1"/>
          </p:cNvPicPr>
          <p:nvPr/>
        </p:nvPicPr>
        <p:blipFill>
          <a:blip>
            <a:extLst>
              <a:ext uri="{96DAC541-7B7A-43D3-8B79-37D633B846F1}">
                <asvg:svgBlip xmlns:asvg="http://schemas.microsoft.com/office/drawing/2016/SVG/main" r:embed="rId5"/>
              </a:ext>
            </a:extLst>
          </a:blip>
          <a:stretch/>
        </p:blipFill>
        <p:spPr>
          <a:xfrm>
            <a:off x="5391150" y="4095750"/>
            <a:ext cx="228600" cy="228600"/>
          </a:xfrm>
          <a:prstGeom prst="rect">
            <a:avLst/>
          </a:prstGeom>
        </p:spPr>
      </p:pic>
      <p:sp>
        <p:nvSpPr>
          <p:cNvPr id="24" name="Rectangle 23">
            <a:extLst>
              <a:ext uri="{FF2B5EF4-FFF2-40B4-BE49-F238E27FC236}">
                <a16:creationId xmlns:a16="http://schemas.microsoft.com/office/drawing/2014/main" id="{18205327-1C1D-4AF5-928F-7AB58D398EF8}"/>
              </a:ext>
            </a:extLst>
          </p:cNvPr>
          <p:cNvSpPr>
            <a:spLocks noGrp="1"/>
          </p:cNvSpPr>
          <p:nvPr/>
        </p:nvSpPr>
        <p:spPr>
          <a:xfrm>
            <a:off x="5829300" y="4000500"/>
            <a:ext cx="18097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650" b="1">
                <a:solidFill>
                  <a:srgbClr val="1A3554"/>
                </a:solidFill>
                <a:latin typeface="Aptos Display"/>
                <a:ea typeface="Aptos Display"/>
                <a:cs typeface="Aptos Display"/>
              </a:defRPr>
            </a:pPr>
            <a:r>
              <a:rPr sz="1650" b="1">
                <a:solidFill>
                  <a:srgbClr val="1A3554"/>
                </a:solidFill>
                <a:latin typeface="Aptos Display"/>
                <a:ea typeface="Aptos Display"/>
                <a:cs typeface="Aptos Display"/>
              </a:rPr>
              <a:t>Une logique d'exécution</a:t>
            </a:r>
          </a:p>
        </p:txBody>
      </p:sp>
      <p:sp>
        <p:nvSpPr>
          <p:cNvPr id="25" name="Rectangle 24">
            <a:extLst>
              <a:ext uri="{FF2B5EF4-FFF2-40B4-BE49-F238E27FC236}">
                <a16:creationId xmlns:a16="http://schemas.microsoft.com/office/drawing/2014/main" id="{D17021B7-9BA1-48F9-AAF6-8C121A27824F}"/>
              </a:ext>
            </a:extLst>
          </p:cNvPr>
          <p:cNvSpPr>
            <a:spLocks noGrp="1"/>
          </p:cNvSpPr>
          <p:nvPr/>
        </p:nvSpPr>
        <p:spPr>
          <a:xfrm>
            <a:off x="5295900" y="4476750"/>
            <a:ext cx="2247900" cy="533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38" b="0">
                <a:solidFill>
                  <a:srgbClr val="1A3554"/>
                </a:solidFill>
                <a:latin typeface="Aptos"/>
                <a:ea typeface="Aptos"/>
                <a:cs typeface="Aptos"/>
              </a:defRPr>
            </a:pPr>
            <a:r>
              <a:rPr sz="938" b="0">
                <a:solidFill>
                  <a:srgbClr val="1A3554"/>
                </a:solidFill>
                <a:latin typeface="Aptos"/>
                <a:ea typeface="Aptos"/>
                <a:cs typeface="Aptos"/>
              </a:rPr>
              <a:t>Notre rôle n'est pas seulement de présenter l'IA. Nous cadrons, priorisons, formons et transformons un besoin flou en pilote métier mesurable.</a:t>
            </a:r>
          </a:p>
        </p:txBody>
      </p:sp>
      <p:sp>
        <p:nvSpPr>
          <p:cNvPr id="26" name="Rectangle 25">
            <a:extLst>
              <a:ext uri="{FF2B5EF4-FFF2-40B4-BE49-F238E27FC236}">
                <a16:creationId xmlns:a16="http://schemas.microsoft.com/office/drawing/2014/main" id="{E7DA8D41-0107-49BD-8AD8-60D84395AD1B}"/>
              </a:ext>
            </a:extLst>
          </p:cNvPr>
          <p:cNvSpPr>
            <a:spLocks noGrp="1"/>
          </p:cNvSpPr>
          <p:nvPr/>
        </p:nvSpPr>
        <p:spPr>
          <a:xfrm>
            <a:off x="8153400" y="3790950"/>
            <a:ext cx="3352800" cy="1409700"/>
          </a:xfrm>
          <a:prstGeom prst="rect">
            <a:avLst/>
          </a:prstGeom>
          <a:solidFill>
            <a:srgbClr val="FFFDFC"/>
          </a:solidFill>
          <a:ln w="9525">
            <a:solidFill>
              <a:srgbClr val="D7CEC3"/>
            </a:solidFill>
            <a:prstDash val="solid"/>
          </a:ln>
        </p:spPr>
      </p:sp>
      <p:sp>
        <p:nvSpPr>
          <p:cNvPr id="27" name="Oval 26">
            <a:extLst>
              <a:ext uri="{FF2B5EF4-FFF2-40B4-BE49-F238E27FC236}">
                <a16:creationId xmlns:a16="http://schemas.microsoft.com/office/drawing/2014/main" id="{52E9FD48-A4F9-4177-BE9D-7E797C6249EB}"/>
              </a:ext>
            </a:extLst>
          </p:cNvPr>
          <p:cNvSpPr>
            <a:spLocks noGrp="1"/>
          </p:cNvSpPr>
          <p:nvPr/>
        </p:nvSpPr>
        <p:spPr>
          <a:xfrm>
            <a:off x="8362950" y="4000500"/>
            <a:ext cx="419100" cy="419100"/>
          </a:xfrm>
          <a:prstGeom prst="ellipse">
            <a:avLst/>
          </a:prstGeom>
          <a:solidFill>
            <a:srgbClr val="C88C3A"/>
          </a:solidFill>
          <a:ln w="0">
            <a:solidFill>
              <a:srgbClr val="C88C3A"/>
            </a:solidFill>
            <a:prstDash val="solid"/>
          </a:ln>
        </p:spPr>
      </p:sp>
      <p:pic>
        <p:nvPicPr>
          <p:cNvPr id="28" name="Graphic 27"/>
          <p:cNvPicPr>
            <a:picLocks noChangeAspect="1"/>
          </p:cNvPicPr>
          <p:nvPr/>
        </p:nvPicPr>
        <p:blipFill>
          <a:blip>
            <a:extLst>
              <a:ext uri="{96DAC541-7B7A-43D3-8B79-37D633B846F1}">
                <asvg:svgBlip xmlns:asvg="http://schemas.microsoft.com/office/drawing/2016/SVG/main" r:embed="rId6"/>
              </a:ext>
            </a:extLst>
          </a:blip>
          <a:stretch/>
        </p:blipFill>
        <p:spPr>
          <a:xfrm>
            <a:off x="8458200" y="4095750"/>
            <a:ext cx="228600" cy="228600"/>
          </a:xfrm>
          <a:prstGeom prst="rect">
            <a:avLst/>
          </a:prstGeom>
        </p:spPr>
      </p:pic>
      <p:sp>
        <p:nvSpPr>
          <p:cNvPr id="29" name="Rectangle 28">
            <a:extLst>
              <a:ext uri="{FF2B5EF4-FFF2-40B4-BE49-F238E27FC236}">
                <a16:creationId xmlns:a16="http://schemas.microsoft.com/office/drawing/2014/main" id="{1D21728C-AF74-4CD2-9955-CDE9108EB395}"/>
              </a:ext>
            </a:extLst>
          </p:cNvPr>
          <p:cNvSpPr>
            <a:spLocks noGrp="1"/>
          </p:cNvSpPr>
          <p:nvPr/>
        </p:nvSpPr>
        <p:spPr>
          <a:xfrm>
            <a:off x="8896350" y="4000500"/>
            <a:ext cx="22860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650" b="1">
                <a:solidFill>
                  <a:srgbClr val="1A3554"/>
                </a:solidFill>
                <a:latin typeface="Aptos Display"/>
                <a:ea typeface="Aptos Display"/>
                <a:cs typeface="Aptos Display"/>
              </a:defRPr>
            </a:pPr>
            <a:r>
              <a:rPr sz="1650" b="1">
                <a:solidFill>
                  <a:srgbClr val="1A3554"/>
                </a:solidFill>
                <a:latin typeface="Aptos Display"/>
                <a:ea typeface="Aptos Display"/>
                <a:cs typeface="Aptos Display"/>
              </a:rPr>
              <a:t>Un cadre compatible entreprise</a:t>
            </a:r>
          </a:p>
        </p:txBody>
      </p:sp>
      <p:sp>
        <p:nvSpPr>
          <p:cNvPr id="30" name="Rectangle 29">
            <a:extLst>
              <a:ext uri="{FF2B5EF4-FFF2-40B4-BE49-F238E27FC236}">
                <a16:creationId xmlns:a16="http://schemas.microsoft.com/office/drawing/2014/main" id="{37908CBE-DC26-42D5-9455-563A65E3F88C}"/>
              </a:ext>
            </a:extLst>
          </p:cNvPr>
          <p:cNvSpPr>
            <a:spLocks noGrp="1"/>
          </p:cNvSpPr>
          <p:nvPr/>
        </p:nvSpPr>
        <p:spPr>
          <a:xfrm>
            <a:off x="8362950" y="4476750"/>
            <a:ext cx="2743200" cy="533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38" b="0">
                <a:solidFill>
                  <a:srgbClr val="1A3554"/>
                </a:solidFill>
                <a:latin typeface="Aptos"/>
                <a:ea typeface="Aptos"/>
                <a:cs typeface="Aptos"/>
              </a:defRPr>
            </a:pPr>
            <a:r>
              <a:rPr sz="938" b="0">
                <a:solidFill>
                  <a:srgbClr val="1A3554"/>
                </a:solidFill>
                <a:latin typeface="Aptos"/>
                <a:ea typeface="Aptos"/>
                <a:cs typeface="Aptos"/>
              </a:rPr>
              <a:t>Adossé à Nettelecom CI, TransferAI porte une approche sérieuse de la confidentialité, de la gouvernance des usages et de la supervision des pilotes.</a:t>
            </a:r>
          </a:p>
        </p:txBody>
      </p:sp>
      <p:sp>
        <p:nvSpPr>
          <p:cNvPr id="31" name="Rectangle 30">
            <a:extLst>
              <a:ext uri="{FF2B5EF4-FFF2-40B4-BE49-F238E27FC236}">
                <a16:creationId xmlns:a16="http://schemas.microsoft.com/office/drawing/2014/main" id="{7460E4D5-3D2C-4CB1-96D3-D878417CAE7E}"/>
              </a:ext>
            </a:extLst>
          </p:cNvPr>
          <p:cNvSpPr>
            <a:spLocks noGrp="1"/>
          </p:cNvSpPr>
          <p:nvPr/>
        </p:nvSpPr>
        <p:spPr>
          <a:xfrm>
            <a:off x="685800" y="5638800"/>
            <a:ext cx="10820400" cy="476250"/>
          </a:xfrm>
          <a:prstGeom prst="rect">
            <a:avLst/>
          </a:prstGeom>
          <a:solidFill>
            <a:srgbClr val="FBF5EE"/>
          </a:solidFill>
          <a:ln w="9525">
            <a:solidFill>
              <a:srgbClr val="D7CEC3"/>
            </a:solidFill>
            <a:prstDash val="solid"/>
          </a:ln>
        </p:spPr>
      </p:sp>
      <p:sp>
        <p:nvSpPr>
          <p:cNvPr id="32" name="Rectangle 31">
            <a:extLst>
              <a:ext uri="{FF2B5EF4-FFF2-40B4-BE49-F238E27FC236}">
                <a16:creationId xmlns:a16="http://schemas.microsoft.com/office/drawing/2014/main" id="{B465A6E2-C2E1-4752-A0FB-9530B2161609}"/>
              </a:ext>
            </a:extLst>
          </p:cNvPr>
          <p:cNvSpPr>
            <a:spLocks noGrp="1"/>
          </p:cNvSpPr>
          <p:nvPr/>
        </p:nvSpPr>
        <p:spPr>
          <a:xfrm>
            <a:off x="895350" y="5810250"/>
            <a:ext cx="209550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1">
                <a:solidFill>
                  <a:srgbClr val="E76F1D"/>
                </a:solidFill>
                <a:latin typeface="Aptos"/>
                <a:ea typeface="Aptos"/>
                <a:cs typeface="Aptos"/>
              </a:defRPr>
            </a:pPr>
            <a:endParaRPr sz="750" b="1" dirty="0">
              <a:solidFill>
                <a:srgbClr val="E76F1D"/>
              </a:solidFill>
              <a:latin typeface="Aptos"/>
              <a:ea typeface="Aptos"/>
              <a:cs typeface="Aptos"/>
            </a:endParaRPr>
          </a:p>
        </p:txBody>
      </p:sp>
      <p:sp>
        <p:nvSpPr>
          <p:cNvPr id="33" name="Rectangle 32">
            <a:extLst>
              <a:ext uri="{FF2B5EF4-FFF2-40B4-BE49-F238E27FC236}">
                <a16:creationId xmlns:a16="http://schemas.microsoft.com/office/drawing/2014/main" id="{D793B8AC-294C-4287-9AD9-AF2676B98CEE}"/>
              </a:ext>
            </a:extLst>
          </p:cNvPr>
          <p:cNvSpPr>
            <a:spLocks noGrp="1"/>
          </p:cNvSpPr>
          <p:nvPr/>
        </p:nvSpPr>
        <p:spPr>
          <a:xfrm>
            <a:off x="2952750" y="5772150"/>
            <a:ext cx="81915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63" b="1">
                <a:solidFill>
                  <a:srgbClr val="1A3554"/>
                </a:solidFill>
                <a:latin typeface="Aptos"/>
                <a:ea typeface="Aptos"/>
                <a:cs typeface="Aptos"/>
              </a:defRPr>
            </a:pPr>
            <a:endParaRPr sz="863" b="1" dirty="0">
              <a:solidFill>
                <a:srgbClr val="1A3554"/>
              </a:solidFill>
              <a:latin typeface="Aptos"/>
              <a:ea typeface="Aptos"/>
              <a:cs typeface="Aptos"/>
            </a:endParaRPr>
          </a:p>
        </p:txBody>
      </p:sp>
      <p:sp>
        <p:nvSpPr>
          <p:cNvPr id="34" name="Rectangle 33">
            <a:extLst>
              <a:ext uri="{FF2B5EF4-FFF2-40B4-BE49-F238E27FC236}">
                <a16:creationId xmlns:a16="http://schemas.microsoft.com/office/drawing/2014/main" id="{2F205531-9D55-4498-80EE-7488B0417F65}"/>
              </a:ext>
            </a:extLst>
          </p:cNvPr>
          <p:cNvSpPr>
            <a:spLocks noGrp="1"/>
          </p:cNvSpPr>
          <p:nvPr/>
        </p:nvSpPr>
        <p:spPr>
          <a:xfrm>
            <a:off x="647700" y="6496050"/>
            <a:ext cx="10896600" cy="9525"/>
          </a:xfrm>
          <a:prstGeom prst="rect">
            <a:avLst/>
          </a:prstGeom>
          <a:solidFill>
            <a:srgbClr val="D7CEC3"/>
          </a:solidFill>
          <a:ln w="0">
            <a:solidFill>
              <a:srgbClr val="000000">
                <a:alpha val="0"/>
              </a:srgbClr>
            </a:solidFill>
            <a:prstDash val="solid"/>
          </a:ln>
        </p:spPr>
      </p:sp>
      <p:sp>
        <p:nvSpPr>
          <p:cNvPr id="35" name="Rectangle 34">
            <a:extLst>
              <a:ext uri="{FF2B5EF4-FFF2-40B4-BE49-F238E27FC236}">
                <a16:creationId xmlns:a16="http://schemas.microsoft.com/office/drawing/2014/main" id="{7EAB942C-F9AB-4D71-9B8D-08708ED19DE1}"/>
              </a:ext>
            </a:extLst>
          </p:cNvPr>
          <p:cNvSpPr>
            <a:spLocks noGrp="1"/>
          </p:cNvSpPr>
          <p:nvPr/>
        </p:nvSpPr>
        <p:spPr>
          <a:xfrm>
            <a:off x="685800" y="6572250"/>
            <a:ext cx="857250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38" b="0">
                <a:solidFill>
                  <a:srgbClr val="617086"/>
                </a:solidFill>
                <a:latin typeface="Aptos"/>
                <a:ea typeface="Aptos"/>
                <a:cs typeface="Aptos"/>
              </a:defRPr>
            </a:pPr>
            <a:r>
              <a:rPr sz="638" b="0" dirty="0" err="1">
                <a:solidFill>
                  <a:srgbClr val="617086"/>
                </a:solidFill>
                <a:latin typeface="Aptos"/>
                <a:ea typeface="Aptos"/>
                <a:cs typeface="Aptos"/>
              </a:rPr>
              <a:t>TransferAI</a:t>
            </a:r>
            <a:r>
              <a:rPr sz="638" b="0" dirty="0">
                <a:solidFill>
                  <a:srgbClr val="617086"/>
                </a:solidFill>
                <a:latin typeface="Aptos"/>
                <a:ea typeface="Aptos"/>
                <a:cs typeface="Aptos"/>
              </a:rPr>
              <a:t> | Hub I</a:t>
            </a:r>
            <a:r>
              <a:rPr lang="en-GB" sz="638" b="0" dirty="0">
                <a:solidFill>
                  <a:srgbClr val="617086"/>
                </a:solidFill>
                <a:latin typeface="Aptos"/>
                <a:ea typeface="Aptos"/>
                <a:cs typeface="Aptos"/>
              </a:rPr>
              <a:t>A</a:t>
            </a:r>
            <a:r>
              <a:rPr sz="638" b="0" dirty="0">
                <a:solidFill>
                  <a:srgbClr val="617086"/>
                </a:solidFill>
                <a:latin typeface="Aptos"/>
                <a:ea typeface="Aptos"/>
                <a:cs typeface="Aptos"/>
              </a:rPr>
              <a:t> de </a:t>
            </a:r>
            <a:r>
              <a:rPr sz="638" b="0" dirty="0" err="1">
                <a:solidFill>
                  <a:srgbClr val="617086"/>
                </a:solidFill>
                <a:latin typeface="Aptos"/>
                <a:ea typeface="Aptos"/>
                <a:cs typeface="Aptos"/>
              </a:rPr>
              <a:t>Nettelecom</a:t>
            </a:r>
            <a:r>
              <a:rPr sz="638" b="0" dirty="0">
                <a:solidFill>
                  <a:srgbClr val="617086"/>
                </a:solidFill>
                <a:latin typeface="Aptos"/>
                <a:ea typeface="Aptos"/>
                <a:cs typeface="Aptos"/>
              </a:rPr>
              <a:t> CI | Proposition </a:t>
            </a:r>
            <a:r>
              <a:rPr sz="638" b="0" dirty="0" err="1">
                <a:solidFill>
                  <a:srgbClr val="617086"/>
                </a:solidFill>
                <a:latin typeface="Aptos"/>
                <a:ea typeface="Aptos"/>
                <a:cs typeface="Aptos"/>
              </a:rPr>
              <a:t>ciblée</a:t>
            </a:r>
            <a:r>
              <a:rPr sz="638" b="0" dirty="0">
                <a:solidFill>
                  <a:srgbClr val="617086"/>
                </a:solidFill>
                <a:latin typeface="Aptos"/>
                <a:ea typeface="Aptos"/>
                <a:cs typeface="Aptos"/>
              </a:rPr>
              <a:t> ELTON CI</a:t>
            </a:r>
          </a:p>
        </p:txBody>
      </p:sp>
      <p:sp>
        <p:nvSpPr>
          <p:cNvPr id="36" name="Rectangle 35">
            <a:extLst>
              <a:ext uri="{FF2B5EF4-FFF2-40B4-BE49-F238E27FC236}">
                <a16:creationId xmlns:a16="http://schemas.microsoft.com/office/drawing/2014/main" id="{F6390D4B-DFE5-4FB9-B0E0-B8B8CE12BF0D}"/>
              </a:ext>
            </a:extLst>
          </p:cNvPr>
          <p:cNvSpPr>
            <a:spLocks noGrp="1"/>
          </p:cNvSpPr>
          <p:nvPr/>
        </p:nvSpPr>
        <p:spPr>
          <a:xfrm>
            <a:off x="11049000" y="6553200"/>
            <a:ext cx="3429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750" b="1">
                <a:solidFill>
                  <a:srgbClr val="1A3554"/>
                </a:solidFill>
                <a:latin typeface="Aptos"/>
                <a:ea typeface="Aptos"/>
                <a:cs typeface="Aptos"/>
              </a:defRPr>
            </a:pPr>
            <a:r>
              <a:rPr sz="750" b="1">
                <a:solidFill>
                  <a:srgbClr val="1A3554"/>
                </a:solidFill>
                <a:latin typeface="Aptos"/>
                <a:ea typeface="Aptos"/>
                <a:cs typeface="Aptos"/>
              </a:rPr>
              <a:t>02</a:t>
            </a:r>
          </a:p>
        </p:txBody>
      </p:sp>
    </p:spTree>
    <p:extLst>
      <p:ext uri="{BB962C8B-B14F-4D97-AF65-F5344CB8AC3E}">
        <p14:creationId xmlns:p14="http://schemas.microsoft.com/office/powerpoint/2010/main" val="18854053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Rectangle 43">
            <a:extLst>
              <a:ext uri="{FF2B5EF4-FFF2-40B4-BE49-F238E27FC236}">
                <a16:creationId xmlns:a16="http://schemas.microsoft.com/office/drawing/2014/main" id="{E724784C-48AC-41D1-9318-3CACEE3534BA}"/>
              </a:ext>
            </a:extLst>
          </p:cNvPr>
          <p:cNvSpPr>
            <a:spLocks noGrp="1"/>
          </p:cNvSpPr>
          <p:nvPr/>
        </p:nvSpPr>
        <p:spPr>
          <a:xfrm>
            <a:off x="0" y="0"/>
            <a:ext cx="12192000" cy="6858000"/>
          </a:xfrm>
          <a:prstGeom prst="rect">
            <a:avLst/>
          </a:prstGeom>
          <a:solidFill>
            <a:srgbClr val="F5EFE7"/>
          </a:solidFill>
          <a:ln w="0">
            <a:solidFill>
              <a:srgbClr val="000000">
                <a:alpha val="0"/>
              </a:srgbClr>
            </a:solidFill>
            <a:prstDash val="solid"/>
          </a:ln>
        </p:spPr>
      </p:sp>
      <p:sp>
        <p:nvSpPr>
          <p:cNvPr id="2" name="Rectangle 1">
            <a:extLst>
              <a:ext uri="{FF2B5EF4-FFF2-40B4-BE49-F238E27FC236}">
                <a16:creationId xmlns:a16="http://schemas.microsoft.com/office/drawing/2014/main" id="{00D18F7F-EDCC-4C8F-917A-38B84843809B}"/>
              </a:ext>
            </a:extLst>
          </p:cNvPr>
          <p:cNvSpPr>
            <a:spLocks noGrp="1"/>
          </p:cNvSpPr>
          <p:nvPr/>
        </p:nvSpPr>
        <p:spPr>
          <a:xfrm>
            <a:off x="685800" y="495300"/>
            <a:ext cx="24765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88" b="1">
                <a:solidFill>
                  <a:srgbClr val="E76F1D"/>
                </a:solidFill>
                <a:latin typeface="Aptos"/>
                <a:ea typeface="Aptos"/>
                <a:cs typeface="Aptos"/>
              </a:defRPr>
            </a:pPr>
            <a:r>
              <a:rPr sz="788" b="1">
                <a:solidFill>
                  <a:srgbClr val="E76F1D"/>
                </a:solidFill>
                <a:latin typeface="Aptos"/>
                <a:ea typeface="Aptos"/>
                <a:cs typeface="Aptos"/>
              </a:rPr>
              <a:t>CONTEXTE ELTON CI</a:t>
            </a:r>
          </a:p>
        </p:txBody>
      </p:sp>
      <p:sp>
        <p:nvSpPr>
          <p:cNvPr id="3" name="Rectangle 2">
            <a:extLst>
              <a:ext uri="{FF2B5EF4-FFF2-40B4-BE49-F238E27FC236}">
                <a16:creationId xmlns:a16="http://schemas.microsoft.com/office/drawing/2014/main" id="{82467D03-3233-4112-AA9D-7EAE44514AE0}"/>
              </a:ext>
            </a:extLst>
          </p:cNvPr>
          <p:cNvSpPr>
            <a:spLocks noGrp="1"/>
          </p:cNvSpPr>
          <p:nvPr/>
        </p:nvSpPr>
        <p:spPr>
          <a:xfrm>
            <a:off x="685800" y="819150"/>
            <a:ext cx="8572500" cy="8001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550" b="1">
                <a:solidFill>
                  <a:srgbClr val="1A3554"/>
                </a:solidFill>
                <a:latin typeface="Aptos Display"/>
                <a:ea typeface="Aptos Display"/>
                <a:cs typeface="Aptos Display"/>
              </a:defRPr>
            </a:pPr>
            <a:r>
              <a:rPr sz="2550" b="1">
                <a:solidFill>
                  <a:srgbClr val="1A3554"/>
                </a:solidFill>
                <a:latin typeface="Aptos Display"/>
                <a:ea typeface="Aptos Display"/>
                <a:cs typeface="Aptos Display"/>
              </a:rPr>
              <a:t>Pourquoi cette proposition est adaptée au contexte ELTON CI</a:t>
            </a:r>
          </a:p>
        </p:txBody>
      </p:sp>
      <p:sp>
        <p:nvSpPr>
          <p:cNvPr id="4" name="Rectangle 3">
            <a:extLst>
              <a:ext uri="{FF2B5EF4-FFF2-40B4-BE49-F238E27FC236}">
                <a16:creationId xmlns:a16="http://schemas.microsoft.com/office/drawing/2014/main" id="{04E3D80E-E5E7-4ED6-817E-F1513E0136C9}"/>
              </a:ext>
            </a:extLst>
          </p:cNvPr>
          <p:cNvSpPr>
            <a:spLocks noGrp="1"/>
          </p:cNvSpPr>
          <p:nvPr/>
        </p:nvSpPr>
        <p:spPr>
          <a:xfrm>
            <a:off x="685800" y="1676400"/>
            <a:ext cx="9048750" cy="4572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0">
                <a:solidFill>
                  <a:srgbClr val="617086"/>
                </a:solidFill>
                <a:latin typeface="Aptos"/>
                <a:ea typeface="Aptos"/>
                <a:cs typeface="Aptos"/>
              </a:defRPr>
            </a:pPr>
            <a:r>
              <a:rPr sz="1050" b="0">
                <a:solidFill>
                  <a:srgbClr val="617086"/>
                </a:solidFill>
                <a:latin typeface="Aptos"/>
                <a:ea typeface="Aptos"/>
                <a:cs typeface="Aptos"/>
              </a:rPr>
              <a:t>L'objectif n'est pas d'ajouter un outil de plus. Il s'agit de mieux piloter, mieux coordonner et mieux diffuser l'information utile dans des flux qui coûtent du temps et de la discipline.</a:t>
            </a:r>
          </a:p>
        </p:txBody>
      </p:sp>
      <p:sp>
        <p:nvSpPr>
          <p:cNvPr id="5" name="Rectangle 4">
            <a:extLst>
              <a:ext uri="{FF2B5EF4-FFF2-40B4-BE49-F238E27FC236}">
                <a16:creationId xmlns:a16="http://schemas.microsoft.com/office/drawing/2014/main" id="{582A4D78-CEF8-430E-A2E3-EB2C956458DB}"/>
              </a:ext>
            </a:extLst>
          </p:cNvPr>
          <p:cNvSpPr>
            <a:spLocks noGrp="1"/>
          </p:cNvSpPr>
          <p:nvPr/>
        </p:nvSpPr>
        <p:spPr>
          <a:xfrm>
            <a:off x="685800" y="2362199"/>
            <a:ext cx="2571750" cy="1871133"/>
          </a:xfrm>
          <a:prstGeom prst="rect">
            <a:avLst/>
          </a:prstGeom>
          <a:solidFill>
            <a:srgbClr val="FFFDFC"/>
          </a:solidFill>
          <a:ln w="9525">
            <a:solidFill>
              <a:srgbClr val="D7CEC3"/>
            </a:solidFill>
            <a:prstDash val="solid"/>
          </a:ln>
        </p:spPr>
      </p:sp>
      <p:sp>
        <p:nvSpPr>
          <p:cNvPr id="6" name="Oval 5">
            <a:extLst>
              <a:ext uri="{FF2B5EF4-FFF2-40B4-BE49-F238E27FC236}">
                <a16:creationId xmlns:a16="http://schemas.microsoft.com/office/drawing/2014/main" id="{3D1702DC-3AD5-4028-8F18-53C98000AB48}"/>
              </a:ext>
            </a:extLst>
          </p:cNvPr>
          <p:cNvSpPr>
            <a:spLocks noGrp="1"/>
          </p:cNvSpPr>
          <p:nvPr/>
        </p:nvSpPr>
        <p:spPr>
          <a:xfrm>
            <a:off x="857250" y="2533650"/>
            <a:ext cx="419100" cy="419100"/>
          </a:xfrm>
          <a:prstGeom prst="ellipse">
            <a:avLst/>
          </a:prstGeom>
          <a:solidFill>
            <a:srgbClr val="E76F1D"/>
          </a:solidFill>
          <a:ln w="0">
            <a:solidFill>
              <a:srgbClr val="E76F1D"/>
            </a:solidFill>
            <a:prstDash val="solid"/>
          </a:ln>
        </p:spPr>
      </p:sp>
      <p:pic>
        <p:nvPicPr>
          <p:cNvPr id="7" name="Graphic 6"/>
          <p:cNvPicPr>
            <a:picLocks noChangeAspect="1"/>
          </p:cNvPicPr>
          <p:nvPr/>
        </p:nvPicPr>
        <p:blipFill>
          <a:blip>
            <a:extLst>
              <a:ext uri="{96DAC541-7B7A-43D3-8B79-37D633B846F1}">
                <asvg:svgBlip xmlns:asvg="http://schemas.microsoft.com/office/drawing/2016/SVG/main" r:embed="rId3"/>
              </a:ext>
            </a:extLst>
          </a:blip>
          <a:stretch/>
        </p:blipFill>
        <p:spPr>
          <a:xfrm>
            <a:off x="952500" y="2628900"/>
            <a:ext cx="228600" cy="228600"/>
          </a:xfrm>
          <a:prstGeom prst="rect">
            <a:avLst/>
          </a:prstGeom>
        </p:spPr>
      </p:pic>
      <p:sp>
        <p:nvSpPr>
          <p:cNvPr id="8" name="Rectangle 7">
            <a:extLst>
              <a:ext uri="{FF2B5EF4-FFF2-40B4-BE49-F238E27FC236}">
                <a16:creationId xmlns:a16="http://schemas.microsoft.com/office/drawing/2014/main" id="{8ACE6DF3-2AD1-4BCD-AEFC-6534DD482E79}"/>
              </a:ext>
            </a:extLst>
          </p:cNvPr>
          <p:cNvSpPr>
            <a:spLocks noGrp="1"/>
          </p:cNvSpPr>
          <p:nvPr/>
        </p:nvSpPr>
        <p:spPr>
          <a:xfrm>
            <a:off x="1409700" y="2571750"/>
            <a:ext cx="16573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63" b="1">
                <a:solidFill>
                  <a:srgbClr val="1A3554"/>
                </a:solidFill>
                <a:latin typeface="Aptos Display"/>
                <a:ea typeface="Aptos Display"/>
                <a:cs typeface="Aptos Display"/>
              </a:defRPr>
            </a:pPr>
            <a:r>
              <a:rPr sz="1163" b="1">
                <a:solidFill>
                  <a:srgbClr val="1A3554"/>
                </a:solidFill>
                <a:latin typeface="Aptos Display"/>
                <a:ea typeface="Aptos Display"/>
                <a:cs typeface="Aptos Display"/>
              </a:rPr>
              <a:t>Comptes professionnels</a:t>
            </a:r>
          </a:p>
        </p:txBody>
      </p:sp>
      <p:sp>
        <p:nvSpPr>
          <p:cNvPr id="9" name="Rectangle 8">
            <a:extLst>
              <a:ext uri="{FF2B5EF4-FFF2-40B4-BE49-F238E27FC236}">
                <a16:creationId xmlns:a16="http://schemas.microsoft.com/office/drawing/2014/main" id="{F870AE9C-0354-483F-94DD-5938463EB32A}"/>
              </a:ext>
            </a:extLst>
          </p:cNvPr>
          <p:cNvSpPr>
            <a:spLocks noGrp="1"/>
          </p:cNvSpPr>
          <p:nvPr/>
        </p:nvSpPr>
        <p:spPr>
          <a:xfrm>
            <a:off x="895350" y="2990850"/>
            <a:ext cx="76200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75" b="1">
                <a:solidFill>
                  <a:srgbClr val="E76F1D"/>
                </a:solidFill>
                <a:latin typeface="Aptos"/>
                <a:ea typeface="Aptos"/>
                <a:cs typeface="Aptos"/>
              </a:defRPr>
            </a:pPr>
            <a:r>
              <a:rPr sz="675" b="1">
                <a:solidFill>
                  <a:srgbClr val="E76F1D"/>
                </a:solidFill>
                <a:latin typeface="Aptos"/>
                <a:ea typeface="Aptos"/>
                <a:cs typeface="Aptos"/>
              </a:rPr>
              <a:t>AVANT</a:t>
            </a:r>
          </a:p>
        </p:txBody>
      </p:sp>
      <p:sp>
        <p:nvSpPr>
          <p:cNvPr id="10" name="Rectangle 9">
            <a:extLst>
              <a:ext uri="{FF2B5EF4-FFF2-40B4-BE49-F238E27FC236}">
                <a16:creationId xmlns:a16="http://schemas.microsoft.com/office/drawing/2014/main" id="{12C4D78B-3A1F-46D3-BFA4-972170746B22}"/>
              </a:ext>
            </a:extLst>
          </p:cNvPr>
          <p:cNvSpPr>
            <a:spLocks noGrp="1"/>
          </p:cNvSpPr>
          <p:nvPr/>
        </p:nvSpPr>
        <p:spPr>
          <a:xfrm>
            <a:off x="895350" y="3162300"/>
            <a:ext cx="2152650"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63" b="0">
                <a:solidFill>
                  <a:srgbClr val="617086"/>
                </a:solidFill>
                <a:latin typeface="Aptos"/>
                <a:ea typeface="Aptos"/>
                <a:cs typeface="Aptos"/>
              </a:defRPr>
            </a:pPr>
            <a:r>
              <a:rPr sz="863" b="0">
                <a:solidFill>
                  <a:srgbClr val="617086"/>
                </a:solidFill>
                <a:latin typeface="Aptos"/>
                <a:ea typeface="Aptos"/>
                <a:cs typeface="Aptos"/>
              </a:rPr>
              <a:t>Revues de portefeuille, relances et suivi d'encaissement souvent préparés à la main.</a:t>
            </a:r>
          </a:p>
        </p:txBody>
      </p:sp>
      <p:sp>
        <p:nvSpPr>
          <p:cNvPr id="11" name="Rectangle 10">
            <a:extLst>
              <a:ext uri="{FF2B5EF4-FFF2-40B4-BE49-F238E27FC236}">
                <a16:creationId xmlns:a16="http://schemas.microsoft.com/office/drawing/2014/main" id="{4BAC0C7C-E314-4475-AA56-EF7940E6CDE3}"/>
              </a:ext>
            </a:extLst>
          </p:cNvPr>
          <p:cNvSpPr>
            <a:spLocks noGrp="1"/>
          </p:cNvSpPr>
          <p:nvPr/>
        </p:nvSpPr>
        <p:spPr>
          <a:xfrm>
            <a:off x="895350" y="3600450"/>
            <a:ext cx="76200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75" b="1">
                <a:solidFill>
                  <a:srgbClr val="1C8A78"/>
                </a:solidFill>
                <a:latin typeface="Aptos"/>
                <a:ea typeface="Aptos"/>
                <a:cs typeface="Aptos"/>
              </a:defRPr>
            </a:pPr>
            <a:r>
              <a:rPr sz="675" b="1">
                <a:solidFill>
                  <a:srgbClr val="1C8A78"/>
                </a:solidFill>
                <a:latin typeface="Aptos"/>
                <a:ea typeface="Aptos"/>
                <a:cs typeface="Aptos"/>
              </a:rPr>
              <a:t>APRÈS</a:t>
            </a:r>
          </a:p>
        </p:txBody>
      </p:sp>
      <p:sp>
        <p:nvSpPr>
          <p:cNvPr id="12" name="Rectangle 11">
            <a:extLst>
              <a:ext uri="{FF2B5EF4-FFF2-40B4-BE49-F238E27FC236}">
                <a16:creationId xmlns:a16="http://schemas.microsoft.com/office/drawing/2014/main" id="{A33CE63A-F6F4-46E7-8BBC-A9CBAD6CF9DA}"/>
              </a:ext>
            </a:extLst>
          </p:cNvPr>
          <p:cNvSpPr>
            <a:spLocks noGrp="1"/>
          </p:cNvSpPr>
          <p:nvPr/>
        </p:nvSpPr>
        <p:spPr>
          <a:xfrm>
            <a:off x="895350" y="3771900"/>
            <a:ext cx="21526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63" b="0">
                <a:solidFill>
                  <a:srgbClr val="1A3554"/>
                </a:solidFill>
                <a:latin typeface="Aptos"/>
                <a:ea typeface="Aptos"/>
                <a:cs typeface="Aptos"/>
              </a:defRPr>
            </a:pPr>
            <a:r>
              <a:rPr sz="863" b="0" dirty="0" err="1">
                <a:solidFill>
                  <a:srgbClr val="1A3554"/>
                </a:solidFill>
                <a:latin typeface="Aptos"/>
                <a:ea typeface="Aptos"/>
                <a:cs typeface="Aptos"/>
              </a:rPr>
              <a:t>Portefeuille</a:t>
            </a:r>
            <a:r>
              <a:rPr sz="863" b="0" dirty="0">
                <a:solidFill>
                  <a:srgbClr val="1A3554"/>
                </a:solidFill>
                <a:latin typeface="Aptos"/>
                <a:ea typeface="Aptos"/>
                <a:cs typeface="Aptos"/>
              </a:rPr>
              <a:t> plus </a:t>
            </a:r>
            <a:r>
              <a:rPr sz="863" b="0" dirty="0" err="1">
                <a:solidFill>
                  <a:srgbClr val="1A3554"/>
                </a:solidFill>
                <a:latin typeface="Aptos"/>
                <a:ea typeface="Aptos"/>
                <a:cs typeface="Aptos"/>
              </a:rPr>
              <a:t>lisible</a:t>
            </a:r>
            <a:r>
              <a:rPr sz="863" b="0" dirty="0">
                <a:solidFill>
                  <a:srgbClr val="1A3554"/>
                </a:solidFill>
                <a:latin typeface="Aptos"/>
                <a:ea typeface="Aptos"/>
                <a:cs typeface="Aptos"/>
              </a:rPr>
              <a:t>, relances </a:t>
            </a:r>
            <a:r>
              <a:rPr sz="863" b="0" dirty="0" err="1">
                <a:solidFill>
                  <a:srgbClr val="1A3554"/>
                </a:solidFill>
                <a:latin typeface="Aptos"/>
                <a:ea typeface="Aptos"/>
                <a:cs typeface="Aptos"/>
              </a:rPr>
              <a:t>mieux</a:t>
            </a:r>
            <a:r>
              <a:rPr sz="863" b="0" dirty="0">
                <a:solidFill>
                  <a:srgbClr val="1A3554"/>
                </a:solidFill>
                <a:latin typeface="Aptos"/>
                <a:ea typeface="Aptos"/>
                <a:cs typeface="Aptos"/>
              </a:rPr>
              <a:t> </a:t>
            </a:r>
            <a:r>
              <a:rPr sz="863" b="0" dirty="0" err="1">
                <a:solidFill>
                  <a:srgbClr val="1A3554"/>
                </a:solidFill>
                <a:latin typeface="Aptos"/>
                <a:ea typeface="Aptos"/>
                <a:cs typeface="Aptos"/>
              </a:rPr>
              <a:t>priorisées</a:t>
            </a:r>
            <a:r>
              <a:rPr sz="863" b="0" dirty="0">
                <a:solidFill>
                  <a:srgbClr val="1A3554"/>
                </a:solidFill>
                <a:latin typeface="Aptos"/>
                <a:ea typeface="Aptos"/>
                <a:cs typeface="Aptos"/>
              </a:rPr>
              <a:t> et </a:t>
            </a:r>
            <a:r>
              <a:rPr sz="863" b="0" dirty="0" err="1">
                <a:solidFill>
                  <a:srgbClr val="1A3554"/>
                </a:solidFill>
                <a:latin typeface="Aptos"/>
                <a:ea typeface="Aptos"/>
                <a:cs typeface="Aptos"/>
              </a:rPr>
              <a:t>synthèses</a:t>
            </a:r>
            <a:r>
              <a:rPr sz="863" b="0" dirty="0">
                <a:solidFill>
                  <a:srgbClr val="1A3554"/>
                </a:solidFill>
                <a:latin typeface="Aptos"/>
                <a:ea typeface="Aptos"/>
                <a:cs typeface="Aptos"/>
              </a:rPr>
              <a:t> plus </a:t>
            </a:r>
            <a:r>
              <a:rPr sz="863" b="0" dirty="0" err="1">
                <a:solidFill>
                  <a:srgbClr val="1A3554"/>
                </a:solidFill>
                <a:latin typeface="Aptos"/>
                <a:ea typeface="Aptos"/>
                <a:cs typeface="Aptos"/>
              </a:rPr>
              <a:t>rapides</a:t>
            </a:r>
            <a:r>
              <a:rPr sz="863" b="0" dirty="0">
                <a:solidFill>
                  <a:srgbClr val="1A3554"/>
                </a:solidFill>
                <a:latin typeface="Aptos"/>
                <a:ea typeface="Aptos"/>
                <a:cs typeface="Aptos"/>
              </a:rPr>
              <a:t> pour la direction.</a:t>
            </a:r>
          </a:p>
        </p:txBody>
      </p:sp>
      <p:sp>
        <p:nvSpPr>
          <p:cNvPr id="13" name="Rectangle 12">
            <a:extLst>
              <a:ext uri="{FF2B5EF4-FFF2-40B4-BE49-F238E27FC236}">
                <a16:creationId xmlns:a16="http://schemas.microsoft.com/office/drawing/2014/main" id="{42E2B8BD-91CF-438B-941B-62F976277780}"/>
              </a:ext>
            </a:extLst>
          </p:cNvPr>
          <p:cNvSpPr>
            <a:spLocks noGrp="1"/>
          </p:cNvSpPr>
          <p:nvPr/>
        </p:nvSpPr>
        <p:spPr>
          <a:xfrm>
            <a:off x="3448050" y="2362200"/>
            <a:ext cx="2571750" cy="1871132"/>
          </a:xfrm>
          <a:prstGeom prst="rect">
            <a:avLst/>
          </a:prstGeom>
          <a:solidFill>
            <a:srgbClr val="FFFDFC"/>
          </a:solidFill>
          <a:ln w="9525">
            <a:solidFill>
              <a:srgbClr val="D7CEC3"/>
            </a:solidFill>
            <a:prstDash val="solid"/>
          </a:ln>
        </p:spPr>
      </p:sp>
      <p:sp>
        <p:nvSpPr>
          <p:cNvPr id="14" name="Oval 13">
            <a:extLst>
              <a:ext uri="{FF2B5EF4-FFF2-40B4-BE49-F238E27FC236}">
                <a16:creationId xmlns:a16="http://schemas.microsoft.com/office/drawing/2014/main" id="{F2C92DA4-1985-4031-AD92-1D770292259E}"/>
              </a:ext>
            </a:extLst>
          </p:cNvPr>
          <p:cNvSpPr>
            <a:spLocks noGrp="1"/>
          </p:cNvSpPr>
          <p:nvPr/>
        </p:nvSpPr>
        <p:spPr>
          <a:xfrm>
            <a:off x="3619500" y="2533650"/>
            <a:ext cx="419100" cy="419100"/>
          </a:xfrm>
          <a:prstGeom prst="ellipse">
            <a:avLst/>
          </a:prstGeom>
          <a:solidFill>
            <a:srgbClr val="1C8A78"/>
          </a:solidFill>
          <a:ln w="0">
            <a:solidFill>
              <a:srgbClr val="1C8A78"/>
            </a:solidFill>
            <a:prstDash val="solid"/>
          </a:ln>
        </p:spPr>
      </p:sp>
      <p:pic>
        <p:nvPicPr>
          <p:cNvPr id="15" name="Graphic 14"/>
          <p:cNvPicPr>
            <a:picLocks noChangeAspect="1"/>
          </p:cNvPicPr>
          <p:nvPr/>
        </p:nvPicPr>
        <p:blipFill>
          <a:blip>
            <a:extLst>
              <a:ext uri="{96DAC541-7B7A-43D3-8B79-37D633B846F1}">
                <asvg:svgBlip xmlns:asvg="http://schemas.microsoft.com/office/drawing/2016/SVG/main" r:embed="rId4"/>
              </a:ext>
            </a:extLst>
          </a:blip>
          <a:stretch/>
        </p:blipFill>
        <p:spPr>
          <a:xfrm>
            <a:off x="3714750" y="2628900"/>
            <a:ext cx="228600" cy="228600"/>
          </a:xfrm>
          <a:prstGeom prst="rect">
            <a:avLst/>
          </a:prstGeom>
        </p:spPr>
      </p:pic>
      <p:sp>
        <p:nvSpPr>
          <p:cNvPr id="16" name="Rectangle 15">
            <a:extLst>
              <a:ext uri="{FF2B5EF4-FFF2-40B4-BE49-F238E27FC236}">
                <a16:creationId xmlns:a16="http://schemas.microsoft.com/office/drawing/2014/main" id="{BD718C83-A0AF-4DE7-85FE-98742E7319C8}"/>
              </a:ext>
            </a:extLst>
          </p:cNvPr>
          <p:cNvSpPr>
            <a:spLocks noGrp="1"/>
          </p:cNvSpPr>
          <p:nvPr/>
        </p:nvSpPr>
        <p:spPr>
          <a:xfrm>
            <a:off x="4171950" y="2571750"/>
            <a:ext cx="16573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63" b="1">
                <a:solidFill>
                  <a:srgbClr val="1A3554"/>
                </a:solidFill>
                <a:latin typeface="Aptos Display"/>
                <a:ea typeface="Aptos Display"/>
                <a:cs typeface="Aptos Display"/>
              </a:defRPr>
            </a:pPr>
            <a:r>
              <a:rPr sz="1163" b="1">
                <a:solidFill>
                  <a:srgbClr val="1A3554"/>
                </a:solidFill>
                <a:latin typeface="Aptos Display"/>
                <a:ea typeface="Aptos Display"/>
                <a:cs typeface="Aptos Display"/>
              </a:rPr>
              <a:t>Flotte et carburant</a:t>
            </a:r>
          </a:p>
        </p:txBody>
      </p:sp>
      <p:sp>
        <p:nvSpPr>
          <p:cNvPr id="17" name="Rectangle 16">
            <a:extLst>
              <a:ext uri="{FF2B5EF4-FFF2-40B4-BE49-F238E27FC236}">
                <a16:creationId xmlns:a16="http://schemas.microsoft.com/office/drawing/2014/main" id="{67977E55-80D5-4061-91A3-AC3BD4C1C492}"/>
              </a:ext>
            </a:extLst>
          </p:cNvPr>
          <p:cNvSpPr>
            <a:spLocks noGrp="1"/>
          </p:cNvSpPr>
          <p:nvPr/>
        </p:nvSpPr>
        <p:spPr>
          <a:xfrm>
            <a:off x="3657600" y="2990850"/>
            <a:ext cx="76200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75" b="1">
                <a:solidFill>
                  <a:srgbClr val="E76F1D"/>
                </a:solidFill>
                <a:latin typeface="Aptos"/>
                <a:ea typeface="Aptos"/>
                <a:cs typeface="Aptos"/>
              </a:defRPr>
            </a:pPr>
            <a:r>
              <a:rPr sz="675" b="1">
                <a:solidFill>
                  <a:srgbClr val="E76F1D"/>
                </a:solidFill>
                <a:latin typeface="Aptos"/>
                <a:ea typeface="Aptos"/>
                <a:cs typeface="Aptos"/>
              </a:rPr>
              <a:t>AVANT</a:t>
            </a:r>
          </a:p>
        </p:txBody>
      </p:sp>
      <p:sp>
        <p:nvSpPr>
          <p:cNvPr id="18" name="Rectangle 17">
            <a:extLst>
              <a:ext uri="{FF2B5EF4-FFF2-40B4-BE49-F238E27FC236}">
                <a16:creationId xmlns:a16="http://schemas.microsoft.com/office/drawing/2014/main" id="{D718AD14-A273-4981-8F57-A7E5D70A97F1}"/>
              </a:ext>
            </a:extLst>
          </p:cNvPr>
          <p:cNvSpPr>
            <a:spLocks noGrp="1"/>
          </p:cNvSpPr>
          <p:nvPr/>
        </p:nvSpPr>
        <p:spPr>
          <a:xfrm>
            <a:off x="3657600" y="3162300"/>
            <a:ext cx="2152650"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63" b="0">
                <a:solidFill>
                  <a:srgbClr val="617086"/>
                </a:solidFill>
                <a:latin typeface="Aptos"/>
                <a:ea typeface="Aptos"/>
                <a:cs typeface="Aptos"/>
              </a:defRPr>
            </a:pPr>
            <a:r>
              <a:rPr sz="863" b="0">
                <a:solidFill>
                  <a:srgbClr val="617086"/>
                </a:solidFill>
                <a:latin typeface="Aptos"/>
                <a:ea typeface="Aptos"/>
                <a:cs typeface="Aptos"/>
              </a:rPr>
              <a:t>Consommations, cartes et anomalies difficilement consolidées dans un même pilotage.</a:t>
            </a:r>
          </a:p>
        </p:txBody>
      </p:sp>
      <p:sp>
        <p:nvSpPr>
          <p:cNvPr id="19" name="Rectangle 18">
            <a:extLst>
              <a:ext uri="{FF2B5EF4-FFF2-40B4-BE49-F238E27FC236}">
                <a16:creationId xmlns:a16="http://schemas.microsoft.com/office/drawing/2014/main" id="{73A6EA55-0BA8-483E-AC2A-09E8134FBFC6}"/>
              </a:ext>
            </a:extLst>
          </p:cNvPr>
          <p:cNvSpPr>
            <a:spLocks noGrp="1"/>
          </p:cNvSpPr>
          <p:nvPr/>
        </p:nvSpPr>
        <p:spPr>
          <a:xfrm>
            <a:off x="3657600" y="3600450"/>
            <a:ext cx="76200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75" b="1">
                <a:solidFill>
                  <a:srgbClr val="1C8A78"/>
                </a:solidFill>
                <a:latin typeface="Aptos"/>
                <a:ea typeface="Aptos"/>
                <a:cs typeface="Aptos"/>
              </a:defRPr>
            </a:pPr>
            <a:r>
              <a:rPr sz="675" b="1">
                <a:solidFill>
                  <a:srgbClr val="1C8A78"/>
                </a:solidFill>
                <a:latin typeface="Aptos"/>
                <a:ea typeface="Aptos"/>
                <a:cs typeface="Aptos"/>
              </a:rPr>
              <a:t>APRÈS</a:t>
            </a:r>
          </a:p>
        </p:txBody>
      </p:sp>
      <p:sp>
        <p:nvSpPr>
          <p:cNvPr id="20" name="Rectangle 19">
            <a:extLst>
              <a:ext uri="{FF2B5EF4-FFF2-40B4-BE49-F238E27FC236}">
                <a16:creationId xmlns:a16="http://schemas.microsoft.com/office/drawing/2014/main" id="{266A0148-7D32-4195-BB54-74713A122445}"/>
              </a:ext>
            </a:extLst>
          </p:cNvPr>
          <p:cNvSpPr>
            <a:spLocks noGrp="1"/>
          </p:cNvSpPr>
          <p:nvPr/>
        </p:nvSpPr>
        <p:spPr>
          <a:xfrm>
            <a:off x="3657600" y="3771900"/>
            <a:ext cx="21526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63" b="0">
                <a:solidFill>
                  <a:srgbClr val="1A3554"/>
                </a:solidFill>
                <a:latin typeface="Aptos"/>
                <a:ea typeface="Aptos"/>
                <a:cs typeface="Aptos"/>
              </a:defRPr>
            </a:pPr>
            <a:r>
              <a:rPr sz="863" b="0">
                <a:solidFill>
                  <a:srgbClr val="1A3554"/>
                </a:solidFill>
                <a:latin typeface="Aptos"/>
                <a:ea typeface="Aptos"/>
                <a:cs typeface="Aptos"/>
              </a:rPr>
              <a:t>Suivi plus fiable des coûts, alertes sur écarts et comparaison par véhicule, site ou période.</a:t>
            </a:r>
          </a:p>
        </p:txBody>
      </p:sp>
      <p:sp>
        <p:nvSpPr>
          <p:cNvPr id="21" name="Rectangle 20">
            <a:extLst>
              <a:ext uri="{FF2B5EF4-FFF2-40B4-BE49-F238E27FC236}">
                <a16:creationId xmlns:a16="http://schemas.microsoft.com/office/drawing/2014/main" id="{6F586B86-BA71-4A62-B45D-E1013E668235}"/>
              </a:ext>
            </a:extLst>
          </p:cNvPr>
          <p:cNvSpPr>
            <a:spLocks noGrp="1"/>
          </p:cNvSpPr>
          <p:nvPr/>
        </p:nvSpPr>
        <p:spPr>
          <a:xfrm>
            <a:off x="6210300" y="2362200"/>
            <a:ext cx="2571750" cy="1871132"/>
          </a:xfrm>
          <a:prstGeom prst="rect">
            <a:avLst/>
          </a:prstGeom>
          <a:solidFill>
            <a:srgbClr val="FFFDFC"/>
          </a:solidFill>
          <a:ln w="9525">
            <a:solidFill>
              <a:srgbClr val="D7CEC3"/>
            </a:solidFill>
            <a:prstDash val="solid"/>
          </a:ln>
        </p:spPr>
      </p:sp>
      <p:sp>
        <p:nvSpPr>
          <p:cNvPr id="22" name="Oval 21">
            <a:extLst>
              <a:ext uri="{FF2B5EF4-FFF2-40B4-BE49-F238E27FC236}">
                <a16:creationId xmlns:a16="http://schemas.microsoft.com/office/drawing/2014/main" id="{80896A8B-4435-44D3-A1A0-32A8393762FE}"/>
              </a:ext>
            </a:extLst>
          </p:cNvPr>
          <p:cNvSpPr>
            <a:spLocks noGrp="1"/>
          </p:cNvSpPr>
          <p:nvPr/>
        </p:nvSpPr>
        <p:spPr>
          <a:xfrm>
            <a:off x="6381750" y="2533650"/>
            <a:ext cx="419100" cy="419100"/>
          </a:xfrm>
          <a:prstGeom prst="ellipse">
            <a:avLst/>
          </a:prstGeom>
          <a:solidFill>
            <a:srgbClr val="163556"/>
          </a:solidFill>
          <a:ln w="0">
            <a:solidFill>
              <a:srgbClr val="163556"/>
            </a:solidFill>
            <a:prstDash val="solid"/>
          </a:ln>
        </p:spPr>
      </p:sp>
      <p:pic>
        <p:nvPicPr>
          <p:cNvPr id="23" name="Graphic 22"/>
          <p:cNvPicPr>
            <a:picLocks noChangeAspect="1"/>
          </p:cNvPicPr>
          <p:nvPr/>
        </p:nvPicPr>
        <p:blipFill>
          <a:blip>
            <a:extLst>
              <a:ext uri="{96DAC541-7B7A-43D3-8B79-37D633B846F1}">
                <asvg:svgBlip xmlns:asvg="http://schemas.microsoft.com/office/drawing/2016/SVG/main" r:embed="rId5"/>
              </a:ext>
            </a:extLst>
          </a:blip>
          <a:stretch/>
        </p:blipFill>
        <p:spPr>
          <a:xfrm>
            <a:off x="6477000" y="2628900"/>
            <a:ext cx="228600" cy="228600"/>
          </a:xfrm>
          <a:prstGeom prst="rect">
            <a:avLst/>
          </a:prstGeom>
        </p:spPr>
      </p:pic>
      <p:sp>
        <p:nvSpPr>
          <p:cNvPr id="24" name="Rectangle 23">
            <a:extLst>
              <a:ext uri="{FF2B5EF4-FFF2-40B4-BE49-F238E27FC236}">
                <a16:creationId xmlns:a16="http://schemas.microsoft.com/office/drawing/2014/main" id="{C1BF16D7-939C-4FD5-80DD-57E79C9305FE}"/>
              </a:ext>
            </a:extLst>
          </p:cNvPr>
          <p:cNvSpPr>
            <a:spLocks noGrp="1"/>
          </p:cNvSpPr>
          <p:nvPr/>
        </p:nvSpPr>
        <p:spPr>
          <a:xfrm>
            <a:off x="6934200" y="2571750"/>
            <a:ext cx="16573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63" b="1">
                <a:solidFill>
                  <a:srgbClr val="1A3554"/>
                </a:solidFill>
                <a:latin typeface="Aptos Display"/>
                <a:ea typeface="Aptos Display"/>
                <a:cs typeface="Aptos Display"/>
              </a:defRPr>
            </a:pPr>
            <a:r>
              <a:rPr sz="1163" b="1">
                <a:solidFill>
                  <a:srgbClr val="1A3554"/>
                </a:solidFill>
                <a:latin typeface="Aptos Display"/>
                <a:ea typeface="Aptos Display"/>
                <a:cs typeface="Aptos Display"/>
              </a:rPr>
              <a:t>Service client / auto</a:t>
            </a:r>
          </a:p>
        </p:txBody>
      </p:sp>
      <p:sp>
        <p:nvSpPr>
          <p:cNvPr id="25" name="Rectangle 24">
            <a:extLst>
              <a:ext uri="{FF2B5EF4-FFF2-40B4-BE49-F238E27FC236}">
                <a16:creationId xmlns:a16="http://schemas.microsoft.com/office/drawing/2014/main" id="{D7BB7F20-58EC-4B84-BDA5-131C184F5278}"/>
              </a:ext>
            </a:extLst>
          </p:cNvPr>
          <p:cNvSpPr>
            <a:spLocks noGrp="1"/>
          </p:cNvSpPr>
          <p:nvPr/>
        </p:nvSpPr>
        <p:spPr>
          <a:xfrm>
            <a:off x="6419850" y="2990850"/>
            <a:ext cx="76200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75" b="1">
                <a:solidFill>
                  <a:srgbClr val="E76F1D"/>
                </a:solidFill>
                <a:latin typeface="Aptos"/>
                <a:ea typeface="Aptos"/>
                <a:cs typeface="Aptos"/>
              </a:defRPr>
            </a:pPr>
            <a:r>
              <a:rPr sz="675" b="1">
                <a:solidFill>
                  <a:srgbClr val="E76F1D"/>
                </a:solidFill>
                <a:latin typeface="Aptos"/>
                <a:ea typeface="Aptos"/>
                <a:cs typeface="Aptos"/>
              </a:rPr>
              <a:t>AVANT</a:t>
            </a:r>
          </a:p>
        </p:txBody>
      </p:sp>
      <p:sp>
        <p:nvSpPr>
          <p:cNvPr id="26" name="Rectangle 25">
            <a:extLst>
              <a:ext uri="{FF2B5EF4-FFF2-40B4-BE49-F238E27FC236}">
                <a16:creationId xmlns:a16="http://schemas.microsoft.com/office/drawing/2014/main" id="{B33FB09F-8E28-439A-89FA-D5824EED67DC}"/>
              </a:ext>
            </a:extLst>
          </p:cNvPr>
          <p:cNvSpPr>
            <a:spLocks noGrp="1"/>
          </p:cNvSpPr>
          <p:nvPr/>
        </p:nvSpPr>
        <p:spPr>
          <a:xfrm>
            <a:off x="6419850" y="3162300"/>
            <a:ext cx="2152650"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63" b="0">
                <a:solidFill>
                  <a:srgbClr val="617086"/>
                </a:solidFill>
                <a:latin typeface="Aptos"/>
                <a:ea typeface="Aptos"/>
                <a:cs typeface="Aptos"/>
              </a:defRPr>
            </a:pPr>
            <a:r>
              <a:rPr sz="863" b="0">
                <a:solidFill>
                  <a:srgbClr val="617086"/>
                </a:solidFill>
                <a:latin typeface="Aptos"/>
                <a:ea typeface="Aptos"/>
                <a:cs typeface="Aptos"/>
              </a:rPr>
              <a:t>Rappels, demandes et réponses pas toujours homogènes ni suffisamment tracés.</a:t>
            </a:r>
          </a:p>
        </p:txBody>
      </p:sp>
      <p:sp>
        <p:nvSpPr>
          <p:cNvPr id="27" name="Rectangle 26">
            <a:extLst>
              <a:ext uri="{FF2B5EF4-FFF2-40B4-BE49-F238E27FC236}">
                <a16:creationId xmlns:a16="http://schemas.microsoft.com/office/drawing/2014/main" id="{6603FB17-F43C-4065-8350-2FDF3EC0C273}"/>
              </a:ext>
            </a:extLst>
          </p:cNvPr>
          <p:cNvSpPr>
            <a:spLocks noGrp="1"/>
          </p:cNvSpPr>
          <p:nvPr/>
        </p:nvSpPr>
        <p:spPr>
          <a:xfrm>
            <a:off x="6419850" y="3600450"/>
            <a:ext cx="76200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75" b="1">
                <a:solidFill>
                  <a:srgbClr val="1C8A78"/>
                </a:solidFill>
                <a:latin typeface="Aptos"/>
                <a:ea typeface="Aptos"/>
                <a:cs typeface="Aptos"/>
              </a:defRPr>
            </a:pPr>
            <a:r>
              <a:rPr sz="675" b="1">
                <a:solidFill>
                  <a:srgbClr val="1C8A78"/>
                </a:solidFill>
                <a:latin typeface="Aptos"/>
                <a:ea typeface="Aptos"/>
                <a:cs typeface="Aptos"/>
              </a:rPr>
              <a:t>APRÈS</a:t>
            </a:r>
          </a:p>
        </p:txBody>
      </p:sp>
      <p:sp>
        <p:nvSpPr>
          <p:cNvPr id="28" name="Rectangle 27">
            <a:extLst>
              <a:ext uri="{FF2B5EF4-FFF2-40B4-BE49-F238E27FC236}">
                <a16:creationId xmlns:a16="http://schemas.microsoft.com/office/drawing/2014/main" id="{08AFCB79-2259-4A30-82C8-3BCFAB9558FB}"/>
              </a:ext>
            </a:extLst>
          </p:cNvPr>
          <p:cNvSpPr>
            <a:spLocks noGrp="1"/>
          </p:cNvSpPr>
          <p:nvPr/>
        </p:nvSpPr>
        <p:spPr>
          <a:xfrm>
            <a:off x="6419850" y="3771900"/>
            <a:ext cx="21526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63" b="0">
                <a:solidFill>
                  <a:srgbClr val="1A3554"/>
                </a:solidFill>
                <a:latin typeface="Aptos"/>
                <a:ea typeface="Aptos"/>
                <a:cs typeface="Aptos"/>
              </a:defRPr>
            </a:pPr>
            <a:r>
              <a:rPr sz="863" b="0">
                <a:solidFill>
                  <a:srgbClr val="1A3554"/>
                </a:solidFill>
                <a:latin typeface="Aptos"/>
                <a:ea typeface="Aptos"/>
                <a:cs typeface="Aptos"/>
              </a:rPr>
              <a:t>Réponses plus rapides, scripts mieux cadrés et meilleure continuité dans le suivi client.</a:t>
            </a:r>
          </a:p>
        </p:txBody>
      </p:sp>
      <p:sp>
        <p:nvSpPr>
          <p:cNvPr id="29" name="Rectangle 28">
            <a:extLst>
              <a:ext uri="{FF2B5EF4-FFF2-40B4-BE49-F238E27FC236}">
                <a16:creationId xmlns:a16="http://schemas.microsoft.com/office/drawing/2014/main" id="{09F159D5-8FD1-4822-BB0D-0A23DE510993}"/>
              </a:ext>
            </a:extLst>
          </p:cNvPr>
          <p:cNvSpPr>
            <a:spLocks noGrp="1"/>
          </p:cNvSpPr>
          <p:nvPr/>
        </p:nvSpPr>
        <p:spPr>
          <a:xfrm>
            <a:off x="8972550" y="2362200"/>
            <a:ext cx="2533650" cy="1871132"/>
          </a:xfrm>
          <a:prstGeom prst="rect">
            <a:avLst/>
          </a:prstGeom>
          <a:solidFill>
            <a:srgbClr val="FFFDFC"/>
          </a:solidFill>
          <a:ln w="9525">
            <a:solidFill>
              <a:srgbClr val="D7CEC3"/>
            </a:solidFill>
            <a:prstDash val="solid"/>
          </a:ln>
        </p:spPr>
      </p:sp>
      <p:sp>
        <p:nvSpPr>
          <p:cNvPr id="30" name="Oval 29">
            <a:extLst>
              <a:ext uri="{FF2B5EF4-FFF2-40B4-BE49-F238E27FC236}">
                <a16:creationId xmlns:a16="http://schemas.microsoft.com/office/drawing/2014/main" id="{8362E896-0F11-4AAB-BA3C-AFA0C7BB4653}"/>
              </a:ext>
            </a:extLst>
          </p:cNvPr>
          <p:cNvSpPr>
            <a:spLocks noGrp="1"/>
          </p:cNvSpPr>
          <p:nvPr/>
        </p:nvSpPr>
        <p:spPr>
          <a:xfrm>
            <a:off x="9144000" y="2533650"/>
            <a:ext cx="419100" cy="419100"/>
          </a:xfrm>
          <a:prstGeom prst="ellipse">
            <a:avLst/>
          </a:prstGeom>
          <a:solidFill>
            <a:srgbClr val="C88C3A"/>
          </a:solidFill>
          <a:ln w="0">
            <a:solidFill>
              <a:srgbClr val="C88C3A"/>
            </a:solidFill>
            <a:prstDash val="solid"/>
          </a:ln>
        </p:spPr>
      </p:sp>
      <p:pic>
        <p:nvPicPr>
          <p:cNvPr id="31" name="Graphic 30"/>
          <p:cNvPicPr>
            <a:picLocks noChangeAspect="1"/>
          </p:cNvPicPr>
          <p:nvPr/>
        </p:nvPicPr>
        <p:blipFill>
          <a:blip>
            <a:extLst>
              <a:ext uri="{96DAC541-7B7A-43D3-8B79-37D633B846F1}">
                <asvg:svgBlip xmlns:asvg="http://schemas.microsoft.com/office/drawing/2016/SVG/main" r:embed="rId6"/>
              </a:ext>
            </a:extLst>
          </a:blip>
          <a:stretch/>
        </p:blipFill>
        <p:spPr>
          <a:xfrm>
            <a:off x="9239250" y="2628900"/>
            <a:ext cx="228600" cy="228600"/>
          </a:xfrm>
          <a:prstGeom prst="rect">
            <a:avLst/>
          </a:prstGeom>
        </p:spPr>
      </p:pic>
      <p:sp>
        <p:nvSpPr>
          <p:cNvPr id="32" name="Rectangle 31">
            <a:extLst>
              <a:ext uri="{FF2B5EF4-FFF2-40B4-BE49-F238E27FC236}">
                <a16:creationId xmlns:a16="http://schemas.microsoft.com/office/drawing/2014/main" id="{8868668E-89AD-4BD0-B036-CBD5AE5B1913}"/>
              </a:ext>
            </a:extLst>
          </p:cNvPr>
          <p:cNvSpPr>
            <a:spLocks noGrp="1"/>
          </p:cNvSpPr>
          <p:nvPr/>
        </p:nvSpPr>
        <p:spPr>
          <a:xfrm>
            <a:off x="9696450" y="2571750"/>
            <a:ext cx="16192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63" b="1">
                <a:solidFill>
                  <a:srgbClr val="1A3554"/>
                </a:solidFill>
                <a:latin typeface="Aptos Display"/>
                <a:ea typeface="Aptos Display"/>
                <a:cs typeface="Aptos Display"/>
              </a:defRPr>
            </a:pPr>
            <a:r>
              <a:rPr sz="1163" b="1">
                <a:solidFill>
                  <a:srgbClr val="1A3554"/>
                </a:solidFill>
                <a:latin typeface="Aptos Display"/>
                <a:ea typeface="Aptos Display"/>
                <a:cs typeface="Aptos Display"/>
              </a:rPr>
              <a:t>Procédures internes</a:t>
            </a:r>
          </a:p>
        </p:txBody>
      </p:sp>
      <p:sp>
        <p:nvSpPr>
          <p:cNvPr id="33" name="Rectangle 32">
            <a:extLst>
              <a:ext uri="{FF2B5EF4-FFF2-40B4-BE49-F238E27FC236}">
                <a16:creationId xmlns:a16="http://schemas.microsoft.com/office/drawing/2014/main" id="{2A8902A0-A182-440C-A259-314B403962F5}"/>
              </a:ext>
            </a:extLst>
          </p:cNvPr>
          <p:cNvSpPr>
            <a:spLocks noGrp="1"/>
          </p:cNvSpPr>
          <p:nvPr/>
        </p:nvSpPr>
        <p:spPr>
          <a:xfrm>
            <a:off x="9182100" y="2990850"/>
            <a:ext cx="76200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75" b="1">
                <a:solidFill>
                  <a:srgbClr val="E76F1D"/>
                </a:solidFill>
                <a:latin typeface="Aptos"/>
                <a:ea typeface="Aptos"/>
                <a:cs typeface="Aptos"/>
              </a:defRPr>
            </a:pPr>
            <a:r>
              <a:rPr sz="675" b="1">
                <a:solidFill>
                  <a:srgbClr val="E76F1D"/>
                </a:solidFill>
                <a:latin typeface="Aptos"/>
                <a:ea typeface="Aptos"/>
                <a:cs typeface="Aptos"/>
              </a:rPr>
              <a:t>AVANT</a:t>
            </a:r>
          </a:p>
        </p:txBody>
      </p:sp>
      <p:sp>
        <p:nvSpPr>
          <p:cNvPr id="34" name="Rectangle 33">
            <a:extLst>
              <a:ext uri="{FF2B5EF4-FFF2-40B4-BE49-F238E27FC236}">
                <a16:creationId xmlns:a16="http://schemas.microsoft.com/office/drawing/2014/main" id="{75860BC2-4276-4991-AFD8-30165852B54D}"/>
              </a:ext>
            </a:extLst>
          </p:cNvPr>
          <p:cNvSpPr>
            <a:spLocks noGrp="1"/>
          </p:cNvSpPr>
          <p:nvPr/>
        </p:nvSpPr>
        <p:spPr>
          <a:xfrm>
            <a:off x="9182100" y="3162300"/>
            <a:ext cx="2114550"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63" b="0">
                <a:solidFill>
                  <a:srgbClr val="617086"/>
                </a:solidFill>
                <a:latin typeface="Aptos"/>
                <a:ea typeface="Aptos"/>
                <a:cs typeface="Aptos"/>
              </a:defRPr>
            </a:pPr>
            <a:r>
              <a:rPr sz="863" b="0">
                <a:solidFill>
                  <a:srgbClr val="617086"/>
                </a:solidFill>
                <a:latin typeface="Aptos"/>
                <a:ea typeface="Aptos"/>
                <a:cs typeface="Aptos"/>
              </a:rPr>
              <a:t>Les bonnes pratiques existent, mais restent dispersées dans les équipes et les documents.</a:t>
            </a:r>
          </a:p>
        </p:txBody>
      </p:sp>
      <p:sp>
        <p:nvSpPr>
          <p:cNvPr id="35" name="Rectangle 34">
            <a:extLst>
              <a:ext uri="{FF2B5EF4-FFF2-40B4-BE49-F238E27FC236}">
                <a16:creationId xmlns:a16="http://schemas.microsoft.com/office/drawing/2014/main" id="{732F82AE-62E8-4113-80E8-51C2086AA02C}"/>
              </a:ext>
            </a:extLst>
          </p:cNvPr>
          <p:cNvSpPr>
            <a:spLocks noGrp="1"/>
          </p:cNvSpPr>
          <p:nvPr/>
        </p:nvSpPr>
        <p:spPr>
          <a:xfrm>
            <a:off x="9182100" y="3600450"/>
            <a:ext cx="76200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75" b="1">
                <a:solidFill>
                  <a:srgbClr val="1C8A78"/>
                </a:solidFill>
                <a:latin typeface="Aptos"/>
                <a:ea typeface="Aptos"/>
                <a:cs typeface="Aptos"/>
              </a:defRPr>
            </a:pPr>
            <a:r>
              <a:rPr sz="675" b="1">
                <a:solidFill>
                  <a:srgbClr val="1C8A78"/>
                </a:solidFill>
                <a:latin typeface="Aptos"/>
                <a:ea typeface="Aptos"/>
                <a:cs typeface="Aptos"/>
              </a:rPr>
              <a:t>APRÈS</a:t>
            </a:r>
          </a:p>
        </p:txBody>
      </p:sp>
      <p:sp>
        <p:nvSpPr>
          <p:cNvPr id="36" name="Rectangle 35">
            <a:extLst>
              <a:ext uri="{FF2B5EF4-FFF2-40B4-BE49-F238E27FC236}">
                <a16:creationId xmlns:a16="http://schemas.microsoft.com/office/drawing/2014/main" id="{61E72BA8-B979-423D-AE04-984E70615158}"/>
              </a:ext>
            </a:extLst>
          </p:cNvPr>
          <p:cNvSpPr>
            <a:spLocks noGrp="1"/>
          </p:cNvSpPr>
          <p:nvPr/>
        </p:nvSpPr>
        <p:spPr>
          <a:xfrm>
            <a:off x="9182100" y="3771900"/>
            <a:ext cx="21145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63" b="0">
                <a:solidFill>
                  <a:srgbClr val="1A3554"/>
                </a:solidFill>
                <a:latin typeface="Aptos"/>
                <a:ea typeface="Aptos"/>
                <a:cs typeface="Aptos"/>
              </a:defRPr>
            </a:pPr>
            <a:r>
              <a:rPr sz="863" b="0" dirty="0" err="1">
                <a:solidFill>
                  <a:srgbClr val="1A3554"/>
                </a:solidFill>
                <a:latin typeface="Aptos"/>
                <a:ea typeface="Aptos"/>
                <a:cs typeface="Aptos"/>
              </a:rPr>
              <a:t>Accès</a:t>
            </a:r>
            <a:r>
              <a:rPr sz="863" b="0" dirty="0">
                <a:solidFill>
                  <a:srgbClr val="1A3554"/>
                </a:solidFill>
                <a:latin typeface="Aptos"/>
                <a:ea typeface="Aptos"/>
                <a:cs typeface="Aptos"/>
              </a:rPr>
              <a:t> plus </a:t>
            </a:r>
            <a:r>
              <a:rPr sz="863" b="0" dirty="0" err="1">
                <a:solidFill>
                  <a:srgbClr val="1A3554"/>
                </a:solidFill>
                <a:latin typeface="Aptos"/>
                <a:ea typeface="Aptos"/>
                <a:cs typeface="Aptos"/>
              </a:rPr>
              <a:t>rapide</a:t>
            </a:r>
            <a:r>
              <a:rPr sz="863" b="0" dirty="0">
                <a:solidFill>
                  <a:srgbClr val="1A3554"/>
                </a:solidFill>
                <a:latin typeface="Aptos"/>
                <a:ea typeface="Aptos"/>
                <a:cs typeface="Aptos"/>
              </a:rPr>
              <a:t> aux </a:t>
            </a:r>
            <a:r>
              <a:rPr sz="863" b="0" dirty="0" err="1">
                <a:solidFill>
                  <a:srgbClr val="1A3554"/>
                </a:solidFill>
                <a:latin typeface="Aptos"/>
                <a:ea typeface="Aptos"/>
                <a:cs typeface="Aptos"/>
              </a:rPr>
              <a:t>procédures</a:t>
            </a:r>
            <a:r>
              <a:rPr sz="863" b="0" dirty="0">
                <a:solidFill>
                  <a:srgbClr val="1A3554"/>
                </a:solidFill>
                <a:latin typeface="Aptos"/>
                <a:ea typeface="Aptos"/>
                <a:cs typeface="Aptos"/>
              </a:rPr>
              <a:t>, onboarding plus court et </a:t>
            </a:r>
            <a:r>
              <a:rPr sz="863" b="0" dirty="0" err="1">
                <a:solidFill>
                  <a:srgbClr val="1A3554"/>
                </a:solidFill>
                <a:latin typeface="Aptos"/>
                <a:ea typeface="Aptos"/>
                <a:cs typeface="Aptos"/>
              </a:rPr>
              <a:t>exécution</a:t>
            </a:r>
            <a:r>
              <a:rPr sz="863" b="0" dirty="0">
                <a:solidFill>
                  <a:srgbClr val="1A3554"/>
                </a:solidFill>
                <a:latin typeface="Aptos"/>
                <a:ea typeface="Aptos"/>
                <a:cs typeface="Aptos"/>
              </a:rPr>
              <a:t> plus </a:t>
            </a:r>
            <a:r>
              <a:rPr sz="863" b="0" dirty="0" err="1">
                <a:solidFill>
                  <a:srgbClr val="1A3554"/>
                </a:solidFill>
                <a:latin typeface="Aptos"/>
                <a:ea typeface="Aptos"/>
                <a:cs typeface="Aptos"/>
              </a:rPr>
              <a:t>cohérente</a:t>
            </a:r>
            <a:r>
              <a:rPr sz="863" b="0" dirty="0">
                <a:solidFill>
                  <a:srgbClr val="1A3554"/>
                </a:solidFill>
                <a:latin typeface="Aptos"/>
                <a:ea typeface="Aptos"/>
                <a:cs typeface="Aptos"/>
              </a:rPr>
              <a:t>.</a:t>
            </a:r>
          </a:p>
        </p:txBody>
      </p:sp>
      <p:sp>
        <p:nvSpPr>
          <p:cNvPr id="37" name="Rectangle 36">
            <a:extLst>
              <a:ext uri="{FF2B5EF4-FFF2-40B4-BE49-F238E27FC236}">
                <a16:creationId xmlns:a16="http://schemas.microsoft.com/office/drawing/2014/main" id="{B432926B-AF2A-49E3-B7B5-07687D37A07D}"/>
              </a:ext>
            </a:extLst>
          </p:cNvPr>
          <p:cNvSpPr>
            <a:spLocks noGrp="1"/>
          </p:cNvSpPr>
          <p:nvPr/>
        </p:nvSpPr>
        <p:spPr>
          <a:xfrm>
            <a:off x="685800" y="4438650"/>
            <a:ext cx="10820400" cy="1295400"/>
          </a:xfrm>
          <a:prstGeom prst="rect">
            <a:avLst/>
          </a:prstGeom>
          <a:solidFill>
            <a:srgbClr val="163556"/>
          </a:solidFill>
          <a:ln w="0">
            <a:solidFill>
              <a:srgbClr val="163556"/>
            </a:solidFill>
            <a:prstDash val="solid"/>
          </a:ln>
        </p:spPr>
      </p:sp>
      <p:sp>
        <p:nvSpPr>
          <p:cNvPr id="38" name="Rectangle 37">
            <a:extLst>
              <a:ext uri="{FF2B5EF4-FFF2-40B4-BE49-F238E27FC236}">
                <a16:creationId xmlns:a16="http://schemas.microsoft.com/office/drawing/2014/main" id="{BEF82268-95AB-41F0-B9B3-D85DFB482AD4}"/>
              </a:ext>
            </a:extLst>
          </p:cNvPr>
          <p:cNvSpPr>
            <a:spLocks noGrp="1"/>
          </p:cNvSpPr>
          <p:nvPr/>
        </p:nvSpPr>
        <p:spPr>
          <a:xfrm>
            <a:off x="933450" y="4686300"/>
            <a:ext cx="171450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1">
                <a:solidFill>
                  <a:srgbClr val="CFE0F0"/>
                </a:solidFill>
                <a:latin typeface="Aptos"/>
                <a:ea typeface="Aptos"/>
                <a:cs typeface="Aptos"/>
              </a:defRPr>
            </a:pPr>
            <a:r>
              <a:rPr sz="750" b="1">
                <a:solidFill>
                  <a:srgbClr val="CFE0F0"/>
                </a:solidFill>
                <a:latin typeface="Aptos"/>
                <a:ea typeface="Aptos"/>
                <a:cs typeface="Aptos"/>
              </a:rPr>
              <a:t>Le bon angle commercial</a:t>
            </a:r>
          </a:p>
        </p:txBody>
      </p:sp>
      <p:sp>
        <p:nvSpPr>
          <p:cNvPr id="39" name="Rectangle 38">
            <a:extLst>
              <a:ext uri="{FF2B5EF4-FFF2-40B4-BE49-F238E27FC236}">
                <a16:creationId xmlns:a16="http://schemas.microsoft.com/office/drawing/2014/main" id="{0D284FE9-9E36-47E0-B430-41DE3B9F6964}"/>
              </a:ext>
            </a:extLst>
          </p:cNvPr>
          <p:cNvSpPr>
            <a:spLocks noGrp="1"/>
          </p:cNvSpPr>
          <p:nvPr/>
        </p:nvSpPr>
        <p:spPr>
          <a:xfrm>
            <a:off x="933450" y="4953000"/>
            <a:ext cx="53340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00" b="1">
                <a:solidFill>
                  <a:srgbClr val="FFFFFF"/>
                </a:solidFill>
                <a:latin typeface="Aptos Display"/>
                <a:ea typeface="Aptos Display"/>
                <a:cs typeface="Aptos Display"/>
              </a:defRPr>
            </a:pPr>
            <a:r>
              <a:rPr sz="2100" b="1">
                <a:solidFill>
                  <a:srgbClr val="FFFFFF"/>
                </a:solidFill>
                <a:latin typeface="Aptos Display"/>
                <a:ea typeface="Aptos Display"/>
                <a:cs typeface="Aptos Display"/>
              </a:rPr>
              <a:t>Partir des flux métier qui freinent déjà l'exécution.</a:t>
            </a:r>
          </a:p>
        </p:txBody>
      </p:sp>
      <p:sp>
        <p:nvSpPr>
          <p:cNvPr id="40" name="Rectangle 39">
            <a:extLst>
              <a:ext uri="{FF2B5EF4-FFF2-40B4-BE49-F238E27FC236}">
                <a16:creationId xmlns:a16="http://schemas.microsoft.com/office/drawing/2014/main" id="{8446D087-1FBF-4C1E-9A23-B791916EE558}"/>
              </a:ext>
            </a:extLst>
          </p:cNvPr>
          <p:cNvSpPr>
            <a:spLocks noGrp="1"/>
          </p:cNvSpPr>
          <p:nvPr/>
        </p:nvSpPr>
        <p:spPr>
          <a:xfrm>
            <a:off x="6477000" y="4876800"/>
            <a:ext cx="4762500" cy="533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13" b="0">
                <a:solidFill>
                  <a:srgbClr val="D7E5F3"/>
                </a:solidFill>
                <a:latin typeface="Aptos"/>
                <a:ea typeface="Aptos"/>
                <a:cs typeface="Aptos"/>
              </a:defRPr>
            </a:pPr>
            <a:r>
              <a:rPr sz="1013" b="0">
                <a:solidFill>
                  <a:srgbClr val="D7E5F3"/>
                </a:solidFill>
                <a:latin typeface="Aptos"/>
                <a:ea typeface="Aptos"/>
                <a:cs typeface="Aptos"/>
              </a:rPr>
              <a:t>Pour ELTON CI, la crédibilité ne viendra pas d'un catalogue de formations. Elle viendra d'une proposition qui relie diagnostic, cas d'usage, gouvernance, formation ciblée et premiers gains visibles.</a:t>
            </a:r>
          </a:p>
        </p:txBody>
      </p:sp>
      <p:sp>
        <p:nvSpPr>
          <p:cNvPr id="41" name="Rectangle 40">
            <a:extLst>
              <a:ext uri="{FF2B5EF4-FFF2-40B4-BE49-F238E27FC236}">
                <a16:creationId xmlns:a16="http://schemas.microsoft.com/office/drawing/2014/main" id="{1D6C13FC-AE7F-423F-85D8-EADDCD527719}"/>
              </a:ext>
            </a:extLst>
          </p:cNvPr>
          <p:cNvSpPr>
            <a:spLocks noGrp="1"/>
          </p:cNvSpPr>
          <p:nvPr/>
        </p:nvSpPr>
        <p:spPr>
          <a:xfrm>
            <a:off x="647700" y="6496050"/>
            <a:ext cx="10896600" cy="9525"/>
          </a:xfrm>
          <a:prstGeom prst="rect">
            <a:avLst/>
          </a:prstGeom>
          <a:solidFill>
            <a:srgbClr val="D7CEC3"/>
          </a:solidFill>
          <a:ln w="0">
            <a:solidFill>
              <a:srgbClr val="000000">
                <a:alpha val="0"/>
              </a:srgbClr>
            </a:solidFill>
            <a:prstDash val="solid"/>
          </a:ln>
        </p:spPr>
      </p:sp>
      <p:sp>
        <p:nvSpPr>
          <p:cNvPr id="42" name="Rectangle 41">
            <a:extLst>
              <a:ext uri="{FF2B5EF4-FFF2-40B4-BE49-F238E27FC236}">
                <a16:creationId xmlns:a16="http://schemas.microsoft.com/office/drawing/2014/main" id="{269F8939-0C98-4107-8122-297A69466666}"/>
              </a:ext>
            </a:extLst>
          </p:cNvPr>
          <p:cNvSpPr>
            <a:spLocks noGrp="1"/>
          </p:cNvSpPr>
          <p:nvPr/>
        </p:nvSpPr>
        <p:spPr>
          <a:xfrm>
            <a:off x="685800" y="6572250"/>
            <a:ext cx="857250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38" b="0">
                <a:solidFill>
                  <a:srgbClr val="617086"/>
                </a:solidFill>
                <a:latin typeface="Aptos"/>
                <a:ea typeface="Aptos"/>
                <a:cs typeface="Aptos"/>
              </a:defRPr>
            </a:pPr>
            <a:r>
              <a:rPr sz="638" b="0" dirty="0" err="1">
                <a:solidFill>
                  <a:srgbClr val="617086"/>
                </a:solidFill>
                <a:latin typeface="Aptos"/>
                <a:ea typeface="Aptos"/>
                <a:cs typeface="Aptos"/>
              </a:rPr>
              <a:t>TransferAI</a:t>
            </a:r>
            <a:r>
              <a:rPr sz="638" b="0" dirty="0">
                <a:solidFill>
                  <a:srgbClr val="617086"/>
                </a:solidFill>
                <a:latin typeface="Aptos"/>
                <a:ea typeface="Aptos"/>
                <a:cs typeface="Aptos"/>
              </a:rPr>
              <a:t> | Hub </a:t>
            </a:r>
            <a:r>
              <a:rPr lang="en-GB" sz="638" b="0" dirty="0">
                <a:solidFill>
                  <a:srgbClr val="617086"/>
                </a:solidFill>
                <a:latin typeface="Aptos"/>
                <a:ea typeface="Aptos"/>
                <a:cs typeface="Aptos"/>
              </a:rPr>
              <a:t>IA</a:t>
            </a:r>
            <a:r>
              <a:rPr sz="638" b="0" dirty="0">
                <a:solidFill>
                  <a:srgbClr val="617086"/>
                </a:solidFill>
                <a:latin typeface="Aptos"/>
                <a:ea typeface="Aptos"/>
                <a:cs typeface="Aptos"/>
              </a:rPr>
              <a:t> de </a:t>
            </a:r>
            <a:r>
              <a:rPr sz="638" b="0" dirty="0" err="1">
                <a:solidFill>
                  <a:srgbClr val="617086"/>
                </a:solidFill>
                <a:latin typeface="Aptos"/>
                <a:ea typeface="Aptos"/>
                <a:cs typeface="Aptos"/>
              </a:rPr>
              <a:t>Nettelecom</a:t>
            </a:r>
            <a:r>
              <a:rPr sz="638" b="0" dirty="0">
                <a:solidFill>
                  <a:srgbClr val="617086"/>
                </a:solidFill>
                <a:latin typeface="Aptos"/>
                <a:ea typeface="Aptos"/>
                <a:cs typeface="Aptos"/>
              </a:rPr>
              <a:t> CI | Proposition </a:t>
            </a:r>
            <a:r>
              <a:rPr sz="638" b="0" dirty="0" err="1">
                <a:solidFill>
                  <a:srgbClr val="617086"/>
                </a:solidFill>
                <a:latin typeface="Aptos"/>
                <a:ea typeface="Aptos"/>
                <a:cs typeface="Aptos"/>
              </a:rPr>
              <a:t>ciblée</a:t>
            </a:r>
            <a:r>
              <a:rPr sz="638" b="0" dirty="0">
                <a:solidFill>
                  <a:srgbClr val="617086"/>
                </a:solidFill>
                <a:latin typeface="Aptos"/>
                <a:ea typeface="Aptos"/>
                <a:cs typeface="Aptos"/>
              </a:rPr>
              <a:t> ELTON CI</a:t>
            </a:r>
          </a:p>
        </p:txBody>
      </p:sp>
      <p:sp>
        <p:nvSpPr>
          <p:cNvPr id="43" name="Rectangle 42">
            <a:extLst>
              <a:ext uri="{FF2B5EF4-FFF2-40B4-BE49-F238E27FC236}">
                <a16:creationId xmlns:a16="http://schemas.microsoft.com/office/drawing/2014/main" id="{EF00774E-C110-48D2-BEC1-51800FCF8112}"/>
              </a:ext>
            </a:extLst>
          </p:cNvPr>
          <p:cNvSpPr>
            <a:spLocks noGrp="1"/>
          </p:cNvSpPr>
          <p:nvPr/>
        </p:nvSpPr>
        <p:spPr>
          <a:xfrm>
            <a:off x="11049000" y="6553200"/>
            <a:ext cx="3429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750" b="1">
                <a:solidFill>
                  <a:srgbClr val="1A3554"/>
                </a:solidFill>
                <a:latin typeface="Aptos"/>
                <a:ea typeface="Aptos"/>
                <a:cs typeface="Aptos"/>
              </a:defRPr>
            </a:pPr>
            <a:r>
              <a:rPr sz="750" b="1">
                <a:solidFill>
                  <a:srgbClr val="1A3554"/>
                </a:solidFill>
                <a:latin typeface="Aptos"/>
                <a:ea typeface="Aptos"/>
                <a:cs typeface="Aptos"/>
              </a:rPr>
              <a:t>03</a:t>
            </a:r>
          </a:p>
        </p:txBody>
      </p:sp>
    </p:spTree>
    <p:extLst>
      <p:ext uri="{BB962C8B-B14F-4D97-AF65-F5344CB8AC3E}">
        <p14:creationId xmlns:p14="http://schemas.microsoft.com/office/powerpoint/2010/main" val="6925595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Rectangle 44">
            <a:extLst>
              <a:ext uri="{FF2B5EF4-FFF2-40B4-BE49-F238E27FC236}">
                <a16:creationId xmlns:a16="http://schemas.microsoft.com/office/drawing/2014/main" id="{FE181185-696D-4642-A2DA-9B3D9E39EC08}"/>
              </a:ext>
            </a:extLst>
          </p:cNvPr>
          <p:cNvSpPr>
            <a:spLocks noGrp="1"/>
          </p:cNvSpPr>
          <p:nvPr/>
        </p:nvSpPr>
        <p:spPr>
          <a:xfrm>
            <a:off x="0" y="0"/>
            <a:ext cx="12192000" cy="6858000"/>
          </a:xfrm>
          <a:prstGeom prst="rect">
            <a:avLst/>
          </a:prstGeom>
          <a:solidFill>
            <a:srgbClr val="F5EFE7"/>
          </a:solidFill>
          <a:ln w="0">
            <a:solidFill>
              <a:srgbClr val="000000">
                <a:alpha val="0"/>
              </a:srgbClr>
            </a:solidFill>
            <a:prstDash val="solid"/>
          </a:ln>
        </p:spPr>
      </p:sp>
      <p:sp>
        <p:nvSpPr>
          <p:cNvPr id="2" name="Rectangle 1">
            <a:extLst>
              <a:ext uri="{FF2B5EF4-FFF2-40B4-BE49-F238E27FC236}">
                <a16:creationId xmlns:a16="http://schemas.microsoft.com/office/drawing/2014/main" id="{3BDFF392-9029-4536-8C74-0E3213E62A84}"/>
              </a:ext>
            </a:extLst>
          </p:cNvPr>
          <p:cNvSpPr>
            <a:spLocks noGrp="1"/>
          </p:cNvSpPr>
          <p:nvPr/>
        </p:nvSpPr>
        <p:spPr>
          <a:xfrm>
            <a:off x="0" y="0"/>
            <a:ext cx="12192000" cy="1123950"/>
          </a:xfrm>
          <a:prstGeom prst="rect">
            <a:avLst/>
          </a:prstGeom>
          <a:solidFill>
            <a:srgbClr val="163556"/>
          </a:solidFill>
          <a:ln w="0">
            <a:solidFill>
              <a:srgbClr val="163556"/>
            </a:solidFill>
            <a:prstDash val="solid"/>
          </a:ln>
        </p:spPr>
      </p:sp>
      <p:sp>
        <p:nvSpPr>
          <p:cNvPr id="3" name="Rectangle 2">
            <a:extLst>
              <a:ext uri="{FF2B5EF4-FFF2-40B4-BE49-F238E27FC236}">
                <a16:creationId xmlns:a16="http://schemas.microsoft.com/office/drawing/2014/main" id="{64544CD4-1EDE-422A-856C-20B170D2A449}"/>
              </a:ext>
            </a:extLst>
          </p:cNvPr>
          <p:cNvSpPr>
            <a:spLocks noGrp="1"/>
          </p:cNvSpPr>
          <p:nvPr/>
        </p:nvSpPr>
        <p:spPr>
          <a:xfrm>
            <a:off x="685800" y="495300"/>
            <a:ext cx="24765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88" b="1">
                <a:solidFill>
                  <a:srgbClr val="FFFFFF"/>
                </a:solidFill>
                <a:latin typeface="Aptos"/>
                <a:ea typeface="Aptos"/>
                <a:cs typeface="Aptos"/>
              </a:defRPr>
            </a:pPr>
            <a:r>
              <a:rPr sz="788" b="1">
                <a:solidFill>
                  <a:srgbClr val="FFFFFF"/>
                </a:solidFill>
                <a:latin typeface="Aptos"/>
                <a:ea typeface="Aptos"/>
                <a:cs typeface="Aptos"/>
              </a:rPr>
              <a:t>ROI DE RÉFÉRENCE</a:t>
            </a:r>
          </a:p>
        </p:txBody>
      </p:sp>
      <p:sp>
        <p:nvSpPr>
          <p:cNvPr id="4" name="Rectangle 3">
            <a:extLst>
              <a:ext uri="{FF2B5EF4-FFF2-40B4-BE49-F238E27FC236}">
                <a16:creationId xmlns:a16="http://schemas.microsoft.com/office/drawing/2014/main" id="{6BC8C495-9E02-4D79-9773-EC10562C77C1}"/>
              </a:ext>
            </a:extLst>
          </p:cNvPr>
          <p:cNvSpPr>
            <a:spLocks noGrp="1"/>
          </p:cNvSpPr>
          <p:nvPr/>
        </p:nvSpPr>
        <p:spPr>
          <a:xfrm>
            <a:off x="685800" y="723900"/>
            <a:ext cx="98679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00" b="1">
                <a:solidFill>
                  <a:srgbClr val="FFFFFF"/>
                </a:solidFill>
                <a:latin typeface="Aptos Display"/>
                <a:ea typeface="Aptos Display"/>
                <a:cs typeface="Aptos Display"/>
              </a:defRPr>
            </a:pPr>
            <a:r>
              <a:rPr sz="2100" b="1" dirty="0">
                <a:solidFill>
                  <a:srgbClr val="FFFFFF"/>
                </a:solidFill>
                <a:latin typeface="Aptos Display"/>
                <a:ea typeface="Aptos Display"/>
                <a:cs typeface="Aptos Display"/>
              </a:rPr>
              <a:t>Le ROI </a:t>
            </a:r>
            <a:r>
              <a:rPr sz="2100" b="1" dirty="0" err="1">
                <a:solidFill>
                  <a:srgbClr val="FFFFFF"/>
                </a:solidFill>
                <a:latin typeface="Aptos Display"/>
                <a:ea typeface="Aptos Display"/>
                <a:cs typeface="Aptos Display"/>
              </a:rPr>
              <a:t>présenté</a:t>
            </a:r>
            <a:r>
              <a:rPr sz="2100" b="1" dirty="0">
                <a:solidFill>
                  <a:srgbClr val="FFFFFF"/>
                </a:solidFill>
                <a:latin typeface="Aptos Display"/>
                <a:ea typeface="Aptos Display"/>
                <a:cs typeface="Aptos Display"/>
              </a:rPr>
              <a:t> </a:t>
            </a:r>
            <a:r>
              <a:rPr sz="2100" b="1" dirty="0" err="1">
                <a:solidFill>
                  <a:srgbClr val="FFFFFF"/>
                </a:solidFill>
                <a:latin typeface="Aptos Display"/>
                <a:ea typeface="Aptos Display"/>
                <a:cs typeface="Aptos Display"/>
              </a:rPr>
              <a:t>devient</a:t>
            </a:r>
            <a:r>
              <a:rPr sz="2100" b="1" dirty="0">
                <a:solidFill>
                  <a:srgbClr val="FFFFFF"/>
                </a:solidFill>
                <a:latin typeface="Aptos Display"/>
                <a:ea typeface="Aptos Display"/>
                <a:cs typeface="Aptos Display"/>
              </a:rPr>
              <a:t> utile </a:t>
            </a:r>
            <a:r>
              <a:rPr sz="2100" b="1" dirty="0" err="1">
                <a:solidFill>
                  <a:srgbClr val="FFFFFF"/>
                </a:solidFill>
                <a:latin typeface="Aptos Display"/>
                <a:ea typeface="Aptos Display"/>
                <a:cs typeface="Aptos Display"/>
              </a:rPr>
              <a:t>seulement</a:t>
            </a:r>
            <a:r>
              <a:rPr sz="2100" b="1" dirty="0">
                <a:solidFill>
                  <a:srgbClr val="FFFFFF"/>
                </a:solidFill>
                <a:latin typeface="Aptos Display"/>
                <a:ea typeface="Aptos Display"/>
                <a:cs typeface="Aptos Display"/>
              </a:rPr>
              <a:t> </a:t>
            </a:r>
            <a:r>
              <a:rPr sz="2100" b="1" dirty="0" err="1">
                <a:solidFill>
                  <a:srgbClr val="FFFFFF"/>
                </a:solidFill>
                <a:latin typeface="Aptos Display"/>
                <a:ea typeface="Aptos Display"/>
                <a:cs typeface="Aptos Display"/>
              </a:rPr>
              <a:t>s'il</a:t>
            </a:r>
            <a:r>
              <a:rPr sz="2100" b="1" dirty="0">
                <a:solidFill>
                  <a:srgbClr val="FFFFFF"/>
                </a:solidFill>
                <a:latin typeface="Aptos Display"/>
                <a:ea typeface="Aptos Display"/>
                <a:cs typeface="Aptos Display"/>
              </a:rPr>
              <a:t> est </a:t>
            </a:r>
            <a:r>
              <a:rPr sz="2100" b="1" dirty="0" err="1">
                <a:solidFill>
                  <a:srgbClr val="FFFFFF"/>
                </a:solidFill>
                <a:latin typeface="Aptos Display"/>
                <a:ea typeface="Aptos Display"/>
                <a:cs typeface="Aptos Display"/>
              </a:rPr>
              <a:t>traduit</a:t>
            </a:r>
            <a:r>
              <a:rPr sz="2100" b="1" dirty="0">
                <a:solidFill>
                  <a:srgbClr val="FFFFFF"/>
                </a:solidFill>
                <a:latin typeface="Aptos Display"/>
                <a:ea typeface="Aptos Display"/>
                <a:cs typeface="Aptos Display"/>
              </a:rPr>
              <a:t> dans le </a:t>
            </a:r>
            <a:r>
              <a:rPr sz="2100" b="1" dirty="0" err="1">
                <a:solidFill>
                  <a:srgbClr val="FFFFFF"/>
                </a:solidFill>
                <a:latin typeface="Aptos Display"/>
                <a:ea typeface="Aptos Display"/>
                <a:cs typeface="Aptos Display"/>
              </a:rPr>
              <a:t>contexte</a:t>
            </a:r>
            <a:r>
              <a:rPr sz="2100" b="1" dirty="0">
                <a:solidFill>
                  <a:srgbClr val="FFFFFF"/>
                </a:solidFill>
                <a:latin typeface="Aptos Display"/>
                <a:ea typeface="Aptos Display"/>
                <a:cs typeface="Aptos Display"/>
              </a:rPr>
              <a:t> ELTON CI</a:t>
            </a:r>
          </a:p>
        </p:txBody>
      </p:sp>
      <p:sp>
        <p:nvSpPr>
          <p:cNvPr id="5" name="Rectangle 4">
            <a:extLst>
              <a:ext uri="{FF2B5EF4-FFF2-40B4-BE49-F238E27FC236}">
                <a16:creationId xmlns:a16="http://schemas.microsoft.com/office/drawing/2014/main" id="{DD06CBFE-EB48-45D6-922E-0D2E64292685}"/>
              </a:ext>
            </a:extLst>
          </p:cNvPr>
          <p:cNvSpPr>
            <a:spLocks noGrp="1"/>
          </p:cNvSpPr>
          <p:nvPr/>
        </p:nvSpPr>
        <p:spPr>
          <a:xfrm>
            <a:off x="685800" y="1409700"/>
            <a:ext cx="2514600" cy="1104900"/>
          </a:xfrm>
          <a:prstGeom prst="rect">
            <a:avLst/>
          </a:prstGeom>
          <a:solidFill>
            <a:srgbClr val="1C8A78"/>
          </a:solidFill>
          <a:ln w="0">
            <a:solidFill>
              <a:srgbClr val="1C8A78"/>
            </a:solidFill>
            <a:prstDash val="solid"/>
          </a:ln>
        </p:spPr>
      </p:sp>
      <p:sp>
        <p:nvSpPr>
          <p:cNvPr id="6" name="Rectangle 5">
            <a:extLst>
              <a:ext uri="{FF2B5EF4-FFF2-40B4-BE49-F238E27FC236}">
                <a16:creationId xmlns:a16="http://schemas.microsoft.com/office/drawing/2014/main" id="{4B6C9339-036F-41C5-9E04-949F78ACCA33}"/>
              </a:ext>
            </a:extLst>
          </p:cNvPr>
          <p:cNvSpPr>
            <a:spLocks noGrp="1"/>
          </p:cNvSpPr>
          <p:nvPr/>
        </p:nvSpPr>
        <p:spPr>
          <a:xfrm>
            <a:off x="857250" y="1581150"/>
            <a:ext cx="2171700"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2400" b="1">
                <a:solidFill>
                  <a:srgbClr val="FFFFFF"/>
                </a:solidFill>
                <a:latin typeface="Aptos Display"/>
                <a:ea typeface="Aptos Display"/>
                <a:cs typeface="Aptos Display"/>
              </a:defRPr>
            </a:pPr>
            <a:r>
              <a:rPr sz="2400" b="1">
                <a:solidFill>
                  <a:srgbClr val="FFFFFF"/>
                </a:solidFill>
                <a:latin typeface="Aptos Display"/>
                <a:ea typeface="Aptos Display"/>
                <a:cs typeface="Aptos Display"/>
              </a:rPr>
              <a:t>+30 %</a:t>
            </a:r>
          </a:p>
        </p:txBody>
      </p:sp>
      <p:sp>
        <p:nvSpPr>
          <p:cNvPr id="7" name="Rectangle 6">
            <a:extLst>
              <a:ext uri="{FF2B5EF4-FFF2-40B4-BE49-F238E27FC236}">
                <a16:creationId xmlns:a16="http://schemas.microsoft.com/office/drawing/2014/main" id="{E72DE2E2-015D-4F08-BB18-88BED0AC2163}"/>
              </a:ext>
            </a:extLst>
          </p:cNvPr>
          <p:cNvSpPr>
            <a:spLocks noGrp="1"/>
          </p:cNvSpPr>
          <p:nvPr/>
        </p:nvSpPr>
        <p:spPr>
          <a:xfrm>
            <a:off x="857250" y="2019300"/>
            <a:ext cx="21717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825" b="1">
                <a:solidFill>
                  <a:srgbClr val="FFFFFF"/>
                </a:solidFill>
                <a:latin typeface="Aptos"/>
                <a:ea typeface="Aptos"/>
                <a:cs typeface="Aptos"/>
              </a:defRPr>
            </a:pPr>
            <a:r>
              <a:rPr sz="825" b="1">
                <a:solidFill>
                  <a:srgbClr val="FFFFFF"/>
                </a:solidFill>
                <a:latin typeface="Aptos"/>
                <a:ea typeface="Aptos"/>
                <a:cs typeface="Aptos"/>
              </a:rPr>
              <a:t>productivité benchmark</a:t>
            </a:r>
          </a:p>
        </p:txBody>
      </p:sp>
      <p:sp>
        <p:nvSpPr>
          <p:cNvPr id="8" name="Rectangle 7">
            <a:extLst>
              <a:ext uri="{FF2B5EF4-FFF2-40B4-BE49-F238E27FC236}">
                <a16:creationId xmlns:a16="http://schemas.microsoft.com/office/drawing/2014/main" id="{E1DB36EA-E474-4B36-AF18-7DB0F7AB2463}"/>
              </a:ext>
            </a:extLst>
          </p:cNvPr>
          <p:cNvSpPr>
            <a:spLocks noGrp="1"/>
          </p:cNvSpPr>
          <p:nvPr/>
        </p:nvSpPr>
        <p:spPr>
          <a:xfrm>
            <a:off x="857250" y="2228850"/>
            <a:ext cx="21717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638" b="0">
                <a:solidFill>
                  <a:srgbClr val="FFFFFF"/>
                </a:solidFill>
                <a:latin typeface="Aptos"/>
                <a:ea typeface="Aptos"/>
                <a:cs typeface="Aptos"/>
              </a:defRPr>
            </a:pPr>
            <a:r>
              <a:rPr sz="638" b="0">
                <a:solidFill>
                  <a:srgbClr val="FFFFFF"/>
                </a:solidFill>
                <a:latin typeface="Aptos"/>
                <a:ea typeface="Aptos"/>
                <a:cs typeface="Aptos"/>
              </a:rPr>
              <a:t>tâches répétitives, reporting, préparation de synthèses</a:t>
            </a:r>
          </a:p>
        </p:txBody>
      </p:sp>
      <p:sp>
        <p:nvSpPr>
          <p:cNvPr id="9" name="Rectangle 8">
            <a:extLst>
              <a:ext uri="{FF2B5EF4-FFF2-40B4-BE49-F238E27FC236}">
                <a16:creationId xmlns:a16="http://schemas.microsoft.com/office/drawing/2014/main" id="{D50644D0-C59D-4BE2-8A62-CC1C6ADD56D4}"/>
              </a:ext>
            </a:extLst>
          </p:cNvPr>
          <p:cNvSpPr>
            <a:spLocks noGrp="1"/>
          </p:cNvSpPr>
          <p:nvPr/>
        </p:nvSpPr>
        <p:spPr>
          <a:xfrm>
            <a:off x="3390900" y="1409700"/>
            <a:ext cx="2514600" cy="1104900"/>
          </a:xfrm>
          <a:prstGeom prst="rect">
            <a:avLst/>
          </a:prstGeom>
          <a:solidFill>
            <a:srgbClr val="163556"/>
          </a:solidFill>
          <a:ln w="0">
            <a:solidFill>
              <a:srgbClr val="163556"/>
            </a:solidFill>
            <a:prstDash val="solid"/>
          </a:ln>
        </p:spPr>
      </p:sp>
      <p:sp>
        <p:nvSpPr>
          <p:cNvPr id="10" name="Rectangle 9">
            <a:extLst>
              <a:ext uri="{FF2B5EF4-FFF2-40B4-BE49-F238E27FC236}">
                <a16:creationId xmlns:a16="http://schemas.microsoft.com/office/drawing/2014/main" id="{D2FA2A50-9A69-48E6-9EBE-86D63EC8E491}"/>
              </a:ext>
            </a:extLst>
          </p:cNvPr>
          <p:cNvSpPr>
            <a:spLocks noGrp="1"/>
          </p:cNvSpPr>
          <p:nvPr/>
        </p:nvSpPr>
        <p:spPr>
          <a:xfrm>
            <a:off x="3562350" y="1581150"/>
            <a:ext cx="2171700"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2400" b="1">
                <a:solidFill>
                  <a:srgbClr val="FFFFFF"/>
                </a:solidFill>
                <a:latin typeface="Aptos Display"/>
                <a:ea typeface="Aptos Display"/>
                <a:cs typeface="Aptos Display"/>
              </a:defRPr>
            </a:pPr>
            <a:r>
              <a:rPr sz="2400" b="1">
                <a:solidFill>
                  <a:srgbClr val="FFFFFF"/>
                </a:solidFill>
                <a:latin typeface="Aptos Display"/>
                <a:ea typeface="Aptos Display"/>
                <a:cs typeface="Aptos Display"/>
              </a:rPr>
              <a:t>-45 %</a:t>
            </a:r>
          </a:p>
        </p:txBody>
      </p:sp>
      <p:sp>
        <p:nvSpPr>
          <p:cNvPr id="11" name="Rectangle 10">
            <a:extLst>
              <a:ext uri="{FF2B5EF4-FFF2-40B4-BE49-F238E27FC236}">
                <a16:creationId xmlns:a16="http://schemas.microsoft.com/office/drawing/2014/main" id="{14FFBF70-9CBE-4D3D-A965-AE3DC8598713}"/>
              </a:ext>
            </a:extLst>
          </p:cNvPr>
          <p:cNvSpPr>
            <a:spLocks noGrp="1"/>
          </p:cNvSpPr>
          <p:nvPr/>
        </p:nvSpPr>
        <p:spPr>
          <a:xfrm>
            <a:off x="3562350" y="2019300"/>
            <a:ext cx="21717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825" b="1">
                <a:solidFill>
                  <a:srgbClr val="FFFFFF"/>
                </a:solidFill>
                <a:latin typeface="Aptos"/>
                <a:ea typeface="Aptos"/>
                <a:cs typeface="Aptos"/>
              </a:defRPr>
            </a:pPr>
            <a:r>
              <a:rPr sz="825" b="1">
                <a:solidFill>
                  <a:srgbClr val="FFFFFF"/>
                </a:solidFill>
                <a:latin typeface="Aptos"/>
                <a:ea typeface="Aptos"/>
                <a:cs typeface="Aptos"/>
              </a:rPr>
              <a:t>effort de formation</a:t>
            </a:r>
          </a:p>
        </p:txBody>
      </p:sp>
      <p:sp>
        <p:nvSpPr>
          <p:cNvPr id="12" name="Rectangle 11">
            <a:extLst>
              <a:ext uri="{FF2B5EF4-FFF2-40B4-BE49-F238E27FC236}">
                <a16:creationId xmlns:a16="http://schemas.microsoft.com/office/drawing/2014/main" id="{03DAE928-BF51-48C3-B6F2-3F5992E50214}"/>
              </a:ext>
            </a:extLst>
          </p:cNvPr>
          <p:cNvSpPr>
            <a:spLocks noGrp="1"/>
          </p:cNvSpPr>
          <p:nvPr/>
        </p:nvSpPr>
        <p:spPr>
          <a:xfrm>
            <a:off x="3562350" y="2228850"/>
            <a:ext cx="21717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638" b="0">
                <a:solidFill>
                  <a:srgbClr val="FFFFFF"/>
                </a:solidFill>
                <a:latin typeface="Aptos"/>
                <a:ea typeface="Aptos"/>
                <a:cs typeface="Aptos"/>
              </a:defRPr>
            </a:pPr>
            <a:r>
              <a:rPr sz="638" b="0">
                <a:solidFill>
                  <a:srgbClr val="FFFFFF"/>
                </a:solidFill>
                <a:latin typeface="Aptos"/>
                <a:ea typeface="Aptos"/>
                <a:cs typeface="Aptos"/>
              </a:rPr>
              <a:t>onboarding, diffusion de pratiques et transfert de savoir</a:t>
            </a:r>
          </a:p>
        </p:txBody>
      </p:sp>
      <p:sp>
        <p:nvSpPr>
          <p:cNvPr id="13" name="Rectangle 12">
            <a:extLst>
              <a:ext uri="{FF2B5EF4-FFF2-40B4-BE49-F238E27FC236}">
                <a16:creationId xmlns:a16="http://schemas.microsoft.com/office/drawing/2014/main" id="{427CC1BF-E5FC-4CFF-A9BB-00E1C3E0C3C8}"/>
              </a:ext>
            </a:extLst>
          </p:cNvPr>
          <p:cNvSpPr>
            <a:spLocks noGrp="1"/>
          </p:cNvSpPr>
          <p:nvPr/>
        </p:nvSpPr>
        <p:spPr>
          <a:xfrm>
            <a:off x="6096000" y="1409700"/>
            <a:ext cx="2514600" cy="1104900"/>
          </a:xfrm>
          <a:prstGeom prst="rect">
            <a:avLst/>
          </a:prstGeom>
          <a:solidFill>
            <a:srgbClr val="E76F1D"/>
          </a:solidFill>
          <a:ln w="0">
            <a:solidFill>
              <a:srgbClr val="E76F1D"/>
            </a:solidFill>
            <a:prstDash val="solid"/>
          </a:ln>
        </p:spPr>
      </p:sp>
      <p:sp>
        <p:nvSpPr>
          <p:cNvPr id="14" name="Rectangle 13">
            <a:extLst>
              <a:ext uri="{FF2B5EF4-FFF2-40B4-BE49-F238E27FC236}">
                <a16:creationId xmlns:a16="http://schemas.microsoft.com/office/drawing/2014/main" id="{AF1CA7EE-0A4E-4F9F-A9A0-E72C3F5D9694}"/>
              </a:ext>
            </a:extLst>
          </p:cNvPr>
          <p:cNvSpPr>
            <a:spLocks noGrp="1"/>
          </p:cNvSpPr>
          <p:nvPr/>
        </p:nvSpPr>
        <p:spPr>
          <a:xfrm>
            <a:off x="6267450" y="1581150"/>
            <a:ext cx="2171700"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2400" b="1">
                <a:solidFill>
                  <a:srgbClr val="FFFFFF"/>
                </a:solidFill>
                <a:latin typeface="Aptos Display"/>
                <a:ea typeface="Aptos Display"/>
                <a:cs typeface="Aptos Display"/>
              </a:defRPr>
            </a:pPr>
            <a:r>
              <a:rPr sz="2400" b="1">
                <a:solidFill>
                  <a:srgbClr val="FFFFFF"/>
                </a:solidFill>
                <a:latin typeface="Aptos Display"/>
                <a:ea typeface="Aptos Display"/>
                <a:cs typeface="Aptos Display"/>
              </a:rPr>
              <a:t>J+15</a:t>
            </a:r>
          </a:p>
        </p:txBody>
      </p:sp>
      <p:sp>
        <p:nvSpPr>
          <p:cNvPr id="15" name="Rectangle 14">
            <a:extLst>
              <a:ext uri="{FF2B5EF4-FFF2-40B4-BE49-F238E27FC236}">
                <a16:creationId xmlns:a16="http://schemas.microsoft.com/office/drawing/2014/main" id="{406C874D-2E6B-41C1-B6AC-DC0F886A1564}"/>
              </a:ext>
            </a:extLst>
          </p:cNvPr>
          <p:cNvSpPr>
            <a:spLocks noGrp="1"/>
          </p:cNvSpPr>
          <p:nvPr/>
        </p:nvSpPr>
        <p:spPr>
          <a:xfrm>
            <a:off x="6267450" y="2019300"/>
            <a:ext cx="21717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825" b="1">
                <a:solidFill>
                  <a:srgbClr val="FFFFFF"/>
                </a:solidFill>
                <a:latin typeface="Aptos"/>
                <a:ea typeface="Aptos"/>
                <a:cs typeface="Aptos"/>
              </a:defRPr>
            </a:pPr>
            <a:r>
              <a:rPr sz="825" b="1">
                <a:solidFill>
                  <a:srgbClr val="FFFFFF"/>
                </a:solidFill>
                <a:latin typeface="Aptos"/>
                <a:ea typeface="Aptos"/>
                <a:cs typeface="Aptos"/>
              </a:rPr>
              <a:t>premier livrable</a:t>
            </a:r>
          </a:p>
        </p:txBody>
      </p:sp>
      <p:sp>
        <p:nvSpPr>
          <p:cNvPr id="16" name="Rectangle 15">
            <a:extLst>
              <a:ext uri="{FF2B5EF4-FFF2-40B4-BE49-F238E27FC236}">
                <a16:creationId xmlns:a16="http://schemas.microsoft.com/office/drawing/2014/main" id="{C21855B0-0646-4077-B88B-F06A6FC606A8}"/>
              </a:ext>
            </a:extLst>
          </p:cNvPr>
          <p:cNvSpPr>
            <a:spLocks noGrp="1"/>
          </p:cNvSpPr>
          <p:nvPr/>
        </p:nvSpPr>
        <p:spPr>
          <a:xfrm>
            <a:off x="6267450" y="2228850"/>
            <a:ext cx="21717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638" b="0">
                <a:solidFill>
                  <a:srgbClr val="FFFFFF"/>
                </a:solidFill>
                <a:latin typeface="Aptos"/>
                <a:ea typeface="Aptos"/>
                <a:cs typeface="Aptos"/>
              </a:defRPr>
            </a:pPr>
            <a:r>
              <a:rPr sz="638" b="0">
                <a:solidFill>
                  <a:srgbClr val="FFFFFF"/>
                </a:solidFill>
                <a:latin typeface="Aptos"/>
                <a:ea typeface="Aptos"/>
                <a:cs typeface="Aptos"/>
              </a:rPr>
              <a:t>audit, cadrage et priorisation ROI</a:t>
            </a:r>
          </a:p>
        </p:txBody>
      </p:sp>
      <p:sp>
        <p:nvSpPr>
          <p:cNvPr id="17" name="Rectangle 16">
            <a:extLst>
              <a:ext uri="{FF2B5EF4-FFF2-40B4-BE49-F238E27FC236}">
                <a16:creationId xmlns:a16="http://schemas.microsoft.com/office/drawing/2014/main" id="{7FBE1B7D-B610-43B9-A600-D6FDF41DCA86}"/>
              </a:ext>
            </a:extLst>
          </p:cNvPr>
          <p:cNvSpPr>
            <a:spLocks noGrp="1"/>
          </p:cNvSpPr>
          <p:nvPr/>
        </p:nvSpPr>
        <p:spPr>
          <a:xfrm>
            <a:off x="8801100" y="1409700"/>
            <a:ext cx="2705100" cy="1104900"/>
          </a:xfrm>
          <a:prstGeom prst="rect">
            <a:avLst/>
          </a:prstGeom>
          <a:solidFill>
            <a:srgbClr val="C88C3A"/>
          </a:solidFill>
          <a:ln w="0">
            <a:solidFill>
              <a:srgbClr val="C88C3A"/>
            </a:solidFill>
            <a:prstDash val="solid"/>
          </a:ln>
        </p:spPr>
      </p:sp>
      <p:sp>
        <p:nvSpPr>
          <p:cNvPr id="18" name="Rectangle 17">
            <a:extLst>
              <a:ext uri="{FF2B5EF4-FFF2-40B4-BE49-F238E27FC236}">
                <a16:creationId xmlns:a16="http://schemas.microsoft.com/office/drawing/2014/main" id="{6FCECCDE-5220-4AFE-927E-E7A5D55276AA}"/>
              </a:ext>
            </a:extLst>
          </p:cNvPr>
          <p:cNvSpPr>
            <a:spLocks noGrp="1"/>
          </p:cNvSpPr>
          <p:nvPr/>
        </p:nvSpPr>
        <p:spPr>
          <a:xfrm>
            <a:off x="8972550" y="1581150"/>
            <a:ext cx="2362200"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2400" b="1">
                <a:solidFill>
                  <a:srgbClr val="FFFFFF"/>
                </a:solidFill>
                <a:latin typeface="Aptos Display"/>
                <a:ea typeface="Aptos Display"/>
                <a:cs typeface="Aptos Display"/>
              </a:defRPr>
            </a:pPr>
            <a:r>
              <a:rPr sz="2400" b="1">
                <a:solidFill>
                  <a:srgbClr val="FFFFFF"/>
                </a:solidFill>
                <a:latin typeface="Aptos Display"/>
                <a:ea typeface="Aptos Display"/>
                <a:cs typeface="Aptos Display"/>
              </a:rPr>
              <a:t>3,2x</a:t>
            </a:r>
          </a:p>
        </p:txBody>
      </p:sp>
      <p:sp>
        <p:nvSpPr>
          <p:cNvPr id="19" name="Rectangle 18">
            <a:extLst>
              <a:ext uri="{FF2B5EF4-FFF2-40B4-BE49-F238E27FC236}">
                <a16:creationId xmlns:a16="http://schemas.microsoft.com/office/drawing/2014/main" id="{CB4BD51F-F2D6-41FE-ACAD-8271E26DC565}"/>
              </a:ext>
            </a:extLst>
          </p:cNvPr>
          <p:cNvSpPr>
            <a:spLocks noGrp="1"/>
          </p:cNvSpPr>
          <p:nvPr/>
        </p:nvSpPr>
        <p:spPr>
          <a:xfrm>
            <a:off x="8972550" y="2019300"/>
            <a:ext cx="23622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825" b="1">
                <a:solidFill>
                  <a:srgbClr val="FFFFFF"/>
                </a:solidFill>
                <a:latin typeface="Aptos"/>
                <a:ea typeface="Aptos"/>
                <a:cs typeface="Aptos"/>
              </a:defRPr>
            </a:pPr>
            <a:r>
              <a:rPr sz="825" b="1">
                <a:solidFill>
                  <a:srgbClr val="FFFFFF"/>
                </a:solidFill>
                <a:latin typeface="Aptos"/>
                <a:ea typeface="Aptos"/>
                <a:cs typeface="Aptos"/>
              </a:rPr>
              <a:t>potentiel de ROI</a:t>
            </a:r>
          </a:p>
        </p:txBody>
      </p:sp>
      <p:sp>
        <p:nvSpPr>
          <p:cNvPr id="20" name="Rectangle 19">
            <a:extLst>
              <a:ext uri="{FF2B5EF4-FFF2-40B4-BE49-F238E27FC236}">
                <a16:creationId xmlns:a16="http://schemas.microsoft.com/office/drawing/2014/main" id="{D7641E0A-A431-47A9-A9D4-E47EDFB908FD}"/>
              </a:ext>
            </a:extLst>
          </p:cNvPr>
          <p:cNvSpPr>
            <a:spLocks noGrp="1"/>
          </p:cNvSpPr>
          <p:nvPr/>
        </p:nvSpPr>
        <p:spPr>
          <a:xfrm>
            <a:off x="8972550" y="2228850"/>
            <a:ext cx="23622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638" b="0">
                <a:solidFill>
                  <a:srgbClr val="FFFFFF"/>
                </a:solidFill>
                <a:latin typeface="Aptos"/>
                <a:ea typeface="Aptos"/>
                <a:cs typeface="Aptos"/>
              </a:defRPr>
            </a:pPr>
            <a:r>
              <a:rPr sz="638" b="0">
                <a:solidFill>
                  <a:srgbClr val="FFFFFF"/>
                </a:solidFill>
                <a:latin typeface="Aptos"/>
                <a:ea typeface="Aptos"/>
                <a:cs typeface="Aptos"/>
              </a:rPr>
              <a:t>référence : projets comparables TransferAI</a:t>
            </a:r>
          </a:p>
        </p:txBody>
      </p:sp>
      <p:sp>
        <p:nvSpPr>
          <p:cNvPr id="21" name="Rectangle 20">
            <a:extLst>
              <a:ext uri="{FF2B5EF4-FFF2-40B4-BE49-F238E27FC236}">
                <a16:creationId xmlns:a16="http://schemas.microsoft.com/office/drawing/2014/main" id="{3AC137F4-3624-426F-A8F8-9C2ED60D5154}"/>
              </a:ext>
            </a:extLst>
          </p:cNvPr>
          <p:cNvSpPr>
            <a:spLocks noGrp="1"/>
          </p:cNvSpPr>
          <p:nvPr/>
        </p:nvSpPr>
        <p:spPr>
          <a:xfrm>
            <a:off x="685800" y="3048000"/>
            <a:ext cx="47625" cy="457200"/>
          </a:xfrm>
          <a:prstGeom prst="rect">
            <a:avLst/>
          </a:prstGeom>
          <a:solidFill>
            <a:srgbClr val="E76F1D"/>
          </a:solidFill>
          <a:ln w="0">
            <a:solidFill>
              <a:srgbClr val="000000">
                <a:alpha val="0"/>
              </a:srgbClr>
            </a:solidFill>
            <a:prstDash val="solid"/>
          </a:ln>
        </p:spPr>
      </p:sp>
      <p:sp>
        <p:nvSpPr>
          <p:cNvPr id="22" name="Rectangle 21">
            <a:extLst>
              <a:ext uri="{FF2B5EF4-FFF2-40B4-BE49-F238E27FC236}">
                <a16:creationId xmlns:a16="http://schemas.microsoft.com/office/drawing/2014/main" id="{9CB3B8BF-FDD2-4624-A15F-99313F483CFD}"/>
              </a:ext>
            </a:extLst>
          </p:cNvPr>
          <p:cNvSpPr>
            <a:spLocks noGrp="1"/>
          </p:cNvSpPr>
          <p:nvPr/>
        </p:nvSpPr>
        <p:spPr>
          <a:xfrm>
            <a:off x="876300" y="2952750"/>
            <a:ext cx="23812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1">
                <a:solidFill>
                  <a:srgbClr val="1A3554"/>
                </a:solidFill>
                <a:latin typeface="Aptos Display"/>
                <a:ea typeface="Aptos Display"/>
                <a:cs typeface="Aptos Display"/>
              </a:defRPr>
            </a:pPr>
            <a:r>
              <a:rPr sz="1125" b="1">
                <a:solidFill>
                  <a:srgbClr val="1A3554"/>
                </a:solidFill>
                <a:latin typeface="Aptos Display"/>
                <a:ea typeface="Aptos Display"/>
                <a:cs typeface="Aptos Display"/>
              </a:rPr>
              <a:t>Comptes professionnels</a:t>
            </a:r>
          </a:p>
        </p:txBody>
      </p:sp>
      <p:sp>
        <p:nvSpPr>
          <p:cNvPr id="23" name="Rectangle 22">
            <a:extLst>
              <a:ext uri="{FF2B5EF4-FFF2-40B4-BE49-F238E27FC236}">
                <a16:creationId xmlns:a16="http://schemas.microsoft.com/office/drawing/2014/main" id="{494E04DB-FFDC-46DA-8043-996C4BA99065}"/>
              </a:ext>
            </a:extLst>
          </p:cNvPr>
          <p:cNvSpPr>
            <a:spLocks noGrp="1"/>
          </p:cNvSpPr>
          <p:nvPr/>
        </p:nvSpPr>
        <p:spPr>
          <a:xfrm>
            <a:off x="876300" y="3200400"/>
            <a:ext cx="4857750" cy="4191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00" b="0">
                <a:solidFill>
                  <a:srgbClr val="617086"/>
                </a:solidFill>
                <a:latin typeface="Aptos"/>
                <a:ea typeface="Aptos"/>
                <a:cs typeface="Aptos"/>
              </a:defRPr>
            </a:pPr>
            <a:r>
              <a:rPr sz="900" b="0" dirty="0" err="1">
                <a:solidFill>
                  <a:srgbClr val="617086"/>
                </a:solidFill>
                <a:latin typeface="Aptos"/>
                <a:ea typeface="Aptos"/>
                <a:cs typeface="Aptos"/>
              </a:rPr>
              <a:t>Automatiser</a:t>
            </a:r>
            <a:r>
              <a:rPr sz="900" b="0" dirty="0">
                <a:solidFill>
                  <a:srgbClr val="617086"/>
                </a:solidFill>
                <a:latin typeface="Aptos"/>
                <a:ea typeface="Aptos"/>
                <a:cs typeface="Aptos"/>
              </a:rPr>
              <a:t> la </a:t>
            </a:r>
            <a:r>
              <a:rPr sz="900" b="0" dirty="0" err="1">
                <a:solidFill>
                  <a:srgbClr val="617086"/>
                </a:solidFill>
                <a:latin typeface="Aptos"/>
                <a:ea typeface="Aptos"/>
                <a:cs typeface="Aptos"/>
              </a:rPr>
              <a:t>préparation</a:t>
            </a:r>
            <a:r>
              <a:rPr sz="900" b="0" dirty="0">
                <a:solidFill>
                  <a:srgbClr val="617086"/>
                </a:solidFill>
                <a:latin typeface="Aptos"/>
                <a:ea typeface="Aptos"/>
                <a:cs typeface="Aptos"/>
              </a:rPr>
              <a:t> des relances, </a:t>
            </a:r>
            <a:r>
              <a:rPr sz="900" b="0" dirty="0" err="1">
                <a:solidFill>
                  <a:srgbClr val="617086"/>
                </a:solidFill>
                <a:latin typeface="Aptos"/>
                <a:ea typeface="Aptos"/>
                <a:cs typeface="Aptos"/>
              </a:rPr>
              <a:t>standardiser</a:t>
            </a:r>
            <a:r>
              <a:rPr sz="900" b="0" dirty="0">
                <a:solidFill>
                  <a:srgbClr val="617086"/>
                </a:solidFill>
                <a:latin typeface="Aptos"/>
                <a:ea typeface="Aptos"/>
                <a:cs typeface="Aptos"/>
              </a:rPr>
              <a:t> les revues de </a:t>
            </a:r>
            <a:r>
              <a:rPr sz="900" b="0" dirty="0" err="1">
                <a:solidFill>
                  <a:srgbClr val="617086"/>
                </a:solidFill>
                <a:latin typeface="Aptos"/>
                <a:ea typeface="Aptos"/>
                <a:cs typeface="Aptos"/>
              </a:rPr>
              <a:t>portefeuille</a:t>
            </a:r>
            <a:r>
              <a:rPr sz="900" b="0" dirty="0">
                <a:solidFill>
                  <a:srgbClr val="617086"/>
                </a:solidFill>
                <a:latin typeface="Aptos"/>
                <a:ea typeface="Aptos"/>
                <a:cs typeface="Aptos"/>
              </a:rPr>
              <a:t> et </a:t>
            </a:r>
            <a:r>
              <a:rPr sz="900" b="0" dirty="0" err="1">
                <a:solidFill>
                  <a:srgbClr val="617086"/>
                </a:solidFill>
                <a:latin typeface="Aptos"/>
                <a:ea typeface="Aptos"/>
                <a:cs typeface="Aptos"/>
              </a:rPr>
              <a:t>mieux</a:t>
            </a:r>
            <a:r>
              <a:rPr sz="900" b="0" dirty="0">
                <a:solidFill>
                  <a:srgbClr val="617086"/>
                </a:solidFill>
                <a:latin typeface="Aptos"/>
                <a:ea typeface="Aptos"/>
                <a:cs typeface="Aptos"/>
              </a:rPr>
              <a:t> signaler les </a:t>
            </a:r>
            <a:r>
              <a:rPr sz="900" b="0" dirty="0" err="1">
                <a:solidFill>
                  <a:srgbClr val="617086"/>
                </a:solidFill>
                <a:latin typeface="Aptos"/>
                <a:ea typeface="Aptos"/>
                <a:cs typeface="Aptos"/>
              </a:rPr>
              <a:t>comptes</a:t>
            </a:r>
            <a:r>
              <a:rPr sz="900" b="0" dirty="0">
                <a:solidFill>
                  <a:srgbClr val="617086"/>
                </a:solidFill>
                <a:latin typeface="Aptos"/>
                <a:ea typeface="Aptos"/>
                <a:cs typeface="Aptos"/>
              </a:rPr>
              <a:t> à </a:t>
            </a:r>
            <a:r>
              <a:rPr sz="900" b="0" dirty="0" err="1">
                <a:solidFill>
                  <a:srgbClr val="617086"/>
                </a:solidFill>
                <a:latin typeface="Aptos"/>
                <a:ea typeface="Aptos"/>
                <a:cs typeface="Aptos"/>
              </a:rPr>
              <a:t>risque</a:t>
            </a:r>
            <a:r>
              <a:rPr sz="900" b="0" dirty="0">
                <a:solidFill>
                  <a:srgbClr val="617086"/>
                </a:solidFill>
                <a:latin typeface="Aptos"/>
                <a:ea typeface="Aptos"/>
                <a:cs typeface="Aptos"/>
              </a:rPr>
              <a:t> </a:t>
            </a:r>
            <a:r>
              <a:rPr sz="900" b="0" dirty="0" err="1">
                <a:solidFill>
                  <a:srgbClr val="617086"/>
                </a:solidFill>
                <a:latin typeface="Aptos"/>
                <a:ea typeface="Aptos"/>
                <a:cs typeface="Aptos"/>
              </a:rPr>
              <a:t>ou</a:t>
            </a:r>
            <a:r>
              <a:rPr sz="900" b="0" dirty="0">
                <a:solidFill>
                  <a:srgbClr val="617086"/>
                </a:solidFill>
                <a:latin typeface="Aptos"/>
                <a:ea typeface="Aptos"/>
                <a:cs typeface="Aptos"/>
              </a:rPr>
              <a:t> </a:t>
            </a:r>
            <a:r>
              <a:rPr sz="900" b="0" dirty="0" err="1">
                <a:solidFill>
                  <a:srgbClr val="617086"/>
                </a:solidFill>
                <a:latin typeface="Aptos"/>
                <a:ea typeface="Aptos"/>
                <a:cs typeface="Aptos"/>
              </a:rPr>
              <a:t>en</a:t>
            </a:r>
            <a:r>
              <a:rPr sz="900" b="0" dirty="0">
                <a:solidFill>
                  <a:srgbClr val="617086"/>
                </a:solidFill>
                <a:latin typeface="Aptos"/>
                <a:ea typeface="Aptos"/>
                <a:cs typeface="Aptos"/>
              </a:rPr>
              <a:t> retard.</a:t>
            </a:r>
          </a:p>
        </p:txBody>
      </p:sp>
      <p:sp>
        <p:nvSpPr>
          <p:cNvPr id="24" name="Rectangle 23">
            <a:extLst>
              <a:ext uri="{FF2B5EF4-FFF2-40B4-BE49-F238E27FC236}">
                <a16:creationId xmlns:a16="http://schemas.microsoft.com/office/drawing/2014/main" id="{9E36C979-AC0F-4105-82B8-421BB8AE591C}"/>
              </a:ext>
            </a:extLst>
          </p:cNvPr>
          <p:cNvSpPr>
            <a:spLocks noGrp="1"/>
          </p:cNvSpPr>
          <p:nvPr/>
        </p:nvSpPr>
        <p:spPr>
          <a:xfrm>
            <a:off x="6096000" y="2933700"/>
            <a:ext cx="5334000" cy="666750"/>
          </a:xfrm>
          <a:prstGeom prst="rect">
            <a:avLst/>
          </a:prstGeom>
          <a:solidFill>
            <a:srgbClr val="FBF5EE"/>
          </a:solidFill>
          <a:ln w="9525">
            <a:solidFill>
              <a:srgbClr val="D7CEC3"/>
            </a:solidFill>
            <a:prstDash val="solid"/>
          </a:ln>
        </p:spPr>
      </p:sp>
      <p:sp>
        <p:nvSpPr>
          <p:cNvPr id="25" name="Rectangle 24">
            <a:extLst>
              <a:ext uri="{FF2B5EF4-FFF2-40B4-BE49-F238E27FC236}">
                <a16:creationId xmlns:a16="http://schemas.microsoft.com/office/drawing/2014/main" id="{5C27D08A-22E4-4685-B27B-9B509178EC35}"/>
              </a:ext>
            </a:extLst>
          </p:cNvPr>
          <p:cNvSpPr>
            <a:spLocks noGrp="1"/>
          </p:cNvSpPr>
          <p:nvPr/>
        </p:nvSpPr>
        <p:spPr>
          <a:xfrm>
            <a:off x="6305550" y="3048000"/>
            <a:ext cx="133350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1">
                <a:solidFill>
                  <a:srgbClr val="E76F1D"/>
                </a:solidFill>
                <a:latin typeface="Aptos"/>
                <a:ea typeface="Aptos"/>
                <a:cs typeface="Aptos"/>
              </a:defRPr>
            </a:pPr>
            <a:r>
              <a:rPr sz="713" b="1">
                <a:solidFill>
                  <a:srgbClr val="E76F1D"/>
                </a:solidFill>
                <a:latin typeface="Aptos"/>
                <a:ea typeface="Aptos"/>
                <a:cs typeface="Aptos"/>
              </a:rPr>
              <a:t>KPI à instrumenter</a:t>
            </a:r>
          </a:p>
        </p:txBody>
      </p:sp>
      <p:sp>
        <p:nvSpPr>
          <p:cNvPr id="26" name="Rectangle 25">
            <a:extLst>
              <a:ext uri="{FF2B5EF4-FFF2-40B4-BE49-F238E27FC236}">
                <a16:creationId xmlns:a16="http://schemas.microsoft.com/office/drawing/2014/main" id="{C9B7A1D8-3198-4424-A292-FFAA36F35088}"/>
              </a:ext>
            </a:extLst>
          </p:cNvPr>
          <p:cNvSpPr>
            <a:spLocks noGrp="1"/>
          </p:cNvSpPr>
          <p:nvPr/>
        </p:nvSpPr>
        <p:spPr>
          <a:xfrm>
            <a:off x="6305550" y="3219450"/>
            <a:ext cx="491490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00" b="0">
                <a:solidFill>
                  <a:srgbClr val="1A3554"/>
                </a:solidFill>
                <a:latin typeface="Aptos"/>
                <a:ea typeface="Aptos"/>
                <a:cs typeface="Aptos"/>
              </a:defRPr>
            </a:pPr>
            <a:r>
              <a:rPr sz="900" b="0">
                <a:solidFill>
                  <a:srgbClr val="1A3554"/>
                </a:solidFill>
                <a:latin typeface="Aptos"/>
                <a:ea typeface="Aptos"/>
                <a:cs typeface="Aptos"/>
              </a:rPr>
              <a:t>délai moyen de relance, temps de préparation des revues clients, évolution des encours en retard</a:t>
            </a:r>
          </a:p>
        </p:txBody>
      </p:sp>
      <p:sp>
        <p:nvSpPr>
          <p:cNvPr id="27" name="Rectangle 26">
            <a:extLst>
              <a:ext uri="{FF2B5EF4-FFF2-40B4-BE49-F238E27FC236}">
                <a16:creationId xmlns:a16="http://schemas.microsoft.com/office/drawing/2014/main" id="{4FBAD87C-C1CD-4563-8861-51E9AFBBB91A}"/>
              </a:ext>
            </a:extLst>
          </p:cNvPr>
          <p:cNvSpPr>
            <a:spLocks noGrp="1"/>
          </p:cNvSpPr>
          <p:nvPr/>
        </p:nvSpPr>
        <p:spPr>
          <a:xfrm>
            <a:off x="685800" y="3829050"/>
            <a:ext cx="47625" cy="457200"/>
          </a:xfrm>
          <a:prstGeom prst="rect">
            <a:avLst/>
          </a:prstGeom>
          <a:solidFill>
            <a:srgbClr val="1C8A78"/>
          </a:solidFill>
          <a:ln w="0">
            <a:solidFill>
              <a:srgbClr val="000000">
                <a:alpha val="0"/>
              </a:srgbClr>
            </a:solidFill>
            <a:prstDash val="solid"/>
          </a:ln>
        </p:spPr>
      </p:sp>
      <p:sp>
        <p:nvSpPr>
          <p:cNvPr id="28" name="Rectangle 27">
            <a:extLst>
              <a:ext uri="{FF2B5EF4-FFF2-40B4-BE49-F238E27FC236}">
                <a16:creationId xmlns:a16="http://schemas.microsoft.com/office/drawing/2014/main" id="{EA429E38-C9BF-41E3-A18F-4E7E6D59E32D}"/>
              </a:ext>
            </a:extLst>
          </p:cNvPr>
          <p:cNvSpPr>
            <a:spLocks noGrp="1"/>
          </p:cNvSpPr>
          <p:nvPr/>
        </p:nvSpPr>
        <p:spPr>
          <a:xfrm>
            <a:off x="876300" y="3733800"/>
            <a:ext cx="23812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1">
                <a:solidFill>
                  <a:srgbClr val="1A3554"/>
                </a:solidFill>
                <a:latin typeface="Aptos Display"/>
                <a:ea typeface="Aptos Display"/>
                <a:cs typeface="Aptos Display"/>
              </a:defRPr>
            </a:pPr>
            <a:r>
              <a:rPr sz="1125" b="1">
                <a:solidFill>
                  <a:srgbClr val="1A3554"/>
                </a:solidFill>
                <a:latin typeface="Aptos Display"/>
                <a:ea typeface="Aptos Display"/>
                <a:cs typeface="Aptos Display"/>
              </a:rPr>
              <a:t>Flotte et cartes carburant</a:t>
            </a:r>
          </a:p>
        </p:txBody>
      </p:sp>
      <p:sp>
        <p:nvSpPr>
          <p:cNvPr id="29" name="Rectangle 28">
            <a:extLst>
              <a:ext uri="{FF2B5EF4-FFF2-40B4-BE49-F238E27FC236}">
                <a16:creationId xmlns:a16="http://schemas.microsoft.com/office/drawing/2014/main" id="{8D5ABDCA-4D8F-421E-A492-4E467FDCC658}"/>
              </a:ext>
            </a:extLst>
          </p:cNvPr>
          <p:cNvSpPr>
            <a:spLocks noGrp="1"/>
          </p:cNvSpPr>
          <p:nvPr/>
        </p:nvSpPr>
        <p:spPr>
          <a:xfrm>
            <a:off x="876300" y="3981450"/>
            <a:ext cx="4857750" cy="4191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00" b="0">
                <a:solidFill>
                  <a:srgbClr val="617086"/>
                </a:solidFill>
                <a:latin typeface="Aptos"/>
                <a:ea typeface="Aptos"/>
                <a:cs typeface="Aptos"/>
              </a:defRPr>
            </a:pPr>
            <a:r>
              <a:rPr sz="900" b="0">
                <a:solidFill>
                  <a:srgbClr val="617086"/>
                </a:solidFill>
                <a:latin typeface="Aptos"/>
                <a:ea typeface="Aptos"/>
                <a:cs typeface="Aptos"/>
              </a:rPr>
              <a:t>Consolider les consommations, rapprocher les sources et produire des alertes simples sur les anomalies ou les dépassements inhabituels.</a:t>
            </a:r>
          </a:p>
        </p:txBody>
      </p:sp>
      <p:sp>
        <p:nvSpPr>
          <p:cNvPr id="30" name="Rectangle 29">
            <a:extLst>
              <a:ext uri="{FF2B5EF4-FFF2-40B4-BE49-F238E27FC236}">
                <a16:creationId xmlns:a16="http://schemas.microsoft.com/office/drawing/2014/main" id="{851B777A-6D4B-43B4-BB70-9F794EC6A2CC}"/>
              </a:ext>
            </a:extLst>
          </p:cNvPr>
          <p:cNvSpPr>
            <a:spLocks noGrp="1"/>
          </p:cNvSpPr>
          <p:nvPr/>
        </p:nvSpPr>
        <p:spPr>
          <a:xfrm>
            <a:off x="6096000" y="3714750"/>
            <a:ext cx="5334000" cy="666750"/>
          </a:xfrm>
          <a:prstGeom prst="rect">
            <a:avLst/>
          </a:prstGeom>
          <a:solidFill>
            <a:srgbClr val="FBF5EE"/>
          </a:solidFill>
          <a:ln w="9525">
            <a:solidFill>
              <a:srgbClr val="D7CEC3"/>
            </a:solidFill>
            <a:prstDash val="solid"/>
          </a:ln>
        </p:spPr>
      </p:sp>
      <p:sp>
        <p:nvSpPr>
          <p:cNvPr id="31" name="Rectangle 30">
            <a:extLst>
              <a:ext uri="{FF2B5EF4-FFF2-40B4-BE49-F238E27FC236}">
                <a16:creationId xmlns:a16="http://schemas.microsoft.com/office/drawing/2014/main" id="{86B17FEB-A799-41B5-8A5E-C4B5C9F6203F}"/>
              </a:ext>
            </a:extLst>
          </p:cNvPr>
          <p:cNvSpPr>
            <a:spLocks noGrp="1"/>
          </p:cNvSpPr>
          <p:nvPr/>
        </p:nvSpPr>
        <p:spPr>
          <a:xfrm>
            <a:off x="6305550" y="3829050"/>
            <a:ext cx="133350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1">
                <a:solidFill>
                  <a:srgbClr val="E76F1D"/>
                </a:solidFill>
                <a:latin typeface="Aptos"/>
                <a:ea typeface="Aptos"/>
                <a:cs typeface="Aptos"/>
              </a:defRPr>
            </a:pPr>
            <a:r>
              <a:rPr sz="713" b="1">
                <a:solidFill>
                  <a:srgbClr val="E76F1D"/>
                </a:solidFill>
                <a:latin typeface="Aptos"/>
                <a:ea typeface="Aptos"/>
                <a:cs typeface="Aptos"/>
              </a:rPr>
              <a:t>KPI à instrumenter</a:t>
            </a:r>
          </a:p>
        </p:txBody>
      </p:sp>
      <p:sp>
        <p:nvSpPr>
          <p:cNvPr id="32" name="Rectangle 31">
            <a:extLst>
              <a:ext uri="{FF2B5EF4-FFF2-40B4-BE49-F238E27FC236}">
                <a16:creationId xmlns:a16="http://schemas.microsoft.com/office/drawing/2014/main" id="{95753FC8-F508-40B2-83E5-DA329C7F67A2}"/>
              </a:ext>
            </a:extLst>
          </p:cNvPr>
          <p:cNvSpPr>
            <a:spLocks noGrp="1"/>
          </p:cNvSpPr>
          <p:nvPr/>
        </p:nvSpPr>
        <p:spPr>
          <a:xfrm>
            <a:off x="6305550" y="4000500"/>
            <a:ext cx="491490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00" b="0">
                <a:solidFill>
                  <a:srgbClr val="1A3554"/>
                </a:solidFill>
                <a:latin typeface="Aptos"/>
                <a:ea typeface="Aptos"/>
                <a:cs typeface="Aptos"/>
              </a:defRPr>
            </a:pPr>
            <a:r>
              <a:rPr sz="900" b="0">
                <a:solidFill>
                  <a:srgbClr val="1A3554"/>
                </a:solidFill>
                <a:latin typeface="Aptos"/>
                <a:ea typeface="Aptos"/>
                <a:cs typeface="Aptos"/>
              </a:rPr>
              <a:t>temps de production du reporting flotte, nombre d'anomalies détectées, variation des coûts carburant</a:t>
            </a:r>
          </a:p>
        </p:txBody>
      </p:sp>
      <p:sp>
        <p:nvSpPr>
          <p:cNvPr id="33" name="Rectangle 32">
            <a:extLst>
              <a:ext uri="{FF2B5EF4-FFF2-40B4-BE49-F238E27FC236}">
                <a16:creationId xmlns:a16="http://schemas.microsoft.com/office/drawing/2014/main" id="{EF3AB5B1-415B-4C11-A4C7-D8C1A5954370}"/>
              </a:ext>
            </a:extLst>
          </p:cNvPr>
          <p:cNvSpPr>
            <a:spLocks noGrp="1"/>
          </p:cNvSpPr>
          <p:nvPr/>
        </p:nvSpPr>
        <p:spPr>
          <a:xfrm>
            <a:off x="685800" y="4610100"/>
            <a:ext cx="47625" cy="457200"/>
          </a:xfrm>
          <a:prstGeom prst="rect">
            <a:avLst/>
          </a:prstGeom>
          <a:solidFill>
            <a:srgbClr val="163556"/>
          </a:solidFill>
          <a:ln w="0">
            <a:solidFill>
              <a:srgbClr val="000000">
                <a:alpha val="0"/>
              </a:srgbClr>
            </a:solidFill>
            <a:prstDash val="solid"/>
          </a:ln>
        </p:spPr>
      </p:sp>
      <p:sp>
        <p:nvSpPr>
          <p:cNvPr id="34" name="Rectangle 33">
            <a:extLst>
              <a:ext uri="{FF2B5EF4-FFF2-40B4-BE49-F238E27FC236}">
                <a16:creationId xmlns:a16="http://schemas.microsoft.com/office/drawing/2014/main" id="{6D2F150D-E044-469E-B69D-DB1C1DD61EBD}"/>
              </a:ext>
            </a:extLst>
          </p:cNvPr>
          <p:cNvSpPr>
            <a:spLocks noGrp="1"/>
          </p:cNvSpPr>
          <p:nvPr/>
        </p:nvSpPr>
        <p:spPr>
          <a:xfrm>
            <a:off x="876300" y="4514850"/>
            <a:ext cx="23812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1">
                <a:solidFill>
                  <a:srgbClr val="1A3554"/>
                </a:solidFill>
                <a:latin typeface="Aptos Display"/>
                <a:ea typeface="Aptos Display"/>
                <a:cs typeface="Aptos Display"/>
              </a:defRPr>
            </a:pPr>
            <a:r>
              <a:rPr sz="1125" b="1">
                <a:solidFill>
                  <a:srgbClr val="1A3554"/>
                </a:solidFill>
                <a:latin typeface="Aptos Display"/>
                <a:ea typeface="Aptos Display"/>
                <a:cs typeface="Aptos Display"/>
              </a:rPr>
              <a:t>Service client et procédures</a:t>
            </a:r>
          </a:p>
        </p:txBody>
      </p:sp>
      <p:sp>
        <p:nvSpPr>
          <p:cNvPr id="35" name="Rectangle 34">
            <a:extLst>
              <a:ext uri="{FF2B5EF4-FFF2-40B4-BE49-F238E27FC236}">
                <a16:creationId xmlns:a16="http://schemas.microsoft.com/office/drawing/2014/main" id="{3677D6F1-F796-4540-9B3B-DBEC4D7545DA}"/>
              </a:ext>
            </a:extLst>
          </p:cNvPr>
          <p:cNvSpPr>
            <a:spLocks noGrp="1"/>
          </p:cNvSpPr>
          <p:nvPr/>
        </p:nvSpPr>
        <p:spPr>
          <a:xfrm>
            <a:off x="876300" y="4762500"/>
            <a:ext cx="4857750" cy="4191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00" b="0">
                <a:solidFill>
                  <a:srgbClr val="617086"/>
                </a:solidFill>
                <a:latin typeface="Aptos"/>
                <a:ea typeface="Aptos"/>
                <a:cs typeface="Aptos"/>
              </a:defRPr>
            </a:pPr>
            <a:r>
              <a:rPr sz="900" b="0">
                <a:solidFill>
                  <a:srgbClr val="617086"/>
                </a:solidFill>
                <a:latin typeface="Aptos"/>
                <a:ea typeface="Aptos"/>
                <a:cs typeface="Aptos"/>
              </a:rPr>
              <a:t>Rendre les réponses plus cohérentes, accélérer l'accès aux standards et réduire le temps de montée en main des équipes.</a:t>
            </a:r>
          </a:p>
        </p:txBody>
      </p:sp>
      <p:sp>
        <p:nvSpPr>
          <p:cNvPr id="36" name="Rectangle 35">
            <a:extLst>
              <a:ext uri="{FF2B5EF4-FFF2-40B4-BE49-F238E27FC236}">
                <a16:creationId xmlns:a16="http://schemas.microsoft.com/office/drawing/2014/main" id="{244F2C9A-663B-4CC3-96C9-20023ABAD39D}"/>
              </a:ext>
            </a:extLst>
          </p:cNvPr>
          <p:cNvSpPr>
            <a:spLocks noGrp="1"/>
          </p:cNvSpPr>
          <p:nvPr/>
        </p:nvSpPr>
        <p:spPr>
          <a:xfrm>
            <a:off x="6096000" y="4495800"/>
            <a:ext cx="5334000" cy="666750"/>
          </a:xfrm>
          <a:prstGeom prst="rect">
            <a:avLst/>
          </a:prstGeom>
          <a:solidFill>
            <a:srgbClr val="FBF5EE"/>
          </a:solidFill>
          <a:ln w="9525">
            <a:solidFill>
              <a:srgbClr val="D7CEC3"/>
            </a:solidFill>
            <a:prstDash val="solid"/>
          </a:ln>
        </p:spPr>
      </p:sp>
      <p:sp>
        <p:nvSpPr>
          <p:cNvPr id="37" name="Rectangle 36">
            <a:extLst>
              <a:ext uri="{FF2B5EF4-FFF2-40B4-BE49-F238E27FC236}">
                <a16:creationId xmlns:a16="http://schemas.microsoft.com/office/drawing/2014/main" id="{808A1E3D-C024-405A-95F4-750C151523A0}"/>
              </a:ext>
            </a:extLst>
          </p:cNvPr>
          <p:cNvSpPr>
            <a:spLocks noGrp="1"/>
          </p:cNvSpPr>
          <p:nvPr/>
        </p:nvSpPr>
        <p:spPr>
          <a:xfrm>
            <a:off x="6305550" y="4610100"/>
            <a:ext cx="133350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1">
                <a:solidFill>
                  <a:srgbClr val="E76F1D"/>
                </a:solidFill>
                <a:latin typeface="Aptos"/>
                <a:ea typeface="Aptos"/>
                <a:cs typeface="Aptos"/>
              </a:defRPr>
            </a:pPr>
            <a:r>
              <a:rPr sz="713" b="1">
                <a:solidFill>
                  <a:srgbClr val="E76F1D"/>
                </a:solidFill>
                <a:latin typeface="Aptos"/>
                <a:ea typeface="Aptos"/>
                <a:cs typeface="Aptos"/>
              </a:rPr>
              <a:t>KPI à instrumenter</a:t>
            </a:r>
          </a:p>
        </p:txBody>
      </p:sp>
      <p:sp>
        <p:nvSpPr>
          <p:cNvPr id="38" name="Rectangle 37">
            <a:extLst>
              <a:ext uri="{FF2B5EF4-FFF2-40B4-BE49-F238E27FC236}">
                <a16:creationId xmlns:a16="http://schemas.microsoft.com/office/drawing/2014/main" id="{86B3A1F4-7189-4C67-A703-A5672E80E541}"/>
              </a:ext>
            </a:extLst>
          </p:cNvPr>
          <p:cNvSpPr>
            <a:spLocks noGrp="1"/>
          </p:cNvSpPr>
          <p:nvPr/>
        </p:nvSpPr>
        <p:spPr>
          <a:xfrm>
            <a:off x="6305550" y="4781550"/>
            <a:ext cx="491490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00" b="0">
                <a:solidFill>
                  <a:srgbClr val="1A3554"/>
                </a:solidFill>
                <a:latin typeface="Aptos"/>
                <a:ea typeface="Aptos"/>
                <a:cs typeface="Aptos"/>
              </a:defRPr>
            </a:pPr>
            <a:r>
              <a:rPr sz="900" b="0">
                <a:solidFill>
                  <a:srgbClr val="1A3554"/>
                </a:solidFill>
                <a:latin typeface="Aptos"/>
                <a:ea typeface="Aptos"/>
                <a:cs typeface="Aptos"/>
              </a:rPr>
              <a:t>délai de réponse, temps d'onboarding, usage de la base procédures / FAQ interne</a:t>
            </a:r>
          </a:p>
        </p:txBody>
      </p:sp>
      <p:sp>
        <p:nvSpPr>
          <p:cNvPr id="39" name="Rectangle 38">
            <a:extLst>
              <a:ext uri="{FF2B5EF4-FFF2-40B4-BE49-F238E27FC236}">
                <a16:creationId xmlns:a16="http://schemas.microsoft.com/office/drawing/2014/main" id="{9C62E5EC-97F3-453B-B8CD-36A629A9069B}"/>
              </a:ext>
            </a:extLst>
          </p:cNvPr>
          <p:cNvSpPr>
            <a:spLocks noGrp="1"/>
          </p:cNvSpPr>
          <p:nvPr/>
        </p:nvSpPr>
        <p:spPr>
          <a:xfrm>
            <a:off x="685800" y="5562600"/>
            <a:ext cx="10820400" cy="514350"/>
          </a:xfrm>
          <a:prstGeom prst="rect">
            <a:avLst/>
          </a:prstGeom>
          <a:solidFill>
            <a:srgbClr val="FBF5EE"/>
          </a:solidFill>
          <a:ln w="9525">
            <a:solidFill>
              <a:srgbClr val="D7CEC3"/>
            </a:solidFill>
            <a:prstDash val="solid"/>
          </a:ln>
        </p:spPr>
      </p:sp>
      <p:sp>
        <p:nvSpPr>
          <p:cNvPr id="40" name="Rectangle 39">
            <a:extLst>
              <a:ext uri="{FF2B5EF4-FFF2-40B4-BE49-F238E27FC236}">
                <a16:creationId xmlns:a16="http://schemas.microsoft.com/office/drawing/2014/main" id="{1EF6C553-73B0-4ABD-A807-E6D1929D5D38}"/>
              </a:ext>
            </a:extLst>
          </p:cNvPr>
          <p:cNvSpPr>
            <a:spLocks noGrp="1"/>
          </p:cNvSpPr>
          <p:nvPr/>
        </p:nvSpPr>
        <p:spPr>
          <a:xfrm>
            <a:off x="895350" y="5734050"/>
            <a:ext cx="8572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1">
                <a:solidFill>
                  <a:srgbClr val="E76F1D"/>
                </a:solidFill>
                <a:latin typeface="Aptos"/>
                <a:ea typeface="Aptos"/>
                <a:cs typeface="Aptos"/>
              </a:defRPr>
            </a:pPr>
            <a:r>
              <a:rPr sz="750" b="1">
                <a:solidFill>
                  <a:srgbClr val="E76F1D"/>
                </a:solidFill>
                <a:latin typeface="Aptos"/>
                <a:ea typeface="Aptos"/>
                <a:cs typeface="Aptos"/>
              </a:rPr>
              <a:t>Important</a:t>
            </a:r>
          </a:p>
        </p:txBody>
      </p:sp>
      <p:sp>
        <p:nvSpPr>
          <p:cNvPr id="41" name="Rectangle 40">
            <a:extLst>
              <a:ext uri="{FF2B5EF4-FFF2-40B4-BE49-F238E27FC236}">
                <a16:creationId xmlns:a16="http://schemas.microsoft.com/office/drawing/2014/main" id="{5E8947F2-0628-447C-A57E-0EC92A448705}"/>
              </a:ext>
            </a:extLst>
          </p:cNvPr>
          <p:cNvSpPr>
            <a:spLocks noGrp="1"/>
          </p:cNvSpPr>
          <p:nvPr/>
        </p:nvSpPr>
        <p:spPr>
          <a:xfrm>
            <a:off x="1790700" y="5695950"/>
            <a:ext cx="93345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63" b="0">
                <a:solidFill>
                  <a:srgbClr val="1A3554"/>
                </a:solidFill>
                <a:latin typeface="Aptos"/>
                <a:ea typeface="Aptos"/>
                <a:cs typeface="Aptos"/>
              </a:defRPr>
            </a:pPr>
            <a:r>
              <a:rPr sz="863" b="0">
                <a:solidFill>
                  <a:srgbClr val="1A3554"/>
                </a:solidFill>
                <a:latin typeface="Aptos"/>
                <a:ea typeface="Aptos"/>
                <a:cs typeface="Aptos"/>
              </a:rPr>
              <a:t>Les chiffres affichés ci-dessus sont un référentiel ROI TransferAI sur des déploiements comparables. Les gains ELTON CI seront calibrés sur vos volumes, vos processus et vos données pendant l'audit initial.</a:t>
            </a:r>
          </a:p>
        </p:txBody>
      </p:sp>
      <p:sp>
        <p:nvSpPr>
          <p:cNvPr id="42" name="Rectangle 41">
            <a:extLst>
              <a:ext uri="{FF2B5EF4-FFF2-40B4-BE49-F238E27FC236}">
                <a16:creationId xmlns:a16="http://schemas.microsoft.com/office/drawing/2014/main" id="{B1C92B2A-03AD-4F42-B477-66CCD62243FA}"/>
              </a:ext>
            </a:extLst>
          </p:cNvPr>
          <p:cNvSpPr>
            <a:spLocks noGrp="1"/>
          </p:cNvSpPr>
          <p:nvPr/>
        </p:nvSpPr>
        <p:spPr>
          <a:xfrm>
            <a:off x="647700" y="6496050"/>
            <a:ext cx="10896600" cy="9525"/>
          </a:xfrm>
          <a:prstGeom prst="rect">
            <a:avLst/>
          </a:prstGeom>
          <a:solidFill>
            <a:srgbClr val="D7CEC3"/>
          </a:solidFill>
          <a:ln w="0">
            <a:solidFill>
              <a:srgbClr val="000000">
                <a:alpha val="0"/>
              </a:srgbClr>
            </a:solidFill>
            <a:prstDash val="solid"/>
          </a:ln>
        </p:spPr>
      </p:sp>
      <p:sp>
        <p:nvSpPr>
          <p:cNvPr id="43" name="Rectangle 42">
            <a:extLst>
              <a:ext uri="{FF2B5EF4-FFF2-40B4-BE49-F238E27FC236}">
                <a16:creationId xmlns:a16="http://schemas.microsoft.com/office/drawing/2014/main" id="{9381B2D4-EE93-4CA6-873F-4AEF131C94D5}"/>
              </a:ext>
            </a:extLst>
          </p:cNvPr>
          <p:cNvSpPr>
            <a:spLocks noGrp="1"/>
          </p:cNvSpPr>
          <p:nvPr/>
        </p:nvSpPr>
        <p:spPr>
          <a:xfrm>
            <a:off x="685800" y="6572250"/>
            <a:ext cx="857250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38" b="0">
                <a:solidFill>
                  <a:srgbClr val="617086"/>
                </a:solidFill>
                <a:latin typeface="Aptos"/>
                <a:ea typeface="Aptos"/>
                <a:cs typeface="Aptos"/>
              </a:defRPr>
            </a:pPr>
            <a:r>
              <a:rPr sz="638" b="0" dirty="0" err="1">
                <a:solidFill>
                  <a:srgbClr val="617086"/>
                </a:solidFill>
                <a:latin typeface="Aptos"/>
                <a:ea typeface="Aptos"/>
                <a:cs typeface="Aptos"/>
              </a:rPr>
              <a:t>TransferAI</a:t>
            </a:r>
            <a:r>
              <a:rPr sz="638" b="0" dirty="0">
                <a:solidFill>
                  <a:srgbClr val="617086"/>
                </a:solidFill>
                <a:latin typeface="Aptos"/>
                <a:ea typeface="Aptos"/>
                <a:cs typeface="Aptos"/>
              </a:rPr>
              <a:t> | Hub </a:t>
            </a:r>
            <a:r>
              <a:rPr lang="en-GB" sz="638" b="0" dirty="0">
                <a:solidFill>
                  <a:srgbClr val="617086"/>
                </a:solidFill>
                <a:latin typeface="Aptos"/>
                <a:ea typeface="Aptos"/>
                <a:cs typeface="Aptos"/>
              </a:rPr>
              <a:t>IA</a:t>
            </a:r>
            <a:r>
              <a:rPr sz="638" b="0" dirty="0">
                <a:solidFill>
                  <a:srgbClr val="617086"/>
                </a:solidFill>
                <a:latin typeface="Aptos"/>
                <a:ea typeface="Aptos"/>
                <a:cs typeface="Aptos"/>
              </a:rPr>
              <a:t> de </a:t>
            </a:r>
            <a:r>
              <a:rPr sz="638" b="0" dirty="0" err="1">
                <a:solidFill>
                  <a:srgbClr val="617086"/>
                </a:solidFill>
                <a:latin typeface="Aptos"/>
                <a:ea typeface="Aptos"/>
                <a:cs typeface="Aptos"/>
              </a:rPr>
              <a:t>Nettelecom</a:t>
            </a:r>
            <a:r>
              <a:rPr sz="638" b="0" dirty="0">
                <a:solidFill>
                  <a:srgbClr val="617086"/>
                </a:solidFill>
                <a:latin typeface="Aptos"/>
                <a:ea typeface="Aptos"/>
                <a:cs typeface="Aptos"/>
              </a:rPr>
              <a:t> CI | Proposition </a:t>
            </a:r>
            <a:r>
              <a:rPr sz="638" b="0" dirty="0" err="1">
                <a:solidFill>
                  <a:srgbClr val="617086"/>
                </a:solidFill>
                <a:latin typeface="Aptos"/>
                <a:ea typeface="Aptos"/>
                <a:cs typeface="Aptos"/>
              </a:rPr>
              <a:t>ciblée</a:t>
            </a:r>
            <a:r>
              <a:rPr sz="638" b="0" dirty="0">
                <a:solidFill>
                  <a:srgbClr val="617086"/>
                </a:solidFill>
                <a:latin typeface="Aptos"/>
                <a:ea typeface="Aptos"/>
                <a:cs typeface="Aptos"/>
              </a:rPr>
              <a:t> ELTON CI</a:t>
            </a:r>
          </a:p>
        </p:txBody>
      </p:sp>
      <p:sp>
        <p:nvSpPr>
          <p:cNvPr id="44" name="Rectangle 43">
            <a:extLst>
              <a:ext uri="{FF2B5EF4-FFF2-40B4-BE49-F238E27FC236}">
                <a16:creationId xmlns:a16="http://schemas.microsoft.com/office/drawing/2014/main" id="{364374F1-CC33-45AA-8BBB-56E35F81CA8C}"/>
              </a:ext>
            </a:extLst>
          </p:cNvPr>
          <p:cNvSpPr>
            <a:spLocks noGrp="1"/>
          </p:cNvSpPr>
          <p:nvPr/>
        </p:nvSpPr>
        <p:spPr>
          <a:xfrm>
            <a:off x="11049000" y="6553200"/>
            <a:ext cx="3429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750" b="1">
                <a:solidFill>
                  <a:srgbClr val="1A3554"/>
                </a:solidFill>
                <a:latin typeface="Aptos"/>
                <a:ea typeface="Aptos"/>
                <a:cs typeface="Aptos"/>
              </a:defRPr>
            </a:pPr>
            <a:r>
              <a:rPr sz="750" b="1">
                <a:solidFill>
                  <a:srgbClr val="1A3554"/>
                </a:solidFill>
                <a:latin typeface="Aptos"/>
                <a:ea typeface="Aptos"/>
                <a:cs typeface="Aptos"/>
              </a:rPr>
              <a:t>04</a:t>
            </a:r>
          </a:p>
        </p:txBody>
      </p:sp>
    </p:spTree>
    <p:extLst>
      <p:ext uri="{BB962C8B-B14F-4D97-AF65-F5344CB8AC3E}">
        <p14:creationId xmlns:p14="http://schemas.microsoft.com/office/powerpoint/2010/main" val="19276721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Rectangle 39">
            <a:extLst>
              <a:ext uri="{FF2B5EF4-FFF2-40B4-BE49-F238E27FC236}">
                <a16:creationId xmlns:a16="http://schemas.microsoft.com/office/drawing/2014/main" id="{A21554FF-F9CE-4420-8143-462B1F340E37}"/>
              </a:ext>
            </a:extLst>
          </p:cNvPr>
          <p:cNvSpPr>
            <a:spLocks noGrp="1"/>
          </p:cNvSpPr>
          <p:nvPr/>
        </p:nvSpPr>
        <p:spPr>
          <a:xfrm>
            <a:off x="0" y="0"/>
            <a:ext cx="12192000" cy="6858000"/>
          </a:xfrm>
          <a:prstGeom prst="rect">
            <a:avLst/>
          </a:prstGeom>
          <a:solidFill>
            <a:srgbClr val="F5EFE7"/>
          </a:solidFill>
          <a:ln w="0">
            <a:solidFill>
              <a:srgbClr val="000000">
                <a:alpha val="0"/>
              </a:srgbClr>
            </a:solidFill>
            <a:prstDash val="solid"/>
          </a:ln>
        </p:spPr>
      </p:sp>
      <p:sp>
        <p:nvSpPr>
          <p:cNvPr id="2" name="Rectangle 1">
            <a:extLst>
              <a:ext uri="{FF2B5EF4-FFF2-40B4-BE49-F238E27FC236}">
                <a16:creationId xmlns:a16="http://schemas.microsoft.com/office/drawing/2014/main" id="{23984A0D-5705-4010-B68D-E8304E827D5D}"/>
              </a:ext>
            </a:extLst>
          </p:cNvPr>
          <p:cNvSpPr>
            <a:spLocks noGrp="1"/>
          </p:cNvSpPr>
          <p:nvPr/>
        </p:nvSpPr>
        <p:spPr>
          <a:xfrm>
            <a:off x="685800" y="495300"/>
            <a:ext cx="24765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88" b="1">
                <a:solidFill>
                  <a:srgbClr val="E76F1D"/>
                </a:solidFill>
                <a:latin typeface="Aptos"/>
                <a:ea typeface="Aptos"/>
                <a:cs typeface="Aptos"/>
              </a:defRPr>
            </a:pPr>
            <a:r>
              <a:rPr sz="788" b="1">
                <a:solidFill>
                  <a:srgbClr val="E76F1D"/>
                </a:solidFill>
                <a:latin typeface="Aptos"/>
                <a:ea typeface="Aptos"/>
                <a:cs typeface="Aptos"/>
              </a:rPr>
              <a:t>CAS D'USAGE PRIORITAIRES</a:t>
            </a:r>
          </a:p>
        </p:txBody>
      </p:sp>
      <p:sp>
        <p:nvSpPr>
          <p:cNvPr id="3" name="Rectangle 2">
            <a:extLst>
              <a:ext uri="{FF2B5EF4-FFF2-40B4-BE49-F238E27FC236}">
                <a16:creationId xmlns:a16="http://schemas.microsoft.com/office/drawing/2014/main" id="{52593773-C6F5-4939-A6AE-FF9453446B11}"/>
              </a:ext>
            </a:extLst>
          </p:cNvPr>
          <p:cNvSpPr>
            <a:spLocks noGrp="1"/>
          </p:cNvSpPr>
          <p:nvPr/>
        </p:nvSpPr>
        <p:spPr>
          <a:xfrm>
            <a:off x="685799" y="819150"/>
            <a:ext cx="9152467" cy="8001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550" b="1">
                <a:solidFill>
                  <a:srgbClr val="1A3554"/>
                </a:solidFill>
                <a:latin typeface="Aptos Display"/>
                <a:ea typeface="Aptos Display"/>
                <a:cs typeface="Aptos Display"/>
              </a:defRPr>
            </a:pPr>
            <a:r>
              <a:rPr sz="2550" b="1" dirty="0">
                <a:solidFill>
                  <a:srgbClr val="1A3554"/>
                </a:solidFill>
                <a:latin typeface="Aptos Display"/>
                <a:ea typeface="Aptos Display"/>
                <a:cs typeface="Aptos Display"/>
              </a:rPr>
              <a:t>Les 4 </a:t>
            </a:r>
            <a:r>
              <a:rPr sz="2550" b="1" dirty="0" err="1">
                <a:solidFill>
                  <a:srgbClr val="1A3554"/>
                </a:solidFill>
                <a:latin typeface="Aptos Display"/>
                <a:ea typeface="Aptos Display"/>
                <a:cs typeface="Aptos Display"/>
              </a:rPr>
              <a:t>cas</a:t>
            </a:r>
            <a:r>
              <a:rPr sz="2550" b="1" dirty="0">
                <a:solidFill>
                  <a:srgbClr val="1A3554"/>
                </a:solidFill>
                <a:latin typeface="Aptos Display"/>
                <a:ea typeface="Aptos Display"/>
                <a:cs typeface="Aptos Display"/>
              </a:rPr>
              <a:t> </a:t>
            </a:r>
            <a:r>
              <a:rPr sz="2550" b="1" dirty="0" err="1">
                <a:solidFill>
                  <a:srgbClr val="1A3554"/>
                </a:solidFill>
                <a:latin typeface="Aptos Display"/>
                <a:ea typeface="Aptos Display"/>
                <a:cs typeface="Aptos Display"/>
              </a:rPr>
              <a:t>d'usage</a:t>
            </a:r>
            <a:r>
              <a:rPr sz="2550" b="1" dirty="0">
                <a:solidFill>
                  <a:srgbClr val="1A3554"/>
                </a:solidFill>
                <a:latin typeface="Aptos Display"/>
                <a:ea typeface="Aptos Display"/>
                <a:cs typeface="Aptos Display"/>
              </a:rPr>
              <a:t> à </a:t>
            </a:r>
            <a:r>
              <a:rPr sz="2550" b="1" dirty="0" err="1">
                <a:solidFill>
                  <a:srgbClr val="1A3554"/>
                </a:solidFill>
                <a:latin typeface="Aptos Display"/>
                <a:ea typeface="Aptos Display"/>
                <a:cs typeface="Aptos Display"/>
              </a:rPr>
              <a:t>mettre</a:t>
            </a:r>
            <a:r>
              <a:rPr sz="2550" b="1" dirty="0">
                <a:solidFill>
                  <a:srgbClr val="1A3554"/>
                </a:solidFill>
                <a:latin typeface="Aptos Display"/>
                <a:ea typeface="Aptos Display"/>
                <a:cs typeface="Aptos Display"/>
              </a:rPr>
              <a:t> au </a:t>
            </a:r>
            <a:r>
              <a:rPr sz="2550" b="1" dirty="0" err="1">
                <a:solidFill>
                  <a:srgbClr val="1A3554"/>
                </a:solidFill>
                <a:latin typeface="Aptos Display"/>
                <a:ea typeface="Aptos Display"/>
                <a:cs typeface="Aptos Display"/>
              </a:rPr>
              <a:t>centre</a:t>
            </a:r>
            <a:r>
              <a:rPr sz="2550" b="1" dirty="0">
                <a:solidFill>
                  <a:srgbClr val="1A3554"/>
                </a:solidFill>
                <a:latin typeface="Aptos Display"/>
                <a:ea typeface="Aptos Display"/>
                <a:cs typeface="Aptos Display"/>
              </a:rPr>
              <a:t> de la proposition ELTON CI</a:t>
            </a:r>
          </a:p>
        </p:txBody>
      </p:sp>
      <p:sp>
        <p:nvSpPr>
          <p:cNvPr id="4" name="Rectangle 3">
            <a:extLst>
              <a:ext uri="{FF2B5EF4-FFF2-40B4-BE49-F238E27FC236}">
                <a16:creationId xmlns:a16="http://schemas.microsoft.com/office/drawing/2014/main" id="{37299D3A-5D14-41D2-A465-752058D18A47}"/>
              </a:ext>
            </a:extLst>
          </p:cNvPr>
          <p:cNvSpPr>
            <a:spLocks noGrp="1"/>
          </p:cNvSpPr>
          <p:nvPr/>
        </p:nvSpPr>
        <p:spPr>
          <a:xfrm>
            <a:off x="685800" y="1676400"/>
            <a:ext cx="87630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0">
                <a:solidFill>
                  <a:srgbClr val="617086"/>
                </a:solidFill>
                <a:latin typeface="Aptos"/>
                <a:ea typeface="Aptos"/>
                <a:cs typeface="Aptos"/>
              </a:defRPr>
            </a:pPr>
            <a:endParaRPr sz="1050" b="0" dirty="0">
              <a:solidFill>
                <a:srgbClr val="617086"/>
              </a:solidFill>
              <a:latin typeface="Aptos"/>
              <a:ea typeface="Aptos"/>
              <a:cs typeface="Aptos"/>
            </a:endParaRPr>
          </a:p>
        </p:txBody>
      </p:sp>
      <p:sp>
        <p:nvSpPr>
          <p:cNvPr id="5" name="Rectangle 4">
            <a:extLst>
              <a:ext uri="{FF2B5EF4-FFF2-40B4-BE49-F238E27FC236}">
                <a16:creationId xmlns:a16="http://schemas.microsoft.com/office/drawing/2014/main" id="{34903F7B-CFAA-4BC8-8C8D-F76D92086030}"/>
              </a:ext>
            </a:extLst>
          </p:cNvPr>
          <p:cNvSpPr>
            <a:spLocks noGrp="1"/>
          </p:cNvSpPr>
          <p:nvPr/>
        </p:nvSpPr>
        <p:spPr>
          <a:xfrm>
            <a:off x="685800" y="2171699"/>
            <a:ext cx="5143500" cy="1771651"/>
          </a:xfrm>
          <a:prstGeom prst="rect">
            <a:avLst/>
          </a:prstGeom>
          <a:solidFill>
            <a:srgbClr val="FFFDFC"/>
          </a:solidFill>
          <a:ln w="9525">
            <a:solidFill>
              <a:srgbClr val="D7CEC3"/>
            </a:solidFill>
            <a:prstDash val="solid"/>
          </a:ln>
        </p:spPr>
      </p:sp>
      <p:sp>
        <p:nvSpPr>
          <p:cNvPr id="6" name="Oval 5">
            <a:extLst>
              <a:ext uri="{FF2B5EF4-FFF2-40B4-BE49-F238E27FC236}">
                <a16:creationId xmlns:a16="http://schemas.microsoft.com/office/drawing/2014/main" id="{F620BC3C-F20F-413D-8039-D0479617001B}"/>
              </a:ext>
            </a:extLst>
          </p:cNvPr>
          <p:cNvSpPr>
            <a:spLocks noGrp="1"/>
          </p:cNvSpPr>
          <p:nvPr/>
        </p:nvSpPr>
        <p:spPr>
          <a:xfrm>
            <a:off x="857250" y="2343150"/>
            <a:ext cx="419100" cy="419100"/>
          </a:xfrm>
          <a:prstGeom prst="ellipse">
            <a:avLst/>
          </a:prstGeom>
          <a:solidFill>
            <a:srgbClr val="E76F1D"/>
          </a:solidFill>
          <a:ln w="0">
            <a:solidFill>
              <a:srgbClr val="E76F1D"/>
            </a:solidFill>
            <a:prstDash val="solid"/>
          </a:ln>
        </p:spPr>
      </p:sp>
      <p:pic>
        <p:nvPicPr>
          <p:cNvPr id="7" name="Graphic 6"/>
          <p:cNvPicPr>
            <a:picLocks noChangeAspect="1"/>
          </p:cNvPicPr>
          <p:nvPr/>
        </p:nvPicPr>
        <p:blipFill>
          <a:blip>
            <a:extLst>
              <a:ext uri="{96DAC541-7B7A-43D3-8B79-37D633B846F1}">
                <asvg:svgBlip xmlns:asvg="http://schemas.microsoft.com/office/drawing/2016/SVG/main" r:embed="rId3"/>
              </a:ext>
            </a:extLst>
          </a:blip>
          <a:stretch/>
        </p:blipFill>
        <p:spPr>
          <a:xfrm>
            <a:off x="952500" y="2438400"/>
            <a:ext cx="228600" cy="228600"/>
          </a:xfrm>
          <a:prstGeom prst="rect">
            <a:avLst/>
          </a:prstGeom>
        </p:spPr>
      </p:pic>
      <p:sp>
        <p:nvSpPr>
          <p:cNvPr id="8" name="Rectangle 7">
            <a:extLst>
              <a:ext uri="{FF2B5EF4-FFF2-40B4-BE49-F238E27FC236}">
                <a16:creationId xmlns:a16="http://schemas.microsoft.com/office/drawing/2014/main" id="{8CBFF096-0792-4F06-9CE8-DB23CB47FA18}"/>
              </a:ext>
            </a:extLst>
          </p:cNvPr>
          <p:cNvSpPr>
            <a:spLocks noGrp="1"/>
          </p:cNvSpPr>
          <p:nvPr/>
        </p:nvSpPr>
        <p:spPr>
          <a:xfrm>
            <a:off x="1409700" y="2381250"/>
            <a:ext cx="42291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63" b="1">
                <a:solidFill>
                  <a:srgbClr val="1A3554"/>
                </a:solidFill>
                <a:latin typeface="Aptos Display"/>
                <a:ea typeface="Aptos Display"/>
                <a:cs typeface="Aptos Display"/>
              </a:defRPr>
            </a:pPr>
            <a:r>
              <a:rPr sz="1163" b="1">
                <a:solidFill>
                  <a:srgbClr val="1A3554"/>
                </a:solidFill>
                <a:latin typeface="Aptos Display"/>
                <a:ea typeface="Aptos Display"/>
                <a:cs typeface="Aptos Display"/>
              </a:rPr>
              <a:t>1. Comptes professionnels et recouvrement</a:t>
            </a:r>
          </a:p>
        </p:txBody>
      </p:sp>
      <p:sp>
        <p:nvSpPr>
          <p:cNvPr id="9" name="Rectangle 8">
            <a:extLst>
              <a:ext uri="{FF2B5EF4-FFF2-40B4-BE49-F238E27FC236}">
                <a16:creationId xmlns:a16="http://schemas.microsoft.com/office/drawing/2014/main" id="{5D5DA1F7-C836-4650-84A7-4E7B3976E6DA}"/>
              </a:ext>
            </a:extLst>
          </p:cNvPr>
          <p:cNvSpPr>
            <a:spLocks noGrp="1"/>
          </p:cNvSpPr>
          <p:nvPr/>
        </p:nvSpPr>
        <p:spPr>
          <a:xfrm>
            <a:off x="895350" y="2800350"/>
            <a:ext cx="76200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75" b="1">
                <a:solidFill>
                  <a:srgbClr val="E76F1D"/>
                </a:solidFill>
                <a:latin typeface="Aptos"/>
                <a:ea typeface="Aptos"/>
                <a:cs typeface="Aptos"/>
              </a:defRPr>
            </a:pPr>
            <a:r>
              <a:rPr sz="675" b="1">
                <a:solidFill>
                  <a:srgbClr val="E76F1D"/>
                </a:solidFill>
                <a:latin typeface="Aptos"/>
                <a:ea typeface="Aptos"/>
                <a:cs typeface="Aptos"/>
              </a:rPr>
              <a:t>AVANT</a:t>
            </a:r>
          </a:p>
        </p:txBody>
      </p:sp>
      <p:sp>
        <p:nvSpPr>
          <p:cNvPr id="10" name="Rectangle 9">
            <a:extLst>
              <a:ext uri="{FF2B5EF4-FFF2-40B4-BE49-F238E27FC236}">
                <a16:creationId xmlns:a16="http://schemas.microsoft.com/office/drawing/2014/main" id="{46E69467-7D86-42F9-AD85-A12A18858A3F}"/>
              </a:ext>
            </a:extLst>
          </p:cNvPr>
          <p:cNvSpPr>
            <a:spLocks noGrp="1"/>
          </p:cNvSpPr>
          <p:nvPr/>
        </p:nvSpPr>
        <p:spPr>
          <a:xfrm>
            <a:off x="895350" y="2971800"/>
            <a:ext cx="4724400"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63" b="0">
                <a:solidFill>
                  <a:srgbClr val="617086"/>
                </a:solidFill>
                <a:latin typeface="Aptos"/>
                <a:ea typeface="Aptos"/>
                <a:cs typeface="Aptos"/>
              </a:defRPr>
            </a:pPr>
            <a:r>
              <a:rPr sz="863" b="0">
                <a:solidFill>
                  <a:srgbClr val="617086"/>
                </a:solidFill>
                <a:latin typeface="Aptos"/>
                <a:ea typeface="Aptos"/>
                <a:cs typeface="Aptos"/>
              </a:rPr>
              <a:t>Relances, revues de portefeuille et synthèses commerciales dispersées entre plusieurs supports.</a:t>
            </a:r>
          </a:p>
        </p:txBody>
      </p:sp>
      <p:sp>
        <p:nvSpPr>
          <p:cNvPr id="11" name="Rectangle 10">
            <a:extLst>
              <a:ext uri="{FF2B5EF4-FFF2-40B4-BE49-F238E27FC236}">
                <a16:creationId xmlns:a16="http://schemas.microsoft.com/office/drawing/2014/main" id="{CB6843FA-C661-422A-BBD9-03339EB3C4E5}"/>
              </a:ext>
            </a:extLst>
          </p:cNvPr>
          <p:cNvSpPr>
            <a:spLocks noGrp="1"/>
          </p:cNvSpPr>
          <p:nvPr/>
        </p:nvSpPr>
        <p:spPr>
          <a:xfrm>
            <a:off x="895350" y="3409950"/>
            <a:ext cx="76200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75" b="1">
                <a:solidFill>
                  <a:srgbClr val="1C8A78"/>
                </a:solidFill>
                <a:latin typeface="Aptos"/>
                <a:ea typeface="Aptos"/>
                <a:cs typeface="Aptos"/>
              </a:defRPr>
            </a:pPr>
            <a:r>
              <a:rPr sz="675" b="1">
                <a:solidFill>
                  <a:srgbClr val="1C8A78"/>
                </a:solidFill>
                <a:latin typeface="Aptos"/>
                <a:ea typeface="Aptos"/>
                <a:cs typeface="Aptos"/>
              </a:rPr>
              <a:t>APRÈS</a:t>
            </a:r>
          </a:p>
        </p:txBody>
      </p:sp>
      <p:sp>
        <p:nvSpPr>
          <p:cNvPr id="12" name="Rectangle 11">
            <a:extLst>
              <a:ext uri="{FF2B5EF4-FFF2-40B4-BE49-F238E27FC236}">
                <a16:creationId xmlns:a16="http://schemas.microsoft.com/office/drawing/2014/main" id="{D03F73CC-9463-45ED-9C6E-8A295D8A41E4}"/>
              </a:ext>
            </a:extLst>
          </p:cNvPr>
          <p:cNvSpPr>
            <a:spLocks noGrp="1"/>
          </p:cNvSpPr>
          <p:nvPr/>
        </p:nvSpPr>
        <p:spPr>
          <a:xfrm>
            <a:off x="895350" y="3581400"/>
            <a:ext cx="4724400" cy="114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63" b="0">
                <a:solidFill>
                  <a:srgbClr val="1A3554"/>
                </a:solidFill>
                <a:latin typeface="Aptos"/>
                <a:ea typeface="Aptos"/>
                <a:cs typeface="Aptos"/>
              </a:defRPr>
            </a:pPr>
            <a:r>
              <a:rPr sz="863" b="0" dirty="0">
                <a:solidFill>
                  <a:srgbClr val="1A3554"/>
                </a:solidFill>
                <a:latin typeface="Aptos"/>
                <a:ea typeface="Aptos"/>
                <a:cs typeface="Aptos"/>
              </a:rPr>
              <a:t>Assistant de </a:t>
            </a:r>
            <a:r>
              <a:rPr sz="863" b="0" dirty="0" err="1">
                <a:solidFill>
                  <a:srgbClr val="1A3554"/>
                </a:solidFill>
                <a:latin typeface="Aptos"/>
                <a:ea typeface="Aptos"/>
                <a:cs typeface="Aptos"/>
              </a:rPr>
              <a:t>préparation</a:t>
            </a:r>
            <a:r>
              <a:rPr sz="863" b="0" dirty="0">
                <a:solidFill>
                  <a:srgbClr val="1A3554"/>
                </a:solidFill>
                <a:latin typeface="Aptos"/>
                <a:ea typeface="Aptos"/>
                <a:cs typeface="Aptos"/>
              </a:rPr>
              <a:t>, </a:t>
            </a:r>
            <a:r>
              <a:rPr sz="863" b="0" dirty="0" err="1">
                <a:solidFill>
                  <a:srgbClr val="1A3554"/>
                </a:solidFill>
                <a:latin typeface="Aptos"/>
                <a:ea typeface="Aptos"/>
                <a:cs typeface="Aptos"/>
              </a:rPr>
              <a:t>synthèse</a:t>
            </a:r>
            <a:r>
              <a:rPr sz="863" b="0" dirty="0">
                <a:solidFill>
                  <a:srgbClr val="1A3554"/>
                </a:solidFill>
                <a:latin typeface="Aptos"/>
                <a:ea typeface="Aptos"/>
                <a:cs typeface="Aptos"/>
              </a:rPr>
              <a:t> </a:t>
            </a:r>
            <a:r>
              <a:rPr sz="863" b="0" dirty="0" err="1">
                <a:solidFill>
                  <a:srgbClr val="1A3554"/>
                </a:solidFill>
                <a:latin typeface="Aptos"/>
                <a:ea typeface="Aptos"/>
                <a:cs typeface="Aptos"/>
              </a:rPr>
              <a:t>portefeuille</a:t>
            </a:r>
            <a:r>
              <a:rPr sz="863" b="0" dirty="0">
                <a:solidFill>
                  <a:srgbClr val="1A3554"/>
                </a:solidFill>
                <a:latin typeface="Aptos"/>
                <a:ea typeface="Aptos"/>
                <a:cs typeface="Aptos"/>
              </a:rPr>
              <a:t>, </a:t>
            </a:r>
            <a:r>
              <a:rPr sz="863" b="0" dirty="0" err="1">
                <a:solidFill>
                  <a:srgbClr val="1A3554"/>
                </a:solidFill>
                <a:latin typeface="Aptos"/>
                <a:ea typeface="Aptos"/>
                <a:cs typeface="Aptos"/>
              </a:rPr>
              <a:t>priorisation</a:t>
            </a:r>
            <a:r>
              <a:rPr sz="863" b="0" dirty="0">
                <a:solidFill>
                  <a:srgbClr val="1A3554"/>
                </a:solidFill>
                <a:latin typeface="Aptos"/>
                <a:ea typeface="Aptos"/>
                <a:cs typeface="Aptos"/>
              </a:rPr>
              <a:t> des </a:t>
            </a:r>
            <a:r>
              <a:rPr sz="863" b="0" dirty="0" err="1">
                <a:solidFill>
                  <a:srgbClr val="1A3554"/>
                </a:solidFill>
                <a:latin typeface="Aptos"/>
                <a:ea typeface="Aptos"/>
                <a:cs typeface="Aptos"/>
              </a:rPr>
              <a:t>comptes</a:t>
            </a:r>
            <a:r>
              <a:rPr sz="863" b="0" dirty="0">
                <a:solidFill>
                  <a:srgbClr val="1A3554"/>
                </a:solidFill>
                <a:latin typeface="Aptos"/>
                <a:ea typeface="Aptos"/>
                <a:cs typeface="Aptos"/>
              </a:rPr>
              <a:t> à </a:t>
            </a:r>
            <a:r>
              <a:rPr sz="863" b="0" dirty="0" err="1">
                <a:solidFill>
                  <a:srgbClr val="1A3554"/>
                </a:solidFill>
                <a:latin typeface="Aptos"/>
                <a:ea typeface="Aptos"/>
                <a:cs typeface="Aptos"/>
              </a:rPr>
              <a:t>risque</a:t>
            </a:r>
            <a:r>
              <a:rPr sz="863" b="0" dirty="0">
                <a:solidFill>
                  <a:srgbClr val="1A3554"/>
                </a:solidFill>
                <a:latin typeface="Aptos"/>
                <a:ea typeface="Aptos"/>
                <a:cs typeface="Aptos"/>
              </a:rPr>
              <a:t> et routines de </a:t>
            </a:r>
            <a:r>
              <a:rPr sz="863" b="0" dirty="0" err="1">
                <a:solidFill>
                  <a:srgbClr val="1A3554"/>
                </a:solidFill>
                <a:latin typeface="Aptos"/>
                <a:ea typeface="Aptos"/>
                <a:cs typeface="Aptos"/>
              </a:rPr>
              <a:t>suivi</a:t>
            </a:r>
            <a:r>
              <a:rPr sz="863" b="0" dirty="0">
                <a:solidFill>
                  <a:srgbClr val="1A3554"/>
                </a:solidFill>
                <a:latin typeface="Aptos"/>
                <a:ea typeface="Aptos"/>
                <a:cs typeface="Aptos"/>
              </a:rPr>
              <a:t> </a:t>
            </a:r>
            <a:r>
              <a:rPr sz="863" b="0" dirty="0" err="1">
                <a:solidFill>
                  <a:srgbClr val="1A3554"/>
                </a:solidFill>
                <a:latin typeface="Aptos"/>
                <a:ea typeface="Aptos"/>
                <a:cs typeface="Aptos"/>
              </a:rPr>
              <a:t>mieux</a:t>
            </a:r>
            <a:r>
              <a:rPr sz="863" b="0" dirty="0">
                <a:solidFill>
                  <a:srgbClr val="1A3554"/>
                </a:solidFill>
                <a:latin typeface="Aptos"/>
                <a:ea typeface="Aptos"/>
                <a:cs typeface="Aptos"/>
              </a:rPr>
              <a:t> </a:t>
            </a:r>
            <a:r>
              <a:rPr sz="863" b="0" dirty="0" err="1">
                <a:solidFill>
                  <a:srgbClr val="1A3554"/>
                </a:solidFill>
                <a:latin typeface="Aptos"/>
                <a:ea typeface="Aptos"/>
                <a:cs typeface="Aptos"/>
              </a:rPr>
              <a:t>standardisées</a:t>
            </a:r>
            <a:r>
              <a:rPr sz="863" b="0" dirty="0">
                <a:solidFill>
                  <a:srgbClr val="1A3554"/>
                </a:solidFill>
                <a:latin typeface="Aptos"/>
                <a:ea typeface="Aptos"/>
                <a:cs typeface="Aptos"/>
              </a:rPr>
              <a:t>.</a:t>
            </a:r>
          </a:p>
        </p:txBody>
      </p:sp>
      <p:sp>
        <p:nvSpPr>
          <p:cNvPr id="13" name="Rectangle 12">
            <a:extLst>
              <a:ext uri="{FF2B5EF4-FFF2-40B4-BE49-F238E27FC236}">
                <a16:creationId xmlns:a16="http://schemas.microsoft.com/office/drawing/2014/main" id="{15D6731A-DC26-4E31-9225-2DFAF83F9616}"/>
              </a:ext>
            </a:extLst>
          </p:cNvPr>
          <p:cNvSpPr>
            <a:spLocks noGrp="1"/>
          </p:cNvSpPr>
          <p:nvPr/>
        </p:nvSpPr>
        <p:spPr>
          <a:xfrm>
            <a:off x="6096000" y="2171700"/>
            <a:ext cx="5410200" cy="1752600"/>
          </a:xfrm>
          <a:prstGeom prst="rect">
            <a:avLst/>
          </a:prstGeom>
          <a:solidFill>
            <a:srgbClr val="FFFDFC"/>
          </a:solidFill>
          <a:ln w="9525">
            <a:solidFill>
              <a:srgbClr val="D7CEC3"/>
            </a:solidFill>
            <a:prstDash val="solid"/>
          </a:ln>
        </p:spPr>
      </p:sp>
      <p:sp>
        <p:nvSpPr>
          <p:cNvPr id="14" name="Oval 13">
            <a:extLst>
              <a:ext uri="{FF2B5EF4-FFF2-40B4-BE49-F238E27FC236}">
                <a16:creationId xmlns:a16="http://schemas.microsoft.com/office/drawing/2014/main" id="{3035E660-EF8A-4C67-8CFE-7C6AC97913BD}"/>
              </a:ext>
            </a:extLst>
          </p:cNvPr>
          <p:cNvSpPr>
            <a:spLocks noGrp="1"/>
          </p:cNvSpPr>
          <p:nvPr/>
        </p:nvSpPr>
        <p:spPr>
          <a:xfrm>
            <a:off x="6267450" y="2343150"/>
            <a:ext cx="419100" cy="419100"/>
          </a:xfrm>
          <a:prstGeom prst="ellipse">
            <a:avLst/>
          </a:prstGeom>
          <a:solidFill>
            <a:srgbClr val="1C8A78"/>
          </a:solidFill>
          <a:ln w="0">
            <a:solidFill>
              <a:srgbClr val="1C8A78"/>
            </a:solidFill>
            <a:prstDash val="solid"/>
          </a:ln>
        </p:spPr>
      </p:sp>
      <p:pic>
        <p:nvPicPr>
          <p:cNvPr id="15" name="Graphic 14"/>
          <p:cNvPicPr>
            <a:picLocks noChangeAspect="1"/>
          </p:cNvPicPr>
          <p:nvPr/>
        </p:nvPicPr>
        <p:blipFill>
          <a:blip>
            <a:extLst>
              <a:ext uri="{96DAC541-7B7A-43D3-8B79-37D633B846F1}">
                <asvg:svgBlip xmlns:asvg="http://schemas.microsoft.com/office/drawing/2016/SVG/main" r:embed="rId4"/>
              </a:ext>
            </a:extLst>
          </a:blip>
          <a:stretch/>
        </p:blipFill>
        <p:spPr>
          <a:xfrm>
            <a:off x="6362700" y="2438400"/>
            <a:ext cx="228600" cy="228600"/>
          </a:xfrm>
          <a:prstGeom prst="rect">
            <a:avLst/>
          </a:prstGeom>
        </p:spPr>
      </p:pic>
      <p:sp>
        <p:nvSpPr>
          <p:cNvPr id="16" name="Rectangle 15">
            <a:extLst>
              <a:ext uri="{FF2B5EF4-FFF2-40B4-BE49-F238E27FC236}">
                <a16:creationId xmlns:a16="http://schemas.microsoft.com/office/drawing/2014/main" id="{6AD7564C-7CF8-4093-8D8F-B98F614F7B6E}"/>
              </a:ext>
            </a:extLst>
          </p:cNvPr>
          <p:cNvSpPr>
            <a:spLocks noGrp="1"/>
          </p:cNvSpPr>
          <p:nvPr/>
        </p:nvSpPr>
        <p:spPr>
          <a:xfrm>
            <a:off x="6819900" y="2381250"/>
            <a:ext cx="44958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63" b="1">
                <a:solidFill>
                  <a:srgbClr val="1A3554"/>
                </a:solidFill>
                <a:latin typeface="Aptos Display"/>
                <a:ea typeface="Aptos Display"/>
                <a:cs typeface="Aptos Display"/>
              </a:defRPr>
            </a:pPr>
            <a:r>
              <a:rPr sz="1163" b="1">
                <a:solidFill>
                  <a:srgbClr val="1A3554"/>
                </a:solidFill>
                <a:latin typeface="Aptos Display"/>
                <a:ea typeface="Aptos Display"/>
                <a:cs typeface="Aptos Display"/>
              </a:rPr>
              <a:t>2. Flotte, cartes carburant et consommation</a:t>
            </a:r>
          </a:p>
        </p:txBody>
      </p:sp>
      <p:sp>
        <p:nvSpPr>
          <p:cNvPr id="17" name="Rectangle 16">
            <a:extLst>
              <a:ext uri="{FF2B5EF4-FFF2-40B4-BE49-F238E27FC236}">
                <a16:creationId xmlns:a16="http://schemas.microsoft.com/office/drawing/2014/main" id="{3B434D15-D679-4651-B96E-BB553FACD8A4}"/>
              </a:ext>
            </a:extLst>
          </p:cNvPr>
          <p:cNvSpPr>
            <a:spLocks noGrp="1"/>
          </p:cNvSpPr>
          <p:nvPr/>
        </p:nvSpPr>
        <p:spPr>
          <a:xfrm>
            <a:off x="6305550" y="2800350"/>
            <a:ext cx="76200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75" b="1">
                <a:solidFill>
                  <a:srgbClr val="E76F1D"/>
                </a:solidFill>
                <a:latin typeface="Aptos"/>
                <a:ea typeface="Aptos"/>
                <a:cs typeface="Aptos"/>
              </a:defRPr>
            </a:pPr>
            <a:r>
              <a:rPr sz="675" b="1">
                <a:solidFill>
                  <a:srgbClr val="E76F1D"/>
                </a:solidFill>
                <a:latin typeface="Aptos"/>
                <a:ea typeface="Aptos"/>
                <a:cs typeface="Aptos"/>
              </a:rPr>
              <a:t>AVANT</a:t>
            </a:r>
          </a:p>
        </p:txBody>
      </p:sp>
      <p:sp>
        <p:nvSpPr>
          <p:cNvPr id="18" name="Rectangle 17">
            <a:extLst>
              <a:ext uri="{FF2B5EF4-FFF2-40B4-BE49-F238E27FC236}">
                <a16:creationId xmlns:a16="http://schemas.microsoft.com/office/drawing/2014/main" id="{6D6E3244-BC8F-4ABD-B9CF-FF565F24855A}"/>
              </a:ext>
            </a:extLst>
          </p:cNvPr>
          <p:cNvSpPr>
            <a:spLocks noGrp="1"/>
          </p:cNvSpPr>
          <p:nvPr/>
        </p:nvSpPr>
        <p:spPr>
          <a:xfrm>
            <a:off x="6305550" y="2971800"/>
            <a:ext cx="4991100"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63" b="0">
                <a:solidFill>
                  <a:srgbClr val="617086"/>
                </a:solidFill>
                <a:latin typeface="Aptos"/>
                <a:ea typeface="Aptos"/>
                <a:cs typeface="Aptos"/>
              </a:defRPr>
            </a:pPr>
            <a:r>
              <a:rPr sz="863" b="0">
                <a:solidFill>
                  <a:srgbClr val="617086"/>
                </a:solidFill>
                <a:latin typeface="Aptos"/>
                <a:ea typeface="Aptos"/>
                <a:cs typeface="Aptos"/>
              </a:rPr>
              <a:t>Vision fragmentée des consommations, des écarts et des commentaires d'analyse.</a:t>
            </a:r>
          </a:p>
        </p:txBody>
      </p:sp>
      <p:sp>
        <p:nvSpPr>
          <p:cNvPr id="19" name="Rectangle 18">
            <a:extLst>
              <a:ext uri="{FF2B5EF4-FFF2-40B4-BE49-F238E27FC236}">
                <a16:creationId xmlns:a16="http://schemas.microsoft.com/office/drawing/2014/main" id="{FC8783EE-F19A-45B0-94C0-F35607AA8239}"/>
              </a:ext>
            </a:extLst>
          </p:cNvPr>
          <p:cNvSpPr>
            <a:spLocks noGrp="1"/>
          </p:cNvSpPr>
          <p:nvPr/>
        </p:nvSpPr>
        <p:spPr>
          <a:xfrm>
            <a:off x="6305550" y="3409950"/>
            <a:ext cx="76200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75" b="1">
                <a:solidFill>
                  <a:srgbClr val="1C8A78"/>
                </a:solidFill>
                <a:latin typeface="Aptos"/>
                <a:ea typeface="Aptos"/>
                <a:cs typeface="Aptos"/>
              </a:defRPr>
            </a:pPr>
            <a:r>
              <a:rPr sz="675" b="1">
                <a:solidFill>
                  <a:srgbClr val="1C8A78"/>
                </a:solidFill>
                <a:latin typeface="Aptos"/>
                <a:ea typeface="Aptos"/>
                <a:cs typeface="Aptos"/>
              </a:rPr>
              <a:t>APRÈS</a:t>
            </a:r>
          </a:p>
        </p:txBody>
      </p:sp>
      <p:sp>
        <p:nvSpPr>
          <p:cNvPr id="20" name="Rectangle 19">
            <a:extLst>
              <a:ext uri="{FF2B5EF4-FFF2-40B4-BE49-F238E27FC236}">
                <a16:creationId xmlns:a16="http://schemas.microsoft.com/office/drawing/2014/main" id="{AE6F65A5-E295-4C9E-AA2B-763F646BAC14}"/>
              </a:ext>
            </a:extLst>
          </p:cNvPr>
          <p:cNvSpPr>
            <a:spLocks noGrp="1"/>
          </p:cNvSpPr>
          <p:nvPr/>
        </p:nvSpPr>
        <p:spPr>
          <a:xfrm>
            <a:off x="6305550" y="3581400"/>
            <a:ext cx="4991100" cy="114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63" b="0">
                <a:solidFill>
                  <a:srgbClr val="1A3554"/>
                </a:solidFill>
                <a:latin typeface="Aptos"/>
                <a:ea typeface="Aptos"/>
                <a:cs typeface="Aptos"/>
              </a:defRPr>
            </a:pPr>
            <a:r>
              <a:rPr sz="863" b="0" dirty="0">
                <a:solidFill>
                  <a:srgbClr val="1A3554"/>
                </a:solidFill>
                <a:latin typeface="Aptos"/>
                <a:ea typeface="Aptos"/>
                <a:cs typeface="Aptos"/>
              </a:rPr>
              <a:t>Tableau de bord </a:t>
            </a:r>
            <a:r>
              <a:rPr sz="863" b="0" dirty="0" err="1">
                <a:solidFill>
                  <a:srgbClr val="1A3554"/>
                </a:solidFill>
                <a:latin typeface="Aptos"/>
                <a:ea typeface="Aptos"/>
                <a:cs typeface="Aptos"/>
              </a:rPr>
              <a:t>consolidé</a:t>
            </a:r>
            <a:r>
              <a:rPr sz="863" b="0" dirty="0">
                <a:solidFill>
                  <a:srgbClr val="1A3554"/>
                </a:solidFill>
                <a:latin typeface="Aptos"/>
                <a:ea typeface="Aptos"/>
                <a:cs typeface="Aptos"/>
              </a:rPr>
              <a:t>, </a:t>
            </a:r>
            <a:r>
              <a:rPr sz="863" b="0" dirty="0" err="1">
                <a:solidFill>
                  <a:srgbClr val="1A3554"/>
                </a:solidFill>
                <a:latin typeface="Aptos"/>
                <a:ea typeface="Aptos"/>
                <a:cs typeface="Aptos"/>
              </a:rPr>
              <a:t>alertes</a:t>
            </a:r>
            <a:r>
              <a:rPr sz="863" b="0" dirty="0">
                <a:solidFill>
                  <a:srgbClr val="1A3554"/>
                </a:solidFill>
                <a:latin typeface="Aptos"/>
                <a:ea typeface="Aptos"/>
                <a:cs typeface="Aptos"/>
              </a:rPr>
              <a:t> simples sur anomalies et </a:t>
            </a:r>
            <a:r>
              <a:rPr sz="863" b="0" dirty="0" err="1">
                <a:solidFill>
                  <a:srgbClr val="1A3554"/>
                </a:solidFill>
                <a:latin typeface="Aptos"/>
                <a:ea typeface="Aptos"/>
                <a:cs typeface="Aptos"/>
              </a:rPr>
              <a:t>meilleure</a:t>
            </a:r>
            <a:r>
              <a:rPr sz="863" b="0" dirty="0">
                <a:solidFill>
                  <a:srgbClr val="1A3554"/>
                </a:solidFill>
                <a:latin typeface="Aptos"/>
                <a:ea typeface="Aptos"/>
                <a:cs typeface="Aptos"/>
              </a:rPr>
              <a:t> lecture des </a:t>
            </a:r>
            <a:r>
              <a:rPr sz="863" b="0" dirty="0" err="1">
                <a:solidFill>
                  <a:srgbClr val="1A3554"/>
                </a:solidFill>
                <a:latin typeface="Aptos"/>
                <a:ea typeface="Aptos"/>
                <a:cs typeface="Aptos"/>
              </a:rPr>
              <a:t>coûts</a:t>
            </a:r>
            <a:r>
              <a:rPr sz="863" b="0" dirty="0">
                <a:solidFill>
                  <a:srgbClr val="1A3554"/>
                </a:solidFill>
                <a:latin typeface="Aptos"/>
                <a:ea typeface="Aptos"/>
                <a:cs typeface="Aptos"/>
              </a:rPr>
              <a:t> par véhicule, site </a:t>
            </a:r>
            <a:r>
              <a:rPr sz="863" b="0" dirty="0" err="1">
                <a:solidFill>
                  <a:srgbClr val="1A3554"/>
                </a:solidFill>
                <a:latin typeface="Aptos"/>
                <a:ea typeface="Aptos"/>
                <a:cs typeface="Aptos"/>
              </a:rPr>
              <a:t>ou</a:t>
            </a:r>
            <a:r>
              <a:rPr sz="863" b="0" dirty="0">
                <a:solidFill>
                  <a:srgbClr val="1A3554"/>
                </a:solidFill>
                <a:latin typeface="Aptos"/>
                <a:ea typeface="Aptos"/>
                <a:cs typeface="Aptos"/>
              </a:rPr>
              <a:t> </a:t>
            </a:r>
            <a:r>
              <a:rPr sz="863" b="0" dirty="0" err="1">
                <a:solidFill>
                  <a:srgbClr val="1A3554"/>
                </a:solidFill>
                <a:latin typeface="Aptos"/>
                <a:ea typeface="Aptos"/>
                <a:cs typeface="Aptos"/>
              </a:rPr>
              <a:t>période</a:t>
            </a:r>
            <a:r>
              <a:rPr sz="863" b="0" dirty="0">
                <a:solidFill>
                  <a:srgbClr val="1A3554"/>
                </a:solidFill>
                <a:latin typeface="Aptos"/>
                <a:ea typeface="Aptos"/>
                <a:cs typeface="Aptos"/>
              </a:rPr>
              <a:t>.</a:t>
            </a:r>
          </a:p>
        </p:txBody>
      </p:sp>
      <p:sp>
        <p:nvSpPr>
          <p:cNvPr id="21" name="Rectangle 20">
            <a:extLst>
              <a:ext uri="{FF2B5EF4-FFF2-40B4-BE49-F238E27FC236}">
                <a16:creationId xmlns:a16="http://schemas.microsoft.com/office/drawing/2014/main" id="{1DE4FE6F-933B-4F9F-9F33-EA3B490708A6}"/>
              </a:ext>
            </a:extLst>
          </p:cNvPr>
          <p:cNvSpPr>
            <a:spLocks noGrp="1"/>
          </p:cNvSpPr>
          <p:nvPr/>
        </p:nvSpPr>
        <p:spPr>
          <a:xfrm>
            <a:off x="685800" y="4038599"/>
            <a:ext cx="5143500" cy="1726141"/>
          </a:xfrm>
          <a:prstGeom prst="rect">
            <a:avLst/>
          </a:prstGeom>
          <a:solidFill>
            <a:srgbClr val="FFFDFC"/>
          </a:solidFill>
          <a:ln w="9525">
            <a:solidFill>
              <a:srgbClr val="D7CEC3"/>
            </a:solidFill>
            <a:prstDash val="solid"/>
          </a:ln>
        </p:spPr>
      </p:sp>
      <p:sp>
        <p:nvSpPr>
          <p:cNvPr id="22" name="Oval 21">
            <a:extLst>
              <a:ext uri="{FF2B5EF4-FFF2-40B4-BE49-F238E27FC236}">
                <a16:creationId xmlns:a16="http://schemas.microsoft.com/office/drawing/2014/main" id="{BB7A2C76-C56E-481B-AFC0-11321898A9C8}"/>
              </a:ext>
            </a:extLst>
          </p:cNvPr>
          <p:cNvSpPr>
            <a:spLocks noGrp="1"/>
          </p:cNvSpPr>
          <p:nvPr/>
        </p:nvSpPr>
        <p:spPr>
          <a:xfrm>
            <a:off x="857250" y="4210050"/>
            <a:ext cx="419100" cy="419100"/>
          </a:xfrm>
          <a:prstGeom prst="ellipse">
            <a:avLst/>
          </a:prstGeom>
          <a:solidFill>
            <a:srgbClr val="163556"/>
          </a:solidFill>
          <a:ln w="0">
            <a:solidFill>
              <a:srgbClr val="163556"/>
            </a:solidFill>
            <a:prstDash val="solid"/>
          </a:ln>
        </p:spPr>
      </p:sp>
      <p:pic>
        <p:nvPicPr>
          <p:cNvPr id="23" name="Graphic 22"/>
          <p:cNvPicPr>
            <a:picLocks noChangeAspect="1"/>
          </p:cNvPicPr>
          <p:nvPr/>
        </p:nvPicPr>
        <p:blipFill>
          <a:blip>
            <a:extLst>
              <a:ext uri="{96DAC541-7B7A-43D3-8B79-37D633B846F1}">
                <asvg:svgBlip xmlns:asvg="http://schemas.microsoft.com/office/drawing/2016/SVG/main" r:embed="rId5"/>
              </a:ext>
            </a:extLst>
          </a:blip>
          <a:stretch/>
        </p:blipFill>
        <p:spPr>
          <a:xfrm>
            <a:off x="952500" y="4305300"/>
            <a:ext cx="228600" cy="228600"/>
          </a:xfrm>
          <a:prstGeom prst="rect">
            <a:avLst/>
          </a:prstGeom>
        </p:spPr>
      </p:pic>
      <p:sp>
        <p:nvSpPr>
          <p:cNvPr id="24" name="Rectangle 23">
            <a:extLst>
              <a:ext uri="{FF2B5EF4-FFF2-40B4-BE49-F238E27FC236}">
                <a16:creationId xmlns:a16="http://schemas.microsoft.com/office/drawing/2014/main" id="{F2CAC5AF-2AB8-4989-AA39-4F288320BE7F}"/>
              </a:ext>
            </a:extLst>
          </p:cNvPr>
          <p:cNvSpPr>
            <a:spLocks noGrp="1"/>
          </p:cNvSpPr>
          <p:nvPr/>
        </p:nvSpPr>
        <p:spPr>
          <a:xfrm>
            <a:off x="1409700" y="4248150"/>
            <a:ext cx="42291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63" b="1">
                <a:solidFill>
                  <a:srgbClr val="1A3554"/>
                </a:solidFill>
                <a:latin typeface="Aptos Display"/>
                <a:ea typeface="Aptos Display"/>
                <a:cs typeface="Aptos Display"/>
              </a:defRPr>
            </a:pPr>
            <a:r>
              <a:rPr sz="1163" b="1">
                <a:solidFill>
                  <a:srgbClr val="1A3554"/>
                </a:solidFill>
                <a:latin typeface="Aptos Display"/>
                <a:ea typeface="Aptos Display"/>
                <a:cs typeface="Aptos Display"/>
              </a:rPr>
              <a:t>3. Service client / service auto</a:t>
            </a:r>
          </a:p>
        </p:txBody>
      </p:sp>
      <p:sp>
        <p:nvSpPr>
          <p:cNvPr id="25" name="Rectangle 24">
            <a:extLst>
              <a:ext uri="{FF2B5EF4-FFF2-40B4-BE49-F238E27FC236}">
                <a16:creationId xmlns:a16="http://schemas.microsoft.com/office/drawing/2014/main" id="{D5CBD51D-FC1A-47AC-AC6C-F0EA75D2FCA5}"/>
              </a:ext>
            </a:extLst>
          </p:cNvPr>
          <p:cNvSpPr>
            <a:spLocks noGrp="1"/>
          </p:cNvSpPr>
          <p:nvPr/>
        </p:nvSpPr>
        <p:spPr>
          <a:xfrm>
            <a:off x="895350" y="4667250"/>
            <a:ext cx="76200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75" b="1">
                <a:solidFill>
                  <a:srgbClr val="E76F1D"/>
                </a:solidFill>
                <a:latin typeface="Aptos"/>
                <a:ea typeface="Aptos"/>
                <a:cs typeface="Aptos"/>
              </a:defRPr>
            </a:pPr>
            <a:r>
              <a:rPr sz="675" b="1">
                <a:solidFill>
                  <a:srgbClr val="E76F1D"/>
                </a:solidFill>
                <a:latin typeface="Aptos"/>
                <a:ea typeface="Aptos"/>
                <a:cs typeface="Aptos"/>
              </a:rPr>
              <a:t>AVANT</a:t>
            </a:r>
          </a:p>
        </p:txBody>
      </p:sp>
      <p:sp>
        <p:nvSpPr>
          <p:cNvPr id="26" name="Rectangle 25">
            <a:extLst>
              <a:ext uri="{FF2B5EF4-FFF2-40B4-BE49-F238E27FC236}">
                <a16:creationId xmlns:a16="http://schemas.microsoft.com/office/drawing/2014/main" id="{FC78ACFC-3CB5-473B-99CB-CA071716E657}"/>
              </a:ext>
            </a:extLst>
          </p:cNvPr>
          <p:cNvSpPr>
            <a:spLocks noGrp="1"/>
          </p:cNvSpPr>
          <p:nvPr/>
        </p:nvSpPr>
        <p:spPr>
          <a:xfrm>
            <a:off x="895350" y="4838700"/>
            <a:ext cx="4724400"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63" b="0">
                <a:solidFill>
                  <a:srgbClr val="617086"/>
                </a:solidFill>
                <a:latin typeface="Aptos"/>
                <a:ea typeface="Aptos"/>
                <a:cs typeface="Aptos"/>
              </a:defRPr>
            </a:pPr>
            <a:r>
              <a:rPr sz="863" b="0">
                <a:solidFill>
                  <a:srgbClr val="617086"/>
                </a:solidFill>
                <a:latin typeface="Aptos"/>
                <a:ea typeface="Aptos"/>
                <a:cs typeface="Aptos"/>
              </a:rPr>
              <a:t>Demandes récurrentes, scripts variables et historique pas toujours exploitable pour mieux servir.</a:t>
            </a:r>
          </a:p>
        </p:txBody>
      </p:sp>
      <p:sp>
        <p:nvSpPr>
          <p:cNvPr id="27" name="Rectangle 26">
            <a:extLst>
              <a:ext uri="{FF2B5EF4-FFF2-40B4-BE49-F238E27FC236}">
                <a16:creationId xmlns:a16="http://schemas.microsoft.com/office/drawing/2014/main" id="{1BCC709B-3B80-4CEE-9AAB-D218BC006503}"/>
              </a:ext>
            </a:extLst>
          </p:cNvPr>
          <p:cNvSpPr>
            <a:spLocks noGrp="1"/>
          </p:cNvSpPr>
          <p:nvPr/>
        </p:nvSpPr>
        <p:spPr>
          <a:xfrm>
            <a:off x="895350" y="5276850"/>
            <a:ext cx="76200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75" b="1">
                <a:solidFill>
                  <a:srgbClr val="1C8A78"/>
                </a:solidFill>
                <a:latin typeface="Aptos"/>
                <a:ea typeface="Aptos"/>
                <a:cs typeface="Aptos"/>
              </a:defRPr>
            </a:pPr>
            <a:r>
              <a:rPr sz="675" b="1">
                <a:solidFill>
                  <a:srgbClr val="1C8A78"/>
                </a:solidFill>
                <a:latin typeface="Aptos"/>
                <a:ea typeface="Aptos"/>
                <a:cs typeface="Aptos"/>
              </a:rPr>
              <a:t>APRÈS</a:t>
            </a:r>
          </a:p>
        </p:txBody>
      </p:sp>
      <p:sp>
        <p:nvSpPr>
          <p:cNvPr id="28" name="Rectangle 27">
            <a:extLst>
              <a:ext uri="{FF2B5EF4-FFF2-40B4-BE49-F238E27FC236}">
                <a16:creationId xmlns:a16="http://schemas.microsoft.com/office/drawing/2014/main" id="{FCEF66B8-EE1C-40A5-9CCB-74B23165CA1B}"/>
              </a:ext>
            </a:extLst>
          </p:cNvPr>
          <p:cNvSpPr>
            <a:spLocks noGrp="1"/>
          </p:cNvSpPr>
          <p:nvPr/>
        </p:nvSpPr>
        <p:spPr>
          <a:xfrm>
            <a:off x="895350" y="5448300"/>
            <a:ext cx="4724400" cy="114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63" b="0">
                <a:solidFill>
                  <a:srgbClr val="1A3554"/>
                </a:solidFill>
                <a:latin typeface="Aptos"/>
                <a:ea typeface="Aptos"/>
                <a:cs typeface="Aptos"/>
              </a:defRPr>
            </a:pPr>
            <a:r>
              <a:rPr sz="863" b="0" dirty="0">
                <a:solidFill>
                  <a:srgbClr val="1A3554"/>
                </a:solidFill>
                <a:latin typeface="Aptos"/>
                <a:ea typeface="Aptos"/>
                <a:cs typeface="Aptos"/>
              </a:rPr>
              <a:t>FAQ </a:t>
            </a:r>
            <a:r>
              <a:rPr sz="863" b="0" dirty="0" err="1">
                <a:solidFill>
                  <a:srgbClr val="1A3554"/>
                </a:solidFill>
                <a:latin typeface="Aptos"/>
                <a:ea typeface="Aptos"/>
                <a:cs typeface="Aptos"/>
              </a:rPr>
              <a:t>assistée</a:t>
            </a:r>
            <a:r>
              <a:rPr sz="863" b="0" dirty="0">
                <a:solidFill>
                  <a:srgbClr val="1A3554"/>
                </a:solidFill>
                <a:latin typeface="Aptos"/>
                <a:ea typeface="Aptos"/>
                <a:cs typeface="Aptos"/>
              </a:rPr>
              <a:t>, </a:t>
            </a:r>
            <a:r>
              <a:rPr sz="863" b="0" dirty="0" err="1">
                <a:solidFill>
                  <a:srgbClr val="1A3554"/>
                </a:solidFill>
                <a:latin typeface="Aptos"/>
                <a:ea typeface="Aptos"/>
                <a:cs typeface="Aptos"/>
              </a:rPr>
              <a:t>canevas</a:t>
            </a:r>
            <a:r>
              <a:rPr sz="863" b="0" dirty="0">
                <a:solidFill>
                  <a:srgbClr val="1A3554"/>
                </a:solidFill>
                <a:latin typeface="Aptos"/>
                <a:ea typeface="Aptos"/>
                <a:cs typeface="Aptos"/>
              </a:rPr>
              <a:t> de </a:t>
            </a:r>
            <a:r>
              <a:rPr sz="863" b="0" dirty="0" err="1">
                <a:solidFill>
                  <a:srgbClr val="1A3554"/>
                </a:solidFill>
                <a:latin typeface="Aptos"/>
                <a:ea typeface="Aptos"/>
                <a:cs typeface="Aptos"/>
              </a:rPr>
              <a:t>réponse</a:t>
            </a:r>
            <a:r>
              <a:rPr sz="863" b="0" dirty="0">
                <a:solidFill>
                  <a:srgbClr val="1A3554"/>
                </a:solidFill>
                <a:latin typeface="Aptos"/>
                <a:ea typeface="Aptos"/>
                <a:cs typeface="Aptos"/>
              </a:rPr>
              <a:t>, </a:t>
            </a:r>
            <a:r>
              <a:rPr sz="863" b="0" dirty="0" err="1">
                <a:solidFill>
                  <a:srgbClr val="1A3554"/>
                </a:solidFill>
                <a:latin typeface="Aptos"/>
                <a:ea typeface="Aptos"/>
                <a:cs typeface="Aptos"/>
              </a:rPr>
              <a:t>suivi</a:t>
            </a:r>
            <a:r>
              <a:rPr sz="863" b="0" dirty="0">
                <a:solidFill>
                  <a:srgbClr val="1A3554"/>
                </a:solidFill>
                <a:latin typeface="Aptos"/>
                <a:ea typeface="Aptos"/>
                <a:cs typeface="Aptos"/>
              </a:rPr>
              <a:t> plus </a:t>
            </a:r>
            <a:r>
              <a:rPr sz="863" b="0" dirty="0" err="1">
                <a:solidFill>
                  <a:srgbClr val="1A3554"/>
                </a:solidFill>
                <a:latin typeface="Aptos"/>
                <a:ea typeface="Aptos"/>
                <a:cs typeface="Aptos"/>
              </a:rPr>
              <a:t>continu</a:t>
            </a:r>
            <a:r>
              <a:rPr sz="863" b="0" dirty="0">
                <a:solidFill>
                  <a:srgbClr val="1A3554"/>
                </a:solidFill>
                <a:latin typeface="Aptos"/>
                <a:ea typeface="Aptos"/>
                <a:cs typeface="Aptos"/>
              </a:rPr>
              <a:t> et </a:t>
            </a:r>
            <a:r>
              <a:rPr sz="863" b="0" dirty="0" err="1">
                <a:solidFill>
                  <a:srgbClr val="1A3554"/>
                </a:solidFill>
                <a:latin typeface="Aptos"/>
                <a:ea typeface="Aptos"/>
                <a:cs typeface="Aptos"/>
              </a:rPr>
              <a:t>meilleur</a:t>
            </a:r>
            <a:r>
              <a:rPr sz="863" b="0" dirty="0">
                <a:solidFill>
                  <a:srgbClr val="1A3554"/>
                </a:solidFill>
                <a:latin typeface="Aptos"/>
                <a:ea typeface="Aptos"/>
                <a:cs typeface="Aptos"/>
              </a:rPr>
              <a:t> </a:t>
            </a:r>
            <a:r>
              <a:rPr sz="863" b="0" dirty="0" err="1">
                <a:solidFill>
                  <a:srgbClr val="1A3554"/>
                </a:solidFill>
                <a:latin typeface="Aptos"/>
                <a:ea typeface="Aptos"/>
                <a:cs typeface="Aptos"/>
              </a:rPr>
              <a:t>niveau</a:t>
            </a:r>
            <a:r>
              <a:rPr sz="863" b="0" dirty="0">
                <a:solidFill>
                  <a:srgbClr val="1A3554"/>
                </a:solidFill>
                <a:latin typeface="Aptos"/>
                <a:ea typeface="Aptos"/>
                <a:cs typeface="Aptos"/>
              </a:rPr>
              <a:t> de </a:t>
            </a:r>
            <a:r>
              <a:rPr sz="863" b="0" dirty="0" err="1">
                <a:solidFill>
                  <a:srgbClr val="1A3554"/>
                </a:solidFill>
                <a:latin typeface="Aptos"/>
                <a:ea typeface="Aptos"/>
                <a:cs typeface="Aptos"/>
              </a:rPr>
              <a:t>réactivité</a:t>
            </a:r>
            <a:r>
              <a:rPr sz="863" b="0" dirty="0">
                <a:solidFill>
                  <a:srgbClr val="1A3554"/>
                </a:solidFill>
                <a:latin typeface="Aptos"/>
                <a:ea typeface="Aptos"/>
                <a:cs typeface="Aptos"/>
              </a:rPr>
              <a:t> </a:t>
            </a:r>
            <a:r>
              <a:rPr sz="863" b="0" dirty="0" err="1">
                <a:solidFill>
                  <a:srgbClr val="1A3554"/>
                </a:solidFill>
                <a:latin typeface="Aptos"/>
                <a:ea typeface="Aptos"/>
                <a:cs typeface="Aptos"/>
              </a:rPr>
              <a:t>opérationnelle</a:t>
            </a:r>
            <a:r>
              <a:rPr sz="863" b="0" dirty="0">
                <a:solidFill>
                  <a:srgbClr val="1A3554"/>
                </a:solidFill>
                <a:latin typeface="Aptos"/>
                <a:ea typeface="Aptos"/>
                <a:cs typeface="Aptos"/>
              </a:rPr>
              <a:t>.</a:t>
            </a:r>
          </a:p>
        </p:txBody>
      </p:sp>
      <p:sp>
        <p:nvSpPr>
          <p:cNvPr id="29" name="Rectangle 28">
            <a:extLst>
              <a:ext uri="{FF2B5EF4-FFF2-40B4-BE49-F238E27FC236}">
                <a16:creationId xmlns:a16="http://schemas.microsoft.com/office/drawing/2014/main" id="{F2AFF0F2-E8A1-4C5D-8C99-2CADE79B9F9F}"/>
              </a:ext>
            </a:extLst>
          </p:cNvPr>
          <p:cNvSpPr>
            <a:spLocks noGrp="1"/>
          </p:cNvSpPr>
          <p:nvPr/>
        </p:nvSpPr>
        <p:spPr>
          <a:xfrm>
            <a:off x="6096000" y="4038600"/>
            <a:ext cx="5410200" cy="1726140"/>
          </a:xfrm>
          <a:prstGeom prst="rect">
            <a:avLst/>
          </a:prstGeom>
          <a:solidFill>
            <a:srgbClr val="FFFDFC"/>
          </a:solidFill>
          <a:ln w="9525">
            <a:solidFill>
              <a:srgbClr val="D7CEC3"/>
            </a:solidFill>
            <a:prstDash val="solid"/>
          </a:ln>
        </p:spPr>
      </p:sp>
      <p:sp>
        <p:nvSpPr>
          <p:cNvPr id="30" name="Oval 29">
            <a:extLst>
              <a:ext uri="{FF2B5EF4-FFF2-40B4-BE49-F238E27FC236}">
                <a16:creationId xmlns:a16="http://schemas.microsoft.com/office/drawing/2014/main" id="{7006B0DF-AB33-457F-A6F1-67928B0A734C}"/>
              </a:ext>
            </a:extLst>
          </p:cNvPr>
          <p:cNvSpPr>
            <a:spLocks noGrp="1"/>
          </p:cNvSpPr>
          <p:nvPr/>
        </p:nvSpPr>
        <p:spPr>
          <a:xfrm>
            <a:off x="6267450" y="4210050"/>
            <a:ext cx="419100" cy="419100"/>
          </a:xfrm>
          <a:prstGeom prst="ellipse">
            <a:avLst/>
          </a:prstGeom>
          <a:solidFill>
            <a:srgbClr val="C88C3A"/>
          </a:solidFill>
          <a:ln w="0">
            <a:solidFill>
              <a:srgbClr val="C88C3A"/>
            </a:solidFill>
            <a:prstDash val="solid"/>
          </a:ln>
        </p:spPr>
      </p:sp>
      <p:pic>
        <p:nvPicPr>
          <p:cNvPr id="31" name="Graphic 30"/>
          <p:cNvPicPr>
            <a:picLocks noChangeAspect="1"/>
          </p:cNvPicPr>
          <p:nvPr/>
        </p:nvPicPr>
        <p:blipFill>
          <a:blip>
            <a:extLst>
              <a:ext uri="{96DAC541-7B7A-43D3-8B79-37D633B846F1}">
                <asvg:svgBlip xmlns:asvg="http://schemas.microsoft.com/office/drawing/2016/SVG/main" r:embed="rId6"/>
              </a:ext>
            </a:extLst>
          </a:blip>
          <a:stretch/>
        </p:blipFill>
        <p:spPr>
          <a:xfrm>
            <a:off x="6362700" y="4305300"/>
            <a:ext cx="228600" cy="228600"/>
          </a:xfrm>
          <a:prstGeom prst="rect">
            <a:avLst/>
          </a:prstGeom>
        </p:spPr>
      </p:pic>
      <p:sp>
        <p:nvSpPr>
          <p:cNvPr id="32" name="Rectangle 31">
            <a:extLst>
              <a:ext uri="{FF2B5EF4-FFF2-40B4-BE49-F238E27FC236}">
                <a16:creationId xmlns:a16="http://schemas.microsoft.com/office/drawing/2014/main" id="{70E26F19-AA4A-4C8F-B9B7-3D1018F91694}"/>
              </a:ext>
            </a:extLst>
          </p:cNvPr>
          <p:cNvSpPr>
            <a:spLocks noGrp="1"/>
          </p:cNvSpPr>
          <p:nvPr/>
        </p:nvSpPr>
        <p:spPr>
          <a:xfrm>
            <a:off x="6819900" y="4248150"/>
            <a:ext cx="44958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63" b="1">
                <a:solidFill>
                  <a:srgbClr val="1A3554"/>
                </a:solidFill>
                <a:latin typeface="Aptos Display"/>
                <a:ea typeface="Aptos Display"/>
                <a:cs typeface="Aptos Display"/>
              </a:defRPr>
            </a:pPr>
            <a:r>
              <a:rPr sz="1163" b="1">
                <a:solidFill>
                  <a:srgbClr val="1A3554"/>
                </a:solidFill>
                <a:latin typeface="Aptos Display"/>
                <a:ea typeface="Aptos Display"/>
                <a:cs typeface="Aptos Display"/>
              </a:rPr>
              <a:t>4. Procédures internes et base de connaissances</a:t>
            </a:r>
          </a:p>
        </p:txBody>
      </p:sp>
      <p:sp>
        <p:nvSpPr>
          <p:cNvPr id="33" name="Rectangle 32">
            <a:extLst>
              <a:ext uri="{FF2B5EF4-FFF2-40B4-BE49-F238E27FC236}">
                <a16:creationId xmlns:a16="http://schemas.microsoft.com/office/drawing/2014/main" id="{9B64C0C3-6DC7-4DC2-B0CA-14A67F58DA3D}"/>
              </a:ext>
            </a:extLst>
          </p:cNvPr>
          <p:cNvSpPr>
            <a:spLocks noGrp="1"/>
          </p:cNvSpPr>
          <p:nvPr/>
        </p:nvSpPr>
        <p:spPr>
          <a:xfrm>
            <a:off x="6305550" y="4667250"/>
            <a:ext cx="76200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75" b="1">
                <a:solidFill>
                  <a:srgbClr val="E76F1D"/>
                </a:solidFill>
                <a:latin typeface="Aptos"/>
                <a:ea typeface="Aptos"/>
                <a:cs typeface="Aptos"/>
              </a:defRPr>
            </a:pPr>
            <a:r>
              <a:rPr sz="675" b="1">
                <a:solidFill>
                  <a:srgbClr val="E76F1D"/>
                </a:solidFill>
                <a:latin typeface="Aptos"/>
                <a:ea typeface="Aptos"/>
                <a:cs typeface="Aptos"/>
              </a:rPr>
              <a:t>AVANT</a:t>
            </a:r>
          </a:p>
        </p:txBody>
      </p:sp>
      <p:sp>
        <p:nvSpPr>
          <p:cNvPr id="34" name="Rectangle 33">
            <a:extLst>
              <a:ext uri="{FF2B5EF4-FFF2-40B4-BE49-F238E27FC236}">
                <a16:creationId xmlns:a16="http://schemas.microsoft.com/office/drawing/2014/main" id="{C03D1DB8-CEB1-458F-9653-D2BD8C59FFF1}"/>
              </a:ext>
            </a:extLst>
          </p:cNvPr>
          <p:cNvSpPr>
            <a:spLocks noGrp="1"/>
          </p:cNvSpPr>
          <p:nvPr/>
        </p:nvSpPr>
        <p:spPr>
          <a:xfrm>
            <a:off x="6305550" y="4838700"/>
            <a:ext cx="4991100"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63" b="0">
                <a:solidFill>
                  <a:srgbClr val="617086"/>
                </a:solidFill>
                <a:latin typeface="Aptos"/>
                <a:ea typeface="Aptos"/>
                <a:cs typeface="Aptos"/>
              </a:defRPr>
            </a:pPr>
            <a:r>
              <a:rPr sz="863" b="0">
                <a:solidFill>
                  <a:srgbClr val="617086"/>
                </a:solidFill>
                <a:latin typeface="Aptos"/>
                <a:ea typeface="Aptos"/>
                <a:cs typeface="Aptos"/>
              </a:rPr>
              <a:t>Procédures, standards et bonnes réponses éparpillés, donc difficilement réutilisables à grande échelle.</a:t>
            </a:r>
          </a:p>
        </p:txBody>
      </p:sp>
      <p:sp>
        <p:nvSpPr>
          <p:cNvPr id="35" name="Rectangle 34">
            <a:extLst>
              <a:ext uri="{FF2B5EF4-FFF2-40B4-BE49-F238E27FC236}">
                <a16:creationId xmlns:a16="http://schemas.microsoft.com/office/drawing/2014/main" id="{3960D76B-D195-4253-9F42-4C324A202CD3}"/>
              </a:ext>
            </a:extLst>
          </p:cNvPr>
          <p:cNvSpPr>
            <a:spLocks noGrp="1"/>
          </p:cNvSpPr>
          <p:nvPr/>
        </p:nvSpPr>
        <p:spPr>
          <a:xfrm>
            <a:off x="6305550" y="5276850"/>
            <a:ext cx="76200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75" b="1">
                <a:solidFill>
                  <a:srgbClr val="1C8A78"/>
                </a:solidFill>
                <a:latin typeface="Aptos"/>
                <a:ea typeface="Aptos"/>
                <a:cs typeface="Aptos"/>
              </a:defRPr>
            </a:pPr>
            <a:r>
              <a:rPr sz="675" b="1">
                <a:solidFill>
                  <a:srgbClr val="1C8A78"/>
                </a:solidFill>
                <a:latin typeface="Aptos"/>
                <a:ea typeface="Aptos"/>
                <a:cs typeface="Aptos"/>
              </a:rPr>
              <a:t>APRÈS</a:t>
            </a:r>
          </a:p>
        </p:txBody>
      </p:sp>
      <p:sp>
        <p:nvSpPr>
          <p:cNvPr id="36" name="Rectangle 35">
            <a:extLst>
              <a:ext uri="{FF2B5EF4-FFF2-40B4-BE49-F238E27FC236}">
                <a16:creationId xmlns:a16="http://schemas.microsoft.com/office/drawing/2014/main" id="{429293F8-9575-4807-AA4E-1CAE1662DA21}"/>
              </a:ext>
            </a:extLst>
          </p:cNvPr>
          <p:cNvSpPr>
            <a:spLocks noGrp="1"/>
          </p:cNvSpPr>
          <p:nvPr/>
        </p:nvSpPr>
        <p:spPr>
          <a:xfrm>
            <a:off x="6305550" y="5448300"/>
            <a:ext cx="4991100" cy="114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63" b="0">
                <a:solidFill>
                  <a:srgbClr val="1A3554"/>
                </a:solidFill>
                <a:latin typeface="Aptos"/>
                <a:ea typeface="Aptos"/>
                <a:cs typeface="Aptos"/>
              </a:defRPr>
            </a:pPr>
            <a:r>
              <a:rPr sz="863" b="0" dirty="0">
                <a:solidFill>
                  <a:srgbClr val="1A3554"/>
                </a:solidFill>
                <a:latin typeface="Aptos"/>
                <a:ea typeface="Aptos"/>
                <a:cs typeface="Aptos"/>
              </a:rPr>
              <a:t>Base interne plus accessible, </a:t>
            </a:r>
            <a:r>
              <a:rPr sz="863" b="0" dirty="0" err="1">
                <a:solidFill>
                  <a:srgbClr val="1A3554"/>
                </a:solidFill>
                <a:latin typeface="Aptos"/>
                <a:ea typeface="Aptos"/>
                <a:cs typeface="Aptos"/>
              </a:rPr>
              <a:t>exécution</a:t>
            </a:r>
            <a:r>
              <a:rPr sz="863" b="0" dirty="0">
                <a:solidFill>
                  <a:srgbClr val="1A3554"/>
                </a:solidFill>
                <a:latin typeface="Aptos"/>
                <a:ea typeface="Aptos"/>
                <a:cs typeface="Aptos"/>
              </a:rPr>
              <a:t> plus </a:t>
            </a:r>
            <a:r>
              <a:rPr sz="863" b="0" dirty="0" err="1">
                <a:solidFill>
                  <a:srgbClr val="1A3554"/>
                </a:solidFill>
                <a:latin typeface="Aptos"/>
                <a:ea typeface="Aptos"/>
                <a:cs typeface="Aptos"/>
              </a:rPr>
              <a:t>homogène</a:t>
            </a:r>
            <a:r>
              <a:rPr sz="863" b="0" dirty="0">
                <a:solidFill>
                  <a:srgbClr val="1A3554"/>
                </a:solidFill>
                <a:latin typeface="Aptos"/>
                <a:ea typeface="Aptos"/>
                <a:cs typeface="Aptos"/>
              </a:rPr>
              <a:t> et </a:t>
            </a:r>
            <a:r>
              <a:rPr sz="863" b="0" dirty="0" err="1">
                <a:solidFill>
                  <a:srgbClr val="1A3554"/>
                </a:solidFill>
                <a:latin typeface="Aptos"/>
                <a:ea typeface="Aptos"/>
                <a:cs typeface="Aptos"/>
              </a:rPr>
              <a:t>réduction</a:t>
            </a:r>
            <a:r>
              <a:rPr sz="863" b="0" dirty="0">
                <a:solidFill>
                  <a:srgbClr val="1A3554"/>
                </a:solidFill>
                <a:latin typeface="Aptos"/>
                <a:ea typeface="Aptos"/>
                <a:cs typeface="Aptos"/>
              </a:rPr>
              <a:t> du temps de recherche pour les équipes.</a:t>
            </a:r>
          </a:p>
        </p:txBody>
      </p:sp>
      <p:sp>
        <p:nvSpPr>
          <p:cNvPr id="37" name="Rectangle 36">
            <a:extLst>
              <a:ext uri="{FF2B5EF4-FFF2-40B4-BE49-F238E27FC236}">
                <a16:creationId xmlns:a16="http://schemas.microsoft.com/office/drawing/2014/main" id="{8756C956-476F-418D-8606-80B15EECBE33}"/>
              </a:ext>
            </a:extLst>
          </p:cNvPr>
          <p:cNvSpPr>
            <a:spLocks noGrp="1"/>
          </p:cNvSpPr>
          <p:nvPr/>
        </p:nvSpPr>
        <p:spPr>
          <a:xfrm>
            <a:off x="647700" y="6496050"/>
            <a:ext cx="10896600" cy="9525"/>
          </a:xfrm>
          <a:prstGeom prst="rect">
            <a:avLst/>
          </a:prstGeom>
          <a:solidFill>
            <a:srgbClr val="D7CEC3"/>
          </a:solidFill>
          <a:ln w="0">
            <a:solidFill>
              <a:srgbClr val="000000">
                <a:alpha val="0"/>
              </a:srgbClr>
            </a:solidFill>
            <a:prstDash val="solid"/>
          </a:ln>
        </p:spPr>
      </p:sp>
      <p:sp>
        <p:nvSpPr>
          <p:cNvPr id="38" name="Rectangle 37">
            <a:extLst>
              <a:ext uri="{FF2B5EF4-FFF2-40B4-BE49-F238E27FC236}">
                <a16:creationId xmlns:a16="http://schemas.microsoft.com/office/drawing/2014/main" id="{616C8E91-E175-4424-8891-8B7A9D9DA5C0}"/>
              </a:ext>
            </a:extLst>
          </p:cNvPr>
          <p:cNvSpPr>
            <a:spLocks noGrp="1"/>
          </p:cNvSpPr>
          <p:nvPr/>
        </p:nvSpPr>
        <p:spPr>
          <a:xfrm>
            <a:off x="685800" y="6572250"/>
            <a:ext cx="857250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38" b="0">
                <a:solidFill>
                  <a:srgbClr val="617086"/>
                </a:solidFill>
                <a:latin typeface="Aptos"/>
                <a:ea typeface="Aptos"/>
                <a:cs typeface="Aptos"/>
              </a:defRPr>
            </a:pPr>
            <a:r>
              <a:rPr sz="638" b="0" dirty="0" err="1">
                <a:solidFill>
                  <a:srgbClr val="617086"/>
                </a:solidFill>
                <a:latin typeface="Aptos"/>
                <a:ea typeface="Aptos"/>
                <a:cs typeface="Aptos"/>
              </a:rPr>
              <a:t>TransferAI</a:t>
            </a:r>
            <a:r>
              <a:rPr sz="638" b="0" dirty="0">
                <a:solidFill>
                  <a:srgbClr val="617086"/>
                </a:solidFill>
                <a:latin typeface="Aptos"/>
                <a:ea typeface="Aptos"/>
                <a:cs typeface="Aptos"/>
              </a:rPr>
              <a:t> | Hub </a:t>
            </a:r>
            <a:r>
              <a:rPr lang="en-GB" sz="638" b="0" dirty="0">
                <a:solidFill>
                  <a:srgbClr val="617086"/>
                </a:solidFill>
                <a:latin typeface="Aptos"/>
                <a:ea typeface="Aptos"/>
                <a:cs typeface="Aptos"/>
              </a:rPr>
              <a:t>IA</a:t>
            </a:r>
            <a:r>
              <a:rPr sz="638" b="0" dirty="0">
                <a:solidFill>
                  <a:srgbClr val="617086"/>
                </a:solidFill>
                <a:latin typeface="Aptos"/>
                <a:ea typeface="Aptos"/>
                <a:cs typeface="Aptos"/>
              </a:rPr>
              <a:t> de </a:t>
            </a:r>
            <a:r>
              <a:rPr sz="638" b="0" dirty="0" err="1">
                <a:solidFill>
                  <a:srgbClr val="617086"/>
                </a:solidFill>
                <a:latin typeface="Aptos"/>
                <a:ea typeface="Aptos"/>
                <a:cs typeface="Aptos"/>
              </a:rPr>
              <a:t>Nettelecom</a:t>
            </a:r>
            <a:r>
              <a:rPr sz="638" b="0" dirty="0">
                <a:solidFill>
                  <a:srgbClr val="617086"/>
                </a:solidFill>
                <a:latin typeface="Aptos"/>
                <a:ea typeface="Aptos"/>
                <a:cs typeface="Aptos"/>
              </a:rPr>
              <a:t> CI | Proposition </a:t>
            </a:r>
            <a:r>
              <a:rPr sz="638" b="0" dirty="0" err="1">
                <a:solidFill>
                  <a:srgbClr val="617086"/>
                </a:solidFill>
                <a:latin typeface="Aptos"/>
                <a:ea typeface="Aptos"/>
                <a:cs typeface="Aptos"/>
              </a:rPr>
              <a:t>ciblée</a:t>
            </a:r>
            <a:r>
              <a:rPr sz="638" b="0" dirty="0">
                <a:solidFill>
                  <a:srgbClr val="617086"/>
                </a:solidFill>
                <a:latin typeface="Aptos"/>
                <a:ea typeface="Aptos"/>
                <a:cs typeface="Aptos"/>
              </a:rPr>
              <a:t> ELTON CI</a:t>
            </a:r>
          </a:p>
        </p:txBody>
      </p:sp>
      <p:sp>
        <p:nvSpPr>
          <p:cNvPr id="39" name="Rectangle 38">
            <a:extLst>
              <a:ext uri="{FF2B5EF4-FFF2-40B4-BE49-F238E27FC236}">
                <a16:creationId xmlns:a16="http://schemas.microsoft.com/office/drawing/2014/main" id="{A51799AB-D72F-4DA9-B5D9-CB47094E3A45}"/>
              </a:ext>
            </a:extLst>
          </p:cNvPr>
          <p:cNvSpPr>
            <a:spLocks noGrp="1"/>
          </p:cNvSpPr>
          <p:nvPr/>
        </p:nvSpPr>
        <p:spPr>
          <a:xfrm>
            <a:off x="11049000" y="6553200"/>
            <a:ext cx="3429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750" b="1">
                <a:solidFill>
                  <a:srgbClr val="1A3554"/>
                </a:solidFill>
                <a:latin typeface="Aptos"/>
                <a:ea typeface="Aptos"/>
                <a:cs typeface="Aptos"/>
              </a:defRPr>
            </a:pPr>
            <a:r>
              <a:rPr sz="750" b="1">
                <a:solidFill>
                  <a:srgbClr val="1A3554"/>
                </a:solidFill>
                <a:latin typeface="Aptos"/>
                <a:ea typeface="Aptos"/>
                <a:cs typeface="Aptos"/>
              </a:rPr>
              <a:t>05</a:t>
            </a:r>
          </a:p>
        </p:txBody>
      </p:sp>
    </p:spTree>
    <p:extLst>
      <p:ext uri="{BB962C8B-B14F-4D97-AF65-F5344CB8AC3E}">
        <p14:creationId xmlns:p14="http://schemas.microsoft.com/office/powerpoint/2010/main" val="19806019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9C4A40CF-34CA-4AEC-80AB-7C0645CB786F}"/>
              </a:ext>
            </a:extLst>
          </p:cNvPr>
          <p:cNvSpPr>
            <a:spLocks noGrp="1"/>
          </p:cNvSpPr>
          <p:nvPr/>
        </p:nvSpPr>
        <p:spPr>
          <a:xfrm>
            <a:off x="67733" y="305858"/>
            <a:ext cx="12192000" cy="6858000"/>
          </a:xfrm>
          <a:prstGeom prst="rect">
            <a:avLst/>
          </a:prstGeom>
          <a:solidFill>
            <a:srgbClr val="F5EFE7"/>
          </a:solidFill>
          <a:ln w="0">
            <a:solidFill>
              <a:srgbClr val="000000">
                <a:alpha val="0"/>
              </a:srgbClr>
            </a:solidFill>
            <a:prstDash val="solid"/>
          </a:ln>
        </p:spPr>
      </p:sp>
      <p:sp>
        <p:nvSpPr>
          <p:cNvPr id="2" name="Rectangle 1">
            <a:extLst>
              <a:ext uri="{FF2B5EF4-FFF2-40B4-BE49-F238E27FC236}">
                <a16:creationId xmlns:a16="http://schemas.microsoft.com/office/drawing/2014/main" id="{AA766245-6052-42A4-8510-A7CF0E4E8A50}"/>
              </a:ext>
            </a:extLst>
          </p:cNvPr>
          <p:cNvSpPr>
            <a:spLocks noGrp="1"/>
          </p:cNvSpPr>
          <p:nvPr/>
        </p:nvSpPr>
        <p:spPr>
          <a:xfrm>
            <a:off x="685800" y="495300"/>
            <a:ext cx="24765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88" b="1">
                <a:solidFill>
                  <a:srgbClr val="E76F1D"/>
                </a:solidFill>
                <a:latin typeface="Aptos"/>
                <a:ea typeface="Aptos"/>
                <a:cs typeface="Aptos"/>
              </a:defRPr>
            </a:pPr>
            <a:r>
              <a:rPr sz="788" b="1">
                <a:solidFill>
                  <a:srgbClr val="E76F1D"/>
                </a:solidFill>
                <a:latin typeface="Aptos"/>
                <a:ea typeface="Aptos"/>
                <a:cs typeface="Aptos"/>
              </a:rPr>
              <a:t>DÉTAIL DES CAS D'USAGE</a:t>
            </a:r>
          </a:p>
        </p:txBody>
      </p:sp>
      <p:sp>
        <p:nvSpPr>
          <p:cNvPr id="3" name="Rectangle 2">
            <a:extLst>
              <a:ext uri="{FF2B5EF4-FFF2-40B4-BE49-F238E27FC236}">
                <a16:creationId xmlns:a16="http://schemas.microsoft.com/office/drawing/2014/main" id="{EF82E894-EB70-4734-B9F3-D87889D1D743}"/>
              </a:ext>
            </a:extLst>
          </p:cNvPr>
          <p:cNvSpPr>
            <a:spLocks noGrp="1"/>
          </p:cNvSpPr>
          <p:nvPr/>
        </p:nvSpPr>
        <p:spPr>
          <a:xfrm>
            <a:off x="685800" y="819150"/>
            <a:ext cx="8001000" cy="8001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550" b="1">
                <a:solidFill>
                  <a:srgbClr val="1A3554"/>
                </a:solidFill>
                <a:latin typeface="Aptos Display"/>
                <a:ea typeface="Aptos Display"/>
                <a:cs typeface="Aptos Display"/>
              </a:defRPr>
            </a:pPr>
            <a:r>
              <a:rPr sz="2550" b="1">
                <a:solidFill>
                  <a:srgbClr val="1A3554"/>
                </a:solidFill>
                <a:latin typeface="Aptos Display"/>
                <a:ea typeface="Aptos Display"/>
                <a:cs typeface="Aptos Display"/>
              </a:rPr>
              <a:t>Les deux premiers terrains à lancer rapidement</a:t>
            </a:r>
          </a:p>
        </p:txBody>
      </p:sp>
      <p:sp>
        <p:nvSpPr>
          <p:cNvPr id="4" name="Rectangle 3">
            <a:extLst>
              <a:ext uri="{FF2B5EF4-FFF2-40B4-BE49-F238E27FC236}">
                <a16:creationId xmlns:a16="http://schemas.microsoft.com/office/drawing/2014/main" id="{932E6803-B6A6-4229-AB53-5CEE5F9F4491}"/>
              </a:ext>
            </a:extLst>
          </p:cNvPr>
          <p:cNvSpPr>
            <a:spLocks noGrp="1"/>
          </p:cNvSpPr>
          <p:nvPr/>
        </p:nvSpPr>
        <p:spPr>
          <a:xfrm>
            <a:off x="685800" y="1676400"/>
            <a:ext cx="87630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0">
                <a:solidFill>
                  <a:srgbClr val="617086"/>
                </a:solidFill>
                <a:latin typeface="Aptos"/>
                <a:ea typeface="Aptos"/>
                <a:cs typeface="Aptos"/>
              </a:defRPr>
            </a:pPr>
            <a:r>
              <a:rPr sz="1050" b="0">
                <a:solidFill>
                  <a:srgbClr val="617086"/>
                </a:solidFill>
                <a:latin typeface="Aptos"/>
                <a:ea typeface="Aptos"/>
                <a:cs typeface="Aptos"/>
              </a:rPr>
              <a:t>Nous recommandons de démarrer par deux flux où la valeur est plus facile à rendre visible pour la direction : comptes professionnels et flotte / cartes carburant.</a:t>
            </a:r>
          </a:p>
        </p:txBody>
      </p:sp>
      <p:sp>
        <p:nvSpPr>
          <p:cNvPr id="5" name="Rectangle 4">
            <a:extLst>
              <a:ext uri="{FF2B5EF4-FFF2-40B4-BE49-F238E27FC236}">
                <a16:creationId xmlns:a16="http://schemas.microsoft.com/office/drawing/2014/main" id="{F907BF00-BF08-428A-953A-CEED0721EABF}"/>
              </a:ext>
            </a:extLst>
          </p:cNvPr>
          <p:cNvSpPr>
            <a:spLocks noGrp="1"/>
          </p:cNvSpPr>
          <p:nvPr/>
        </p:nvSpPr>
        <p:spPr>
          <a:xfrm>
            <a:off x="685800" y="2171700"/>
            <a:ext cx="5143500" cy="3105150"/>
          </a:xfrm>
          <a:prstGeom prst="rect">
            <a:avLst/>
          </a:prstGeom>
          <a:solidFill>
            <a:srgbClr val="FFFDFC"/>
          </a:solidFill>
          <a:ln w="9525">
            <a:solidFill>
              <a:srgbClr val="D7CEC3"/>
            </a:solidFill>
            <a:prstDash val="solid"/>
          </a:ln>
        </p:spPr>
      </p:sp>
      <p:sp>
        <p:nvSpPr>
          <p:cNvPr id="6" name="Oval 5">
            <a:extLst>
              <a:ext uri="{FF2B5EF4-FFF2-40B4-BE49-F238E27FC236}">
                <a16:creationId xmlns:a16="http://schemas.microsoft.com/office/drawing/2014/main" id="{449599B5-F6DD-4874-B60D-ED97D7DC6ED9}"/>
              </a:ext>
            </a:extLst>
          </p:cNvPr>
          <p:cNvSpPr>
            <a:spLocks noGrp="1"/>
          </p:cNvSpPr>
          <p:nvPr/>
        </p:nvSpPr>
        <p:spPr>
          <a:xfrm>
            <a:off x="895350" y="2362200"/>
            <a:ext cx="419100" cy="419100"/>
          </a:xfrm>
          <a:prstGeom prst="ellipse">
            <a:avLst/>
          </a:prstGeom>
          <a:solidFill>
            <a:srgbClr val="E76F1D"/>
          </a:solidFill>
          <a:ln w="0">
            <a:solidFill>
              <a:srgbClr val="E76F1D"/>
            </a:solidFill>
            <a:prstDash val="solid"/>
          </a:ln>
        </p:spPr>
      </p:sp>
      <p:pic>
        <p:nvPicPr>
          <p:cNvPr id="7" name="Graphic 6"/>
          <p:cNvPicPr>
            <a:picLocks noChangeAspect="1"/>
          </p:cNvPicPr>
          <p:nvPr/>
        </p:nvPicPr>
        <p:blipFill>
          <a:blip>
            <a:extLst>
              <a:ext uri="{96DAC541-7B7A-43D3-8B79-37D633B846F1}">
                <asvg:svgBlip xmlns:asvg="http://schemas.microsoft.com/office/drawing/2016/SVG/main" r:embed="rId3"/>
              </a:ext>
            </a:extLst>
          </a:blip>
          <a:stretch/>
        </p:blipFill>
        <p:spPr>
          <a:xfrm>
            <a:off x="990600" y="2457450"/>
            <a:ext cx="228600" cy="228600"/>
          </a:xfrm>
          <a:prstGeom prst="rect">
            <a:avLst/>
          </a:prstGeom>
        </p:spPr>
      </p:pic>
      <p:sp>
        <p:nvSpPr>
          <p:cNvPr id="8" name="Rectangle 7">
            <a:extLst>
              <a:ext uri="{FF2B5EF4-FFF2-40B4-BE49-F238E27FC236}">
                <a16:creationId xmlns:a16="http://schemas.microsoft.com/office/drawing/2014/main" id="{C817B46A-3AC1-44CE-B4AE-2A1EEFAF58FF}"/>
              </a:ext>
            </a:extLst>
          </p:cNvPr>
          <p:cNvSpPr>
            <a:spLocks noGrp="1"/>
          </p:cNvSpPr>
          <p:nvPr/>
        </p:nvSpPr>
        <p:spPr>
          <a:xfrm>
            <a:off x="1428750" y="2362200"/>
            <a:ext cx="390525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650" b="1">
                <a:solidFill>
                  <a:srgbClr val="1A3554"/>
                </a:solidFill>
                <a:latin typeface="Aptos Display"/>
                <a:ea typeface="Aptos Display"/>
                <a:cs typeface="Aptos Display"/>
              </a:defRPr>
            </a:pPr>
            <a:r>
              <a:rPr sz="1650" b="1">
                <a:solidFill>
                  <a:srgbClr val="1A3554"/>
                </a:solidFill>
                <a:latin typeface="Aptos Display"/>
                <a:ea typeface="Aptos Display"/>
                <a:cs typeface="Aptos Display"/>
              </a:rPr>
              <a:t>Comptes professionnels et recouvrement</a:t>
            </a:r>
          </a:p>
        </p:txBody>
      </p:sp>
      <p:sp>
        <p:nvSpPr>
          <p:cNvPr id="9" name="Rectangle 8">
            <a:extLst>
              <a:ext uri="{FF2B5EF4-FFF2-40B4-BE49-F238E27FC236}">
                <a16:creationId xmlns:a16="http://schemas.microsoft.com/office/drawing/2014/main" id="{CB88B1B0-55F1-41E0-B8F9-CF39108D6F32}"/>
              </a:ext>
            </a:extLst>
          </p:cNvPr>
          <p:cNvSpPr>
            <a:spLocks noGrp="1"/>
          </p:cNvSpPr>
          <p:nvPr/>
        </p:nvSpPr>
        <p:spPr>
          <a:xfrm>
            <a:off x="895350" y="2857500"/>
            <a:ext cx="6667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1">
                <a:solidFill>
                  <a:srgbClr val="E76F1D"/>
                </a:solidFill>
                <a:latin typeface="Aptos"/>
                <a:ea typeface="Aptos"/>
                <a:cs typeface="Aptos"/>
              </a:defRPr>
            </a:pPr>
            <a:r>
              <a:rPr sz="750" b="1">
                <a:solidFill>
                  <a:srgbClr val="E76F1D"/>
                </a:solidFill>
                <a:latin typeface="Aptos"/>
                <a:ea typeface="Aptos"/>
                <a:cs typeface="Aptos"/>
              </a:rPr>
              <a:t>AVANT</a:t>
            </a:r>
          </a:p>
        </p:txBody>
      </p:sp>
      <p:sp>
        <p:nvSpPr>
          <p:cNvPr id="10" name="Rectangle 9">
            <a:extLst>
              <a:ext uri="{FF2B5EF4-FFF2-40B4-BE49-F238E27FC236}">
                <a16:creationId xmlns:a16="http://schemas.microsoft.com/office/drawing/2014/main" id="{90993CF6-E769-431D-96B1-AA2BAA12C8F4}"/>
              </a:ext>
            </a:extLst>
          </p:cNvPr>
          <p:cNvSpPr>
            <a:spLocks noGrp="1"/>
          </p:cNvSpPr>
          <p:nvPr/>
        </p:nvSpPr>
        <p:spPr>
          <a:xfrm>
            <a:off x="895350" y="3086100"/>
            <a:ext cx="4476750" cy="704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38" b="0">
                <a:solidFill>
                  <a:srgbClr val="617086"/>
                </a:solidFill>
                <a:latin typeface="Aptos"/>
                <a:ea typeface="Aptos"/>
                <a:cs typeface="Aptos"/>
              </a:defRPr>
            </a:pPr>
            <a:r>
              <a:rPr sz="938" b="0">
                <a:solidFill>
                  <a:srgbClr val="617086"/>
                </a:solidFill>
                <a:latin typeface="Aptos"/>
                <a:ea typeface="Aptos"/>
                <a:cs typeface="Aptos"/>
              </a:rPr>
              <a:t>• relances préparées à la main</a:t>
            </a:r>
          </a:p>
          <a:p>
            <a:pPr algn="l">
              <a:defRPr sz="938" b="0">
                <a:solidFill>
                  <a:srgbClr val="617086"/>
                </a:solidFill>
                <a:latin typeface="Aptos"/>
                <a:ea typeface="Aptos"/>
                <a:cs typeface="Aptos"/>
              </a:defRPr>
            </a:pPr>
            <a:r>
              <a:rPr sz="938" b="0">
                <a:solidFill>
                  <a:srgbClr val="617086"/>
                </a:solidFill>
                <a:latin typeface="Aptos"/>
                <a:ea typeface="Aptos"/>
                <a:cs typeface="Aptos"/>
              </a:rPr>
              <a:t>• revues de portefeuille longues à consolider</a:t>
            </a:r>
          </a:p>
          <a:p>
            <a:pPr algn="l">
              <a:defRPr sz="938" b="0">
                <a:solidFill>
                  <a:srgbClr val="617086"/>
                </a:solidFill>
                <a:latin typeface="Aptos"/>
                <a:ea typeface="Aptos"/>
                <a:cs typeface="Aptos"/>
              </a:defRPr>
            </a:pPr>
            <a:r>
              <a:rPr sz="938" b="0">
                <a:solidFill>
                  <a:srgbClr val="617086"/>
                </a:solidFill>
                <a:latin typeface="Aptos"/>
                <a:ea typeface="Aptos"/>
                <a:cs typeface="Aptos"/>
              </a:rPr>
              <a:t>• informations dispersées entre mails, fichiers et historique commercial</a:t>
            </a:r>
          </a:p>
        </p:txBody>
      </p:sp>
      <p:sp>
        <p:nvSpPr>
          <p:cNvPr id="11" name="Rectangle 10">
            <a:extLst>
              <a:ext uri="{FF2B5EF4-FFF2-40B4-BE49-F238E27FC236}">
                <a16:creationId xmlns:a16="http://schemas.microsoft.com/office/drawing/2014/main" id="{69FC1F3B-4267-4AB5-9939-38B2CDB1B39E}"/>
              </a:ext>
            </a:extLst>
          </p:cNvPr>
          <p:cNvSpPr>
            <a:spLocks noGrp="1"/>
          </p:cNvSpPr>
          <p:nvPr/>
        </p:nvSpPr>
        <p:spPr>
          <a:xfrm>
            <a:off x="895350" y="3981450"/>
            <a:ext cx="6667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1">
                <a:solidFill>
                  <a:srgbClr val="1C8A78"/>
                </a:solidFill>
                <a:latin typeface="Aptos"/>
                <a:ea typeface="Aptos"/>
                <a:cs typeface="Aptos"/>
              </a:defRPr>
            </a:pPr>
            <a:r>
              <a:rPr sz="750" b="1">
                <a:solidFill>
                  <a:srgbClr val="1C8A78"/>
                </a:solidFill>
                <a:latin typeface="Aptos"/>
                <a:ea typeface="Aptos"/>
                <a:cs typeface="Aptos"/>
              </a:rPr>
              <a:t>APRÈS</a:t>
            </a:r>
          </a:p>
        </p:txBody>
      </p:sp>
      <p:sp>
        <p:nvSpPr>
          <p:cNvPr id="12" name="Rectangle 11">
            <a:extLst>
              <a:ext uri="{FF2B5EF4-FFF2-40B4-BE49-F238E27FC236}">
                <a16:creationId xmlns:a16="http://schemas.microsoft.com/office/drawing/2014/main" id="{299D57CF-F277-49C8-B9E0-2C0827B6100B}"/>
              </a:ext>
            </a:extLst>
          </p:cNvPr>
          <p:cNvSpPr>
            <a:spLocks noGrp="1"/>
          </p:cNvSpPr>
          <p:nvPr/>
        </p:nvSpPr>
        <p:spPr>
          <a:xfrm>
            <a:off x="895350" y="4210050"/>
            <a:ext cx="4476750" cy="704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38" b="0">
                <a:solidFill>
                  <a:srgbClr val="1A3554"/>
                </a:solidFill>
                <a:latin typeface="Aptos"/>
                <a:ea typeface="Aptos"/>
                <a:cs typeface="Aptos"/>
              </a:defRPr>
            </a:pPr>
            <a:r>
              <a:rPr sz="938" b="0">
                <a:solidFill>
                  <a:srgbClr val="1A3554"/>
                </a:solidFill>
                <a:latin typeface="Aptos"/>
                <a:ea typeface="Aptos"/>
                <a:cs typeface="Aptos"/>
              </a:rPr>
              <a:t>• canevas de relance et brouillons assistés</a:t>
            </a:r>
          </a:p>
          <a:p>
            <a:pPr algn="l">
              <a:defRPr sz="938" b="0">
                <a:solidFill>
                  <a:srgbClr val="1A3554"/>
                </a:solidFill>
                <a:latin typeface="Aptos"/>
                <a:ea typeface="Aptos"/>
                <a:cs typeface="Aptos"/>
              </a:defRPr>
            </a:pPr>
            <a:r>
              <a:rPr sz="938" b="0">
                <a:solidFill>
                  <a:srgbClr val="1A3554"/>
                </a:solidFill>
                <a:latin typeface="Aptos"/>
                <a:ea typeface="Aptos"/>
                <a:cs typeface="Aptos"/>
              </a:rPr>
              <a:t>• synthèse de portefeuille pré-préparée pour les revues</a:t>
            </a:r>
          </a:p>
          <a:p>
            <a:pPr algn="l">
              <a:defRPr sz="938" b="0">
                <a:solidFill>
                  <a:srgbClr val="1A3554"/>
                </a:solidFill>
                <a:latin typeface="Aptos"/>
                <a:ea typeface="Aptos"/>
                <a:cs typeface="Aptos"/>
              </a:defRPr>
            </a:pPr>
            <a:r>
              <a:rPr sz="938" b="0">
                <a:solidFill>
                  <a:srgbClr val="1A3554"/>
                </a:solidFill>
                <a:latin typeface="Aptos"/>
                <a:ea typeface="Aptos"/>
                <a:cs typeface="Aptos"/>
              </a:rPr>
              <a:t>• signalement des comptes sensibles ou des échéances critiques</a:t>
            </a:r>
          </a:p>
        </p:txBody>
      </p:sp>
      <p:sp>
        <p:nvSpPr>
          <p:cNvPr id="13" name="Rectangle 12">
            <a:extLst>
              <a:ext uri="{FF2B5EF4-FFF2-40B4-BE49-F238E27FC236}">
                <a16:creationId xmlns:a16="http://schemas.microsoft.com/office/drawing/2014/main" id="{63E5DEA3-FC67-4AE2-94DD-55797ED8989B}"/>
              </a:ext>
            </a:extLst>
          </p:cNvPr>
          <p:cNvSpPr>
            <a:spLocks noGrp="1"/>
          </p:cNvSpPr>
          <p:nvPr/>
        </p:nvSpPr>
        <p:spPr>
          <a:xfrm>
            <a:off x="895350" y="4972050"/>
            <a:ext cx="4667250" cy="381000"/>
          </a:xfrm>
          <a:prstGeom prst="rect">
            <a:avLst/>
          </a:prstGeom>
          <a:solidFill>
            <a:srgbClr val="FBF5EE"/>
          </a:solidFill>
          <a:ln w="9525">
            <a:solidFill>
              <a:srgbClr val="D7CEC3"/>
            </a:solidFill>
            <a:prstDash val="solid"/>
          </a:ln>
        </p:spPr>
      </p:sp>
      <p:sp>
        <p:nvSpPr>
          <p:cNvPr id="14" name="Rectangle 13">
            <a:extLst>
              <a:ext uri="{FF2B5EF4-FFF2-40B4-BE49-F238E27FC236}">
                <a16:creationId xmlns:a16="http://schemas.microsoft.com/office/drawing/2014/main" id="{31E5EE18-097B-46A1-8461-E3CFA9F4AE00}"/>
              </a:ext>
            </a:extLst>
          </p:cNvPr>
          <p:cNvSpPr>
            <a:spLocks noGrp="1"/>
          </p:cNvSpPr>
          <p:nvPr/>
        </p:nvSpPr>
        <p:spPr>
          <a:xfrm>
            <a:off x="1047750" y="5086350"/>
            <a:ext cx="434340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63" b="1">
                <a:solidFill>
                  <a:srgbClr val="1A3554"/>
                </a:solidFill>
                <a:latin typeface="Aptos"/>
                <a:ea typeface="Aptos"/>
                <a:cs typeface="Aptos"/>
              </a:defRPr>
            </a:pPr>
            <a:r>
              <a:rPr sz="863" b="1">
                <a:solidFill>
                  <a:srgbClr val="1A3554"/>
                </a:solidFill>
                <a:latin typeface="Aptos"/>
                <a:ea typeface="Aptos"/>
                <a:cs typeface="Aptos"/>
              </a:rPr>
              <a:t>KPI : délai de relance | temps de préparation des revues | visibilité sur les encours en retard</a:t>
            </a:r>
          </a:p>
        </p:txBody>
      </p:sp>
      <p:sp>
        <p:nvSpPr>
          <p:cNvPr id="15" name="Rectangle 14">
            <a:extLst>
              <a:ext uri="{FF2B5EF4-FFF2-40B4-BE49-F238E27FC236}">
                <a16:creationId xmlns:a16="http://schemas.microsoft.com/office/drawing/2014/main" id="{84457C78-BB18-441A-ACFB-E8BE0E8BA8C8}"/>
              </a:ext>
            </a:extLst>
          </p:cNvPr>
          <p:cNvSpPr>
            <a:spLocks noGrp="1"/>
          </p:cNvSpPr>
          <p:nvPr/>
        </p:nvSpPr>
        <p:spPr>
          <a:xfrm>
            <a:off x="6096000" y="2171700"/>
            <a:ext cx="5410200" cy="3105150"/>
          </a:xfrm>
          <a:prstGeom prst="rect">
            <a:avLst/>
          </a:prstGeom>
          <a:solidFill>
            <a:srgbClr val="FFFDFC"/>
          </a:solidFill>
          <a:ln w="9525">
            <a:solidFill>
              <a:srgbClr val="D7CEC3"/>
            </a:solidFill>
            <a:prstDash val="solid"/>
          </a:ln>
        </p:spPr>
      </p:sp>
      <p:sp>
        <p:nvSpPr>
          <p:cNvPr id="16" name="Oval 15">
            <a:extLst>
              <a:ext uri="{FF2B5EF4-FFF2-40B4-BE49-F238E27FC236}">
                <a16:creationId xmlns:a16="http://schemas.microsoft.com/office/drawing/2014/main" id="{DB17DC25-977E-499C-AC65-59B9ECBFC040}"/>
              </a:ext>
            </a:extLst>
          </p:cNvPr>
          <p:cNvSpPr>
            <a:spLocks noGrp="1"/>
          </p:cNvSpPr>
          <p:nvPr/>
        </p:nvSpPr>
        <p:spPr>
          <a:xfrm>
            <a:off x="6305550" y="2362200"/>
            <a:ext cx="419100" cy="419100"/>
          </a:xfrm>
          <a:prstGeom prst="ellipse">
            <a:avLst/>
          </a:prstGeom>
          <a:solidFill>
            <a:srgbClr val="1C8A78"/>
          </a:solidFill>
          <a:ln w="0">
            <a:solidFill>
              <a:srgbClr val="1C8A78"/>
            </a:solidFill>
            <a:prstDash val="solid"/>
          </a:ln>
        </p:spPr>
      </p:sp>
      <p:pic>
        <p:nvPicPr>
          <p:cNvPr id="17" name="Graphic 16"/>
          <p:cNvPicPr>
            <a:picLocks noChangeAspect="1"/>
          </p:cNvPicPr>
          <p:nvPr/>
        </p:nvPicPr>
        <p:blipFill>
          <a:blip>
            <a:extLst>
              <a:ext uri="{96DAC541-7B7A-43D3-8B79-37D633B846F1}">
                <asvg:svgBlip xmlns:asvg="http://schemas.microsoft.com/office/drawing/2016/SVG/main" r:embed="rId4"/>
              </a:ext>
            </a:extLst>
          </a:blip>
          <a:stretch/>
        </p:blipFill>
        <p:spPr>
          <a:xfrm>
            <a:off x="6400800" y="2457450"/>
            <a:ext cx="228600" cy="228600"/>
          </a:xfrm>
          <a:prstGeom prst="rect">
            <a:avLst/>
          </a:prstGeom>
        </p:spPr>
      </p:pic>
      <p:sp>
        <p:nvSpPr>
          <p:cNvPr id="18" name="Rectangle 17">
            <a:extLst>
              <a:ext uri="{FF2B5EF4-FFF2-40B4-BE49-F238E27FC236}">
                <a16:creationId xmlns:a16="http://schemas.microsoft.com/office/drawing/2014/main" id="{6F6B51B0-1564-41C5-9BE9-20C7BA6299F0}"/>
              </a:ext>
            </a:extLst>
          </p:cNvPr>
          <p:cNvSpPr>
            <a:spLocks noGrp="1"/>
          </p:cNvSpPr>
          <p:nvPr/>
        </p:nvSpPr>
        <p:spPr>
          <a:xfrm>
            <a:off x="6838950" y="2362200"/>
            <a:ext cx="40005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650" b="1">
                <a:solidFill>
                  <a:srgbClr val="1A3554"/>
                </a:solidFill>
                <a:latin typeface="Aptos Display"/>
                <a:ea typeface="Aptos Display"/>
                <a:cs typeface="Aptos Display"/>
              </a:defRPr>
            </a:pPr>
            <a:r>
              <a:rPr sz="1650" b="1">
                <a:solidFill>
                  <a:srgbClr val="1A3554"/>
                </a:solidFill>
                <a:latin typeface="Aptos Display"/>
                <a:ea typeface="Aptos Display"/>
                <a:cs typeface="Aptos Display"/>
              </a:rPr>
              <a:t>Flotte, cartes carburant et consommation</a:t>
            </a:r>
          </a:p>
        </p:txBody>
      </p:sp>
      <p:sp>
        <p:nvSpPr>
          <p:cNvPr id="19" name="Rectangle 18">
            <a:extLst>
              <a:ext uri="{FF2B5EF4-FFF2-40B4-BE49-F238E27FC236}">
                <a16:creationId xmlns:a16="http://schemas.microsoft.com/office/drawing/2014/main" id="{F23D55EB-338F-4B7C-9FA7-77F2A8842321}"/>
              </a:ext>
            </a:extLst>
          </p:cNvPr>
          <p:cNvSpPr>
            <a:spLocks noGrp="1"/>
          </p:cNvSpPr>
          <p:nvPr/>
        </p:nvSpPr>
        <p:spPr>
          <a:xfrm>
            <a:off x="6305550" y="2857500"/>
            <a:ext cx="6667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1">
                <a:solidFill>
                  <a:srgbClr val="E76F1D"/>
                </a:solidFill>
                <a:latin typeface="Aptos"/>
                <a:ea typeface="Aptos"/>
                <a:cs typeface="Aptos"/>
              </a:defRPr>
            </a:pPr>
            <a:r>
              <a:rPr sz="750" b="1">
                <a:solidFill>
                  <a:srgbClr val="E76F1D"/>
                </a:solidFill>
                <a:latin typeface="Aptos"/>
                <a:ea typeface="Aptos"/>
                <a:cs typeface="Aptos"/>
              </a:rPr>
              <a:t>AVANT</a:t>
            </a:r>
          </a:p>
        </p:txBody>
      </p:sp>
      <p:sp>
        <p:nvSpPr>
          <p:cNvPr id="20" name="Rectangle 19">
            <a:extLst>
              <a:ext uri="{FF2B5EF4-FFF2-40B4-BE49-F238E27FC236}">
                <a16:creationId xmlns:a16="http://schemas.microsoft.com/office/drawing/2014/main" id="{36A8E45A-905B-4EC1-882A-F314EEB0F3E6}"/>
              </a:ext>
            </a:extLst>
          </p:cNvPr>
          <p:cNvSpPr>
            <a:spLocks noGrp="1"/>
          </p:cNvSpPr>
          <p:nvPr/>
        </p:nvSpPr>
        <p:spPr>
          <a:xfrm>
            <a:off x="6305550" y="3086100"/>
            <a:ext cx="4743450" cy="704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38" b="0">
                <a:solidFill>
                  <a:srgbClr val="617086"/>
                </a:solidFill>
                <a:latin typeface="Aptos"/>
                <a:ea typeface="Aptos"/>
                <a:cs typeface="Aptos"/>
              </a:defRPr>
            </a:pPr>
            <a:r>
              <a:rPr sz="938" b="0">
                <a:solidFill>
                  <a:srgbClr val="617086"/>
                </a:solidFill>
                <a:latin typeface="Aptos"/>
                <a:ea typeface="Aptos"/>
                <a:cs typeface="Aptos"/>
              </a:rPr>
              <a:t>• reporting flotte et carburant peu harmonisé</a:t>
            </a:r>
          </a:p>
          <a:p>
            <a:pPr algn="l">
              <a:defRPr sz="938" b="0">
                <a:solidFill>
                  <a:srgbClr val="617086"/>
                </a:solidFill>
                <a:latin typeface="Aptos"/>
                <a:ea typeface="Aptos"/>
                <a:cs typeface="Aptos"/>
              </a:defRPr>
            </a:pPr>
            <a:r>
              <a:rPr sz="938" b="0">
                <a:solidFill>
                  <a:srgbClr val="617086"/>
                </a:solidFill>
                <a:latin typeface="Aptos"/>
                <a:ea typeface="Aptos"/>
                <a:cs typeface="Aptos"/>
              </a:rPr>
              <a:t>• écarts détectés tardivement</a:t>
            </a:r>
          </a:p>
          <a:p>
            <a:pPr algn="l">
              <a:defRPr sz="938" b="0">
                <a:solidFill>
                  <a:srgbClr val="617086"/>
                </a:solidFill>
                <a:latin typeface="Aptos"/>
                <a:ea typeface="Aptos"/>
                <a:cs typeface="Aptos"/>
              </a:defRPr>
            </a:pPr>
            <a:r>
              <a:rPr sz="938" b="0">
                <a:solidFill>
                  <a:srgbClr val="617086"/>
                </a:solidFill>
                <a:latin typeface="Aptos"/>
                <a:ea typeface="Aptos"/>
                <a:cs typeface="Aptos"/>
              </a:rPr>
              <a:t>• lecture difficile des coûts par site, véhicule ou période</a:t>
            </a:r>
          </a:p>
        </p:txBody>
      </p:sp>
      <p:sp>
        <p:nvSpPr>
          <p:cNvPr id="21" name="Rectangle 20">
            <a:extLst>
              <a:ext uri="{FF2B5EF4-FFF2-40B4-BE49-F238E27FC236}">
                <a16:creationId xmlns:a16="http://schemas.microsoft.com/office/drawing/2014/main" id="{B0674CD8-DC95-45FE-BB5E-993D941F1233}"/>
              </a:ext>
            </a:extLst>
          </p:cNvPr>
          <p:cNvSpPr>
            <a:spLocks noGrp="1"/>
          </p:cNvSpPr>
          <p:nvPr/>
        </p:nvSpPr>
        <p:spPr>
          <a:xfrm>
            <a:off x="6305550" y="3981450"/>
            <a:ext cx="6667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1">
                <a:solidFill>
                  <a:srgbClr val="1C8A78"/>
                </a:solidFill>
                <a:latin typeface="Aptos"/>
                <a:ea typeface="Aptos"/>
                <a:cs typeface="Aptos"/>
              </a:defRPr>
            </a:pPr>
            <a:r>
              <a:rPr sz="750" b="1">
                <a:solidFill>
                  <a:srgbClr val="1C8A78"/>
                </a:solidFill>
                <a:latin typeface="Aptos"/>
                <a:ea typeface="Aptos"/>
                <a:cs typeface="Aptos"/>
              </a:rPr>
              <a:t>APRÈS</a:t>
            </a:r>
          </a:p>
        </p:txBody>
      </p:sp>
      <p:sp>
        <p:nvSpPr>
          <p:cNvPr id="22" name="Rectangle 21">
            <a:extLst>
              <a:ext uri="{FF2B5EF4-FFF2-40B4-BE49-F238E27FC236}">
                <a16:creationId xmlns:a16="http://schemas.microsoft.com/office/drawing/2014/main" id="{3A65E285-9331-49A5-B93B-A21C891A7E29}"/>
              </a:ext>
            </a:extLst>
          </p:cNvPr>
          <p:cNvSpPr>
            <a:spLocks noGrp="1"/>
          </p:cNvSpPr>
          <p:nvPr/>
        </p:nvSpPr>
        <p:spPr>
          <a:xfrm>
            <a:off x="6305550" y="4210050"/>
            <a:ext cx="4743450" cy="704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38" b="0">
                <a:solidFill>
                  <a:srgbClr val="1A3554"/>
                </a:solidFill>
                <a:latin typeface="Aptos"/>
                <a:ea typeface="Aptos"/>
                <a:cs typeface="Aptos"/>
              </a:defRPr>
            </a:pPr>
            <a:r>
              <a:rPr sz="938" b="0">
                <a:solidFill>
                  <a:srgbClr val="1A3554"/>
                </a:solidFill>
                <a:latin typeface="Aptos"/>
                <a:ea typeface="Aptos"/>
                <a:cs typeface="Aptos"/>
              </a:rPr>
              <a:t>• tableau de bord consolidé</a:t>
            </a:r>
          </a:p>
          <a:p>
            <a:pPr algn="l">
              <a:defRPr sz="938" b="0">
                <a:solidFill>
                  <a:srgbClr val="1A3554"/>
                </a:solidFill>
                <a:latin typeface="Aptos"/>
                <a:ea typeface="Aptos"/>
                <a:cs typeface="Aptos"/>
              </a:defRPr>
            </a:pPr>
            <a:r>
              <a:rPr sz="938" b="0">
                <a:solidFill>
                  <a:srgbClr val="1A3554"/>
                </a:solidFill>
                <a:latin typeface="Aptos"/>
                <a:ea typeface="Aptos"/>
                <a:cs typeface="Aptos"/>
              </a:rPr>
              <a:t>• alertes sur anomalies de consommation</a:t>
            </a:r>
          </a:p>
          <a:p>
            <a:pPr algn="l">
              <a:defRPr sz="938" b="0">
                <a:solidFill>
                  <a:srgbClr val="1A3554"/>
                </a:solidFill>
                <a:latin typeface="Aptos"/>
                <a:ea typeface="Aptos"/>
                <a:cs typeface="Aptos"/>
              </a:defRPr>
            </a:pPr>
            <a:r>
              <a:rPr sz="938" b="0">
                <a:solidFill>
                  <a:srgbClr val="1A3554"/>
                </a:solidFill>
                <a:latin typeface="Aptos"/>
                <a:ea typeface="Aptos"/>
                <a:cs typeface="Aptos"/>
              </a:rPr>
              <a:t>• comparatifs plus simples pour arbitrer et commenter les écarts</a:t>
            </a:r>
          </a:p>
        </p:txBody>
      </p:sp>
      <p:sp>
        <p:nvSpPr>
          <p:cNvPr id="23" name="Rectangle 22">
            <a:extLst>
              <a:ext uri="{FF2B5EF4-FFF2-40B4-BE49-F238E27FC236}">
                <a16:creationId xmlns:a16="http://schemas.microsoft.com/office/drawing/2014/main" id="{D791F599-2709-4309-A327-20DFCD290005}"/>
              </a:ext>
            </a:extLst>
          </p:cNvPr>
          <p:cNvSpPr>
            <a:spLocks noGrp="1"/>
          </p:cNvSpPr>
          <p:nvPr/>
        </p:nvSpPr>
        <p:spPr>
          <a:xfrm>
            <a:off x="6305550" y="4972050"/>
            <a:ext cx="4743450" cy="381000"/>
          </a:xfrm>
          <a:prstGeom prst="rect">
            <a:avLst/>
          </a:prstGeom>
          <a:solidFill>
            <a:srgbClr val="FBF5EE"/>
          </a:solidFill>
          <a:ln w="9525">
            <a:solidFill>
              <a:srgbClr val="D7CEC3"/>
            </a:solidFill>
            <a:prstDash val="solid"/>
          </a:ln>
        </p:spPr>
      </p:sp>
      <p:sp>
        <p:nvSpPr>
          <p:cNvPr id="24" name="Rectangle 23">
            <a:extLst>
              <a:ext uri="{FF2B5EF4-FFF2-40B4-BE49-F238E27FC236}">
                <a16:creationId xmlns:a16="http://schemas.microsoft.com/office/drawing/2014/main" id="{37B89DA3-C2EB-4E49-9956-60EF95CB939F}"/>
              </a:ext>
            </a:extLst>
          </p:cNvPr>
          <p:cNvSpPr>
            <a:spLocks noGrp="1"/>
          </p:cNvSpPr>
          <p:nvPr/>
        </p:nvSpPr>
        <p:spPr>
          <a:xfrm>
            <a:off x="6457950" y="5086350"/>
            <a:ext cx="44386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63" b="1">
                <a:solidFill>
                  <a:srgbClr val="1A3554"/>
                </a:solidFill>
                <a:latin typeface="Aptos"/>
                <a:ea typeface="Aptos"/>
                <a:cs typeface="Aptos"/>
              </a:defRPr>
            </a:pPr>
            <a:r>
              <a:rPr sz="863" b="1">
                <a:solidFill>
                  <a:srgbClr val="1A3554"/>
                </a:solidFill>
                <a:latin typeface="Aptos"/>
                <a:ea typeface="Aptos"/>
                <a:cs typeface="Aptos"/>
              </a:rPr>
              <a:t>KPI : temps de production du reporting | anomalies détectées | variation du coût carburant</a:t>
            </a:r>
          </a:p>
        </p:txBody>
      </p:sp>
      <p:sp>
        <p:nvSpPr>
          <p:cNvPr id="26" name="Rectangle 25">
            <a:extLst>
              <a:ext uri="{FF2B5EF4-FFF2-40B4-BE49-F238E27FC236}">
                <a16:creationId xmlns:a16="http://schemas.microsoft.com/office/drawing/2014/main" id="{4159AA87-2FE9-4213-B710-7C3CD95007FB}"/>
              </a:ext>
            </a:extLst>
          </p:cNvPr>
          <p:cNvSpPr>
            <a:spLocks noGrp="1"/>
          </p:cNvSpPr>
          <p:nvPr/>
        </p:nvSpPr>
        <p:spPr>
          <a:xfrm>
            <a:off x="914400" y="5772150"/>
            <a:ext cx="103632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38" b="0">
                <a:solidFill>
                  <a:srgbClr val="FFFFFF"/>
                </a:solidFill>
                <a:latin typeface="Aptos"/>
                <a:ea typeface="Aptos"/>
                <a:cs typeface="Aptos"/>
              </a:defRPr>
            </a:pPr>
            <a:endParaRPr sz="938" b="0" dirty="0">
              <a:solidFill>
                <a:srgbClr val="FFFFFF"/>
              </a:solidFill>
              <a:latin typeface="Aptos"/>
              <a:ea typeface="Aptos"/>
              <a:cs typeface="Aptos"/>
            </a:endParaRPr>
          </a:p>
        </p:txBody>
      </p:sp>
      <p:sp>
        <p:nvSpPr>
          <p:cNvPr id="27" name="Rectangle 26">
            <a:extLst>
              <a:ext uri="{FF2B5EF4-FFF2-40B4-BE49-F238E27FC236}">
                <a16:creationId xmlns:a16="http://schemas.microsoft.com/office/drawing/2014/main" id="{E8F1A3EB-5058-48A8-8D4D-1AEF14A80AC3}"/>
              </a:ext>
            </a:extLst>
          </p:cNvPr>
          <p:cNvSpPr>
            <a:spLocks noGrp="1"/>
          </p:cNvSpPr>
          <p:nvPr/>
        </p:nvSpPr>
        <p:spPr>
          <a:xfrm>
            <a:off x="647700" y="6496050"/>
            <a:ext cx="10896600" cy="9525"/>
          </a:xfrm>
          <a:prstGeom prst="rect">
            <a:avLst/>
          </a:prstGeom>
          <a:solidFill>
            <a:srgbClr val="D7CEC3"/>
          </a:solidFill>
          <a:ln w="0">
            <a:solidFill>
              <a:srgbClr val="000000">
                <a:alpha val="0"/>
              </a:srgbClr>
            </a:solidFill>
            <a:prstDash val="solid"/>
          </a:ln>
        </p:spPr>
      </p:sp>
      <p:sp>
        <p:nvSpPr>
          <p:cNvPr id="28" name="Rectangle 27">
            <a:extLst>
              <a:ext uri="{FF2B5EF4-FFF2-40B4-BE49-F238E27FC236}">
                <a16:creationId xmlns:a16="http://schemas.microsoft.com/office/drawing/2014/main" id="{257FFC01-9504-4A42-9F41-AE9DE43FEE22}"/>
              </a:ext>
            </a:extLst>
          </p:cNvPr>
          <p:cNvSpPr>
            <a:spLocks noGrp="1"/>
          </p:cNvSpPr>
          <p:nvPr/>
        </p:nvSpPr>
        <p:spPr>
          <a:xfrm>
            <a:off x="685800" y="6572250"/>
            <a:ext cx="857250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38" b="0">
                <a:solidFill>
                  <a:srgbClr val="617086"/>
                </a:solidFill>
                <a:latin typeface="Aptos"/>
                <a:ea typeface="Aptos"/>
                <a:cs typeface="Aptos"/>
              </a:defRPr>
            </a:pPr>
            <a:r>
              <a:rPr sz="638" b="0" dirty="0" err="1">
                <a:solidFill>
                  <a:srgbClr val="617086"/>
                </a:solidFill>
                <a:latin typeface="Aptos"/>
                <a:ea typeface="Aptos"/>
                <a:cs typeface="Aptos"/>
              </a:rPr>
              <a:t>TransferAI</a:t>
            </a:r>
            <a:r>
              <a:rPr sz="638" b="0" dirty="0">
                <a:solidFill>
                  <a:srgbClr val="617086"/>
                </a:solidFill>
                <a:latin typeface="Aptos"/>
                <a:ea typeface="Aptos"/>
                <a:cs typeface="Aptos"/>
              </a:rPr>
              <a:t> | Hub </a:t>
            </a:r>
            <a:r>
              <a:rPr lang="en-GB" sz="638" b="0" dirty="0">
                <a:solidFill>
                  <a:srgbClr val="617086"/>
                </a:solidFill>
                <a:latin typeface="Aptos"/>
                <a:ea typeface="Aptos"/>
                <a:cs typeface="Aptos"/>
              </a:rPr>
              <a:t>IA</a:t>
            </a:r>
            <a:r>
              <a:rPr sz="638" b="0" dirty="0">
                <a:solidFill>
                  <a:srgbClr val="617086"/>
                </a:solidFill>
                <a:latin typeface="Aptos"/>
                <a:ea typeface="Aptos"/>
                <a:cs typeface="Aptos"/>
              </a:rPr>
              <a:t> de </a:t>
            </a:r>
            <a:r>
              <a:rPr sz="638" b="0" dirty="0" err="1">
                <a:solidFill>
                  <a:srgbClr val="617086"/>
                </a:solidFill>
                <a:latin typeface="Aptos"/>
                <a:ea typeface="Aptos"/>
                <a:cs typeface="Aptos"/>
              </a:rPr>
              <a:t>Nettelecom</a:t>
            </a:r>
            <a:r>
              <a:rPr sz="638" b="0" dirty="0">
                <a:solidFill>
                  <a:srgbClr val="617086"/>
                </a:solidFill>
                <a:latin typeface="Aptos"/>
                <a:ea typeface="Aptos"/>
                <a:cs typeface="Aptos"/>
              </a:rPr>
              <a:t> CI | Proposition </a:t>
            </a:r>
            <a:r>
              <a:rPr sz="638" b="0" dirty="0" err="1">
                <a:solidFill>
                  <a:srgbClr val="617086"/>
                </a:solidFill>
                <a:latin typeface="Aptos"/>
                <a:ea typeface="Aptos"/>
                <a:cs typeface="Aptos"/>
              </a:rPr>
              <a:t>ciblée</a:t>
            </a:r>
            <a:r>
              <a:rPr sz="638" b="0" dirty="0">
                <a:solidFill>
                  <a:srgbClr val="617086"/>
                </a:solidFill>
                <a:latin typeface="Aptos"/>
                <a:ea typeface="Aptos"/>
                <a:cs typeface="Aptos"/>
              </a:rPr>
              <a:t> ELTON CI</a:t>
            </a:r>
          </a:p>
        </p:txBody>
      </p:sp>
      <p:sp>
        <p:nvSpPr>
          <p:cNvPr id="29" name="Rectangle 28">
            <a:extLst>
              <a:ext uri="{FF2B5EF4-FFF2-40B4-BE49-F238E27FC236}">
                <a16:creationId xmlns:a16="http://schemas.microsoft.com/office/drawing/2014/main" id="{C52F2ABD-EB0C-4862-BBCA-C09BC7B15001}"/>
              </a:ext>
            </a:extLst>
          </p:cNvPr>
          <p:cNvSpPr>
            <a:spLocks noGrp="1"/>
          </p:cNvSpPr>
          <p:nvPr/>
        </p:nvSpPr>
        <p:spPr>
          <a:xfrm>
            <a:off x="11049000" y="6553200"/>
            <a:ext cx="3429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750" b="1">
                <a:solidFill>
                  <a:srgbClr val="1A3554"/>
                </a:solidFill>
                <a:latin typeface="Aptos"/>
                <a:ea typeface="Aptos"/>
                <a:cs typeface="Aptos"/>
              </a:defRPr>
            </a:pPr>
            <a:r>
              <a:rPr sz="750" b="1">
                <a:solidFill>
                  <a:srgbClr val="1A3554"/>
                </a:solidFill>
                <a:latin typeface="Aptos"/>
                <a:ea typeface="Aptos"/>
                <a:cs typeface="Aptos"/>
              </a:rPr>
              <a:t>06</a:t>
            </a:r>
          </a:p>
        </p:txBody>
      </p:sp>
    </p:spTree>
    <p:extLst>
      <p:ext uri="{BB962C8B-B14F-4D97-AF65-F5344CB8AC3E}">
        <p14:creationId xmlns:p14="http://schemas.microsoft.com/office/powerpoint/2010/main" val="8250637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E3D73599-4A7C-4A82-8CC9-3226F4E32A19}"/>
              </a:ext>
            </a:extLst>
          </p:cNvPr>
          <p:cNvSpPr>
            <a:spLocks noGrp="1"/>
          </p:cNvSpPr>
          <p:nvPr/>
        </p:nvSpPr>
        <p:spPr>
          <a:xfrm>
            <a:off x="0" y="0"/>
            <a:ext cx="12192000" cy="6858000"/>
          </a:xfrm>
          <a:prstGeom prst="rect">
            <a:avLst/>
          </a:prstGeom>
          <a:solidFill>
            <a:srgbClr val="F5EFE7"/>
          </a:solidFill>
          <a:ln w="0">
            <a:solidFill>
              <a:srgbClr val="000000">
                <a:alpha val="0"/>
              </a:srgbClr>
            </a:solidFill>
            <a:prstDash val="solid"/>
          </a:ln>
        </p:spPr>
      </p:sp>
      <p:sp>
        <p:nvSpPr>
          <p:cNvPr id="2" name="Rectangle 1">
            <a:extLst>
              <a:ext uri="{FF2B5EF4-FFF2-40B4-BE49-F238E27FC236}">
                <a16:creationId xmlns:a16="http://schemas.microsoft.com/office/drawing/2014/main" id="{1C06B10F-425B-4028-BCCF-ECE6DCEE907C}"/>
              </a:ext>
            </a:extLst>
          </p:cNvPr>
          <p:cNvSpPr>
            <a:spLocks noGrp="1"/>
          </p:cNvSpPr>
          <p:nvPr/>
        </p:nvSpPr>
        <p:spPr>
          <a:xfrm>
            <a:off x="685800" y="495300"/>
            <a:ext cx="24765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88" b="1">
                <a:solidFill>
                  <a:srgbClr val="E76F1D"/>
                </a:solidFill>
                <a:latin typeface="Aptos"/>
                <a:ea typeface="Aptos"/>
                <a:cs typeface="Aptos"/>
              </a:defRPr>
            </a:pPr>
            <a:r>
              <a:rPr sz="788" b="1">
                <a:solidFill>
                  <a:srgbClr val="E76F1D"/>
                </a:solidFill>
                <a:latin typeface="Aptos"/>
                <a:ea typeface="Aptos"/>
                <a:cs typeface="Aptos"/>
              </a:rPr>
              <a:t>DÉTAIL DES CAS D'USAGE</a:t>
            </a:r>
          </a:p>
        </p:txBody>
      </p:sp>
      <p:sp>
        <p:nvSpPr>
          <p:cNvPr id="3" name="Rectangle 2">
            <a:extLst>
              <a:ext uri="{FF2B5EF4-FFF2-40B4-BE49-F238E27FC236}">
                <a16:creationId xmlns:a16="http://schemas.microsoft.com/office/drawing/2014/main" id="{0E5E86F8-6A8D-48B2-ACFA-A437804EA030}"/>
              </a:ext>
            </a:extLst>
          </p:cNvPr>
          <p:cNvSpPr>
            <a:spLocks noGrp="1"/>
          </p:cNvSpPr>
          <p:nvPr/>
        </p:nvSpPr>
        <p:spPr>
          <a:xfrm>
            <a:off x="685800" y="819150"/>
            <a:ext cx="10172700" cy="8001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550" b="1">
                <a:solidFill>
                  <a:srgbClr val="1A3554"/>
                </a:solidFill>
                <a:latin typeface="Aptos Display"/>
                <a:ea typeface="Aptos Display"/>
                <a:cs typeface="Aptos Display"/>
              </a:defRPr>
            </a:pPr>
            <a:r>
              <a:rPr sz="2550" b="1" dirty="0">
                <a:solidFill>
                  <a:srgbClr val="1A3554"/>
                </a:solidFill>
                <a:latin typeface="Aptos Display"/>
                <a:ea typeface="Aptos Display"/>
                <a:cs typeface="Aptos Display"/>
              </a:rPr>
              <a:t>Les </a:t>
            </a:r>
            <a:r>
              <a:rPr sz="2550" b="1" dirty="0" err="1">
                <a:solidFill>
                  <a:srgbClr val="1A3554"/>
                </a:solidFill>
                <a:latin typeface="Aptos Display"/>
                <a:ea typeface="Aptos Display"/>
                <a:cs typeface="Aptos Display"/>
              </a:rPr>
              <a:t>cas</a:t>
            </a:r>
            <a:r>
              <a:rPr sz="2550" b="1" dirty="0">
                <a:solidFill>
                  <a:srgbClr val="1A3554"/>
                </a:solidFill>
                <a:latin typeface="Aptos Display"/>
                <a:ea typeface="Aptos Display"/>
                <a:cs typeface="Aptos Display"/>
              </a:rPr>
              <a:t> </a:t>
            </a:r>
            <a:r>
              <a:rPr sz="2550" b="1" dirty="0" err="1">
                <a:solidFill>
                  <a:srgbClr val="1A3554"/>
                </a:solidFill>
                <a:latin typeface="Aptos Display"/>
                <a:ea typeface="Aptos Display"/>
                <a:cs typeface="Aptos Display"/>
              </a:rPr>
              <a:t>d'usage</a:t>
            </a:r>
            <a:r>
              <a:rPr sz="2550" b="1" dirty="0">
                <a:solidFill>
                  <a:srgbClr val="1A3554"/>
                </a:solidFill>
                <a:latin typeface="Aptos Display"/>
                <a:ea typeface="Aptos Display"/>
                <a:cs typeface="Aptos Display"/>
              </a:rPr>
              <a:t> qui </a:t>
            </a:r>
            <a:r>
              <a:rPr sz="2550" b="1" dirty="0" err="1">
                <a:solidFill>
                  <a:srgbClr val="1A3554"/>
                </a:solidFill>
                <a:latin typeface="Aptos Display"/>
                <a:ea typeface="Aptos Display"/>
                <a:cs typeface="Aptos Display"/>
              </a:rPr>
              <a:t>renforcent</a:t>
            </a:r>
            <a:r>
              <a:rPr sz="2550" b="1" dirty="0">
                <a:solidFill>
                  <a:srgbClr val="1A3554"/>
                </a:solidFill>
                <a:latin typeface="Aptos Display"/>
                <a:ea typeface="Aptos Display"/>
                <a:cs typeface="Aptos Display"/>
              </a:rPr>
              <a:t> la </a:t>
            </a:r>
            <a:r>
              <a:rPr sz="2550" b="1" dirty="0" err="1">
                <a:solidFill>
                  <a:srgbClr val="1A3554"/>
                </a:solidFill>
                <a:latin typeface="Aptos Display"/>
                <a:ea typeface="Aptos Display"/>
                <a:cs typeface="Aptos Display"/>
              </a:rPr>
              <a:t>qualité</a:t>
            </a:r>
            <a:r>
              <a:rPr sz="2550" b="1" dirty="0">
                <a:solidFill>
                  <a:srgbClr val="1A3554"/>
                </a:solidFill>
                <a:latin typeface="Aptos Display"/>
                <a:ea typeface="Aptos Display"/>
                <a:cs typeface="Aptos Display"/>
              </a:rPr>
              <a:t> de service et la </a:t>
            </a:r>
            <a:r>
              <a:rPr sz="2550" b="1" dirty="0" err="1">
                <a:solidFill>
                  <a:srgbClr val="1A3554"/>
                </a:solidFill>
                <a:latin typeface="Aptos Display"/>
                <a:ea typeface="Aptos Display"/>
                <a:cs typeface="Aptos Display"/>
              </a:rPr>
              <a:t>standardisation</a:t>
            </a:r>
            <a:endParaRPr sz="2550" b="1" dirty="0">
              <a:solidFill>
                <a:srgbClr val="1A3554"/>
              </a:solidFill>
              <a:latin typeface="Aptos Display"/>
              <a:ea typeface="Aptos Display"/>
              <a:cs typeface="Aptos Display"/>
            </a:endParaRPr>
          </a:p>
        </p:txBody>
      </p:sp>
      <p:sp>
        <p:nvSpPr>
          <p:cNvPr id="4" name="Rectangle 3">
            <a:extLst>
              <a:ext uri="{FF2B5EF4-FFF2-40B4-BE49-F238E27FC236}">
                <a16:creationId xmlns:a16="http://schemas.microsoft.com/office/drawing/2014/main" id="{8AFCEF8E-A4C4-4DA8-AD5D-6298D7500792}"/>
              </a:ext>
            </a:extLst>
          </p:cNvPr>
          <p:cNvSpPr>
            <a:spLocks noGrp="1"/>
          </p:cNvSpPr>
          <p:nvPr/>
        </p:nvSpPr>
        <p:spPr>
          <a:xfrm>
            <a:off x="685800" y="1676400"/>
            <a:ext cx="91440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0">
                <a:solidFill>
                  <a:srgbClr val="617086"/>
                </a:solidFill>
                <a:latin typeface="Aptos"/>
                <a:ea typeface="Aptos"/>
                <a:cs typeface="Aptos"/>
              </a:defRPr>
            </a:pPr>
            <a:r>
              <a:rPr sz="1050" b="0">
                <a:solidFill>
                  <a:srgbClr val="617086"/>
                </a:solidFill>
                <a:latin typeface="Aptos"/>
                <a:ea typeface="Aptos"/>
                <a:cs typeface="Aptos"/>
              </a:rPr>
              <a:t>Ces deux usages rendent aussi la formation plus crédible : on apprend sur des situations réelles, pas sur des exemples génériques.</a:t>
            </a:r>
          </a:p>
        </p:txBody>
      </p:sp>
      <p:sp>
        <p:nvSpPr>
          <p:cNvPr id="5" name="Rectangle 4">
            <a:extLst>
              <a:ext uri="{FF2B5EF4-FFF2-40B4-BE49-F238E27FC236}">
                <a16:creationId xmlns:a16="http://schemas.microsoft.com/office/drawing/2014/main" id="{9A852347-464D-4B90-B9F3-90A3EA42658D}"/>
              </a:ext>
            </a:extLst>
          </p:cNvPr>
          <p:cNvSpPr>
            <a:spLocks noGrp="1"/>
          </p:cNvSpPr>
          <p:nvPr/>
        </p:nvSpPr>
        <p:spPr>
          <a:xfrm>
            <a:off x="685800" y="2171700"/>
            <a:ext cx="5143500" cy="2933700"/>
          </a:xfrm>
          <a:prstGeom prst="rect">
            <a:avLst/>
          </a:prstGeom>
          <a:solidFill>
            <a:srgbClr val="FFFDFC"/>
          </a:solidFill>
          <a:ln w="9525">
            <a:solidFill>
              <a:srgbClr val="D7CEC3"/>
            </a:solidFill>
            <a:prstDash val="solid"/>
          </a:ln>
        </p:spPr>
      </p:sp>
      <p:sp>
        <p:nvSpPr>
          <p:cNvPr id="6" name="Oval 5">
            <a:extLst>
              <a:ext uri="{FF2B5EF4-FFF2-40B4-BE49-F238E27FC236}">
                <a16:creationId xmlns:a16="http://schemas.microsoft.com/office/drawing/2014/main" id="{F590D522-F7F3-4E55-8481-3A64E98F9C58}"/>
              </a:ext>
            </a:extLst>
          </p:cNvPr>
          <p:cNvSpPr>
            <a:spLocks noGrp="1"/>
          </p:cNvSpPr>
          <p:nvPr/>
        </p:nvSpPr>
        <p:spPr>
          <a:xfrm>
            <a:off x="895350" y="2362200"/>
            <a:ext cx="419100" cy="419100"/>
          </a:xfrm>
          <a:prstGeom prst="ellipse">
            <a:avLst/>
          </a:prstGeom>
          <a:solidFill>
            <a:srgbClr val="163556"/>
          </a:solidFill>
          <a:ln w="0">
            <a:solidFill>
              <a:srgbClr val="163556"/>
            </a:solidFill>
            <a:prstDash val="solid"/>
          </a:ln>
        </p:spPr>
      </p:sp>
      <p:pic>
        <p:nvPicPr>
          <p:cNvPr id="7" name="Graphic 6"/>
          <p:cNvPicPr>
            <a:picLocks noChangeAspect="1"/>
          </p:cNvPicPr>
          <p:nvPr/>
        </p:nvPicPr>
        <p:blipFill>
          <a:blip>
            <a:extLst>
              <a:ext uri="{96DAC541-7B7A-43D3-8B79-37D633B846F1}">
                <asvg:svgBlip xmlns:asvg="http://schemas.microsoft.com/office/drawing/2016/SVG/main" r:embed="rId3"/>
              </a:ext>
            </a:extLst>
          </a:blip>
          <a:stretch/>
        </p:blipFill>
        <p:spPr>
          <a:xfrm>
            <a:off x="990600" y="2457450"/>
            <a:ext cx="228600" cy="228600"/>
          </a:xfrm>
          <a:prstGeom prst="rect">
            <a:avLst/>
          </a:prstGeom>
        </p:spPr>
      </p:pic>
      <p:sp>
        <p:nvSpPr>
          <p:cNvPr id="8" name="Rectangle 7">
            <a:extLst>
              <a:ext uri="{FF2B5EF4-FFF2-40B4-BE49-F238E27FC236}">
                <a16:creationId xmlns:a16="http://schemas.microsoft.com/office/drawing/2014/main" id="{E471C562-5054-42FA-BF78-1DCB8B028B11}"/>
              </a:ext>
            </a:extLst>
          </p:cNvPr>
          <p:cNvSpPr>
            <a:spLocks noGrp="1"/>
          </p:cNvSpPr>
          <p:nvPr/>
        </p:nvSpPr>
        <p:spPr>
          <a:xfrm>
            <a:off x="1428750" y="2362200"/>
            <a:ext cx="371475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650" b="1">
                <a:solidFill>
                  <a:srgbClr val="1A3554"/>
                </a:solidFill>
                <a:latin typeface="Aptos Display"/>
                <a:ea typeface="Aptos Display"/>
                <a:cs typeface="Aptos Display"/>
              </a:defRPr>
            </a:pPr>
            <a:r>
              <a:rPr sz="1650" b="1">
                <a:solidFill>
                  <a:srgbClr val="1A3554"/>
                </a:solidFill>
                <a:latin typeface="Aptos Display"/>
                <a:ea typeface="Aptos Display"/>
                <a:cs typeface="Aptos Display"/>
              </a:rPr>
              <a:t>Service client / service auto</a:t>
            </a:r>
          </a:p>
        </p:txBody>
      </p:sp>
      <p:sp>
        <p:nvSpPr>
          <p:cNvPr id="9" name="Rectangle 8">
            <a:extLst>
              <a:ext uri="{FF2B5EF4-FFF2-40B4-BE49-F238E27FC236}">
                <a16:creationId xmlns:a16="http://schemas.microsoft.com/office/drawing/2014/main" id="{4A5A5215-BD33-4AF3-8AE7-19203787FB52}"/>
              </a:ext>
            </a:extLst>
          </p:cNvPr>
          <p:cNvSpPr>
            <a:spLocks noGrp="1"/>
          </p:cNvSpPr>
          <p:nvPr/>
        </p:nvSpPr>
        <p:spPr>
          <a:xfrm>
            <a:off x="895350" y="2857500"/>
            <a:ext cx="114300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1">
                <a:solidFill>
                  <a:srgbClr val="E76F1D"/>
                </a:solidFill>
                <a:latin typeface="Aptos"/>
                <a:ea typeface="Aptos"/>
                <a:cs typeface="Aptos"/>
              </a:defRPr>
            </a:pPr>
            <a:r>
              <a:rPr sz="750" b="1">
                <a:solidFill>
                  <a:srgbClr val="E76F1D"/>
                </a:solidFill>
                <a:latin typeface="Aptos"/>
                <a:ea typeface="Aptos"/>
                <a:cs typeface="Aptos"/>
              </a:rPr>
              <a:t>Usages proposés</a:t>
            </a:r>
          </a:p>
        </p:txBody>
      </p:sp>
      <p:sp>
        <p:nvSpPr>
          <p:cNvPr id="10" name="Rectangle 9">
            <a:extLst>
              <a:ext uri="{FF2B5EF4-FFF2-40B4-BE49-F238E27FC236}">
                <a16:creationId xmlns:a16="http://schemas.microsoft.com/office/drawing/2014/main" id="{60FFA0D4-AB01-4AC0-B119-A813E58183D3}"/>
              </a:ext>
            </a:extLst>
          </p:cNvPr>
          <p:cNvSpPr>
            <a:spLocks noGrp="1"/>
          </p:cNvSpPr>
          <p:nvPr/>
        </p:nvSpPr>
        <p:spPr>
          <a:xfrm>
            <a:off x="895350" y="3086100"/>
            <a:ext cx="4343400" cy="8572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38" b="0">
                <a:solidFill>
                  <a:srgbClr val="1A3554"/>
                </a:solidFill>
                <a:latin typeface="Aptos"/>
                <a:ea typeface="Aptos"/>
                <a:cs typeface="Aptos"/>
              </a:defRPr>
            </a:pPr>
            <a:r>
              <a:rPr sz="938" b="0">
                <a:solidFill>
                  <a:srgbClr val="1A3554"/>
                </a:solidFill>
                <a:latin typeface="Aptos"/>
                <a:ea typeface="Aptos"/>
                <a:cs typeface="Aptos"/>
              </a:rPr>
              <a:t>• FAQ assistée pour les questions récurrentes</a:t>
            </a:r>
          </a:p>
          <a:p>
            <a:pPr algn="l">
              <a:defRPr sz="938" b="0">
                <a:solidFill>
                  <a:srgbClr val="1A3554"/>
                </a:solidFill>
                <a:latin typeface="Aptos"/>
                <a:ea typeface="Aptos"/>
                <a:cs typeface="Aptos"/>
              </a:defRPr>
            </a:pPr>
            <a:r>
              <a:rPr sz="938" b="0">
                <a:solidFill>
                  <a:srgbClr val="1A3554"/>
                </a:solidFill>
                <a:latin typeface="Aptos"/>
                <a:ea typeface="Aptos"/>
                <a:cs typeface="Aptos"/>
              </a:rPr>
              <a:t>• canevas de réponse ou de rappel</a:t>
            </a:r>
          </a:p>
          <a:p>
            <a:pPr algn="l">
              <a:defRPr sz="938" b="0">
                <a:solidFill>
                  <a:srgbClr val="1A3554"/>
                </a:solidFill>
                <a:latin typeface="Aptos"/>
                <a:ea typeface="Aptos"/>
                <a:cs typeface="Aptos"/>
              </a:defRPr>
            </a:pPr>
            <a:r>
              <a:rPr sz="938" b="0">
                <a:solidFill>
                  <a:srgbClr val="1A3554"/>
                </a:solidFill>
                <a:latin typeface="Aptos"/>
                <a:ea typeface="Aptos"/>
                <a:cs typeface="Aptos"/>
              </a:rPr>
              <a:t>• historique d'interactions mieux exploitable</a:t>
            </a:r>
          </a:p>
          <a:p>
            <a:pPr algn="l">
              <a:defRPr sz="938" b="0">
                <a:solidFill>
                  <a:srgbClr val="1A3554"/>
                </a:solidFill>
                <a:latin typeface="Aptos"/>
                <a:ea typeface="Aptos"/>
                <a:cs typeface="Aptos"/>
              </a:defRPr>
            </a:pPr>
            <a:r>
              <a:rPr sz="938" b="0">
                <a:solidFill>
                  <a:srgbClr val="1A3554"/>
                </a:solidFill>
                <a:latin typeface="Aptos"/>
                <a:ea typeface="Aptos"/>
                <a:cs typeface="Aptos"/>
              </a:rPr>
              <a:t>• synthèses rapides avant rappel ou traitement</a:t>
            </a:r>
          </a:p>
        </p:txBody>
      </p:sp>
      <p:sp>
        <p:nvSpPr>
          <p:cNvPr id="11" name="Rectangle 10">
            <a:extLst>
              <a:ext uri="{FF2B5EF4-FFF2-40B4-BE49-F238E27FC236}">
                <a16:creationId xmlns:a16="http://schemas.microsoft.com/office/drawing/2014/main" id="{6FF44EBA-D036-4AB4-89E1-C2AA2077A18D}"/>
              </a:ext>
            </a:extLst>
          </p:cNvPr>
          <p:cNvSpPr>
            <a:spLocks noGrp="1"/>
          </p:cNvSpPr>
          <p:nvPr/>
        </p:nvSpPr>
        <p:spPr>
          <a:xfrm>
            <a:off x="895350" y="4114800"/>
            <a:ext cx="4667250" cy="800100"/>
          </a:xfrm>
          <a:prstGeom prst="rect">
            <a:avLst/>
          </a:prstGeom>
          <a:solidFill>
            <a:srgbClr val="FBF5EE"/>
          </a:solidFill>
          <a:ln w="9525">
            <a:solidFill>
              <a:srgbClr val="D7CEC3"/>
            </a:solidFill>
            <a:prstDash val="solid"/>
          </a:ln>
        </p:spPr>
      </p:sp>
      <p:sp>
        <p:nvSpPr>
          <p:cNvPr id="12" name="Rectangle 11">
            <a:extLst>
              <a:ext uri="{FF2B5EF4-FFF2-40B4-BE49-F238E27FC236}">
                <a16:creationId xmlns:a16="http://schemas.microsoft.com/office/drawing/2014/main" id="{E95E4489-EB22-4799-B19C-6F5A97BABBA7}"/>
              </a:ext>
            </a:extLst>
          </p:cNvPr>
          <p:cNvSpPr>
            <a:spLocks noGrp="1"/>
          </p:cNvSpPr>
          <p:nvPr/>
        </p:nvSpPr>
        <p:spPr>
          <a:xfrm>
            <a:off x="1066800" y="4362450"/>
            <a:ext cx="4286250"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63" b="1">
                <a:solidFill>
                  <a:srgbClr val="1A3554"/>
                </a:solidFill>
                <a:latin typeface="Aptos"/>
                <a:ea typeface="Aptos"/>
                <a:cs typeface="Aptos"/>
              </a:defRPr>
            </a:pPr>
            <a:r>
              <a:rPr sz="863" b="1">
                <a:solidFill>
                  <a:srgbClr val="1A3554"/>
                </a:solidFill>
                <a:latin typeface="Aptos"/>
                <a:ea typeface="Aptos"/>
                <a:cs typeface="Aptos"/>
              </a:rPr>
              <a:t>KPI : délai de réponse | qualité perçue | taux de réouverture / relance | standardisation des scripts</a:t>
            </a:r>
          </a:p>
        </p:txBody>
      </p:sp>
      <p:sp>
        <p:nvSpPr>
          <p:cNvPr id="13" name="Rectangle 12">
            <a:extLst>
              <a:ext uri="{FF2B5EF4-FFF2-40B4-BE49-F238E27FC236}">
                <a16:creationId xmlns:a16="http://schemas.microsoft.com/office/drawing/2014/main" id="{1C62B5FD-54A6-49B5-AF50-04B373BCC284}"/>
              </a:ext>
            </a:extLst>
          </p:cNvPr>
          <p:cNvSpPr>
            <a:spLocks noGrp="1"/>
          </p:cNvSpPr>
          <p:nvPr/>
        </p:nvSpPr>
        <p:spPr>
          <a:xfrm>
            <a:off x="6096000" y="2171700"/>
            <a:ext cx="5410200" cy="2933700"/>
          </a:xfrm>
          <a:prstGeom prst="rect">
            <a:avLst/>
          </a:prstGeom>
          <a:solidFill>
            <a:srgbClr val="FFFDFC"/>
          </a:solidFill>
          <a:ln w="9525">
            <a:solidFill>
              <a:srgbClr val="D7CEC3"/>
            </a:solidFill>
            <a:prstDash val="solid"/>
          </a:ln>
        </p:spPr>
      </p:sp>
      <p:sp>
        <p:nvSpPr>
          <p:cNvPr id="14" name="Oval 13">
            <a:extLst>
              <a:ext uri="{FF2B5EF4-FFF2-40B4-BE49-F238E27FC236}">
                <a16:creationId xmlns:a16="http://schemas.microsoft.com/office/drawing/2014/main" id="{2077DF9D-3182-4C2C-AB17-400EDA52045F}"/>
              </a:ext>
            </a:extLst>
          </p:cNvPr>
          <p:cNvSpPr>
            <a:spLocks noGrp="1"/>
          </p:cNvSpPr>
          <p:nvPr/>
        </p:nvSpPr>
        <p:spPr>
          <a:xfrm>
            <a:off x="6305550" y="2362200"/>
            <a:ext cx="419100" cy="419100"/>
          </a:xfrm>
          <a:prstGeom prst="ellipse">
            <a:avLst/>
          </a:prstGeom>
          <a:solidFill>
            <a:srgbClr val="C88C3A"/>
          </a:solidFill>
          <a:ln w="0">
            <a:solidFill>
              <a:srgbClr val="C88C3A"/>
            </a:solidFill>
            <a:prstDash val="solid"/>
          </a:ln>
        </p:spPr>
      </p:sp>
      <p:pic>
        <p:nvPicPr>
          <p:cNvPr id="15" name="Graphic 14"/>
          <p:cNvPicPr>
            <a:picLocks noChangeAspect="1"/>
          </p:cNvPicPr>
          <p:nvPr/>
        </p:nvPicPr>
        <p:blipFill>
          <a:blip>
            <a:extLst>
              <a:ext uri="{96DAC541-7B7A-43D3-8B79-37D633B846F1}">
                <asvg:svgBlip xmlns:asvg="http://schemas.microsoft.com/office/drawing/2016/SVG/main" r:embed="rId4"/>
              </a:ext>
            </a:extLst>
          </a:blip>
          <a:stretch/>
        </p:blipFill>
        <p:spPr>
          <a:xfrm>
            <a:off x="6400800" y="2457450"/>
            <a:ext cx="228600" cy="228600"/>
          </a:xfrm>
          <a:prstGeom prst="rect">
            <a:avLst/>
          </a:prstGeom>
        </p:spPr>
      </p:pic>
      <p:sp>
        <p:nvSpPr>
          <p:cNvPr id="16" name="Rectangle 15">
            <a:extLst>
              <a:ext uri="{FF2B5EF4-FFF2-40B4-BE49-F238E27FC236}">
                <a16:creationId xmlns:a16="http://schemas.microsoft.com/office/drawing/2014/main" id="{9EEB66ED-B9F1-4E18-B560-7810FF89147E}"/>
              </a:ext>
            </a:extLst>
          </p:cNvPr>
          <p:cNvSpPr>
            <a:spLocks noGrp="1"/>
          </p:cNvSpPr>
          <p:nvPr/>
        </p:nvSpPr>
        <p:spPr>
          <a:xfrm>
            <a:off x="6838950" y="2362200"/>
            <a:ext cx="41148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650" b="1">
                <a:solidFill>
                  <a:srgbClr val="1A3554"/>
                </a:solidFill>
                <a:latin typeface="Aptos Display"/>
                <a:ea typeface="Aptos Display"/>
                <a:cs typeface="Aptos Display"/>
              </a:defRPr>
            </a:pPr>
            <a:r>
              <a:rPr sz="1650" b="1">
                <a:solidFill>
                  <a:srgbClr val="1A3554"/>
                </a:solidFill>
                <a:latin typeface="Aptos Display"/>
                <a:ea typeface="Aptos Display"/>
                <a:cs typeface="Aptos Display"/>
              </a:rPr>
              <a:t>Procédures internes et base de connaissances</a:t>
            </a:r>
          </a:p>
        </p:txBody>
      </p:sp>
      <p:sp>
        <p:nvSpPr>
          <p:cNvPr id="17" name="Rectangle 16">
            <a:extLst>
              <a:ext uri="{FF2B5EF4-FFF2-40B4-BE49-F238E27FC236}">
                <a16:creationId xmlns:a16="http://schemas.microsoft.com/office/drawing/2014/main" id="{B9B6CDCD-B0A9-4AAF-A6A7-1A3A2D5724B4}"/>
              </a:ext>
            </a:extLst>
          </p:cNvPr>
          <p:cNvSpPr>
            <a:spLocks noGrp="1"/>
          </p:cNvSpPr>
          <p:nvPr/>
        </p:nvSpPr>
        <p:spPr>
          <a:xfrm>
            <a:off x="6305550" y="2857500"/>
            <a:ext cx="114300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1">
                <a:solidFill>
                  <a:srgbClr val="E76F1D"/>
                </a:solidFill>
                <a:latin typeface="Aptos"/>
                <a:ea typeface="Aptos"/>
                <a:cs typeface="Aptos"/>
              </a:defRPr>
            </a:pPr>
            <a:r>
              <a:rPr sz="750" b="1">
                <a:solidFill>
                  <a:srgbClr val="E76F1D"/>
                </a:solidFill>
                <a:latin typeface="Aptos"/>
                <a:ea typeface="Aptos"/>
                <a:cs typeface="Aptos"/>
              </a:rPr>
              <a:t>Usages proposés</a:t>
            </a:r>
          </a:p>
        </p:txBody>
      </p:sp>
      <p:sp>
        <p:nvSpPr>
          <p:cNvPr id="18" name="Rectangle 17">
            <a:extLst>
              <a:ext uri="{FF2B5EF4-FFF2-40B4-BE49-F238E27FC236}">
                <a16:creationId xmlns:a16="http://schemas.microsoft.com/office/drawing/2014/main" id="{16097472-0D3D-4122-A756-C875779B915C}"/>
              </a:ext>
            </a:extLst>
          </p:cNvPr>
          <p:cNvSpPr>
            <a:spLocks noGrp="1"/>
          </p:cNvSpPr>
          <p:nvPr/>
        </p:nvSpPr>
        <p:spPr>
          <a:xfrm>
            <a:off x="6305550" y="3086100"/>
            <a:ext cx="4667250" cy="8572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38" b="0">
                <a:solidFill>
                  <a:srgbClr val="1A3554"/>
                </a:solidFill>
                <a:latin typeface="Aptos"/>
                <a:ea typeface="Aptos"/>
                <a:cs typeface="Aptos"/>
              </a:defRPr>
            </a:pPr>
            <a:r>
              <a:rPr sz="938" b="0">
                <a:solidFill>
                  <a:srgbClr val="1A3554"/>
                </a:solidFill>
                <a:latin typeface="Aptos"/>
                <a:ea typeface="Aptos"/>
                <a:cs typeface="Aptos"/>
              </a:rPr>
              <a:t>• base de procédures consultable rapidement</a:t>
            </a:r>
          </a:p>
          <a:p>
            <a:pPr algn="l">
              <a:defRPr sz="938" b="0">
                <a:solidFill>
                  <a:srgbClr val="1A3554"/>
                </a:solidFill>
                <a:latin typeface="Aptos"/>
                <a:ea typeface="Aptos"/>
                <a:cs typeface="Aptos"/>
              </a:defRPr>
            </a:pPr>
            <a:r>
              <a:rPr sz="938" b="0">
                <a:solidFill>
                  <a:srgbClr val="1A3554"/>
                </a:solidFill>
                <a:latin typeface="Aptos"/>
                <a:ea typeface="Aptos"/>
                <a:cs typeface="Aptos"/>
              </a:rPr>
              <a:t>• réponses homogènes pour les équipes support et métier</a:t>
            </a:r>
          </a:p>
          <a:p>
            <a:pPr algn="l">
              <a:defRPr sz="938" b="0">
                <a:solidFill>
                  <a:srgbClr val="1A3554"/>
                </a:solidFill>
                <a:latin typeface="Aptos"/>
                <a:ea typeface="Aptos"/>
                <a:cs typeface="Aptos"/>
              </a:defRPr>
            </a:pPr>
            <a:r>
              <a:rPr sz="938" b="0">
                <a:solidFill>
                  <a:srgbClr val="1A3554"/>
                </a:solidFill>
                <a:latin typeface="Aptos"/>
                <a:ea typeface="Aptos"/>
                <a:cs typeface="Aptos"/>
              </a:rPr>
              <a:t>• onboarding accéléré sur les standards, scripts et points de contrôle</a:t>
            </a:r>
          </a:p>
          <a:p>
            <a:pPr algn="l">
              <a:defRPr sz="938" b="0">
                <a:solidFill>
                  <a:srgbClr val="1A3554"/>
                </a:solidFill>
                <a:latin typeface="Aptos"/>
                <a:ea typeface="Aptos"/>
                <a:cs typeface="Aptos"/>
              </a:defRPr>
            </a:pPr>
            <a:r>
              <a:rPr sz="938" b="0">
                <a:solidFill>
                  <a:srgbClr val="1A3554"/>
                </a:solidFill>
                <a:latin typeface="Aptos"/>
                <a:ea typeface="Aptos"/>
                <a:cs typeface="Aptos"/>
              </a:rPr>
              <a:t>• diffusion plus simple des mises à jour internes</a:t>
            </a:r>
          </a:p>
        </p:txBody>
      </p:sp>
      <p:sp>
        <p:nvSpPr>
          <p:cNvPr id="19" name="Rectangle 18">
            <a:extLst>
              <a:ext uri="{FF2B5EF4-FFF2-40B4-BE49-F238E27FC236}">
                <a16:creationId xmlns:a16="http://schemas.microsoft.com/office/drawing/2014/main" id="{E4E2552F-D399-4997-8D17-6E9AA26FCACE}"/>
              </a:ext>
            </a:extLst>
          </p:cNvPr>
          <p:cNvSpPr>
            <a:spLocks noGrp="1"/>
          </p:cNvSpPr>
          <p:nvPr/>
        </p:nvSpPr>
        <p:spPr>
          <a:xfrm>
            <a:off x="6305550" y="4114800"/>
            <a:ext cx="4743450" cy="800100"/>
          </a:xfrm>
          <a:prstGeom prst="rect">
            <a:avLst/>
          </a:prstGeom>
          <a:solidFill>
            <a:srgbClr val="FBF5EE"/>
          </a:solidFill>
          <a:ln w="9525">
            <a:solidFill>
              <a:srgbClr val="D7CEC3"/>
            </a:solidFill>
            <a:prstDash val="solid"/>
          </a:ln>
        </p:spPr>
      </p:sp>
      <p:sp>
        <p:nvSpPr>
          <p:cNvPr id="20" name="Rectangle 19">
            <a:extLst>
              <a:ext uri="{FF2B5EF4-FFF2-40B4-BE49-F238E27FC236}">
                <a16:creationId xmlns:a16="http://schemas.microsoft.com/office/drawing/2014/main" id="{3BA1344C-6B37-4037-9610-82E510B1B0BF}"/>
              </a:ext>
            </a:extLst>
          </p:cNvPr>
          <p:cNvSpPr>
            <a:spLocks noGrp="1"/>
          </p:cNvSpPr>
          <p:nvPr/>
        </p:nvSpPr>
        <p:spPr>
          <a:xfrm>
            <a:off x="6477000" y="4362450"/>
            <a:ext cx="4381500"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63" b="1">
                <a:solidFill>
                  <a:srgbClr val="1A3554"/>
                </a:solidFill>
                <a:latin typeface="Aptos"/>
                <a:ea typeface="Aptos"/>
                <a:cs typeface="Aptos"/>
              </a:defRPr>
            </a:pPr>
            <a:r>
              <a:rPr sz="863" b="1">
                <a:solidFill>
                  <a:srgbClr val="1A3554"/>
                </a:solidFill>
                <a:latin typeface="Aptos"/>
                <a:ea typeface="Aptos"/>
                <a:cs typeface="Aptos"/>
              </a:rPr>
              <a:t>KPI : temps de recherche d'information | temps d'onboarding | taux d'usage de la base interne</a:t>
            </a:r>
          </a:p>
        </p:txBody>
      </p:sp>
      <p:sp>
        <p:nvSpPr>
          <p:cNvPr id="22" name="Rectangle 21">
            <a:extLst>
              <a:ext uri="{FF2B5EF4-FFF2-40B4-BE49-F238E27FC236}">
                <a16:creationId xmlns:a16="http://schemas.microsoft.com/office/drawing/2014/main" id="{0F0C6EDA-ECC5-484A-A6BA-77455B1D81E1}"/>
              </a:ext>
            </a:extLst>
          </p:cNvPr>
          <p:cNvSpPr>
            <a:spLocks noGrp="1"/>
          </p:cNvSpPr>
          <p:nvPr/>
        </p:nvSpPr>
        <p:spPr>
          <a:xfrm>
            <a:off x="914400" y="5581650"/>
            <a:ext cx="16192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1">
                <a:solidFill>
                  <a:srgbClr val="DDF5EF"/>
                </a:solidFill>
                <a:latin typeface="Aptos"/>
                <a:ea typeface="Aptos"/>
                <a:cs typeface="Aptos"/>
              </a:defRPr>
            </a:pPr>
            <a:r>
              <a:rPr sz="750" b="1">
                <a:solidFill>
                  <a:srgbClr val="DDF5EF"/>
                </a:solidFill>
                <a:latin typeface="Aptos"/>
                <a:ea typeface="Aptos"/>
                <a:cs typeface="Aptos"/>
              </a:rPr>
              <a:t>Pourquoi cette slide compte</a:t>
            </a:r>
          </a:p>
        </p:txBody>
      </p:sp>
      <p:sp>
        <p:nvSpPr>
          <p:cNvPr id="24" name="Rectangle 23">
            <a:extLst>
              <a:ext uri="{FF2B5EF4-FFF2-40B4-BE49-F238E27FC236}">
                <a16:creationId xmlns:a16="http://schemas.microsoft.com/office/drawing/2014/main" id="{C4512B7C-1370-47F6-AAFD-AB5CBAA839AC}"/>
              </a:ext>
            </a:extLst>
          </p:cNvPr>
          <p:cNvSpPr>
            <a:spLocks noGrp="1"/>
          </p:cNvSpPr>
          <p:nvPr/>
        </p:nvSpPr>
        <p:spPr>
          <a:xfrm>
            <a:off x="6667500" y="5734050"/>
            <a:ext cx="44767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38" b="0">
                <a:solidFill>
                  <a:srgbClr val="FFFFFF"/>
                </a:solidFill>
                <a:latin typeface="Aptos"/>
                <a:ea typeface="Aptos"/>
                <a:cs typeface="Aptos"/>
              </a:defRPr>
            </a:pPr>
            <a:r>
              <a:rPr sz="938" b="0">
                <a:solidFill>
                  <a:srgbClr val="FFFFFF"/>
                </a:solidFill>
                <a:latin typeface="Aptos"/>
                <a:ea typeface="Aptos"/>
                <a:cs typeface="Aptos"/>
              </a:rPr>
              <a:t>Pour ELTON CI, cela permet d'éviter un discours abstrait : les équipes voient tout de suite sur quels gestes métier l'IA doit les aider.</a:t>
            </a:r>
          </a:p>
        </p:txBody>
      </p:sp>
      <p:sp>
        <p:nvSpPr>
          <p:cNvPr id="25" name="Rectangle 24">
            <a:extLst>
              <a:ext uri="{FF2B5EF4-FFF2-40B4-BE49-F238E27FC236}">
                <a16:creationId xmlns:a16="http://schemas.microsoft.com/office/drawing/2014/main" id="{5F268FEF-B800-4C75-9DA5-C39994A70ECA}"/>
              </a:ext>
            </a:extLst>
          </p:cNvPr>
          <p:cNvSpPr>
            <a:spLocks noGrp="1"/>
          </p:cNvSpPr>
          <p:nvPr/>
        </p:nvSpPr>
        <p:spPr>
          <a:xfrm>
            <a:off x="647700" y="6496050"/>
            <a:ext cx="10896600" cy="9525"/>
          </a:xfrm>
          <a:prstGeom prst="rect">
            <a:avLst/>
          </a:prstGeom>
          <a:solidFill>
            <a:srgbClr val="D7CEC3"/>
          </a:solidFill>
          <a:ln w="0">
            <a:solidFill>
              <a:srgbClr val="000000">
                <a:alpha val="0"/>
              </a:srgbClr>
            </a:solidFill>
            <a:prstDash val="solid"/>
          </a:ln>
        </p:spPr>
      </p:sp>
      <p:sp>
        <p:nvSpPr>
          <p:cNvPr id="26" name="Rectangle 25">
            <a:extLst>
              <a:ext uri="{FF2B5EF4-FFF2-40B4-BE49-F238E27FC236}">
                <a16:creationId xmlns:a16="http://schemas.microsoft.com/office/drawing/2014/main" id="{713B39E2-A21D-4A45-A0E5-C28F05443B77}"/>
              </a:ext>
            </a:extLst>
          </p:cNvPr>
          <p:cNvSpPr>
            <a:spLocks noGrp="1"/>
          </p:cNvSpPr>
          <p:nvPr/>
        </p:nvSpPr>
        <p:spPr>
          <a:xfrm>
            <a:off x="685800" y="6572250"/>
            <a:ext cx="857250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38" b="0">
                <a:solidFill>
                  <a:srgbClr val="617086"/>
                </a:solidFill>
                <a:latin typeface="Aptos"/>
                <a:ea typeface="Aptos"/>
                <a:cs typeface="Aptos"/>
              </a:defRPr>
            </a:pPr>
            <a:r>
              <a:rPr sz="638" b="0" dirty="0" err="1">
                <a:solidFill>
                  <a:srgbClr val="617086"/>
                </a:solidFill>
                <a:latin typeface="Aptos"/>
                <a:ea typeface="Aptos"/>
                <a:cs typeface="Aptos"/>
              </a:rPr>
              <a:t>TransferAI</a:t>
            </a:r>
            <a:r>
              <a:rPr sz="638" b="0" dirty="0">
                <a:solidFill>
                  <a:srgbClr val="617086"/>
                </a:solidFill>
                <a:latin typeface="Aptos"/>
                <a:ea typeface="Aptos"/>
                <a:cs typeface="Aptos"/>
              </a:rPr>
              <a:t> | Hub </a:t>
            </a:r>
            <a:r>
              <a:rPr lang="en-GB" sz="638" b="0" dirty="0">
                <a:solidFill>
                  <a:srgbClr val="617086"/>
                </a:solidFill>
                <a:latin typeface="Aptos"/>
                <a:ea typeface="Aptos"/>
                <a:cs typeface="Aptos"/>
              </a:rPr>
              <a:t>IA</a:t>
            </a:r>
            <a:r>
              <a:rPr sz="638" b="0" dirty="0">
                <a:solidFill>
                  <a:srgbClr val="617086"/>
                </a:solidFill>
                <a:latin typeface="Aptos"/>
                <a:ea typeface="Aptos"/>
                <a:cs typeface="Aptos"/>
              </a:rPr>
              <a:t> de </a:t>
            </a:r>
            <a:r>
              <a:rPr sz="638" b="0" dirty="0" err="1">
                <a:solidFill>
                  <a:srgbClr val="617086"/>
                </a:solidFill>
                <a:latin typeface="Aptos"/>
                <a:ea typeface="Aptos"/>
                <a:cs typeface="Aptos"/>
              </a:rPr>
              <a:t>Nettelecom</a:t>
            </a:r>
            <a:r>
              <a:rPr sz="638" b="0" dirty="0">
                <a:solidFill>
                  <a:srgbClr val="617086"/>
                </a:solidFill>
                <a:latin typeface="Aptos"/>
                <a:ea typeface="Aptos"/>
                <a:cs typeface="Aptos"/>
              </a:rPr>
              <a:t> CI | Proposition </a:t>
            </a:r>
            <a:r>
              <a:rPr sz="638" b="0" dirty="0" err="1">
                <a:solidFill>
                  <a:srgbClr val="617086"/>
                </a:solidFill>
                <a:latin typeface="Aptos"/>
                <a:ea typeface="Aptos"/>
                <a:cs typeface="Aptos"/>
              </a:rPr>
              <a:t>ciblée</a:t>
            </a:r>
            <a:r>
              <a:rPr sz="638" b="0" dirty="0">
                <a:solidFill>
                  <a:srgbClr val="617086"/>
                </a:solidFill>
                <a:latin typeface="Aptos"/>
                <a:ea typeface="Aptos"/>
                <a:cs typeface="Aptos"/>
              </a:rPr>
              <a:t> ELTON CI</a:t>
            </a:r>
          </a:p>
        </p:txBody>
      </p:sp>
      <p:sp>
        <p:nvSpPr>
          <p:cNvPr id="27" name="Rectangle 26">
            <a:extLst>
              <a:ext uri="{FF2B5EF4-FFF2-40B4-BE49-F238E27FC236}">
                <a16:creationId xmlns:a16="http://schemas.microsoft.com/office/drawing/2014/main" id="{8AA9E978-35C4-4974-A23B-588352259758}"/>
              </a:ext>
            </a:extLst>
          </p:cNvPr>
          <p:cNvSpPr>
            <a:spLocks noGrp="1"/>
          </p:cNvSpPr>
          <p:nvPr/>
        </p:nvSpPr>
        <p:spPr>
          <a:xfrm>
            <a:off x="11049000" y="6553200"/>
            <a:ext cx="3429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750" b="1">
                <a:solidFill>
                  <a:srgbClr val="1A3554"/>
                </a:solidFill>
                <a:latin typeface="Aptos"/>
                <a:ea typeface="Aptos"/>
                <a:cs typeface="Aptos"/>
              </a:defRPr>
            </a:pPr>
            <a:r>
              <a:rPr sz="750" b="1">
                <a:solidFill>
                  <a:srgbClr val="1A3554"/>
                </a:solidFill>
                <a:latin typeface="Aptos"/>
                <a:ea typeface="Aptos"/>
                <a:cs typeface="Aptos"/>
              </a:rPr>
              <a:t>07</a:t>
            </a:r>
          </a:p>
        </p:txBody>
      </p:sp>
    </p:spTree>
    <p:extLst>
      <p:ext uri="{BB962C8B-B14F-4D97-AF65-F5344CB8AC3E}">
        <p14:creationId xmlns:p14="http://schemas.microsoft.com/office/powerpoint/2010/main" val="5736613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D862638B-5143-411A-9B41-D753D56FA97B}"/>
              </a:ext>
            </a:extLst>
          </p:cNvPr>
          <p:cNvSpPr>
            <a:spLocks noGrp="1"/>
          </p:cNvSpPr>
          <p:nvPr/>
        </p:nvSpPr>
        <p:spPr>
          <a:xfrm>
            <a:off x="0" y="0"/>
            <a:ext cx="12192000" cy="6858000"/>
          </a:xfrm>
          <a:prstGeom prst="rect">
            <a:avLst/>
          </a:prstGeom>
          <a:solidFill>
            <a:srgbClr val="F5EFE7"/>
          </a:solidFill>
          <a:ln w="0">
            <a:solidFill>
              <a:srgbClr val="000000">
                <a:alpha val="0"/>
              </a:srgbClr>
            </a:solidFill>
            <a:prstDash val="solid"/>
          </a:ln>
        </p:spPr>
      </p:sp>
      <p:sp>
        <p:nvSpPr>
          <p:cNvPr id="2" name="Rectangle 1">
            <a:extLst>
              <a:ext uri="{FF2B5EF4-FFF2-40B4-BE49-F238E27FC236}">
                <a16:creationId xmlns:a16="http://schemas.microsoft.com/office/drawing/2014/main" id="{DEEAADDD-3187-4100-B02A-5E268DB39D8B}"/>
              </a:ext>
            </a:extLst>
          </p:cNvPr>
          <p:cNvSpPr>
            <a:spLocks noGrp="1"/>
          </p:cNvSpPr>
          <p:nvPr/>
        </p:nvSpPr>
        <p:spPr>
          <a:xfrm>
            <a:off x="685800" y="495300"/>
            <a:ext cx="24765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88" b="1">
                <a:solidFill>
                  <a:srgbClr val="E76F1D"/>
                </a:solidFill>
                <a:latin typeface="Aptos"/>
                <a:ea typeface="Aptos"/>
                <a:cs typeface="Aptos"/>
              </a:defRPr>
            </a:pPr>
            <a:r>
              <a:rPr sz="788" b="1">
                <a:solidFill>
                  <a:srgbClr val="E76F1D"/>
                </a:solidFill>
                <a:latin typeface="Aptos"/>
                <a:ea typeface="Aptos"/>
                <a:cs typeface="Aptos"/>
              </a:rPr>
              <a:t>PARCOURS 90 JOURS</a:t>
            </a:r>
          </a:p>
        </p:txBody>
      </p:sp>
      <p:sp>
        <p:nvSpPr>
          <p:cNvPr id="3" name="Rectangle 2">
            <a:extLst>
              <a:ext uri="{FF2B5EF4-FFF2-40B4-BE49-F238E27FC236}">
                <a16:creationId xmlns:a16="http://schemas.microsoft.com/office/drawing/2014/main" id="{C01A9D4D-7FAE-45A6-8A09-23118D7B0270}"/>
              </a:ext>
            </a:extLst>
          </p:cNvPr>
          <p:cNvSpPr>
            <a:spLocks noGrp="1"/>
          </p:cNvSpPr>
          <p:nvPr/>
        </p:nvSpPr>
        <p:spPr>
          <a:xfrm>
            <a:off x="685800" y="819150"/>
            <a:ext cx="8572500" cy="8001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550" b="1">
                <a:solidFill>
                  <a:srgbClr val="1A3554"/>
                </a:solidFill>
                <a:latin typeface="Aptos Display"/>
                <a:ea typeface="Aptos Display"/>
                <a:cs typeface="Aptos Display"/>
              </a:defRPr>
            </a:pPr>
            <a:r>
              <a:rPr sz="2550" b="1">
                <a:solidFill>
                  <a:srgbClr val="1A3554"/>
                </a:solidFill>
                <a:latin typeface="Aptos Display"/>
                <a:ea typeface="Aptos Display"/>
                <a:cs typeface="Aptos Display"/>
              </a:rPr>
              <a:t>La séquence recommandée pour passer du cadrage au pilote</a:t>
            </a:r>
          </a:p>
        </p:txBody>
      </p:sp>
      <p:sp>
        <p:nvSpPr>
          <p:cNvPr id="4" name="Rectangle 3">
            <a:extLst>
              <a:ext uri="{FF2B5EF4-FFF2-40B4-BE49-F238E27FC236}">
                <a16:creationId xmlns:a16="http://schemas.microsoft.com/office/drawing/2014/main" id="{BD26B3FE-38D7-48EC-9C69-DCE353E07439}"/>
              </a:ext>
            </a:extLst>
          </p:cNvPr>
          <p:cNvSpPr>
            <a:spLocks noGrp="1"/>
          </p:cNvSpPr>
          <p:nvPr/>
        </p:nvSpPr>
        <p:spPr>
          <a:xfrm>
            <a:off x="685800" y="1676400"/>
            <a:ext cx="89535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0">
                <a:solidFill>
                  <a:srgbClr val="617086"/>
                </a:solidFill>
                <a:latin typeface="Aptos"/>
                <a:ea typeface="Aptos"/>
                <a:cs typeface="Aptos"/>
              </a:defRPr>
            </a:pPr>
            <a:r>
              <a:rPr sz="1050" b="0">
                <a:solidFill>
                  <a:srgbClr val="617086"/>
                </a:solidFill>
                <a:latin typeface="Aptos"/>
                <a:ea typeface="Aptos"/>
                <a:cs typeface="Aptos"/>
              </a:rPr>
              <a:t>Le bon scénario n'est pas de tout vendre d'un bloc, mais d'enchaîner les étapes utiles dans le bon ordre, avec validation à chaque palier.</a:t>
            </a:r>
          </a:p>
        </p:txBody>
      </p:sp>
      <p:sp>
        <p:nvSpPr>
          <p:cNvPr id="5" name="Rectangle 4">
            <a:extLst>
              <a:ext uri="{FF2B5EF4-FFF2-40B4-BE49-F238E27FC236}">
                <a16:creationId xmlns:a16="http://schemas.microsoft.com/office/drawing/2014/main" id="{0057609E-E01C-4854-AD76-F2DC331A4343}"/>
              </a:ext>
            </a:extLst>
          </p:cNvPr>
          <p:cNvSpPr>
            <a:spLocks noGrp="1"/>
          </p:cNvSpPr>
          <p:nvPr/>
        </p:nvSpPr>
        <p:spPr>
          <a:xfrm>
            <a:off x="685800" y="2247900"/>
            <a:ext cx="2438400" cy="2362200"/>
          </a:xfrm>
          <a:prstGeom prst="rect">
            <a:avLst/>
          </a:prstGeom>
          <a:solidFill>
            <a:srgbClr val="FFFDFC"/>
          </a:solidFill>
          <a:ln w="9525">
            <a:solidFill>
              <a:srgbClr val="D7CEC3"/>
            </a:solidFill>
            <a:prstDash val="solid"/>
          </a:ln>
        </p:spPr>
      </p:sp>
      <p:sp>
        <p:nvSpPr>
          <p:cNvPr id="6" name="Rectangle 5">
            <a:extLst>
              <a:ext uri="{FF2B5EF4-FFF2-40B4-BE49-F238E27FC236}">
                <a16:creationId xmlns:a16="http://schemas.microsoft.com/office/drawing/2014/main" id="{EEADB5B4-FE50-4CF7-951C-24DCC24F8811}"/>
              </a:ext>
            </a:extLst>
          </p:cNvPr>
          <p:cNvSpPr>
            <a:spLocks noGrp="1"/>
          </p:cNvSpPr>
          <p:nvPr/>
        </p:nvSpPr>
        <p:spPr>
          <a:xfrm>
            <a:off x="857250" y="2400300"/>
            <a:ext cx="5715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00" b="1">
                <a:solidFill>
                  <a:srgbClr val="E76F1D"/>
                </a:solidFill>
                <a:latin typeface="Aptos Display"/>
                <a:ea typeface="Aptos Display"/>
                <a:cs typeface="Aptos Display"/>
              </a:defRPr>
            </a:pPr>
            <a:r>
              <a:rPr sz="1500" b="1">
                <a:solidFill>
                  <a:srgbClr val="E76F1D"/>
                </a:solidFill>
                <a:latin typeface="Aptos Display"/>
                <a:ea typeface="Aptos Display"/>
                <a:cs typeface="Aptos Display"/>
              </a:rPr>
              <a:t>01</a:t>
            </a:r>
          </a:p>
        </p:txBody>
      </p:sp>
      <p:sp>
        <p:nvSpPr>
          <p:cNvPr id="7" name="Rectangle 6">
            <a:extLst>
              <a:ext uri="{FF2B5EF4-FFF2-40B4-BE49-F238E27FC236}">
                <a16:creationId xmlns:a16="http://schemas.microsoft.com/office/drawing/2014/main" id="{81A628D7-B993-44D1-A7E6-19CE35FCF644}"/>
              </a:ext>
            </a:extLst>
          </p:cNvPr>
          <p:cNvSpPr>
            <a:spLocks noGrp="1"/>
          </p:cNvSpPr>
          <p:nvPr/>
        </p:nvSpPr>
        <p:spPr>
          <a:xfrm>
            <a:off x="857250" y="2762250"/>
            <a:ext cx="2095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1A3554"/>
                </a:solidFill>
                <a:latin typeface="Aptos Display"/>
                <a:ea typeface="Aptos Display"/>
                <a:cs typeface="Aptos Display"/>
              </a:defRPr>
            </a:pPr>
            <a:r>
              <a:rPr sz="1350" b="1">
                <a:solidFill>
                  <a:srgbClr val="1A3554"/>
                </a:solidFill>
                <a:latin typeface="Aptos Display"/>
                <a:ea typeface="Aptos Display"/>
                <a:cs typeface="Aptos Display"/>
              </a:rPr>
              <a:t>J+0 | Audit et cadrage</a:t>
            </a:r>
          </a:p>
        </p:txBody>
      </p:sp>
      <p:sp>
        <p:nvSpPr>
          <p:cNvPr id="8" name="Rectangle 7">
            <a:extLst>
              <a:ext uri="{FF2B5EF4-FFF2-40B4-BE49-F238E27FC236}">
                <a16:creationId xmlns:a16="http://schemas.microsoft.com/office/drawing/2014/main" id="{E0A9B867-681B-4C24-9C2D-B1B97C97137A}"/>
              </a:ext>
            </a:extLst>
          </p:cNvPr>
          <p:cNvSpPr>
            <a:spLocks noGrp="1"/>
          </p:cNvSpPr>
          <p:nvPr/>
        </p:nvSpPr>
        <p:spPr>
          <a:xfrm>
            <a:off x="857250" y="3333750"/>
            <a:ext cx="2095500" cy="11049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38" b="0">
                <a:solidFill>
                  <a:srgbClr val="617086"/>
                </a:solidFill>
                <a:latin typeface="Aptos"/>
                <a:ea typeface="Aptos"/>
                <a:cs typeface="Aptos"/>
              </a:defRPr>
            </a:pPr>
            <a:r>
              <a:rPr sz="938" b="0">
                <a:solidFill>
                  <a:srgbClr val="617086"/>
                </a:solidFill>
                <a:latin typeface="Aptos"/>
                <a:ea typeface="Aptos"/>
                <a:cs typeface="Aptos"/>
              </a:rPr>
              <a:t>Cartographier les irritants, choisir les cas d'usage prioritaires et définir les KPI de preuve.</a:t>
            </a:r>
          </a:p>
        </p:txBody>
      </p:sp>
      <p:sp>
        <p:nvSpPr>
          <p:cNvPr id="9" name="Rectangle 8">
            <a:extLst>
              <a:ext uri="{FF2B5EF4-FFF2-40B4-BE49-F238E27FC236}">
                <a16:creationId xmlns:a16="http://schemas.microsoft.com/office/drawing/2014/main" id="{1EB76B10-19E1-4E9D-B17D-91D114047D62}"/>
              </a:ext>
            </a:extLst>
          </p:cNvPr>
          <p:cNvSpPr>
            <a:spLocks noGrp="1"/>
          </p:cNvSpPr>
          <p:nvPr/>
        </p:nvSpPr>
        <p:spPr>
          <a:xfrm>
            <a:off x="3352800" y="2247900"/>
            <a:ext cx="2438400" cy="2362200"/>
          </a:xfrm>
          <a:prstGeom prst="rect">
            <a:avLst/>
          </a:prstGeom>
          <a:solidFill>
            <a:srgbClr val="FFFDFC"/>
          </a:solidFill>
          <a:ln w="9525">
            <a:solidFill>
              <a:srgbClr val="D7CEC3"/>
            </a:solidFill>
            <a:prstDash val="solid"/>
          </a:ln>
        </p:spPr>
      </p:sp>
      <p:sp>
        <p:nvSpPr>
          <p:cNvPr id="10" name="Rectangle 9">
            <a:extLst>
              <a:ext uri="{FF2B5EF4-FFF2-40B4-BE49-F238E27FC236}">
                <a16:creationId xmlns:a16="http://schemas.microsoft.com/office/drawing/2014/main" id="{95A470E6-69C8-4463-A2E9-B6D917460F31}"/>
              </a:ext>
            </a:extLst>
          </p:cNvPr>
          <p:cNvSpPr>
            <a:spLocks noGrp="1"/>
          </p:cNvSpPr>
          <p:nvPr/>
        </p:nvSpPr>
        <p:spPr>
          <a:xfrm>
            <a:off x="3524250" y="2400300"/>
            <a:ext cx="5715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00" b="1">
                <a:solidFill>
                  <a:srgbClr val="1C8A78"/>
                </a:solidFill>
                <a:latin typeface="Aptos Display"/>
                <a:ea typeface="Aptos Display"/>
                <a:cs typeface="Aptos Display"/>
              </a:defRPr>
            </a:pPr>
            <a:r>
              <a:rPr sz="1500" b="1">
                <a:solidFill>
                  <a:srgbClr val="1C8A78"/>
                </a:solidFill>
                <a:latin typeface="Aptos Display"/>
                <a:ea typeface="Aptos Display"/>
                <a:cs typeface="Aptos Display"/>
              </a:rPr>
              <a:t>02</a:t>
            </a:r>
          </a:p>
        </p:txBody>
      </p:sp>
      <p:sp>
        <p:nvSpPr>
          <p:cNvPr id="11" name="Rectangle 10">
            <a:extLst>
              <a:ext uri="{FF2B5EF4-FFF2-40B4-BE49-F238E27FC236}">
                <a16:creationId xmlns:a16="http://schemas.microsoft.com/office/drawing/2014/main" id="{A262E795-C685-4F00-BBD7-0EAFAB22E080}"/>
              </a:ext>
            </a:extLst>
          </p:cNvPr>
          <p:cNvSpPr>
            <a:spLocks noGrp="1"/>
          </p:cNvSpPr>
          <p:nvPr/>
        </p:nvSpPr>
        <p:spPr>
          <a:xfrm>
            <a:off x="3524250" y="2762250"/>
            <a:ext cx="2095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1A3554"/>
                </a:solidFill>
                <a:latin typeface="Aptos Display"/>
                <a:ea typeface="Aptos Display"/>
                <a:cs typeface="Aptos Display"/>
              </a:defRPr>
            </a:pPr>
            <a:r>
              <a:rPr sz="1350" b="1">
                <a:solidFill>
                  <a:srgbClr val="1A3554"/>
                </a:solidFill>
                <a:latin typeface="Aptos Display"/>
                <a:ea typeface="Aptos Display"/>
                <a:cs typeface="Aptos Display"/>
              </a:rPr>
              <a:t>J+15 | Prototype ciblé</a:t>
            </a:r>
          </a:p>
        </p:txBody>
      </p:sp>
      <p:sp>
        <p:nvSpPr>
          <p:cNvPr id="12" name="Rectangle 11">
            <a:extLst>
              <a:ext uri="{FF2B5EF4-FFF2-40B4-BE49-F238E27FC236}">
                <a16:creationId xmlns:a16="http://schemas.microsoft.com/office/drawing/2014/main" id="{1D1BD8BA-5A6D-49F2-9A5F-19CB63C6726D}"/>
              </a:ext>
            </a:extLst>
          </p:cNvPr>
          <p:cNvSpPr>
            <a:spLocks noGrp="1"/>
          </p:cNvSpPr>
          <p:nvPr/>
        </p:nvSpPr>
        <p:spPr>
          <a:xfrm>
            <a:off x="3524250" y="3333750"/>
            <a:ext cx="2095500" cy="11049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38" b="0">
                <a:solidFill>
                  <a:srgbClr val="617086"/>
                </a:solidFill>
                <a:latin typeface="Aptos"/>
                <a:ea typeface="Aptos"/>
                <a:cs typeface="Aptos"/>
              </a:defRPr>
            </a:pPr>
            <a:r>
              <a:rPr sz="938" b="0">
                <a:solidFill>
                  <a:srgbClr val="617086"/>
                </a:solidFill>
                <a:latin typeface="Aptos"/>
                <a:ea typeface="Aptos"/>
                <a:cs typeface="Aptos"/>
              </a:rPr>
              <a:t>Produire un premier livrable exploitable : synthèse, tableau de bord, assistant ou routine de pilotage.</a:t>
            </a:r>
          </a:p>
        </p:txBody>
      </p:sp>
      <p:sp>
        <p:nvSpPr>
          <p:cNvPr id="13" name="Rectangle 12">
            <a:extLst>
              <a:ext uri="{FF2B5EF4-FFF2-40B4-BE49-F238E27FC236}">
                <a16:creationId xmlns:a16="http://schemas.microsoft.com/office/drawing/2014/main" id="{7258B2F8-321F-4DBA-9E4C-439712C21A67}"/>
              </a:ext>
            </a:extLst>
          </p:cNvPr>
          <p:cNvSpPr>
            <a:spLocks noGrp="1"/>
          </p:cNvSpPr>
          <p:nvPr/>
        </p:nvSpPr>
        <p:spPr>
          <a:xfrm>
            <a:off x="6019800" y="2247900"/>
            <a:ext cx="2438400" cy="2362200"/>
          </a:xfrm>
          <a:prstGeom prst="rect">
            <a:avLst/>
          </a:prstGeom>
          <a:solidFill>
            <a:srgbClr val="FFFDFC"/>
          </a:solidFill>
          <a:ln w="9525">
            <a:solidFill>
              <a:srgbClr val="D7CEC3"/>
            </a:solidFill>
            <a:prstDash val="solid"/>
          </a:ln>
        </p:spPr>
      </p:sp>
      <p:sp>
        <p:nvSpPr>
          <p:cNvPr id="14" name="Rectangle 13">
            <a:extLst>
              <a:ext uri="{FF2B5EF4-FFF2-40B4-BE49-F238E27FC236}">
                <a16:creationId xmlns:a16="http://schemas.microsoft.com/office/drawing/2014/main" id="{078AC604-4690-4FD6-AAEA-D3D643B09ACE}"/>
              </a:ext>
            </a:extLst>
          </p:cNvPr>
          <p:cNvSpPr>
            <a:spLocks noGrp="1"/>
          </p:cNvSpPr>
          <p:nvPr/>
        </p:nvSpPr>
        <p:spPr>
          <a:xfrm>
            <a:off x="6191250" y="2400300"/>
            <a:ext cx="5715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00" b="1">
                <a:solidFill>
                  <a:srgbClr val="163556"/>
                </a:solidFill>
                <a:latin typeface="Aptos Display"/>
                <a:ea typeface="Aptos Display"/>
                <a:cs typeface="Aptos Display"/>
              </a:defRPr>
            </a:pPr>
            <a:r>
              <a:rPr sz="1500" b="1">
                <a:solidFill>
                  <a:srgbClr val="163556"/>
                </a:solidFill>
                <a:latin typeface="Aptos Display"/>
                <a:ea typeface="Aptos Display"/>
                <a:cs typeface="Aptos Display"/>
              </a:rPr>
              <a:t>03</a:t>
            </a:r>
          </a:p>
        </p:txBody>
      </p:sp>
      <p:sp>
        <p:nvSpPr>
          <p:cNvPr id="15" name="Rectangle 14">
            <a:extLst>
              <a:ext uri="{FF2B5EF4-FFF2-40B4-BE49-F238E27FC236}">
                <a16:creationId xmlns:a16="http://schemas.microsoft.com/office/drawing/2014/main" id="{0DE42DD0-3CEB-45CD-93A9-D8DE1E2D10D0}"/>
              </a:ext>
            </a:extLst>
          </p:cNvPr>
          <p:cNvSpPr>
            <a:spLocks noGrp="1"/>
          </p:cNvSpPr>
          <p:nvPr/>
        </p:nvSpPr>
        <p:spPr>
          <a:xfrm>
            <a:off x="6191250" y="2762250"/>
            <a:ext cx="2095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1A3554"/>
                </a:solidFill>
                <a:latin typeface="Aptos Display"/>
                <a:ea typeface="Aptos Display"/>
                <a:cs typeface="Aptos Display"/>
              </a:defRPr>
            </a:pPr>
            <a:r>
              <a:rPr sz="1350" b="1">
                <a:solidFill>
                  <a:srgbClr val="1A3554"/>
                </a:solidFill>
                <a:latin typeface="Aptos Display"/>
                <a:ea typeface="Aptos Display"/>
                <a:cs typeface="Aptos Display"/>
              </a:rPr>
              <a:t>J+45 | Formation et pilote</a:t>
            </a:r>
          </a:p>
        </p:txBody>
      </p:sp>
      <p:sp>
        <p:nvSpPr>
          <p:cNvPr id="16" name="Rectangle 15">
            <a:extLst>
              <a:ext uri="{FF2B5EF4-FFF2-40B4-BE49-F238E27FC236}">
                <a16:creationId xmlns:a16="http://schemas.microsoft.com/office/drawing/2014/main" id="{E49B61C4-3062-4DFB-934F-7660FA978891}"/>
              </a:ext>
            </a:extLst>
          </p:cNvPr>
          <p:cNvSpPr>
            <a:spLocks noGrp="1"/>
          </p:cNvSpPr>
          <p:nvPr/>
        </p:nvSpPr>
        <p:spPr>
          <a:xfrm>
            <a:off x="6191250" y="3333750"/>
            <a:ext cx="2095500" cy="11049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38" b="0">
                <a:solidFill>
                  <a:srgbClr val="617086"/>
                </a:solidFill>
                <a:latin typeface="Aptos"/>
                <a:ea typeface="Aptos"/>
                <a:cs typeface="Aptos"/>
              </a:defRPr>
            </a:pPr>
            <a:r>
              <a:rPr sz="938" b="0">
                <a:solidFill>
                  <a:srgbClr val="617086"/>
                </a:solidFill>
                <a:latin typeface="Aptos"/>
                <a:ea typeface="Aptos"/>
                <a:cs typeface="Aptos"/>
              </a:rPr>
              <a:t>Former la bonne population et lancer le pilote sur un flux concret, avec supervision et revue métier.</a:t>
            </a:r>
          </a:p>
        </p:txBody>
      </p:sp>
      <p:sp>
        <p:nvSpPr>
          <p:cNvPr id="17" name="Rectangle 16">
            <a:extLst>
              <a:ext uri="{FF2B5EF4-FFF2-40B4-BE49-F238E27FC236}">
                <a16:creationId xmlns:a16="http://schemas.microsoft.com/office/drawing/2014/main" id="{E9FE6DC1-BA55-4628-8A6D-F9559C5C9021}"/>
              </a:ext>
            </a:extLst>
          </p:cNvPr>
          <p:cNvSpPr>
            <a:spLocks noGrp="1"/>
          </p:cNvSpPr>
          <p:nvPr/>
        </p:nvSpPr>
        <p:spPr>
          <a:xfrm>
            <a:off x="8686800" y="2247900"/>
            <a:ext cx="2819400" cy="2362200"/>
          </a:xfrm>
          <a:prstGeom prst="rect">
            <a:avLst/>
          </a:prstGeom>
          <a:solidFill>
            <a:srgbClr val="FFFDFC"/>
          </a:solidFill>
          <a:ln w="9525">
            <a:solidFill>
              <a:srgbClr val="D7CEC3"/>
            </a:solidFill>
            <a:prstDash val="solid"/>
          </a:ln>
        </p:spPr>
      </p:sp>
      <p:sp>
        <p:nvSpPr>
          <p:cNvPr id="18" name="Rectangle 17">
            <a:extLst>
              <a:ext uri="{FF2B5EF4-FFF2-40B4-BE49-F238E27FC236}">
                <a16:creationId xmlns:a16="http://schemas.microsoft.com/office/drawing/2014/main" id="{83D5CE81-2D9B-488A-8ED4-73D9216473DA}"/>
              </a:ext>
            </a:extLst>
          </p:cNvPr>
          <p:cNvSpPr>
            <a:spLocks noGrp="1"/>
          </p:cNvSpPr>
          <p:nvPr/>
        </p:nvSpPr>
        <p:spPr>
          <a:xfrm>
            <a:off x="8858250" y="2400300"/>
            <a:ext cx="5715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00" b="1">
                <a:solidFill>
                  <a:srgbClr val="C88C3A"/>
                </a:solidFill>
                <a:latin typeface="Aptos Display"/>
                <a:ea typeface="Aptos Display"/>
                <a:cs typeface="Aptos Display"/>
              </a:defRPr>
            </a:pPr>
            <a:r>
              <a:rPr sz="1500" b="1">
                <a:solidFill>
                  <a:srgbClr val="C88C3A"/>
                </a:solidFill>
                <a:latin typeface="Aptos Display"/>
                <a:ea typeface="Aptos Display"/>
                <a:cs typeface="Aptos Display"/>
              </a:rPr>
              <a:t>04</a:t>
            </a:r>
          </a:p>
        </p:txBody>
      </p:sp>
      <p:sp>
        <p:nvSpPr>
          <p:cNvPr id="19" name="Rectangle 18">
            <a:extLst>
              <a:ext uri="{FF2B5EF4-FFF2-40B4-BE49-F238E27FC236}">
                <a16:creationId xmlns:a16="http://schemas.microsoft.com/office/drawing/2014/main" id="{87307C2D-D82F-4116-82C9-68B76308D930}"/>
              </a:ext>
            </a:extLst>
          </p:cNvPr>
          <p:cNvSpPr>
            <a:spLocks noGrp="1"/>
          </p:cNvSpPr>
          <p:nvPr/>
        </p:nvSpPr>
        <p:spPr>
          <a:xfrm>
            <a:off x="8858250" y="2762250"/>
            <a:ext cx="2476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1A3554"/>
                </a:solidFill>
                <a:latin typeface="Aptos Display"/>
                <a:ea typeface="Aptos Display"/>
                <a:cs typeface="Aptos Display"/>
              </a:defRPr>
            </a:pPr>
            <a:r>
              <a:rPr sz="1350" b="1">
                <a:solidFill>
                  <a:srgbClr val="1A3554"/>
                </a:solidFill>
                <a:latin typeface="Aptos Display"/>
                <a:ea typeface="Aptos Display"/>
                <a:cs typeface="Aptos Display"/>
              </a:rPr>
              <a:t>J+90 | ROI et extension</a:t>
            </a:r>
          </a:p>
        </p:txBody>
      </p:sp>
      <p:sp>
        <p:nvSpPr>
          <p:cNvPr id="20" name="Rectangle 19">
            <a:extLst>
              <a:ext uri="{FF2B5EF4-FFF2-40B4-BE49-F238E27FC236}">
                <a16:creationId xmlns:a16="http://schemas.microsoft.com/office/drawing/2014/main" id="{D0FF933E-3408-4217-938D-75F66586C5EF}"/>
              </a:ext>
            </a:extLst>
          </p:cNvPr>
          <p:cNvSpPr>
            <a:spLocks noGrp="1"/>
          </p:cNvSpPr>
          <p:nvPr/>
        </p:nvSpPr>
        <p:spPr>
          <a:xfrm>
            <a:off x="8858250" y="3333750"/>
            <a:ext cx="2476500" cy="11049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38" b="0">
                <a:solidFill>
                  <a:srgbClr val="617086"/>
                </a:solidFill>
                <a:latin typeface="Aptos"/>
                <a:ea typeface="Aptos"/>
                <a:cs typeface="Aptos"/>
              </a:defRPr>
            </a:pPr>
            <a:r>
              <a:rPr sz="938" b="0">
                <a:solidFill>
                  <a:srgbClr val="617086"/>
                </a:solidFill>
                <a:latin typeface="Aptos"/>
                <a:ea typeface="Aptos"/>
                <a:cs typeface="Aptos"/>
              </a:rPr>
              <a:t>Mesurer les premiers résultats, documenter les apprentissages et décider ce qui mérite d'être étendu.</a:t>
            </a:r>
          </a:p>
        </p:txBody>
      </p:sp>
      <p:sp>
        <p:nvSpPr>
          <p:cNvPr id="21" name="Rectangle 20">
            <a:extLst>
              <a:ext uri="{FF2B5EF4-FFF2-40B4-BE49-F238E27FC236}">
                <a16:creationId xmlns:a16="http://schemas.microsoft.com/office/drawing/2014/main" id="{8C9059D6-1201-40D9-952C-29743BFBFE05}"/>
              </a:ext>
            </a:extLst>
          </p:cNvPr>
          <p:cNvSpPr>
            <a:spLocks noGrp="1"/>
          </p:cNvSpPr>
          <p:nvPr/>
        </p:nvSpPr>
        <p:spPr>
          <a:xfrm>
            <a:off x="685800" y="4953000"/>
            <a:ext cx="10820400" cy="1066800"/>
          </a:xfrm>
          <a:prstGeom prst="rect">
            <a:avLst/>
          </a:prstGeom>
          <a:solidFill>
            <a:srgbClr val="163556"/>
          </a:solidFill>
          <a:ln w="0">
            <a:solidFill>
              <a:srgbClr val="163556"/>
            </a:solidFill>
            <a:prstDash val="solid"/>
          </a:ln>
        </p:spPr>
      </p:sp>
      <p:sp>
        <p:nvSpPr>
          <p:cNvPr id="22" name="Rectangle 21">
            <a:extLst>
              <a:ext uri="{FF2B5EF4-FFF2-40B4-BE49-F238E27FC236}">
                <a16:creationId xmlns:a16="http://schemas.microsoft.com/office/drawing/2014/main" id="{B6711086-13EC-4324-B004-EAEE4FB036BC}"/>
              </a:ext>
            </a:extLst>
          </p:cNvPr>
          <p:cNvSpPr>
            <a:spLocks noGrp="1"/>
          </p:cNvSpPr>
          <p:nvPr/>
        </p:nvSpPr>
        <p:spPr>
          <a:xfrm>
            <a:off x="914400" y="5162550"/>
            <a:ext cx="23812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1">
                <a:solidFill>
                  <a:srgbClr val="CFE0F0"/>
                </a:solidFill>
                <a:latin typeface="Aptos"/>
                <a:ea typeface="Aptos"/>
                <a:cs typeface="Aptos"/>
              </a:defRPr>
            </a:pPr>
            <a:r>
              <a:rPr sz="750" b="1">
                <a:solidFill>
                  <a:srgbClr val="CFE0F0"/>
                </a:solidFill>
                <a:latin typeface="Aptos"/>
                <a:ea typeface="Aptos"/>
                <a:cs typeface="Aptos"/>
              </a:rPr>
              <a:t>Ce qu'ELTON CI obtient à chaque étape</a:t>
            </a:r>
          </a:p>
        </p:txBody>
      </p:sp>
      <p:sp>
        <p:nvSpPr>
          <p:cNvPr id="23" name="Rectangle 22">
            <a:extLst>
              <a:ext uri="{FF2B5EF4-FFF2-40B4-BE49-F238E27FC236}">
                <a16:creationId xmlns:a16="http://schemas.microsoft.com/office/drawing/2014/main" id="{A38D8F43-9955-40BF-8D63-1B52F3E7D535}"/>
              </a:ext>
            </a:extLst>
          </p:cNvPr>
          <p:cNvSpPr>
            <a:spLocks noGrp="1"/>
          </p:cNvSpPr>
          <p:nvPr/>
        </p:nvSpPr>
        <p:spPr>
          <a:xfrm>
            <a:off x="914400" y="5391150"/>
            <a:ext cx="2476500" cy="533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63" b="0">
                <a:solidFill>
                  <a:srgbClr val="FFFFFF"/>
                </a:solidFill>
                <a:latin typeface="Aptos"/>
                <a:ea typeface="Aptos"/>
                <a:cs typeface="Aptos"/>
              </a:defRPr>
            </a:pPr>
            <a:r>
              <a:rPr sz="863" b="0">
                <a:solidFill>
                  <a:srgbClr val="FFFFFF"/>
                </a:solidFill>
                <a:latin typeface="Aptos"/>
                <a:ea typeface="Aptos"/>
                <a:cs typeface="Aptos"/>
              </a:rPr>
              <a:t>• priorités mieux choisies</a:t>
            </a:r>
          </a:p>
          <a:p>
            <a:pPr algn="l">
              <a:defRPr sz="863" b="0">
                <a:solidFill>
                  <a:srgbClr val="FFFFFF"/>
                </a:solidFill>
                <a:latin typeface="Aptos"/>
                <a:ea typeface="Aptos"/>
                <a:cs typeface="Aptos"/>
              </a:defRPr>
            </a:pPr>
            <a:r>
              <a:rPr sz="863" b="0">
                <a:solidFill>
                  <a:srgbClr val="FFFFFF"/>
                </a:solidFill>
                <a:latin typeface="Aptos"/>
                <a:ea typeface="Aptos"/>
                <a:cs typeface="Aptos"/>
              </a:rPr>
              <a:t>• cas d'usage mieux qualifiés</a:t>
            </a:r>
          </a:p>
          <a:p>
            <a:pPr algn="l">
              <a:defRPr sz="863" b="0">
                <a:solidFill>
                  <a:srgbClr val="FFFFFF"/>
                </a:solidFill>
                <a:latin typeface="Aptos"/>
                <a:ea typeface="Aptos"/>
                <a:cs typeface="Aptos"/>
              </a:defRPr>
            </a:pPr>
            <a:r>
              <a:rPr sz="863" b="0">
                <a:solidFill>
                  <a:srgbClr val="FFFFFF"/>
                </a:solidFill>
                <a:latin typeface="Aptos"/>
                <a:ea typeface="Aptos"/>
                <a:cs typeface="Aptos"/>
              </a:rPr>
              <a:t>• formation plus ciblée</a:t>
            </a:r>
          </a:p>
          <a:p>
            <a:pPr algn="l">
              <a:defRPr sz="863" b="0">
                <a:solidFill>
                  <a:srgbClr val="FFFFFF"/>
                </a:solidFill>
                <a:latin typeface="Aptos"/>
                <a:ea typeface="Aptos"/>
                <a:cs typeface="Aptos"/>
              </a:defRPr>
            </a:pPr>
            <a:r>
              <a:rPr sz="863" b="0">
                <a:solidFill>
                  <a:srgbClr val="FFFFFF"/>
                </a:solidFill>
                <a:latin typeface="Aptos"/>
                <a:ea typeface="Aptos"/>
                <a:cs typeface="Aptos"/>
              </a:rPr>
              <a:t>• décision plus simple sur le passage à l'échelle</a:t>
            </a:r>
          </a:p>
        </p:txBody>
      </p:sp>
      <p:sp>
        <p:nvSpPr>
          <p:cNvPr id="24" name="Rectangle 23">
            <a:extLst>
              <a:ext uri="{FF2B5EF4-FFF2-40B4-BE49-F238E27FC236}">
                <a16:creationId xmlns:a16="http://schemas.microsoft.com/office/drawing/2014/main" id="{BA0B1D55-02F0-41A3-9FEF-87D01724A93F}"/>
              </a:ext>
            </a:extLst>
          </p:cNvPr>
          <p:cNvSpPr>
            <a:spLocks noGrp="1"/>
          </p:cNvSpPr>
          <p:nvPr/>
        </p:nvSpPr>
        <p:spPr>
          <a:xfrm>
            <a:off x="3943350" y="5505450"/>
            <a:ext cx="70104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38" b="1">
                <a:solidFill>
                  <a:srgbClr val="D7E5F3"/>
                </a:solidFill>
                <a:latin typeface="Aptos"/>
                <a:ea typeface="Aptos"/>
                <a:cs typeface="Aptos"/>
              </a:defRPr>
            </a:pPr>
            <a:r>
              <a:rPr sz="938" b="1">
                <a:solidFill>
                  <a:srgbClr val="D7E5F3"/>
                </a:solidFill>
                <a:latin typeface="Aptos"/>
                <a:ea typeface="Aptos"/>
                <a:cs typeface="Aptos"/>
              </a:rPr>
              <a:t>Principe de gouvernance : aucun passage à l'étape suivante sans validation des livrables, des accès et des usages autorisés.</a:t>
            </a:r>
          </a:p>
        </p:txBody>
      </p:sp>
      <p:sp>
        <p:nvSpPr>
          <p:cNvPr id="25" name="Rectangle 24">
            <a:extLst>
              <a:ext uri="{FF2B5EF4-FFF2-40B4-BE49-F238E27FC236}">
                <a16:creationId xmlns:a16="http://schemas.microsoft.com/office/drawing/2014/main" id="{14893ABF-D364-4621-9BDE-92BE3D53627B}"/>
              </a:ext>
            </a:extLst>
          </p:cNvPr>
          <p:cNvSpPr>
            <a:spLocks noGrp="1"/>
          </p:cNvSpPr>
          <p:nvPr/>
        </p:nvSpPr>
        <p:spPr>
          <a:xfrm>
            <a:off x="647700" y="6496050"/>
            <a:ext cx="10896600" cy="9525"/>
          </a:xfrm>
          <a:prstGeom prst="rect">
            <a:avLst/>
          </a:prstGeom>
          <a:solidFill>
            <a:srgbClr val="D7CEC3"/>
          </a:solidFill>
          <a:ln w="0">
            <a:solidFill>
              <a:srgbClr val="000000">
                <a:alpha val="0"/>
              </a:srgbClr>
            </a:solidFill>
            <a:prstDash val="solid"/>
          </a:ln>
        </p:spPr>
      </p:sp>
      <p:sp>
        <p:nvSpPr>
          <p:cNvPr id="26" name="Rectangle 25">
            <a:extLst>
              <a:ext uri="{FF2B5EF4-FFF2-40B4-BE49-F238E27FC236}">
                <a16:creationId xmlns:a16="http://schemas.microsoft.com/office/drawing/2014/main" id="{5A1EF73E-63EB-421C-AF95-ACF86149EB07}"/>
              </a:ext>
            </a:extLst>
          </p:cNvPr>
          <p:cNvSpPr>
            <a:spLocks noGrp="1"/>
          </p:cNvSpPr>
          <p:nvPr/>
        </p:nvSpPr>
        <p:spPr>
          <a:xfrm>
            <a:off x="685800" y="6572250"/>
            <a:ext cx="857250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38" b="0">
                <a:solidFill>
                  <a:srgbClr val="617086"/>
                </a:solidFill>
                <a:latin typeface="Aptos"/>
                <a:ea typeface="Aptos"/>
                <a:cs typeface="Aptos"/>
              </a:defRPr>
            </a:pPr>
            <a:r>
              <a:rPr sz="638" b="0">
                <a:solidFill>
                  <a:srgbClr val="617086"/>
                </a:solidFill>
                <a:latin typeface="Aptos"/>
                <a:ea typeface="Aptos"/>
                <a:cs typeface="Aptos"/>
              </a:rPr>
              <a:t>TransferAI | Hub AI de Nettelecom CI | Proposition ciblée ELTON CI</a:t>
            </a:r>
          </a:p>
        </p:txBody>
      </p:sp>
      <p:sp>
        <p:nvSpPr>
          <p:cNvPr id="27" name="Rectangle 26">
            <a:extLst>
              <a:ext uri="{FF2B5EF4-FFF2-40B4-BE49-F238E27FC236}">
                <a16:creationId xmlns:a16="http://schemas.microsoft.com/office/drawing/2014/main" id="{B350AEB0-BE23-45D1-9053-8F9D7731E07F}"/>
              </a:ext>
            </a:extLst>
          </p:cNvPr>
          <p:cNvSpPr>
            <a:spLocks noGrp="1"/>
          </p:cNvSpPr>
          <p:nvPr/>
        </p:nvSpPr>
        <p:spPr>
          <a:xfrm>
            <a:off x="11049000" y="6553200"/>
            <a:ext cx="3429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750" b="1">
                <a:solidFill>
                  <a:srgbClr val="1A3554"/>
                </a:solidFill>
                <a:latin typeface="Aptos"/>
                <a:ea typeface="Aptos"/>
                <a:cs typeface="Aptos"/>
              </a:defRPr>
            </a:pPr>
            <a:r>
              <a:rPr sz="750" b="1">
                <a:solidFill>
                  <a:srgbClr val="1A3554"/>
                </a:solidFill>
                <a:latin typeface="Aptos"/>
                <a:ea typeface="Aptos"/>
                <a:cs typeface="Aptos"/>
              </a:rPr>
              <a:t>08</a:t>
            </a:r>
          </a:p>
        </p:txBody>
      </p:sp>
    </p:spTree>
    <p:extLst>
      <p:ext uri="{BB962C8B-B14F-4D97-AF65-F5344CB8AC3E}">
        <p14:creationId xmlns:p14="http://schemas.microsoft.com/office/powerpoint/2010/main" val="15698016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1A8A005A-8D84-4AA9-AE03-8DEAE080271D}"/>
              </a:ext>
            </a:extLst>
          </p:cNvPr>
          <p:cNvSpPr>
            <a:spLocks noGrp="1"/>
          </p:cNvSpPr>
          <p:nvPr/>
        </p:nvSpPr>
        <p:spPr>
          <a:xfrm>
            <a:off x="0" y="0"/>
            <a:ext cx="12192000" cy="6858000"/>
          </a:xfrm>
          <a:prstGeom prst="rect">
            <a:avLst/>
          </a:prstGeom>
          <a:solidFill>
            <a:srgbClr val="F5EFE7"/>
          </a:solidFill>
          <a:ln w="0">
            <a:solidFill>
              <a:srgbClr val="000000">
                <a:alpha val="0"/>
              </a:srgbClr>
            </a:solidFill>
            <a:prstDash val="solid"/>
          </a:ln>
        </p:spPr>
      </p:sp>
      <p:sp>
        <p:nvSpPr>
          <p:cNvPr id="2" name="Rectangle 1">
            <a:extLst>
              <a:ext uri="{FF2B5EF4-FFF2-40B4-BE49-F238E27FC236}">
                <a16:creationId xmlns:a16="http://schemas.microsoft.com/office/drawing/2014/main" id="{3504D869-C3D3-4E70-A5DE-6B3A98A173C2}"/>
              </a:ext>
            </a:extLst>
          </p:cNvPr>
          <p:cNvSpPr>
            <a:spLocks noGrp="1"/>
          </p:cNvSpPr>
          <p:nvPr/>
        </p:nvSpPr>
        <p:spPr>
          <a:xfrm>
            <a:off x="685800" y="495300"/>
            <a:ext cx="24765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88" b="1">
                <a:solidFill>
                  <a:srgbClr val="E76F1D"/>
                </a:solidFill>
                <a:latin typeface="Aptos"/>
                <a:ea typeface="Aptos"/>
                <a:cs typeface="Aptos"/>
              </a:defRPr>
            </a:pPr>
            <a:r>
              <a:rPr sz="788" b="1">
                <a:solidFill>
                  <a:srgbClr val="E76F1D"/>
                </a:solidFill>
                <a:latin typeface="Aptos"/>
                <a:ea typeface="Aptos"/>
                <a:cs typeface="Aptos"/>
              </a:rPr>
              <a:t>OFFRE RECOMMANDÉE</a:t>
            </a:r>
          </a:p>
        </p:txBody>
      </p:sp>
      <p:sp>
        <p:nvSpPr>
          <p:cNvPr id="3" name="Rectangle 2">
            <a:extLst>
              <a:ext uri="{FF2B5EF4-FFF2-40B4-BE49-F238E27FC236}">
                <a16:creationId xmlns:a16="http://schemas.microsoft.com/office/drawing/2014/main" id="{9B5E9DA5-201E-48B7-BDEB-52ECBE7F5EE8}"/>
              </a:ext>
            </a:extLst>
          </p:cNvPr>
          <p:cNvSpPr>
            <a:spLocks noGrp="1"/>
          </p:cNvSpPr>
          <p:nvPr/>
        </p:nvSpPr>
        <p:spPr>
          <a:xfrm>
            <a:off x="685800" y="819150"/>
            <a:ext cx="8001000" cy="8001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550" b="1">
                <a:solidFill>
                  <a:srgbClr val="1A3554"/>
                </a:solidFill>
                <a:latin typeface="Aptos Display"/>
                <a:ea typeface="Aptos Display"/>
                <a:cs typeface="Aptos Display"/>
              </a:defRPr>
            </a:pPr>
            <a:r>
              <a:rPr sz="2550" b="1">
                <a:solidFill>
                  <a:srgbClr val="1A3554"/>
                </a:solidFill>
                <a:latin typeface="Aptos Display"/>
                <a:ea typeface="Aptos Display"/>
                <a:cs typeface="Aptos Display"/>
              </a:rPr>
              <a:t>La proposition TransferAI pour ELTON CI</a:t>
            </a:r>
          </a:p>
        </p:txBody>
      </p:sp>
      <p:sp>
        <p:nvSpPr>
          <p:cNvPr id="4" name="Rectangle 3">
            <a:extLst>
              <a:ext uri="{FF2B5EF4-FFF2-40B4-BE49-F238E27FC236}">
                <a16:creationId xmlns:a16="http://schemas.microsoft.com/office/drawing/2014/main" id="{87D36DC3-2961-44A2-8044-111162349936}"/>
              </a:ext>
            </a:extLst>
          </p:cNvPr>
          <p:cNvSpPr>
            <a:spLocks noGrp="1"/>
          </p:cNvSpPr>
          <p:nvPr/>
        </p:nvSpPr>
        <p:spPr>
          <a:xfrm>
            <a:off x="685800" y="1676400"/>
            <a:ext cx="92392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0">
                <a:solidFill>
                  <a:srgbClr val="617086"/>
                </a:solidFill>
                <a:latin typeface="Aptos"/>
                <a:ea typeface="Aptos"/>
                <a:cs typeface="Aptos"/>
              </a:defRPr>
            </a:pPr>
            <a:r>
              <a:rPr sz="1050" b="0">
                <a:solidFill>
                  <a:srgbClr val="617086"/>
                </a:solidFill>
                <a:latin typeface="Aptos"/>
                <a:ea typeface="Aptos"/>
                <a:cs typeface="Aptos"/>
              </a:rPr>
              <a:t>Notre valeur ne vient pas d'un outil unique, mais de l'enchaînement entre diagnostic, formation utile, gouvernance et premier terrain d'exécution.</a:t>
            </a:r>
          </a:p>
        </p:txBody>
      </p:sp>
      <p:sp>
        <p:nvSpPr>
          <p:cNvPr id="5" name="Rectangle 4">
            <a:extLst>
              <a:ext uri="{FF2B5EF4-FFF2-40B4-BE49-F238E27FC236}">
                <a16:creationId xmlns:a16="http://schemas.microsoft.com/office/drawing/2014/main" id="{C544E1AE-23F9-4CC7-BBFD-DE6C69DEC8F9}"/>
              </a:ext>
            </a:extLst>
          </p:cNvPr>
          <p:cNvSpPr>
            <a:spLocks noGrp="1"/>
          </p:cNvSpPr>
          <p:nvPr/>
        </p:nvSpPr>
        <p:spPr>
          <a:xfrm>
            <a:off x="685800" y="2247900"/>
            <a:ext cx="5181600" cy="1333500"/>
          </a:xfrm>
          <a:prstGeom prst="rect">
            <a:avLst/>
          </a:prstGeom>
          <a:solidFill>
            <a:srgbClr val="163556"/>
          </a:solidFill>
          <a:ln w="0">
            <a:solidFill>
              <a:srgbClr val="163556"/>
            </a:solidFill>
            <a:prstDash val="solid"/>
          </a:ln>
        </p:spPr>
      </p:sp>
      <p:sp>
        <p:nvSpPr>
          <p:cNvPr id="6" name="Rectangle 5">
            <a:extLst>
              <a:ext uri="{FF2B5EF4-FFF2-40B4-BE49-F238E27FC236}">
                <a16:creationId xmlns:a16="http://schemas.microsoft.com/office/drawing/2014/main" id="{06DCA239-52CA-44DE-8E26-F02EBDED8D13}"/>
              </a:ext>
            </a:extLst>
          </p:cNvPr>
          <p:cNvSpPr>
            <a:spLocks noGrp="1"/>
          </p:cNvSpPr>
          <p:nvPr/>
        </p:nvSpPr>
        <p:spPr>
          <a:xfrm>
            <a:off x="857250" y="2419350"/>
            <a:ext cx="4838700" cy="4191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FFFFFF"/>
                </a:solidFill>
                <a:latin typeface="Aptos Display"/>
                <a:ea typeface="Aptos Display"/>
                <a:cs typeface="Aptos Display"/>
              </a:defRPr>
            </a:pPr>
            <a:r>
              <a:rPr sz="1350" b="1">
                <a:solidFill>
                  <a:srgbClr val="FFFFFF"/>
                </a:solidFill>
                <a:latin typeface="Aptos Display"/>
                <a:ea typeface="Aptos Display"/>
                <a:cs typeface="Aptos Display"/>
              </a:rPr>
              <a:t>1. Audit, cadrage et feuille de route</a:t>
            </a:r>
          </a:p>
        </p:txBody>
      </p:sp>
      <p:sp>
        <p:nvSpPr>
          <p:cNvPr id="7" name="Rectangle 6">
            <a:extLst>
              <a:ext uri="{FF2B5EF4-FFF2-40B4-BE49-F238E27FC236}">
                <a16:creationId xmlns:a16="http://schemas.microsoft.com/office/drawing/2014/main" id="{5FEBE810-7EAF-4A16-B2CD-FE11A1424C6B}"/>
              </a:ext>
            </a:extLst>
          </p:cNvPr>
          <p:cNvSpPr>
            <a:spLocks noGrp="1"/>
          </p:cNvSpPr>
          <p:nvPr/>
        </p:nvSpPr>
        <p:spPr>
          <a:xfrm>
            <a:off x="857250" y="2933700"/>
            <a:ext cx="4838700" cy="4762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38" b="0">
                <a:solidFill>
                  <a:srgbClr val="FFFFFF"/>
                </a:solidFill>
                <a:latin typeface="Aptos"/>
                <a:ea typeface="Aptos"/>
                <a:cs typeface="Aptos"/>
              </a:defRPr>
            </a:pPr>
            <a:r>
              <a:rPr sz="938" b="0">
                <a:solidFill>
                  <a:srgbClr val="FFFFFF"/>
                </a:solidFill>
                <a:latin typeface="Aptos"/>
                <a:ea typeface="Aptos"/>
                <a:cs typeface="Aptos"/>
              </a:rPr>
              <a:t>• priorités métier</a:t>
            </a:r>
          </a:p>
          <a:p>
            <a:pPr algn="l">
              <a:defRPr sz="938" b="0">
                <a:solidFill>
                  <a:srgbClr val="FFFFFF"/>
                </a:solidFill>
                <a:latin typeface="Aptos"/>
                <a:ea typeface="Aptos"/>
                <a:cs typeface="Aptos"/>
              </a:defRPr>
            </a:pPr>
            <a:r>
              <a:rPr sz="938" b="0">
                <a:solidFill>
                  <a:srgbClr val="FFFFFF"/>
                </a:solidFill>
                <a:latin typeface="Aptos"/>
                <a:ea typeface="Aptos"/>
                <a:cs typeface="Aptos"/>
              </a:rPr>
              <a:t>• cartographie des flux</a:t>
            </a:r>
          </a:p>
          <a:p>
            <a:pPr algn="l">
              <a:defRPr sz="938" b="0">
                <a:solidFill>
                  <a:srgbClr val="FFFFFF"/>
                </a:solidFill>
                <a:latin typeface="Aptos"/>
                <a:ea typeface="Aptos"/>
                <a:cs typeface="Aptos"/>
              </a:defRPr>
            </a:pPr>
            <a:r>
              <a:rPr sz="938" b="0">
                <a:solidFill>
                  <a:srgbClr val="FFFFFF"/>
                </a:solidFill>
                <a:latin typeface="Aptos"/>
                <a:ea typeface="Aptos"/>
                <a:cs typeface="Aptos"/>
              </a:rPr>
              <a:t>• KPI de preuve et conditions de pilotage</a:t>
            </a:r>
          </a:p>
        </p:txBody>
      </p:sp>
      <p:sp>
        <p:nvSpPr>
          <p:cNvPr id="8" name="Rectangle 7">
            <a:extLst>
              <a:ext uri="{FF2B5EF4-FFF2-40B4-BE49-F238E27FC236}">
                <a16:creationId xmlns:a16="http://schemas.microsoft.com/office/drawing/2014/main" id="{A750EBC3-FA44-41A1-8199-34AEC5B6C39D}"/>
              </a:ext>
            </a:extLst>
          </p:cNvPr>
          <p:cNvSpPr>
            <a:spLocks noGrp="1"/>
          </p:cNvSpPr>
          <p:nvPr/>
        </p:nvSpPr>
        <p:spPr>
          <a:xfrm>
            <a:off x="6096000" y="2247900"/>
            <a:ext cx="5410200" cy="1333500"/>
          </a:xfrm>
          <a:prstGeom prst="rect">
            <a:avLst/>
          </a:prstGeom>
          <a:solidFill>
            <a:srgbClr val="E76F1D"/>
          </a:solidFill>
          <a:ln w="0">
            <a:solidFill>
              <a:srgbClr val="E76F1D"/>
            </a:solidFill>
            <a:prstDash val="solid"/>
          </a:ln>
        </p:spPr>
      </p:sp>
      <p:sp>
        <p:nvSpPr>
          <p:cNvPr id="9" name="Rectangle 8">
            <a:extLst>
              <a:ext uri="{FF2B5EF4-FFF2-40B4-BE49-F238E27FC236}">
                <a16:creationId xmlns:a16="http://schemas.microsoft.com/office/drawing/2014/main" id="{E4EC5F00-E363-43F4-ACDC-9C691E5E3B14}"/>
              </a:ext>
            </a:extLst>
          </p:cNvPr>
          <p:cNvSpPr>
            <a:spLocks noGrp="1"/>
          </p:cNvSpPr>
          <p:nvPr/>
        </p:nvSpPr>
        <p:spPr>
          <a:xfrm>
            <a:off x="6267450" y="2419350"/>
            <a:ext cx="5067300" cy="4191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FFFFFF"/>
                </a:solidFill>
                <a:latin typeface="Aptos Display"/>
                <a:ea typeface="Aptos Display"/>
                <a:cs typeface="Aptos Display"/>
              </a:defRPr>
            </a:pPr>
            <a:r>
              <a:rPr sz="1350" b="1">
                <a:solidFill>
                  <a:srgbClr val="FFFFFF"/>
                </a:solidFill>
                <a:latin typeface="Aptos Display"/>
                <a:ea typeface="Aptos Display"/>
                <a:cs typeface="Aptos Display"/>
              </a:rPr>
              <a:t>2. Formation dirigeants et managers</a:t>
            </a:r>
          </a:p>
        </p:txBody>
      </p:sp>
      <p:sp>
        <p:nvSpPr>
          <p:cNvPr id="10" name="Rectangle 9">
            <a:extLst>
              <a:ext uri="{FF2B5EF4-FFF2-40B4-BE49-F238E27FC236}">
                <a16:creationId xmlns:a16="http://schemas.microsoft.com/office/drawing/2014/main" id="{100F44E7-B29C-4164-A559-EBC459F167E3}"/>
              </a:ext>
            </a:extLst>
          </p:cNvPr>
          <p:cNvSpPr>
            <a:spLocks noGrp="1"/>
          </p:cNvSpPr>
          <p:nvPr/>
        </p:nvSpPr>
        <p:spPr>
          <a:xfrm>
            <a:off x="6267450" y="2933700"/>
            <a:ext cx="5067300" cy="4762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38" b="0">
                <a:solidFill>
                  <a:srgbClr val="FFFFFF"/>
                </a:solidFill>
                <a:latin typeface="Aptos"/>
                <a:ea typeface="Aptos"/>
                <a:cs typeface="Aptos"/>
              </a:defRPr>
            </a:pPr>
            <a:r>
              <a:rPr sz="938" b="0">
                <a:solidFill>
                  <a:srgbClr val="FFFFFF"/>
                </a:solidFill>
                <a:latin typeface="Aptos"/>
                <a:ea typeface="Aptos"/>
                <a:cs typeface="Aptos"/>
              </a:rPr>
              <a:t>• lecture exécutive des usages IA</a:t>
            </a:r>
          </a:p>
          <a:p>
            <a:pPr algn="l">
              <a:defRPr sz="938" b="0">
                <a:solidFill>
                  <a:srgbClr val="FFFFFF"/>
                </a:solidFill>
                <a:latin typeface="Aptos"/>
                <a:ea typeface="Aptos"/>
                <a:cs typeface="Aptos"/>
              </a:defRPr>
            </a:pPr>
            <a:r>
              <a:rPr sz="938" b="0">
                <a:solidFill>
                  <a:srgbClr val="FFFFFF"/>
                </a:solidFill>
                <a:latin typeface="Aptos"/>
                <a:ea typeface="Aptos"/>
                <a:cs typeface="Aptos"/>
              </a:rPr>
              <a:t>• arbitrage, gouvernance et conduite du changement</a:t>
            </a:r>
          </a:p>
        </p:txBody>
      </p:sp>
      <p:sp>
        <p:nvSpPr>
          <p:cNvPr id="11" name="Rectangle 10">
            <a:extLst>
              <a:ext uri="{FF2B5EF4-FFF2-40B4-BE49-F238E27FC236}">
                <a16:creationId xmlns:a16="http://schemas.microsoft.com/office/drawing/2014/main" id="{428DAB99-9A97-4630-A3F3-2601AF4BEBA3}"/>
              </a:ext>
            </a:extLst>
          </p:cNvPr>
          <p:cNvSpPr>
            <a:spLocks noGrp="1"/>
          </p:cNvSpPr>
          <p:nvPr/>
        </p:nvSpPr>
        <p:spPr>
          <a:xfrm>
            <a:off x="685800" y="3810000"/>
            <a:ext cx="5181600" cy="1333500"/>
          </a:xfrm>
          <a:prstGeom prst="rect">
            <a:avLst/>
          </a:prstGeom>
          <a:solidFill>
            <a:srgbClr val="1C8A78"/>
          </a:solidFill>
          <a:ln w="0">
            <a:solidFill>
              <a:srgbClr val="1C8A78"/>
            </a:solidFill>
            <a:prstDash val="solid"/>
          </a:ln>
        </p:spPr>
      </p:sp>
      <p:sp>
        <p:nvSpPr>
          <p:cNvPr id="12" name="Rectangle 11">
            <a:extLst>
              <a:ext uri="{FF2B5EF4-FFF2-40B4-BE49-F238E27FC236}">
                <a16:creationId xmlns:a16="http://schemas.microsoft.com/office/drawing/2014/main" id="{FE111C7A-410C-448B-B444-7FD9A20976A5}"/>
              </a:ext>
            </a:extLst>
          </p:cNvPr>
          <p:cNvSpPr>
            <a:spLocks noGrp="1"/>
          </p:cNvSpPr>
          <p:nvPr/>
        </p:nvSpPr>
        <p:spPr>
          <a:xfrm>
            <a:off x="857250" y="3981450"/>
            <a:ext cx="4838700" cy="4191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FFFFFF"/>
                </a:solidFill>
                <a:latin typeface="Aptos Display"/>
                <a:ea typeface="Aptos Display"/>
                <a:cs typeface="Aptos Display"/>
              </a:defRPr>
            </a:pPr>
            <a:r>
              <a:rPr sz="1350" b="1">
                <a:solidFill>
                  <a:srgbClr val="FFFFFF"/>
                </a:solidFill>
                <a:latin typeface="Aptos Display"/>
                <a:ea typeface="Aptos Display"/>
                <a:cs typeface="Aptos Display"/>
              </a:rPr>
              <a:t>3. Formation équipes métier</a:t>
            </a:r>
          </a:p>
        </p:txBody>
      </p:sp>
      <p:sp>
        <p:nvSpPr>
          <p:cNvPr id="13" name="Rectangle 12">
            <a:extLst>
              <a:ext uri="{FF2B5EF4-FFF2-40B4-BE49-F238E27FC236}">
                <a16:creationId xmlns:a16="http://schemas.microsoft.com/office/drawing/2014/main" id="{4BAAE0BF-2BF0-4F56-9C6A-BB0C580577E6}"/>
              </a:ext>
            </a:extLst>
          </p:cNvPr>
          <p:cNvSpPr>
            <a:spLocks noGrp="1"/>
          </p:cNvSpPr>
          <p:nvPr/>
        </p:nvSpPr>
        <p:spPr>
          <a:xfrm>
            <a:off x="857250" y="4495800"/>
            <a:ext cx="4838700" cy="4762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38" b="0">
                <a:solidFill>
                  <a:srgbClr val="FFFFFF"/>
                </a:solidFill>
                <a:latin typeface="Aptos"/>
                <a:ea typeface="Aptos"/>
                <a:cs typeface="Aptos"/>
              </a:defRPr>
            </a:pPr>
            <a:r>
              <a:rPr sz="938" b="0">
                <a:solidFill>
                  <a:srgbClr val="FFFFFF"/>
                </a:solidFill>
                <a:latin typeface="Aptos"/>
                <a:ea typeface="Aptos"/>
                <a:cs typeface="Aptos"/>
              </a:rPr>
              <a:t>• comptes, flotte, relation client, support</a:t>
            </a:r>
          </a:p>
          <a:p>
            <a:pPr algn="l">
              <a:defRPr sz="938" b="0">
                <a:solidFill>
                  <a:srgbClr val="FFFFFF"/>
                </a:solidFill>
                <a:latin typeface="Aptos"/>
                <a:ea typeface="Aptos"/>
                <a:cs typeface="Aptos"/>
              </a:defRPr>
            </a:pPr>
            <a:r>
              <a:rPr sz="938" b="0">
                <a:solidFill>
                  <a:srgbClr val="FFFFFF"/>
                </a:solidFill>
                <a:latin typeface="Aptos"/>
                <a:ea typeface="Aptos"/>
                <a:cs typeface="Aptos"/>
              </a:rPr>
              <a:t>• outils, scripts et routines liés aux vrais cas d'usage</a:t>
            </a:r>
          </a:p>
        </p:txBody>
      </p:sp>
      <p:sp>
        <p:nvSpPr>
          <p:cNvPr id="14" name="Rectangle 13">
            <a:extLst>
              <a:ext uri="{FF2B5EF4-FFF2-40B4-BE49-F238E27FC236}">
                <a16:creationId xmlns:a16="http://schemas.microsoft.com/office/drawing/2014/main" id="{141C267E-C4C7-4FF7-AB0F-50557C4F28A5}"/>
              </a:ext>
            </a:extLst>
          </p:cNvPr>
          <p:cNvSpPr>
            <a:spLocks noGrp="1"/>
          </p:cNvSpPr>
          <p:nvPr/>
        </p:nvSpPr>
        <p:spPr>
          <a:xfrm>
            <a:off x="6096000" y="3810000"/>
            <a:ext cx="5410200" cy="1333500"/>
          </a:xfrm>
          <a:prstGeom prst="rect">
            <a:avLst/>
          </a:prstGeom>
          <a:solidFill>
            <a:srgbClr val="C88C3A"/>
          </a:solidFill>
          <a:ln w="0">
            <a:solidFill>
              <a:srgbClr val="C88C3A"/>
            </a:solidFill>
            <a:prstDash val="solid"/>
          </a:ln>
        </p:spPr>
      </p:sp>
      <p:sp>
        <p:nvSpPr>
          <p:cNvPr id="15" name="Rectangle 14">
            <a:extLst>
              <a:ext uri="{FF2B5EF4-FFF2-40B4-BE49-F238E27FC236}">
                <a16:creationId xmlns:a16="http://schemas.microsoft.com/office/drawing/2014/main" id="{88D01F47-CA95-43EF-8E11-3C607F6757BD}"/>
              </a:ext>
            </a:extLst>
          </p:cNvPr>
          <p:cNvSpPr>
            <a:spLocks noGrp="1"/>
          </p:cNvSpPr>
          <p:nvPr/>
        </p:nvSpPr>
        <p:spPr>
          <a:xfrm>
            <a:off x="6267450" y="3981450"/>
            <a:ext cx="5067300" cy="4191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FFFFFF"/>
                </a:solidFill>
                <a:latin typeface="Aptos Display"/>
                <a:ea typeface="Aptos Display"/>
                <a:cs typeface="Aptos Display"/>
              </a:defRPr>
            </a:pPr>
            <a:r>
              <a:rPr sz="1350" b="1">
                <a:solidFill>
                  <a:srgbClr val="FFFFFF"/>
                </a:solidFill>
                <a:latin typeface="Aptos Display"/>
                <a:ea typeface="Aptos Display"/>
                <a:cs typeface="Aptos Display"/>
              </a:rPr>
              <a:t>4. Pilote métier encadré</a:t>
            </a:r>
          </a:p>
        </p:txBody>
      </p:sp>
      <p:sp>
        <p:nvSpPr>
          <p:cNvPr id="16" name="Rectangle 15">
            <a:extLst>
              <a:ext uri="{FF2B5EF4-FFF2-40B4-BE49-F238E27FC236}">
                <a16:creationId xmlns:a16="http://schemas.microsoft.com/office/drawing/2014/main" id="{51E39A0E-C8D7-439C-877D-6807CCA229C1}"/>
              </a:ext>
            </a:extLst>
          </p:cNvPr>
          <p:cNvSpPr>
            <a:spLocks noGrp="1"/>
          </p:cNvSpPr>
          <p:nvPr/>
        </p:nvSpPr>
        <p:spPr>
          <a:xfrm>
            <a:off x="6267450" y="4495800"/>
            <a:ext cx="5067300" cy="4762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38" b="0">
                <a:solidFill>
                  <a:srgbClr val="FFFFFF"/>
                </a:solidFill>
                <a:latin typeface="Aptos"/>
                <a:ea typeface="Aptos"/>
                <a:cs typeface="Aptos"/>
              </a:defRPr>
            </a:pPr>
            <a:r>
              <a:rPr sz="938" b="0">
                <a:solidFill>
                  <a:srgbClr val="FFFFFF"/>
                </a:solidFill>
                <a:latin typeface="Aptos"/>
                <a:ea typeface="Aptos"/>
                <a:cs typeface="Aptos"/>
              </a:rPr>
              <a:t>• assistant ciblé, tableau de bord ou base interne</a:t>
            </a:r>
          </a:p>
          <a:p>
            <a:pPr algn="l">
              <a:defRPr sz="938" b="0">
                <a:solidFill>
                  <a:srgbClr val="FFFFFF"/>
                </a:solidFill>
                <a:latin typeface="Aptos"/>
                <a:ea typeface="Aptos"/>
                <a:cs typeface="Aptos"/>
              </a:defRPr>
            </a:pPr>
            <a:r>
              <a:rPr sz="938" b="0">
                <a:solidFill>
                  <a:srgbClr val="FFFFFF"/>
                </a:solidFill>
                <a:latin typeface="Aptos"/>
                <a:ea typeface="Aptos"/>
                <a:cs typeface="Aptos"/>
              </a:rPr>
              <a:t>• supervision, mesure et décision d'extension</a:t>
            </a:r>
          </a:p>
        </p:txBody>
      </p:sp>
      <p:sp>
        <p:nvSpPr>
          <p:cNvPr id="20" name="Rectangle 19">
            <a:extLst>
              <a:ext uri="{FF2B5EF4-FFF2-40B4-BE49-F238E27FC236}">
                <a16:creationId xmlns:a16="http://schemas.microsoft.com/office/drawing/2014/main" id="{E75C2BA2-B34E-4BE8-8997-2AA4320283C4}"/>
              </a:ext>
            </a:extLst>
          </p:cNvPr>
          <p:cNvSpPr>
            <a:spLocks noGrp="1"/>
          </p:cNvSpPr>
          <p:nvPr/>
        </p:nvSpPr>
        <p:spPr>
          <a:xfrm>
            <a:off x="647700" y="6496050"/>
            <a:ext cx="10896600" cy="9525"/>
          </a:xfrm>
          <a:prstGeom prst="rect">
            <a:avLst/>
          </a:prstGeom>
          <a:solidFill>
            <a:srgbClr val="D7CEC3"/>
          </a:solidFill>
          <a:ln w="0">
            <a:solidFill>
              <a:srgbClr val="000000">
                <a:alpha val="0"/>
              </a:srgbClr>
            </a:solidFill>
            <a:prstDash val="solid"/>
          </a:ln>
        </p:spPr>
      </p:sp>
      <p:sp>
        <p:nvSpPr>
          <p:cNvPr id="21" name="Rectangle 20">
            <a:extLst>
              <a:ext uri="{FF2B5EF4-FFF2-40B4-BE49-F238E27FC236}">
                <a16:creationId xmlns:a16="http://schemas.microsoft.com/office/drawing/2014/main" id="{B99ED501-CF6A-4B7A-A1A9-757BE7A611CE}"/>
              </a:ext>
            </a:extLst>
          </p:cNvPr>
          <p:cNvSpPr>
            <a:spLocks noGrp="1"/>
          </p:cNvSpPr>
          <p:nvPr/>
        </p:nvSpPr>
        <p:spPr>
          <a:xfrm>
            <a:off x="685800" y="6572250"/>
            <a:ext cx="857250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38" b="0">
                <a:solidFill>
                  <a:srgbClr val="617086"/>
                </a:solidFill>
                <a:latin typeface="Aptos"/>
                <a:ea typeface="Aptos"/>
                <a:cs typeface="Aptos"/>
              </a:defRPr>
            </a:pPr>
            <a:r>
              <a:rPr sz="638" b="0" dirty="0" err="1">
                <a:solidFill>
                  <a:srgbClr val="617086"/>
                </a:solidFill>
                <a:latin typeface="Aptos"/>
                <a:ea typeface="Aptos"/>
                <a:cs typeface="Aptos"/>
              </a:rPr>
              <a:t>TransferAI</a:t>
            </a:r>
            <a:r>
              <a:rPr sz="638" b="0" dirty="0">
                <a:solidFill>
                  <a:srgbClr val="617086"/>
                </a:solidFill>
                <a:latin typeface="Aptos"/>
                <a:ea typeface="Aptos"/>
                <a:cs typeface="Aptos"/>
              </a:rPr>
              <a:t> | Hub </a:t>
            </a:r>
            <a:r>
              <a:rPr lang="en-GB" sz="638" b="0" dirty="0">
                <a:solidFill>
                  <a:srgbClr val="617086"/>
                </a:solidFill>
                <a:latin typeface="Aptos"/>
                <a:ea typeface="Aptos"/>
                <a:cs typeface="Aptos"/>
              </a:rPr>
              <a:t>IA</a:t>
            </a:r>
            <a:r>
              <a:rPr sz="638" b="0" dirty="0">
                <a:solidFill>
                  <a:srgbClr val="617086"/>
                </a:solidFill>
                <a:latin typeface="Aptos"/>
                <a:ea typeface="Aptos"/>
                <a:cs typeface="Aptos"/>
              </a:rPr>
              <a:t> de </a:t>
            </a:r>
            <a:r>
              <a:rPr sz="638" b="0" dirty="0" err="1">
                <a:solidFill>
                  <a:srgbClr val="617086"/>
                </a:solidFill>
                <a:latin typeface="Aptos"/>
                <a:ea typeface="Aptos"/>
                <a:cs typeface="Aptos"/>
              </a:rPr>
              <a:t>Nettelecom</a:t>
            </a:r>
            <a:r>
              <a:rPr sz="638" b="0" dirty="0">
                <a:solidFill>
                  <a:srgbClr val="617086"/>
                </a:solidFill>
                <a:latin typeface="Aptos"/>
                <a:ea typeface="Aptos"/>
                <a:cs typeface="Aptos"/>
              </a:rPr>
              <a:t> CI | Proposition </a:t>
            </a:r>
            <a:r>
              <a:rPr sz="638" b="0" dirty="0" err="1">
                <a:solidFill>
                  <a:srgbClr val="617086"/>
                </a:solidFill>
                <a:latin typeface="Aptos"/>
                <a:ea typeface="Aptos"/>
                <a:cs typeface="Aptos"/>
              </a:rPr>
              <a:t>ciblée</a:t>
            </a:r>
            <a:r>
              <a:rPr sz="638" b="0" dirty="0">
                <a:solidFill>
                  <a:srgbClr val="617086"/>
                </a:solidFill>
                <a:latin typeface="Aptos"/>
                <a:ea typeface="Aptos"/>
                <a:cs typeface="Aptos"/>
              </a:rPr>
              <a:t> ELTON CI</a:t>
            </a:r>
          </a:p>
        </p:txBody>
      </p:sp>
      <p:sp>
        <p:nvSpPr>
          <p:cNvPr id="22" name="Rectangle 21">
            <a:extLst>
              <a:ext uri="{FF2B5EF4-FFF2-40B4-BE49-F238E27FC236}">
                <a16:creationId xmlns:a16="http://schemas.microsoft.com/office/drawing/2014/main" id="{F5DE8E1B-D2F2-4FF8-A3AE-3F63B8DAAD25}"/>
              </a:ext>
            </a:extLst>
          </p:cNvPr>
          <p:cNvSpPr>
            <a:spLocks noGrp="1"/>
          </p:cNvSpPr>
          <p:nvPr/>
        </p:nvSpPr>
        <p:spPr>
          <a:xfrm>
            <a:off x="11049000" y="6553200"/>
            <a:ext cx="3429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750" b="1">
                <a:solidFill>
                  <a:srgbClr val="1A3554"/>
                </a:solidFill>
                <a:latin typeface="Aptos"/>
                <a:ea typeface="Aptos"/>
                <a:cs typeface="Aptos"/>
              </a:defRPr>
            </a:pPr>
            <a:r>
              <a:rPr sz="750" b="1">
                <a:solidFill>
                  <a:srgbClr val="1A3554"/>
                </a:solidFill>
                <a:latin typeface="Aptos"/>
                <a:ea typeface="Aptos"/>
                <a:cs typeface="Aptos"/>
              </a:rPr>
              <a:t>09</a:t>
            </a:r>
          </a:p>
        </p:txBody>
      </p:sp>
    </p:spTree>
    <p:extLst>
      <p:ext uri="{BB962C8B-B14F-4D97-AF65-F5344CB8AC3E}">
        <p14:creationId xmlns:p14="http://schemas.microsoft.com/office/powerpoint/2010/main" val="1710939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1B7390BC-F7A7-4683-905D-D6265E5D949B}"/>
              </a:ext>
            </a:extLst>
          </p:cNvPr>
          <p:cNvSpPr>
            <a:spLocks noGrp="1"/>
          </p:cNvSpPr>
          <p:nvPr/>
        </p:nvSpPr>
        <p:spPr>
          <a:xfrm>
            <a:off x="0" y="0"/>
            <a:ext cx="12192000" cy="6858000"/>
          </a:xfrm>
          <a:prstGeom prst="rect">
            <a:avLst/>
          </a:prstGeom>
          <a:solidFill>
            <a:srgbClr val="F5EFE7"/>
          </a:solidFill>
          <a:ln w="0">
            <a:solidFill>
              <a:srgbClr val="000000">
                <a:alpha val="0"/>
              </a:srgbClr>
            </a:solidFill>
            <a:prstDash val="solid"/>
          </a:ln>
        </p:spPr>
      </p:sp>
      <p:sp>
        <p:nvSpPr>
          <p:cNvPr id="2" name="Rectangle 1">
            <a:extLst>
              <a:ext uri="{FF2B5EF4-FFF2-40B4-BE49-F238E27FC236}">
                <a16:creationId xmlns:a16="http://schemas.microsoft.com/office/drawing/2014/main" id="{3EDB6843-DFED-4308-84B0-69972888FF43}"/>
              </a:ext>
            </a:extLst>
          </p:cNvPr>
          <p:cNvSpPr>
            <a:spLocks noGrp="1"/>
          </p:cNvSpPr>
          <p:nvPr/>
        </p:nvSpPr>
        <p:spPr>
          <a:xfrm>
            <a:off x="685800" y="495300"/>
            <a:ext cx="24765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88" b="1">
                <a:solidFill>
                  <a:srgbClr val="E76F1D"/>
                </a:solidFill>
                <a:latin typeface="Aptos"/>
                <a:ea typeface="Aptos"/>
                <a:cs typeface="Aptos"/>
              </a:defRPr>
            </a:pPr>
            <a:r>
              <a:rPr sz="788" b="1">
                <a:solidFill>
                  <a:srgbClr val="E76F1D"/>
                </a:solidFill>
                <a:latin typeface="Aptos"/>
                <a:ea typeface="Aptos"/>
                <a:cs typeface="Aptos"/>
              </a:rPr>
              <a:t>CONFIANCE ET PROCHAINE ÉTAPE</a:t>
            </a:r>
          </a:p>
        </p:txBody>
      </p:sp>
      <p:sp>
        <p:nvSpPr>
          <p:cNvPr id="3" name="Rectangle 2">
            <a:extLst>
              <a:ext uri="{FF2B5EF4-FFF2-40B4-BE49-F238E27FC236}">
                <a16:creationId xmlns:a16="http://schemas.microsoft.com/office/drawing/2014/main" id="{404CC679-9C16-4A24-970B-4AC071053009}"/>
              </a:ext>
            </a:extLst>
          </p:cNvPr>
          <p:cNvSpPr>
            <a:spLocks noGrp="1"/>
          </p:cNvSpPr>
          <p:nvPr/>
        </p:nvSpPr>
        <p:spPr>
          <a:xfrm>
            <a:off x="685800" y="819150"/>
            <a:ext cx="8572500" cy="8001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550" b="1">
                <a:solidFill>
                  <a:srgbClr val="1A3554"/>
                </a:solidFill>
                <a:latin typeface="Aptos Display"/>
                <a:ea typeface="Aptos Display"/>
                <a:cs typeface="Aptos Display"/>
              </a:defRPr>
            </a:pPr>
            <a:r>
              <a:rPr sz="2550" b="1">
                <a:solidFill>
                  <a:srgbClr val="1A3554"/>
                </a:solidFill>
                <a:latin typeface="Aptos Display"/>
                <a:ea typeface="Aptos Display"/>
                <a:cs typeface="Aptos Display"/>
              </a:rPr>
              <a:t>Proposer un pilote utile, gouverné et mesurable</a:t>
            </a:r>
          </a:p>
        </p:txBody>
      </p:sp>
      <p:sp>
        <p:nvSpPr>
          <p:cNvPr id="4" name="Rectangle 3">
            <a:extLst>
              <a:ext uri="{FF2B5EF4-FFF2-40B4-BE49-F238E27FC236}">
                <a16:creationId xmlns:a16="http://schemas.microsoft.com/office/drawing/2014/main" id="{38BDC496-CE3C-489C-BCB8-C3F93CAFDA31}"/>
              </a:ext>
            </a:extLst>
          </p:cNvPr>
          <p:cNvSpPr>
            <a:spLocks noGrp="1"/>
          </p:cNvSpPr>
          <p:nvPr/>
        </p:nvSpPr>
        <p:spPr>
          <a:xfrm>
            <a:off x="685800" y="1714500"/>
            <a:ext cx="4953000" cy="3714750"/>
          </a:xfrm>
          <a:prstGeom prst="rect">
            <a:avLst/>
          </a:prstGeom>
          <a:solidFill>
            <a:srgbClr val="FFFDFC"/>
          </a:solidFill>
          <a:ln w="9525">
            <a:solidFill>
              <a:srgbClr val="D7CEC3"/>
            </a:solidFill>
            <a:prstDash val="solid"/>
          </a:ln>
        </p:spPr>
      </p:sp>
      <p:sp>
        <p:nvSpPr>
          <p:cNvPr id="5" name="Oval 4">
            <a:extLst>
              <a:ext uri="{FF2B5EF4-FFF2-40B4-BE49-F238E27FC236}">
                <a16:creationId xmlns:a16="http://schemas.microsoft.com/office/drawing/2014/main" id="{F29E0467-B115-421D-B5B8-8D95D72A47B1}"/>
              </a:ext>
            </a:extLst>
          </p:cNvPr>
          <p:cNvSpPr>
            <a:spLocks noGrp="1"/>
          </p:cNvSpPr>
          <p:nvPr/>
        </p:nvSpPr>
        <p:spPr>
          <a:xfrm>
            <a:off x="895350" y="1943100"/>
            <a:ext cx="419100" cy="419100"/>
          </a:xfrm>
          <a:prstGeom prst="ellipse">
            <a:avLst/>
          </a:prstGeom>
          <a:solidFill>
            <a:srgbClr val="1C8A78"/>
          </a:solidFill>
          <a:ln w="0">
            <a:solidFill>
              <a:srgbClr val="1C8A78"/>
            </a:solidFill>
            <a:prstDash val="solid"/>
          </a:ln>
        </p:spPr>
      </p:sp>
      <p:pic>
        <p:nvPicPr>
          <p:cNvPr id="6" name="Graphic 5"/>
          <p:cNvPicPr>
            <a:picLocks noChangeAspect="1"/>
          </p:cNvPicPr>
          <p:nvPr/>
        </p:nvPicPr>
        <p:blipFill>
          <a:blip>
            <a:extLst>
              <a:ext uri="{96DAC541-7B7A-43D3-8B79-37D633B846F1}">
                <asvg:svgBlip xmlns:asvg="http://schemas.microsoft.com/office/drawing/2016/SVG/main" r:embed="rId3"/>
              </a:ext>
            </a:extLst>
          </a:blip>
          <a:stretch/>
        </p:blipFill>
        <p:spPr>
          <a:xfrm>
            <a:off x="990600" y="2038350"/>
            <a:ext cx="228600" cy="228600"/>
          </a:xfrm>
          <a:prstGeom prst="rect">
            <a:avLst/>
          </a:prstGeom>
        </p:spPr>
      </p:pic>
      <p:sp>
        <p:nvSpPr>
          <p:cNvPr id="7" name="Rectangle 6">
            <a:extLst>
              <a:ext uri="{FF2B5EF4-FFF2-40B4-BE49-F238E27FC236}">
                <a16:creationId xmlns:a16="http://schemas.microsoft.com/office/drawing/2014/main" id="{DDB37A17-63C9-4F26-8F55-BDF27E1A824A}"/>
              </a:ext>
            </a:extLst>
          </p:cNvPr>
          <p:cNvSpPr>
            <a:spLocks noGrp="1"/>
          </p:cNvSpPr>
          <p:nvPr/>
        </p:nvSpPr>
        <p:spPr>
          <a:xfrm>
            <a:off x="1428750" y="1943100"/>
            <a:ext cx="36195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650" b="1">
                <a:solidFill>
                  <a:srgbClr val="1A3554"/>
                </a:solidFill>
                <a:latin typeface="Aptos Display"/>
                <a:ea typeface="Aptos Display"/>
                <a:cs typeface="Aptos Display"/>
              </a:defRPr>
            </a:pPr>
            <a:r>
              <a:rPr sz="1650" b="1">
                <a:solidFill>
                  <a:srgbClr val="1A3554"/>
                </a:solidFill>
                <a:latin typeface="Aptos Display"/>
                <a:ea typeface="Aptos Display"/>
                <a:cs typeface="Aptos Display"/>
              </a:rPr>
              <a:t>Le cadre de confiance à présenter à ELTON CI</a:t>
            </a:r>
          </a:p>
        </p:txBody>
      </p:sp>
      <p:sp>
        <p:nvSpPr>
          <p:cNvPr id="8" name="Rectangle 7">
            <a:extLst>
              <a:ext uri="{FF2B5EF4-FFF2-40B4-BE49-F238E27FC236}">
                <a16:creationId xmlns:a16="http://schemas.microsoft.com/office/drawing/2014/main" id="{42C9BAB2-4E04-451E-89E1-3FE03F0FA004}"/>
              </a:ext>
            </a:extLst>
          </p:cNvPr>
          <p:cNvSpPr>
            <a:spLocks noGrp="1"/>
          </p:cNvSpPr>
          <p:nvPr/>
        </p:nvSpPr>
        <p:spPr>
          <a:xfrm>
            <a:off x="895350" y="2495550"/>
            <a:ext cx="4267200" cy="1733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60" b="0">
                <a:solidFill>
                  <a:srgbClr val="1A3554"/>
                </a:solidFill>
                <a:latin typeface="Aptos"/>
                <a:ea typeface="Aptos"/>
                <a:cs typeface="Aptos"/>
              </a:defRPr>
            </a:pPr>
            <a:r>
              <a:rPr sz="960" b="0">
                <a:solidFill>
                  <a:srgbClr val="1A3554"/>
                </a:solidFill>
                <a:latin typeface="Aptos"/>
                <a:ea typeface="Aptos"/>
                <a:cs typeface="Aptos"/>
              </a:rPr>
              <a:t>• aucune donnée sensible n'est exposée sans règles d'usage, rôles et validation</a:t>
            </a:r>
          </a:p>
          <a:p>
            <a:pPr algn="l">
              <a:defRPr sz="960" b="0">
                <a:solidFill>
                  <a:srgbClr val="1A3554"/>
                </a:solidFill>
                <a:latin typeface="Aptos"/>
                <a:ea typeface="Aptos"/>
                <a:cs typeface="Aptos"/>
              </a:defRPr>
            </a:pPr>
            <a:r>
              <a:rPr sz="960" b="0">
                <a:solidFill>
                  <a:srgbClr val="1A3554"/>
                </a:solidFill>
                <a:latin typeface="Aptos"/>
                <a:ea typeface="Aptos"/>
                <a:cs typeface="Aptos"/>
              </a:rPr>
              <a:t>• revue humaine avant toute automatisation critique</a:t>
            </a:r>
          </a:p>
          <a:p>
            <a:pPr algn="l">
              <a:defRPr sz="960" b="0">
                <a:solidFill>
                  <a:srgbClr val="1A3554"/>
                </a:solidFill>
                <a:latin typeface="Aptos"/>
                <a:ea typeface="Aptos"/>
                <a:cs typeface="Aptos"/>
              </a:defRPr>
            </a:pPr>
            <a:r>
              <a:rPr sz="960" b="0">
                <a:solidFill>
                  <a:srgbClr val="1A3554"/>
                </a:solidFill>
                <a:latin typeface="Aptos"/>
                <a:ea typeface="Aptos"/>
                <a:cs typeface="Aptos"/>
              </a:rPr>
              <a:t>• traçabilité des accès et des sorties</a:t>
            </a:r>
          </a:p>
          <a:p>
            <a:pPr algn="l">
              <a:defRPr sz="960" b="0">
                <a:solidFill>
                  <a:srgbClr val="1A3554"/>
                </a:solidFill>
                <a:latin typeface="Aptos"/>
                <a:ea typeface="Aptos"/>
                <a:cs typeface="Aptos"/>
              </a:defRPr>
            </a:pPr>
            <a:r>
              <a:rPr sz="960" b="0">
                <a:solidFill>
                  <a:srgbClr val="1A3554"/>
                </a:solidFill>
                <a:latin typeface="Aptos"/>
                <a:ea typeface="Aptos"/>
                <a:cs typeface="Aptos"/>
              </a:rPr>
              <a:t>• périmètre pilote strictement défini avant extension</a:t>
            </a:r>
          </a:p>
          <a:p>
            <a:pPr algn="l">
              <a:defRPr sz="960" b="0">
                <a:solidFill>
                  <a:srgbClr val="1A3554"/>
                </a:solidFill>
                <a:latin typeface="Aptos"/>
                <a:ea typeface="Aptos"/>
                <a:cs typeface="Aptos"/>
              </a:defRPr>
            </a:pPr>
            <a:r>
              <a:rPr sz="960" b="0">
                <a:solidFill>
                  <a:srgbClr val="1A3554"/>
                </a:solidFill>
                <a:latin typeface="Aptos"/>
                <a:ea typeface="Aptos"/>
                <a:cs typeface="Aptos"/>
              </a:rPr>
              <a:t>• formation intégrée aux exigences de confidentialité et de supervision</a:t>
            </a:r>
          </a:p>
        </p:txBody>
      </p:sp>
      <p:sp>
        <p:nvSpPr>
          <p:cNvPr id="9" name="Rectangle 8">
            <a:extLst>
              <a:ext uri="{FF2B5EF4-FFF2-40B4-BE49-F238E27FC236}">
                <a16:creationId xmlns:a16="http://schemas.microsoft.com/office/drawing/2014/main" id="{69571CDE-B691-4F7C-8608-3C493EC73639}"/>
              </a:ext>
            </a:extLst>
          </p:cNvPr>
          <p:cNvSpPr>
            <a:spLocks noGrp="1"/>
          </p:cNvSpPr>
          <p:nvPr/>
        </p:nvSpPr>
        <p:spPr>
          <a:xfrm>
            <a:off x="895350" y="4343400"/>
            <a:ext cx="4343400" cy="838200"/>
          </a:xfrm>
          <a:prstGeom prst="rect">
            <a:avLst/>
          </a:prstGeom>
          <a:solidFill>
            <a:srgbClr val="FBF5EE"/>
          </a:solidFill>
          <a:ln w="9525">
            <a:solidFill>
              <a:srgbClr val="D7CEC3"/>
            </a:solidFill>
            <a:prstDash val="solid"/>
          </a:ln>
        </p:spPr>
      </p:sp>
      <p:sp>
        <p:nvSpPr>
          <p:cNvPr id="10" name="Rectangle 9">
            <a:extLst>
              <a:ext uri="{FF2B5EF4-FFF2-40B4-BE49-F238E27FC236}">
                <a16:creationId xmlns:a16="http://schemas.microsoft.com/office/drawing/2014/main" id="{288114C0-46A1-4E4A-9439-870C292B0DA0}"/>
              </a:ext>
            </a:extLst>
          </p:cNvPr>
          <p:cNvSpPr>
            <a:spLocks noGrp="1"/>
          </p:cNvSpPr>
          <p:nvPr/>
        </p:nvSpPr>
        <p:spPr>
          <a:xfrm>
            <a:off x="1085850" y="4514850"/>
            <a:ext cx="95250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1">
                <a:solidFill>
                  <a:srgbClr val="E76F1D"/>
                </a:solidFill>
                <a:latin typeface="Aptos"/>
                <a:ea typeface="Aptos"/>
                <a:cs typeface="Aptos"/>
              </a:defRPr>
            </a:pPr>
            <a:r>
              <a:rPr sz="750" b="1">
                <a:solidFill>
                  <a:srgbClr val="E76F1D"/>
                </a:solidFill>
                <a:latin typeface="Aptos"/>
                <a:ea typeface="Aptos"/>
                <a:cs typeface="Aptos"/>
              </a:rPr>
              <a:t>Message fort</a:t>
            </a:r>
          </a:p>
        </p:txBody>
      </p:sp>
      <p:sp>
        <p:nvSpPr>
          <p:cNvPr id="11" name="Rectangle 10">
            <a:extLst>
              <a:ext uri="{FF2B5EF4-FFF2-40B4-BE49-F238E27FC236}">
                <a16:creationId xmlns:a16="http://schemas.microsoft.com/office/drawing/2014/main" id="{8566BC5C-97DB-4E63-85C2-D33DC08E0E72}"/>
              </a:ext>
            </a:extLst>
          </p:cNvPr>
          <p:cNvSpPr>
            <a:spLocks noGrp="1"/>
          </p:cNvSpPr>
          <p:nvPr/>
        </p:nvSpPr>
        <p:spPr>
          <a:xfrm>
            <a:off x="1085850" y="4724400"/>
            <a:ext cx="37338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1A3554"/>
                </a:solidFill>
                <a:latin typeface="Aptos Display"/>
                <a:ea typeface="Aptos Display"/>
                <a:cs typeface="Aptos Display"/>
              </a:defRPr>
            </a:pPr>
            <a:r>
              <a:rPr sz="1350" b="1">
                <a:solidFill>
                  <a:srgbClr val="1A3554"/>
                </a:solidFill>
                <a:latin typeface="Aptos Display"/>
                <a:ea typeface="Aptos Display"/>
                <a:cs typeface="Aptos Display"/>
              </a:rPr>
              <a:t>Une IA utile, maîtrisée et compatible avec vos exigences de confidentialité.</a:t>
            </a:r>
          </a:p>
        </p:txBody>
      </p:sp>
      <p:sp>
        <p:nvSpPr>
          <p:cNvPr id="12" name="Rectangle 11">
            <a:extLst>
              <a:ext uri="{FF2B5EF4-FFF2-40B4-BE49-F238E27FC236}">
                <a16:creationId xmlns:a16="http://schemas.microsoft.com/office/drawing/2014/main" id="{B8AB801D-272E-419B-B14B-7469A4CEF38B}"/>
              </a:ext>
            </a:extLst>
          </p:cNvPr>
          <p:cNvSpPr>
            <a:spLocks noGrp="1"/>
          </p:cNvSpPr>
          <p:nvPr/>
        </p:nvSpPr>
        <p:spPr>
          <a:xfrm>
            <a:off x="6096000" y="1714500"/>
            <a:ext cx="5410200" cy="3714750"/>
          </a:xfrm>
          <a:prstGeom prst="rect">
            <a:avLst/>
          </a:prstGeom>
          <a:solidFill>
            <a:srgbClr val="163556"/>
          </a:solidFill>
          <a:ln w="0">
            <a:solidFill>
              <a:srgbClr val="163556"/>
            </a:solidFill>
            <a:prstDash val="solid"/>
          </a:ln>
        </p:spPr>
      </p:sp>
      <p:sp>
        <p:nvSpPr>
          <p:cNvPr id="13" name="Rectangle 12">
            <a:extLst>
              <a:ext uri="{FF2B5EF4-FFF2-40B4-BE49-F238E27FC236}">
                <a16:creationId xmlns:a16="http://schemas.microsoft.com/office/drawing/2014/main" id="{31635D8E-6E56-485B-AC65-C1C2233070CF}"/>
              </a:ext>
            </a:extLst>
          </p:cNvPr>
          <p:cNvSpPr>
            <a:spLocks noGrp="1"/>
          </p:cNvSpPr>
          <p:nvPr/>
        </p:nvSpPr>
        <p:spPr>
          <a:xfrm>
            <a:off x="6362700" y="1981200"/>
            <a:ext cx="24765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88" b="1">
                <a:solidFill>
                  <a:srgbClr val="FFFFFF"/>
                </a:solidFill>
                <a:latin typeface="Aptos"/>
                <a:ea typeface="Aptos"/>
                <a:cs typeface="Aptos"/>
              </a:defRPr>
            </a:pPr>
            <a:r>
              <a:rPr sz="788" b="1">
                <a:solidFill>
                  <a:srgbClr val="FFFFFF"/>
                </a:solidFill>
                <a:latin typeface="Aptos"/>
                <a:ea typeface="Aptos"/>
                <a:cs typeface="Aptos"/>
              </a:rPr>
              <a:t>PROCHAINE ÉTAPE</a:t>
            </a:r>
          </a:p>
        </p:txBody>
      </p:sp>
      <p:sp>
        <p:nvSpPr>
          <p:cNvPr id="14" name="Rectangle 13">
            <a:extLst>
              <a:ext uri="{FF2B5EF4-FFF2-40B4-BE49-F238E27FC236}">
                <a16:creationId xmlns:a16="http://schemas.microsoft.com/office/drawing/2014/main" id="{A4369184-CB12-48D6-B779-E1F3C74A0ACA}"/>
              </a:ext>
            </a:extLst>
          </p:cNvPr>
          <p:cNvSpPr>
            <a:spLocks noGrp="1"/>
          </p:cNvSpPr>
          <p:nvPr/>
        </p:nvSpPr>
        <p:spPr>
          <a:xfrm>
            <a:off x="6362700" y="2247900"/>
            <a:ext cx="34290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1">
                <a:solidFill>
                  <a:srgbClr val="FFFFFF"/>
                </a:solidFill>
                <a:latin typeface="Aptos Display"/>
                <a:ea typeface="Aptos Display"/>
                <a:cs typeface="Aptos Display"/>
              </a:defRPr>
            </a:pPr>
            <a:r>
              <a:rPr sz="1800" b="1">
                <a:solidFill>
                  <a:srgbClr val="FFFFFF"/>
                </a:solidFill>
                <a:latin typeface="Aptos Display"/>
                <a:ea typeface="Aptos Display"/>
                <a:cs typeface="Aptos Display"/>
              </a:rPr>
              <a:t>Sortie attendue du rendez-vous</a:t>
            </a:r>
          </a:p>
        </p:txBody>
      </p:sp>
      <p:sp>
        <p:nvSpPr>
          <p:cNvPr id="15" name="Rectangle 14">
            <a:extLst>
              <a:ext uri="{FF2B5EF4-FFF2-40B4-BE49-F238E27FC236}">
                <a16:creationId xmlns:a16="http://schemas.microsoft.com/office/drawing/2014/main" id="{41ED2849-2563-4BB5-A73D-AB285E9E5E5A}"/>
              </a:ext>
            </a:extLst>
          </p:cNvPr>
          <p:cNvSpPr>
            <a:spLocks noGrp="1"/>
          </p:cNvSpPr>
          <p:nvPr/>
        </p:nvSpPr>
        <p:spPr>
          <a:xfrm>
            <a:off x="6362700" y="2724150"/>
            <a:ext cx="3429000" cy="12192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0">
                <a:solidFill>
                  <a:srgbClr val="FFFFFF"/>
                </a:solidFill>
                <a:latin typeface="Aptos"/>
                <a:ea typeface="Aptos"/>
                <a:cs typeface="Aptos"/>
              </a:defRPr>
            </a:pPr>
            <a:r>
              <a:rPr sz="1125" b="0">
                <a:solidFill>
                  <a:srgbClr val="FFFFFF"/>
                </a:solidFill>
                <a:latin typeface="Aptos"/>
                <a:ea typeface="Aptos"/>
                <a:cs typeface="Aptos"/>
              </a:rPr>
              <a:t>1. Tenir un atelier expert de 45 minutes</a:t>
            </a:r>
          </a:p>
          <a:p>
            <a:pPr algn="l">
              <a:defRPr sz="1125" b="0">
                <a:solidFill>
                  <a:srgbClr val="FFFFFF"/>
                </a:solidFill>
                <a:latin typeface="Aptos"/>
                <a:ea typeface="Aptos"/>
                <a:cs typeface="Aptos"/>
              </a:defRPr>
            </a:pPr>
            <a:r>
              <a:rPr sz="1125" b="0">
                <a:solidFill>
                  <a:srgbClr val="FFFFFF"/>
                </a:solidFill>
                <a:latin typeface="Aptos"/>
                <a:ea typeface="Aptos"/>
                <a:cs typeface="Aptos"/>
              </a:rPr>
              <a:t>2. Lancer l'audit IA gratuit</a:t>
            </a:r>
          </a:p>
          <a:p>
            <a:pPr algn="l">
              <a:defRPr sz="1125" b="0">
                <a:solidFill>
                  <a:srgbClr val="FFFFFF"/>
                </a:solidFill>
                <a:latin typeface="Aptos"/>
                <a:ea typeface="Aptos"/>
                <a:cs typeface="Aptos"/>
              </a:defRPr>
            </a:pPr>
            <a:r>
              <a:rPr sz="1125" b="0">
                <a:solidFill>
                  <a:srgbClr val="FFFFFF"/>
                </a:solidFill>
                <a:latin typeface="Aptos"/>
                <a:ea typeface="Aptos"/>
                <a:cs typeface="Aptos"/>
              </a:rPr>
              <a:t>3. Recevoir une priorisation claire des cas d'usage</a:t>
            </a:r>
          </a:p>
          <a:p>
            <a:pPr algn="l">
              <a:defRPr sz="1125" b="0">
                <a:solidFill>
                  <a:srgbClr val="FFFFFF"/>
                </a:solidFill>
                <a:latin typeface="Aptos"/>
                <a:ea typeface="Aptos"/>
                <a:cs typeface="Aptos"/>
              </a:defRPr>
            </a:pPr>
            <a:r>
              <a:rPr sz="1125" b="0">
                <a:solidFill>
                  <a:srgbClr val="FFFFFF"/>
                </a:solidFill>
                <a:latin typeface="Aptos"/>
                <a:ea typeface="Aptos"/>
                <a:cs typeface="Aptos"/>
              </a:rPr>
              <a:t>4. Valider un premier pilote et ses KPI</a:t>
            </a:r>
          </a:p>
        </p:txBody>
      </p:sp>
      <p:sp>
        <p:nvSpPr>
          <p:cNvPr id="16" name="Rectangle 15">
            <a:extLst>
              <a:ext uri="{FF2B5EF4-FFF2-40B4-BE49-F238E27FC236}">
                <a16:creationId xmlns:a16="http://schemas.microsoft.com/office/drawing/2014/main" id="{6A3A64C9-BFAC-4135-8E28-4B8C4403DFC0}"/>
              </a:ext>
            </a:extLst>
          </p:cNvPr>
          <p:cNvSpPr>
            <a:spLocks noGrp="1"/>
          </p:cNvSpPr>
          <p:nvPr/>
        </p:nvSpPr>
        <p:spPr>
          <a:xfrm>
            <a:off x="9906000" y="2400300"/>
            <a:ext cx="1219200" cy="971550"/>
          </a:xfrm>
          <a:prstGeom prst="rect">
            <a:avLst/>
          </a:prstGeom>
          <a:solidFill>
            <a:srgbClr val="244667"/>
          </a:solidFill>
          <a:ln w="9525">
            <a:solidFill>
              <a:srgbClr val="244667"/>
            </a:solidFill>
            <a:prstDash val="solid"/>
          </a:ln>
        </p:spPr>
      </p:sp>
      <p:sp>
        <p:nvSpPr>
          <p:cNvPr id="17" name="Rectangle 16">
            <a:extLst>
              <a:ext uri="{FF2B5EF4-FFF2-40B4-BE49-F238E27FC236}">
                <a16:creationId xmlns:a16="http://schemas.microsoft.com/office/drawing/2014/main" id="{1B33D4DB-234F-4992-8C65-3E3EDA792258}"/>
              </a:ext>
            </a:extLst>
          </p:cNvPr>
          <p:cNvSpPr>
            <a:spLocks noGrp="1"/>
          </p:cNvSpPr>
          <p:nvPr/>
        </p:nvSpPr>
        <p:spPr>
          <a:xfrm>
            <a:off x="10077450" y="2628900"/>
            <a:ext cx="8763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800" b="1">
                <a:solidFill>
                  <a:srgbClr val="FFFFFF"/>
                </a:solidFill>
                <a:latin typeface="Aptos Display"/>
                <a:ea typeface="Aptos Display"/>
                <a:cs typeface="Aptos Display"/>
              </a:defRPr>
            </a:pPr>
            <a:r>
              <a:rPr sz="1800" b="1">
                <a:solidFill>
                  <a:srgbClr val="FFFFFF"/>
                </a:solidFill>
                <a:latin typeface="Aptos Display"/>
                <a:ea typeface="Aptos Display"/>
                <a:cs typeface="Aptos Display"/>
              </a:rPr>
              <a:t>45 min</a:t>
            </a:r>
          </a:p>
        </p:txBody>
      </p:sp>
      <p:sp>
        <p:nvSpPr>
          <p:cNvPr id="18" name="Rectangle 17">
            <a:extLst>
              <a:ext uri="{FF2B5EF4-FFF2-40B4-BE49-F238E27FC236}">
                <a16:creationId xmlns:a16="http://schemas.microsoft.com/office/drawing/2014/main" id="{2A8E3767-010E-4C30-99EA-F706107504CE}"/>
              </a:ext>
            </a:extLst>
          </p:cNvPr>
          <p:cNvSpPr>
            <a:spLocks noGrp="1"/>
          </p:cNvSpPr>
          <p:nvPr/>
        </p:nvSpPr>
        <p:spPr>
          <a:xfrm>
            <a:off x="10077450" y="2933700"/>
            <a:ext cx="8763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788" b="0">
                <a:solidFill>
                  <a:srgbClr val="FFFFFF"/>
                </a:solidFill>
                <a:latin typeface="Aptos"/>
                <a:ea typeface="Aptos"/>
                <a:cs typeface="Aptos"/>
              </a:defRPr>
            </a:pPr>
            <a:r>
              <a:rPr sz="788" b="0">
                <a:solidFill>
                  <a:srgbClr val="FFFFFF"/>
                </a:solidFill>
                <a:latin typeface="Aptos"/>
                <a:ea typeface="Aptos"/>
                <a:cs typeface="Aptos"/>
              </a:rPr>
              <a:t>atelier de cadrage</a:t>
            </a:r>
          </a:p>
        </p:txBody>
      </p:sp>
      <p:sp>
        <p:nvSpPr>
          <p:cNvPr id="19" name="Rectangle 18">
            <a:extLst>
              <a:ext uri="{FF2B5EF4-FFF2-40B4-BE49-F238E27FC236}">
                <a16:creationId xmlns:a16="http://schemas.microsoft.com/office/drawing/2014/main" id="{C9F70E57-D9E9-4C8C-A070-FAA47DEB831E}"/>
              </a:ext>
            </a:extLst>
          </p:cNvPr>
          <p:cNvSpPr>
            <a:spLocks noGrp="1"/>
          </p:cNvSpPr>
          <p:nvPr/>
        </p:nvSpPr>
        <p:spPr>
          <a:xfrm>
            <a:off x="9906000" y="3524250"/>
            <a:ext cx="1219200" cy="971550"/>
          </a:xfrm>
          <a:prstGeom prst="rect">
            <a:avLst/>
          </a:prstGeom>
          <a:solidFill>
            <a:srgbClr val="244667"/>
          </a:solidFill>
          <a:ln w="9525">
            <a:solidFill>
              <a:srgbClr val="244667"/>
            </a:solidFill>
            <a:prstDash val="solid"/>
          </a:ln>
        </p:spPr>
      </p:sp>
      <p:sp>
        <p:nvSpPr>
          <p:cNvPr id="20" name="Rectangle 19">
            <a:extLst>
              <a:ext uri="{FF2B5EF4-FFF2-40B4-BE49-F238E27FC236}">
                <a16:creationId xmlns:a16="http://schemas.microsoft.com/office/drawing/2014/main" id="{A1397C70-987C-41A6-A1AB-1A7D4F990ECC}"/>
              </a:ext>
            </a:extLst>
          </p:cNvPr>
          <p:cNvSpPr>
            <a:spLocks noGrp="1"/>
          </p:cNvSpPr>
          <p:nvPr/>
        </p:nvSpPr>
        <p:spPr>
          <a:xfrm>
            <a:off x="10077450" y="3752850"/>
            <a:ext cx="8763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800" b="1">
                <a:solidFill>
                  <a:srgbClr val="FFFFFF"/>
                </a:solidFill>
                <a:latin typeface="Aptos Display"/>
                <a:ea typeface="Aptos Display"/>
                <a:cs typeface="Aptos Display"/>
              </a:defRPr>
            </a:pPr>
            <a:r>
              <a:rPr sz="1800" b="1">
                <a:solidFill>
                  <a:srgbClr val="FFFFFF"/>
                </a:solidFill>
                <a:latin typeface="Aptos Display"/>
                <a:ea typeface="Aptos Display"/>
                <a:cs typeface="Aptos Display"/>
              </a:rPr>
              <a:t>J+15</a:t>
            </a:r>
          </a:p>
        </p:txBody>
      </p:sp>
      <p:sp>
        <p:nvSpPr>
          <p:cNvPr id="21" name="Rectangle 20">
            <a:extLst>
              <a:ext uri="{FF2B5EF4-FFF2-40B4-BE49-F238E27FC236}">
                <a16:creationId xmlns:a16="http://schemas.microsoft.com/office/drawing/2014/main" id="{13A57499-3EF3-48B6-ADA1-6C0B39D6FB64}"/>
              </a:ext>
            </a:extLst>
          </p:cNvPr>
          <p:cNvSpPr>
            <a:spLocks noGrp="1"/>
          </p:cNvSpPr>
          <p:nvPr/>
        </p:nvSpPr>
        <p:spPr>
          <a:xfrm>
            <a:off x="10077450" y="4057650"/>
            <a:ext cx="8763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788" b="0">
                <a:solidFill>
                  <a:srgbClr val="FFFFFF"/>
                </a:solidFill>
                <a:latin typeface="Aptos"/>
                <a:ea typeface="Aptos"/>
                <a:cs typeface="Aptos"/>
              </a:defRPr>
            </a:pPr>
            <a:r>
              <a:rPr sz="788" b="0">
                <a:solidFill>
                  <a:srgbClr val="FFFFFF"/>
                </a:solidFill>
                <a:latin typeface="Aptos"/>
                <a:ea typeface="Aptos"/>
                <a:cs typeface="Aptos"/>
              </a:rPr>
              <a:t>premier livrable</a:t>
            </a:r>
          </a:p>
        </p:txBody>
      </p:sp>
      <p:sp>
        <p:nvSpPr>
          <p:cNvPr id="22" name="Rectangle 21">
            <a:extLst>
              <a:ext uri="{FF2B5EF4-FFF2-40B4-BE49-F238E27FC236}">
                <a16:creationId xmlns:a16="http://schemas.microsoft.com/office/drawing/2014/main" id="{91344038-B6A2-4AB6-BA1C-133B230305A2}"/>
              </a:ext>
            </a:extLst>
          </p:cNvPr>
          <p:cNvSpPr>
            <a:spLocks noGrp="1"/>
          </p:cNvSpPr>
          <p:nvPr/>
        </p:nvSpPr>
        <p:spPr>
          <a:xfrm>
            <a:off x="6362700" y="4229100"/>
            <a:ext cx="4762500" cy="800100"/>
          </a:xfrm>
          <a:prstGeom prst="rect">
            <a:avLst/>
          </a:prstGeom>
          <a:solidFill>
            <a:srgbClr val="244667"/>
          </a:solidFill>
          <a:ln w="9525">
            <a:solidFill>
              <a:srgbClr val="244667"/>
            </a:solidFill>
            <a:prstDash val="solid"/>
          </a:ln>
        </p:spPr>
      </p:sp>
      <p:sp>
        <p:nvSpPr>
          <p:cNvPr id="23" name="Rectangle 22">
            <a:extLst>
              <a:ext uri="{FF2B5EF4-FFF2-40B4-BE49-F238E27FC236}">
                <a16:creationId xmlns:a16="http://schemas.microsoft.com/office/drawing/2014/main" id="{66B3C963-C78A-43A8-A03F-A9429D26AD94}"/>
              </a:ext>
            </a:extLst>
          </p:cNvPr>
          <p:cNvSpPr>
            <a:spLocks noGrp="1"/>
          </p:cNvSpPr>
          <p:nvPr/>
        </p:nvSpPr>
        <p:spPr>
          <a:xfrm>
            <a:off x="6572250" y="4438650"/>
            <a:ext cx="43434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63" b="0">
                <a:solidFill>
                  <a:srgbClr val="D7E5F3"/>
                </a:solidFill>
                <a:latin typeface="Aptos"/>
                <a:ea typeface="Aptos"/>
                <a:cs typeface="Aptos"/>
              </a:defRPr>
            </a:pPr>
            <a:r>
              <a:rPr sz="863" b="0" dirty="0" err="1">
                <a:solidFill>
                  <a:srgbClr val="D7E5F3"/>
                </a:solidFill>
                <a:latin typeface="Aptos"/>
                <a:ea typeface="Aptos"/>
                <a:cs typeface="Aptos"/>
              </a:rPr>
              <a:t>TransferAI</a:t>
            </a:r>
            <a:r>
              <a:rPr sz="863" b="0" dirty="0">
                <a:solidFill>
                  <a:srgbClr val="D7E5F3"/>
                </a:solidFill>
                <a:latin typeface="Aptos"/>
                <a:ea typeface="Aptos"/>
                <a:cs typeface="Aptos"/>
              </a:rPr>
              <a:t> aide ELTON CI à identifier les usages les plus </a:t>
            </a:r>
            <a:r>
              <a:rPr sz="863" b="0" dirty="0" err="1">
                <a:solidFill>
                  <a:srgbClr val="D7E5F3"/>
                </a:solidFill>
                <a:latin typeface="Aptos"/>
                <a:ea typeface="Aptos"/>
                <a:cs typeface="Aptos"/>
              </a:rPr>
              <a:t>utiles</a:t>
            </a:r>
            <a:r>
              <a:rPr sz="863" b="0" dirty="0">
                <a:solidFill>
                  <a:srgbClr val="D7E5F3"/>
                </a:solidFill>
                <a:latin typeface="Aptos"/>
                <a:ea typeface="Aptos"/>
                <a:cs typeface="Aptos"/>
              </a:rPr>
              <a:t>, à former les </a:t>
            </a:r>
            <a:r>
              <a:rPr sz="863" b="0" dirty="0" err="1">
                <a:solidFill>
                  <a:srgbClr val="D7E5F3"/>
                </a:solidFill>
                <a:latin typeface="Aptos"/>
                <a:ea typeface="Aptos"/>
                <a:cs typeface="Aptos"/>
              </a:rPr>
              <a:t>bonnes</a:t>
            </a:r>
            <a:r>
              <a:rPr sz="863" b="0" dirty="0">
                <a:solidFill>
                  <a:srgbClr val="D7E5F3"/>
                </a:solidFill>
                <a:latin typeface="Aptos"/>
                <a:ea typeface="Aptos"/>
                <a:cs typeface="Aptos"/>
              </a:rPr>
              <a:t> équipes et à </a:t>
            </a:r>
            <a:r>
              <a:rPr sz="863" b="0" dirty="0" err="1">
                <a:solidFill>
                  <a:srgbClr val="D7E5F3"/>
                </a:solidFill>
                <a:latin typeface="Aptos"/>
                <a:ea typeface="Aptos"/>
                <a:cs typeface="Aptos"/>
              </a:rPr>
              <a:t>choisir</a:t>
            </a:r>
            <a:r>
              <a:rPr sz="863" b="0" dirty="0">
                <a:solidFill>
                  <a:srgbClr val="D7E5F3"/>
                </a:solidFill>
                <a:latin typeface="Aptos"/>
                <a:ea typeface="Aptos"/>
                <a:cs typeface="Aptos"/>
              </a:rPr>
              <a:t> la bonne suite entre </a:t>
            </a:r>
            <a:r>
              <a:rPr sz="863" b="0" dirty="0" err="1">
                <a:solidFill>
                  <a:srgbClr val="D7E5F3"/>
                </a:solidFill>
                <a:latin typeface="Aptos"/>
                <a:ea typeface="Aptos"/>
                <a:cs typeface="Aptos"/>
              </a:rPr>
              <a:t>pilote</a:t>
            </a:r>
            <a:r>
              <a:rPr sz="863" b="0" dirty="0">
                <a:solidFill>
                  <a:srgbClr val="D7E5F3"/>
                </a:solidFill>
                <a:latin typeface="Aptos"/>
                <a:ea typeface="Aptos"/>
                <a:cs typeface="Aptos"/>
              </a:rPr>
              <a:t>, </a:t>
            </a:r>
            <a:r>
              <a:rPr sz="863" b="0" dirty="0" err="1">
                <a:solidFill>
                  <a:srgbClr val="D7E5F3"/>
                </a:solidFill>
                <a:latin typeface="Aptos"/>
                <a:ea typeface="Aptos"/>
                <a:cs typeface="Aptos"/>
              </a:rPr>
              <a:t>accompagnement</a:t>
            </a:r>
            <a:r>
              <a:rPr sz="863" b="0" dirty="0">
                <a:solidFill>
                  <a:srgbClr val="D7E5F3"/>
                </a:solidFill>
                <a:latin typeface="Aptos"/>
                <a:ea typeface="Aptos"/>
                <a:cs typeface="Aptos"/>
              </a:rPr>
              <a:t> et extension.</a:t>
            </a:r>
          </a:p>
        </p:txBody>
      </p:sp>
      <p:sp>
        <p:nvSpPr>
          <p:cNvPr id="24" name="Rectangle 23">
            <a:extLst>
              <a:ext uri="{FF2B5EF4-FFF2-40B4-BE49-F238E27FC236}">
                <a16:creationId xmlns:a16="http://schemas.microsoft.com/office/drawing/2014/main" id="{A6775507-7E05-4D2C-AB4A-E3F62A6BE645}"/>
              </a:ext>
            </a:extLst>
          </p:cNvPr>
          <p:cNvSpPr>
            <a:spLocks noGrp="1"/>
          </p:cNvSpPr>
          <p:nvPr/>
        </p:nvSpPr>
        <p:spPr>
          <a:xfrm>
            <a:off x="647700" y="6496050"/>
            <a:ext cx="10896600" cy="9525"/>
          </a:xfrm>
          <a:prstGeom prst="rect">
            <a:avLst/>
          </a:prstGeom>
          <a:solidFill>
            <a:srgbClr val="D7CEC3"/>
          </a:solidFill>
          <a:ln w="0">
            <a:solidFill>
              <a:srgbClr val="000000">
                <a:alpha val="0"/>
              </a:srgbClr>
            </a:solidFill>
            <a:prstDash val="solid"/>
          </a:ln>
        </p:spPr>
      </p:sp>
      <p:sp>
        <p:nvSpPr>
          <p:cNvPr id="25" name="Rectangle 24">
            <a:extLst>
              <a:ext uri="{FF2B5EF4-FFF2-40B4-BE49-F238E27FC236}">
                <a16:creationId xmlns:a16="http://schemas.microsoft.com/office/drawing/2014/main" id="{B19E35D6-0467-4E34-8217-73EFE506911C}"/>
              </a:ext>
            </a:extLst>
          </p:cNvPr>
          <p:cNvSpPr>
            <a:spLocks noGrp="1"/>
          </p:cNvSpPr>
          <p:nvPr/>
        </p:nvSpPr>
        <p:spPr>
          <a:xfrm>
            <a:off x="685800" y="6572250"/>
            <a:ext cx="857250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38" b="0">
                <a:solidFill>
                  <a:srgbClr val="617086"/>
                </a:solidFill>
                <a:latin typeface="Aptos"/>
                <a:ea typeface="Aptos"/>
                <a:cs typeface="Aptos"/>
              </a:defRPr>
            </a:pPr>
            <a:r>
              <a:rPr sz="638" b="0" dirty="0" err="1">
                <a:solidFill>
                  <a:srgbClr val="617086"/>
                </a:solidFill>
                <a:latin typeface="Aptos"/>
                <a:ea typeface="Aptos"/>
                <a:cs typeface="Aptos"/>
              </a:rPr>
              <a:t>TransferAI</a:t>
            </a:r>
            <a:r>
              <a:rPr sz="638" b="0" dirty="0">
                <a:solidFill>
                  <a:srgbClr val="617086"/>
                </a:solidFill>
                <a:latin typeface="Aptos"/>
                <a:ea typeface="Aptos"/>
                <a:cs typeface="Aptos"/>
              </a:rPr>
              <a:t> | Hub </a:t>
            </a:r>
            <a:r>
              <a:rPr lang="en-GB" sz="638" b="0" dirty="0">
                <a:solidFill>
                  <a:srgbClr val="617086"/>
                </a:solidFill>
                <a:latin typeface="Aptos"/>
                <a:ea typeface="Aptos"/>
                <a:cs typeface="Aptos"/>
              </a:rPr>
              <a:t>IA</a:t>
            </a:r>
            <a:r>
              <a:rPr sz="638" b="0" dirty="0">
                <a:solidFill>
                  <a:srgbClr val="617086"/>
                </a:solidFill>
                <a:latin typeface="Aptos"/>
                <a:ea typeface="Aptos"/>
                <a:cs typeface="Aptos"/>
              </a:rPr>
              <a:t> de </a:t>
            </a:r>
            <a:r>
              <a:rPr sz="638" b="0" dirty="0" err="1">
                <a:solidFill>
                  <a:srgbClr val="617086"/>
                </a:solidFill>
                <a:latin typeface="Aptos"/>
                <a:ea typeface="Aptos"/>
                <a:cs typeface="Aptos"/>
              </a:rPr>
              <a:t>Nettelecom</a:t>
            </a:r>
            <a:r>
              <a:rPr sz="638" b="0" dirty="0">
                <a:solidFill>
                  <a:srgbClr val="617086"/>
                </a:solidFill>
                <a:latin typeface="Aptos"/>
                <a:ea typeface="Aptos"/>
                <a:cs typeface="Aptos"/>
              </a:rPr>
              <a:t> CI | Proposition </a:t>
            </a:r>
            <a:r>
              <a:rPr sz="638" b="0" dirty="0" err="1">
                <a:solidFill>
                  <a:srgbClr val="617086"/>
                </a:solidFill>
                <a:latin typeface="Aptos"/>
                <a:ea typeface="Aptos"/>
                <a:cs typeface="Aptos"/>
              </a:rPr>
              <a:t>ciblée</a:t>
            </a:r>
            <a:r>
              <a:rPr sz="638" b="0" dirty="0">
                <a:solidFill>
                  <a:srgbClr val="617086"/>
                </a:solidFill>
                <a:latin typeface="Aptos"/>
                <a:ea typeface="Aptos"/>
                <a:cs typeface="Aptos"/>
              </a:rPr>
              <a:t> ELTON CI</a:t>
            </a:r>
          </a:p>
        </p:txBody>
      </p:sp>
      <p:sp>
        <p:nvSpPr>
          <p:cNvPr id="26" name="Rectangle 25">
            <a:extLst>
              <a:ext uri="{FF2B5EF4-FFF2-40B4-BE49-F238E27FC236}">
                <a16:creationId xmlns:a16="http://schemas.microsoft.com/office/drawing/2014/main" id="{9A834838-3FD6-4863-AF0D-A1D0CCC066BA}"/>
              </a:ext>
            </a:extLst>
          </p:cNvPr>
          <p:cNvSpPr>
            <a:spLocks noGrp="1"/>
          </p:cNvSpPr>
          <p:nvPr/>
        </p:nvSpPr>
        <p:spPr>
          <a:xfrm>
            <a:off x="11049000" y="6553200"/>
            <a:ext cx="3429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750" b="1">
                <a:solidFill>
                  <a:srgbClr val="1A3554"/>
                </a:solidFill>
                <a:latin typeface="Aptos"/>
                <a:ea typeface="Aptos"/>
                <a:cs typeface="Aptos"/>
              </a:defRPr>
            </a:pPr>
            <a:r>
              <a:rPr sz="750" b="1">
                <a:solidFill>
                  <a:srgbClr val="1A3554"/>
                </a:solidFill>
                <a:latin typeface="Aptos"/>
                <a:ea typeface="Aptos"/>
                <a:cs typeface="Aptos"/>
              </a:rPr>
              <a:t>10</a:t>
            </a:r>
          </a:p>
        </p:txBody>
      </p:sp>
    </p:spTree>
    <p:extLst>
      <p:ext uri="{BB962C8B-B14F-4D97-AF65-F5344CB8AC3E}">
        <p14:creationId xmlns:p14="http://schemas.microsoft.com/office/powerpoint/2010/main" val="829316557"/>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1982</Words>
  <Application>Microsoft Macintosh PowerPoint</Application>
  <DocSecurity>0</DocSecurity>
  <PresentationFormat>Widescreen</PresentationFormat>
  <Paragraphs>242</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Aptos</vt:lpstr>
      <vt:lpstr>Aptos Display</vt: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vtoc limited</cp:lastModifiedBy>
  <cp:revision>1</cp:revision>
  <dcterms:created xsi:type="dcterms:W3CDTF">2026-05-26T16:58:37Z</dcterms:created>
  <dcterms:modified xsi:type="dcterms:W3CDTF">2026-05-26T18:10:25Z</dcterms:modified>
</cp:coreProperties>
</file>