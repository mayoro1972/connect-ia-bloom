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ee193444584a12" /><Relationship Type="http://schemas.openxmlformats.org/officeDocument/2006/relationships/extended-properties" Target="/docProps/app.xml" Id="R708c5d89aa95474c" /><Relationship Type="http://schemas.openxmlformats.org/officeDocument/2006/relationships/officeDocument" Target="/ppt/presentation.xml" Id="R250deb596b054ecb" /></Relationships>
</file>

<file path=ppt/presentation.xml><?xml version="1.0" encoding="utf-8"?>
<p:presentation xmlns:p="http://schemas.openxmlformats.org/presentationml/2006/main">
  <p:sldMasterIdLst>
    <p:sldMasterId xmlns:r="http://schemas.openxmlformats.org/officeDocument/2006/relationships" id="2147483648" r:id="Rcb2cd2dc54754f50"/>
  </p:sldMasterIdLst>
  <p:notesMasterIdLst>
    <p:notesMasterId xmlns:r="http://schemas.openxmlformats.org/officeDocument/2006/relationships" r:id="R461eeccc65274189"/>
  </p:notesMasterIdLst>
  <p:sldIdLst>
    <p:sldId xmlns:r="http://schemas.openxmlformats.org/officeDocument/2006/relationships" id="256" r:id="Re281a401d7634ca3"/>
    <p:sldId xmlns:r="http://schemas.openxmlformats.org/officeDocument/2006/relationships" id="257" r:id="Rfeaf7c4aede744ba"/>
    <p:sldId xmlns:r="http://schemas.openxmlformats.org/officeDocument/2006/relationships" id="258" r:id="R9cc526070d394482"/>
    <p:sldId xmlns:r="http://schemas.openxmlformats.org/officeDocument/2006/relationships" id="259" r:id="R029eb76446c74bbe"/>
    <p:sldId xmlns:r="http://schemas.openxmlformats.org/officeDocument/2006/relationships" id="260" r:id="R84649b82de524d23"/>
    <p:sldId xmlns:r="http://schemas.openxmlformats.org/officeDocument/2006/relationships" id="261" r:id="R61f4e19424e54dc7"/>
    <p:sldId xmlns:r="http://schemas.openxmlformats.org/officeDocument/2006/relationships" id="262" r:id="Rd86c66d0d02e4e50"/>
    <p:sldId xmlns:r="http://schemas.openxmlformats.org/officeDocument/2006/relationships" id="263" r:id="R27dd33e7504d4a0a"/>
    <p:sldId xmlns:r="http://schemas.openxmlformats.org/officeDocument/2006/relationships" id="264" r:id="R5631c99d7292479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b2cd2dc54754f50" /><Relationship Type="http://schemas.openxmlformats.org/officeDocument/2006/relationships/theme" Target="/ppt/theme/theme1.xml" Id="R1586112967a044b8" /><Relationship Type="http://schemas.openxmlformats.org/officeDocument/2006/relationships/notesMaster" Target="/ppt/notesMasters/notesMaster1.xml" Id="R461eeccc65274189" /><Relationship Type="http://schemas.openxmlformats.org/officeDocument/2006/relationships/presProps" Target="/ppt/presProps.xml" Id="Rcf5bbc00a275479f" /><Relationship Type="http://schemas.openxmlformats.org/officeDocument/2006/relationships/viewProps" Target="/ppt/viewProps.xml" Id="R31c75982ea7f4dca" /><Relationship Type="http://schemas.openxmlformats.org/officeDocument/2006/relationships/tableStyles" Target="/ppt/tableStyles.xml" Id="R7aec24f31ad0491f" /><Relationship Type="http://schemas.openxmlformats.org/officeDocument/2006/relationships/slide" Target="/ppt/slides/slide1.xml" Id="Re281a401d7634ca3" /><Relationship Type="http://schemas.openxmlformats.org/officeDocument/2006/relationships/slide" Target="/ppt/slides/slide2.xml" Id="Rfeaf7c4aede744ba" /><Relationship Type="http://schemas.openxmlformats.org/officeDocument/2006/relationships/slide" Target="/ppt/slides/slide3.xml" Id="R9cc526070d394482" /><Relationship Type="http://schemas.openxmlformats.org/officeDocument/2006/relationships/slide" Target="/ppt/slides/slide4.xml" Id="R029eb76446c74bbe" /><Relationship Type="http://schemas.openxmlformats.org/officeDocument/2006/relationships/slide" Target="/ppt/slides/slide5.xml" Id="R84649b82de524d23" /><Relationship Type="http://schemas.openxmlformats.org/officeDocument/2006/relationships/slide" Target="/ppt/slides/slide6.xml" Id="R61f4e19424e54dc7" /><Relationship Type="http://schemas.openxmlformats.org/officeDocument/2006/relationships/slide" Target="/ppt/slides/slide7.xml" Id="Rd86c66d0d02e4e50" /><Relationship Type="http://schemas.openxmlformats.org/officeDocument/2006/relationships/slide" Target="/ppt/slides/slide8.xml" Id="R27dd33e7504d4a0a" /><Relationship Type="http://schemas.openxmlformats.org/officeDocument/2006/relationships/slide" Target="/ppt/slides/slide9.xml" Id="R5631c99d729247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6f0f23da0d948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8408c44b4242bb" /><Relationship Type="http://schemas.openxmlformats.org/officeDocument/2006/relationships/notesMaster" Target="/ppt/notesMasters/notesMaster1.xml" Id="R91251dca17394a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9777325e0f4f4d" /><Relationship Type="http://schemas.openxmlformats.org/officeDocument/2006/relationships/notesMaster" Target="/ppt/notesMasters/notesMaster1.xml" Id="Rf22e562d59134f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0c718663ef403f" /><Relationship Type="http://schemas.openxmlformats.org/officeDocument/2006/relationships/notesMaster" Target="/ppt/notesMasters/notesMaster1.xml" Id="R91d43f05e32b41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89ba2956044564" /><Relationship Type="http://schemas.openxmlformats.org/officeDocument/2006/relationships/notesMaster" Target="/ppt/notesMasters/notesMaster1.xml" Id="Re466978bf7494f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198567d5fc4bbc" /><Relationship Type="http://schemas.openxmlformats.org/officeDocument/2006/relationships/notesMaster" Target="/ppt/notesMasters/notesMaster1.xml" Id="R5914d7ce999a41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c82d2e41604652" /><Relationship Type="http://schemas.openxmlformats.org/officeDocument/2006/relationships/notesMaster" Target="/ppt/notesMasters/notesMaster1.xml" Id="Rc23856b0794243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b85acb46da492a" /><Relationship Type="http://schemas.openxmlformats.org/officeDocument/2006/relationships/notesMaster" Target="/ppt/notesMasters/notesMaster1.xml" Id="R9d954680dca24e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edf8aeeb434909" /><Relationship Type="http://schemas.openxmlformats.org/officeDocument/2006/relationships/notesMaster" Target="/ppt/notesMasters/notesMaster1.xml" Id="R132e8610f3e346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264617b88b4bc3" /><Relationship Type="http://schemas.openxmlformats.org/officeDocument/2006/relationships/notesMaster" Target="/ppt/notesMasters/notesMaster1.xml" Id="R6507491f4b8045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2f0504143d4edb"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29f19ae1040477f" /><Relationship Type="http://schemas.openxmlformats.org/officeDocument/2006/relationships/slideLayout" Target="/ppt/slideLayouts/slideLayout2.xml" Id="R21bc2722f2b141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bc2722f2b141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307eddffb6742ae" /><Relationship Type="http://schemas.openxmlformats.org/officeDocument/2006/relationships/notesSlide" Target="/ppt/notesSlides/notesSlide1.xml" Id="Ra317ee28638541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a08f75209424e12" /><Relationship Type="http://schemas.openxmlformats.org/officeDocument/2006/relationships/image" Target="/ppt/media/image.png" Id="R0a8875f419994271" /><Relationship Type="http://schemas.openxmlformats.org/officeDocument/2006/relationships/image" Target="/ppt/media/image.svg" Id="Rb9603585c17e4de4" /><Relationship Type="http://schemas.openxmlformats.org/officeDocument/2006/relationships/image" Target="/ppt/media/image2.png" Id="Rb6d96f1ad7914572" /><Relationship Type="http://schemas.openxmlformats.org/officeDocument/2006/relationships/image" Target="/ppt/media/image2.svg" Id="R68aee28b43b3419b" /><Relationship Type="http://schemas.openxmlformats.org/officeDocument/2006/relationships/image" Target="/ppt/media/image3.png" Id="R1a092c10406a440d" /><Relationship Type="http://schemas.openxmlformats.org/officeDocument/2006/relationships/image" Target="/ppt/media/image3.svg" Id="Re79bccd4ec684135" /><Relationship Type="http://schemas.openxmlformats.org/officeDocument/2006/relationships/image" Target="/ppt/media/image4.png" Id="R3075c5baf5044871" /><Relationship Type="http://schemas.openxmlformats.org/officeDocument/2006/relationships/image" Target="/ppt/media/image4.svg" Id="Rdf928a9475414b53" /><Relationship Type="http://schemas.openxmlformats.org/officeDocument/2006/relationships/notesSlide" Target="/ppt/notesSlides/notesSlide2.xml" Id="Rb29a8007653947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c23396bb9e54549" /><Relationship Type="http://schemas.openxmlformats.org/officeDocument/2006/relationships/notesSlide" Target="/ppt/notesSlides/notesSlide3.xml" Id="R6be639d776f840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92a2c3082624c09" /><Relationship Type="http://schemas.openxmlformats.org/officeDocument/2006/relationships/image" Target="/ppt/media/image5.png" Id="R34a0d01bcf6d47c7" /><Relationship Type="http://schemas.openxmlformats.org/officeDocument/2006/relationships/image" Target="/ppt/media/image5.svg" Id="R01f762361d68426d" /><Relationship Type="http://schemas.openxmlformats.org/officeDocument/2006/relationships/image" Target="/ppt/media/image6.png" Id="R496aa91e408d4808" /><Relationship Type="http://schemas.openxmlformats.org/officeDocument/2006/relationships/image" Target="/ppt/media/image6.svg" Id="Rb9403a3687a54377" /><Relationship Type="http://schemas.openxmlformats.org/officeDocument/2006/relationships/image" Target="/ppt/media/image7.png" Id="R7c7e58c432a84dec" /><Relationship Type="http://schemas.openxmlformats.org/officeDocument/2006/relationships/image" Target="/ppt/media/image7.svg" Id="R625dec9b2eec4d71" /><Relationship Type="http://schemas.openxmlformats.org/officeDocument/2006/relationships/image" Target="/ppt/media/image8.png" Id="R38c8bd85ee574279" /><Relationship Type="http://schemas.openxmlformats.org/officeDocument/2006/relationships/image" Target="/ppt/media/image8.svg" Id="Rc02c280fec06474c" /><Relationship Type="http://schemas.openxmlformats.org/officeDocument/2006/relationships/notesSlide" Target="/ppt/notesSlides/notesSlide4.xml" Id="R5739773b98dd43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6a8b5c34fc34d5d" /><Relationship Type="http://schemas.openxmlformats.org/officeDocument/2006/relationships/image" Target="/ppt/media/image9.png" Id="Rb3a9d685a74f4da2" /><Relationship Type="http://schemas.openxmlformats.org/officeDocument/2006/relationships/image" Target="/ppt/media/image9.svg" Id="R016e1d8b3a6344cb" /><Relationship Type="http://schemas.openxmlformats.org/officeDocument/2006/relationships/image" Target="/ppt/media/image10.png" Id="R904ba369b48f451a" /><Relationship Type="http://schemas.openxmlformats.org/officeDocument/2006/relationships/image" Target="/ppt/media/image10.svg" Id="R0548d18376754593" /><Relationship Type="http://schemas.openxmlformats.org/officeDocument/2006/relationships/notesSlide" Target="/ppt/notesSlides/notesSlide5.xml" Id="R5d63b6b1179042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5140693e1c14a15" /><Relationship Type="http://schemas.openxmlformats.org/officeDocument/2006/relationships/image" Target="/ppt/media/image11.png" Id="R247054eed12d46c2" /><Relationship Type="http://schemas.openxmlformats.org/officeDocument/2006/relationships/image" Target="/ppt/media/image11.svg" Id="Re4bef474994f4778" /><Relationship Type="http://schemas.openxmlformats.org/officeDocument/2006/relationships/image" Target="/ppt/media/image12.png" Id="Rec24cad069354e90" /><Relationship Type="http://schemas.openxmlformats.org/officeDocument/2006/relationships/image" Target="/ppt/media/image12.svg" Id="R9c2c7b682fb74eb1" /><Relationship Type="http://schemas.openxmlformats.org/officeDocument/2006/relationships/notesSlide" Target="/ppt/notesSlides/notesSlide6.xml" Id="R318a4887064547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d3e7d246e10446e" /><Relationship Type="http://schemas.openxmlformats.org/officeDocument/2006/relationships/notesSlide" Target="/ppt/notesSlides/notesSlide7.xml" Id="R58a9d370e13345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dd1d50b0fc04166" /><Relationship Type="http://schemas.openxmlformats.org/officeDocument/2006/relationships/notesSlide" Target="/ppt/notesSlides/notesSlide8.xml" Id="Re72aa3aa756a45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1b8a6675a884af5" /><Relationship Type="http://schemas.openxmlformats.org/officeDocument/2006/relationships/image" Target="/ppt/media/image13.png" Id="R63efbefc396a4033" /><Relationship Type="http://schemas.openxmlformats.org/officeDocument/2006/relationships/image" Target="/ppt/media/image13.svg" Id="R859c8cd7e783451d" /><Relationship Type="http://schemas.openxmlformats.org/officeDocument/2006/relationships/notesSlide" Target="/ppt/notesSlides/notesSlide9.xml" Id="R132a7b0f21a84ed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AE3943-F359-4C61-A861-45BD0E187B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33D34E4-F40A-47DF-BCED-0EE7A154E001}"/>
              </a:ext>
            </a:extLst>
          </p:cNvPr>
          <p:cNvSpPr>
            <a:spLocks xmlns:a="http://schemas.openxmlformats.org/drawingml/2006/main" noGrp="1"/>
          </p:cNvSpPr>
          <p:nvPr/>
        </p:nvSpPr>
        <p:spPr>
          <a:xfrm xmlns:a="http://schemas.openxmlformats.org/drawingml/2006/main">
            <a:off x="552450" y="781050"/>
            <a:ext cx="6438900" cy="48006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 name="">
            <a:extLst xmlns:a="http://schemas.openxmlformats.org/drawingml/2006/main">
              <a:ext uri="{FF2B5EF4-FFF2-40B4-BE49-F238E27FC236}">
                <a16:creationId xmlns:a16="http://schemas.microsoft.com/office/drawing/2014/main" id="{8A1E1806-3E73-4EF7-A46F-090EF3328647}"/>
              </a:ext>
            </a:extLst>
          </p:cNvPr>
          <p:cNvSpPr>
            <a:spLocks xmlns:a="http://schemas.openxmlformats.org/drawingml/2006/main" noGrp="1"/>
          </p:cNvSpPr>
          <p:nvPr/>
        </p:nvSpPr>
        <p:spPr>
          <a:xfrm xmlns:a="http://schemas.openxmlformats.org/drawingml/2006/main">
            <a:off x="7372350" y="781050"/>
            <a:ext cx="4267200" cy="48006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4" name="">
            <a:extLst xmlns:a="http://schemas.openxmlformats.org/drawingml/2006/main">
              <a:ext uri="{FF2B5EF4-FFF2-40B4-BE49-F238E27FC236}">
                <a16:creationId xmlns:a16="http://schemas.microsoft.com/office/drawing/2014/main" id="{A7CBB6F1-1550-4855-9C06-5AC952A33A7C}"/>
              </a:ext>
            </a:extLst>
          </p:cNvPr>
          <p:cNvSpPr>
            <a:spLocks xmlns:a="http://schemas.openxmlformats.org/drawingml/2006/main" noGrp="1"/>
          </p:cNvSpPr>
          <p:nvPr/>
        </p:nvSpPr>
        <p:spPr>
          <a:xfrm xmlns:a="http://schemas.openxmlformats.org/drawingml/2006/main">
            <a:off x="7372350" y="781050"/>
            <a:ext cx="95250" cy="48006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5" name="">
            <a:extLst xmlns:a="http://schemas.openxmlformats.org/drawingml/2006/main">
              <a:ext uri="{FF2B5EF4-FFF2-40B4-BE49-F238E27FC236}">
                <a16:creationId xmlns:a16="http://schemas.microsoft.com/office/drawing/2014/main" id="{B14E6071-A8BC-4056-A53C-48BBE26E47A9}"/>
              </a:ext>
            </a:extLst>
          </p:cNvPr>
          <p:cNvSpPr>
            <a:spLocks xmlns:a="http://schemas.openxmlformats.org/drawingml/2006/main" noGrp="1"/>
          </p:cNvSpPr>
          <p:nvPr/>
        </p:nvSpPr>
        <p:spPr>
          <a:xfrm xmlns:a="http://schemas.openxmlformats.org/drawingml/2006/main">
            <a:off x="800100" y="1047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PROPOSITION CIBLEE | ELTON CI</a:t>
            </a:r>
          </a:p>
        </p:txBody>
      </p:sp>
      <p:sp>
        <p:nvSpPr>
          <p:cNvPr id="6" name="">
            <a:extLst xmlns:a="http://schemas.openxmlformats.org/drawingml/2006/main">
              <a:ext uri="{FF2B5EF4-FFF2-40B4-BE49-F238E27FC236}">
                <a16:creationId xmlns:a16="http://schemas.microsoft.com/office/drawing/2014/main" id="{D9221BE4-D497-425D-893C-59182AC74246}"/>
              </a:ext>
            </a:extLst>
          </p:cNvPr>
          <p:cNvSpPr>
            <a:spLocks xmlns:a="http://schemas.openxmlformats.org/drawingml/2006/main" noGrp="1"/>
          </p:cNvSpPr>
          <p:nvPr/>
        </p:nvSpPr>
        <p:spPr>
          <a:xfrm xmlns:a="http://schemas.openxmlformats.org/drawingml/2006/main">
            <a:off x="800100" y="1409700"/>
            <a:ext cx="5334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Transformer l'IA</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en gains visibles</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pour ELTON CI</a:t>
            </a:r>
          </a:p>
        </p:txBody>
      </p:sp>
      <p:sp>
        <p:nvSpPr>
          <p:cNvPr id="7" name="">
            <a:extLst xmlns:a="http://schemas.openxmlformats.org/drawingml/2006/main">
              <a:ext uri="{FF2B5EF4-FFF2-40B4-BE49-F238E27FC236}">
                <a16:creationId xmlns:a16="http://schemas.microsoft.com/office/drawing/2014/main" id="{29178339-8A0C-4033-AC9F-CAED31B43572}"/>
              </a:ext>
            </a:extLst>
          </p:cNvPr>
          <p:cNvSpPr>
            <a:spLocks xmlns:a="http://schemas.openxmlformats.org/drawingml/2006/main" noGrp="1"/>
          </p:cNvSpPr>
          <p:nvPr/>
        </p:nvSpPr>
        <p:spPr>
          <a:xfrm xmlns:a="http://schemas.openxmlformats.org/drawingml/2006/main">
            <a:off x="800100" y="3086100"/>
            <a:ext cx="55245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17086"/>
                </a:solidFill>
                <a:latin typeface="Aptos"/>
                <a:ea typeface="Aptos"/>
                <a:cs typeface="Aptos"/>
              </a:defRPr>
            </a:pPr>
            <a:r>
              <a:rPr sz="1200" b="0">
                <a:solidFill>
                  <a:srgbClr val="617086"/>
                </a:solidFill>
                <a:latin typeface="Aptos"/>
                <a:ea typeface="Aptos"/>
                <a:cs typeface="Aptos"/>
              </a:rPr>
              <a:t>Une proposition construite a partir du ROI de reference TransferAI, mais traduite dans le contexte ELTON CI autour de 4 terrains d'impact: comptes professionnels, flotte et cartes carburant, service client, procedures internes.</a:t>
            </a:r>
          </a:p>
        </p:txBody>
      </p:sp>
      <p:sp>
        <p:nvSpPr>
          <p:cNvPr id="8" name="">
            <a:extLst xmlns:a="http://schemas.openxmlformats.org/drawingml/2006/main">
              <a:ext uri="{FF2B5EF4-FFF2-40B4-BE49-F238E27FC236}">
                <a16:creationId xmlns:a16="http://schemas.microsoft.com/office/drawing/2014/main" id="{03AC5D96-E3CF-463A-A831-FAC83B9EE003}"/>
              </a:ext>
            </a:extLst>
          </p:cNvPr>
          <p:cNvSpPr>
            <a:spLocks xmlns:a="http://schemas.openxmlformats.org/drawingml/2006/main" noGrp="1"/>
          </p:cNvSpPr>
          <p:nvPr/>
        </p:nvSpPr>
        <p:spPr>
          <a:xfrm xmlns:a="http://schemas.openxmlformats.org/drawingml/2006/main">
            <a:off x="800100" y="43243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Point d'entree recommande</a:t>
            </a:r>
          </a:p>
        </p:txBody>
      </p:sp>
      <p:sp>
        <p:nvSpPr>
          <p:cNvPr id="9" name="">
            <a:extLst xmlns:a="http://schemas.openxmlformats.org/drawingml/2006/main">
              <a:ext uri="{FF2B5EF4-FFF2-40B4-BE49-F238E27FC236}">
                <a16:creationId xmlns:a16="http://schemas.microsoft.com/office/drawing/2014/main" id="{6398C5F1-0125-41A4-B788-4D41273A6231}"/>
              </a:ext>
            </a:extLst>
          </p:cNvPr>
          <p:cNvSpPr>
            <a:spLocks xmlns:a="http://schemas.openxmlformats.org/drawingml/2006/main" noGrp="1"/>
          </p:cNvSpPr>
          <p:nvPr/>
        </p:nvSpPr>
        <p:spPr>
          <a:xfrm xmlns:a="http://schemas.openxmlformats.org/drawingml/2006/main">
            <a:off x="800100" y="4533900"/>
            <a:ext cx="52197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A3554"/>
                </a:solidFill>
                <a:latin typeface="Aptos"/>
                <a:ea typeface="Aptos"/>
                <a:cs typeface="Aptos"/>
              </a:defRPr>
            </a:pPr>
            <a:r>
              <a:rPr sz="1050" b="1">
                <a:solidFill>
                  <a:srgbClr val="1A3554"/>
                </a:solidFill>
                <a:latin typeface="Aptos"/>
                <a:ea typeface="Aptos"/>
                <a:cs typeface="Aptos"/>
              </a:rPr>
              <a:t>Audit IA gratuit + atelier metier de 45 minutes pour qualifier les priorites, les KPI et la bonne sequence de deploiement.</a:t>
            </a:r>
          </a:p>
        </p:txBody>
      </p:sp>
      <p:sp>
        <p:nvSpPr>
          <p:cNvPr id="10" name="">
            <a:extLst xmlns:a="http://schemas.openxmlformats.org/drawingml/2006/main">
              <a:ext uri="{FF2B5EF4-FFF2-40B4-BE49-F238E27FC236}">
                <a16:creationId xmlns:a16="http://schemas.microsoft.com/office/drawing/2014/main" id="{ED54F41B-F1DC-4F25-B7A8-3317BB814F7A}"/>
              </a:ext>
            </a:extLst>
          </p:cNvPr>
          <p:cNvSpPr>
            <a:spLocks xmlns:a="http://schemas.openxmlformats.org/drawingml/2006/main" noGrp="1"/>
          </p:cNvSpPr>
          <p:nvPr/>
        </p:nvSpPr>
        <p:spPr>
          <a:xfrm xmlns:a="http://schemas.openxmlformats.org/drawingml/2006/main">
            <a:off x="800100" y="5219700"/>
            <a:ext cx="1314450" cy="819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1" name="">
            <a:extLst xmlns:a="http://schemas.openxmlformats.org/drawingml/2006/main">
              <a:ext uri="{FF2B5EF4-FFF2-40B4-BE49-F238E27FC236}">
                <a16:creationId xmlns:a16="http://schemas.microsoft.com/office/drawing/2014/main" id="{134B5044-9CF9-4FB6-9BE8-CFD33892BCEA}"/>
              </a:ext>
            </a:extLst>
          </p:cNvPr>
          <p:cNvSpPr>
            <a:spLocks xmlns:a="http://schemas.openxmlformats.org/drawingml/2006/main" noGrp="1"/>
          </p:cNvSpPr>
          <p:nvPr/>
        </p:nvSpPr>
        <p:spPr>
          <a:xfrm xmlns:a="http://schemas.openxmlformats.org/drawingml/2006/main">
            <a:off x="952500" y="5391150"/>
            <a:ext cx="28575" cy="47625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D54D2DE-D465-46EC-AF96-4B761A2ED9AF}"/>
              </a:ext>
            </a:extLst>
          </p:cNvPr>
          <p:cNvSpPr>
            <a:spLocks xmlns:a="http://schemas.openxmlformats.org/drawingml/2006/main" noGrp="1"/>
          </p:cNvSpPr>
          <p:nvPr/>
        </p:nvSpPr>
        <p:spPr>
          <a:xfrm xmlns:a="http://schemas.openxmlformats.org/drawingml/2006/main">
            <a:off x="1085850" y="53530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J+15</a:t>
            </a:r>
          </a:p>
        </p:txBody>
      </p:sp>
      <p:sp>
        <p:nvSpPr>
          <p:cNvPr id="13" name="">
            <a:extLst xmlns:a="http://schemas.openxmlformats.org/drawingml/2006/main">
              <a:ext uri="{FF2B5EF4-FFF2-40B4-BE49-F238E27FC236}">
                <a16:creationId xmlns:a16="http://schemas.microsoft.com/office/drawing/2014/main" id="{C9384BDC-02DE-4C57-B427-0EAF82900CAA}"/>
              </a:ext>
            </a:extLst>
          </p:cNvPr>
          <p:cNvSpPr>
            <a:spLocks xmlns:a="http://schemas.openxmlformats.org/drawingml/2006/main" noGrp="1"/>
          </p:cNvSpPr>
          <p:nvPr/>
        </p:nvSpPr>
        <p:spPr>
          <a:xfrm xmlns:a="http://schemas.openxmlformats.org/drawingml/2006/main">
            <a:off x="1085850" y="5657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17086"/>
                </a:solidFill>
                <a:latin typeface="Aptos"/>
                <a:ea typeface="Aptos"/>
                <a:cs typeface="Aptos"/>
              </a:defRPr>
            </a:pPr>
            <a:r>
              <a:rPr sz="713" b="1">
                <a:solidFill>
                  <a:srgbClr val="617086"/>
                </a:solidFill>
                <a:latin typeface="Aptos"/>
                <a:ea typeface="Aptos"/>
                <a:cs typeface="Aptos"/>
              </a:rPr>
              <a:t>premier livrable</a:t>
            </a:r>
          </a:p>
        </p:txBody>
      </p:sp>
      <p:sp>
        <p:nvSpPr>
          <p:cNvPr id="14" name="">
            <a:extLst xmlns:a="http://schemas.openxmlformats.org/drawingml/2006/main">
              <a:ext uri="{FF2B5EF4-FFF2-40B4-BE49-F238E27FC236}">
                <a16:creationId xmlns:a16="http://schemas.microsoft.com/office/drawing/2014/main" id="{E45034E2-D76B-42EF-8E5C-07DF3C72D7C2}"/>
              </a:ext>
            </a:extLst>
          </p:cNvPr>
          <p:cNvSpPr>
            <a:spLocks xmlns:a="http://schemas.openxmlformats.org/drawingml/2006/main" noGrp="1"/>
          </p:cNvSpPr>
          <p:nvPr/>
        </p:nvSpPr>
        <p:spPr>
          <a:xfrm xmlns:a="http://schemas.openxmlformats.org/drawingml/2006/main">
            <a:off x="1085850" y="5829300"/>
            <a:ext cx="895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lecture claire des gains rapides</a:t>
            </a:r>
          </a:p>
        </p:txBody>
      </p:sp>
      <p:sp>
        <p:nvSpPr>
          <p:cNvPr id="15" name="">
            <a:extLst xmlns:a="http://schemas.openxmlformats.org/drawingml/2006/main">
              <a:ext uri="{FF2B5EF4-FFF2-40B4-BE49-F238E27FC236}">
                <a16:creationId xmlns:a16="http://schemas.microsoft.com/office/drawing/2014/main" id="{E2319C1F-EEA2-430F-B767-7C632D95B5E2}"/>
              </a:ext>
            </a:extLst>
          </p:cNvPr>
          <p:cNvSpPr>
            <a:spLocks xmlns:a="http://schemas.openxmlformats.org/drawingml/2006/main" noGrp="1"/>
          </p:cNvSpPr>
          <p:nvPr/>
        </p:nvSpPr>
        <p:spPr>
          <a:xfrm xmlns:a="http://schemas.openxmlformats.org/drawingml/2006/main">
            <a:off x="2247900" y="5219700"/>
            <a:ext cx="1314450" cy="819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6" name="">
            <a:extLst xmlns:a="http://schemas.openxmlformats.org/drawingml/2006/main">
              <a:ext uri="{FF2B5EF4-FFF2-40B4-BE49-F238E27FC236}">
                <a16:creationId xmlns:a16="http://schemas.microsoft.com/office/drawing/2014/main" id="{ADFC32A2-8BD4-492F-8EB4-5A0A67080F83}"/>
              </a:ext>
            </a:extLst>
          </p:cNvPr>
          <p:cNvSpPr>
            <a:spLocks xmlns:a="http://schemas.openxmlformats.org/drawingml/2006/main" noGrp="1"/>
          </p:cNvSpPr>
          <p:nvPr/>
        </p:nvSpPr>
        <p:spPr>
          <a:xfrm xmlns:a="http://schemas.openxmlformats.org/drawingml/2006/main">
            <a:off x="2400300" y="5391150"/>
            <a:ext cx="28575" cy="47625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BD48760-D332-4EEB-97B0-F51F6D12A857}"/>
              </a:ext>
            </a:extLst>
          </p:cNvPr>
          <p:cNvSpPr>
            <a:spLocks xmlns:a="http://schemas.openxmlformats.org/drawingml/2006/main" noGrp="1"/>
          </p:cNvSpPr>
          <p:nvPr/>
        </p:nvSpPr>
        <p:spPr>
          <a:xfrm xmlns:a="http://schemas.openxmlformats.org/drawingml/2006/main">
            <a:off x="2533650" y="53530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4</a:t>
            </a:r>
          </a:p>
        </p:txBody>
      </p:sp>
      <p:sp>
        <p:nvSpPr>
          <p:cNvPr id="18" name="">
            <a:extLst xmlns:a="http://schemas.openxmlformats.org/drawingml/2006/main">
              <a:ext uri="{FF2B5EF4-FFF2-40B4-BE49-F238E27FC236}">
                <a16:creationId xmlns:a16="http://schemas.microsoft.com/office/drawing/2014/main" id="{E349A2CB-3659-4C3C-9F50-C0BADA0D4260}"/>
              </a:ext>
            </a:extLst>
          </p:cNvPr>
          <p:cNvSpPr>
            <a:spLocks xmlns:a="http://schemas.openxmlformats.org/drawingml/2006/main" noGrp="1"/>
          </p:cNvSpPr>
          <p:nvPr/>
        </p:nvSpPr>
        <p:spPr>
          <a:xfrm xmlns:a="http://schemas.openxmlformats.org/drawingml/2006/main">
            <a:off x="2533650" y="5657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17086"/>
                </a:solidFill>
                <a:latin typeface="Aptos"/>
                <a:ea typeface="Aptos"/>
                <a:cs typeface="Aptos"/>
              </a:defRPr>
            </a:pPr>
            <a:r>
              <a:rPr sz="713" b="1">
                <a:solidFill>
                  <a:srgbClr val="617086"/>
                </a:solidFill>
                <a:latin typeface="Aptos"/>
                <a:ea typeface="Aptos"/>
                <a:cs typeface="Aptos"/>
              </a:rPr>
              <a:t>cas d'usage</a:t>
            </a:r>
          </a:p>
        </p:txBody>
      </p:sp>
      <p:sp>
        <p:nvSpPr>
          <p:cNvPr id="19" name="">
            <a:extLst xmlns:a="http://schemas.openxmlformats.org/drawingml/2006/main">
              <a:ext uri="{FF2B5EF4-FFF2-40B4-BE49-F238E27FC236}">
                <a16:creationId xmlns:a16="http://schemas.microsoft.com/office/drawing/2014/main" id="{EEE4037A-C1FD-4421-B2A8-4640E0A6387F}"/>
              </a:ext>
            </a:extLst>
          </p:cNvPr>
          <p:cNvSpPr>
            <a:spLocks xmlns:a="http://schemas.openxmlformats.org/drawingml/2006/main" noGrp="1"/>
          </p:cNvSpPr>
          <p:nvPr/>
        </p:nvSpPr>
        <p:spPr>
          <a:xfrm xmlns:a="http://schemas.openxmlformats.org/drawingml/2006/main">
            <a:off x="2533650" y="5829300"/>
            <a:ext cx="895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priorises pour ELTON CI</a:t>
            </a:r>
          </a:p>
        </p:txBody>
      </p:sp>
      <p:sp>
        <p:nvSpPr>
          <p:cNvPr id="20" name="">
            <a:extLst xmlns:a="http://schemas.openxmlformats.org/drawingml/2006/main">
              <a:ext uri="{FF2B5EF4-FFF2-40B4-BE49-F238E27FC236}">
                <a16:creationId xmlns:a16="http://schemas.microsoft.com/office/drawing/2014/main" id="{AA056B46-9CF3-4CBD-BC8E-D0BC092B8D38}"/>
              </a:ext>
            </a:extLst>
          </p:cNvPr>
          <p:cNvSpPr>
            <a:spLocks xmlns:a="http://schemas.openxmlformats.org/drawingml/2006/main" noGrp="1"/>
          </p:cNvSpPr>
          <p:nvPr/>
        </p:nvSpPr>
        <p:spPr>
          <a:xfrm xmlns:a="http://schemas.openxmlformats.org/drawingml/2006/main">
            <a:off x="3695700" y="5219700"/>
            <a:ext cx="1314450" cy="819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1" name="">
            <a:extLst xmlns:a="http://schemas.openxmlformats.org/drawingml/2006/main">
              <a:ext uri="{FF2B5EF4-FFF2-40B4-BE49-F238E27FC236}">
                <a16:creationId xmlns:a16="http://schemas.microsoft.com/office/drawing/2014/main" id="{3CEC2974-CA92-4D78-A580-AA275CC9C40E}"/>
              </a:ext>
            </a:extLst>
          </p:cNvPr>
          <p:cNvSpPr>
            <a:spLocks xmlns:a="http://schemas.openxmlformats.org/drawingml/2006/main" noGrp="1"/>
          </p:cNvSpPr>
          <p:nvPr/>
        </p:nvSpPr>
        <p:spPr>
          <a:xfrm xmlns:a="http://schemas.openxmlformats.org/drawingml/2006/main">
            <a:off x="3848100" y="5391150"/>
            <a:ext cx="28575" cy="47625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1C6DF52-FD35-473A-BCA6-A0D4DE01EE67}"/>
              </a:ext>
            </a:extLst>
          </p:cNvPr>
          <p:cNvSpPr>
            <a:spLocks xmlns:a="http://schemas.openxmlformats.org/drawingml/2006/main" noGrp="1"/>
          </p:cNvSpPr>
          <p:nvPr/>
        </p:nvSpPr>
        <p:spPr>
          <a:xfrm xmlns:a="http://schemas.openxmlformats.org/drawingml/2006/main">
            <a:off x="3981450" y="53530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+30 %</a:t>
            </a:r>
          </a:p>
        </p:txBody>
      </p:sp>
      <p:sp>
        <p:nvSpPr>
          <p:cNvPr id="23" name="">
            <a:extLst xmlns:a="http://schemas.openxmlformats.org/drawingml/2006/main">
              <a:ext uri="{FF2B5EF4-FFF2-40B4-BE49-F238E27FC236}">
                <a16:creationId xmlns:a16="http://schemas.microsoft.com/office/drawing/2014/main" id="{81F089EA-EE2D-4C53-B4EC-6879EAFE353D}"/>
              </a:ext>
            </a:extLst>
          </p:cNvPr>
          <p:cNvSpPr>
            <a:spLocks xmlns:a="http://schemas.openxmlformats.org/drawingml/2006/main" noGrp="1"/>
          </p:cNvSpPr>
          <p:nvPr/>
        </p:nvSpPr>
        <p:spPr>
          <a:xfrm xmlns:a="http://schemas.openxmlformats.org/drawingml/2006/main">
            <a:off x="3981450" y="5657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17086"/>
                </a:solidFill>
                <a:latin typeface="Aptos"/>
                <a:ea typeface="Aptos"/>
                <a:cs typeface="Aptos"/>
              </a:defRPr>
            </a:pPr>
            <a:r>
              <a:rPr sz="713" b="1">
                <a:solidFill>
                  <a:srgbClr val="617086"/>
                </a:solidFill>
                <a:latin typeface="Aptos"/>
                <a:ea typeface="Aptos"/>
                <a:cs typeface="Aptos"/>
              </a:rPr>
              <a:t>productivite benchmark</a:t>
            </a:r>
          </a:p>
        </p:txBody>
      </p:sp>
      <p:sp>
        <p:nvSpPr>
          <p:cNvPr id="24" name="">
            <a:extLst xmlns:a="http://schemas.openxmlformats.org/drawingml/2006/main">
              <a:ext uri="{FF2B5EF4-FFF2-40B4-BE49-F238E27FC236}">
                <a16:creationId xmlns:a16="http://schemas.microsoft.com/office/drawing/2014/main" id="{CA45AB9B-9C88-40D2-AF2C-ABFD5703430E}"/>
              </a:ext>
            </a:extLst>
          </p:cNvPr>
          <p:cNvSpPr>
            <a:spLocks xmlns:a="http://schemas.openxmlformats.org/drawingml/2006/main" noGrp="1"/>
          </p:cNvSpPr>
          <p:nvPr/>
        </p:nvSpPr>
        <p:spPr>
          <a:xfrm xmlns:a="http://schemas.openxmlformats.org/drawingml/2006/main">
            <a:off x="3981450" y="5829300"/>
            <a:ext cx="895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sur flux repetitifs comparables</a:t>
            </a:r>
          </a:p>
        </p:txBody>
      </p:sp>
      <p:sp>
        <p:nvSpPr>
          <p:cNvPr id="25" name="">
            <a:extLst xmlns:a="http://schemas.openxmlformats.org/drawingml/2006/main">
              <a:ext uri="{FF2B5EF4-FFF2-40B4-BE49-F238E27FC236}">
                <a16:creationId xmlns:a16="http://schemas.microsoft.com/office/drawing/2014/main" id="{BC936BB8-C26F-41A0-8C28-AFA8D27584C4}"/>
              </a:ext>
            </a:extLst>
          </p:cNvPr>
          <p:cNvSpPr>
            <a:spLocks xmlns:a="http://schemas.openxmlformats.org/drawingml/2006/main" noGrp="1"/>
          </p:cNvSpPr>
          <p:nvPr/>
        </p:nvSpPr>
        <p:spPr>
          <a:xfrm xmlns:a="http://schemas.openxmlformats.org/drawingml/2006/main">
            <a:off x="5143500" y="5219700"/>
            <a:ext cx="1314450" cy="819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6" name="">
            <a:extLst xmlns:a="http://schemas.openxmlformats.org/drawingml/2006/main">
              <a:ext uri="{FF2B5EF4-FFF2-40B4-BE49-F238E27FC236}">
                <a16:creationId xmlns:a16="http://schemas.microsoft.com/office/drawing/2014/main" id="{41A27DD3-51BE-434E-9286-EE58B294BF79}"/>
              </a:ext>
            </a:extLst>
          </p:cNvPr>
          <p:cNvSpPr>
            <a:spLocks xmlns:a="http://schemas.openxmlformats.org/drawingml/2006/main" noGrp="1"/>
          </p:cNvSpPr>
          <p:nvPr/>
        </p:nvSpPr>
        <p:spPr>
          <a:xfrm xmlns:a="http://schemas.openxmlformats.org/drawingml/2006/main">
            <a:off x="5295900" y="5391150"/>
            <a:ext cx="28575" cy="476250"/>
          </a:xfrm>
          <a:prstGeom xmlns:a="http://schemas.openxmlformats.org/drawingml/2006/main" prst="rect">
            <a:avLst/>
          </a:prstGeom>
          <a:solidFill xmlns:a="http://schemas.openxmlformats.org/drawingml/2006/main">
            <a:srgbClr val="C88C3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72A8D407-AEAC-4147-8444-F6A227A67201}"/>
              </a:ext>
            </a:extLst>
          </p:cNvPr>
          <p:cNvSpPr>
            <a:spLocks xmlns:a="http://schemas.openxmlformats.org/drawingml/2006/main" noGrp="1"/>
          </p:cNvSpPr>
          <p:nvPr/>
        </p:nvSpPr>
        <p:spPr>
          <a:xfrm xmlns:a="http://schemas.openxmlformats.org/drawingml/2006/main">
            <a:off x="5429250" y="53530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-45 %</a:t>
            </a:r>
          </a:p>
        </p:txBody>
      </p:sp>
      <p:sp>
        <p:nvSpPr>
          <p:cNvPr id="28" name="">
            <a:extLst xmlns:a="http://schemas.openxmlformats.org/drawingml/2006/main">
              <a:ext uri="{FF2B5EF4-FFF2-40B4-BE49-F238E27FC236}">
                <a16:creationId xmlns:a16="http://schemas.microsoft.com/office/drawing/2014/main" id="{A51FD0DD-B4DE-4D97-9AFB-65209EA50439}"/>
              </a:ext>
            </a:extLst>
          </p:cNvPr>
          <p:cNvSpPr>
            <a:spLocks xmlns:a="http://schemas.openxmlformats.org/drawingml/2006/main" noGrp="1"/>
          </p:cNvSpPr>
          <p:nvPr/>
        </p:nvSpPr>
        <p:spPr>
          <a:xfrm xmlns:a="http://schemas.openxmlformats.org/drawingml/2006/main">
            <a:off x="5429250" y="5657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17086"/>
                </a:solidFill>
                <a:latin typeface="Aptos"/>
                <a:ea typeface="Aptos"/>
                <a:cs typeface="Aptos"/>
              </a:defRPr>
            </a:pPr>
            <a:r>
              <a:rPr sz="713" b="1">
                <a:solidFill>
                  <a:srgbClr val="617086"/>
                </a:solidFill>
                <a:latin typeface="Aptos"/>
                <a:ea typeface="Aptos"/>
                <a:cs typeface="Aptos"/>
              </a:rPr>
              <a:t>effort formation</a:t>
            </a:r>
          </a:p>
        </p:txBody>
      </p:sp>
      <p:sp>
        <p:nvSpPr>
          <p:cNvPr id="29" name="">
            <a:extLst xmlns:a="http://schemas.openxmlformats.org/drawingml/2006/main">
              <a:ext uri="{FF2B5EF4-FFF2-40B4-BE49-F238E27FC236}">
                <a16:creationId xmlns:a16="http://schemas.microsoft.com/office/drawing/2014/main" id="{5D64685C-4DAD-49B4-9B5C-D1C5512C1036}"/>
              </a:ext>
            </a:extLst>
          </p:cNvPr>
          <p:cNvSpPr>
            <a:spLocks xmlns:a="http://schemas.openxmlformats.org/drawingml/2006/main" noGrp="1"/>
          </p:cNvSpPr>
          <p:nvPr/>
        </p:nvSpPr>
        <p:spPr>
          <a:xfrm xmlns:a="http://schemas.openxmlformats.org/drawingml/2006/main">
            <a:off x="5429250" y="5829300"/>
            <a:ext cx="895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benchmark onboarding / diffusion</a:t>
            </a:r>
          </a:p>
        </p:txBody>
      </p:sp>
      <p:sp>
        <p:nvSpPr>
          <p:cNvPr id="30" name="">
            <a:extLst xmlns:a="http://schemas.openxmlformats.org/drawingml/2006/main">
              <a:ext uri="{FF2B5EF4-FFF2-40B4-BE49-F238E27FC236}">
                <a16:creationId xmlns:a16="http://schemas.microsoft.com/office/drawing/2014/main" id="{06919B0B-A821-4CB3-91B2-36F579ACC4F0}"/>
              </a:ext>
            </a:extLst>
          </p:cNvPr>
          <p:cNvSpPr>
            <a:spLocks xmlns:a="http://schemas.openxmlformats.org/drawingml/2006/main" noGrp="1"/>
          </p:cNvSpPr>
          <p:nvPr/>
        </p:nvSpPr>
        <p:spPr>
          <a:xfrm xmlns:a="http://schemas.openxmlformats.org/drawingml/2006/main">
            <a:off x="77343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PROPOSONS</a:t>
            </a:r>
          </a:p>
        </p:txBody>
      </p:sp>
      <p:sp>
        <p:nvSpPr>
          <p:cNvPr id="31" name="">
            <a:extLst xmlns:a="http://schemas.openxmlformats.org/drawingml/2006/main">
              <a:ext uri="{FF2B5EF4-FFF2-40B4-BE49-F238E27FC236}">
                <a16:creationId xmlns:a16="http://schemas.microsoft.com/office/drawing/2014/main" id="{10CC8CFB-0618-4C30-B705-3E15BEB3FA38}"/>
              </a:ext>
            </a:extLst>
          </p:cNvPr>
          <p:cNvSpPr>
            <a:spLocks xmlns:a="http://schemas.openxmlformats.org/drawingml/2006/main" noGrp="1"/>
          </p:cNvSpPr>
          <p:nvPr/>
        </p:nvSpPr>
        <p:spPr>
          <a:xfrm xmlns:a="http://schemas.openxmlformats.org/drawingml/2006/main">
            <a:off x="7734300" y="1466850"/>
            <a:ext cx="3238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Une offre executive,</a:t>
            </a:r>
          </a:p>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metier et mesurable.</a:t>
            </a:r>
          </a:p>
        </p:txBody>
      </p:sp>
      <p:sp>
        <p:nvSpPr>
          <p:cNvPr id="32" name="">
            <a:extLst xmlns:a="http://schemas.openxmlformats.org/drawingml/2006/main">
              <a:ext uri="{FF2B5EF4-FFF2-40B4-BE49-F238E27FC236}">
                <a16:creationId xmlns:a16="http://schemas.microsoft.com/office/drawing/2014/main" id="{6B5D7E21-8216-4D38-84D4-B64C2FA3A005}"/>
              </a:ext>
            </a:extLst>
          </p:cNvPr>
          <p:cNvSpPr>
            <a:spLocks xmlns:a="http://schemas.openxmlformats.org/drawingml/2006/main" noGrp="1"/>
          </p:cNvSpPr>
          <p:nvPr/>
        </p:nvSpPr>
        <p:spPr>
          <a:xfrm xmlns:a="http://schemas.openxmlformats.org/drawingml/2006/main">
            <a:off x="7734300" y="2628900"/>
            <a:ext cx="32194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Partir des vrais irritants ELTON CI</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Cadrer des cas d'usage utiles avant tout deploiement</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Former les bonnes equipes au bon niveau</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Lancer un pilote avec mesure du ROI</a:t>
            </a:r>
          </a:p>
        </p:txBody>
      </p:sp>
      <p:sp>
        <p:nvSpPr>
          <p:cNvPr id="33" name="">
            <a:extLst xmlns:a="http://schemas.openxmlformats.org/drawingml/2006/main">
              <a:ext uri="{FF2B5EF4-FFF2-40B4-BE49-F238E27FC236}">
                <a16:creationId xmlns:a16="http://schemas.microsoft.com/office/drawing/2014/main" id="{B2FA84A2-CAAE-49E4-BC94-1FF88383D19E}"/>
              </a:ext>
            </a:extLst>
          </p:cNvPr>
          <p:cNvSpPr>
            <a:spLocks xmlns:a="http://schemas.openxmlformats.org/drawingml/2006/main" noGrp="1"/>
          </p:cNvSpPr>
          <p:nvPr/>
        </p:nvSpPr>
        <p:spPr>
          <a:xfrm xmlns:a="http://schemas.openxmlformats.org/drawingml/2006/main">
            <a:off x="7734300" y="4095750"/>
            <a:ext cx="314325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4" name="">
            <a:extLst xmlns:a="http://schemas.openxmlformats.org/drawingml/2006/main">
              <a:ext uri="{FF2B5EF4-FFF2-40B4-BE49-F238E27FC236}">
                <a16:creationId xmlns:a16="http://schemas.microsoft.com/office/drawing/2014/main" id="{879E6147-8E30-49DD-B7A8-F953EC592ECB}"/>
              </a:ext>
            </a:extLst>
          </p:cNvPr>
          <p:cNvSpPr>
            <a:spLocks xmlns:a="http://schemas.openxmlformats.org/drawingml/2006/main" noGrp="1"/>
          </p:cNvSpPr>
          <p:nvPr/>
        </p:nvSpPr>
        <p:spPr>
          <a:xfrm xmlns:a="http://schemas.openxmlformats.org/drawingml/2006/main">
            <a:off x="7943850" y="426720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D7E5F3"/>
                </a:solidFill>
                <a:latin typeface="Aptos"/>
                <a:ea typeface="Aptos"/>
                <a:cs typeface="Aptos"/>
              </a:defRPr>
            </a:pPr>
            <a:r>
              <a:rPr sz="713" b="1">
                <a:solidFill>
                  <a:srgbClr val="D7E5F3"/>
                </a:solidFill>
                <a:latin typeface="Aptos"/>
                <a:ea typeface="Aptos"/>
                <a:cs typeface="Aptos"/>
              </a:rPr>
              <a:t>Promesse</a:t>
            </a:r>
          </a:p>
        </p:txBody>
      </p:sp>
      <p:sp>
        <p:nvSpPr>
          <p:cNvPr id="35" name="">
            <a:extLst xmlns:a="http://schemas.openxmlformats.org/drawingml/2006/main">
              <a:ext uri="{FF2B5EF4-FFF2-40B4-BE49-F238E27FC236}">
                <a16:creationId xmlns:a16="http://schemas.microsoft.com/office/drawing/2014/main" id="{0FEE397C-1604-4904-83DF-28FEA5B3D112}"/>
              </a:ext>
            </a:extLst>
          </p:cNvPr>
          <p:cNvSpPr>
            <a:spLocks xmlns:a="http://schemas.openxmlformats.org/drawingml/2006/main" noGrp="1"/>
          </p:cNvSpPr>
          <p:nvPr/>
        </p:nvSpPr>
        <p:spPr>
          <a:xfrm xmlns:a="http://schemas.openxmlformats.org/drawingml/2006/main">
            <a:off x="7943850" y="4476750"/>
            <a:ext cx="2724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Faire de l'IA un levier de pilotage, de rigueur operationnelle et de qualite de service pour ELTON CI.</a:t>
            </a:r>
          </a:p>
        </p:txBody>
      </p:sp>
      <p:sp>
        <p:nvSpPr>
          <p:cNvPr id="36" name="">
            <a:extLst xmlns:a="http://schemas.openxmlformats.org/drawingml/2006/main">
              <a:ext uri="{FF2B5EF4-FFF2-40B4-BE49-F238E27FC236}">
                <a16:creationId xmlns:a16="http://schemas.microsoft.com/office/drawing/2014/main" id="{2F190F73-5E01-4506-933E-6992E8BDDC36}"/>
              </a:ext>
            </a:extLst>
          </p:cNvPr>
          <p:cNvSpPr>
            <a:spLocks xmlns:a="http://schemas.openxmlformats.org/drawingml/2006/main" noGrp="1"/>
          </p:cNvSpPr>
          <p:nvPr/>
        </p:nvSpPr>
        <p:spPr>
          <a:xfrm xmlns:a="http://schemas.openxmlformats.org/drawingml/2006/main">
            <a:off x="7734300" y="5219700"/>
            <a:ext cx="3143250" cy="8191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37" name="">
            <a:extLst xmlns:a="http://schemas.openxmlformats.org/drawingml/2006/main">
              <a:ext uri="{FF2B5EF4-FFF2-40B4-BE49-F238E27FC236}">
                <a16:creationId xmlns:a16="http://schemas.microsoft.com/office/drawing/2014/main" id="{7DD10456-34D9-4292-89CE-DDB23A257DA8}"/>
              </a:ext>
            </a:extLst>
          </p:cNvPr>
          <p:cNvSpPr>
            <a:spLocks xmlns:a="http://schemas.openxmlformats.org/drawingml/2006/main" noGrp="1"/>
          </p:cNvSpPr>
          <p:nvPr/>
        </p:nvSpPr>
        <p:spPr>
          <a:xfrm xmlns:a="http://schemas.openxmlformats.org/drawingml/2006/main">
            <a:off x="7924800" y="5391150"/>
            <a:ext cx="2781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E5F3"/>
                </a:solidFill>
                <a:latin typeface="Aptos"/>
                <a:ea typeface="Aptos"/>
                <a:cs typeface="Aptos"/>
              </a:defRPr>
            </a:pPr>
            <a:r>
              <a:rPr sz="863" b="0">
                <a:solidFill>
                  <a:srgbClr val="D7E5F3"/>
                </a:solidFill>
                <a:latin typeface="Aptos"/>
                <a:ea typeface="Aptos"/>
                <a:cs typeface="Aptos"/>
              </a:rPr>
              <a:t>Important: les chiffres de ROI affiches dans ce deck sont des benchmarks de reference TransferAI, a confirmer sur donnees ELTON CI pendant l'audit.</a:t>
            </a:r>
          </a:p>
        </p:txBody>
      </p:sp>
      <p:sp>
        <p:nvSpPr>
          <p:cNvPr id="38" name="">
            <a:extLst xmlns:a="http://schemas.openxmlformats.org/drawingml/2006/main">
              <a:ext uri="{FF2B5EF4-FFF2-40B4-BE49-F238E27FC236}">
                <a16:creationId xmlns:a16="http://schemas.microsoft.com/office/drawing/2014/main" id="{BDD4BDBB-EC0D-412A-A0B1-19EE1090CE8B}"/>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40842F12-124B-478E-BE06-03D36D37CF23}"/>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40" name="">
            <a:extLst xmlns:a="http://schemas.openxmlformats.org/drawingml/2006/main">
              <a:ext uri="{FF2B5EF4-FFF2-40B4-BE49-F238E27FC236}">
                <a16:creationId xmlns:a16="http://schemas.microsoft.com/office/drawing/2014/main" id="{449D1191-6880-40F9-86B6-7811995B168A}"/>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01</a:t>
            </a:r>
          </a:p>
        </p:txBody>
      </p:sp>
    </p:spTree>
    <p:extLst>
      <p:ext uri="{BB962C8B-B14F-4D97-AF65-F5344CB8AC3E}">
        <p14:creationId xmlns:p14="http://schemas.microsoft.com/office/powerpoint/2010/main" val="205940402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6408F1-9F53-4695-B641-3F20BA7BF8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C3CD14-537B-436F-B475-CC2A5191555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CONTEXTE ELTON CI</a:t>
            </a:r>
          </a:p>
        </p:txBody>
      </p:sp>
      <p:sp>
        <p:nvSpPr>
          <p:cNvPr id="3" name="">
            <a:extLst xmlns:a="http://schemas.openxmlformats.org/drawingml/2006/main">
              <a:ext uri="{FF2B5EF4-FFF2-40B4-BE49-F238E27FC236}">
                <a16:creationId xmlns:a16="http://schemas.microsoft.com/office/drawing/2014/main" id="{95F0A787-6172-487A-BA69-F4AB04BB6DC3}"/>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Pourquoi cette proposition est adaptee au contexte ELTON CI</a:t>
            </a:r>
          </a:p>
        </p:txBody>
      </p:sp>
      <p:sp>
        <p:nvSpPr>
          <p:cNvPr id="4" name="">
            <a:extLst xmlns:a="http://schemas.openxmlformats.org/drawingml/2006/main">
              <a:ext uri="{FF2B5EF4-FFF2-40B4-BE49-F238E27FC236}">
                <a16:creationId xmlns:a16="http://schemas.microsoft.com/office/drawing/2014/main" id="{D7DABDD6-1A11-45B2-B9D2-832C75E581D3}"/>
              </a:ext>
            </a:extLst>
          </p:cNvPr>
          <p:cNvSpPr>
            <a:spLocks xmlns:a="http://schemas.openxmlformats.org/drawingml/2006/main" noGrp="1"/>
          </p:cNvSpPr>
          <p:nvPr/>
        </p:nvSpPr>
        <p:spPr>
          <a:xfrm xmlns:a="http://schemas.openxmlformats.org/drawingml/2006/main">
            <a:off x="685800" y="1676400"/>
            <a:ext cx="904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L'objectif n'est pas d'ajouter un outil de plus. Il s'agit de mieux piloter, mieux coordonner et mieux diffuser l'information utile dans des flux qui coutent du temps et de la discipline.</a:t>
            </a:r>
          </a:p>
        </p:txBody>
      </p:sp>
      <p:sp>
        <p:nvSpPr>
          <p:cNvPr id="5" name="">
            <a:extLst xmlns:a="http://schemas.openxmlformats.org/drawingml/2006/main">
              <a:ext uri="{FF2B5EF4-FFF2-40B4-BE49-F238E27FC236}">
                <a16:creationId xmlns:a16="http://schemas.microsoft.com/office/drawing/2014/main" id="{3188D560-235E-4A7F-9F1C-1D94D6C64A33}"/>
              </a:ext>
            </a:extLst>
          </p:cNvPr>
          <p:cNvSpPr>
            <a:spLocks xmlns:a="http://schemas.openxmlformats.org/drawingml/2006/main" noGrp="1"/>
          </p:cNvSpPr>
          <p:nvPr/>
        </p:nvSpPr>
        <p:spPr>
          <a:xfrm xmlns:a="http://schemas.openxmlformats.org/drawingml/2006/main">
            <a:off x="6858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DFBB2950-FE1C-4448-99DD-2C09C8315598}"/>
              </a:ext>
            </a:extLst>
          </p:cNvPr>
          <p:cNvSpPr>
            <a:spLocks xmlns:a="http://schemas.openxmlformats.org/drawingml/2006/main" noGrp="1"/>
          </p:cNvSpPr>
          <p:nvPr/>
        </p:nvSpPr>
        <p:spPr>
          <a:xfrm xmlns:a="http://schemas.openxmlformats.org/drawingml/2006/main">
            <a:off x="857250" y="25336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a8875f419994271">
            <a:extLst>
              <a:ext uri="{96DAC541-7B7A-43D3-8B79-37D633B846F1}">
                <asvg:svgBlip xmlns:asvg="http://schemas.microsoft.com/office/drawing/2016/SVG/main" r:embed="Rb9603585c17e4de4"/>
              </a:ext>
            </a:extLst>
          </a:blip>
          <a:stretch xmlns:a="http://schemas.openxmlformats.org/drawingml/2006/main"/>
        </p:blipFill>
        <p:spPr>
          <a:xfrm xmlns:a="http://schemas.openxmlformats.org/drawingml/2006/main">
            <a:off x="952500" y="26289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23F237A-8527-49BC-A8E4-1ADB565530E1}"/>
              </a:ext>
            </a:extLst>
          </p:cNvPr>
          <p:cNvSpPr>
            <a:spLocks xmlns:a="http://schemas.openxmlformats.org/drawingml/2006/main" noGrp="1"/>
          </p:cNvSpPr>
          <p:nvPr/>
        </p:nvSpPr>
        <p:spPr>
          <a:xfrm xmlns:a="http://schemas.openxmlformats.org/drawingml/2006/main">
            <a:off x="14097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Comptes professionnels</a:t>
            </a:r>
          </a:p>
        </p:txBody>
      </p:sp>
      <p:sp>
        <p:nvSpPr>
          <p:cNvPr id="9" name="">
            <a:extLst xmlns:a="http://schemas.openxmlformats.org/drawingml/2006/main">
              <a:ext uri="{FF2B5EF4-FFF2-40B4-BE49-F238E27FC236}">
                <a16:creationId xmlns:a16="http://schemas.microsoft.com/office/drawing/2014/main" id="{0EB2E804-CA3A-4633-B9B5-BD73ADED966D}"/>
              </a:ext>
            </a:extLst>
          </p:cNvPr>
          <p:cNvSpPr>
            <a:spLocks xmlns:a="http://schemas.openxmlformats.org/drawingml/2006/main" noGrp="1"/>
          </p:cNvSpPr>
          <p:nvPr/>
        </p:nvSpPr>
        <p:spPr>
          <a:xfrm xmlns:a="http://schemas.openxmlformats.org/drawingml/2006/main">
            <a:off x="895350" y="31051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203B7CE4-026D-473C-AAEF-BBABA8B8AD59}"/>
              </a:ext>
            </a:extLst>
          </p:cNvPr>
          <p:cNvSpPr>
            <a:spLocks xmlns:a="http://schemas.openxmlformats.org/drawingml/2006/main" noGrp="1"/>
          </p:cNvSpPr>
          <p:nvPr/>
        </p:nvSpPr>
        <p:spPr>
          <a:xfrm xmlns:a="http://schemas.openxmlformats.org/drawingml/2006/main">
            <a:off x="895350" y="3295650"/>
            <a:ext cx="21526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Revues portefeuille, relances et suivi d'encaissement souvent prepares a la main.</a:t>
            </a:r>
          </a:p>
        </p:txBody>
      </p:sp>
      <p:sp>
        <p:nvSpPr>
          <p:cNvPr id="11" name="">
            <a:extLst xmlns:a="http://schemas.openxmlformats.org/drawingml/2006/main">
              <a:ext uri="{FF2B5EF4-FFF2-40B4-BE49-F238E27FC236}">
                <a16:creationId xmlns:a16="http://schemas.microsoft.com/office/drawing/2014/main" id="{CDD0D0D9-72CF-40B5-9BEF-C27896EEE1EE}"/>
              </a:ext>
            </a:extLst>
          </p:cNvPr>
          <p:cNvSpPr>
            <a:spLocks xmlns:a="http://schemas.openxmlformats.org/drawingml/2006/main" noGrp="1"/>
          </p:cNvSpPr>
          <p:nvPr/>
        </p:nvSpPr>
        <p:spPr>
          <a:xfrm xmlns:a="http://schemas.openxmlformats.org/drawingml/2006/main">
            <a:off x="895350" y="39814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12" name="">
            <a:extLst xmlns:a="http://schemas.openxmlformats.org/drawingml/2006/main">
              <a:ext uri="{FF2B5EF4-FFF2-40B4-BE49-F238E27FC236}">
                <a16:creationId xmlns:a16="http://schemas.microsoft.com/office/drawing/2014/main" id="{27CE93F3-FF38-4F70-A33B-FC1144ACCEEB}"/>
              </a:ext>
            </a:extLst>
          </p:cNvPr>
          <p:cNvSpPr>
            <a:spLocks xmlns:a="http://schemas.openxmlformats.org/drawingml/2006/main" noGrp="1"/>
          </p:cNvSpPr>
          <p:nvPr/>
        </p:nvSpPr>
        <p:spPr>
          <a:xfrm xmlns:a="http://schemas.openxmlformats.org/drawingml/2006/main">
            <a:off x="895350" y="4171950"/>
            <a:ext cx="2152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Portefeuille plus lisible, relances mieux priorisees et syntheses plus rapides pour la direction.</a:t>
            </a:r>
          </a:p>
        </p:txBody>
      </p:sp>
      <p:sp>
        <p:nvSpPr>
          <p:cNvPr id="13" name="">
            <a:extLst xmlns:a="http://schemas.openxmlformats.org/drawingml/2006/main">
              <a:ext uri="{FF2B5EF4-FFF2-40B4-BE49-F238E27FC236}">
                <a16:creationId xmlns:a16="http://schemas.microsoft.com/office/drawing/2014/main" id="{D24AEE7D-B987-4640-ABC1-E09A3AA71F2C}"/>
              </a:ext>
            </a:extLst>
          </p:cNvPr>
          <p:cNvSpPr>
            <a:spLocks xmlns:a="http://schemas.openxmlformats.org/drawingml/2006/main" noGrp="1"/>
          </p:cNvSpPr>
          <p:nvPr/>
        </p:nvSpPr>
        <p:spPr>
          <a:xfrm xmlns:a="http://schemas.openxmlformats.org/drawingml/2006/main">
            <a:off x="344805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35396F0C-83C4-4179-B069-F0F2043C6CA4}"/>
              </a:ext>
            </a:extLst>
          </p:cNvPr>
          <p:cNvSpPr>
            <a:spLocks xmlns:a="http://schemas.openxmlformats.org/drawingml/2006/main" noGrp="1"/>
          </p:cNvSpPr>
          <p:nvPr/>
        </p:nvSpPr>
        <p:spPr>
          <a:xfrm xmlns:a="http://schemas.openxmlformats.org/drawingml/2006/main">
            <a:off x="3619500" y="25336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d96f1ad7914572">
            <a:extLst>
              <a:ext uri="{96DAC541-7B7A-43D3-8B79-37D633B846F1}">
                <asvg:svgBlip xmlns:asvg="http://schemas.microsoft.com/office/drawing/2016/SVG/main" r:embed="R68aee28b43b3419b"/>
              </a:ext>
            </a:extLst>
          </a:blip>
          <a:stretch xmlns:a="http://schemas.openxmlformats.org/drawingml/2006/main"/>
        </p:blipFill>
        <p:spPr>
          <a:xfrm xmlns:a="http://schemas.openxmlformats.org/drawingml/2006/main">
            <a:off x="3714750" y="26289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E920AF6-C5E5-4519-A086-C7105A35B09F}"/>
              </a:ext>
            </a:extLst>
          </p:cNvPr>
          <p:cNvSpPr>
            <a:spLocks xmlns:a="http://schemas.openxmlformats.org/drawingml/2006/main" noGrp="1"/>
          </p:cNvSpPr>
          <p:nvPr/>
        </p:nvSpPr>
        <p:spPr>
          <a:xfrm xmlns:a="http://schemas.openxmlformats.org/drawingml/2006/main">
            <a:off x="417195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Flotte &amp; carburant</a:t>
            </a:r>
          </a:p>
        </p:txBody>
      </p:sp>
      <p:sp>
        <p:nvSpPr>
          <p:cNvPr id="17" name="">
            <a:extLst xmlns:a="http://schemas.openxmlformats.org/drawingml/2006/main">
              <a:ext uri="{FF2B5EF4-FFF2-40B4-BE49-F238E27FC236}">
                <a16:creationId xmlns:a16="http://schemas.microsoft.com/office/drawing/2014/main" id="{4E92C156-7267-47CB-8088-C4AB826B3FE9}"/>
              </a:ext>
            </a:extLst>
          </p:cNvPr>
          <p:cNvSpPr>
            <a:spLocks xmlns:a="http://schemas.openxmlformats.org/drawingml/2006/main" noGrp="1"/>
          </p:cNvSpPr>
          <p:nvPr/>
        </p:nvSpPr>
        <p:spPr>
          <a:xfrm xmlns:a="http://schemas.openxmlformats.org/drawingml/2006/main">
            <a:off x="3657600" y="31051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1EFF7C09-79BF-49BE-823F-9853D6370185}"/>
              </a:ext>
            </a:extLst>
          </p:cNvPr>
          <p:cNvSpPr>
            <a:spLocks xmlns:a="http://schemas.openxmlformats.org/drawingml/2006/main" noGrp="1"/>
          </p:cNvSpPr>
          <p:nvPr/>
        </p:nvSpPr>
        <p:spPr>
          <a:xfrm xmlns:a="http://schemas.openxmlformats.org/drawingml/2006/main">
            <a:off x="3657600" y="3295650"/>
            <a:ext cx="21526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Consommations, cartes et anomalies difficilement consolidees dans un meme pilotage.</a:t>
            </a:r>
          </a:p>
        </p:txBody>
      </p:sp>
      <p:sp>
        <p:nvSpPr>
          <p:cNvPr id="19" name="">
            <a:extLst xmlns:a="http://schemas.openxmlformats.org/drawingml/2006/main">
              <a:ext uri="{FF2B5EF4-FFF2-40B4-BE49-F238E27FC236}">
                <a16:creationId xmlns:a16="http://schemas.microsoft.com/office/drawing/2014/main" id="{C710A01F-1A41-4359-BF43-85F558A973B6}"/>
              </a:ext>
            </a:extLst>
          </p:cNvPr>
          <p:cNvSpPr>
            <a:spLocks xmlns:a="http://schemas.openxmlformats.org/drawingml/2006/main" noGrp="1"/>
          </p:cNvSpPr>
          <p:nvPr/>
        </p:nvSpPr>
        <p:spPr>
          <a:xfrm xmlns:a="http://schemas.openxmlformats.org/drawingml/2006/main">
            <a:off x="3657600" y="39814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20" name="">
            <a:extLst xmlns:a="http://schemas.openxmlformats.org/drawingml/2006/main">
              <a:ext uri="{FF2B5EF4-FFF2-40B4-BE49-F238E27FC236}">
                <a16:creationId xmlns:a16="http://schemas.microsoft.com/office/drawing/2014/main" id="{1E6717E9-229B-4BFC-BB32-0B65407AA6CF}"/>
              </a:ext>
            </a:extLst>
          </p:cNvPr>
          <p:cNvSpPr>
            <a:spLocks xmlns:a="http://schemas.openxmlformats.org/drawingml/2006/main" noGrp="1"/>
          </p:cNvSpPr>
          <p:nvPr/>
        </p:nvSpPr>
        <p:spPr>
          <a:xfrm xmlns:a="http://schemas.openxmlformats.org/drawingml/2006/main">
            <a:off x="3657600" y="4171950"/>
            <a:ext cx="2152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Suivi plus fiable des couts, alertes sur ecarts et comparaison par vehicule, site ou periode.</a:t>
            </a:r>
          </a:p>
        </p:txBody>
      </p:sp>
      <p:sp>
        <p:nvSpPr>
          <p:cNvPr id="21" name="">
            <a:extLst xmlns:a="http://schemas.openxmlformats.org/drawingml/2006/main">
              <a:ext uri="{FF2B5EF4-FFF2-40B4-BE49-F238E27FC236}">
                <a16:creationId xmlns:a16="http://schemas.microsoft.com/office/drawing/2014/main" id="{F713A242-0AD7-4B6F-93EF-AC8503249200}"/>
              </a:ext>
            </a:extLst>
          </p:cNvPr>
          <p:cNvSpPr>
            <a:spLocks xmlns:a="http://schemas.openxmlformats.org/drawingml/2006/main" noGrp="1"/>
          </p:cNvSpPr>
          <p:nvPr/>
        </p:nvSpPr>
        <p:spPr>
          <a:xfrm xmlns:a="http://schemas.openxmlformats.org/drawingml/2006/main">
            <a:off x="62103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3AFAF6F1-ACC8-4215-BBAB-5202175F9A56}"/>
              </a:ext>
            </a:extLst>
          </p:cNvPr>
          <p:cNvSpPr>
            <a:spLocks xmlns:a="http://schemas.openxmlformats.org/drawingml/2006/main" noGrp="1"/>
          </p:cNvSpPr>
          <p:nvPr/>
        </p:nvSpPr>
        <p:spPr>
          <a:xfrm xmlns:a="http://schemas.openxmlformats.org/drawingml/2006/main">
            <a:off x="6381750" y="25336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a092c10406a440d">
            <a:extLst>
              <a:ext uri="{96DAC541-7B7A-43D3-8B79-37D633B846F1}">
                <asvg:svgBlip xmlns:asvg="http://schemas.microsoft.com/office/drawing/2016/SVG/main" r:embed="Re79bccd4ec684135"/>
              </a:ext>
            </a:extLst>
          </a:blip>
          <a:stretch xmlns:a="http://schemas.openxmlformats.org/drawingml/2006/main"/>
        </p:blipFill>
        <p:spPr>
          <a:xfrm xmlns:a="http://schemas.openxmlformats.org/drawingml/2006/main">
            <a:off x="6477000" y="26289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7C27D35A-1D55-4358-8790-F215B326BFBE}"/>
              </a:ext>
            </a:extLst>
          </p:cNvPr>
          <p:cNvSpPr>
            <a:spLocks xmlns:a="http://schemas.openxmlformats.org/drawingml/2006/main" noGrp="1"/>
          </p:cNvSpPr>
          <p:nvPr/>
        </p:nvSpPr>
        <p:spPr>
          <a:xfrm xmlns:a="http://schemas.openxmlformats.org/drawingml/2006/main">
            <a:off x="69342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Service client / auto</a:t>
            </a:r>
          </a:p>
        </p:txBody>
      </p:sp>
      <p:sp>
        <p:nvSpPr>
          <p:cNvPr id="25" name="">
            <a:extLst xmlns:a="http://schemas.openxmlformats.org/drawingml/2006/main">
              <a:ext uri="{FF2B5EF4-FFF2-40B4-BE49-F238E27FC236}">
                <a16:creationId xmlns:a16="http://schemas.microsoft.com/office/drawing/2014/main" id="{03A9E139-5DAE-4049-87F0-B30C55AC294F}"/>
              </a:ext>
            </a:extLst>
          </p:cNvPr>
          <p:cNvSpPr>
            <a:spLocks xmlns:a="http://schemas.openxmlformats.org/drawingml/2006/main" noGrp="1"/>
          </p:cNvSpPr>
          <p:nvPr/>
        </p:nvSpPr>
        <p:spPr>
          <a:xfrm xmlns:a="http://schemas.openxmlformats.org/drawingml/2006/main">
            <a:off x="6419850" y="31051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96EE7985-F4DF-4873-ADBF-C25BD038BA92}"/>
              </a:ext>
            </a:extLst>
          </p:cNvPr>
          <p:cNvSpPr>
            <a:spLocks xmlns:a="http://schemas.openxmlformats.org/drawingml/2006/main" noGrp="1"/>
          </p:cNvSpPr>
          <p:nvPr/>
        </p:nvSpPr>
        <p:spPr>
          <a:xfrm xmlns:a="http://schemas.openxmlformats.org/drawingml/2006/main">
            <a:off x="6419850" y="3295650"/>
            <a:ext cx="21526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Rappels, demandes et reponses pas toujours homognes ni suffisamment traces.</a:t>
            </a:r>
          </a:p>
        </p:txBody>
      </p:sp>
      <p:sp>
        <p:nvSpPr>
          <p:cNvPr id="27" name="">
            <a:extLst xmlns:a="http://schemas.openxmlformats.org/drawingml/2006/main">
              <a:ext uri="{FF2B5EF4-FFF2-40B4-BE49-F238E27FC236}">
                <a16:creationId xmlns:a16="http://schemas.microsoft.com/office/drawing/2014/main" id="{6ED4C863-CBDF-41E5-87E9-CA7FF8E5529B}"/>
              </a:ext>
            </a:extLst>
          </p:cNvPr>
          <p:cNvSpPr>
            <a:spLocks xmlns:a="http://schemas.openxmlformats.org/drawingml/2006/main" noGrp="1"/>
          </p:cNvSpPr>
          <p:nvPr/>
        </p:nvSpPr>
        <p:spPr>
          <a:xfrm xmlns:a="http://schemas.openxmlformats.org/drawingml/2006/main">
            <a:off x="6419850" y="39814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28" name="">
            <a:extLst xmlns:a="http://schemas.openxmlformats.org/drawingml/2006/main">
              <a:ext uri="{FF2B5EF4-FFF2-40B4-BE49-F238E27FC236}">
                <a16:creationId xmlns:a16="http://schemas.microsoft.com/office/drawing/2014/main" id="{E55D4790-9BE0-42F5-B3F5-E3F081F4688E}"/>
              </a:ext>
            </a:extLst>
          </p:cNvPr>
          <p:cNvSpPr>
            <a:spLocks xmlns:a="http://schemas.openxmlformats.org/drawingml/2006/main" noGrp="1"/>
          </p:cNvSpPr>
          <p:nvPr/>
        </p:nvSpPr>
        <p:spPr>
          <a:xfrm xmlns:a="http://schemas.openxmlformats.org/drawingml/2006/main">
            <a:off x="6419850" y="4171950"/>
            <a:ext cx="2152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Reponses plus rapides, scripts mieux cadres et meilleure continuite dans le suivi client.</a:t>
            </a:r>
          </a:p>
        </p:txBody>
      </p:sp>
      <p:sp>
        <p:nvSpPr>
          <p:cNvPr id="29" name="">
            <a:extLst xmlns:a="http://schemas.openxmlformats.org/drawingml/2006/main">
              <a:ext uri="{FF2B5EF4-FFF2-40B4-BE49-F238E27FC236}">
                <a16:creationId xmlns:a16="http://schemas.microsoft.com/office/drawing/2014/main" id="{4369DCC4-2711-4007-9E8E-6ADFAC126EA7}"/>
              </a:ext>
            </a:extLst>
          </p:cNvPr>
          <p:cNvSpPr>
            <a:spLocks xmlns:a="http://schemas.openxmlformats.org/drawingml/2006/main" noGrp="1"/>
          </p:cNvSpPr>
          <p:nvPr/>
        </p:nvSpPr>
        <p:spPr>
          <a:xfrm xmlns:a="http://schemas.openxmlformats.org/drawingml/2006/main">
            <a:off x="8972550" y="2362200"/>
            <a:ext cx="25336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2E1A92C9-0C26-4CE1-8FB4-227599F9ABC3}"/>
              </a:ext>
            </a:extLst>
          </p:cNvPr>
          <p:cNvSpPr>
            <a:spLocks xmlns:a="http://schemas.openxmlformats.org/drawingml/2006/main" noGrp="1"/>
          </p:cNvSpPr>
          <p:nvPr/>
        </p:nvSpPr>
        <p:spPr>
          <a:xfrm xmlns:a="http://schemas.openxmlformats.org/drawingml/2006/main">
            <a:off x="9144000" y="25336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075c5baf5044871">
            <a:extLst>
              <a:ext uri="{96DAC541-7B7A-43D3-8B79-37D633B846F1}">
                <asvg:svgBlip xmlns:asvg="http://schemas.microsoft.com/office/drawing/2016/SVG/main" r:embed="Rdf928a9475414b53"/>
              </a:ext>
            </a:extLst>
          </a:blip>
          <a:stretch xmlns:a="http://schemas.openxmlformats.org/drawingml/2006/main"/>
        </p:blipFill>
        <p:spPr>
          <a:xfrm xmlns:a="http://schemas.openxmlformats.org/drawingml/2006/main">
            <a:off x="9239250" y="26289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74DE94AF-5C12-47A2-BA7D-7F7005302449}"/>
              </a:ext>
            </a:extLst>
          </p:cNvPr>
          <p:cNvSpPr>
            <a:spLocks xmlns:a="http://schemas.openxmlformats.org/drawingml/2006/main" noGrp="1"/>
          </p:cNvSpPr>
          <p:nvPr/>
        </p:nvSpPr>
        <p:spPr>
          <a:xfrm xmlns:a="http://schemas.openxmlformats.org/drawingml/2006/main">
            <a:off x="9696450" y="25717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Procedures internes</a:t>
            </a:r>
          </a:p>
        </p:txBody>
      </p:sp>
      <p:sp>
        <p:nvSpPr>
          <p:cNvPr id="33" name="">
            <a:extLst xmlns:a="http://schemas.openxmlformats.org/drawingml/2006/main">
              <a:ext uri="{FF2B5EF4-FFF2-40B4-BE49-F238E27FC236}">
                <a16:creationId xmlns:a16="http://schemas.microsoft.com/office/drawing/2014/main" id="{0147DB7F-3268-49A7-9A37-CDD0FE322508}"/>
              </a:ext>
            </a:extLst>
          </p:cNvPr>
          <p:cNvSpPr>
            <a:spLocks xmlns:a="http://schemas.openxmlformats.org/drawingml/2006/main" noGrp="1"/>
          </p:cNvSpPr>
          <p:nvPr/>
        </p:nvSpPr>
        <p:spPr>
          <a:xfrm xmlns:a="http://schemas.openxmlformats.org/drawingml/2006/main">
            <a:off x="9182100" y="31051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16B6CEC0-91AB-46B7-8947-38F1BEF68A62}"/>
              </a:ext>
            </a:extLst>
          </p:cNvPr>
          <p:cNvSpPr>
            <a:spLocks xmlns:a="http://schemas.openxmlformats.org/drawingml/2006/main" noGrp="1"/>
          </p:cNvSpPr>
          <p:nvPr/>
        </p:nvSpPr>
        <p:spPr>
          <a:xfrm xmlns:a="http://schemas.openxmlformats.org/drawingml/2006/main">
            <a:off x="9182100" y="3295650"/>
            <a:ext cx="2114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Les bonnes pratiques existent mais restent dispersees dans les equipes et les documents.</a:t>
            </a:r>
          </a:p>
        </p:txBody>
      </p:sp>
      <p:sp>
        <p:nvSpPr>
          <p:cNvPr id="35" name="">
            <a:extLst xmlns:a="http://schemas.openxmlformats.org/drawingml/2006/main">
              <a:ext uri="{FF2B5EF4-FFF2-40B4-BE49-F238E27FC236}">
                <a16:creationId xmlns:a16="http://schemas.microsoft.com/office/drawing/2014/main" id="{2B54FC02-B922-424B-B518-93F2C2171DBC}"/>
              </a:ext>
            </a:extLst>
          </p:cNvPr>
          <p:cNvSpPr>
            <a:spLocks xmlns:a="http://schemas.openxmlformats.org/drawingml/2006/main" noGrp="1"/>
          </p:cNvSpPr>
          <p:nvPr/>
        </p:nvSpPr>
        <p:spPr>
          <a:xfrm xmlns:a="http://schemas.openxmlformats.org/drawingml/2006/main">
            <a:off x="9182100" y="39814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36" name="">
            <a:extLst xmlns:a="http://schemas.openxmlformats.org/drawingml/2006/main">
              <a:ext uri="{FF2B5EF4-FFF2-40B4-BE49-F238E27FC236}">
                <a16:creationId xmlns:a16="http://schemas.microsoft.com/office/drawing/2014/main" id="{8280531E-5064-4599-8F77-2B233CFE9820}"/>
              </a:ext>
            </a:extLst>
          </p:cNvPr>
          <p:cNvSpPr>
            <a:spLocks xmlns:a="http://schemas.openxmlformats.org/drawingml/2006/main" noGrp="1"/>
          </p:cNvSpPr>
          <p:nvPr/>
        </p:nvSpPr>
        <p:spPr>
          <a:xfrm xmlns:a="http://schemas.openxmlformats.org/drawingml/2006/main">
            <a:off x="9182100" y="4171950"/>
            <a:ext cx="2114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Acces plus rapide aux procedures, onboarding plus court et execution plus coherente.</a:t>
            </a:r>
          </a:p>
        </p:txBody>
      </p:sp>
      <p:sp>
        <p:nvSpPr>
          <p:cNvPr id="37" name="">
            <a:extLst xmlns:a="http://schemas.openxmlformats.org/drawingml/2006/main">
              <a:ext uri="{FF2B5EF4-FFF2-40B4-BE49-F238E27FC236}">
                <a16:creationId xmlns:a16="http://schemas.microsoft.com/office/drawing/2014/main" id="{C0E2C486-5B64-4AAD-B70D-5C9E645EDDA4}"/>
              </a:ext>
            </a:extLst>
          </p:cNvPr>
          <p:cNvSpPr>
            <a:spLocks xmlns:a="http://schemas.openxmlformats.org/drawingml/2006/main" noGrp="1"/>
          </p:cNvSpPr>
          <p:nvPr/>
        </p:nvSpPr>
        <p:spPr>
          <a:xfrm xmlns:a="http://schemas.openxmlformats.org/drawingml/2006/main">
            <a:off x="685800" y="4438650"/>
            <a:ext cx="10820400" cy="12954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8" name="">
            <a:extLst xmlns:a="http://schemas.openxmlformats.org/drawingml/2006/main">
              <a:ext uri="{FF2B5EF4-FFF2-40B4-BE49-F238E27FC236}">
                <a16:creationId xmlns:a16="http://schemas.microsoft.com/office/drawing/2014/main" id="{6CC72593-F892-46E3-BDE1-90AA9D0EB7CA}"/>
              </a:ext>
            </a:extLst>
          </p:cNvPr>
          <p:cNvSpPr>
            <a:spLocks xmlns:a="http://schemas.openxmlformats.org/drawingml/2006/main" noGrp="1"/>
          </p:cNvSpPr>
          <p:nvPr/>
        </p:nvSpPr>
        <p:spPr>
          <a:xfrm xmlns:a="http://schemas.openxmlformats.org/drawingml/2006/main">
            <a:off x="933450" y="46863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Le bon angle commercial</a:t>
            </a:r>
          </a:p>
        </p:txBody>
      </p:sp>
      <p:sp>
        <p:nvSpPr>
          <p:cNvPr id="39" name="">
            <a:extLst xmlns:a="http://schemas.openxmlformats.org/drawingml/2006/main">
              <a:ext uri="{FF2B5EF4-FFF2-40B4-BE49-F238E27FC236}">
                <a16:creationId xmlns:a16="http://schemas.microsoft.com/office/drawing/2014/main" id="{D4EA421A-6C7B-40C9-9244-FFB4F65101B5}"/>
              </a:ext>
            </a:extLst>
          </p:cNvPr>
          <p:cNvSpPr>
            <a:spLocks xmlns:a="http://schemas.openxmlformats.org/drawingml/2006/main" noGrp="1"/>
          </p:cNvSpPr>
          <p:nvPr/>
        </p:nvSpPr>
        <p:spPr>
          <a:xfrm xmlns:a="http://schemas.openxmlformats.org/drawingml/2006/main">
            <a:off x="933450" y="495300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Partir des flux metier qui freinent deja l'execution.</a:t>
            </a:r>
          </a:p>
        </p:txBody>
      </p:sp>
      <p:sp>
        <p:nvSpPr>
          <p:cNvPr id="40" name="">
            <a:extLst xmlns:a="http://schemas.openxmlformats.org/drawingml/2006/main">
              <a:ext uri="{FF2B5EF4-FFF2-40B4-BE49-F238E27FC236}">
                <a16:creationId xmlns:a16="http://schemas.microsoft.com/office/drawing/2014/main" id="{E3E2A875-9DD7-4B76-BCF1-845FD5822498}"/>
              </a:ext>
            </a:extLst>
          </p:cNvPr>
          <p:cNvSpPr>
            <a:spLocks xmlns:a="http://schemas.openxmlformats.org/drawingml/2006/main" noGrp="1"/>
          </p:cNvSpPr>
          <p:nvPr/>
        </p:nvSpPr>
        <p:spPr>
          <a:xfrm xmlns:a="http://schemas.openxmlformats.org/drawingml/2006/main">
            <a:off x="6477000" y="4876800"/>
            <a:ext cx="476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Pour ELTON CI, la credibilite ne viendra pas d'un catalogue de formations. Elle viendra d'une proposition qui relie diagnostic, cas d'usage, gouvernance, formation ciblee et premiers gains visibles.</a:t>
            </a:r>
          </a:p>
        </p:txBody>
      </p:sp>
      <p:sp>
        <p:nvSpPr>
          <p:cNvPr id="41" name="">
            <a:extLst xmlns:a="http://schemas.openxmlformats.org/drawingml/2006/main">
              <a:ext uri="{FF2B5EF4-FFF2-40B4-BE49-F238E27FC236}">
                <a16:creationId xmlns:a16="http://schemas.microsoft.com/office/drawing/2014/main" id="{E169B083-7748-46AE-9011-6F307B191A30}"/>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CA290E2-354E-4BBB-A1B3-2A731E8CDC82}"/>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43" name="">
            <a:extLst xmlns:a="http://schemas.openxmlformats.org/drawingml/2006/main">
              <a:ext uri="{FF2B5EF4-FFF2-40B4-BE49-F238E27FC236}">
                <a16:creationId xmlns:a16="http://schemas.microsoft.com/office/drawing/2014/main" id="{2B842269-E8CD-4898-BC01-752578B044EE}"/>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02</a:t>
            </a:r>
          </a:p>
        </p:txBody>
      </p:sp>
    </p:spTree>
    <p:extLst>
      <p:ext uri="{BB962C8B-B14F-4D97-AF65-F5344CB8AC3E}">
        <p14:creationId xmlns:p14="http://schemas.microsoft.com/office/powerpoint/2010/main" val="19790763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F19CBD-CCC1-477C-841A-5A9C39C23C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C04CF24-7CBA-48B0-9AED-4252B3E05024}"/>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9905FE4E-8B19-4C80-ADFF-043997709CFC}"/>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ROI DE REFERENCE</a:t>
            </a:r>
          </a:p>
        </p:txBody>
      </p:sp>
      <p:sp>
        <p:nvSpPr>
          <p:cNvPr id="4" name="">
            <a:extLst xmlns:a="http://schemas.openxmlformats.org/drawingml/2006/main">
              <a:ext uri="{FF2B5EF4-FFF2-40B4-BE49-F238E27FC236}">
                <a16:creationId xmlns:a16="http://schemas.microsoft.com/office/drawing/2014/main" id="{87B1143E-2108-4AD2-A71E-5E508330526B}"/>
              </a:ext>
            </a:extLst>
          </p:cNvPr>
          <p:cNvSpPr>
            <a:spLocks xmlns:a="http://schemas.openxmlformats.org/drawingml/2006/main" noGrp="1"/>
          </p:cNvSpPr>
          <p:nvPr/>
        </p:nvSpPr>
        <p:spPr>
          <a:xfrm xmlns:a="http://schemas.openxmlformats.org/drawingml/2006/main">
            <a:off x="685800" y="723900"/>
            <a:ext cx="986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Le ROI presente devient utile seulement s'il est traduit dans le contexte ELTON CI</a:t>
            </a:r>
          </a:p>
        </p:txBody>
      </p:sp>
      <p:sp>
        <p:nvSpPr>
          <p:cNvPr id="5" name="">
            <a:extLst xmlns:a="http://schemas.openxmlformats.org/drawingml/2006/main">
              <a:ext uri="{FF2B5EF4-FFF2-40B4-BE49-F238E27FC236}">
                <a16:creationId xmlns:a16="http://schemas.microsoft.com/office/drawing/2014/main" id="{B502BA5E-69EF-4369-B725-729B20692588}"/>
              </a:ext>
            </a:extLst>
          </p:cNvPr>
          <p:cNvSpPr>
            <a:spLocks xmlns:a="http://schemas.openxmlformats.org/drawingml/2006/main" noGrp="1"/>
          </p:cNvSpPr>
          <p:nvPr/>
        </p:nvSpPr>
        <p:spPr>
          <a:xfrm xmlns:a="http://schemas.openxmlformats.org/drawingml/2006/main">
            <a:off x="685800" y="1409700"/>
            <a:ext cx="2514600" cy="11049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6" name="">
            <a:extLst xmlns:a="http://schemas.openxmlformats.org/drawingml/2006/main">
              <a:ext uri="{FF2B5EF4-FFF2-40B4-BE49-F238E27FC236}">
                <a16:creationId xmlns:a16="http://schemas.microsoft.com/office/drawing/2014/main" id="{4F6DBA3D-4F2D-4A03-ABA7-975B780E5E3F}"/>
              </a:ext>
            </a:extLst>
          </p:cNvPr>
          <p:cNvSpPr>
            <a:spLocks xmlns:a="http://schemas.openxmlformats.org/drawingml/2006/main" noGrp="1"/>
          </p:cNvSpPr>
          <p:nvPr/>
        </p:nvSpPr>
        <p:spPr>
          <a:xfrm xmlns:a="http://schemas.openxmlformats.org/drawingml/2006/main">
            <a:off x="8572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+30 %</a:t>
            </a:r>
          </a:p>
        </p:txBody>
      </p:sp>
      <p:sp>
        <p:nvSpPr>
          <p:cNvPr id="7" name="">
            <a:extLst xmlns:a="http://schemas.openxmlformats.org/drawingml/2006/main">
              <a:ext uri="{FF2B5EF4-FFF2-40B4-BE49-F238E27FC236}">
                <a16:creationId xmlns:a16="http://schemas.microsoft.com/office/drawing/2014/main" id="{7ACA574C-B41B-4CC7-B01C-EC19B9F2A11C}"/>
              </a:ext>
            </a:extLst>
          </p:cNvPr>
          <p:cNvSpPr>
            <a:spLocks xmlns:a="http://schemas.openxmlformats.org/drawingml/2006/main" noGrp="1"/>
          </p:cNvSpPr>
          <p:nvPr/>
        </p:nvSpPr>
        <p:spPr>
          <a:xfrm xmlns:a="http://schemas.openxmlformats.org/drawingml/2006/main">
            <a:off x="8572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productivite benchmark</a:t>
            </a:r>
          </a:p>
        </p:txBody>
      </p:sp>
      <p:sp>
        <p:nvSpPr>
          <p:cNvPr id="8" name="">
            <a:extLst xmlns:a="http://schemas.openxmlformats.org/drawingml/2006/main">
              <a:ext uri="{FF2B5EF4-FFF2-40B4-BE49-F238E27FC236}">
                <a16:creationId xmlns:a16="http://schemas.microsoft.com/office/drawing/2014/main" id="{ADBE354E-9697-4015-9E23-AAAC96DC3098}"/>
              </a:ext>
            </a:extLst>
          </p:cNvPr>
          <p:cNvSpPr>
            <a:spLocks xmlns:a="http://schemas.openxmlformats.org/drawingml/2006/main" noGrp="1"/>
          </p:cNvSpPr>
          <p:nvPr/>
        </p:nvSpPr>
        <p:spPr>
          <a:xfrm xmlns:a="http://schemas.openxmlformats.org/drawingml/2006/main">
            <a:off x="8572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taches repetitives, reporting, preparation de syntheses</a:t>
            </a:r>
          </a:p>
        </p:txBody>
      </p:sp>
      <p:sp>
        <p:nvSpPr>
          <p:cNvPr id="9" name="">
            <a:extLst xmlns:a="http://schemas.openxmlformats.org/drawingml/2006/main">
              <a:ext uri="{FF2B5EF4-FFF2-40B4-BE49-F238E27FC236}">
                <a16:creationId xmlns:a16="http://schemas.microsoft.com/office/drawing/2014/main" id="{E76652B9-B0A2-4BE1-BDF6-692E2A1BE4DD}"/>
              </a:ext>
            </a:extLst>
          </p:cNvPr>
          <p:cNvSpPr>
            <a:spLocks xmlns:a="http://schemas.openxmlformats.org/drawingml/2006/main" noGrp="1"/>
          </p:cNvSpPr>
          <p:nvPr/>
        </p:nvSpPr>
        <p:spPr>
          <a:xfrm xmlns:a="http://schemas.openxmlformats.org/drawingml/2006/main">
            <a:off x="3390900" y="1409700"/>
            <a:ext cx="2514600" cy="11049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0" name="">
            <a:extLst xmlns:a="http://schemas.openxmlformats.org/drawingml/2006/main">
              <a:ext uri="{FF2B5EF4-FFF2-40B4-BE49-F238E27FC236}">
                <a16:creationId xmlns:a16="http://schemas.microsoft.com/office/drawing/2014/main" id="{E497117D-8871-4F3A-A1CA-598678BB38B2}"/>
              </a:ext>
            </a:extLst>
          </p:cNvPr>
          <p:cNvSpPr>
            <a:spLocks xmlns:a="http://schemas.openxmlformats.org/drawingml/2006/main" noGrp="1"/>
          </p:cNvSpPr>
          <p:nvPr/>
        </p:nvSpPr>
        <p:spPr>
          <a:xfrm xmlns:a="http://schemas.openxmlformats.org/drawingml/2006/main">
            <a:off x="35623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-45 %</a:t>
            </a:r>
          </a:p>
        </p:txBody>
      </p:sp>
      <p:sp>
        <p:nvSpPr>
          <p:cNvPr id="11" name="">
            <a:extLst xmlns:a="http://schemas.openxmlformats.org/drawingml/2006/main">
              <a:ext uri="{FF2B5EF4-FFF2-40B4-BE49-F238E27FC236}">
                <a16:creationId xmlns:a16="http://schemas.microsoft.com/office/drawing/2014/main" id="{452EB651-F42A-445D-9759-2F03149411CE}"/>
              </a:ext>
            </a:extLst>
          </p:cNvPr>
          <p:cNvSpPr>
            <a:spLocks xmlns:a="http://schemas.openxmlformats.org/drawingml/2006/main" noGrp="1"/>
          </p:cNvSpPr>
          <p:nvPr/>
        </p:nvSpPr>
        <p:spPr>
          <a:xfrm xmlns:a="http://schemas.openxmlformats.org/drawingml/2006/main">
            <a:off x="35623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effort de formation</a:t>
            </a:r>
          </a:p>
        </p:txBody>
      </p:sp>
      <p:sp>
        <p:nvSpPr>
          <p:cNvPr id="12" name="">
            <a:extLst xmlns:a="http://schemas.openxmlformats.org/drawingml/2006/main">
              <a:ext uri="{FF2B5EF4-FFF2-40B4-BE49-F238E27FC236}">
                <a16:creationId xmlns:a16="http://schemas.microsoft.com/office/drawing/2014/main" id="{1490A3A7-F2DC-4102-9369-139310CDFD8E}"/>
              </a:ext>
            </a:extLst>
          </p:cNvPr>
          <p:cNvSpPr>
            <a:spLocks xmlns:a="http://schemas.openxmlformats.org/drawingml/2006/main" noGrp="1"/>
          </p:cNvSpPr>
          <p:nvPr/>
        </p:nvSpPr>
        <p:spPr>
          <a:xfrm xmlns:a="http://schemas.openxmlformats.org/drawingml/2006/main">
            <a:off x="35623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onboarding, diffusion de pratiques et transfert de savoir</a:t>
            </a:r>
          </a:p>
        </p:txBody>
      </p:sp>
      <p:sp>
        <p:nvSpPr>
          <p:cNvPr id="13" name="">
            <a:extLst xmlns:a="http://schemas.openxmlformats.org/drawingml/2006/main">
              <a:ext uri="{FF2B5EF4-FFF2-40B4-BE49-F238E27FC236}">
                <a16:creationId xmlns:a16="http://schemas.microsoft.com/office/drawing/2014/main" id="{8EB309E8-6D73-4964-A430-B2DC900F5FAD}"/>
              </a:ext>
            </a:extLst>
          </p:cNvPr>
          <p:cNvSpPr>
            <a:spLocks xmlns:a="http://schemas.openxmlformats.org/drawingml/2006/main" noGrp="1"/>
          </p:cNvSpPr>
          <p:nvPr/>
        </p:nvSpPr>
        <p:spPr>
          <a:xfrm xmlns:a="http://schemas.openxmlformats.org/drawingml/2006/main">
            <a:off x="6096000" y="1409700"/>
            <a:ext cx="2514600" cy="11049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14" name="">
            <a:extLst xmlns:a="http://schemas.openxmlformats.org/drawingml/2006/main">
              <a:ext uri="{FF2B5EF4-FFF2-40B4-BE49-F238E27FC236}">
                <a16:creationId xmlns:a16="http://schemas.microsoft.com/office/drawing/2014/main" id="{C5A5DACC-3FAF-4B35-B85F-E47D15BDA28B}"/>
              </a:ext>
            </a:extLst>
          </p:cNvPr>
          <p:cNvSpPr>
            <a:spLocks xmlns:a="http://schemas.openxmlformats.org/drawingml/2006/main" noGrp="1"/>
          </p:cNvSpPr>
          <p:nvPr/>
        </p:nvSpPr>
        <p:spPr>
          <a:xfrm xmlns:a="http://schemas.openxmlformats.org/drawingml/2006/main">
            <a:off x="62674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2C40F88D-48D3-4C7F-B13A-B51F5637E268}"/>
              </a:ext>
            </a:extLst>
          </p:cNvPr>
          <p:cNvSpPr>
            <a:spLocks xmlns:a="http://schemas.openxmlformats.org/drawingml/2006/main" noGrp="1"/>
          </p:cNvSpPr>
          <p:nvPr/>
        </p:nvSpPr>
        <p:spPr>
          <a:xfrm xmlns:a="http://schemas.openxmlformats.org/drawingml/2006/main">
            <a:off x="62674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C51B4E36-F523-4D7D-8218-900789766B6E}"/>
              </a:ext>
            </a:extLst>
          </p:cNvPr>
          <p:cNvSpPr>
            <a:spLocks xmlns:a="http://schemas.openxmlformats.org/drawingml/2006/main" noGrp="1"/>
          </p:cNvSpPr>
          <p:nvPr/>
        </p:nvSpPr>
        <p:spPr>
          <a:xfrm xmlns:a="http://schemas.openxmlformats.org/drawingml/2006/main">
            <a:off x="62674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audit, cadrage et priorisation ROI</a:t>
            </a:r>
          </a:p>
        </p:txBody>
      </p:sp>
      <p:sp>
        <p:nvSpPr>
          <p:cNvPr id="17" name="">
            <a:extLst xmlns:a="http://schemas.openxmlformats.org/drawingml/2006/main">
              <a:ext uri="{FF2B5EF4-FFF2-40B4-BE49-F238E27FC236}">
                <a16:creationId xmlns:a16="http://schemas.microsoft.com/office/drawing/2014/main" id="{6D526F81-CB3D-4E59-BD98-0FBC43601FF5}"/>
              </a:ext>
            </a:extLst>
          </p:cNvPr>
          <p:cNvSpPr>
            <a:spLocks xmlns:a="http://schemas.openxmlformats.org/drawingml/2006/main" noGrp="1"/>
          </p:cNvSpPr>
          <p:nvPr/>
        </p:nvSpPr>
        <p:spPr>
          <a:xfrm xmlns:a="http://schemas.openxmlformats.org/drawingml/2006/main">
            <a:off x="8801100" y="1409700"/>
            <a:ext cx="2705100" cy="11049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8" name="">
            <a:extLst xmlns:a="http://schemas.openxmlformats.org/drawingml/2006/main">
              <a:ext uri="{FF2B5EF4-FFF2-40B4-BE49-F238E27FC236}">
                <a16:creationId xmlns:a16="http://schemas.microsoft.com/office/drawing/2014/main" id="{37F5BCD2-4F14-4CF9-82FB-86998C8738AC}"/>
              </a:ext>
            </a:extLst>
          </p:cNvPr>
          <p:cNvSpPr>
            <a:spLocks xmlns:a="http://schemas.openxmlformats.org/drawingml/2006/main" noGrp="1"/>
          </p:cNvSpPr>
          <p:nvPr/>
        </p:nvSpPr>
        <p:spPr>
          <a:xfrm xmlns:a="http://schemas.openxmlformats.org/drawingml/2006/main">
            <a:off x="8972550" y="1581150"/>
            <a:ext cx="2362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3,2x</a:t>
            </a:r>
          </a:p>
        </p:txBody>
      </p:sp>
      <p:sp>
        <p:nvSpPr>
          <p:cNvPr id="19" name="">
            <a:extLst xmlns:a="http://schemas.openxmlformats.org/drawingml/2006/main">
              <a:ext uri="{FF2B5EF4-FFF2-40B4-BE49-F238E27FC236}">
                <a16:creationId xmlns:a16="http://schemas.microsoft.com/office/drawing/2014/main" id="{22BD2EA5-FDB4-4B0F-9AE8-DFC18DCC547B}"/>
              </a:ext>
            </a:extLst>
          </p:cNvPr>
          <p:cNvSpPr>
            <a:spLocks xmlns:a="http://schemas.openxmlformats.org/drawingml/2006/main" noGrp="1"/>
          </p:cNvSpPr>
          <p:nvPr/>
        </p:nvSpPr>
        <p:spPr>
          <a:xfrm xmlns:a="http://schemas.openxmlformats.org/drawingml/2006/main">
            <a:off x="8972550" y="2019300"/>
            <a:ext cx="2362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potentiel de ROI</a:t>
            </a:r>
          </a:p>
        </p:txBody>
      </p:sp>
      <p:sp>
        <p:nvSpPr>
          <p:cNvPr id="20" name="">
            <a:extLst xmlns:a="http://schemas.openxmlformats.org/drawingml/2006/main">
              <a:ext uri="{FF2B5EF4-FFF2-40B4-BE49-F238E27FC236}">
                <a16:creationId xmlns:a16="http://schemas.microsoft.com/office/drawing/2014/main" id="{8A64EB1B-614C-47DB-B3B8-DA6E274565FA}"/>
              </a:ext>
            </a:extLst>
          </p:cNvPr>
          <p:cNvSpPr>
            <a:spLocks xmlns:a="http://schemas.openxmlformats.org/drawingml/2006/main" noGrp="1"/>
          </p:cNvSpPr>
          <p:nvPr/>
        </p:nvSpPr>
        <p:spPr>
          <a:xfrm xmlns:a="http://schemas.openxmlformats.org/drawingml/2006/main">
            <a:off x="8972550" y="2228850"/>
            <a:ext cx="2362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reference projets comparables TransferAI</a:t>
            </a:r>
          </a:p>
        </p:txBody>
      </p:sp>
      <p:sp>
        <p:nvSpPr>
          <p:cNvPr id="21" name="">
            <a:extLst xmlns:a="http://schemas.openxmlformats.org/drawingml/2006/main">
              <a:ext uri="{FF2B5EF4-FFF2-40B4-BE49-F238E27FC236}">
                <a16:creationId xmlns:a16="http://schemas.microsoft.com/office/drawing/2014/main" id="{154EF03B-62B2-4153-95B5-97E2EDA7092D}"/>
              </a:ext>
            </a:extLst>
          </p:cNvPr>
          <p:cNvSpPr>
            <a:spLocks xmlns:a="http://schemas.openxmlformats.org/drawingml/2006/main" noGrp="1"/>
          </p:cNvSpPr>
          <p:nvPr/>
        </p:nvSpPr>
        <p:spPr>
          <a:xfrm xmlns:a="http://schemas.openxmlformats.org/drawingml/2006/main">
            <a:off x="685800" y="3048000"/>
            <a:ext cx="47625" cy="4572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7567ECD-50CE-4F8A-B2B1-3552F22FA1DE}"/>
              </a:ext>
            </a:extLst>
          </p:cNvPr>
          <p:cNvSpPr>
            <a:spLocks xmlns:a="http://schemas.openxmlformats.org/drawingml/2006/main" noGrp="1"/>
          </p:cNvSpPr>
          <p:nvPr/>
        </p:nvSpPr>
        <p:spPr>
          <a:xfrm xmlns:a="http://schemas.openxmlformats.org/drawingml/2006/main">
            <a:off x="876300" y="29527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Comptes professionnels</a:t>
            </a:r>
          </a:p>
        </p:txBody>
      </p:sp>
      <p:sp>
        <p:nvSpPr>
          <p:cNvPr id="23" name="">
            <a:extLst xmlns:a="http://schemas.openxmlformats.org/drawingml/2006/main">
              <a:ext uri="{FF2B5EF4-FFF2-40B4-BE49-F238E27FC236}">
                <a16:creationId xmlns:a16="http://schemas.microsoft.com/office/drawing/2014/main" id="{00B857BF-D96E-441E-B296-5E5B3D013B86}"/>
              </a:ext>
            </a:extLst>
          </p:cNvPr>
          <p:cNvSpPr>
            <a:spLocks xmlns:a="http://schemas.openxmlformats.org/drawingml/2006/main" noGrp="1"/>
          </p:cNvSpPr>
          <p:nvPr/>
        </p:nvSpPr>
        <p:spPr>
          <a:xfrm xmlns:a="http://schemas.openxmlformats.org/drawingml/2006/main">
            <a:off x="876300" y="32004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Automatiser la preparation des relances, standardiser les revues portefeuille et mieux signaler les comptes a risque ou en retard.</a:t>
            </a:r>
          </a:p>
        </p:txBody>
      </p:sp>
      <p:sp>
        <p:nvSpPr>
          <p:cNvPr id="24" name="">
            <a:extLst xmlns:a="http://schemas.openxmlformats.org/drawingml/2006/main">
              <a:ext uri="{FF2B5EF4-FFF2-40B4-BE49-F238E27FC236}">
                <a16:creationId xmlns:a16="http://schemas.microsoft.com/office/drawing/2014/main" id="{0D7A87FF-8099-47F8-B76B-330597689521}"/>
              </a:ext>
            </a:extLst>
          </p:cNvPr>
          <p:cNvSpPr>
            <a:spLocks xmlns:a="http://schemas.openxmlformats.org/drawingml/2006/main" noGrp="1"/>
          </p:cNvSpPr>
          <p:nvPr/>
        </p:nvSpPr>
        <p:spPr>
          <a:xfrm xmlns:a="http://schemas.openxmlformats.org/drawingml/2006/main">
            <a:off x="6096000" y="29337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B335DD85-285E-4CE5-A001-FC88E4076741}"/>
              </a:ext>
            </a:extLst>
          </p:cNvPr>
          <p:cNvSpPr>
            <a:spLocks xmlns:a="http://schemas.openxmlformats.org/drawingml/2006/main" noGrp="1"/>
          </p:cNvSpPr>
          <p:nvPr/>
        </p:nvSpPr>
        <p:spPr>
          <a:xfrm xmlns:a="http://schemas.openxmlformats.org/drawingml/2006/main">
            <a:off x="6305550" y="30480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a instrumenter</a:t>
            </a:r>
          </a:p>
        </p:txBody>
      </p:sp>
      <p:sp>
        <p:nvSpPr>
          <p:cNvPr id="26" name="">
            <a:extLst xmlns:a="http://schemas.openxmlformats.org/drawingml/2006/main">
              <a:ext uri="{FF2B5EF4-FFF2-40B4-BE49-F238E27FC236}">
                <a16:creationId xmlns:a16="http://schemas.microsoft.com/office/drawing/2014/main" id="{6C49AA6B-0976-454E-B026-7E69D76F27F2}"/>
              </a:ext>
            </a:extLst>
          </p:cNvPr>
          <p:cNvSpPr>
            <a:spLocks xmlns:a="http://schemas.openxmlformats.org/drawingml/2006/main" noGrp="1"/>
          </p:cNvSpPr>
          <p:nvPr/>
        </p:nvSpPr>
        <p:spPr>
          <a:xfrm xmlns:a="http://schemas.openxmlformats.org/drawingml/2006/main">
            <a:off x="6305550" y="32194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delai moyen de relance, temps de preparation revue clients, evolution des encours en retard</a:t>
            </a:r>
          </a:p>
        </p:txBody>
      </p:sp>
      <p:sp>
        <p:nvSpPr>
          <p:cNvPr id="27" name="">
            <a:extLst xmlns:a="http://schemas.openxmlformats.org/drawingml/2006/main">
              <a:ext uri="{FF2B5EF4-FFF2-40B4-BE49-F238E27FC236}">
                <a16:creationId xmlns:a16="http://schemas.microsoft.com/office/drawing/2014/main" id="{2F148558-4069-4F97-AFF1-7C7105E1727F}"/>
              </a:ext>
            </a:extLst>
          </p:cNvPr>
          <p:cNvSpPr>
            <a:spLocks xmlns:a="http://schemas.openxmlformats.org/drawingml/2006/main" noGrp="1"/>
          </p:cNvSpPr>
          <p:nvPr/>
        </p:nvSpPr>
        <p:spPr>
          <a:xfrm xmlns:a="http://schemas.openxmlformats.org/drawingml/2006/main">
            <a:off x="685800" y="3829050"/>
            <a:ext cx="47625" cy="4572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E411630-7577-48AC-8349-731E39011A0E}"/>
              </a:ext>
            </a:extLst>
          </p:cNvPr>
          <p:cNvSpPr>
            <a:spLocks xmlns:a="http://schemas.openxmlformats.org/drawingml/2006/main" noGrp="1"/>
          </p:cNvSpPr>
          <p:nvPr/>
        </p:nvSpPr>
        <p:spPr>
          <a:xfrm xmlns:a="http://schemas.openxmlformats.org/drawingml/2006/main">
            <a:off x="876300" y="373380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Flotte &amp; cartes carburant</a:t>
            </a:r>
          </a:p>
        </p:txBody>
      </p:sp>
      <p:sp>
        <p:nvSpPr>
          <p:cNvPr id="29" name="">
            <a:extLst xmlns:a="http://schemas.openxmlformats.org/drawingml/2006/main">
              <a:ext uri="{FF2B5EF4-FFF2-40B4-BE49-F238E27FC236}">
                <a16:creationId xmlns:a16="http://schemas.microsoft.com/office/drawing/2014/main" id="{E15A7678-CE60-41DA-8C3B-21325CE02BF5}"/>
              </a:ext>
            </a:extLst>
          </p:cNvPr>
          <p:cNvSpPr>
            <a:spLocks xmlns:a="http://schemas.openxmlformats.org/drawingml/2006/main" noGrp="1"/>
          </p:cNvSpPr>
          <p:nvPr/>
        </p:nvSpPr>
        <p:spPr>
          <a:xfrm xmlns:a="http://schemas.openxmlformats.org/drawingml/2006/main">
            <a:off x="876300" y="398145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Consolider les consommations, rapprocher les sources et produire des alertes simples sur anomalies ou depassements inhabituels.</a:t>
            </a:r>
          </a:p>
        </p:txBody>
      </p:sp>
      <p:sp>
        <p:nvSpPr>
          <p:cNvPr id="30" name="">
            <a:extLst xmlns:a="http://schemas.openxmlformats.org/drawingml/2006/main">
              <a:ext uri="{FF2B5EF4-FFF2-40B4-BE49-F238E27FC236}">
                <a16:creationId xmlns:a16="http://schemas.microsoft.com/office/drawing/2014/main" id="{556A95B6-BE5F-4560-AA93-B9BFB1D136FF}"/>
              </a:ext>
            </a:extLst>
          </p:cNvPr>
          <p:cNvSpPr>
            <a:spLocks xmlns:a="http://schemas.openxmlformats.org/drawingml/2006/main" noGrp="1"/>
          </p:cNvSpPr>
          <p:nvPr/>
        </p:nvSpPr>
        <p:spPr>
          <a:xfrm xmlns:a="http://schemas.openxmlformats.org/drawingml/2006/main">
            <a:off x="6096000" y="371475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1" name="">
            <a:extLst xmlns:a="http://schemas.openxmlformats.org/drawingml/2006/main">
              <a:ext uri="{FF2B5EF4-FFF2-40B4-BE49-F238E27FC236}">
                <a16:creationId xmlns:a16="http://schemas.microsoft.com/office/drawing/2014/main" id="{FCCB6904-1995-44F1-B168-40A3CB696450}"/>
              </a:ext>
            </a:extLst>
          </p:cNvPr>
          <p:cNvSpPr>
            <a:spLocks xmlns:a="http://schemas.openxmlformats.org/drawingml/2006/main" noGrp="1"/>
          </p:cNvSpPr>
          <p:nvPr/>
        </p:nvSpPr>
        <p:spPr>
          <a:xfrm xmlns:a="http://schemas.openxmlformats.org/drawingml/2006/main">
            <a:off x="6305550" y="3829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a instrumenter</a:t>
            </a:r>
          </a:p>
        </p:txBody>
      </p:sp>
      <p:sp>
        <p:nvSpPr>
          <p:cNvPr id="32" name="">
            <a:extLst xmlns:a="http://schemas.openxmlformats.org/drawingml/2006/main">
              <a:ext uri="{FF2B5EF4-FFF2-40B4-BE49-F238E27FC236}">
                <a16:creationId xmlns:a16="http://schemas.microsoft.com/office/drawing/2014/main" id="{AAB1AC7F-D351-4A05-981D-CBA2B99A846E}"/>
              </a:ext>
            </a:extLst>
          </p:cNvPr>
          <p:cNvSpPr>
            <a:spLocks xmlns:a="http://schemas.openxmlformats.org/drawingml/2006/main" noGrp="1"/>
          </p:cNvSpPr>
          <p:nvPr/>
        </p:nvSpPr>
        <p:spPr>
          <a:xfrm xmlns:a="http://schemas.openxmlformats.org/drawingml/2006/main">
            <a:off x="6305550" y="400050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temps de production du reporting flotte, nombre d'anomalies detectees, variation des couts carburant</a:t>
            </a:r>
          </a:p>
        </p:txBody>
      </p:sp>
      <p:sp>
        <p:nvSpPr>
          <p:cNvPr id="33" name="">
            <a:extLst xmlns:a="http://schemas.openxmlformats.org/drawingml/2006/main">
              <a:ext uri="{FF2B5EF4-FFF2-40B4-BE49-F238E27FC236}">
                <a16:creationId xmlns:a16="http://schemas.microsoft.com/office/drawing/2014/main" id="{9A7647F8-ADC4-45FC-8A12-395EBF120111}"/>
              </a:ext>
            </a:extLst>
          </p:cNvPr>
          <p:cNvSpPr>
            <a:spLocks xmlns:a="http://schemas.openxmlformats.org/drawingml/2006/main" noGrp="1"/>
          </p:cNvSpPr>
          <p:nvPr/>
        </p:nvSpPr>
        <p:spPr>
          <a:xfrm xmlns:a="http://schemas.openxmlformats.org/drawingml/2006/main">
            <a:off x="685800" y="4610100"/>
            <a:ext cx="47625" cy="4572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E195401-B9D5-4C4F-AA4E-E7CAD8285A89}"/>
              </a:ext>
            </a:extLst>
          </p:cNvPr>
          <p:cNvSpPr>
            <a:spLocks xmlns:a="http://schemas.openxmlformats.org/drawingml/2006/main" noGrp="1"/>
          </p:cNvSpPr>
          <p:nvPr/>
        </p:nvSpPr>
        <p:spPr>
          <a:xfrm xmlns:a="http://schemas.openxmlformats.org/drawingml/2006/main">
            <a:off x="876300" y="45148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Service client &amp; procedures</a:t>
            </a:r>
          </a:p>
        </p:txBody>
      </p:sp>
      <p:sp>
        <p:nvSpPr>
          <p:cNvPr id="35" name="">
            <a:extLst xmlns:a="http://schemas.openxmlformats.org/drawingml/2006/main">
              <a:ext uri="{FF2B5EF4-FFF2-40B4-BE49-F238E27FC236}">
                <a16:creationId xmlns:a16="http://schemas.microsoft.com/office/drawing/2014/main" id="{3048BEE7-0CD9-46C2-9A3F-C86E5F4E2248}"/>
              </a:ext>
            </a:extLst>
          </p:cNvPr>
          <p:cNvSpPr>
            <a:spLocks xmlns:a="http://schemas.openxmlformats.org/drawingml/2006/main" noGrp="1"/>
          </p:cNvSpPr>
          <p:nvPr/>
        </p:nvSpPr>
        <p:spPr>
          <a:xfrm xmlns:a="http://schemas.openxmlformats.org/drawingml/2006/main">
            <a:off x="876300" y="47625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Rendre les reponses plus coherentes, accelerer l'acces aux standards et reduire le temps de montee en main des equipes.</a:t>
            </a:r>
          </a:p>
        </p:txBody>
      </p:sp>
      <p:sp>
        <p:nvSpPr>
          <p:cNvPr id="36" name="">
            <a:extLst xmlns:a="http://schemas.openxmlformats.org/drawingml/2006/main">
              <a:ext uri="{FF2B5EF4-FFF2-40B4-BE49-F238E27FC236}">
                <a16:creationId xmlns:a16="http://schemas.microsoft.com/office/drawing/2014/main" id="{B9481D74-8E54-4A9C-9B4D-4336B23925A5}"/>
              </a:ext>
            </a:extLst>
          </p:cNvPr>
          <p:cNvSpPr>
            <a:spLocks xmlns:a="http://schemas.openxmlformats.org/drawingml/2006/main" noGrp="1"/>
          </p:cNvSpPr>
          <p:nvPr/>
        </p:nvSpPr>
        <p:spPr>
          <a:xfrm xmlns:a="http://schemas.openxmlformats.org/drawingml/2006/main">
            <a:off x="6096000" y="44958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7" name="">
            <a:extLst xmlns:a="http://schemas.openxmlformats.org/drawingml/2006/main">
              <a:ext uri="{FF2B5EF4-FFF2-40B4-BE49-F238E27FC236}">
                <a16:creationId xmlns:a16="http://schemas.microsoft.com/office/drawing/2014/main" id="{DC98FFBA-BF08-486B-ABD1-EF2C5D47B809}"/>
              </a:ext>
            </a:extLst>
          </p:cNvPr>
          <p:cNvSpPr>
            <a:spLocks xmlns:a="http://schemas.openxmlformats.org/drawingml/2006/main" noGrp="1"/>
          </p:cNvSpPr>
          <p:nvPr/>
        </p:nvSpPr>
        <p:spPr>
          <a:xfrm xmlns:a="http://schemas.openxmlformats.org/drawingml/2006/main">
            <a:off x="6305550" y="46101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a instrumenter</a:t>
            </a:r>
          </a:p>
        </p:txBody>
      </p:sp>
      <p:sp>
        <p:nvSpPr>
          <p:cNvPr id="38" name="">
            <a:extLst xmlns:a="http://schemas.openxmlformats.org/drawingml/2006/main">
              <a:ext uri="{FF2B5EF4-FFF2-40B4-BE49-F238E27FC236}">
                <a16:creationId xmlns:a16="http://schemas.microsoft.com/office/drawing/2014/main" id="{D09FCFD2-9EEC-4BB4-A531-89193F4CBDB2}"/>
              </a:ext>
            </a:extLst>
          </p:cNvPr>
          <p:cNvSpPr>
            <a:spLocks xmlns:a="http://schemas.openxmlformats.org/drawingml/2006/main" noGrp="1"/>
          </p:cNvSpPr>
          <p:nvPr/>
        </p:nvSpPr>
        <p:spPr>
          <a:xfrm xmlns:a="http://schemas.openxmlformats.org/drawingml/2006/main">
            <a:off x="6305550" y="47815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delai de reponse, temps d'onboarding, usage de la base procedure / FAQ interne</a:t>
            </a:r>
          </a:p>
        </p:txBody>
      </p:sp>
      <p:sp>
        <p:nvSpPr>
          <p:cNvPr id="39" name="">
            <a:extLst xmlns:a="http://schemas.openxmlformats.org/drawingml/2006/main">
              <a:ext uri="{FF2B5EF4-FFF2-40B4-BE49-F238E27FC236}">
                <a16:creationId xmlns:a16="http://schemas.microsoft.com/office/drawing/2014/main" id="{2F55DB37-1096-4808-A4C2-32E85F239697}"/>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40" name="">
            <a:extLst xmlns:a="http://schemas.openxmlformats.org/drawingml/2006/main">
              <a:ext uri="{FF2B5EF4-FFF2-40B4-BE49-F238E27FC236}">
                <a16:creationId xmlns:a16="http://schemas.microsoft.com/office/drawing/2014/main" id="{E39146FC-764A-4BE5-9B99-EDE9B819627F}"/>
              </a:ext>
            </a:extLst>
          </p:cNvPr>
          <p:cNvSpPr>
            <a:spLocks xmlns:a="http://schemas.openxmlformats.org/drawingml/2006/main" noGrp="1"/>
          </p:cNvSpPr>
          <p:nvPr/>
        </p:nvSpPr>
        <p:spPr>
          <a:xfrm xmlns:a="http://schemas.openxmlformats.org/drawingml/2006/main">
            <a:off x="895350" y="573405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Important</a:t>
            </a:r>
          </a:p>
        </p:txBody>
      </p:sp>
      <p:sp>
        <p:nvSpPr>
          <p:cNvPr id="41" name="">
            <a:extLst xmlns:a="http://schemas.openxmlformats.org/drawingml/2006/main">
              <a:ext uri="{FF2B5EF4-FFF2-40B4-BE49-F238E27FC236}">
                <a16:creationId xmlns:a16="http://schemas.microsoft.com/office/drawing/2014/main" id="{1D880AE3-7B8F-406C-BE87-DE531E569FF2}"/>
              </a:ext>
            </a:extLst>
          </p:cNvPr>
          <p:cNvSpPr>
            <a:spLocks xmlns:a="http://schemas.openxmlformats.org/drawingml/2006/main" noGrp="1"/>
          </p:cNvSpPr>
          <p:nvPr/>
        </p:nvSpPr>
        <p:spPr>
          <a:xfrm xmlns:a="http://schemas.openxmlformats.org/drawingml/2006/main">
            <a:off x="1790700" y="569595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Les chiffres affiches ci-dessus sont un referentiel ROI TransferAI sur des deploiements comparables. Les gains ELTON CI seront calibres sur vos volumes, vos processus et vos donnees pendant l'audit initial.</a:t>
            </a:r>
          </a:p>
        </p:txBody>
      </p:sp>
      <p:sp>
        <p:nvSpPr>
          <p:cNvPr id="42" name="">
            <a:extLst xmlns:a="http://schemas.openxmlformats.org/drawingml/2006/main">
              <a:ext uri="{FF2B5EF4-FFF2-40B4-BE49-F238E27FC236}">
                <a16:creationId xmlns:a16="http://schemas.microsoft.com/office/drawing/2014/main" id="{579ABCEE-71E9-4021-A6F3-7994F5B7404C}"/>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760A0E0A-9CD9-4F81-A7C5-A5905ABFFADC}"/>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44" name="">
            <a:extLst xmlns:a="http://schemas.openxmlformats.org/drawingml/2006/main">
              <a:ext uri="{FF2B5EF4-FFF2-40B4-BE49-F238E27FC236}">
                <a16:creationId xmlns:a16="http://schemas.microsoft.com/office/drawing/2014/main" id="{8810721D-9E44-4837-B80D-2015B13CD3EA}"/>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03</a:t>
            </a:r>
          </a:p>
        </p:txBody>
      </p:sp>
    </p:spTree>
    <p:extLst>
      <p:ext uri="{BB962C8B-B14F-4D97-AF65-F5344CB8AC3E}">
        <p14:creationId xmlns:p14="http://schemas.microsoft.com/office/powerpoint/2010/main" val="370519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F969A8-9DF8-457F-A6E2-898922A5EB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A9BE2A2-440F-4833-B6EE-062D25F7229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CAS D'USAGE PRIORITAIRES</a:t>
            </a:r>
          </a:p>
        </p:txBody>
      </p:sp>
      <p:sp>
        <p:nvSpPr>
          <p:cNvPr id="3" name="">
            <a:extLst xmlns:a="http://schemas.openxmlformats.org/drawingml/2006/main">
              <a:ext uri="{FF2B5EF4-FFF2-40B4-BE49-F238E27FC236}">
                <a16:creationId xmlns:a16="http://schemas.microsoft.com/office/drawing/2014/main" id="{632960BF-40EB-4BBC-8F5F-2722DA21795B}"/>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4 cas d'usage a mettre au centre de la proposition ELTON CI</a:t>
            </a:r>
          </a:p>
        </p:txBody>
      </p:sp>
      <p:sp>
        <p:nvSpPr>
          <p:cNvPr id="4" name="">
            <a:extLst xmlns:a="http://schemas.openxmlformats.org/drawingml/2006/main">
              <a:ext uri="{FF2B5EF4-FFF2-40B4-BE49-F238E27FC236}">
                <a16:creationId xmlns:a16="http://schemas.microsoft.com/office/drawing/2014/main" id="{11F2F02A-5D5C-429C-BF97-6E66D75655B3}"/>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Chaque cas d'usage doit etre presente comme un flux metier visible, avec un avant, un apres et des KPI de validation.</a:t>
            </a:r>
          </a:p>
        </p:txBody>
      </p:sp>
      <p:sp>
        <p:nvSpPr>
          <p:cNvPr id="5" name="">
            <a:extLst xmlns:a="http://schemas.openxmlformats.org/drawingml/2006/main">
              <a:ext uri="{FF2B5EF4-FFF2-40B4-BE49-F238E27FC236}">
                <a16:creationId xmlns:a16="http://schemas.microsoft.com/office/drawing/2014/main" id="{A27C935D-376D-4A44-8DCB-FEFFEFEBF3B3}"/>
              </a:ext>
            </a:extLst>
          </p:cNvPr>
          <p:cNvSpPr>
            <a:spLocks xmlns:a="http://schemas.openxmlformats.org/drawingml/2006/main" noGrp="1"/>
          </p:cNvSpPr>
          <p:nvPr/>
        </p:nvSpPr>
        <p:spPr>
          <a:xfrm xmlns:a="http://schemas.openxmlformats.org/drawingml/2006/main">
            <a:off x="685800" y="21717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48918ACD-B075-47FA-B41D-3CD77D90B2EA}"/>
              </a:ext>
            </a:extLst>
          </p:cNvPr>
          <p:cNvSpPr>
            <a:spLocks xmlns:a="http://schemas.openxmlformats.org/drawingml/2006/main" noGrp="1"/>
          </p:cNvSpPr>
          <p:nvPr/>
        </p:nvSpPr>
        <p:spPr>
          <a:xfrm xmlns:a="http://schemas.openxmlformats.org/drawingml/2006/main">
            <a:off x="857250" y="23431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4a0d01bcf6d47c7">
            <a:extLst>
              <a:ext uri="{96DAC541-7B7A-43D3-8B79-37D633B846F1}">
                <asvg:svgBlip xmlns:asvg="http://schemas.microsoft.com/office/drawing/2016/SVG/main" r:embed="R01f762361d68426d"/>
              </a:ext>
            </a:extLst>
          </a:blip>
          <a:stretch xmlns:a="http://schemas.openxmlformats.org/drawingml/2006/main"/>
        </p:blipFill>
        <p:spPr>
          <a:xfrm xmlns:a="http://schemas.openxmlformats.org/drawingml/2006/main">
            <a:off x="952500" y="24384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91232B1-EB7C-44BF-8E78-4B71DDCD4B27}"/>
              </a:ext>
            </a:extLst>
          </p:cNvPr>
          <p:cNvSpPr>
            <a:spLocks xmlns:a="http://schemas.openxmlformats.org/drawingml/2006/main" noGrp="1"/>
          </p:cNvSpPr>
          <p:nvPr/>
        </p:nvSpPr>
        <p:spPr>
          <a:xfrm xmlns:a="http://schemas.openxmlformats.org/drawingml/2006/main">
            <a:off x="1409700" y="23812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1. Comptes professionnels &amp; recouvrement</a:t>
            </a:r>
          </a:p>
        </p:txBody>
      </p:sp>
      <p:sp>
        <p:nvSpPr>
          <p:cNvPr id="9" name="">
            <a:extLst xmlns:a="http://schemas.openxmlformats.org/drawingml/2006/main">
              <a:ext uri="{FF2B5EF4-FFF2-40B4-BE49-F238E27FC236}">
                <a16:creationId xmlns:a16="http://schemas.microsoft.com/office/drawing/2014/main" id="{E4E9989C-B36D-40A2-A5E6-33D0C4F645BC}"/>
              </a:ext>
            </a:extLst>
          </p:cNvPr>
          <p:cNvSpPr>
            <a:spLocks xmlns:a="http://schemas.openxmlformats.org/drawingml/2006/main" noGrp="1"/>
          </p:cNvSpPr>
          <p:nvPr/>
        </p:nvSpPr>
        <p:spPr>
          <a:xfrm xmlns:a="http://schemas.openxmlformats.org/drawingml/2006/main">
            <a:off x="895350" y="29146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12DC0263-CF59-4351-93FF-C303D685A8E5}"/>
              </a:ext>
            </a:extLst>
          </p:cNvPr>
          <p:cNvSpPr>
            <a:spLocks xmlns:a="http://schemas.openxmlformats.org/drawingml/2006/main" noGrp="1"/>
          </p:cNvSpPr>
          <p:nvPr/>
        </p:nvSpPr>
        <p:spPr>
          <a:xfrm xmlns:a="http://schemas.openxmlformats.org/drawingml/2006/main">
            <a:off x="895350" y="3105150"/>
            <a:ext cx="47244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Relances, revues portefeuille et syntheses commerciales disperses entre plusieurs supports.</a:t>
            </a:r>
          </a:p>
        </p:txBody>
      </p:sp>
      <p:sp>
        <p:nvSpPr>
          <p:cNvPr id="11" name="">
            <a:extLst xmlns:a="http://schemas.openxmlformats.org/drawingml/2006/main">
              <a:ext uri="{FF2B5EF4-FFF2-40B4-BE49-F238E27FC236}">
                <a16:creationId xmlns:a16="http://schemas.microsoft.com/office/drawing/2014/main" id="{919E5D97-DC55-4008-99AA-A8B721DA9EC7}"/>
              </a:ext>
            </a:extLst>
          </p:cNvPr>
          <p:cNvSpPr>
            <a:spLocks xmlns:a="http://schemas.openxmlformats.org/drawingml/2006/main" noGrp="1"/>
          </p:cNvSpPr>
          <p:nvPr/>
        </p:nvSpPr>
        <p:spPr>
          <a:xfrm xmlns:a="http://schemas.openxmlformats.org/drawingml/2006/main">
            <a:off x="895350" y="37909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12" name="">
            <a:extLst xmlns:a="http://schemas.openxmlformats.org/drawingml/2006/main">
              <a:ext uri="{FF2B5EF4-FFF2-40B4-BE49-F238E27FC236}">
                <a16:creationId xmlns:a16="http://schemas.microsoft.com/office/drawing/2014/main" id="{771697DB-41A7-4538-8F7D-38D61631D1D6}"/>
              </a:ext>
            </a:extLst>
          </p:cNvPr>
          <p:cNvSpPr>
            <a:spLocks xmlns:a="http://schemas.openxmlformats.org/drawingml/2006/main" noGrp="1"/>
          </p:cNvSpPr>
          <p:nvPr/>
        </p:nvSpPr>
        <p:spPr>
          <a:xfrm xmlns:a="http://schemas.openxmlformats.org/drawingml/2006/main">
            <a:off x="895350" y="3981450"/>
            <a:ext cx="472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Assistant de preparation, synthese portefeuille, priorisation des comptes a risque et routines de suivi mieux standardisees.</a:t>
            </a:r>
          </a:p>
        </p:txBody>
      </p:sp>
      <p:sp>
        <p:nvSpPr>
          <p:cNvPr id="13" name="">
            <a:extLst xmlns:a="http://schemas.openxmlformats.org/drawingml/2006/main">
              <a:ext uri="{FF2B5EF4-FFF2-40B4-BE49-F238E27FC236}">
                <a16:creationId xmlns:a16="http://schemas.microsoft.com/office/drawing/2014/main" id="{C6558236-501B-4C10-8016-27E858AF1421}"/>
              </a:ext>
            </a:extLst>
          </p:cNvPr>
          <p:cNvSpPr>
            <a:spLocks xmlns:a="http://schemas.openxmlformats.org/drawingml/2006/main" noGrp="1"/>
          </p:cNvSpPr>
          <p:nvPr/>
        </p:nvSpPr>
        <p:spPr>
          <a:xfrm xmlns:a="http://schemas.openxmlformats.org/drawingml/2006/main">
            <a:off x="6096000" y="21717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0279817C-27A3-4539-B77A-78D5F3983742}"/>
              </a:ext>
            </a:extLst>
          </p:cNvPr>
          <p:cNvSpPr>
            <a:spLocks xmlns:a="http://schemas.openxmlformats.org/drawingml/2006/main" noGrp="1"/>
          </p:cNvSpPr>
          <p:nvPr/>
        </p:nvSpPr>
        <p:spPr>
          <a:xfrm xmlns:a="http://schemas.openxmlformats.org/drawingml/2006/main">
            <a:off x="6267450" y="23431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96aa91e408d4808">
            <a:extLst>
              <a:ext uri="{96DAC541-7B7A-43D3-8B79-37D633B846F1}">
                <asvg:svgBlip xmlns:asvg="http://schemas.microsoft.com/office/drawing/2016/SVG/main" r:embed="Rb9403a3687a54377"/>
              </a:ext>
            </a:extLst>
          </a:blip>
          <a:stretch xmlns:a="http://schemas.openxmlformats.org/drawingml/2006/main"/>
        </p:blipFill>
        <p:spPr>
          <a:xfrm xmlns:a="http://schemas.openxmlformats.org/drawingml/2006/main">
            <a:off x="6362700" y="24384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A29712C-475D-40E1-AAE7-29CF06FF5C96}"/>
              </a:ext>
            </a:extLst>
          </p:cNvPr>
          <p:cNvSpPr>
            <a:spLocks xmlns:a="http://schemas.openxmlformats.org/drawingml/2006/main" noGrp="1"/>
          </p:cNvSpPr>
          <p:nvPr/>
        </p:nvSpPr>
        <p:spPr>
          <a:xfrm xmlns:a="http://schemas.openxmlformats.org/drawingml/2006/main">
            <a:off x="6819900" y="23812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2. Flotte, cartes carburant &amp; consommation</a:t>
            </a:r>
          </a:p>
        </p:txBody>
      </p:sp>
      <p:sp>
        <p:nvSpPr>
          <p:cNvPr id="17" name="">
            <a:extLst xmlns:a="http://schemas.openxmlformats.org/drawingml/2006/main">
              <a:ext uri="{FF2B5EF4-FFF2-40B4-BE49-F238E27FC236}">
                <a16:creationId xmlns:a16="http://schemas.microsoft.com/office/drawing/2014/main" id="{8B237713-1CFA-4E67-8871-8AF2B59BEC3B}"/>
              </a:ext>
            </a:extLst>
          </p:cNvPr>
          <p:cNvSpPr>
            <a:spLocks xmlns:a="http://schemas.openxmlformats.org/drawingml/2006/main" noGrp="1"/>
          </p:cNvSpPr>
          <p:nvPr/>
        </p:nvSpPr>
        <p:spPr>
          <a:xfrm xmlns:a="http://schemas.openxmlformats.org/drawingml/2006/main">
            <a:off x="6305550" y="29146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FC6330DB-2EA3-40B6-9270-DBE4995D31EB}"/>
              </a:ext>
            </a:extLst>
          </p:cNvPr>
          <p:cNvSpPr>
            <a:spLocks xmlns:a="http://schemas.openxmlformats.org/drawingml/2006/main" noGrp="1"/>
          </p:cNvSpPr>
          <p:nvPr/>
        </p:nvSpPr>
        <p:spPr>
          <a:xfrm xmlns:a="http://schemas.openxmlformats.org/drawingml/2006/main">
            <a:off x="6305550" y="3105150"/>
            <a:ext cx="49911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Vision fragmentee des consommations, des ecarts et des commentaires d'analyse.</a:t>
            </a:r>
          </a:p>
        </p:txBody>
      </p:sp>
      <p:sp>
        <p:nvSpPr>
          <p:cNvPr id="19" name="">
            <a:extLst xmlns:a="http://schemas.openxmlformats.org/drawingml/2006/main">
              <a:ext uri="{FF2B5EF4-FFF2-40B4-BE49-F238E27FC236}">
                <a16:creationId xmlns:a16="http://schemas.microsoft.com/office/drawing/2014/main" id="{FB2F9CAD-93DB-47B7-B5AA-F65DD0E8CA1B}"/>
              </a:ext>
            </a:extLst>
          </p:cNvPr>
          <p:cNvSpPr>
            <a:spLocks xmlns:a="http://schemas.openxmlformats.org/drawingml/2006/main" noGrp="1"/>
          </p:cNvSpPr>
          <p:nvPr/>
        </p:nvSpPr>
        <p:spPr>
          <a:xfrm xmlns:a="http://schemas.openxmlformats.org/drawingml/2006/main">
            <a:off x="6305550" y="37909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20" name="">
            <a:extLst xmlns:a="http://schemas.openxmlformats.org/drawingml/2006/main">
              <a:ext uri="{FF2B5EF4-FFF2-40B4-BE49-F238E27FC236}">
                <a16:creationId xmlns:a16="http://schemas.microsoft.com/office/drawing/2014/main" id="{F5EDCDE5-F5BF-4612-94F4-D2A03B3B8F12}"/>
              </a:ext>
            </a:extLst>
          </p:cNvPr>
          <p:cNvSpPr>
            <a:spLocks xmlns:a="http://schemas.openxmlformats.org/drawingml/2006/main" noGrp="1"/>
          </p:cNvSpPr>
          <p:nvPr/>
        </p:nvSpPr>
        <p:spPr>
          <a:xfrm xmlns:a="http://schemas.openxmlformats.org/drawingml/2006/main">
            <a:off x="6305550" y="3981450"/>
            <a:ext cx="49911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Tableau de bord consolide, alertes simples sur anomalies et meilleure lecture des couts par vehicule, site ou periode.</a:t>
            </a:r>
          </a:p>
        </p:txBody>
      </p:sp>
      <p:sp>
        <p:nvSpPr>
          <p:cNvPr id="21" name="">
            <a:extLst xmlns:a="http://schemas.openxmlformats.org/drawingml/2006/main">
              <a:ext uri="{FF2B5EF4-FFF2-40B4-BE49-F238E27FC236}">
                <a16:creationId xmlns:a16="http://schemas.microsoft.com/office/drawing/2014/main" id="{3A1BEF01-F1BC-4758-B65B-72417B494EC7}"/>
              </a:ext>
            </a:extLst>
          </p:cNvPr>
          <p:cNvSpPr>
            <a:spLocks xmlns:a="http://schemas.openxmlformats.org/drawingml/2006/main" noGrp="1"/>
          </p:cNvSpPr>
          <p:nvPr/>
        </p:nvSpPr>
        <p:spPr>
          <a:xfrm xmlns:a="http://schemas.openxmlformats.org/drawingml/2006/main">
            <a:off x="685800" y="40386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0BCA0301-07E2-4323-A12D-29FE0C35D729}"/>
              </a:ext>
            </a:extLst>
          </p:cNvPr>
          <p:cNvSpPr>
            <a:spLocks xmlns:a="http://schemas.openxmlformats.org/drawingml/2006/main" noGrp="1"/>
          </p:cNvSpPr>
          <p:nvPr/>
        </p:nvSpPr>
        <p:spPr>
          <a:xfrm xmlns:a="http://schemas.openxmlformats.org/drawingml/2006/main">
            <a:off x="857250" y="42100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c7e58c432a84dec">
            <a:extLst>
              <a:ext uri="{96DAC541-7B7A-43D3-8B79-37D633B846F1}">
                <asvg:svgBlip xmlns:asvg="http://schemas.microsoft.com/office/drawing/2016/SVG/main" r:embed="R625dec9b2eec4d71"/>
              </a:ext>
            </a:extLst>
          </a:blip>
          <a:stretch xmlns:a="http://schemas.openxmlformats.org/drawingml/2006/main"/>
        </p:blipFill>
        <p:spPr>
          <a:xfrm xmlns:a="http://schemas.openxmlformats.org/drawingml/2006/main">
            <a:off x="952500" y="43053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396F881E-77EB-4983-BB77-C22F500D024E}"/>
              </a:ext>
            </a:extLst>
          </p:cNvPr>
          <p:cNvSpPr>
            <a:spLocks xmlns:a="http://schemas.openxmlformats.org/drawingml/2006/main" noGrp="1"/>
          </p:cNvSpPr>
          <p:nvPr/>
        </p:nvSpPr>
        <p:spPr>
          <a:xfrm xmlns:a="http://schemas.openxmlformats.org/drawingml/2006/main">
            <a:off x="1409700" y="42481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3. Service client / service auto</a:t>
            </a:r>
          </a:p>
        </p:txBody>
      </p:sp>
      <p:sp>
        <p:nvSpPr>
          <p:cNvPr id="25" name="">
            <a:extLst xmlns:a="http://schemas.openxmlformats.org/drawingml/2006/main">
              <a:ext uri="{FF2B5EF4-FFF2-40B4-BE49-F238E27FC236}">
                <a16:creationId xmlns:a16="http://schemas.microsoft.com/office/drawing/2014/main" id="{2370E5CB-B5C0-4BB1-A663-3C23C139D9BB}"/>
              </a:ext>
            </a:extLst>
          </p:cNvPr>
          <p:cNvSpPr>
            <a:spLocks xmlns:a="http://schemas.openxmlformats.org/drawingml/2006/main" noGrp="1"/>
          </p:cNvSpPr>
          <p:nvPr/>
        </p:nvSpPr>
        <p:spPr>
          <a:xfrm xmlns:a="http://schemas.openxmlformats.org/drawingml/2006/main">
            <a:off x="895350" y="47815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F8EA8A79-DCB3-4A80-A517-87CDBBDF8C8C}"/>
              </a:ext>
            </a:extLst>
          </p:cNvPr>
          <p:cNvSpPr>
            <a:spLocks xmlns:a="http://schemas.openxmlformats.org/drawingml/2006/main" noGrp="1"/>
          </p:cNvSpPr>
          <p:nvPr/>
        </p:nvSpPr>
        <p:spPr>
          <a:xfrm xmlns:a="http://schemas.openxmlformats.org/drawingml/2006/main">
            <a:off x="895350" y="4972050"/>
            <a:ext cx="47244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Demandes recurrentes, scripts variables et historique pas toujours exploitable pour mieux servir.</a:t>
            </a:r>
          </a:p>
        </p:txBody>
      </p:sp>
      <p:sp>
        <p:nvSpPr>
          <p:cNvPr id="27" name="">
            <a:extLst xmlns:a="http://schemas.openxmlformats.org/drawingml/2006/main">
              <a:ext uri="{FF2B5EF4-FFF2-40B4-BE49-F238E27FC236}">
                <a16:creationId xmlns:a16="http://schemas.microsoft.com/office/drawing/2014/main" id="{09327F42-F979-4DEE-B00A-D4A1F8807192}"/>
              </a:ext>
            </a:extLst>
          </p:cNvPr>
          <p:cNvSpPr>
            <a:spLocks xmlns:a="http://schemas.openxmlformats.org/drawingml/2006/main" noGrp="1"/>
          </p:cNvSpPr>
          <p:nvPr/>
        </p:nvSpPr>
        <p:spPr>
          <a:xfrm xmlns:a="http://schemas.openxmlformats.org/drawingml/2006/main">
            <a:off x="895350" y="56578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28" name="">
            <a:extLst xmlns:a="http://schemas.openxmlformats.org/drawingml/2006/main">
              <a:ext uri="{FF2B5EF4-FFF2-40B4-BE49-F238E27FC236}">
                <a16:creationId xmlns:a16="http://schemas.microsoft.com/office/drawing/2014/main" id="{67257E45-D9D7-4951-96E3-BC05C2AA4C9F}"/>
              </a:ext>
            </a:extLst>
          </p:cNvPr>
          <p:cNvSpPr>
            <a:spLocks xmlns:a="http://schemas.openxmlformats.org/drawingml/2006/main" noGrp="1"/>
          </p:cNvSpPr>
          <p:nvPr/>
        </p:nvSpPr>
        <p:spPr>
          <a:xfrm xmlns:a="http://schemas.openxmlformats.org/drawingml/2006/main">
            <a:off x="895350" y="5848350"/>
            <a:ext cx="472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FAQ assistee, canevas de reponse, suivi plus continu et meilleur niveau de reactivite operationnelle.</a:t>
            </a:r>
          </a:p>
        </p:txBody>
      </p:sp>
      <p:sp>
        <p:nvSpPr>
          <p:cNvPr id="29" name="">
            <a:extLst xmlns:a="http://schemas.openxmlformats.org/drawingml/2006/main">
              <a:ext uri="{FF2B5EF4-FFF2-40B4-BE49-F238E27FC236}">
                <a16:creationId xmlns:a16="http://schemas.microsoft.com/office/drawing/2014/main" id="{331C4B81-BB73-46E7-AA12-22276B979D44}"/>
              </a:ext>
            </a:extLst>
          </p:cNvPr>
          <p:cNvSpPr>
            <a:spLocks xmlns:a="http://schemas.openxmlformats.org/drawingml/2006/main" noGrp="1"/>
          </p:cNvSpPr>
          <p:nvPr/>
        </p:nvSpPr>
        <p:spPr>
          <a:xfrm xmlns:a="http://schemas.openxmlformats.org/drawingml/2006/main">
            <a:off x="6096000" y="40386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58997B48-C1DB-4532-9753-AB03B1A08E1E}"/>
              </a:ext>
            </a:extLst>
          </p:cNvPr>
          <p:cNvSpPr>
            <a:spLocks xmlns:a="http://schemas.openxmlformats.org/drawingml/2006/main" noGrp="1"/>
          </p:cNvSpPr>
          <p:nvPr/>
        </p:nvSpPr>
        <p:spPr>
          <a:xfrm xmlns:a="http://schemas.openxmlformats.org/drawingml/2006/main">
            <a:off x="6267450" y="42100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8c8bd85ee574279">
            <a:extLst>
              <a:ext uri="{96DAC541-7B7A-43D3-8B79-37D633B846F1}">
                <asvg:svgBlip xmlns:asvg="http://schemas.microsoft.com/office/drawing/2016/SVG/main" r:embed="Rc02c280fec06474c"/>
              </a:ext>
            </a:extLst>
          </a:blip>
          <a:stretch xmlns:a="http://schemas.openxmlformats.org/drawingml/2006/main"/>
        </p:blipFill>
        <p:spPr>
          <a:xfrm xmlns:a="http://schemas.openxmlformats.org/drawingml/2006/main">
            <a:off x="6362700" y="43053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0C64E498-205B-42D8-977F-CF9DC8F2935B}"/>
              </a:ext>
            </a:extLst>
          </p:cNvPr>
          <p:cNvSpPr>
            <a:spLocks xmlns:a="http://schemas.openxmlformats.org/drawingml/2006/main" noGrp="1"/>
          </p:cNvSpPr>
          <p:nvPr/>
        </p:nvSpPr>
        <p:spPr>
          <a:xfrm xmlns:a="http://schemas.openxmlformats.org/drawingml/2006/main">
            <a:off x="6819900" y="42481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A3554"/>
                </a:solidFill>
                <a:latin typeface="Aptos Display"/>
                <a:ea typeface="Aptos Display"/>
                <a:cs typeface="Aptos Display"/>
              </a:defRPr>
            </a:pPr>
            <a:r>
              <a:rPr sz="1275" b="1">
                <a:solidFill>
                  <a:srgbClr val="1A3554"/>
                </a:solidFill>
                <a:latin typeface="Aptos Display"/>
                <a:ea typeface="Aptos Display"/>
                <a:cs typeface="Aptos Display"/>
              </a:rPr>
              <a:t>4. Procedures internes &amp; knowledge base</a:t>
            </a:r>
          </a:p>
        </p:txBody>
      </p:sp>
      <p:sp>
        <p:nvSpPr>
          <p:cNvPr id="33" name="">
            <a:extLst xmlns:a="http://schemas.openxmlformats.org/drawingml/2006/main">
              <a:ext uri="{FF2B5EF4-FFF2-40B4-BE49-F238E27FC236}">
                <a16:creationId xmlns:a16="http://schemas.microsoft.com/office/drawing/2014/main" id="{36D7C235-FB85-4B69-A07D-32E695B65A61}"/>
              </a:ext>
            </a:extLst>
          </p:cNvPr>
          <p:cNvSpPr>
            <a:spLocks xmlns:a="http://schemas.openxmlformats.org/drawingml/2006/main" noGrp="1"/>
          </p:cNvSpPr>
          <p:nvPr/>
        </p:nvSpPr>
        <p:spPr>
          <a:xfrm xmlns:a="http://schemas.openxmlformats.org/drawingml/2006/main">
            <a:off x="6305550" y="47815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EB598C62-214F-47C8-95FD-9672012C0A60}"/>
              </a:ext>
            </a:extLst>
          </p:cNvPr>
          <p:cNvSpPr>
            <a:spLocks xmlns:a="http://schemas.openxmlformats.org/drawingml/2006/main" noGrp="1"/>
          </p:cNvSpPr>
          <p:nvPr/>
        </p:nvSpPr>
        <p:spPr>
          <a:xfrm xmlns:a="http://schemas.openxmlformats.org/drawingml/2006/main">
            <a:off x="6305550" y="4972050"/>
            <a:ext cx="49911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Procedures, standards et bonnes reponses eparpilles, donc difficilement reutilisables a grande echelle.</a:t>
            </a:r>
          </a:p>
        </p:txBody>
      </p:sp>
      <p:sp>
        <p:nvSpPr>
          <p:cNvPr id="35" name="">
            <a:extLst xmlns:a="http://schemas.openxmlformats.org/drawingml/2006/main">
              <a:ext uri="{FF2B5EF4-FFF2-40B4-BE49-F238E27FC236}">
                <a16:creationId xmlns:a16="http://schemas.microsoft.com/office/drawing/2014/main" id="{5C1DB562-E793-4106-80A8-3A0A8B72364C}"/>
              </a:ext>
            </a:extLst>
          </p:cNvPr>
          <p:cNvSpPr>
            <a:spLocks xmlns:a="http://schemas.openxmlformats.org/drawingml/2006/main" noGrp="1"/>
          </p:cNvSpPr>
          <p:nvPr/>
        </p:nvSpPr>
        <p:spPr>
          <a:xfrm xmlns:a="http://schemas.openxmlformats.org/drawingml/2006/main">
            <a:off x="6305550" y="56578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1C8A78"/>
                </a:solidFill>
                <a:latin typeface="Aptos"/>
                <a:ea typeface="Aptos"/>
                <a:cs typeface="Aptos"/>
              </a:defRPr>
            </a:pPr>
            <a:r>
              <a:rPr sz="713" b="1">
                <a:solidFill>
                  <a:srgbClr val="1C8A78"/>
                </a:solidFill>
                <a:latin typeface="Aptos"/>
                <a:ea typeface="Aptos"/>
                <a:cs typeface="Aptos"/>
              </a:rPr>
              <a:t>APRES</a:t>
            </a:r>
          </a:p>
        </p:txBody>
      </p:sp>
      <p:sp>
        <p:nvSpPr>
          <p:cNvPr id="36" name="">
            <a:extLst xmlns:a="http://schemas.openxmlformats.org/drawingml/2006/main">
              <a:ext uri="{FF2B5EF4-FFF2-40B4-BE49-F238E27FC236}">
                <a16:creationId xmlns:a16="http://schemas.microsoft.com/office/drawing/2014/main" id="{12888B91-480E-4E15-B1C9-C82208D1B8F4}"/>
              </a:ext>
            </a:extLst>
          </p:cNvPr>
          <p:cNvSpPr>
            <a:spLocks xmlns:a="http://schemas.openxmlformats.org/drawingml/2006/main" noGrp="1"/>
          </p:cNvSpPr>
          <p:nvPr/>
        </p:nvSpPr>
        <p:spPr>
          <a:xfrm xmlns:a="http://schemas.openxmlformats.org/drawingml/2006/main">
            <a:off x="6305550" y="5848350"/>
            <a:ext cx="49911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Base interne plus accessible, execution plus homogene et reduction du temps de recherche pour les equipes.</a:t>
            </a:r>
          </a:p>
        </p:txBody>
      </p:sp>
      <p:sp>
        <p:nvSpPr>
          <p:cNvPr id="37" name="">
            <a:extLst xmlns:a="http://schemas.openxmlformats.org/drawingml/2006/main">
              <a:ext uri="{FF2B5EF4-FFF2-40B4-BE49-F238E27FC236}">
                <a16:creationId xmlns:a16="http://schemas.microsoft.com/office/drawing/2014/main" id="{06F9CBF5-3FAB-4772-9807-20A67865487C}"/>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1D2F3826-BE5F-43F7-9D9D-7CD1956E552F}"/>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39" name="">
            <a:extLst xmlns:a="http://schemas.openxmlformats.org/drawingml/2006/main">
              <a:ext uri="{FF2B5EF4-FFF2-40B4-BE49-F238E27FC236}">
                <a16:creationId xmlns:a16="http://schemas.microsoft.com/office/drawing/2014/main" id="{29B459ED-2B19-4D79-8DFF-D3197E86E3A9}"/>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04</a:t>
            </a:r>
          </a:p>
        </p:txBody>
      </p:sp>
    </p:spTree>
    <p:extLst>
      <p:ext uri="{BB962C8B-B14F-4D97-AF65-F5344CB8AC3E}">
        <p14:creationId xmlns:p14="http://schemas.microsoft.com/office/powerpoint/2010/main" val="32311444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109E05-FAF5-48FA-A9A9-D66135BC9E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AD72100-C05C-4D37-AD7C-B0884962A4A0}"/>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DETAIL CAS D'USAGE</a:t>
            </a:r>
          </a:p>
        </p:txBody>
      </p:sp>
      <p:sp>
        <p:nvSpPr>
          <p:cNvPr id="3" name="">
            <a:extLst xmlns:a="http://schemas.openxmlformats.org/drawingml/2006/main">
              <a:ext uri="{FF2B5EF4-FFF2-40B4-BE49-F238E27FC236}">
                <a16:creationId xmlns:a16="http://schemas.microsoft.com/office/drawing/2014/main" id="{3467852C-29D5-4B58-89D4-84912D05830D}"/>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deux premiers terrains a lancer rapidement</a:t>
            </a:r>
          </a:p>
        </p:txBody>
      </p:sp>
      <p:sp>
        <p:nvSpPr>
          <p:cNvPr id="4" name="">
            <a:extLst xmlns:a="http://schemas.openxmlformats.org/drawingml/2006/main">
              <a:ext uri="{FF2B5EF4-FFF2-40B4-BE49-F238E27FC236}">
                <a16:creationId xmlns:a16="http://schemas.microsoft.com/office/drawing/2014/main" id="{BE35E9C1-3DA6-4325-B422-6C7AFD881F63}"/>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Nous recommandons de demarrer par deux flux ou la valeur est plus facile a rendre visible pour la direction: comptes professionnels et flotte / cartes carburant.</a:t>
            </a:r>
          </a:p>
        </p:txBody>
      </p:sp>
      <p:sp>
        <p:nvSpPr>
          <p:cNvPr id="5" name="">
            <a:extLst xmlns:a="http://schemas.openxmlformats.org/drawingml/2006/main">
              <a:ext uri="{FF2B5EF4-FFF2-40B4-BE49-F238E27FC236}">
                <a16:creationId xmlns:a16="http://schemas.microsoft.com/office/drawing/2014/main" id="{3AD37C1F-E82C-49A1-8D20-9AA646226E44}"/>
              </a:ext>
            </a:extLst>
          </p:cNvPr>
          <p:cNvSpPr>
            <a:spLocks xmlns:a="http://schemas.openxmlformats.org/drawingml/2006/main" noGrp="1"/>
          </p:cNvSpPr>
          <p:nvPr/>
        </p:nvSpPr>
        <p:spPr>
          <a:xfrm xmlns:a="http://schemas.openxmlformats.org/drawingml/2006/main">
            <a:off x="685800" y="2171700"/>
            <a:ext cx="51435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06E70327-B5F6-43E3-8CBC-570CA810934B}"/>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a9d685a74f4da2">
            <a:extLst>
              <a:ext uri="{96DAC541-7B7A-43D3-8B79-37D633B846F1}">
                <asvg:svgBlip xmlns:asvg="http://schemas.microsoft.com/office/drawing/2016/SVG/main" r:embed="R016e1d8b3a6344cb"/>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CDAE7B5-F7E9-4737-9C12-1EC7CC3E8F71}"/>
              </a:ext>
            </a:extLst>
          </p:cNvPr>
          <p:cNvSpPr>
            <a:spLocks xmlns:a="http://schemas.openxmlformats.org/drawingml/2006/main" noGrp="1"/>
          </p:cNvSpPr>
          <p:nvPr/>
        </p:nvSpPr>
        <p:spPr>
          <a:xfrm xmlns:a="http://schemas.openxmlformats.org/drawingml/2006/main">
            <a:off x="1428750" y="2362200"/>
            <a:ext cx="3905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Comptes professionnels &amp; recouvrement</a:t>
            </a:r>
          </a:p>
        </p:txBody>
      </p:sp>
      <p:sp>
        <p:nvSpPr>
          <p:cNvPr id="9" name="">
            <a:extLst xmlns:a="http://schemas.openxmlformats.org/drawingml/2006/main">
              <a:ext uri="{FF2B5EF4-FFF2-40B4-BE49-F238E27FC236}">
                <a16:creationId xmlns:a16="http://schemas.microsoft.com/office/drawing/2014/main" id="{6859C002-7557-4038-8E5C-C9CD916037D9}"/>
              </a:ext>
            </a:extLst>
          </p:cNvPr>
          <p:cNvSpPr>
            <a:spLocks xmlns:a="http://schemas.openxmlformats.org/drawingml/2006/main" noGrp="1"/>
          </p:cNvSpPr>
          <p:nvPr/>
        </p:nvSpPr>
        <p:spPr>
          <a:xfrm xmlns:a="http://schemas.openxmlformats.org/drawingml/2006/main">
            <a:off x="8953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9A456A66-97C4-49F1-844B-4FC50C760659}"/>
              </a:ext>
            </a:extLst>
          </p:cNvPr>
          <p:cNvSpPr>
            <a:spLocks xmlns:a="http://schemas.openxmlformats.org/drawingml/2006/main" noGrp="1"/>
          </p:cNvSpPr>
          <p:nvPr/>
        </p:nvSpPr>
        <p:spPr>
          <a:xfrm xmlns:a="http://schemas.openxmlformats.org/drawingml/2006/main">
            <a:off x="895350" y="30861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relances preparees a la main</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revues portefeuille longues a consolider</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informations dispersees entre mails, fichiers et historique commercial</a:t>
            </a:r>
          </a:p>
        </p:txBody>
      </p:sp>
      <p:sp>
        <p:nvSpPr>
          <p:cNvPr id="11" name="">
            <a:extLst xmlns:a="http://schemas.openxmlformats.org/drawingml/2006/main">
              <a:ext uri="{FF2B5EF4-FFF2-40B4-BE49-F238E27FC236}">
                <a16:creationId xmlns:a16="http://schemas.microsoft.com/office/drawing/2014/main" id="{C53D4DE2-D070-4898-979E-1B03684B792B}"/>
              </a:ext>
            </a:extLst>
          </p:cNvPr>
          <p:cNvSpPr>
            <a:spLocks xmlns:a="http://schemas.openxmlformats.org/drawingml/2006/main" noGrp="1"/>
          </p:cNvSpPr>
          <p:nvPr/>
        </p:nvSpPr>
        <p:spPr>
          <a:xfrm xmlns:a="http://schemas.openxmlformats.org/drawingml/2006/main">
            <a:off x="8953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APRES</a:t>
            </a:r>
          </a:p>
        </p:txBody>
      </p:sp>
      <p:sp>
        <p:nvSpPr>
          <p:cNvPr id="12" name="">
            <a:extLst xmlns:a="http://schemas.openxmlformats.org/drawingml/2006/main">
              <a:ext uri="{FF2B5EF4-FFF2-40B4-BE49-F238E27FC236}">
                <a16:creationId xmlns:a16="http://schemas.microsoft.com/office/drawing/2014/main" id="{B73B309F-DBDA-4DF8-BF36-278FDEE84362}"/>
              </a:ext>
            </a:extLst>
          </p:cNvPr>
          <p:cNvSpPr>
            <a:spLocks xmlns:a="http://schemas.openxmlformats.org/drawingml/2006/main" noGrp="1"/>
          </p:cNvSpPr>
          <p:nvPr/>
        </p:nvSpPr>
        <p:spPr>
          <a:xfrm xmlns:a="http://schemas.openxmlformats.org/drawingml/2006/main">
            <a:off x="895350" y="42100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relance et brouillons assistes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synthese portefeuille pre-preparee pour les revues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signalement des comptes sensibles ou des echeances critiques</a:t>
            </a:r>
          </a:p>
        </p:txBody>
      </p:sp>
      <p:sp>
        <p:nvSpPr>
          <p:cNvPr id="13" name="">
            <a:extLst xmlns:a="http://schemas.openxmlformats.org/drawingml/2006/main">
              <a:ext uri="{FF2B5EF4-FFF2-40B4-BE49-F238E27FC236}">
                <a16:creationId xmlns:a16="http://schemas.microsoft.com/office/drawing/2014/main" id="{337D8908-CD55-49AD-BB16-D13BF6454828}"/>
              </a:ext>
            </a:extLst>
          </p:cNvPr>
          <p:cNvSpPr>
            <a:spLocks xmlns:a="http://schemas.openxmlformats.org/drawingml/2006/main" noGrp="1"/>
          </p:cNvSpPr>
          <p:nvPr/>
        </p:nvSpPr>
        <p:spPr>
          <a:xfrm xmlns:a="http://schemas.openxmlformats.org/drawingml/2006/main">
            <a:off x="895350" y="4972050"/>
            <a:ext cx="46672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2E4DA156-7BA3-49DF-9F94-607ACAA4996D}"/>
              </a:ext>
            </a:extLst>
          </p:cNvPr>
          <p:cNvSpPr>
            <a:spLocks xmlns:a="http://schemas.openxmlformats.org/drawingml/2006/main" noGrp="1"/>
          </p:cNvSpPr>
          <p:nvPr/>
        </p:nvSpPr>
        <p:spPr>
          <a:xfrm xmlns:a="http://schemas.openxmlformats.org/drawingml/2006/main">
            <a:off x="1047750" y="5086350"/>
            <a:ext cx="434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delai de relance | temps preparation revue | visibilite encours en retard</a:t>
            </a:r>
          </a:p>
        </p:txBody>
      </p:sp>
      <p:sp>
        <p:nvSpPr>
          <p:cNvPr id="15" name="">
            <a:extLst xmlns:a="http://schemas.openxmlformats.org/drawingml/2006/main">
              <a:ext uri="{FF2B5EF4-FFF2-40B4-BE49-F238E27FC236}">
                <a16:creationId xmlns:a16="http://schemas.microsoft.com/office/drawing/2014/main" id="{FFBC5C97-2850-4FC1-BD9B-7B3EF82CD4A1}"/>
              </a:ext>
            </a:extLst>
          </p:cNvPr>
          <p:cNvSpPr>
            <a:spLocks xmlns:a="http://schemas.openxmlformats.org/drawingml/2006/main" noGrp="1"/>
          </p:cNvSpPr>
          <p:nvPr/>
        </p:nvSpPr>
        <p:spPr>
          <a:xfrm xmlns:a="http://schemas.openxmlformats.org/drawingml/2006/main">
            <a:off x="6096000" y="2171700"/>
            <a:ext cx="54102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6" name="">
            <a:extLst xmlns:a="http://schemas.openxmlformats.org/drawingml/2006/main">
              <a:ext uri="{FF2B5EF4-FFF2-40B4-BE49-F238E27FC236}">
                <a16:creationId xmlns:a16="http://schemas.microsoft.com/office/drawing/2014/main" id="{6313A6E3-1310-41AB-A730-5EAB1DAA03D0}"/>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04ba369b48f451a">
            <a:extLst>
              <a:ext uri="{96DAC541-7B7A-43D3-8B79-37D633B846F1}">
                <asvg:svgBlip xmlns:asvg="http://schemas.microsoft.com/office/drawing/2016/SVG/main" r:embed="R0548d18376754593"/>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605DD49-D3F6-4339-A9D4-35306661C4A4}"/>
              </a:ext>
            </a:extLst>
          </p:cNvPr>
          <p:cNvSpPr>
            <a:spLocks xmlns:a="http://schemas.openxmlformats.org/drawingml/2006/main" noGrp="1"/>
          </p:cNvSpPr>
          <p:nvPr/>
        </p:nvSpPr>
        <p:spPr>
          <a:xfrm xmlns:a="http://schemas.openxmlformats.org/drawingml/2006/main">
            <a:off x="6838950" y="23622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Flotte, cartes carburant &amp; consommation</a:t>
            </a:r>
          </a:p>
        </p:txBody>
      </p:sp>
      <p:sp>
        <p:nvSpPr>
          <p:cNvPr id="19" name="">
            <a:extLst xmlns:a="http://schemas.openxmlformats.org/drawingml/2006/main">
              <a:ext uri="{FF2B5EF4-FFF2-40B4-BE49-F238E27FC236}">
                <a16:creationId xmlns:a16="http://schemas.microsoft.com/office/drawing/2014/main" id="{9C342DA2-6443-4BAA-9D34-78E41F42430D}"/>
              </a:ext>
            </a:extLst>
          </p:cNvPr>
          <p:cNvSpPr>
            <a:spLocks xmlns:a="http://schemas.openxmlformats.org/drawingml/2006/main" noGrp="1"/>
          </p:cNvSpPr>
          <p:nvPr/>
        </p:nvSpPr>
        <p:spPr>
          <a:xfrm xmlns:a="http://schemas.openxmlformats.org/drawingml/2006/main">
            <a:off x="63055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20" name="">
            <a:extLst xmlns:a="http://schemas.openxmlformats.org/drawingml/2006/main">
              <a:ext uri="{FF2B5EF4-FFF2-40B4-BE49-F238E27FC236}">
                <a16:creationId xmlns:a16="http://schemas.microsoft.com/office/drawing/2014/main" id="{CC45992D-5357-44CA-A274-FEC20EC2641B}"/>
              </a:ext>
            </a:extLst>
          </p:cNvPr>
          <p:cNvSpPr>
            <a:spLocks xmlns:a="http://schemas.openxmlformats.org/drawingml/2006/main" noGrp="1"/>
          </p:cNvSpPr>
          <p:nvPr/>
        </p:nvSpPr>
        <p:spPr>
          <a:xfrm xmlns:a="http://schemas.openxmlformats.org/drawingml/2006/main">
            <a:off x="6305550" y="308610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reporting flotte et carburant peu harmonise</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ecarts detectes tardivement</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lecture difficile des couts par site, vehicule ou periode</a:t>
            </a:r>
          </a:p>
        </p:txBody>
      </p:sp>
      <p:sp>
        <p:nvSpPr>
          <p:cNvPr id="21" name="">
            <a:extLst xmlns:a="http://schemas.openxmlformats.org/drawingml/2006/main">
              <a:ext uri="{FF2B5EF4-FFF2-40B4-BE49-F238E27FC236}">
                <a16:creationId xmlns:a16="http://schemas.microsoft.com/office/drawing/2014/main" id="{F8A039E9-7EF2-49A9-8043-E7803B8322C3}"/>
              </a:ext>
            </a:extLst>
          </p:cNvPr>
          <p:cNvSpPr>
            <a:spLocks xmlns:a="http://schemas.openxmlformats.org/drawingml/2006/main" noGrp="1"/>
          </p:cNvSpPr>
          <p:nvPr/>
        </p:nvSpPr>
        <p:spPr>
          <a:xfrm xmlns:a="http://schemas.openxmlformats.org/drawingml/2006/main">
            <a:off x="63055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APRES</a:t>
            </a:r>
          </a:p>
        </p:txBody>
      </p:sp>
      <p:sp>
        <p:nvSpPr>
          <p:cNvPr id="22" name="">
            <a:extLst xmlns:a="http://schemas.openxmlformats.org/drawingml/2006/main">
              <a:ext uri="{FF2B5EF4-FFF2-40B4-BE49-F238E27FC236}">
                <a16:creationId xmlns:a16="http://schemas.microsoft.com/office/drawing/2014/main" id="{7727CC0E-08CE-4792-AD83-CDC32015A462}"/>
              </a:ext>
            </a:extLst>
          </p:cNvPr>
          <p:cNvSpPr>
            <a:spLocks xmlns:a="http://schemas.openxmlformats.org/drawingml/2006/main" noGrp="1"/>
          </p:cNvSpPr>
          <p:nvPr/>
        </p:nvSpPr>
        <p:spPr>
          <a:xfrm xmlns:a="http://schemas.openxmlformats.org/drawingml/2006/main">
            <a:off x="6305550" y="421005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tableau de bord consolide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alertes sur anomalies de consommation</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comparatifs plus simples pour arbitrer et commenter les ecarts</a:t>
            </a:r>
          </a:p>
        </p:txBody>
      </p:sp>
      <p:sp>
        <p:nvSpPr>
          <p:cNvPr id="23" name="">
            <a:extLst xmlns:a="http://schemas.openxmlformats.org/drawingml/2006/main">
              <a:ext uri="{FF2B5EF4-FFF2-40B4-BE49-F238E27FC236}">
                <a16:creationId xmlns:a16="http://schemas.microsoft.com/office/drawing/2014/main" id="{BA58E3C0-BC9D-448E-A6D7-BAC742F65561}"/>
              </a:ext>
            </a:extLst>
          </p:cNvPr>
          <p:cNvSpPr>
            <a:spLocks xmlns:a="http://schemas.openxmlformats.org/drawingml/2006/main" noGrp="1"/>
          </p:cNvSpPr>
          <p:nvPr/>
        </p:nvSpPr>
        <p:spPr>
          <a:xfrm xmlns:a="http://schemas.openxmlformats.org/drawingml/2006/main">
            <a:off x="6305550" y="4972050"/>
            <a:ext cx="47434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4" name="">
            <a:extLst xmlns:a="http://schemas.openxmlformats.org/drawingml/2006/main">
              <a:ext uri="{FF2B5EF4-FFF2-40B4-BE49-F238E27FC236}">
                <a16:creationId xmlns:a16="http://schemas.microsoft.com/office/drawing/2014/main" id="{49FD0223-FF37-465B-A713-3C02FEFD2970}"/>
              </a:ext>
            </a:extLst>
          </p:cNvPr>
          <p:cNvSpPr>
            <a:spLocks xmlns:a="http://schemas.openxmlformats.org/drawingml/2006/main" noGrp="1"/>
          </p:cNvSpPr>
          <p:nvPr/>
        </p:nvSpPr>
        <p:spPr>
          <a:xfrm xmlns:a="http://schemas.openxmlformats.org/drawingml/2006/main">
            <a:off x="6457950" y="5086350"/>
            <a:ext cx="443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temps de production reporting | anomalies detectees | variation cout carburant</a:t>
            </a:r>
          </a:p>
        </p:txBody>
      </p:sp>
      <p:sp>
        <p:nvSpPr>
          <p:cNvPr id="25" name="">
            <a:extLst xmlns:a="http://schemas.openxmlformats.org/drawingml/2006/main">
              <a:ext uri="{FF2B5EF4-FFF2-40B4-BE49-F238E27FC236}">
                <a16:creationId xmlns:a16="http://schemas.microsoft.com/office/drawing/2014/main" id="{187445FE-52E8-4DA3-9231-B5FC4FAF32F2}"/>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6" name="">
            <a:extLst xmlns:a="http://schemas.openxmlformats.org/drawingml/2006/main">
              <a:ext uri="{FF2B5EF4-FFF2-40B4-BE49-F238E27FC236}">
                <a16:creationId xmlns:a16="http://schemas.microsoft.com/office/drawing/2014/main" id="{8EC3637D-FADD-4E12-A103-F8A7733AC8FC}"/>
              </a:ext>
            </a:extLst>
          </p:cNvPr>
          <p:cNvSpPr>
            <a:spLocks xmlns:a="http://schemas.openxmlformats.org/drawingml/2006/main" noGrp="1"/>
          </p:cNvSpPr>
          <p:nvPr/>
        </p:nvSpPr>
        <p:spPr>
          <a:xfrm xmlns:a="http://schemas.openxmlformats.org/drawingml/2006/main">
            <a:off x="914400" y="5772150"/>
            <a:ext cx="1036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Ces deux flux ont un avantage: ils parlent a la fois a la direction, aux operations et aux equipes metier. Ils permettent donc de montrer tres vite une valeur concrete, sans promettre une transformation trop large des le depart.</a:t>
            </a:r>
          </a:p>
        </p:txBody>
      </p:sp>
      <p:sp>
        <p:nvSpPr>
          <p:cNvPr id="27" name="">
            <a:extLst xmlns:a="http://schemas.openxmlformats.org/drawingml/2006/main">
              <a:ext uri="{FF2B5EF4-FFF2-40B4-BE49-F238E27FC236}">
                <a16:creationId xmlns:a16="http://schemas.microsoft.com/office/drawing/2014/main" id="{DB849E52-68DD-41A0-B0B5-0B7F5620AA35}"/>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50F3B59B-EC01-4DAC-B8F0-5E5C8947DF4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29" name="">
            <a:extLst xmlns:a="http://schemas.openxmlformats.org/drawingml/2006/main">
              <a:ext uri="{FF2B5EF4-FFF2-40B4-BE49-F238E27FC236}">
                <a16:creationId xmlns:a16="http://schemas.microsoft.com/office/drawing/2014/main" id="{2187D61B-3C35-4A71-81AC-452568AED98D}"/>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05</a:t>
            </a:r>
          </a:p>
        </p:txBody>
      </p:sp>
    </p:spTree>
    <p:extLst>
      <p:ext uri="{BB962C8B-B14F-4D97-AF65-F5344CB8AC3E}">
        <p14:creationId xmlns:p14="http://schemas.microsoft.com/office/powerpoint/2010/main" val="1567586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EA6DBF-D483-4F1D-9669-12EB08CCBE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5DF3F48-05D1-40B8-8233-2625EB7C38D9}"/>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DETAIL CAS D'USAGE</a:t>
            </a:r>
          </a:p>
        </p:txBody>
      </p:sp>
      <p:sp>
        <p:nvSpPr>
          <p:cNvPr id="3" name="">
            <a:extLst xmlns:a="http://schemas.openxmlformats.org/drawingml/2006/main">
              <a:ext uri="{FF2B5EF4-FFF2-40B4-BE49-F238E27FC236}">
                <a16:creationId xmlns:a16="http://schemas.microsoft.com/office/drawing/2014/main" id="{4EA9E166-03BE-404F-BEEA-7D3850225804}"/>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cas d'usage qui renforcent la qualite de service et la standardisation</a:t>
            </a:r>
          </a:p>
        </p:txBody>
      </p:sp>
      <p:sp>
        <p:nvSpPr>
          <p:cNvPr id="4" name="">
            <a:extLst xmlns:a="http://schemas.openxmlformats.org/drawingml/2006/main">
              <a:ext uri="{FF2B5EF4-FFF2-40B4-BE49-F238E27FC236}">
                <a16:creationId xmlns:a16="http://schemas.microsoft.com/office/drawing/2014/main" id="{0D5AD1EC-23A5-40EB-BC1F-1FE23844953F}"/>
              </a:ext>
            </a:extLst>
          </p:cNvPr>
          <p:cNvSpPr>
            <a:spLocks xmlns:a="http://schemas.openxmlformats.org/drawingml/2006/main" noGrp="1"/>
          </p:cNvSpPr>
          <p:nvPr/>
        </p:nvSpPr>
        <p:spPr>
          <a:xfrm xmlns:a="http://schemas.openxmlformats.org/drawingml/2006/main">
            <a:off x="685800" y="1676400"/>
            <a:ext cx="914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Ces deux usages rendent aussi la formation plus credible: on apprend sur des situations reelles, pas sur des exemples generiques.</a:t>
            </a:r>
          </a:p>
        </p:txBody>
      </p:sp>
      <p:sp>
        <p:nvSpPr>
          <p:cNvPr id="5" name="">
            <a:extLst xmlns:a="http://schemas.openxmlformats.org/drawingml/2006/main">
              <a:ext uri="{FF2B5EF4-FFF2-40B4-BE49-F238E27FC236}">
                <a16:creationId xmlns:a16="http://schemas.microsoft.com/office/drawing/2014/main" id="{F8F42823-C54E-4100-AECC-A4F5D0B01B2C}"/>
              </a:ext>
            </a:extLst>
          </p:cNvPr>
          <p:cNvSpPr>
            <a:spLocks xmlns:a="http://schemas.openxmlformats.org/drawingml/2006/main" noGrp="1"/>
          </p:cNvSpPr>
          <p:nvPr/>
        </p:nvSpPr>
        <p:spPr>
          <a:xfrm xmlns:a="http://schemas.openxmlformats.org/drawingml/2006/main">
            <a:off x="685800" y="2171700"/>
            <a:ext cx="51435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2A589F64-CDF3-4A92-B4EA-95AE0C5FB869}"/>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47054eed12d46c2">
            <a:extLst>
              <a:ext uri="{96DAC541-7B7A-43D3-8B79-37D633B846F1}">
                <asvg:svgBlip xmlns:asvg="http://schemas.microsoft.com/office/drawing/2016/SVG/main" r:embed="Re4bef474994f4778"/>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E5D54F1-615F-4A6A-B709-2EE231A6DDA6}"/>
              </a:ext>
            </a:extLst>
          </p:cNvPr>
          <p:cNvSpPr>
            <a:spLocks xmlns:a="http://schemas.openxmlformats.org/drawingml/2006/main" noGrp="1"/>
          </p:cNvSpPr>
          <p:nvPr/>
        </p:nvSpPr>
        <p:spPr>
          <a:xfrm xmlns:a="http://schemas.openxmlformats.org/drawingml/2006/main">
            <a:off x="1428750" y="2362200"/>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Service client / service auto</a:t>
            </a:r>
          </a:p>
        </p:txBody>
      </p:sp>
      <p:sp>
        <p:nvSpPr>
          <p:cNvPr id="9" name="">
            <a:extLst xmlns:a="http://schemas.openxmlformats.org/drawingml/2006/main">
              <a:ext uri="{FF2B5EF4-FFF2-40B4-BE49-F238E27FC236}">
                <a16:creationId xmlns:a16="http://schemas.microsoft.com/office/drawing/2014/main" id="{DE76898D-2F34-48E7-B18D-FA73070B1E7F}"/>
              </a:ext>
            </a:extLst>
          </p:cNvPr>
          <p:cNvSpPr>
            <a:spLocks xmlns:a="http://schemas.openxmlformats.org/drawingml/2006/main" noGrp="1"/>
          </p:cNvSpPr>
          <p:nvPr/>
        </p:nvSpPr>
        <p:spPr>
          <a:xfrm xmlns:a="http://schemas.openxmlformats.org/drawingml/2006/main">
            <a:off x="895350" y="285750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proposes</a:t>
            </a:r>
          </a:p>
        </p:txBody>
      </p:sp>
      <p:sp>
        <p:nvSpPr>
          <p:cNvPr id="10" name="">
            <a:extLst xmlns:a="http://schemas.openxmlformats.org/drawingml/2006/main">
              <a:ext uri="{FF2B5EF4-FFF2-40B4-BE49-F238E27FC236}">
                <a16:creationId xmlns:a16="http://schemas.microsoft.com/office/drawing/2014/main" id="{5728B51E-FE40-4340-934C-352BB7903FA2}"/>
              </a:ext>
            </a:extLst>
          </p:cNvPr>
          <p:cNvSpPr>
            <a:spLocks xmlns:a="http://schemas.openxmlformats.org/drawingml/2006/main" noGrp="1"/>
          </p:cNvSpPr>
          <p:nvPr/>
        </p:nvSpPr>
        <p:spPr>
          <a:xfrm xmlns:a="http://schemas.openxmlformats.org/drawingml/2006/main">
            <a:off x="895350" y="3086100"/>
            <a:ext cx="4343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FAQ assistee pour questions recurrentes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reponse ou de rappel</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historique d'interactions mieux exploitable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syntheses rapides avant rappel ou traitement</a:t>
            </a:r>
          </a:p>
        </p:txBody>
      </p:sp>
      <p:sp>
        <p:nvSpPr>
          <p:cNvPr id="11" name="">
            <a:extLst xmlns:a="http://schemas.openxmlformats.org/drawingml/2006/main">
              <a:ext uri="{FF2B5EF4-FFF2-40B4-BE49-F238E27FC236}">
                <a16:creationId xmlns:a16="http://schemas.microsoft.com/office/drawing/2014/main" id="{FDA01318-E8D4-4883-9DBE-5A3CD59DF20B}"/>
              </a:ext>
            </a:extLst>
          </p:cNvPr>
          <p:cNvSpPr>
            <a:spLocks xmlns:a="http://schemas.openxmlformats.org/drawingml/2006/main" noGrp="1"/>
          </p:cNvSpPr>
          <p:nvPr/>
        </p:nvSpPr>
        <p:spPr>
          <a:xfrm xmlns:a="http://schemas.openxmlformats.org/drawingml/2006/main">
            <a:off x="895350" y="4114800"/>
            <a:ext cx="46672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7244CEA6-58BD-4A8B-A2B6-E3F287C46A96}"/>
              </a:ext>
            </a:extLst>
          </p:cNvPr>
          <p:cNvSpPr>
            <a:spLocks xmlns:a="http://schemas.openxmlformats.org/drawingml/2006/main" noGrp="1"/>
          </p:cNvSpPr>
          <p:nvPr/>
        </p:nvSpPr>
        <p:spPr>
          <a:xfrm xmlns:a="http://schemas.openxmlformats.org/drawingml/2006/main">
            <a:off x="1066800" y="4362450"/>
            <a:ext cx="4286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delai de reponse | qualite percue | taux de reouverture / relance | standardisation des scripts</a:t>
            </a:r>
          </a:p>
        </p:txBody>
      </p:sp>
      <p:sp>
        <p:nvSpPr>
          <p:cNvPr id="13" name="">
            <a:extLst xmlns:a="http://schemas.openxmlformats.org/drawingml/2006/main">
              <a:ext uri="{FF2B5EF4-FFF2-40B4-BE49-F238E27FC236}">
                <a16:creationId xmlns:a16="http://schemas.microsoft.com/office/drawing/2014/main" id="{04A23C28-8F5D-424B-AB92-934583CE80FB}"/>
              </a:ext>
            </a:extLst>
          </p:cNvPr>
          <p:cNvSpPr>
            <a:spLocks xmlns:a="http://schemas.openxmlformats.org/drawingml/2006/main" noGrp="1"/>
          </p:cNvSpPr>
          <p:nvPr/>
        </p:nvSpPr>
        <p:spPr>
          <a:xfrm xmlns:a="http://schemas.openxmlformats.org/drawingml/2006/main">
            <a:off x="6096000" y="2171700"/>
            <a:ext cx="54102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8AEC1CEF-F09C-4003-92F2-41422E7B1CA5}"/>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24cad069354e90">
            <a:extLst>
              <a:ext uri="{96DAC541-7B7A-43D3-8B79-37D633B846F1}">
                <asvg:svgBlip xmlns:asvg="http://schemas.microsoft.com/office/drawing/2016/SVG/main" r:embed="R9c2c7b682fb74eb1"/>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0B5A0A0-8C73-49CA-9738-F39BCC94705F}"/>
              </a:ext>
            </a:extLst>
          </p:cNvPr>
          <p:cNvSpPr>
            <a:spLocks xmlns:a="http://schemas.openxmlformats.org/drawingml/2006/main" noGrp="1"/>
          </p:cNvSpPr>
          <p:nvPr/>
        </p:nvSpPr>
        <p:spPr>
          <a:xfrm xmlns:a="http://schemas.openxmlformats.org/drawingml/2006/main">
            <a:off x="6838950" y="2362200"/>
            <a:ext cx="4114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Procedures internes &amp; knowledge base</a:t>
            </a:r>
          </a:p>
        </p:txBody>
      </p:sp>
      <p:sp>
        <p:nvSpPr>
          <p:cNvPr id="17" name="">
            <a:extLst xmlns:a="http://schemas.openxmlformats.org/drawingml/2006/main">
              <a:ext uri="{FF2B5EF4-FFF2-40B4-BE49-F238E27FC236}">
                <a16:creationId xmlns:a16="http://schemas.microsoft.com/office/drawing/2014/main" id="{0DFA1EB7-473F-4CBE-B15E-CE1552520E04}"/>
              </a:ext>
            </a:extLst>
          </p:cNvPr>
          <p:cNvSpPr>
            <a:spLocks xmlns:a="http://schemas.openxmlformats.org/drawingml/2006/main" noGrp="1"/>
          </p:cNvSpPr>
          <p:nvPr/>
        </p:nvSpPr>
        <p:spPr>
          <a:xfrm xmlns:a="http://schemas.openxmlformats.org/drawingml/2006/main">
            <a:off x="6305550" y="285750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proposes</a:t>
            </a:r>
          </a:p>
        </p:txBody>
      </p:sp>
      <p:sp>
        <p:nvSpPr>
          <p:cNvPr id="18" name="">
            <a:extLst xmlns:a="http://schemas.openxmlformats.org/drawingml/2006/main">
              <a:ext uri="{FF2B5EF4-FFF2-40B4-BE49-F238E27FC236}">
                <a16:creationId xmlns:a16="http://schemas.microsoft.com/office/drawing/2014/main" id="{B507E236-63C5-42EF-9950-1C955C1E03A4}"/>
              </a:ext>
            </a:extLst>
          </p:cNvPr>
          <p:cNvSpPr>
            <a:spLocks xmlns:a="http://schemas.openxmlformats.org/drawingml/2006/main" noGrp="1"/>
          </p:cNvSpPr>
          <p:nvPr/>
        </p:nvSpPr>
        <p:spPr>
          <a:xfrm xmlns:a="http://schemas.openxmlformats.org/drawingml/2006/main">
            <a:off x="6305550" y="3086100"/>
            <a:ext cx="46672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base procedure consultable rapidement</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reponses homognes pour les equipes support et metier</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onboarding accelere sur standards, scripts et points de controle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diffusion plus simple des mises a jour internes</a:t>
            </a:r>
          </a:p>
        </p:txBody>
      </p:sp>
      <p:sp>
        <p:nvSpPr>
          <p:cNvPr id="19" name="">
            <a:extLst xmlns:a="http://schemas.openxmlformats.org/drawingml/2006/main">
              <a:ext uri="{FF2B5EF4-FFF2-40B4-BE49-F238E27FC236}">
                <a16:creationId xmlns:a16="http://schemas.microsoft.com/office/drawing/2014/main" id="{EFDF035C-CBE7-4196-A167-EE853B4414BF}"/>
              </a:ext>
            </a:extLst>
          </p:cNvPr>
          <p:cNvSpPr>
            <a:spLocks xmlns:a="http://schemas.openxmlformats.org/drawingml/2006/main" noGrp="1"/>
          </p:cNvSpPr>
          <p:nvPr/>
        </p:nvSpPr>
        <p:spPr>
          <a:xfrm xmlns:a="http://schemas.openxmlformats.org/drawingml/2006/main">
            <a:off x="6305550" y="4114800"/>
            <a:ext cx="47434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E56D9F51-71AF-40D3-AB28-545EEDD72228}"/>
              </a:ext>
            </a:extLst>
          </p:cNvPr>
          <p:cNvSpPr>
            <a:spLocks xmlns:a="http://schemas.openxmlformats.org/drawingml/2006/main" noGrp="1"/>
          </p:cNvSpPr>
          <p:nvPr/>
        </p:nvSpPr>
        <p:spPr>
          <a:xfrm xmlns:a="http://schemas.openxmlformats.org/drawingml/2006/main">
            <a:off x="6477000" y="4362450"/>
            <a:ext cx="438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temps de recherche d'information | temps d'onboarding | taux d'usage de la base interne</a:t>
            </a:r>
          </a:p>
        </p:txBody>
      </p:sp>
      <p:sp>
        <p:nvSpPr>
          <p:cNvPr id="21" name="">
            <a:extLst xmlns:a="http://schemas.openxmlformats.org/drawingml/2006/main">
              <a:ext uri="{FF2B5EF4-FFF2-40B4-BE49-F238E27FC236}">
                <a16:creationId xmlns:a16="http://schemas.microsoft.com/office/drawing/2014/main" id="{35358A54-BF13-4BA6-9290-1B90E2C3989E}"/>
              </a:ext>
            </a:extLst>
          </p:cNvPr>
          <p:cNvSpPr>
            <a:spLocks xmlns:a="http://schemas.openxmlformats.org/drawingml/2006/main" noGrp="1"/>
          </p:cNvSpPr>
          <p:nvPr/>
        </p:nvSpPr>
        <p:spPr>
          <a:xfrm xmlns:a="http://schemas.openxmlformats.org/drawingml/2006/main">
            <a:off x="685800" y="5391150"/>
            <a:ext cx="10820400" cy="762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22" name="">
            <a:extLst xmlns:a="http://schemas.openxmlformats.org/drawingml/2006/main">
              <a:ext uri="{FF2B5EF4-FFF2-40B4-BE49-F238E27FC236}">
                <a16:creationId xmlns:a16="http://schemas.microsoft.com/office/drawing/2014/main" id="{7D18916E-8745-419C-87DF-52A7B41C29F6}"/>
              </a:ext>
            </a:extLst>
          </p:cNvPr>
          <p:cNvSpPr>
            <a:spLocks xmlns:a="http://schemas.openxmlformats.org/drawingml/2006/main" noGrp="1"/>
          </p:cNvSpPr>
          <p:nvPr/>
        </p:nvSpPr>
        <p:spPr>
          <a:xfrm xmlns:a="http://schemas.openxmlformats.org/drawingml/2006/main">
            <a:off x="914400" y="5581650"/>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F5EF"/>
                </a:solidFill>
                <a:latin typeface="Aptos"/>
                <a:ea typeface="Aptos"/>
                <a:cs typeface="Aptos"/>
              </a:defRPr>
            </a:pPr>
            <a:r>
              <a:rPr sz="750" b="1">
                <a:solidFill>
                  <a:srgbClr val="DDF5EF"/>
                </a:solidFill>
                <a:latin typeface="Aptos"/>
                <a:ea typeface="Aptos"/>
                <a:cs typeface="Aptos"/>
              </a:rPr>
              <a:t>Pourquoi cette slide compte</a:t>
            </a:r>
          </a:p>
        </p:txBody>
      </p:sp>
      <p:sp>
        <p:nvSpPr>
          <p:cNvPr id="23" name="">
            <a:extLst xmlns:a="http://schemas.openxmlformats.org/drawingml/2006/main">
              <a:ext uri="{FF2B5EF4-FFF2-40B4-BE49-F238E27FC236}">
                <a16:creationId xmlns:a16="http://schemas.microsoft.com/office/drawing/2014/main" id="{A2FF097C-BE65-456F-9955-F53CA8E4E6AC}"/>
              </a:ext>
            </a:extLst>
          </p:cNvPr>
          <p:cNvSpPr>
            <a:spLocks xmlns:a="http://schemas.openxmlformats.org/drawingml/2006/main" noGrp="1"/>
          </p:cNvSpPr>
          <p:nvPr/>
        </p:nvSpPr>
        <p:spPr>
          <a:xfrm xmlns:a="http://schemas.openxmlformats.org/drawingml/2006/main">
            <a:off x="914400" y="5791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La formation devient credible quand elle prepare des usages visibles.</a:t>
            </a:r>
          </a:p>
        </p:txBody>
      </p:sp>
      <p:sp>
        <p:nvSpPr>
          <p:cNvPr id="24" name="">
            <a:extLst xmlns:a="http://schemas.openxmlformats.org/drawingml/2006/main">
              <a:ext uri="{FF2B5EF4-FFF2-40B4-BE49-F238E27FC236}">
                <a16:creationId xmlns:a16="http://schemas.microsoft.com/office/drawing/2014/main" id="{A9BA989C-5213-46FD-93B1-9729080A0793}"/>
              </a:ext>
            </a:extLst>
          </p:cNvPr>
          <p:cNvSpPr>
            <a:spLocks xmlns:a="http://schemas.openxmlformats.org/drawingml/2006/main" noGrp="1"/>
          </p:cNvSpPr>
          <p:nvPr/>
        </p:nvSpPr>
        <p:spPr>
          <a:xfrm xmlns:a="http://schemas.openxmlformats.org/drawingml/2006/main">
            <a:off x="6667500" y="57340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Pour ELTON CI, cela permet d'eviter un discours abstrait: les equipes voient tout de suite sur quels gestes metier l'IA doit les aider.</a:t>
            </a:r>
          </a:p>
        </p:txBody>
      </p:sp>
      <p:sp>
        <p:nvSpPr>
          <p:cNvPr id="25" name="">
            <a:extLst xmlns:a="http://schemas.openxmlformats.org/drawingml/2006/main">
              <a:ext uri="{FF2B5EF4-FFF2-40B4-BE49-F238E27FC236}">
                <a16:creationId xmlns:a16="http://schemas.microsoft.com/office/drawing/2014/main" id="{C7D90157-0486-40DB-8609-18244457144B}"/>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C769034-FD4F-4F1E-92CE-0C5C635760FF}"/>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27" name="">
            <a:extLst xmlns:a="http://schemas.openxmlformats.org/drawingml/2006/main">
              <a:ext uri="{FF2B5EF4-FFF2-40B4-BE49-F238E27FC236}">
                <a16:creationId xmlns:a16="http://schemas.microsoft.com/office/drawing/2014/main" id="{5AB96C96-BAD3-43B1-A654-B812D1664CF1}"/>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06</a:t>
            </a:r>
          </a:p>
        </p:txBody>
      </p:sp>
    </p:spTree>
    <p:extLst>
      <p:ext uri="{BB962C8B-B14F-4D97-AF65-F5344CB8AC3E}">
        <p14:creationId xmlns:p14="http://schemas.microsoft.com/office/powerpoint/2010/main" val="467818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8FAEAF-8BD3-4040-9381-1125127653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3F46861-0BE5-4184-AA04-2A43A6112263}"/>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PARCOURS 90 JOURS</a:t>
            </a:r>
          </a:p>
        </p:txBody>
      </p:sp>
      <p:sp>
        <p:nvSpPr>
          <p:cNvPr id="3" name="">
            <a:extLst xmlns:a="http://schemas.openxmlformats.org/drawingml/2006/main">
              <a:ext uri="{FF2B5EF4-FFF2-40B4-BE49-F238E27FC236}">
                <a16:creationId xmlns:a16="http://schemas.microsoft.com/office/drawing/2014/main" id="{4823198E-0FDF-40F9-9363-07B9D34E435B}"/>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sequence recommandee pour passer du cadrage au pilote</a:t>
            </a:r>
          </a:p>
        </p:txBody>
      </p:sp>
      <p:sp>
        <p:nvSpPr>
          <p:cNvPr id="4" name="">
            <a:extLst xmlns:a="http://schemas.openxmlformats.org/drawingml/2006/main">
              <a:ext uri="{FF2B5EF4-FFF2-40B4-BE49-F238E27FC236}">
                <a16:creationId xmlns:a16="http://schemas.microsoft.com/office/drawing/2014/main" id="{FCB491DE-15A3-4526-BF82-52D769F67C63}"/>
              </a:ext>
            </a:extLst>
          </p:cNvPr>
          <p:cNvSpPr>
            <a:spLocks xmlns:a="http://schemas.openxmlformats.org/drawingml/2006/main" noGrp="1"/>
          </p:cNvSpPr>
          <p:nvPr/>
        </p:nvSpPr>
        <p:spPr>
          <a:xfrm xmlns:a="http://schemas.openxmlformats.org/drawingml/2006/main">
            <a:off x="685800" y="1676400"/>
            <a:ext cx="895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bon scenario n'est pas de tout vendre d'un bloc, mais d'enchainer les etapes utiles dans le bon ordre, avec validation a chaque palier.</a:t>
            </a:r>
          </a:p>
        </p:txBody>
      </p:sp>
      <p:sp>
        <p:nvSpPr>
          <p:cNvPr id="5" name="">
            <a:extLst xmlns:a="http://schemas.openxmlformats.org/drawingml/2006/main">
              <a:ext uri="{FF2B5EF4-FFF2-40B4-BE49-F238E27FC236}">
                <a16:creationId xmlns:a16="http://schemas.microsoft.com/office/drawing/2014/main" id="{5C426E29-4936-4A79-B64D-F8434FB7235E}"/>
              </a:ext>
            </a:extLst>
          </p:cNvPr>
          <p:cNvSpPr>
            <a:spLocks xmlns:a="http://schemas.openxmlformats.org/drawingml/2006/main" noGrp="1"/>
          </p:cNvSpPr>
          <p:nvPr/>
        </p:nvSpPr>
        <p:spPr>
          <a:xfrm xmlns:a="http://schemas.openxmlformats.org/drawingml/2006/main">
            <a:off x="685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71CEFBC1-9777-4653-9A16-941C23317581}"/>
              </a:ext>
            </a:extLst>
          </p:cNvPr>
          <p:cNvSpPr>
            <a:spLocks xmlns:a="http://schemas.openxmlformats.org/drawingml/2006/main" noGrp="1"/>
          </p:cNvSpPr>
          <p:nvPr/>
        </p:nvSpPr>
        <p:spPr>
          <a:xfrm xmlns:a="http://schemas.openxmlformats.org/drawingml/2006/main">
            <a:off x="857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E76F1D"/>
                </a:solidFill>
                <a:latin typeface="Aptos Display"/>
                <a:ea typeface="Aptos Display"/>
                <a:cs typeface="Aptos Display"/>
              </a:defRPr>
            </a:pPr>
            <a:r>
              <a:rPr sz="1500" b="1">
                <a:solidFill>
                  <a:srgbClr val="E76F1D"/>
                </a:solidFill>
                <a:latin typeface="Aptos Display"/>
                <a:ea typeface="Aptos Display"/>
                <a:cs typeface="Aptos Display"/>
              </a:rPr>
              <a:t>01</a:t>
            </a:r>
          </a:p>
        </p:txBody>
      </p:sp>
      <p:sp>
        <p:nvSpPr>
          <p:cNvPr id="7" name="">
            <a:extLst xmlns:a="http://schemas.openxmlformats.org/drawingml/2006/main">
              <a:ext uri="{FF2B5EF4-FFF2-40B4-BE49-F238E27FC236}">
                <a16:creationId xmlns:a16="http://schemas.microsoft.com/office/drawing/2014/main" id="{C5806823-6B5E-45DC-BFF2-84826FB66EAC}"/>
              </a:ext>
            </a:extLst>
          </p:cNvPr>
          <p:cNvSpPr>
            <a:spLocks xmlns:a="http://schemas.openxmlformats.org/drawingml/2006/main" noGrp="1"/>
          </p:cNvSpPr>
          <p:nvPr/>
        </p:nvSpPr>
        <p:spPr>
          <a:xfrm xmlns:a="http://schemas.openxmlformats.org/drawingml/2006/main">
            <a:off x="857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J+0 | Audit &amp; cadrage</a:t>
            </a:r>
          </a:p>
        </p:txBody>
      </p:sp>
      <p:sp>
        <p:nvSpPr>
          <p:cNvPr id="8" name="">
            <a:extLst xmlns:a="http://schemas.openxmlformats.org/drawingml/2006/main">
              <a:ext uri="{FF2B5EF4-FFF2-40B4-BE49-F238E27FC236}">
                <a16:creationId xmlns:a16="http://schemas.microsoft.com/office/drawing/2014/main" id="{20A0EB1B-793B-4850-8453-D20B59E7E251}"/>
              </a:ext>
            </a:extLst>
          </p:cNvPr>
          <p:cNvSpPr>
            <a:spLocks xmlns:a="http://schemas.openxmlformats.org/drawingml/2006/main" noGrp="1"/>
          </p:cNvSpPr>
          <p:nvPr/>
        </p:nvSpPr>
        <p:spPr>
          <a:xfrm xmlns:a="http://schemas.openxmlformats.org/drawingml/2006/main">
            <a:off x="857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Cartographier les irritants, choisir les cas d'usage prioritaires et definir les KPI de preuve.</a:t>
            </a:r>
          </a:p>
        </p:txBody>
      </p:sp>
      <p:sp>
        <p:nvSpPr>
          <p:cNvPr id="9" name="">
            <a:extLst xmlns:a="http://schemas.openxmlformats.org/drawingml/2006/main">
              <a:ext uri="{FF2B5EF4-FFF2-40B4-BE49-F238E27FC236}">
                <a16:creationId xmlns:a16="http://schemas.microsoft.com/office/drawing/2014/main" id="{221E0D04-A907-4D46-80D6-7396EDD99CE3}"/>
              </a:ext>
            </a:extLst>
          </p:cNvPr>
          <p:cNvSpPr>
            <a:spLocks xmlns:a="http://schemas.openxmlformats.org/drawingml/2006/main" noGrp="1"/>
          </p:cNvSpPr>
          <p:nvPr/>
        </p:nvSpPr>
        <p:spPr>
          <a:xfrm xmlns:a="http://schemas.openxmlformats.org/drawingml/2006/main">
            <a:off x="3352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884D1934-7B62-4986-B9CE-FB6FDBF9012A}"/>
              </a:ext>
            </a:extLst>
          </p:cNvPr>
          <p:cNvSpPr>
            <a:spLocks xmlns:a="http://schemas.openxmlformats.org/drawingml/2006/main" noGrp="1"/>
          </p:cNvSpPr>
          <p:nvPr/>
        </p:nvSpPr>
        <p:spPr>
          <a:xfrm xmlns:a="http://schemas.openxmlformats.org/drawingml/2006/main">
            <a:off x="3524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C8A78"/>
                </a:solidFill>
                <a:latin typeface="Aptos Display"/>
                <a:ea typeface="Aptos Display"/>
                <a:cs typeface="Aptos Display"/>
              </a:defRPr>
            </a:pPr>
            <a:r>
              <a:rPr sz="1500" b="1">
                <a:solidFill>
                  <a:srgbClr val="1C8A78"/>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37CB0EBB-793C-45F4-B059-C4C4E247BA43}"/>
              </a:ext>
            </a:extLst>
          </p:cNvPr>
          <p:cNvSpPr>
            <a:spLocks xmlns:a="http://schemas.openxmlformats.org/drawingml/2006/main" noGrp="1"/>
          </p:cNvSpPr>
          <p:nvPr/>
        </p:nvSpPr>
        <p:spPr>
          <a:xfrm xmlns:a="http://schemas.openxmlformats.org/drawingml/2006/main">
            <a:off x="3524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J+15 | Prototype cible</a:t>
            </a:r>
          </a:p>
        </p:txBody>
      </p:sp>
      <p:sp>
        <p:nvSpPr>
          <p:cNvPr id="12" name="">
            <a:extLst xmlns:a="http://schemas.openxmlformats.org/drawingml/2006/main">
              <a:ext uri="{FF2B5EF4-FFF2-40B4-BE49-F238E27FC236}">
                <a16:creationId xmlns:a16="http://schemas.microsoft.com/office/drawing/2014/main" id="{76236302-C87C-4BB1-BE53-E30799721048}"/>
              </a:ext>
            </a:extLst>
          </p:cNvPr>
          <p:cNvSpPr>
            <a:spLocks xmlns:a="http://schemas.openxmlformats.org/drawingml/2006/main" noGrp="1"/>
          </p:cNvSpPr>
          <p:nvPr/>
        </p:nvSpPr>
        <p:spPr>
          <a:xfrm xmlns:a="http://schemas.openxmlformats.org/drawingml/2006/main">
            <a:off x="3524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Produire un premier livrable exploitable: synthese, tableau de bord, assistant ou routine de pilotage.</a:t>
            </a:r>
          </a:p>
        </p:txBody>
      </p:sp>
      <p:sp>
        <p:nvSpPr>
          <p:cNvPr id="13" name="">
            <a:extLst xmlns:a="http://schemas.openxmlformats.org/drawingml/2006/main">
              <a:ext uri="{FF2B5EF4-FFF2-40B4-BE49-F238E27FC236}">
                <a16:creationId xmlns:a16="http://schemas.microsoft.com/office/drawing/2014/main" id="{A9FA839D-8E91-45BB-942A-0F586A64E83C}"/>
              </a:ext>
            </a:extLst>
          </p:cNvPr>
          <p:cNvSpPr>
            <a:spLocks xmlns:a="http://schemas.openxmlformats.org/drawingml/2006/main" noGrp="1"/>
          </p:cNvSpPr>
          <p:nvPr/>
        </p:nvSpPr>
        <p:spPr>
          <a:xfrm xmlns:a="http://schemas.openxmlformats.org/drawingml/2006/main">
            <a:off x="6019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8014103C-55F9-42D3-91BD-DADA1551EA1F}"/>
              </a:ext>
            </a:extLst>
          </p:cNvPr>
          <p:cNvSpPr>
            <a:spLocks xmlns:a="http://schemas.openxmlformats.org/drawingml/2006/main" noGrp="1"/>
          </p:cNvSpPr>
          <p:nvPr/>
        </p:nvSpPr>
        <p:spPr>
          <a:xfrm xmlns:a="http://schemas.openxmlformats.org/drawingml/2006/main">
            <a:off x="6191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3556"/>
                </a:solidFill>
                <a:latin typeface="Aptos Display"/>
                <a:ea typeface="Aptos Display"/>
                <a:cs typeface="Aptos Display"/>
              </a:defRPr>
            </a:pPr>
            <a:r>
              <a:rPr sz="1500" b="1">
                <a:solidFill>
                  <a:srgbClr val="163556"/>
                </a:solidFill>
                <a:latin typeface="Aptos Display"/>
                <a:ea typeface="Aptos Display"/>
                <a:cs typeface="Aptos Display"/>
              </a:rPr>
              <a:t>03</a:t>
            </a:r>
          </a:p>
        </p:txBody>
      </p:sp>
      <p:sp>
        <p:nvSpPr>
          <p:cNvPr id="15" name="">
            <a:extLst xmlns:a="http://schemas.openxmlformats.org/drawingml/2006/main">
              <a:ext uri="{FF2B5EF4-FFF2-40B4-BE49-F238E27FC236}">
                <a16:creationId xmlns:a16="http://schemas.microsoft.com/office/drawing/2014/main" id="{A2B62157-A191-43E0-A674-18FDE7E462B6}"/>
              </a:ext>
            </a:extLst>
          </p:cNvPr>
          <p:cNvSpPr>
            <a:spLocks xmlns:a="http://schemas.openxmlformats.org/drawingml/2006/main" noGrp="1"/>
          </p:cNvSpPr>
          <p:nvPr/>
        </p:nvSpPr>
        <p:spPr>
          <a:xfrm xmlns:a="http://schemas.openxmlformats.org/drawingml/2006/main">
            <a:off x="6191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J+45 | Formation &amp; pilote</a:t>
            </a:r>
          </a:p>
        </p:txBody>
      </p:sp>
      <p:sp>
        <p:nvSpPr>
          <p:cNvPr id="16" name="">
            <a:extLst xmlns:a="http://schemas.openxmlformats.org/drawingml/2006/main">
              <a:ext uri="{FF2B5EF4-FFF2-40B4-BE49-F238E27FC236}">
                <a16:creationId xmlns:a16="http://schemas.microsoft.com/office/drawing/2014/main" id="{A9CD6617-4772-4B6E-A7F4-0F8A1F588F3B}"/>
              </a:ext>
            </a:extLst>
          </p:cNvPr>
          <p:cNvSpPr>
            <a:spLocks xmlns:a="http://schemas.openxmlformats.org/drawingml/2006/main" noGrp="1"/>
          </p:cNvSpPr>
          <p:nvPr/>
        </p:nvSpPr>
        <p:spPr>
          <a:xfrm xmlns:a="http://schemas.openxmlformats.org/drawingml/2006/main">
            <a:off x="6191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Former la bonne population et lancer le pilote sur un flux concret, avec supervision et revue metier.</a:t>
            </a:r>
          </a:p>
        </p:txBody>
      </p:sp>
      <p:sp>
        <p:nvSpPr>
          <p:cNvPr id="17" name="">
            <a:extLst xmlns:a="http://schemas.openxmlformats.org/drawingml/2006/main">
              <a:ext uri="{FF2B5EF4-FFF2-40B4-BE49-F238E27FC236}">
                <a16:creationId xmlns:a16="http://schemas.microsoft.com/office/drawing/2014/main" id="{BC0AFDF1-7B6F-4741-854D-CE0893B2B5BB}"/>
              </a:ext>
            </a:extLst>
          </p:cNvPr>
          <p:cNvSpPr>
            <a:spLocks xmlns:a="http://schemas.openxmlformats.org/drawingml/2006/main" noGrp="1"/>
          </p:cNvSpPr>
          <p:nvPr/>
        </p:nvSpPr>
        <p:spPr>
          <a:xfrm xmlns:a="http://schemas.openxmlformats.org/drawingml/2006/main">
            <a:off x="8686800" y="2247900"/>
            <a:ext cx="2819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FA22D7B3-032C-4A50-879D-E29E232797E1}"/>
              </a:ext>
            </a:extLst>
          </p:cNvPr>
          <p:cNvSpPr>
            <a:spLocks xmlns:a="http://schemas.openxmlformats.org/drawingml/2006/main" noGrp="1"/>
          </p:cNvSpPr>
          <p:nvPr/>
        </p:nvSpPr>
        <p:spPr>
          <a:xfrm xmlns:a="http://schemas.openxmlformats.org/drawingml/2006/main">
            <a:off x="8858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C88C3A"/>
                </a:solidFill>
                <a:latin typeface="Aptos Display"/>
                <a:ea typeface="Aptos Display"/>
                <a:cs typeface="Aptos Display"/>
              </a:defRPr>
            </a:pPr>
            <a:r>
              <a:rPr sz="1500" b="1">
                <a:solidFill>
                  <a:srgbClr val="C88C3A"/>
                </a:solidFill>
                <a:latin typeface="Aptos Display"/>
                <a:ea typeface="Aptos Display"/>
                <a:cs typeface="Aptos Display"/>
              </a:rPr>
              <a:t>04</a:t>
            </a:r>
          </a:p>
        </p:txBody>
      </p:sp>
      <p:sp>
        <p:nvSpPr>
          <p:cNvPr id="19" name="">
            <a:extLst xmlns:a="http://schemas.openxmlformats.org/drawingml/2006/main">
              <a:ext uri="{FF2B5EF4-FFF2-40B4-BE49-F238E27FC236}">
                <a16:creationId xmlns:a16="http://schemas.microsoft.com/office/drawing/2014/main" id="{19AAF45B-D71C-43EB-B906-F14B5DF83216}"/>
              </a:ext>
            </a:extLst>
          </p:cNvPr>
          <p:cNvSpPr>
            <a:spLocks xmlns:a="http://schemas.openxmlformats.org/drawingml/2006/main" noGrp="1"/>
          </p:cNvSpPr>
          <p:nvPr/>
        </p:nvSpPr>
        <p:spPr>
          <a:xfrm xmlns:a="http://schemas.openxmlformats.org/drawingml/2006/main">
            <a:off x="8858250" y="2762250"/>
            <a:ext cx="2476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J+90 | ROI &amp; extension</a:t>
            </a:r>
          </a:p>
        </p:txBody>
      </p:sp>
      <p:sp>
        <p:nvSpPr>
          <p:cNvPr id="20" name="">
            <a:extLst xmlns:a="http://schemas.openxmlformats.org/drawingml/2006/main">
              <a:ext uri="{FF2B5EF4-FFF2-40B4-BE49-F238E27FC236}">
                <a16:creationId xmlns:a16="http://schemas.microsoft.com/office/drawing/2014/main" id="{6C3A8AB2-E6FE-44E6-B428-1BA63F9DD57C}"/>
              </a:ext>
            </a:extLst>
          </p:cNvPr>
          <p:cNvSpPr>
            <a:spLocks xmlns:a="http://schemas.openxmlformats.org/drawingml/2006/main" noGrp="1"/>
          </p:cNvSpPr>
          <p:nvPr/>
        </p:nvSpPr>
        <p:spPr>
          <a:xfrm xmlns:a="http://schemas.openxmlformats.org/drawingml/2006/main">
            <a:off x="8858250" y="3333750"/>
            <a:ext cx="247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Mesurer les premiers resultats, documenter les apprentissages et decider ce qui merite d'etre etendu.</a:t>
            </a:r>
          </a:p>
        </p:txBody>
      </p:sp>
      <p:sp>
        <p:nvSpPr>
          <p:cNvPr id="21" name="">
            <a:extLst xmlns:a="http://schemas.openxmlformats.org/drawingml/2006/main">
              <a:ext uri="{FF2B5EF4-FFF2-40B4-BE49-F238E27FC236}">
                <a16:creationId xmlns:a16="http://schemas.microsoft.com/office/drawing/2014/main" id="{8AA55CE7-4398-4947-9DAC-6330E001C5D6}"/>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2" name="">
            <a:extLst xmlns:a="http://schemas.openxmlformats.org/drawingml/2006/main">
              <a:ext uri="{FF2B5EF4-FFF2-40B4-BE49-F238E27FC236}">
                <a16:creationId xmlns:a16="http://schemas.microsoft.com/office/drawing/2014/main" id="{DF7F6FC8-A423-4CD8-97EA-02AAE8822E71}"/>
              </a:ext>
            </a:extLst>
          </p:cNvPr>
          <p:cNvSpPr>
            <a:spLocks xmlns:a="http://schemas.openxmlformats.org/drawingml/2006/main" noGrp="1"/>
          </p:cNvSpPr>
          <p:nvPr/>
        </p:nvSpPr>
        <p:spPr>
          <a:xfrm xmlns:a="http://schemas.openxmlformats.org/drawingml/2006/main">
            <a:off x="914400" y="51625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Ce qu'ELTON CI obtient a chaque etape</a:t>
            </a:r>
          </a:p>
        </p:txBody>
      </p:sp>
      <p:sp>
        <p:nvSpPr>
          <p:cNvPr id="23" name="">
            <a:extLst xmlns:a="http://schemas.openxmlformats.org/drawingml/2006/main">
              <a:ext uri="{FF2B5EF4-FFF2-40B4-BE49-F238E27FC236}">
                <a16:creationId xmlns:a16="http://schemas.microsoft.com/office/drawing/2014/main" id="{0AA8A9A0-B47A-4474-959F-465AC6120D7E}"/>
              </a:ext>
            </a:extLst>
          </p:cNvPr>
          <p:cNvSpPr>
            <a:spLocks xmlns:a="http://schemas.openxmlformats.org/drawingml/2006/main" noGrp="1"/>
          </p:cNvSpPr>
          <p:nvPr/>
        </p:nvSpPr>
        <p:spPr>
          <a:xfrm xmlns:a="http://schemas.openxmlformats.org/drawingml/2006/main">
            <a:off x="914400" y="5391150"/>
            <a:ext cx="2476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priorites mieux choisies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cas d'usage mieux qualifies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formation plus ciblee</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decision plus simple sur le passage a l'echelle</a:t>
            </a:r>
          </a:p>
        </p:txBody>
      </p:sp>
      <p:sp>
        <p:nvSpPr>
          <p:cNvPr id="24" name="">
            <a:extLst xmlns:a="http://schemas.openxmlformats.org/drawingml/2006/main">
              <a:ext uri="{FF2B5EF4-FFF2-40B4-BE49-F238E27FC236}">
                <a16:creationId xmlns:a16="http://schemas.microsoft.com/office/drawing/2014/main" id="{02922D2D-0479-4902-BED2-C1918EB2F21B}"/>
              </a:ext>
            </a:extLst>
          </p:cNvPr>
          <p:cNvSpPr>
            <a:spLocks xmlns:a="http://schemas.openxmlformats.org/drawingml/2006/main" noGrp="1"/>
          </p:cNvSpPr>
          <p:nvPr/>
        </p:nvSpPr>
        <p:spPr>
          <a:xfrm xmlns:a="http://schemas.openxmlformats.org/drawingml/2006/main">
            <a:off x="3943350" y="5505450"/>
            <a:ext cx="7010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D7E5F3"/>
                </a:solidFill>
                <a:latin typeface="Aptos"/>
                <a:ea typeface="Aptos"/>
                <a:cs typeface="Aptos"/>
              </a:defRPr>
            </a:pPr>
            <a:r>
              <a:rPr sz="938" b="1">
                <a:solidFill>
                  <a:srgbClr val="D7E5F3"/>
                </a:solidFill>
                <a:latin typeface="Aptos"/>
                <a:ea typeface="Aptos"/>
                <a:cs typeface="Aptos"/>
              </a:rPr>
              <a:t>Principe de gouvernance: aucun passage a l'etape suivante sans validation des livrables, des acces et des usages autorises.</a:t>
            </a:r>
          </a:p>
        </p:txBody>
      </p:sp>
      <p:sp>
        <p:nvSpPr>
          <p:cNvPr id="25" name="">
            <a:extLst xmlns:a="http://schemas.openxmlformats.org/drawingml/2006/main">
              <a:ext uri="{FF2B5EF4-FFF2-40B4-BE49-F238E27FC236}">
                <a16:creationId xmlns:a16="http://schemas.microsoft.com/office/drawing/2014/main" id="{85554B0C-97C5-4F6E-9A5B-71690D35AD6A}"/>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D40F2D2-9BD3-4695-BE5C-1270634F1D19}"/>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27" name="">
            <a:extLst xmlns:a="http://schemas.openxmlformats.org/drawingml/2006/main">
              <a:ext uri="{FF2B5EF4-FFF2-40B4-BE49-F238E27FC236}">
                <a16:creationId xmlns:a16="http://schemas.microsoft.com/office/drawing/2014/main" id="{0BD258E6-AC4E-4FBF-957D-377028C61D65}"/>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07</a:t>
            </a:r>
          </a:p>
        </p:txBody>
      </p:sp>
    </p:spTree>
    <p:extLst>
      <p:ext uri="{BB962C8B-B14F-4D97-AF65-F5344CB8AC3E}">
        <p14:creationId xmlns:p14="http://schemas.microsoft.com/office/powerpoint/2010/main" val="81825225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833966-A231-4961-B07B-275D6175F7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51B26B4-B192-40C9-A985-F6F30C3207C9}"/>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OFFRE RECOMMANDEE</a:t>
            </a:r>
          </a:p>
        </p:txBody>
      </p:sp>
      <p:sp>
        <p:nvSpPr>
          <p:cNvPr id="3" name="">
            <a:extLst xmlns:a="http://schemas.openxmlformats.org/drawingml/2006/main">
              <a:ext uri="{FF2B5EF4-FFF2-40B4-BE49-F238E27FC236}">
                <a16:creationId xmlns:a16="http://schemas.microsoft.com/office/drawing/2014/main" id="{3F67F50B-430A-4F7E-9290-D8A25F4C4F8E}"/>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proposition TransferAI pour ELTON CI</a:t>
            </a:r>
          </a:p>
        </p:txBody>
      </p:sp>
      <p:sp>
        <p:nvSpPr>
          <p:cNvPr id="4" name="">
            <a:extLst xmlns:a="http://schemas.openxmlformats.org/drawingml/2006/main">
              <a:ext uri="{FF2B5EF4-FFF2-40B4-BE49-F238E27FC236}">
                <a16:creationId xmlns:a16="http://schemas.microsoft.com/office/drawing/2014/main" id="{AC90F94E-4C50-4AD9-A6DA-1645411B8056}"/>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Notre valeur ne vient pas d'un outil unique, mais de l'enchainement entre diagnostic, formation utile, gouvernance et premier terrain d'execution.</a:t>
            </a:r>
          </a:p>
        </p:txBody>
      </p:sp>
      <p:sp>
        <p:nvSpPr>
          <p:cNvPr id="5" name="">
            <a:extLst xmlns:a="http://schemas.openxmlformats.org/drawingml/2006/main">
              <a:ext uri="{FF2B5EF4-FFF2-40B4-BE49-F238E27FC236}">
                <a16:creationId xmlns:a16="http://schemas.microsoft.com/office/drawing/2014/main" id="{C8DDCFB1-CE16-425D-826E-AC9F4921E27F}"/>
              </a:ext>
            </a:extLst>
          </p:cNvPr>
          <p:cNvSpPr>
            <a:spLocks xmlns:a="http://schemas.openxmlformats.org/drawingml/2006/main" noGrp="1"/>
          </p:cNvSpPr>
          <p:nvPr/>
        </p:nvSpPr>
        <p:spPr>
          <a:xfrm xmlns:a="http://schemas.openxmlformats.org/drawingml/2006/main">
            <a:off x="685800" y="2247900"/>
            <a:ext cx="5181600" cy="1333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8BE10F69-B564-4238-B603-1ADD64C94253}"/>
              </a:ext>
            </a:extLst>
          </p:cNvPr>
          <p:cNvSpPr>
            <a:spLocks xmlns:a="http://schemas.openxmlformats.org/drawingml/2006/main" noGrp="1"/>
          </p:cNvSpPr>
          <p:nvPr/>
        </p:nvSpPr>
        <p:spPr>
          <a:xfrm xmlns:a="http://schemas.openxmlformats.org/drawingml/2006/main">
            <a:off x="857250" y="24193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 Audit, cadrage et feuille de route</a:t>
            </a:r>
          </a:p>
        </p:txBody>
      </p:sp>
      <p:sp>
        <p:nvSpPr>
          <p:cNvPr id="7" name="">
            <a:extLst xmlns:a="http://schemas.openxmlformats.org/drawingml/2006/main">
              <a:ext uri="{FF2B5EF4-FFF2-40B4-BE49-F238E27FC236}">
                <a16:creationId xmlns:a16="http://schemas.microsoft.com/office/drawing/2014/main" id="{9C8FF910-934A-465B-B6BB-D9AB1ED72F37}"/>
              </a:ext>
            </a:extLst>
          </p:cNvPr>
          <p:cNvSpPr>
            <a:spLocks xmlns:a="http://schemas.openxmlformats.org/drawingml/2006/main" noGrp="1"/>
          </p:cNvSpPr>
          <p:nvPr/>
        </p:nvSpPr>
        <p:spPr>
          <a:xfrm xmlns:a="http://schemas.openxmlformats.org/drawingml/2006/main">
            <a:off x="857250" y="29337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priorites metier</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cartographie des flux</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KPI de preuve et conditions de pilotage</a:t>
            </a:r>
          </a:p>
        </p:txBody>
      </p:sp>
      <p:sp>
        <p:nvSpPr>
          <p:cNvPr id="8" name="">
            <a:extLst xmlns:a="http://schemas.openxmlformats.org/drawingml/2006/main">
              <a:ext uri="{FF2B5EF4-FFF2-40B4-BE49-F238E27FC236}">
                <a16:creationId xmlns:a16="http://schemas.microsoft.com/office/drawing/2014/main" id="{DEFC1764-FDD6-405A-8CFE-C9F9943FC148}"/>
              </a:ext>
            </a:extLst>
          </p:cNvPr>
          <p:cNvSpPr>
            <a:spLocks xmlns:a="http://schemas.openxmlformats.org/drawingml/2006/main" noGrp="1"/>
          </p:cNvSpPr>
          <p:nvPr/>
        </p:nvSpPr>
        <p:spPr>
          <a:xfrm xmlns:a="http://schemas.openxmlformats.org/drawingml/2006/main">
            <a:off x="6096000" y="2247900"/>
            <a:ext cx="5410200" cy="13335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9" name="">
            <a:extLst xmlns:a="http://schemas.openxmlformats.org/drawingml/2006/main">
              <a:ext uri="{FF2B5EF4-FFF2-40B4-BE49-F238E27FC236}">
                <a16:creationId xmlns:a16="http://schemas.microsoft.com/office/drawing/2014/main" id="{7B2A57E5-1A5A-4420-96D2-0F9D17CA2DFC}"/>
              </a:ext>
            </a:extLst>
          </p:cNvPr>
          <p:cNvSpPr>
            <a:spLocks xmlns:a="http://schemas.openxmlformats.org/drawingml/2006/main" noGrp="1"/>
          </p:cNvSpPr>
          <p:nvPr/>
        </p:nvSpPr>
        <p:spPr>
          <a:xfrm xmlns:a="http://schemas.openxmlformats.org/drawingml/2006/main">
            <a:off x="6267450" y="24193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Formation dirigeants et managers</a:t>
            </a:r>
          </a:p>
        </p:txBody>
      </p:sp>
      <p:sp>
        <p:nvSpPr>
          <p:cNvPr id="10" name="">
            <a:extLst xmlns:a="http://schemas.openxmlformats.org/drawingml/2006/main">
              <a:ext uri="{FF2B5EF4-FFF2-40B4-BE49-F238E27FC236}">
                <a16:creationId xmlns:a16="http://schemas.microsoft.com/office/drawing/2014/main" id="{B8DE5DD6-DE2C-4E4B-B9D0-0C147710D698}"/>
              </a:ext>
            </a:extLst>
          </p:cNvPr>
          <p:cNvSpPr>
            <a:spLocks xmlns:a="http://schemas.openxmlformats.org/drawingml/2006/main" noGrp="1"/>
          </p:cNvSpPr>
          <p:nvPr/>
        </p:nvSpPr>
        <p:spPr>
          <a:xfrm xmlns:a="http://schemas.openxmlformats.org/drawingml/2006/main">
            <a:off x="6267450" y="29337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executive des usages IA</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arbitrage, gouvernance et conduite du changement</a:t>
            </a:r>
          </a:p>
        </p:txBody>
      </p:sp>
      <p:sp>
        <p:nvSpPr>
          <p:cNvPr id="11" name="">
            <a:extLst xmlns:a="http://schemas.openxmlformats.org/drawingml/2006/main">
              <a:ext uri="{FF2B5EF4-FFF2-40B4-BE49-F238E27FC236}">
                <a16:creationId xmlns:a16="http://schemas.microsoft.com/office/drawing/2014/main" id="{BA06D4D5-6C04-4F11-B99F-1FC921239FDE}"/>
              </a:ext>
            </a:extLst>
          </p:cNvPr>
          <p:cNvSpPr>
            <a:spLocks xmlns:a="http://schemas.openxmlformats.org/drawingml/2006/main" noGrp="1"/>
          </p:cNvSpPr>
          <p:nvPr/>
        </p:nvSpPr>
        <p:spPr>
          <a:xfrm xmlns:a="http://schemas.openxmlformats.org/drawingml/2006/main">
            <a:off x="685800" y="3810000"/>
            <a:ext cx="5181600" cy="13335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12" name="">
            <a:extLst xmlns:a="http://schemas.openxmlformats.org/drawingml/2006/main">
              <a:ext uri="{FF2B5EF4-FFF2-40B4-BE49-F238E27FC236}">
                <a16:creationId xmlns:a16="http://schemas.microsoft.com/office/drawing/2014/main" id="{1C7D9C6C-8DE8-4649-B309-540C89E270DC}"/>
              </a:ext>
            </a:extLst>
          </p:cNvPr>
          <p:cNvSpPr>
            <a:spLocks xmlns:a="http://schemas.openxmlformats.org/drawingml/2006/main" noGrp="1"/>
          </p:cNvSpPr>
          <p:nvPr/>
        </p:nvSpPr>
        <p:spPr>
          <a:xfrm xmlns:a="http://schemas.openxmlformats.org/drawingml/2006/main">
            <a:off x="857250" y="39814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 Formation equipes metier</a:t>
            </a:r>
          </a:p>
        </p:txBody>
      </p:sp>
      <p:sp>
        <p:nvSpPr>
          <p:cNvPr id="13" name="">
            <a:extLst xmlns:a="http://schemas.openxmlformats.org/drawingml/2006/main">
              <a:ext uri="{FF2B5EF4-FFF2-40B4-BE49-F238E27FC236}">
                <a16:creationId xmlns:a16="http://schemas.microsoft.com/office/drawing/2014/main" id="{D252F33E-E749-4A17-ADDF-07F335724E15}"/>
              </a:ext>
            </a:extLst>
          </p:cNvPr>
          <p:cNvSpPr>
            <a:spLocks xmlns:a="http://schemas.openxmlformats.org/drawingml/2006/main" noGrp="1"/>
          </p:cNvSpPr>
          <p:nvPr/>
        </p:nvSpPr>
        <p:spPr>
          <a:xfrm xmlns:a="http://schemas.openxmlformats.org/drawingml/2006/main">
            <a:off x="857250" y="44958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comptes, flotte, relation client, support</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outils, scripts et routines lies aux vrais cas d'usage</a:t>
            </a:r>
          </a:p>
        </p:txBody>
      </p:sp>
      <p:sp>
        <p:nvSpPr>
          <p:cNvPr id="14" name="">
            <a:extLst xmlns:a="http://schemas.openxmlformats.org/drawingml/2006/main">
              <a:ext uri="{FF2B5EF4-FFF2-40B4-BE49-F238E27FC236}">
                <a16:creationId xmlns:a16="http://schemas.microsoft.com/office/drawing/2014/main" id="{FF8B1998-F483-4F81-AE98-3F4275CE9981}"/>
              </a:ext>
            </a:extLst>
          </p:cNvPr>
          <p:cNvSpPr>
            <a:spLocks xmlns:a="http://schemas.openxmlformats.org/drawingml/2006/main" noGrp="1"/>
          </p:cNvSpPr>
          <p:nvPr/>
        </p:nvSpPr>
        <p:spPr>
          <a:xfrm xmlns:a="http://schemas.openxmlformats.org/drawingml/2006/main">
            <a:off x="6096000" y="3810000"/>
            <a:ext cx="5410200" cy="13335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5" name="">
            <a:extLst xmlns:a="http://schemas.openxmlformats.org/drawingml/2006/main">
              <a:ext uri="{FF2B5EF4-FFF2-40B4-BE49-F238E27FC236}">
                <a16:creationId xmlns:a16="http://schemas.microsoft.com/office/drawing/2014/main" id="{BCE6EFE9-6BBE-458E-A234-75F04BC9CD0C}"/>
              </a:ext>
            </a:extLst>
          </p:cNvPr>
          <p:cNvSpPr>
            <a:spLocks xmlns:a="http://schemas.openxmlformats.org/drawingml/2006/main" noGrp="1"/>
          </p:cNvSpPr>
          <p:nvPr/>
        </p:nvSpPr>
        <p:spPr>
          <a:xfrm xmlns:a="http://schemas.openxmlformats.org/drawingml/2006/main">
            <a:off x="6267450" y="39814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 Pilote metier encadre</a:t>
            </a:r>
          </a:p>
        </p:txBody>
      </p:sp>
      <p:sp>
        <p:nvSpPr>
          <p:cNvPr id="16" name="">
            <a:extLst xmlns:a="http://schemas.openxmlformats.org/drawingml/2006/main">
              <a:ext uri="{FF2B5EF4-FFF2-40B4-BE49-F238E27FC236}">
                <a16:creationId xmlns:a16="http://schemas.microsoft.com/office/drawing/2014/main" id="{F29D4D48-CE8D-4D52-8276-98D0E2C3CDA9}"/>
              </a:ext>
            </a:extLst>
          </p:cNvPr>
          <p:cNvSpPr>
            <a:spLocks xmlns:a="http://schemas.openxmlformats.org/drawingml/2006/main" noGrp="1"/>
          </p:cNvSpPr>
          <p:nvPr/>
        </p:nvSpPr>
        <p:spPr>
          <a:xfrm xmlns:a="http://schemas.openxmlformats.org/drawingml/2006/main">
            <a:off x="6267450" y="44958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assistant cible, tableau de bord ou base interne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supervision, mesure et decision d'extension</a:t>
            </a:r>
          </a:p>
        </p:txBody>
      </p:sp>
      <p:sp>
        <p:nvSpPr>
          <p:cNvPr id="17" name="">
            <a:extLst xmlns:a="http://schemas.openxmlformats.org/drawingml/2006/main">
              <a:ext uri="{FF2B5EF4-FFF2-40B4-BE49-F238E27FC236}">
                <a16:creationId xmlns:a16="http://schemas.microsoft.com/office/drawing/2014/main" id="{BB40D7AD-F8F4-4C7C-8C01-57F7CAC82817}"/>
              </a:ext>
            </a:extLst>
          </p:cNvPr>
          <p:cNvSpPr>
            <a:spLocks xmlns:a="http://schemas.openxmlformats.org/drawingml/2006/main" noGrp="1"/>
          </p:cNvSpPr>
          <p:nvPr/>
        </p:nvSpPr>
        <p:spPr>
          <a:xfrm xmlns:a="http://schemas.openxmlformats.org/drawingml/2006/main">
            <a:off x="685800" y="5486400"/>
            <a:ext cx="10820400" cy="6286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F854EB93-6F16-45BE-B8DD-AEC364640B65}"/>
              </a:ext>
            </a:extLst>
          </p:cNvPr>
          <p:cNvSpPr>
            <a:spLocks xmlns:a="http://schemas.openxmlformats.org/drawingml/2006/main" noGrp="1"/>
          </p:cNvSpPr>
          <p:nvPr/>
        </p:nvSpPr>
        <p:spPr>
          <a:xfrm xmlns:a="http://schemas.openxmlformats.org/drawingml/2006/main">
            <a:off x="914400" y="56769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Recommandation de depart</a:t>
            </a:r>
          </a:p>
        </p:txBody>
      </p:sp>
      <p:sp>
        <p:nvSpPr>
          <p:cNvPr id="19" name="">
            <a:extLst xmlns:a="http://schemas.openxmlformats.org/drawingml/2006/main">
              <a:ext uri="{FF2B5EF4-FFF2-40B4-BE49-F238E27FC236}">
                <a16:creationId xmlns:a16="http://schemas.microsoft.com/office/drawing/2014/main" id="{7DA39BE6-62F8-43D8-B4A0-FEE9F626E5A5}"/>
              </a:ext>
            </a:extLst>
          </p:cNvPr>
          <p:cNvSpPr>
            <a:spLocks xmlns:a="http://schemas.openxmlformats.org/drawingml/2006/main" noGrp="1"/>
          </p:cNvSpPr>
          <p:nvPr/>
        </p:nvSpPr>
        <p:spPr>
          <a:xfrm xmlns:a="http://schemas.openxmlformats.org/drawingml/2006/main">
            <a:off x="2819400" y="5638800"/>
            <a:ext cx="824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A3554"/>
                </a:solidFill>
                <a:latin typeface="Aptos"/>
                <a:ea typeface="Aptos"/>
                <a:cs typeface="Aptos"/>
              </a:defRPr>
            </a:pPr>
            <a:r>
              <a:rPr sz="938" b="1">
                <a:solidFill>
                  <a:srgbClr val="1A3554"/>
                </a:solidFill>
                <a:latin typeface="Aptos"/>
                <a:ea typeface="Aptos"/>
                <a:cs typeface="Aptos"/>
              </a:rPr>
              <a:t>Commencer par deux flux a forte lisibilite de valeur: comptes professionnels + flotte / cartes carburant. Les autres cas d'usage restent dans la feuille de route, mais n'encombrent pas le pilote initial.</a:t>
            </a:r>
          </a:p>
        </p:txBody>
      </p:sp>
      <p:sp>
        <p:nvSpPr>
          <p:cNvPr id="20" name="">
            <a:extLst xmlns:a="http://schemas.openxmlformats.org/drawingml/2006/main">
              <a:ext uri="{FF2B5EF4-FFF2-40B4-BE49-F238E27FC236}">
                <a16:creationId xmlns:a16="http://schemas.microsoft.com/office/drawing/2014/main" id="{B3F0402D-7EC4-4338-81BF-1FA82CD991B2}"/>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7D99DD4-BC89-497A-B34E-8EE94FC15EB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22" name="">
            <a:extLst xmlns:a="http://schemas.openxmlformats.org/drawingml/2006/main">
              <a:ext uri="{FF2B5EF4-FFF2-40B4-BE49-F238E27FC236}">
                <a16:creationId xmlns:a16="http://schemas.microsoft.com/office/drawing/2014/main" id="{7CA408AC-7209-4813-953C-17DA2AF41713}"/>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08</a:t>
            </a:r>
          </a:p>
        </p:txBody>
      </p:sp>
    </p:spTree>
    <p:extLst>
      <p:ext uri="{BB962C8B-B14F-4D97-AF65-F5344CB8AC3E}">
        <p14:creationId xmlns:p14="http://schemas.microsoft.com/office/powerpoint/2010/main" val="12094801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5DFD21-44D8-4A6F-BE05-90A2E3151C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5595260-C38C-43CE-BE74-73BBADC99765}"/>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CONFIANCE &amp; PROCHAINE ETAPE</a:t>
            </a:r>
          </a:p>
        </p:txBody>
      </p:sp>
      <p:sp>
        <p:nvSpPr>
          <p:cNvPr id="3" name="">
            <a:extLst xmlns:a="http://schemas.openxmlformats.org/drawingml/2006/main">
              <a:ext uri="{FF2B5EF4-FFF2-40B4-BE49-F238E27FC236}">
                <a16:creationId xmlns:a16="http://schemas.microsoft.com/office/drawing/2014/main" id="{D987E64A-D23F-4019-B248-EE0CDAC806BE}"/>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Proposer un pilote utile, gouverne et mesurable</a:t>
            </a:r>
          </a:p>
        </p:txBody>
      </p:sp>
      <p:sp>
        <p:nvSpPr>
          <p:cNvPr id="4" name="">
            <a:extLst xmlns:a="http://schemas.openxmlformats.org/drawingml/2006/main">
              <a:ext uri="{FF2B5EF4-FFF2-40B4-BE49-F238E27FC236}">
                <a16:creationId xmlns:a16="http://schemas.microsoft.com/office/drawing/2014/main" id="{BD8B2F38-6DFB-4A7E-88F9-C428F08E29D3}"/>
              </a:ext>
            </a:extLst>
          </p:cNvPr>
          <p:cNvSpPr>
            <a:spLocks xmlns:a="http://schemas.openxmlformats.org/drawingml/2006/main" noGrp="1"/>
          </p:cNvSpPr>
          <p:nvPr/>
        </p:nvSpPr>
        <p:spPr>
          <a:xfrm xmlns:a="http://schemas.openxmlformats.org/drawingml/2006/main">
            <a:off x="685800" y="1714500"/>
            <a:ext cx="4953000" cy="37147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5" name="">
            <a:extLst xmlns:a="http://schemas.openxmlformats.org/drawingml/2006/main">
              <a:ext uri="{FF2B5EF4-FFF2-40B4-BE49-F238E27FC236}">
                <a16:creationId xmlns:a16="http://schemas.microsoft.com/office/drawing/2014/main" id="{D7218D23-F531-48DA-815E-D7407A01DF96}"/>
              </a:ext>
            </a:extLst>
          </p:cNvPr>
          <p:cNvSpPr>
            <a:spLocks xmlns:a="http://schemas.openxmlformats.org/drawingml/2006/main" noGrp="1"/>
          </p:cNvSpPr>
          <p:nvPr/>
        </p:nvSpPr>
        <p:spPr>
          <a:xfrm xmlns:a="http://schemas.openxmlformats.org/drawingml/2006/main">
            <a:off x="895350" y="19431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3efbefc396a4033">
            <a:extLst>
              <a:ext uri="{96DAC541-7B7A-43D3-8B79-37D633B846F1}">
                <asvg:svgBlip xmlns:asvg="http://schemas.microsoft.com/office/drawing/2016/SVG/main" r:embed="R859c8cd7e783451d"/>
              </a:ext>
            </a:extLst>
          </a:blip>
          <a:stretch xmlns:a="http://schemas.openxmlformats.org/drawingml/2006/main"/>
        </p:blipFill>
        <p:spPr>
          <a:xfrm xmlns:a="http://schemas.openxmlformats.org/drawingml/2006/main">
            <a:off x="990600" y="2038350"/>
            <a:ext cx="228600" cy="228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D76AC59-684B-46B2-80D8-DECC26B29F8C}"/>
              </a:ext>
            </a:extLst>
          </p:cNvPr>
          <p:cNvSpPr>
            <a:spLocks xmlns:a="http://schemas.openxmlformats.org/drawingml/2006/main" noGrp="1"/>
          </p:cNvSpPr>
          <p:nvPr/>
        </p:nvSpPr>
        <p:spPr>
          <a:xfrm xmlns:a="http://schemas.openxmlformats.org/drawingml/2006/main">
            <a:off x="1428750" y="1943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Le cadre de confiance a presenter a ELTON CI</a:t>
            </a:r>
          </a:p>
        </p:txBody>
      </p:sp>
      <p:sp>
        <p:nvSpPr>
          <p:cNvPr id="8" name="">
            <a:extLst xmlns:a="http://schemas.openxmlformats.org/drawingml/2006/main">
              <a:ext uri="{FF2B5EF4-FFF2-40B4-BE49-F238E27FC236}">
                <a16:creationId xmlns:a16="http://schemas.microsoft.com/office/drawing/2014/main" id="{D79D2D4E-4A00-460D-BF4D-361D9468CFF0}"/>
              </a:ext>
            </a:extLst>
          </p:cNvPr>
          <p:cNvSpPr>
            <a:spLocks xmlns:a="http://schemas.openxmlformats.org/drawingml/2006/main" noGrp="1"/>
          </p:cNvSpPr>
          <p:nvPr/>
        </p:nvSpPr>
        <p:spPr>
          <a:xfrm xmlns:a="http://schemas.openxmlformats.org/drawingml/2006/main">
            <a:off x="895350" y="2495550"/>
            <a:ext cx="4267200" cy="1733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aucune donnee sensible n'est exposee sans regles d'usage, roles et validation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revue humaine avant toute automatisation critique</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traçabilite des acces et des sorties</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perimetre pilote strictement defini avant extension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formation integree aux exigences de confidentialite et de supervision</a:t>
            </a:r>
          </a:p>
        </p:txBody>
      </p:sp>
      <p:sp>
        <p:nvSpPr>
          <p:cNvPr id="9" name="">
            <a:extLst xmlns:a="http://schemas.openxmlformats.org/drawingml/2006/main">
              <a:ext uri="{FF2B5EF4-FFF2-40B4-BE49-F238E27FC236}">
                <a16:creationId xmlns:a16="http://schemas.microsoft.com/office/drawing/2014/main" id="{BCA4160C-F36A-46B3-A6AF-8A05899E87D4}"/>
              </a:ext>
            </a:extLst>
          </p:cNvPr>
          <p:cNvSpPr>
            <a:spLocks xmlns:a="http://schemas.openxmlformats.org/drawingml/2006/main" noGrp="1"/>
          </p:cNvSpPr>
          <p:nvPr/>
        </p:nvSpPr>
        <p:spPr>
          <a:xfrm xmlns:a="http://schemas.openxmlformats.org/drawingml/2006/main">
            <a:off x="895350" y="4343400"/>
            <a:ext cx="4343400" cy="838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C10B0A45-DDE4-4579-9A90-8F34425744C5}"/>
              </a:ext>
            </a:extLst>
          </p:cNvPr>
          <p:cNvSpPr>
            <a:spLocks xmlns:a="http://schemas.openxmlformats.org/drawingml/2006/main" noGrp="1"/>
          </p:cNvSpPr>
          <p:nvPr/>
        </p:nvSpPr>
        <p:spPr>
          <a:xfrm xmlns:a="http://schemas.openxmlformats.org/drawingml/2006/main">
            <a:off x="1085850" y="4514850"/>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Message fort</a:t>
            </a:r>
          </a:p>
        </p:txBody>
      </p:sp>
      <p:sp>
        <p:nvSpPr>
          <p:cNvPr id="11" name="">
            <a:extLst xmlns:a="http://schemas.openxmlformats.org/drawingml/2006/main">
              <a:ext uri="{FF2B5EF4-FFF2-40B4-BE49-F238E27FC236}">
                <a16:creationId xmlns:a16="http://schemas.microsoft.com/office/drawing/2014/main" id="{CDF42F55-D584-4213-A791-3402A10EB02C}"/>
              </a:ext>
            </a:extLst>
          </p:cNvPr>
          <p:cNvSpPr>
            <a:spLocks xmlns:a="http://schemas.openxmlformats.org/drawingml/2006/main" noGrp="1"/>
          </p:cNvSpPr>
          <p:nvPr/>
        </p:nvSpPr>
        <p:spPr>
          <a:xfrm xmlns:a="http://schemas.openxmlformats.org/drawingml/2006/main">
            <a:off x="1085850" y="4724400"/>
            <a:ext cx="3733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Une IA utile, maitrisee et compatible avec vos exigences de confidentialite.</a:t>
            </a:r>
          </a:p>
        </p:txBody>
      </p:sp>
      <p:sp>
        <p:nvSpPr>
          <p:cNvPr id="12" name="">
            <a:extLst xmlns:a="http://schemas.openxmlformats.org/drawingml/2006/main">
              <a:ext uri="{FF2B5EF4-FFF2-40B4-BE49-F238E27FC236}">
                <a16:creationId xmlns:a16="http://schemas.microsoft.com/office/drawing/2014/main" id="{409BFE58-0731-4B7D-89B8-ECEEBD648656}"/>
              </a:ext>
            </a:extLst>
          </p:cNvPr>
          <p:cNvSpPr>
            <a:spLocks xmlns:a="http://schemas.openxmlformats.org/drawingml/2006/main" noGrp="1"/>
          </p:cNvSpPr>
          <p:nvPr/>
        </p:nvSpPr>
        <p:spPr>
          <a:xfrm xmlns:a="http://schemas.openxmlformats.org/drawingml/2006/main">
            <a:off x="6096000" y="1714500"/>
            <a:ext cx="5410200" cy="37147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3" name="">
            <a:extLst xmlns:a="http://schemas.openxmlformats.org/drawingml/2006/main">
              <a:ext uri="{FF2B5EF4-FFF2-40B4-BE49-F238E27FC236}">
                <a16:creationId xmlns:a16="http://schemas.microsoft.com/office/drawing/2014/main" id="{6FE47376-51B6-4451-A355-C9F99F3DDE2A}"/>
              </a:ext>
            </a:extLst>
          </p:cNvPr>
          <p:cNvSpPr>
            <a:spLocks xmlns:a="http://schemas.openxmlformats.org/drawingml/2006/main" noGrp="1"/>
          </p:cNvSpPr>
          <p:nvPr/>
        </p:nvSpPr>
        <p:spPr>
          <a:xfrm xmlns:a="http://schemas.openxmlformats.org/drawingml/2006/main">
            <a:off x="6362700" y="19812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PROCHAINE ETAPE</a:t>
            </a:r>
          </a:p>
        </p:txBody>
      </p:sp>
      <p:sp>
        <p:nvSpPr>
          <p:cNvPr id="14" name="">
            <a:extLst xmlns:a="http://schemas.openxmlformats.org/drawingml/2006/main">
              <a:ext uri="{FF2B5EF4-FFF2-40B4-BE49-F238E27FC236}">
                <a16:creationId xmlns:a16="http://schemas.microsoft.com/office/drawing/2014/main" id="{5B44E527-4067-4721-8A28-AAA9FA411475}"/>
              </a:ext>
            </a:extLst>
          </p:cNvPr>
          <p:cNvSpPr>
            <a:spLocks xmlns:a="http://schemas.openxmlformats.org/drawingml/2006/main" noGrp="1"/>
          </p:cNvSpPr>
          <p:nvPr/>
        </p:nvSpPr>
        <p:spPr>
          <a:xfrm xmlns:a="http://schemas.openxmlformats.org/drawingml/2006/main">
            <a:off x="6362700" y="224790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Sortie attendue du rendez-vous</a:t>
            </a:r>
          </a:p>
        </p:txBody>
      </p:sp>
      <p:sp>
        <p:nvSpPr>
          <p:cNvPr id="15" name="">
            <a:extLst xmlns:a="http://schemas.openxmlformats.org/drawingml/2006/main">
              <a:ext uri="{FF2B5EF4-FFF2-40B4-BE49-F238E27FC236}">
                <a16:creationId xmlns:a16="http://schemas.microsoft.com/office/drawing/2014/main" id="{65659B10-8DE7-42E6-ABBC-29A87C105652}"/>
              </a:ext>
            </a:extLst>
          </p:cNvPr>
          <p:cNvSpPr>
            <a:spLocks xmlns:a="http://schemas.openxmlformats.org/drawingml/2006/main" noGrp="1"/>
          </p:cNvSpPr>
          <p:nvPr/>
        </p:nvSpPr>
        <p:spPr>
          <a:xfrm xmlns:a="http://schemas.openxmlformats.org/drawingml/2006/main">
            <a:off x="6362700" y="2724150"/>
            <a:ext cx="34290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1. Tenir un atelier expert de 45 minutes</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2. Lancer l'audit IA gratuit</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3. Recevoir une priorisation claire des cas d'usage</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4. Valider un premier pilote et ses KPI</a:t>
            </a:r>
          </a:p>
        </p:txBody>
      </p:sp>
      <p:sp>
        <p:nvSpPr>
          <p:cNvPr id="16" name="">
            <a:extLst xmlns:a="http://schemas.openxmlformats.org/drawingml/2006/main">
              <a:ext uri="{FF2B5EF4-FFF2-40B4-BE49-F238E27FC236}">
                <a16:creationId xmlns:a16="http://schemas.microsoft.com/office/drawing/2014/main" id="{A12DFB7B-6E2F-4056-9A27-B46ACD4EEAF8}"/>
              </a:ext>
            </a:extLst>
          </p:cNvPr>
          <p:cNvSpPr>
            <a:spLocks xmlns:a="http://schemas.openxmlformats.org/drawingml/2006/main" noGrp="1"/>
          </p:cNvSpPr>
          <p:nvPr/>
        </p:nvSpPr>
        <p:spPr>
          <a:xfrm xmlns:a="http://schemas.openxmlformats.org/drawingml/2006/main">
            <a:off x="9906000" y="240030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7" name="">
            <a:extLst xmlns:a="http://schemas.openxmlformats.org/drawingml/2006/main">
              <a:ext uri="{FF2B5EF4-FFF2-40B4-BE49-F238E27FC236}">
                <a16:creationId xmlns:a16="http://schemas.microsoft.com/office/drawing/2014/main" id="{6A7DCD37-ADEB-40DC-88A9-3DDC44F06751}"/>
              </a:ext>
            </a:extLst>
          </p:cNvPr>
          <p:cNvSpPr>
            <a:spLocks xmlns:a="http://schemas.openxmlformats.org/drawingml/2006/main" noGrp="1"/>
          </p:cNvSpPr>
          <p:nvPr/>
        </p:nvSpPr>
        <p:spPr>
          <a:xfrm xmlns:a="http://schemas.openxmlformats.org/drawingml/2006/main">
            <a:off x="10077450" y="262890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45 min</a:t>
            </a:r>
          </a:p>
        </p:txBody>
      </p:sp>
      <p:sp>
        <p:nvSpPr>
          <p:cNvPr id="18" name="">
            <a:extLst xmlns:a="http://schemas.openxmlformats.org/drawingml/2006/main">
              <a:ext uri="{FF2B5EF4-FFF2-40B4-BE49-F238E27FC236}">
                <a16:creationId xmlns:a16="http://schemas.microsoft.com/office/drawing/2014/main" id="{7B22AD92-A6A4-41CE-85F0-FEA90AFD43F3}"/>
              </a:ext>
            </a:extLst>
          </p:cNvPr>
          <p:cNvSpPr>
            <a:spLocks xmlns:a="http://schemas.openxmlformats.org/drawingml/2006/main" noGrp="1"/>
          </p:cNvSpPr>
          <p:nvPr/>
        </p:nvSpPr>
        <p:spPr>
          <a:xfrm xmlns:a="http://schemas.openxmlformats.org/drawingml/2006/main">
            <a:off x="10077450" y="293370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atelier de cadrage</a:t>
            </a:r>
          </a:p>
        </p:txBody>
      </p:sp>
      <p:sp>
        <p:nvSpPr>
          <p:cNvPr id="19" name="">
            <a:extLst xmlns:a="http://schemas.openxmlformats.org/drawingml/2006/main">
              <a:ext uri="{FF2B5EF4-FFF2-40B4-BE49-F238E27FC236}">
                <a16:creationId xmlns:a16="http://schemas.microsoft.com/office/drawing/2014/main" id="{2F630FF8-2B2A-49AB-8752-833B37C30EAA}"/>
              </a:ext>
            </a:extLst>
          </p:cNvPr>
          <p:cNvSpPr>
            <a:spLocks xmlns:a="http://schemas.openxmlformats.org/drawingml/2006/main" noGrp="1"/>
          </p:cNvSpPr>
          <p:nvPr/>
        </p:nvSpPr>
        <p:spPr>
          <a:xfrm xmlns:a="http://schemas.openxmlformats.org/drawingml/2006/main">
            <a:off x="9906000" y="352425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0" name="">
            <a:extLst xmlns:a="http://schemas.openxmlformats.org/drawingml/2006/main">
              <a:ext uri="{FF2B5EF4-FFF2-40B4-BE49-F238E27FC236}">
                <a16:creationId xmlns:a16="http://schemas.microsoft.com/office/drawing/2014/main" id="{2863F735-F8CF-452D-BB2F-C377BF9C8F34}"/>
              </a:ext>
            </a:extLst>
          </p:cNvPr>
          <p:cNvSpPr>
            <a:spLocks xmlns:a="http://schemas.openxmlformats.org/drawingml/2006/main" noGrp="1"/>
          </p:cNvSpPr>
          <p:nvPr/>
        </p:nvSpPr>
        <p:spPr>
          <a:xfrm xmlns:a="http://schemas.openxmlformats.org/drawingml/2006/main">
            <a:off x="10077450" y="37528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J+15</a:t>
            </a:r>
          </a:p>
        </p:txBody>
      </p:sp>
      <p:sp>
        <p:nvSpPr>
          <p:cNvPr id="21" name="">
            <a:extLst xmlns:a="http://schemas.openxmlformats.org/drawingml/2006/main">
              <a:ext uri="{FF2B5EF4-FFF2-40B4-BE49-F238E27FC236}">
                <a16:creationId xmlns:a16="http://schemas.microsoft.com/office/drawing/2014/main" id="{2DF30260-E043-4972-AD43-F6B82A954BAD}"/>
              </a:ext>
            </a:extLst>
          </p:cNvPr>
          <p:cNvSpPr>
            <a:spLocks xmlns:a="http://schemas.openxmlformats.org/drawingml/2006/main" noGrp="1"/>
          </p:cNvSpPr>
          <p:nvPr/>
        </p:nvSpPr>
        <p:spPr>
          <a:xfrm xmlns:a="http://schemas.openxmlformats.org/drawingml/2006/main">
            <a:off x="10077450" y="405765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premier livrable</a:t>
            </a:r>
          </a:p>
        </p:txBody>
      </p:sp>
      <p:sp>
        <p:nvSpPr>
          <p:cNvPr id="22" name="">
            <a:extLst xmlns:a="http://schemas.openxmlformats.org/drawingml/2006/main">
              <a:ext uri="{FF2B5EF4-FFF2-40B4-BE49-F238E27FC236}">
                <a16:creationId xmlns:a16="http://schemas.microsoft.com/office/drawing/2014/main" id="{9BC01CE7-9180-41D4-BEB6-418F2D2797B7}"/>
              </a:ext>
            </a:extLst>
          </p:cNvPr>
          <p:cNvSpPr>
            <a:spLocks xmlns:a="http://schemas.openxmlformats.org/drawingml/2006/main" noGrp="1"/>
          </p:cNvSpPr>
          <p:nvPr/>
        </p:nvSpPr>
        <p:spPr>
          <a:xfrm xmlns:a="http://schemas.openxmlformats.org/drawingml/2006/main">
            <a:off x="6362700" y="4229100"/>
            <a:ext cx="4762500" cy="8001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3" name="">
            <a:extLst xmlns:a="http://schemas.openxmlformats.org/drawingml/2006/main">
              <a:ext uri="{FF2B5EF4-FFF2-40B4-BE49-F238E27FC236}">
                <a16:creationId xmlns:a16="http://schemas.microsoft.com/office/drawing/2014/main" id="{1A32069F-1948-433E-A8A8-7FE12FBF4D9F}"/>
              </a:ext>
            </a:extLst>
          </p:cNvPr>
          <p:cNvSpPr>
            <a:spLocks xmlns:a="http://schemas.openxmlformats.org/drawingml/2006/main" noGrp="1"/>
          </p:cNvSpPr>
          <p:nvPr/>
        </p:nvSpPr>
        <p:spPr>
          <a:xfrm xmlns:a="http://schemas.openxmlformats.org/drawingml/2006/main">
            <a:off x="6572250" y="4438650"/>
            <a:ext cx="4343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E5F3"/>
                </a:solidFill>
                <a:latin typeface="Aptos"/>
                <a:ea typeface="Aptos"/>
                <a:cs typeface="Aptos"/>
              </a:defRPr>
            </a:pPr>
            <a:r>
              <a:rPr sz="863" b="0">
                <a:solidFill>
                  <a:srgbClr val="D7E5F3"/>
                </a:solidFill>
                <a:latin typeface="Aptos"/>
                <a:ea typeface="Aptos"/>
                <a:cs typeface="Aptos"/>
              </a:rPr>
              <a:t>Formule courte a utiliser: TransferAI aide ELTON CI a identifier les usages les plus utiles, former les bonnes equipes et choisir la bonne suite entre pilote, accompagnement et extension.</a:t>
            </a:r>
          </a:p>
        </p:txBody>
      </p:sp>
      <p:sp>
        <p:nvSpPr>
          <p:cNvPr id="24" name="">
            <a:extLst xmlns:a="http://schemas.openxmlformats.org/drawingml/2006/main">
              <a:ext uri="{FF2B5EF4-FFF2-40B4-BE49-F238E27FC236}">
                <a16:creationId xmlns:a16="http://schemas.microsoft.com/office/drawing/2014/main" id="{99A8F893-BE5C-45AD-A5BC-B44FDAF75934}"/>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12C5A83-60A1-4306-9ED5-E4D90E032EC3}"/>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Africa | Proposition ciblee ELTON CI | ROI et cas d'usage</a:t>
            </a:r>
          </a:p>
        </p:txBody>
      </p:sp>
      <p:sp>
        <p:nvSpPr>
          <p:cNvPr id="26" name="">
            <a:extLst xmlns:a="http://schemas.openxmlformats.org/drawingml/2006/main">
              <a:ext uri="{FF2B5EF4-FFF2-40B4-BE49-F238E27FC236}">
                <a16:creationId xmlns:a16="http://schemas.microsoft.com/office/drawing/2014/main" id="{F800D918-C1D4-4334-A500-42C16979B6C7}"/>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09</a:t>
            </a:r>
          </a:p>
        </p:txBody>
      </p:sp>
    </p:spTree>
    <p:extLst>
      <p:ext uri="{BB962C8B-B14F-4D97-AF65-F5344CB8AC3E}">
        <p14:creationId xmlns:p14="http://schemas.microsoft.com/office/powerpoint/2010/main" val="58353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2026-05-22T19:37:24.3370000Z</dcterms:created>
  <dcterms:modified xsi:type="dcterms:W3CDTF">2026-05-22T19:37:24.3370000Z</dcterms:modified>
</coreProperties>
</file>