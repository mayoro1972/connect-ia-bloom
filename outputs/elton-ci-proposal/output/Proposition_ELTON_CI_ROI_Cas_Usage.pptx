
<file path=[Content_Types].xml><?xml version="1.0" encoding="utf-8"?>
<Types xmlns="http://schemas.openxmlformats.org/package/2006/content-types">
  <Default Extension="xml" ContentType="application/vnd.openxmlformats-package.core-properties+xml"/>
  <Default Extension="png" ContentType="image/png"/>
  <Default Extension="svg" ContentType="image/svg+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notesMasters/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Layouts/slideLayout2.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ef40a23e9d74436" /><Relationship Type="http://schemas.openxmlformats.org/officeDocument/2006/relationships/extended-properties" Target="/docProps/app.xml" Id="Re64c1e15065f418a" /><Relationship Type="http://schemas.openxmlformats.org/officeDocument/2006/relationships/officeDocument" Target="/ppt/presentation.xml" Id="Rec4e2e9383204af6" /></Relationships>
</file>

<file path=ppt/presentation.xml><?xml version="1.0" encoding="utf-8"?>
<p:presentation xmlns:p="http://schemas.openxmlformats.org/presentationml/2006/main">
  <p:sldMasterIdLst>
    <p:sldMasterId xmlns:r="http://schemas.openxmlformats.org/officeDocument/2006/relationships" id="2147483648" r:id="R60a40a5eb6a1408a"/>
  </p:sldMasterIdLst>
  <p:notesMasterIdLst>
    <p:notesMasterId xmlns:r="http://schemas.openxmlformats.org/officeDocument/2006/relationships" r:id="Rf7c9ee60e3524d66"/>
  </p:notesMasterIdLst>
  <p:sldIdLst>
    <p:sldId xmlns:r="http://schemas.openxmlformats.org/officeDocument/2006/relationships" id="256" r:id="R7562c80574914156"/>
    <p:sldId xmlns:r="http://schemas.openxmlformats.org/officeDocument/2006/relationships" id="257" r:id="R8cd2d175c08a441a"/>
    <p:sldId xmlns:r="http://schemas.openxmlformats.org/officeDocument/2006/relationships" id="258" r:id="Rd8d10e3cc8434b5e"/>
    <p:sldId xmlns:r="http://schemas.openxmlformats.org/officeDocument/2006/relationships" id="259" r:id="R0925fa8eecb444c3"/>
    <p:sldId xmlns:r="http://schemas.openxmlformats.org/officeDocument/2006/relationships" id="260" r:id="R1d405bd3aaef46f8"/>
    <p:sldId xmlns:r="http://schemas.openxmlformats.org/officeDocument/2006/relationships" id="261" r:id="R15aa4155dfe04507"/>
    <p:sldId xmlns:r="http://schemas.openxmlformats.org/officeDocument/2006/relationships" id="262" r:id="R7d74e11b01764fc4"/>
    <p:sldId xmlns:r="http://schemas.openxmlformats.org/officeDocument/2006/relationships" id="263" r:id="Rfa77a6a376634f1c"/>
    <p:sldId xmlns:r="http://schemas.openxmlformats.org/officeDocument/2006/relationships" id="264" r:id="R2f55491924864eab"/>
    <p:sldId xmlns:r="http://schemas.openxmlformats.org/officeDocument/2006/relationships" id="265" r:id="Rd9e89d030c494221"/>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normalViewPr>
    <p:restoredLeft sz="15611"/>
    <p:restoredTop sz="94658"/>
  </p:normalViewPr>
  <p:slideViewPr>
    <p:cSldViewPr snapToGrid="0">
      <p:cViewPr varScale="1">
        <p:scale>
          <a:sx xmlns:a="http://schemas.openxmlformats.org/drawingml/2006/main" n="120" d="100"/>
          <a:sy xmlns:a="http://schemas.openxmlformats.org/drawingml/2006/main" n="120" d="100"/>
        </p:scale>
        <p:origin x="800" y="184"/>
      </p:cViewPr>
      <p:guideLst/>
    </p:cSldViewPr>
  </p:slideViewPr>
  <p:notesTextViewPr>
    <p:cViewPr>
      <p:scale>
        <a:sx xmlns:a="http://schemas.openxmlformats.org/drawingml/2006/main" n="1" d="1"/>
        <a:sy xmlns:a="http://schemas.openxmlformats.org/drawingml/2006/main" n="1" d="1"/>
      </p:scale>
      <p:origin x="0" y="0"/>
    </p:cViewPr>
  </p:notesTextViewPr>
  <p:gridSpacing cx="76200" cy="76200"/>
</p:viewPr>
</file>

<file path=ppt/_rels/presentation.xml.rels>&#65279;<?xml version="1.0" encoding="utf-8"?><Relationships xmlns="http://schemas.openxmlformats.org/package/2006/relationships"><Relationship Type="http://schemas.openxmlformats.org/officeDocument/2006/relationships/slideMaster" Target="/ppt/slideMasters/slideMaster1.xml" Id="R60a40a5eb6a1408a" /><Relationship Type="http://schemas.openxmlformats.org/officeDocument/2006/relationships/theme" Target="/ppt/theme/theme1.xml" Id="R615cb0c153f64fae" /><Relationship Type="http://schemas.openxmlformats.org/officeDocument/2006/relationships/notesMaster" Target="/ppt/notesMasters/notesMaster1.xml" Id="Rf7c9ee60e3524d66" /><Relationship Type="http://schemas.openxmlformats.org/officeDocument/2006/relationships/presProps" Target="/ppt/presProps.xml" Id="Rcbd67b86f6d541ee" /><Relationship Type="http://schemas.openxmlformats.org/officeDocument/2006/relationships/viewProps" Target="/ppt/viewProps.xml" Id="R2853b09925824df1" /><Relationship Type="http://schemas.openxmlformats.org/officeDocument/2006/relationships/tableStyles" Target="/ppt/tableStyles.xml" Id="R6043d53b3cce4ec6" /><Relationship Type="http://schemas.openxmlformats.org/officeDocument/2006/relationships/slide" Target="/ppt/slides/slide1.xml" Id="R7562c80574914156" /><Relationship Type="http://schemas.openxmlformats.org/officeDocument/2006/relationships/slide" Target="/ppt/slides/slide2.xml" Id="R8cd2d175c08a441a" /><Relationship Type="http://schemas.openxmlformats.org/officeDocument/2006/relationships/slide" Target="/ppt/slides/slide3.xml" Id="Rd8d10e3cc8434b5e" /><Relationship Type="http://schemas.openxmlformats.org/officeDocument/2006/relationships/slide" Target="/ppt/slides/slide4.xml" Id="R0925fa8eecb444c3" /><Relationship Type="http://schemas.openxmlformats.org/officeDocument/2006/relationships/slide" Target="/ppt/slides/slide5.xml" Id="R1d405bd3aaef46f8" /><Relationship Type="http://schemas.openxmlformats.org/officeDocument/2006/relationships/slide" Target="/ppt/slides/slide6.xml" Id="R15aa4155dfe04507" /><Relationship Type="http://schemas.openxmlformats.org/officeDocument/2006/relationships/slide" Target="/ppt/slides/slide7.xml" Id="R7d74e11b01764fc4" /><Relationship Type="http://schemas.openxmlformats.org/officeDocument/2006/relationships/slide" Target="/ppt/slides/slide8.xml" Id="Rfa77a6a376634f1c" /><Relationship Type="http://schemas.openxmlformats.org/officeDocument/2006/relationships/slide" Target="/ppt/slides/slide9.xml" Id="R2f55491924864eab" /><Relationship Type="http://schemas.openxmlformats.org/officeDocument/2006/relationships/slide" Target="/ppt/slides/slide10.xml" Id="Rd9e89d030c49422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2.xml" Id="R836165a82a9c494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2f4f0aa1b1145d4" /><Relationship Type="http://schemas.openxmlformats.org/officeDocument/2006/relationships/notesMaster" Target="/ppt/notesMasters/notesMaster1.xml" Id="Rf95b82a4c2f145e7" /></Relationships>
</file>

<file path=ppt/notesSlides/_rels/notesSlide2.xml.rels>&#65279;<?xml version="1.0" encoding="utf-8"?><Relationships xmlns="http://schemas.openxmlformats.org/package/2006/relationships"><Relationship Type="http://schemas.openxmlformats.org/officeDocument/2006/relationships/slide" Target="/ppt/slides/slide2.xml" Id="R801ef3b575ae4d23" /><Relationship Type="http://schemas.openxmlformats.org/officeDocument/2006/relationships/notesMaster" Target="/ppt/notesMasters/notesMaster1.xml" Id="R8527339e3cd548c8" /></Relationships>
</file>

<file path=ppt/notesSlides/_rels/notesSlide3.xml.rels>&#65279;<?xml version="1.0" encoding="utf-8"?><Relationships xmlns="http://schemas.openxmlformats.org/package/2006/relationships"><Relationship Type="http://schemas.openxmlformats.org/officeDocument/2006/relationships/slide" Target="/ppt/slides/slide3.xml" Id="R75a3849151244a20" /><Relationship Type="http://schemas.openxmlformats.org/officeDocument/2006/relationships/notesMaster" Target="/ppt/notesMasters/notesMaster1.xml" Id="Rf4798101f55b4af8" /></Relationships>
</file>

<file path=ppt/notesSlides/_rels/notesSlide4.xml.rels>&#65279;<?xml version="1.0" encoding="utf-8"?><Relationships xmlns="http://schemas.openxmlformats.org/package/2006/relationships"><Relationship Type="http://schemas.openxmlformats.org/officeDocument/2006/relationships/slide" Target="/ppt/slides/slide4.xml" Id="R381c077d41dd4b06" /><Relationship Type="http://schemas.openxmlformats.org/officeDocument/2006/relationships/notesMaster" Target="/ppt/notesMasters/notesMaster1.xml" Id="R1671b19f81ec440c" /></Relationships>
</file>

<file path=ppt/notesSlides/_rels/notesSlide5.xml.rels>&#65279;<?xml version="1.0" encoding="utf-8"?><Relationships xmlns="http://schemas.openxmlformats.org/package/2006/relationships"><Relationship Type="http://schemas.openxmlformats.org/officeDocument/2006/relationships/slide" Target="/ppt/slides/slide5.xml" Id="Re381bca695d745f2" /><Relationship Type="http://schemas.openxmlformats.org/officeDocument/2006/relationships/notesMaster" Target="/ppt/notesMasters/notesMaster1.xml" Id="R9b440ec88af944dc" /></Relationships>
</file>

<file path=ppt/notesSlides/_rels/notesSlide6.xml.rels>&#65279;<?xml version="1.0" encoding="utf-8"?><Relationships xmlns="http://schemas.openxmlformats.org/package/2006/relationships"><Relationship Type="http://schemas.openxmlformats.org/officeDocument/2006/relationships/slide" Target="/ppt/slides/slide6.xml" Id="R5c878bb79f90448e" /><Relationship Type="http://schemas.openxmlformats.org/officeDocument/2006/relationships/notesMaster" Target="/ppt/notesMasters/notesMaster1.xml" Id="Rff9d42d83e77482e" /></Relationships>
</file>

<file path=ppt/notesSlides/_rels/notesSlide7.xml.rels>&#65279;<?xml version="1.0" encoding="utf-8"?><Relationships xmlns="http://schemas.openxmlformats.org/package/2006/relationships"><Relationship Type="http://schemas.openxmlformats.org/officeDocument/2006/relationships/slide" Target="/ppt/slides/slide7.xml" Id="R6f0034ec81e24120" /><Relationship Type="http://schemas.openxmlformats.org/officeDocument/2006/relationships/notesMaster" Target="/ppt/notesMasters/notesMaster1.xml" Id="Rc9ead7d28a4a425c" /></Relationships>
</file>

<file path=ppt/notesSlides/_rels/notesSlide8.xml.rels>&#65279;<?xml version="1.0" encoding="utf-8"?><Relationships xmlns="http://schemas.openxmlformats.org/package/2006/relationships"><Relationship Type="http://schemas.openxmlformats.org/officeDocument/2006/relationships/slide" Target="/ppt/slides/slide8.xml" Id="R5e831b6016904d46" /><Relationship Type="http://schemas.openxmlformats.org/officeDocument/2006/relationships/notesMaster" Target="/ppt/notesMasters/notesMaster1.xml" Id="Ra8f9fd93886d4ff9" /></Relationships>
</file>

<file path=ppt/notesSlides/_rels/notesSlide9.xml.rels>&#65279;<?xml version="1.0" encoding="utf-8"?><Relationships xmlns="http://schemas.openxmlformats.org/package/2006/relationships"><Relationship Type="http://schemas.openxmlformats.org/officeDocument/2006/relationships/slide" Target="/ppt/slides/slide9.xml" Id="R39e63e0c190e4936" /><Relationship Type="http://schemas.openxmlformats.org/officeDocument/2006/relationships/notesMaster" Target="/ppt/notesMasters/notesMaster1.xml" Id="Rc54690d1040a456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2eb2d3b30d041df" /><Relationship Type="http://schemas.openxmlformats.org/officeDocument/2006/relationships/notesMaster" Target="/ppt/notesMasters/notesMaster1.xml" Id="R9f5fc54e78794df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9803df3f68142fe" /></Relationships>
</file>

<file path=ppt/slideLayouts/slideLayout2.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theme/theme1.xml" Id="R547ff59779284084" /><Relationship Type="http://schemas.openxmlformats.org/officeDocument/2006/relationships/slideLayout" Target="/ppt/slideLayouts/slideLayout2.xml" Id="Rbf62aab752804af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f62aab752804af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s/_rels/slide1.xml.rels>&#65279;<?xml version="1.0" encoding="utf-8"?><Relationships xmlns="http://schemas.openxmlformats.org/package/2006/relationships"><Relationship Type="http://schemas.openxmlformats.org/officeDocument/2006/relationships/slideLayout" Target="/ppt/slideLayouts/slideLayout2.xml" Id="R4d8723d1f03d4c5b" /><Relationship Type="http://schemas.openxmlformats.org/officeDocument/2006/relationships/notesSlide" Target="/ppt/notesSlides/notesSlide1.xml" Id="R98aefcb417084aa1" /></Relationships>
</file>

<file path=ppt/slides/_rels/slide2.xml.rels>&#65279;<?xml version="1.0" encoding="utf-8"?><Relationships xmlns="http://schemas.openxmlformats.org/package/2006/relationships"><Relationship Type="http://schemas.openxmlformats.org/officeDocument/2006/relationships/slideLayout" Target="/ppt/slideLayouts/slideLayout2.xml" Id="Ra34f3bba81cf4ff4" /><Relationship Type="http://schemas.openxmlformats.org/officeDocument/2006/relationships/image" Target="/ppt/media/image.png" Id="R93b3eeb250774ec9" /><Relationship Type="http://schemas.openxmlformats.org/officeDocument/2006/relationships/image" Target="/ppt/media/image.svg" Id="R0ac9fb8a0a0546b7" /><Relationship Type="http://schemas.openxmlformats.org/officeDocument/2006/relationships/image" Target="/ppt/media/image2.png" Id="R236ce829d2bd4e7d" /><Relationship Type="http://schemas.openxmlformats.org/officeDocument/2006/relationships/image" Target="/ppt/media/image2.svg" Id="R9f574383c62a41b3" /><Relationship Type="http://schemas.openxmlformats.org/officeDocument/2006/relationships/image" Target="/ppt/media/image3.png" Id="R8f4cb77d126848ef" /><Relationship Type="http://schemas.openxmlformats.org/officeDocument/2006/relationships/image" Target="/ppt/media/image3.svg" Id="Rf5429c15ce264e8e" /><Relationship Type="http://schemas.openxmlformats.org/officeDocument/2006/relationships/image" Target="/ppt/media/image4.png" Id="Rcba8d8983ea843fe" /><Relationship Type="http://schemas.openxmlformats.org/officeDocument/2006/relationships/image" Target="/ppt/media/image4.svg" Id="R9b18bc77f6f74a3c" /><Relationship Type="http://schemas.openxmlformats.org/officeDocument/2006/relationships/notesSlide" Target="/ppt/notesSlides/notesSlide2.xml" Id="R96e4b8d916e84fad" /></Relationships>
</file>

<file path=ppt/slides/_rels/slide3.xml.rels>&#65279;<?xml version="1.0" encoding="utf-8"?><Relationships xmlns="http://schemas.openxmlformats.org/package/2006/relationships"><Relationship Type="http://schemas.openxmlformats.org/officeDocument/2006/relationships/slideLayout" Target="/ppt/slideLayouts/slideLayout2.xml" Id="R95071c8d7dfa4357" /><Relationship Type="http://schemas.openxmlformats.org/officeDocument/2006/relationships/image" Target="/ppt/media/image5.png" Id="R012193779bf249b8" /><Relationship Type="http://schemas.openxmlformats.org/officeDocument/2006/relationships/image" Target="/ppt/media/image5.svg" Id="R20bd1582a2464f66" /><Relationship Type="http://schemas.openxmlformats.org/officeDocument/2006/relationships/image" Target="/ppt/media/image6.png" Id="R228d2eef2cbe4b68" /><Relationship Type="http://schemas.openxmlformats.org/officeDocument/2006/relationships/image" Target="/ppt/media/image6.svg" Id="R0e91ec6a7e0848a0" /><Relationship Type="http://schemas.openxmlformats.org/officeDocument/2006/relationships/image" Target="/ppt/media/image7.png" Id="R49d0d2245dd74d8c" /><Relationship Type="http://schemas.openxmlformats.org/officeDocument/2006/relationships/image" Target="/ppt/media/image7.svg" Id="R0e0bae1d77d9404e" /><Relationship Type="http://schemas.openxmlformats.org/officeDocument/2006/relationships/image" Target="/ppt/media/image8.png" Id="R43876d8905cb4d11" /><Relationship Type="http://schemas.openxmlformats.org/officeDocument/2006/relationships/image" Target="/ppt/media/image8.svg" Id="R7d259711c0014db1" /><Relationship Type="http://schemas.openxmlformats.org/officeDocument/2006/relationships/notesSlide" Target="/ppt/notesSlides/notesSlide3.xml" Id="Rda96ae0c288e41c6" /></Relationships>
</file>

<file path=ppt/slides/_rels/slide4.xml.rels>&#65279;<?xml version="1.0" encoding="utf-8"?><Relationships xmlns="http://schemas.openxmlformats.org/package/2006/relationships"><Relationship Type="http://schemas.openxmlformats.org/officeDocument/2006/relationships/slideLayout" Target="/ppt/slideLayouts/slideLayout2.xml" Id="Rb863a5fdf187427d" /><Relationship Type="http://schemas.openxmlformats.org/officeDocument/2006/relationships/notesSlide" Target="/ppt/notesSlides/notesSlide4.xml" Id="Rb0263dde4dd04b28" /></Relationships>
</file>

<file path=ppt/slides/_rels/slide5.xml.rels>&#65279;<?xml version="1.0" encoding="utf-8"?><Relationships xmlns="http://schemas.openxmlformats.org/package/2006/relationships"><Relationship Type="http://schemas.openxmlformats.org/officeDocument/2006/relationships/slideLayout" Target="/ppt/slideLayouts/slideLayout2.xml" Id="Rc2076943b08246f0" /><Relationship Type="http://schemas.openxmlformats.org/officeDocument/2006/relationships/image" Target="/ppt/media/image9.png" Id="R9306c965c84f4b93" /><Relationship Type="http://schemas.openxmlformats.org/officeDocument/2006/relationships/image" Target="/ppt/media/image9.svg" Id="Ra3f6b12ab6ab4c5d" /><Relationship Type="http://schemas.openxmlformats.org/officeDocument/2006/relationships/image" Target="/ppt/media/image10.png" Id="R43e807481bbd4129" /><Relationship Type="http://schemas.openxmlformats.org/officeDocument/2006/relationships/image" Target="/ppt/media/image10.svg" Id="Rbbf0730f4df64cca" /><Relationship Type="http://schemas.openxmlformats.org/officeDocument/2006/relationships/image" Target="/ppt/media/image11.png" Id="Raf166f53db02416f" /><Relationship Type="http://schemas.openxmlformats.org/officeDocument/2006/relationships/image" Target="/ppt/media/image11.svg" Id="R1889e1a45fda4bcd" /><Relationship Type="http://schemas.openxmlformats.org/officeDocument/2006/relationships/image" Target="/ppt/media/image12.png" Id="R646eea77407e487c" /><Relationship Type="http://schemas.openxmlformats.org/officeDocument/2006/relationships/image" Target="/ppt/media/image12.svg" Id="R63733c1f674944c1" /><Relationship Type="http://schemas.openxmlformats.org/officeDocument/2006/relationships/notesSlide" Target="/ppt/notesSlides/notesSlide5.xml" Id="R7a5b4f80e87b4235" /></Relationships>
</file>

<file path=ppt/slides/_rels/slide6.xml.rels>&#65279;<?xml version="1.0" encoding="utf-8"?><Relationships xmlns="http://schemas.openxmlformats.org/package/2006/relationships"><Relationship Type="http://schemas.openxmlformats.org/officeDocument/2006/relationships/slideLayout" Target="/ppt/slideLayouts/slideLayout2.xml" Id="R9aa6a893335e4399" /><Relationship Type="http://schemas.openxmlformats.org/officeDocument/2006/relationships/image" Target="/ppt/media/image13.png" Id="Rbbb4702bbabd4ffe" /><Relationship Type="http://schemas.openxmlformats.org/officeDocument/2006/relationships/image" Target="/ppt/media/image13.svg" Id="R43d3b764659c4c70" /><Relationship Type="http://schemas.openxmlformats.org/officeDocument/2006/relationships/image" Target="/ppt/media/image14.png" Id="Reebf2d0b1b4149a3" /><Relationship Type="http://schemas.openxmlformats.org/officeDocument/2006/relationships/image" Target="/ppt/media/image14.svg" Id="R2e5b8e227f214cbf" /><Relationship Type="http://schemas.openxmlformats.org/officeDocument/2006/relationships/notesSlide" Target="/ppt/notesSlides/notesSlide6.xml" Id="R6039f504f9734505" /></Relationships>
</file>

<file path=ppt/slides/_rels/slide7.xml.rels>&#65279;<?xml version="1.0" encoding="utf-8"?><Relationships xmlns="http://schemas.openxmlformats.org/package/2006/relationships"><Relationship Type="http://schemas.openxmlformats.org/officeDocument/2006/relationships/slideLayout" Target="/ppt/slideLayouts/slideLayout2.xml" Id="R16240bd1ac0442f5" /><Relationship Type="http://schemas.openxmlformats.org/officeDocument/2006/relationships/image" Target="/ppt/media/image15.png" Id="R8d698a8c3825466c" /><Relationship Type="http://schemas.openxmlformats.org/officeDocument/2006/relationships/image" Target="/ppt/media/image15.svg" Id="Rc9864f8ebe434b45" /><Relationship Type="http://schemas.openxmlformats.org/officeDocument/2006/relationships/image" Target="/ppt/media/image16.png" Id="R47ead9c80fc04db1" /><Relationship Type="http://schemas.openxmlformats.org/officeDocument/2006/relationships/image" Target="/ppt/media/image16.svg" Id="R945e47dd559242c4" /><Relationship Type="http://schemas.openxmlformats.org/officeDocument/2006/relationships/notesSlide" Target="/ppt/notesSlides/notesSlide7.xml" Id="R2ff283c305af45a7" /></Relationships>
</file>

<file path=ppt/slides/_rels/slide8.xml.rels>&#65279;<?xml version="1.0" encoding="utf-8"?><Relationships xmlns="http://schemas.openxmlformats.org/package/2006/relationships"><Relationship Type="http://schemas.openxmlformats.org/officeDocument/2006/relationships/slideLayout" Target="/ppt/slideLayouts/slideLayout2.xml" Id="R8640f805ce9b4140" /><Relationship Type="http://schemas.openxmlformats.org/officeDocument/2006/relationships/notesSlide" Target="/ppt/notesSlides/notesSlide8.xml" Id="R28c58294dd4b4072" /></Relationships>
</file>

<file path=ppt/slides/_rels/slide9.xml.rels>&#65279;<?xml version="1.0" encoding="utf-8"?><Relationships xmlns="http://schemas.openxmlformats.org/package/2006/relationships"><Relationship Type="http://schemas.openxmlformats.org/officeDocument/2006/relationships/slideLayout" Target="/ppt/slideLayouts/slideLayout2.xml" Id="R97a14c48dece4b02" /><Relationship Type="http://schemas.openxmlformats.org/officeDocument/2006/relationships/notesSlide" Target="/ppt/notesSlides/notesSlide9.xml" Id="R34787e74979648d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2.xml" Id="R8c6b68ed07494e81" /><Relationship Type="http://schemas.openxmlformats.org/officeDocument/2006/relationships/image" Target="/ppt/media/image17.png" Id="R590de40005e44ec8" /><Relationship Type="http://schemas.openxmlformats.org/officeDocument/2006/relationships/image" Target="/ppt/media/image17.svg" Id="R0184d8977d694ce5" /><Relationship Type="http://schemas.openxmlformats.org/officeDocument/2006/relationships/notesSlide" Target="/ppt/notesSlides/notesSlide10.xml" Id="R5a0bb7d17881475a"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77528943-C5A8-489D-971C-D04F877D7840}"/>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EFE7"/>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13E377F1-F96A-4706-A24E-383ED81B7F9D}"/>
              </a:ext>
            </a:extLst>
          </p:cNvPr>
          <p:cNvSpPr>
            <a:spLocks xmlns:a="http://schemas.openxmlformats.org/drawingml/2006/main" noGrp="1"/>
          </p:cNvSpPr>
          <p:nvPr/>
        </p:nvSpPr>
        <p:spPr>
          <a:xfrm xmlns:a="http://schemas.openxmlformats.org/drawingml/2006/main">
            <a:off x="552450" y="781050"/>
            <a:ext cx="6438900" cy="4800600"/>
          </a:xfrm>
          <a:prstGeom xmlns:a="http://schemas.openxmlformats.org/drawingml/2006/main" prst="rect">
            <a:avLst/>
          </a:prstGeom>
          <a:solidFill xmlns:a="http://schemas.openxmlformats.org/drawingml/2006/main">
            <a:srgbClr val="FFFDFC"/>
          </a:solidFill>
          <a:ln xmlns:a="http://schemas.openxmlformats.org/drawingml/2006/main" w="9525">
            <a:solidFill>
              <a:srgbClr val="D7CEC3"/>
            </a:solidFill>
            <a:prstDash val="solid"/>
          </a:ln>
        </p:spPr>
      </p:sp>
      <p:sp>
        <p:nvSpPr>
          <p:cNvPr id="3" name="">
            <a:extLst xmlns:a="http://schemas.openxmlformats.org/drawingml/2006/main">
              <a:ext uri="{FF2B5EF4-FFF2-40B4-BE49-F238E27FC236}">
                <a16:creationId xmlns:a16="http://schemas.microsoft.com/office/drawing/2014/main" id="{11A26B95-203C-43F3-81E1-D18FD7D8F68A}"/>
              </a:ext>
            </a:extLst>
          </p:cNvPr>
          <p:cNvSpPr>
            <a:spLocks xmlns:a="http://schemas.openxmlformats.org/drawingml/2006/main" noGrp="1"/>
          </p:cNvSpPr>
          <p:nvPr/>
        </p:nvSpPr>
        <p:spPr>
          <a:xfrm xmlns:a="http://schemas.openxmlformats.org/drawingml/2006/main">
            <a:off x="7372350" y="781050"/>
            <a:ext cx="4267200" cy="4800600"/>
          </a:xfrm>
          <a:prstGeom xmlns:a="http://schemas.openxmlformats.org/drawingml/2006/main" prst="rect">
            <a:avLst/>
          </a:prstGeom>
          <a:solidFill xmlns:a="http://schemas.openxmlformats.org/drawingml/2006/main">
            <a:srgbClr val="163556"/>
          </a:solidFill>
          <a:ln xmlns:a="http://schemas.openxmlformats.org/drawingml/2006/main" w="0">
            <a:solidFill>
              <a:srgbClr val="163556"/>
            </a:solidFill>
            <a:prstDash val="solid"/>
          </a:ln>
        </p:spPr>
      </p:sp>
      <p:sp>
        <p:nvSpPr>
          <p:cNvPr id="4" name="">
            <a:extLst xmlns:a="http://schemas.openxmlformats.org/drawingml/2006/main">
              <a:ext uri="{FF2B5EF4-FFF2-40B4-BE49-F238E27FC236}">
                <a16:creationId xmlns:a16="http://schemas.microsoft.com/office/drawing/2014/main" id="{CC802507-E256-45AF-9E34-5096B7443DA2}"/>
              </a:ext>
            </a:extLst>
          </p:cNvPr>
          <p:cNvSpPr>
            <a:spLocks xmlns:a="http://schemas.openxmlformats.org/drawingml/2006/main" noGrp="1"/>
          </p:cNvSpPr>
          <p:nvPr/>
        </p:nvSpPr>
        <p:spPr>
          <a:xfrm xmlns:a="http://schemas.openxmlformats.org/drawingml/2006/main">
            <a:off x="7372350" y="781050"/>
            <a:ext cx="95250" cy="4800600"/>
          </a:xfrm>
          <a:prstGeom xmlns:a="http://schemas.openxmlformats.org/drawingml/2006/main" prst="rect">
            <a:avLst/>
          </a:prstGeom>
          <a:solidFill xmlns:a="http://schemas.openxmlformats.org/drawingml/2006/main">
            <a:srgbClr val="1C8A78"/>
          </a:solidFill>
          <a:ln xmlns:a="http://schemas.openxmlformats.org/drawingml/2006/main" w="0">
            <a:solidFill>
              <a:srgbClr val="1C8A78"/>
            </a:solidFill>
            <a:prstDash val="solid"/>
          </a:ln>
        </p:spPr>
      </p:sp>
      <p:sp>
        <p:nvSpPr>
          <p:cNvPr id="5" name="">
            <a:extLst xmlns:a="http://schemas.openxmlformats.org/drawingml/2006/main">
              <a:ext uri="{FF2B5EF4-FFF2-40B4-BE49-F238E27FC236}">
                <a16:creationId xmlns:a16="http://schemas.microsoft.com/office/drawing/2014/main" id="{029AA8C7-A4C2-4DD7-8AEA-50A556AB228C}"/>
              </a:ext>
            </a:extLst>
          </p:cNvPr>
          <p:cNvSpPr>
            <a:spLocks xmlns:a="http://schemas.openxmlformats.org/drawingml/2006/main" noGrp="1"/>
          </p:cNvSpPr>
          <p:nvPr/>
        </p:nvSpPr>
        <p:spPr>
          <a:xfrm xmlns:a="http://schemas.openxmlformats.org/drawingml/2006/main">
            <a:off x="800100" y="104775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88" b="1">
                <a:solidFill>
                  <a:srgbClr val="E76F1D"/>
                </a:solidFill>
                <a:latin typeface="Aptos"/>
                <a:ea typeface="Aptos"/>
                <a:cs typeface="Aptos"/>
              </a:defRPr>
            </a:pPr>
            <a:r>
              <a:rPr sz="788" b="1">
                <a:solidFill>
                  <a:srgbClr val="E76F1D"/>
                </a:solidFill>
                <a:latin typeface="Aptos"/>
                <a:ea typeface="Aptos"/>
                <a:cs typeface="Aptos"/>
              </a:rPr>
              <a:t>PROPOSITION CIBLEE | ELTON CI</a:t>
            </a:r>
          </a:p>
        </p:txBody>
      </p:sp>
      <p:sp>
        <p:nvSpPr>
          <p:cNvPr id="6" name="">
            <a:extLst xmlns:a="http://schemas.openxmlformats.org/drawingml/2006/main">
              <a:ext uri="{FF2B5EF4-FFF2-40B4-BE49-F238E27FC236}">
                <a16:creationId xmlns:a16="http://schemas.microsoft.com/office/drawing/2014/main" id="{5137E2D6-3CA6-4272-B8DF-7557F8796FDE}"/>
              </a:ext>
            </a:extLst>
          </p:cNvPr>
          <p:cNvSpPr>
            <a:spLocks xmlns:a="http://schemas.openxmlformats.org/drawingml/2006/main" noGrp="1"/>
          </p:cNvSpPr>
          <p:nvPr/>
        </p:nvSpPr>
        <p:spPr>
          <a:xfrm xmlns:a="http://schemas.openxmlformats.org/drawingml/2006/main">
            <a:off x="800100" y="1409700"/>
            <a:ext cx="5334000" cy="1466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3150" b="1">
                <a:solidFill>
                  <a:srgbClr val="1A3554"/>
                </a:solidFill>
                <a:latin typeface="Aptos Display"/>
                <a:ea typeface="Aptos Display"/>
                <a:cs typeface="Aptos Display"/>
              </a:defRPr>
            </a:pPr>
            <a:r>
              <a:rPr sz="3150" b="1">
                <a:solidFill>
                  <a:srgbClr val="1A3554"/>
                </a:solidFill>
                <a:latin typeface="Aptos Display"/>
                <a:ea typeface="Aptos Display"/>
                <a:cs typeface="Aptos Display"/>
              </a:rPr>
              <a:t>Transformer l'IA</a:t>
            </a:r>
          </a:p>
          <a:p xmlns:a="http://schemas.openxmlformats.org/drawingml/2006/main">
            <a:pPr algn="l">
              <a:defRPr sz="3150" b="1">
                <a:solidFill>
                  <a:srgbClr val="1A3554"/>
                </a:solidFill>
                <a:latin typeface="Aptos Display"/>
                <a:ea typeface="Aptos Display"/>
                <a:cs typeface="Aptos Display"/>
              </a:defRPr>
            </a:pPr>
            <a:r>
              <a:rPr sz="3150" b="1">
                <a:solidFill>
                  <a:srgbClr val="1A3554"/>
                </a:solidFill>
                <a:latin typeface="Aptos Display"/>
                <a:ea typeface="Aptos Display"/>
                <a:cs typeface="Aptos Display"/>
              </a:rPr>
              <a:t>en gains visibles</a:t>
            </a:r>
          </a:p>
          <a:p xmlns:a="http://schemas.openxmlformats.org/drawingml/2006/main">
            <a:pPr algn="l">
              <a:defRPr sz="3150" b="1">
                <a:solidFill>
                  <a:srgbClr val="1A3554"/>
                </a:solidFill>
                <a:latin typeface="Aptos Display"/>
                <a:ea typeface="Aptos Display"/>
                <a:cs typeface="Aptos Display"/>
              </a:defRPr>
            </a:pPr>
            <a:r>
              <a:rPr sz="3150" b="1">
                <a:solidFill>
                  <a:srgbClr val="1A3554"/>
                </a:solidFill>
                <a:latin typeface="Aptos Display"/>
                <a:ea typeface="Aptos Display"/>
                <a:cs typeface="Aptos Display"/>
              </a:rPr>
              <a:t>pour ELTON CI</a:t>
            </a:r>
          </a:p>
        </p:txBody>
      </p:sp>
      <p:sp>
        <p:nvSpPr>
          <p:cNvPr id="7" name="">
            <a:extLst xmlns:a="http://schemas.openxmlformats.org/drawingml/2006/main">
              <a:ext uri="{FF2B5EF4-FFF2-40B4-BE49-F238E27FC236}">
                <a16:creationId xmlns:a16="http://schemas.microsoft.com/office/drawing/2014/main" id="{D9980A3B-0520-4268-B9D6-639F5CE6656A}"/>
              </a:ext>
            </a:extLst>
          </p:cNvPr>
          <p:cNvSpPr>
            <a:spLocks xmlns:a="http://schemas.openxmlformats.org/drawingml/2006/main" noGrp="1"/>
          </p:cNvSpPr>
          <p:nvPr/>
        </p:nvSpPr>
        <p:spPr>
          <a:xfrm xmlns:a="http://schemas.openxmlformats.org/drawingml/2006/main">
            <a:off x="800100" y="3086100"/>
            <a:ext cx="55245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617086"/>
                </a:solidFill>
                <a:latin typeface="Aptos"/>
                <a:ea typeface="Aptos"/>
                <a:cs typeface="Aptos"/>
              </a:defRPr>
            </a:pPr>
            <a:r>
              <a:rPr sz="1200" b="0">
                <a:solidFill>
                  <a:srgbClr val="617086"/>
                </a:solidFill>
                <a:latin typeface="Aptos"/>
                <a:ea typeface="Aptos"/>
                <a:cs typeface="Aptos"/>
              </a:rPr>
              <a:t>Une proposition construite a partir du ROI de reference TransferAI, mais traduite dans le contexte ELTON CI autour de 4 terrains d'impact: comptes professionnels, flotte et cartes carburant, service client, procedures internes.</a:t>
            </a:r>
          </a:p>
        </p:txBody>
      </p:sp>
      <p:sp>
        <p:nvSpPr>
          <p:cNvPr id="8" name="">
            <a:extLst xmlns:a="http://schemas.openxmlformats.org/drawingml/2006/main">
              <a:ext uri="{FF2B5EF4-FFF2-40B4-BE49-F238E27FC236}">
                <a16:creationId xmlns:a16="http://schemas.microsoft.com/office/drawing/2014/main" id="{97BF6BC4-14FA-41DB-B7FA-9A826AF75D00}"/>
              </a:ext>
            </a:extLst>
          </p:cNvPr>
          <p:cNvSpPr>
            <a:spLocks xmlns:a="http://schemas.openxmlformats.org/drawingml/2006/main" noGrp="1"/>
          </p:cNvSpPr>
          <p:nvPr/>
        </p:nvSpPr>
        <p:spPr>
          <a:xfrm xmlns:a="http://schemas.openxmlformats.org/drawingml/2006/main">
            <a:off x="800100" y="3981450"/>
            <a:ext cx="3905250" cy="285750"/>
          </a:xfrm>
          <a:prstGeom xmlns:a="http://schemas.openxmlformats.org/drawingml/2006/main" prst="rect">
            <a:avLst/>
          </a:prstGeom>
          <a:solidFill xmlns:a="http://schemas.openxmlformats.org/drawingml/2006/main">
            <a:srgbClr val="FBF5EE"/>
          </a:solidFill>
          <a:ln xmlns:a="http://schemas.openxmlformats.org/drawingml/2006/main" w="9525">
            <a:solidFill>
              <a:srgbClr val="D7CEC3"/>
            </a:solidFill>
            <a:prstDash val="solid"/>
          </a:ln>
        </p:spPr>
      </p:sp>
      <p:sp>
        <p:nvSpPr>
          <p:cNvPr id="9" name="">
            <a:extLst xmlns:a="http://schemas.openxmlformats.org/drawingml/2006/main">
              <a:ext uri="{FF2B5EF4-FFF2-40B4-BE49-F238E27FC236}">
                <a16:creationId xmlns:a16="http://schemas.microsoft.com/office/drawing/2014/main" id="{58F7A7C5-3FE3-4674-A075-9E6920BCD609}"/>
              </a:ext>
            </a:extLst>
          </p:cNvPr>
          <p:cNvSpPr>
            <a:spLocks xmlns:a="http://schemas.openxmlformats.org/drawingml/2006/main" noGrp="1"/>
          </p:cNvSpPr>
          <p:nvPr/>
        </p:nvSpPr>
        <p:spPr>
          <a:xfrm xmlns:a="http://schemas.openxmlformats.org/drawingml/2006/main">
            <a:off x="952500" y="4048125"/>
            <a:ext cx="361950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63" b="1">
                <a:solidFill>
                  <a:srgbClr val="1A3554"/>
                </a:solidFill>
                <a:latin typeface="Aptos"/>
                <a:ea typeface="Aptos"/>
                <a:cs typeface="Aptos"/>
              </a:defRPr>
            </a:pPr>
            <a:r>
              <a:rPr sz="863" b="1">
                <a:solidFill>
                  <a:srgbClr val="1A3554"/>
                </a:solidFill>
                <a:latin typeface="Aptos"/>
                <a:ea typeface="Aptos"/>
                <a:cs typeface="Aptos"/>
              </a:rPr>
              <a:t>TransferAI est le hub AI de Nettelecom CI.</a:t>
            </a:r>
          </a:p>
        </p:txBody>
      </p:sp>
      <p:sp>
        <p:nvSpPr>
          <p:cNvPr id="10" name="">
            <a:extLst xmlns:a="http://schemas.openxmlformats.org/drawingml/2006/main">
              <a:ext uri="{FF2B5EF4-FFF2-40B4-BE49-F238E27FC236}">
                <a16:creationId xmlns:a16="http://schemas.microsoft.com/office/drawing/2014/main" id="{50CCA883-C109-46AA-9C87-E1F1A4E68350}"/>
              </a:ext>
            </a:extLst>
          </p:cNvPr>
          <p:cNvSpPr>
            <a:spLocks xmlns:a="http://schemas.openxmlformats.org/drawingml/2006/main" noGrp="1"/>
          </p:cNvSpPr>
          <p:nvPr/>
        </p:nvSpPr>
        <p:spPr>
          <a:xfrm xmlns:a="http://schemas.openxmlformats.org/drawingml/2006/main">
            <a:off x="800100" y="4324350"/>
            <a:ext cx="209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E76F1D"/>
                </a:solidFill>
                <a:latin typeface="Aptos"/>
                <a:ea typeface="Aptos"/>
                <a:cs typeface="Aptos"/>
              </a:defRPr>
            </a:pPr>
            <a:r>
              <a:rPr sz="750" b="1">
                <a:solidFill>
                  <a:srgbClr val="E76F1D"/>
                </a:solidFill>
                <a:latin typeface="Aptos"/>
                <a:ea typeface="Aptos"/>
                <a:cs typeface="Aptos"/>
              </a:rPr>
              <a:t>Point d'entree recommande</a:t>
            </a:r>
          </a:p>
        </p:txBody>
      </p:sp>
      <p:sp>
        <p:nvSpPr>
          <p:cNvPr id="11" name="">
            <a:extLst xmlns:a="http://schemas.openxmlformats.org/drawingml/2006/main">
              <a:ext uri="{FF2B5EF4-FFF2-40B4-BE49-F238E27FC236}">
                <a16:creationId xmlns:a16="http://schemas.microsoft.com/office/drawing/2014/main" id="{C0EE7505-7CB1-4208-8F59-5EC91AB098A9}"/>
              </a:ext>
            </a:extLst>
          </p:cNvPr>
          <p:cNvSpPr>
            <a:spLocks xmlns:a="http://schemas.openxmlformats.org/drawingml/2006/main" noGrp="1"/>
          </p:cNvSpPr>
          <p:nvPr/>
        </p:nvSpPr>
        <p:spPr>
          <a:xfrm xmlns:a="http://schemas.openxmlformats.org/drawingml/2006/main">
            <a:off x="800100" y="4533900"/>
            <a:ext cx="5219700" cy="533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1A3554"/>
                </a:solidFill>
                <a:latin typeface="Aptos"/>
                <a:ea typeface="Aptos"/>
                <a:cs typeface="Aptos"/>
              </a:defRPr>
            </a:pPr>
            <a:r>
              <a:rPr sz="1050" b="1">
                <a:solidFill>
                  <a:srgbClr val="1A3554"/>
                </a:solidFill>
                <a:latin typeface="Aptos"/>
                <a:ea typeface="Aptos"/>
                <a:cs typeface="Aptos"/>
              </a:rPr>
              <a:t>Audit IA gratuit + atelier metier de 45 minutes pour qualifier les priorites, les KPI et la bonne sequence de deploiement.</a:t>
            </a:r>
          </a:p>
        </p:txBody>
      </p:sp>
      <p:sp>
        <p:nvSpPr>
          <p:cNvPr id="12" name="">
            <a:extLst xmlns:a="http://schemas.openxmlformats.org/drawingml/2006/main">
              <a:ext uri="{FF2B5EF4-FFF2-40B4-BE49-F238E27FC236}">
                <a16:creationId xmlns:a16="http://schemas.microsoft.com/office/drawing/2014/main" id="{F7004D11-DF4D-45A2-9484-071594F0042B}"/>
              </a:ext>
            </a:extLst>
          </p:cNvPr>
          <p:cNvSpPr>
            <a:spLocks xmlns:a="http://schemas.openxmlformats.org/drawingml/2006/main" noGrp="1"/>
          </p:cNvSpPr>
          <p:nvPr/>
        </p:nvSpPr>
        <p:spPr>
          <a:xfrm xmlns:a="http://schemas.openxmlformats.org/drawingml/2006/main">
            <a:off x="800100" y="5219700"/>
            <a:ext cx="1314450" cy="819150"/>
          </a:xfrm>
          <a:prstGeom xmlns:a="http://schemas.openxmlformats.org/drawingml/2006/main" prst="rect">
            <a:avLst/>
          </a:prstGeom>
          <a:solidFill xmlns:a="http://schemas.openxmlformats.org/drawingml/2006/main">
            <a:srgbClr val="FFFDFC"/>
          </a:solidFill>
          <a:ln xmlns:a="http://schemas.openxmlformats.org/drawingml/2006/main" w="9525">
            <a:solidFill>
              <a:srgbClr val="D7CEC3"/>
            </a:solidFill>
            <a:prstDash val="solid"/>
          </a:ln>
        </p:spPr>
      </p:sp>
      <p:sp>
        <p:nvSpPr>
          <p:cNvPr id="13" name="">
            <a:extLst xmlns:a="http://schemas.openxmlformats.org/drawingml/2006/main">
              <a:ext uri="{FF2B5EF4-FFF2-40B4-BE49-F238E27FC236}">
                <a16:creationId xmlns:a16="http://schemas.microsoft.com/office/drawing/2014/main" id="{8C07C5B4-135E-4834-A8F1-63086F7AD918}"/>
              </a:ext>
            </a:extLst>
          </p:cNvPr>
          <p:cNvSpPr>
            <a:spLocks xmlns:a="http://schemas.openxmlformats.org/drawingml/2006/main" noGrp="1"/>
          </p:cNvSpPr>
          <p:nvPr/>
        </p:nvSpPr>
        <p:spPr>
          <a:xfrm xmlns:a="http://schemas.openxmlformats.org/drawingml/2006/main">
            <a:off x="952500" y="5391150"/>
            <a:ext cx="28575" cy="476250"/>
          </a:xfrm>
          <a:prstGeom xmlns:a="http://schemas.openxmlformats.org/drawingml/2006/main" prst="rect">
            <a:avLst/>
          </a:prstGeom>
          <a:solidFill xmlns:a="http://schemas.openxmlformats.org/drawingml/2006/main">
            <a:srgbClr val="E76F1D"/>
          </a:solidFill>
          <a:ln xmlns:a="http://schemas.openxmlformats.org/drawingml/2006/main" w="0">
            <a:solidFill>
              <a:srgbClr val="000000">
                <a:alpha val="0"/>
              </a:srgbClr>
            </a:solidFill>
            <a:prstDash val="solid"/>
          </a:ln>
        </p:spPr>
      </p:sp>
      <p:sp>
        <p:nvSpPr>
          <p:cNvPr id="14" name="">
            <a:extLst xmlns:a="http://schemas.openxmlformats.org/drawingml/2006/main">
              <a:ext uri="{FF2B5EF4-FFF2-40B4-BE49-F238E27FC236}">
                <a16:creationId xmlns:a16="http://schemas.microsoft.com/office/drawing/2014/main" id="{57056D32-C8EA-468E-82D9-6AF519FD39B6}"/>
              </a:ext>
            </a:extLst>
          </p:cNvPr>
          <p:cNvSpPr>
            <a:spLocks xmlns:a="http://schemas.openxmlformats.org/drawingml/2006/main" noGrp="1"/>
          </p:cNvSpPr>
          <p:nvPr/>
        </p:nvSpPr>
        <p:spPr>
          <a:xfrm xmlns:a="http://schemas.openxmlformats.org/drawingml/2006/main">
            <a:off x="1085850" y="5353050"/>
            <a:ext cx="8953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650" b="1">
                <a:solidFill>
                  <a:srgbClr val="1A3554"/>
                </a:solidFill>
                <a:latin typeface="Aptos Display"/>
                <a:ea typeface="Aptos Display"/>
                <a:cs typeface="Aptos Display"/>
              </a:defRPr>
            </a:pPr>
            <a:r>
              <a:rPr sz="1650" b="1">
                <a:solidFill>
                  <a:srgbClr val="1A3554"/>
                </a:solidFill>
                <a:latin typeface="Aptos Display"/>
                <a:ea typeface="Aptos Display"/>
                <a:cs typeface="Aptos Display"/>
              </a:rPr>
              <a:t>J+15</a:t>
            </a:r>
          </a:p>
        </p:txBody>
      </p:sp>
      <p:sp>
        <p:nvSpPr>
          <p:cNvPr id="15" name="">
            <a:extLst xmlns:a="http://schemas.openxmlformats.org/drawingml/2006/main">
              <a:ext uri="{FF2B5EF4-FFF2-40B4-BE49-F238E27FC236}">
                <a16:creationId xmlns:a16="http://schemas.microsoft.com/office/drawing/2014/main" id="{74D8B170-E285-4120-88EF-594A71884F9D}"/>
              </a:ext>
            </a:extLst>
          </p:cNvPr>
          <p:cNvSpPr>
            <a:spLocks xmlns:a="http://schemas.openxmlformats.org/drawingml/2006/main" noGrp="1"/>
          </p:cNvSpPr>
          <p:nvPr/>
        </p:nvSpPr>
        <p:spPr>
          <a:xfrm xmlns:a="http://schemas.openxmlformats.org/drawingml/2006/main">
            <a:off x="1085850" y="5657850"/>
            <a:ext cx="8953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13" b="1">
                <a:solidFill>
                  <a:srgbClr val="617086"/>
                </a:solidFill>
                <a:latin typeface="Aptos"/>
                <a:ea typeface="Aptos"/>
                <a:cs typeface="Aptos"/>
              </a:defRPr>
            </a:pPr>
            <a:r>
              <a:rPr sz="713" b="1">
                <a:solidFill>
                  <a:srgbClr val="617086"/>
                </a:solidFill>
                <a:latin typeface="Aptos"/>
                <a:ea typeface="Aptos"/>
                <a:cs typeface="Aptos"/>
              </a:rPr>
              <a:t>premier livrable</a:t>
            </a:r>
          </a:p>
        </p:txBody>
      </p:sp>
      <p:sp>
        <p:nvSpPr>
          <p:cNvPr id="16" name="">
            <a:extLst xmlns:a="http://schemas.openxmlformats.org/drawingml/2006/main">
              <a:ext uri="{FF2B5EF4-FFF2-40B4-BE49-F238E27FC236}">
                <a16:creationId xmlns:a16="http://schemas.microsoft.com/office/drawing/2014/main" id="{9735204B-42AE-4791-B860-EA926DF09D12}"/>
              </a:ext>
            </a:extLst>
          </p:cNvPr>
          <p:cNvSpPr>
            <a:spLocks xmlns:a="http://schemas.openxmlformats.org/drawingml/2006/main" noGrp="1"/>
          </p:cNvSpPr>
          <p:nvPr/>
        </p:nvSpPr>
        <p:spPr>
          <a:xfrm xmlns:a="http://schemas.openxmlformats.org/drawingml/2006/main">
            <a:off x="1085850" y="5829300"/>
            <a:ext cx="89535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38" b="0">
                <a:solidFill>
                  <a:srgbClr val="617086"/>
                </a:solidFill>
                <a:latin typeface="Aptos"/>
                <a:ea typeface="Aptos"/>
                <a:cs typeface="Aptos"/>
              </a:defRPr>
            </a:pPr>
            <a:r>
              <a:rPr sz="638" b="0">
                <a:solidFill>
                  <a:srgbClr val="617086"/>
                </a:solidFill>
                <a:latin typeface="Aptos"/>
                <a:ea typeface="Aptos"/>
                <a:cs typeface="Aptos"/>
              </a:rPr>
              <a:t>lecture claire des gains rapides</a:t>
            </a:r>
          </a:p>
        </p:txBody>
      </p:sp>
      <p:sp>
        <p:nvSpPr>
          <p:cNvPr id="17" name="">
            <a:extLst xmlns:a="http://schemas.openxmlformats.org/drawingml/2006/main">
              <a:ext uri="{FF2B5EF4-FFF2-40B4-BE49-F238E27FC236}">
                <a16:creationId xmlns:a16="http://schemas.microsoft.com/office/drawing/2014/main" id="{2A4B2580-63F4-45B5-B603-8550CBCD8B28}"/>
              </a:ext>
            </a:extLst>
          </p:cNvPr>
          <p:cNvSpPr>
            <a:spLocks xmlns:a="http://schemas.openxmlformats.org/drawingml/2006/main" noGrp="1"/>
          </p:cNvSpPr>
          <p:nvPr/>
        </p:nvSpPr>
        <p:spPr>
          <a:xfrm xmlns:a="http://schemas.openxmlformats.org/drawingml/2006/main">
            <a:off x="2247900" y="5219700"/>
            <a:ext cx="1314450" cy="819150"/>
          </a:xfrm>
          <a:prstGeom xmlns:a="http://schemas.openxmlformats.org/drawingml/2006/main" prst="rect">
            <a:avLst/>
          </a:prstGeom>
          <a:solidFill xmlns:a="http://schemas.openxmlformats.org/drawingml/2006/main">
            <a:srgbClr val="FFFDFC"/>
          </a:solidFill>
          <a:ln xmlns:a="http://schemas.openxmlformats.org/drawingml/2006/main" w="9525">
            <a:solidFill>
              <a:srgbClr val="D7CEC3"/>
            </a:solidFill>
            <a:prstDash val="solid"/>
          </a:ln>
        </p:spPr>
      </p:sp>
      <p:sp>
        <p:nvSpPr>
          <p:cNvPr id="18" name="">
            <a:extLst xmlns:a="http://schemas.openxmlformats.org/drawingml/2006/main">
              <a:ext uri="{FF2B5EF4-FFF2-40B4-BE49-F238E27FC236}">
                <a16:creationId xmlns:a16="http://schemas.microsoft.com/office/drawing/2014/main" id="{A5105DBE-0AB4-40CA-B0E7-23BA33C81E6D}"/>
              </a:ext>
            </a:extLst>
          </p:cNvPr>
          <p:cNvSpPr>
            <a:spLocks xmlns:a="http://schemas.openxmlformats.org/drawingml/2006/main" noGrp="1"/>
          </p:cNvSpPr>
          <p:nvPr/>
        </p:nvSpPr>
        <p:spPr>
          <a:xfrm xmlns:a="http://schemas.openxmlformats.org/drawingml/2006/main">
            <a:off x="2400300" y="5391150"/>
            <a:ext cx="28575" cy="476250"/>
          </a:xfrm>
          <a:prstGeom xmlns:a="http://schemas.openxmlformats.org/drawingml/2006/main" prst="rect">
            <a:avLst/>
          </a:prstGeom>
          <a:solidFill xmlns:a="http://schemas.openxmlformats.org/drawingml/2006/main">
            <a:srgbClr val="1C8A78"/>
          </a:solidFill>
          <a:ln xmlns:a="http://schemas.openxmlformats.org/drawingml/2006/main" w="0">
            <a:solidFill>
              <a:srgbClr val="000000">
                <a:alpha val="0"/>
              </a:srgbClr>
            </a:solidFill>
            <a:prstDash val="solid"/>
          </a:ln>
        </p:spPr>
      </p:sp>
      <p:sp>
        <p:nvSpPr>
          <p:cNvPr id="19" name="">
            <a:extLst xmlns:a="http://schemas.openxmlformats.org/drawingml/2006/main">
              <a:ext uri="{FF2B5EF4-FFF2-40B4-BE49-F238E27FC236}">
                <a16:creationId xmlns:a16="http://schemas.microsoft.com/office/drawing/2014/main" id="{7A16880A-7C84-47C7-9C90-9E3A0DFFFA26}"/>
              </a:ext>
            </a:extLst>
          </p:cNvPr>
          <p:cNvSpPr>
            <a:spLocks xmlns:a="http://schemas.openxmlformats.org/drawingml/2006/main" noGrp="1"/>
          </p:cNvSpPr>
          <p:nvPr/>
        </p:nvSpPr>
        <p:spPr>
          <a:xfrm xmlns:a="http://schemas.openxmlformats.org/drawingml/2006/main">
            <a:off x="2533650" y="5353050"/>
            <a:ext cx="8953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650" b="1">
                <a:solidFill>
                  <a:srgbClr val="1A3554"/>
                </a:solidFill>
                <a:latin typeface="Aptos Display"/>
                <a:ea typeface="Aptos Display"/>
                <a:cs typeface="Aptos Display"/>
              </a:defRPr>
            </a:pPr>
            <a:r>
              <a:rPr sz="1650" b="1">
                <a:solidFill>
                  <a:srgbClr val="1A3554"/>
                </a:solidFill>
                <a:latin typeface="Aptos Display"/>
                <a:ea typeface="Aptos Display"/>
                <a:cs typeface="Aptos Display"/>
              </a:rPr>
              <a:t>13</a:t>
            </a:r>
          </a:p>
        </p:txBody>
      </p:sp>
      <p:sp>
        <p:nvSpPr>
          <p:cNvPr id="20" name="">
            <a:extLst xmlns:a="http://schemas.openxmlformats.org/drawingml/2006/main">
              <a:ext uri="{FF2B5EF4-FFF2-40B4-BE49-F238E27FC236}">
                <a16:creationId xmlns:a16="http://schemas.microsoft.com/office/drawing/2014/main" id="{A173DD4A-4548-4BF7-9E62-DC29FB5F0634}"/>
              </a:ext>
            </a:extLst>
          </p:cNvPr>
          <p:cNvSpPr>
            <a:spLocks xmlns:a="http://schemas.openxmlformats.org/drawingml/2006/main" noGrp="1"/>
          </p:cNvSpPr>
          <p:nvPr/>
        </p:nvSpPr>
        <p:spPr>
          <a:xfrm xmlns:a="http://schemas.openxmlformats.org/drawingml/2006/main">
            <a:off x="2533650" y="5657850"/>
            <a:ext cx="8953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13" b="1">
                <a:solidFill>
                  <a:srgbClr val="617086"/>
                </a:solidFill>
                <a:latin typeface="Aptos"/>
                <a:ea typeface="Aptos"/>
                <a:cs typeface="Aptos"/>
              </a:defRPr>
            </a:pPr>
            <a:r>
              <a:rPr sz="713" b="1">
                <a:solidFill>
                  <a:srgbClr val="617086"/>
                </a:solidFill>
                <a:latin typeface="Aptos"/>
                <a:ea typeface="Aptos"/>
                <a:cs typeface="Aptos"/>
              </a:rPr>
              <a:t>experts IA</a:t>
            </a:r>
          </a:p>
        </p:txBody>
      </p:sp>
      <p:sp>
        <p:nvSpPr>
          <p:cNvPr id="21" name="">
            <a:extLst xmlns:a="http://schemas.openxmlformats.org/drawingml/2006/main">
              <a:ext uri="{FF2B5EF4-FFF2-40B4-BE49-F238E27FC236}">
                <a16:creationId xmlns:a16="http://schemas.microsoft.com/office/drawing/2014/main" id="{F42774AE-6240-43F0-81DA-1102B1E144FC}"/>
              </a:ext>
            </a:extLst>
          </p:cNvPr>
          <p:cNvSpPr>
            <a:spLocks xmlns:a="http://schemas.openxmlformats.org/drawingml/2006/main" noGrp="1"/>
          </p:cNvSpPr>
          <p:nvPr/>
        </p:nvSpPr>
        <p:spPr>
          <a:xfrm xmlns:a="http://schemas.openxmlformats.org/drawingml/2006/main">
            <a:off x="2533650" y="5829300"/>
            <a:ext cx="89535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38" b="0">
                <a:solidFill>
                  <a:srgbClr val="617086"/>
                </a:solidFill>
                <a:latin typeface="Aptos"/>
                <a:ea typeface="Aptos"/>
                <a:cs typeface="Aptos"/>
              </a:defRPr>
            </a:pPr>
            <a:r>
              <a:rPr sz="638" b="0">
                <a:solidFill>
                  <a:srgbClr val="617086"/>
                </a:solidFill>
                <a:latin typeface="Aptos"/>
                <a:ea typeface="Aptos"/>
                <a:cs typeface="Aptos"/>
              </a:rPr>
              <a:t>mobilises via TransferAI</a:t>
            </a:r>
          </a:p>
        </p:txBody>
      </p:sp>
      <p:sp>
        <p:nvSpPr>
          <p:cNvPr id="22" name="">
            <a:extLst xmlns:a="http://schemas.openxmlformats.org/drawingml/2006/main">
              <a:ext uri="{FF2B5EF4-FFF2-40B4-BE49-F238E27FC236}">
                <a16:creationId xmlns:a16="http://schemas.microsoft.com/office/drawing/2014/main" id="{41383F3A-00D4-4BEC-9DD6-418321EFEB20}"/>
              </a:ext>
            </a:extLst>
          </p:cNvPr>
          <p:cNvSpPr>
            <a:spLocks xmlns:a="http://schemas.openxmlformats.org/drawingml/2006/main" noGrp="1"/>
          </p:cNvSpPr>
          <p:nvPr/>
        </p:nvSpPr>
        <p:spPr>
          <a:xfrm xmlns:a="http://schemas.openxmlformats.org/drawingml/2006/main">
            <a:off x="3695700" y="5219700"/>
            <a:ext cx="1314450" cy="819150"/>
          </a:xfrm>
          <a:prstGeom xmlns:a="http://schemas.openxmlformats.org/drawingml/2006/main" prst="rect">
            <a:avLst/>
          </a:prstGeom>
          <a:solidFill xmlns:a="http://schemas.openxmlformats.org/drawingml/2006/main">
            <a:srgbClr val="FFFDFC"/>
          </a:solidFill>
          <a:ln xmlns:a="http://schemas.openxmlformats.org/drawingml/2006/main" w="9525">
            <a:solidFill>
              <a:srgbClr val="D7CEC3"/>
            </a:solidFill>
            <a:prstDash val="solid"/>
          </a:ln>
        </p:spPr>
      </p:sp>
      <p:sp>
        <p:nvSpPr>
          <p:cNvPr id="23" name="">
            <a:extLst xmlns:a="http://schemas.openxmlformats.org/drawingml/2006/main">
              <a:ext uri="{FF2B5EF4-FFF2-40B4-BE49-F238E27FC236}">
                <a16:creationId xmlns:a16="http://schemas.microsoft.com/office/drawing/2014/main" id="{6AFED817-DB55-435E-89C3-429DB2425DC0}"/>
              </a:ext>
            </a:extLst>
          </p:cNvPr>
          <p:cNvSpPr>
            <a:spLocks xmlns:a="http://schemas.openxmlformats.org/drawingml/2006/main" noGrp="1"/>
          </p:cNvSpPr>
          <p:nvPr/>
        </p:nvSpPr>
        <p:spPr>
          <a:xfrm xmlns:a="http://schemas.openxmlformats.org/drawingml/2006/main">
            <a:off x="3848100" y="5391150"/>
            <a:ext cx="28575" cy="476250"/>
          </a:xfrm>
          <a:prstGeom xmlns:a="http://schemas.openxmlformats.org/drawingml/2006/main" prst="rect">
            <a:avLst/>
          </a:prstGeom>
          <a:solidFill xmlns:a="http://schemas.openxmlformats.org/drawingml/2006/main">
            <a:srgbClr val="163556"/>
          </a:solidFill>
          <a:ln xmlns:a="http://schemas.openxmlformats.org/drawingml/2006/main" w="0">
            <a:solidFill>
              <a:srgbClr val="000000">
                <a:alpha val="0"/>
              </a:srgbClr>
            </a:solidFill>
            <a:prstDash val="solid"/>
          </a:ln>
        </p:spPr>
      </p:sp>
      <p:sp>
        <p:nvSpPr>
          <p:cNvPr id="24" name="">
            <a:extLst xmlns:a="http://schemas.openxmlformats.org/drawingml/2006/main">
              <a:ext uri="{FF2B5EF4-FFF2-40B4-BE49-F238E27FC236}">
                <a16:creationId xmlns:a16="http://schemas.microsoft.com/office/drawing/2014/main" id="{2E918ABF-9340-4122-BD50-5873C7EE4D69}"/>
              </a:ext>
            </a:extLst>
          </p:cNvPr>
          <p:cNvSpPr>
            <a:spLocks xmlns:a="http://schemas.openxmlformats.org/drawingml/2006/main" noGrp="1"/>
          </p:cNvSpPr>
          <p:nvPr/>
        </p:nvSpPr>
        <p:spPr>
          <a:xfrm xmlns:a="http://schemas.openxmlformats.org/drawingml/2006/main">
            <a:off x="3981450" y="5353050"/>
            <a:ext cx="8953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650" b="1">
                <a:solidFill>
                  <a:srgbClr val="1A3554"/>
                </a:solidFill>
                <a:latin typeface="Aptos Display"/>
                <a:ea typeface="Aptos Display"/>
                <a:cs typeface="Aptos Display"/>
              </a:defRPr>
            </a:pPr>
            <a:r>
              <a:rPr sz="1650" b="1">
                <a:solidFill>
                  <a:srgbClr val="1A3554"/>
                </a:solidFill>
                <a:latin typeface="Aptos Display"/>
                <a:ea typeface="Aptos Display"/>
                <a:cs typeface="Aptos Display"/>
              </a:rPr>
              <a:t>+30 %</a:t>
            </a:r>
          </a:p>
        </p:txBody>
      </p:sp>
      <p:sp>
        <p:nvSpPr>
          <p:cNvPr id="25" name="">
            <a:extLst xmlns:a="http://schemas.openxmlformats.org/drawingml/2006/main">
              <a:ext uri="{FF2B5EF4-FFF2-40B4-BE49-F238E27FC236}">
                <a16:creationId xmlns:a16="http://schemas.microsoft.com/office/drawing/2014/main" id="{00E28CCC-D370-4473-BBE0-6B1775B986FE}"/>
              </a:ext>
            </a:extLst>
          </p:cNvPr>
          <p:cNvSpPr>
            <a:spLocks xmlns:a="http://schemas.openxmlformats.org/drawingml/2006/main" noGrp="1"/>
          </p:cNvSpPr>
          <p:nvPr/>
        </p:nvSpPr>
        <p:spPr>
          <a:xfrm xmlns:a="http://schemas.openxmlformats.org/drawingml/2006/main">
            <a:off x="3981450" y="5657850"/>
            <a:ext cx="8953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13" b="1">
                <a:solidFill>
                  <a:srgbClr val="617086"/>
                </a:solidFill>
                <a:latin typeface="Aptos"/>
                <a:ea typeface="Aptos"/>
                <a:cs typeface="Aptos"/>
              </a:defRPr>
            </a:pPr>
            <a:r>
              <a:rPr sz="713" b="1">
                <a:solidFill>
                  <a:srgbClr val="617086"/>
                </a:solidFill>
                <a:latin typeface="Aptos"/>
                <a:ea typeface="Aptos"/>
                <a:cs typeface="Aptos"/>
              </a:rPr>
              <a:t>productivite benchmark</a:t>
            </a:r>
          </a:p>
        </p:txBody>
      </p:sp>
      <p:sp>
        <p:nvSpPr>
          <p:cNvPr id="26" name="">
            <a:extLst xmlns:a="http://schemas.openxmlformats.org/drawingml/2006/main">
              <a:ext uri="{FF2B5EF4-FFF2-40B4-BE49-F238E27FC236}">
                <a16:creationId xmlns:a16="http://schemas.microsoft.com/office/drawing/2014/main" id="{94FEB9D4-FDF4-4150-B438-FA5C826E26C8}"/>
              </a:ext>
            </a:extLst>
          </p:cNvPr>
          <p:cNvSpPr>
            <a:spLocks xmlns:a="http://schemas.openxmlformats.org/drawingml/2006/main" noGrp="1"/>
          </p:cNvSpPr>
          <p:nvPr/>
        </p:nvSpPr>
        <p:spPr>
          <a:xfrm xmlns:a="http://schemas.openxmlformats.org/drawingml/2006/main">
            <a:off x="3981450" y="5829300"/>
            <a:ext cx="89535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38" b="0">
                <a:solidFill>
                  <a:srgbClr val="617086"/>
                </a:solidFill>
                <a:latin typeface="Aptos"/>
                <a:ea typeface="Aptos"/>
                <a:cs typeface="Aptos"/>
              </a:defRPr>
            </a:pPr>
            <a:r>
              <a:rPr sz="638" b="0">
                <a:solidFill>
                  <a:srgbClr val="617086"/>
                </a:solidFill>
                <a:latin typeface="Aptos"/>
                <a:ea typeface="Aptos"/>
                <a:cs typeface="Aptos"/>
              </a:rPr>
              <a:t>sur flux repetitifs comparables</a:t>
            </a:r>
          </a:p>
        </p:txBody>
      </p:sp>
      <p:sp>
        <p:nvSpPr>
          <p:cNvPr id="27" name="">
            <a:extLst xmlns:a="http://schemas.openxmlformats.org/drawingml/2006/main">
              <a:ext uri="{FF2B5EF4-FFF2-40B4-BE49-F238E27FC236}">
                <a16:creationId xmlns:a16="http://schemas.microsoft.com/office/drawing/2014/main" id="{036C30C1-53A2-4807-8689-12EADD6FCF0E}"/>
              </a:ext>
            </a:extLst>
          </p:cNvPr>
          <p:cNvSpPr>
            <a:spLocks xmlns:a="http://schemas.openxmlformats.org/drawingml/2006/main" noGrp="1"/>
          </p:cNvSpPr>
          <p:nvPr/>
        </p:nvSpPr>
        <p:spPr>
          <a:xfrm xmlns:a="http://schemas.openxmlformats.org/drawingml/2006/main">
            <a:off x="5143500" y="5219700"/>
            <a:ext cx="1314450" cy="819150"/>
          </a:xfrm>
          <a:prstGeom xmlns:a="http://schemas.openxmlformats.org/drawingml/2006/main" prst="rect">
            <a:avLst/>
          </a:prstGeom>
          <a:solidFill xmlns:a="http://schemas.openxmlformats.org/drawingml/2006/main">
            <a:srgbClr val="FFFDFC"/>
          </a:solidFill>
          <a:ln xmlns:a="http://schemas.openxmlformats.org/drawingml/2006/main" w="9525">
            <a:solidFill>
              <a:srgbClr val="D7CEC3"/>
            </a:solidFill>
            <a:prstDash val="solid"/>
          </a:ln>
        </p:spPr>
      </p:sp>
      <p:sp>
        <p:nvSpPr>
          <p:cNvPr id="28" name="">
            <a:extLst xmlns:a="http://schemas.openxmlformats.org/drawingml/2006/main">
              <a:ext uri="{FF2B5EF4-FFF2-40B4-BE49-F238E27FC236}">
                <a16:creationId xmlns:a16="http://schemas.microsoft.com/office/drawing/2014/main" id="{86950D9F-3B5A-4937-89D8-A04DE5E47C0A}"/>
              </a:ext>
            </a:extLst>
          </p:cNvPr>
          <p:cNvSpPr>
            <a:spLocks xmlns:a="http://schemas.openxmlformats.org/drawingml/2006/main" noGrp="1"/>
          </p:cNvSpPr>
          <p:nvPr/>
        </p:nvSpPr>
        <p:spPr>
          <a:xfrm xmlns:a="http://schemas.openxmlformats.org/drawingml/2006/main">
            <a:off x="5295900" y="5391150"/>
            <a:ext cx="28575" cy="476250"/>
          </a:xfrm>
          <a:prstGeom xmlns:a="http://schemas.openxmlformats.org/drawingml/2006/main" prst="rect">
            <a:avLst/>
          </a:prstGeom>
          <a:solidFill xmlns:a="http://schemas.openxmlformats.org/drawingml/2006/main">
            <a:srgbClr val="C88C3A"/>
          </a:solidFill>
          <a:ln xmlns:a="http://schemas.openxmlformats.org/drawingml/2006/main" w="0">
            <a:solidFill>
              <a:srgbClr val="000000">
                <a:alpha val="0"/>
              </a:srgbClr>
            </a:solidFill>
            <a:prstDash val="solid"/>
          </a:ln>
        </p:spPr>
      </p:sp>
      <p:sp>
        <p:nvSpPr>
          <p:cNvPr id="29" name="">
            <a:extLst xmlns:a="http://schemas.openxmlformats.org/drawingml/2006/main">
              <a:ext uri="{FF2B5EF4-FFF2-40B4-BE49-F238E27FC236}">
                <a16:creationId xmlns:a16="http://schemas.microsoft.com/office/drawing/2014/main" id="{5D94156A-ACA4-438D-B78F-D8790ECE3B60}"/>
              </a:ext>
            </a:extLst>
          </p:cNvPr>
          <p:cNvSpPr>
            <a:spLocks xmlns:a="http://schemas.openxmlformats.org/drawingml/2006/main" noGrp="1"/>
          </p:cNvSpPr>
          <p:nvPr/>
        </p:nvSpPr>
        <p:spPr>
          <a:xfrm xmlns:a="http://schemas.openxmlformats.org/drawingml/2006/main">
            <a:off x="5429250" y="5353050"/>
            <a:ext cx="8953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650" b="1">
                <a:solidFill>
                  <a:srgbClr val="1A3554"/>
                </a:solidFill>
                <a:latin typeface="Aptos Display"/>
                <a:ea typeface="Aptos Display"/>
                <a:cs typeface="Aptos Display"/>
              </a:defRPr>
            </a:pPr>
            <a:r>
              <a:rPr sz="1650" b="1">
                <a:solidFill>
                  <a:srgbClr val="1A3554"/>
                </a:solidFill>
                <a:latin typeface="Aptos Display"/>
                <a:ea typeface="Aptos Display"/>
                <a:cs typeface="Aptos Display"/>
              </a:rPr>
              <a:t>-45 %</a:t>
            </a:r>
          </a:p>
        </p:txBody>
      </p:sp>
      <p:sp>
        <p:nvSpPr>
          <p:cNvPr id="30" name="">
            <a:extLst xmlns:a="http://schemas.openxmlformats.org/drawingml/2006/main">
              <a:ext uri="{FF2B5EF4-FFF2-40B4-BE49-F238E27FC236}">
                <a16:creationId xmlns:a16="http://schemas.microsoft.com/office/drawing/2014/main" id="{FAA592DE-FBD4-447F-A835-9989E8FC86FA}"/>
              </a:ext>
            </a:extLst>
          </p:cNvPr>
          <p:cNvSpPr>
            <a:spLocks xmlns:a="http://schemas.openxmlformats.org/drawingml/2006/main" noGrp="1"/>
          </p:cNvSpPr>
          <p:nvPr/>
        </p:nvSpPr>
        <p:spPr>
          <a:xfrm xmlns:a="http://schemas.openxmlformats.org/drawingml/2006/main">
            <a:off x="5429250" y="5657850"/>
            <a:ext cx="8953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13" b="1">
                <a:solidFill>
                  <a:srgbClr val="617086"/>
                </a:solidFill>
                <a:latin typeface="Aptos"/>
                <a:ea typeface="Aptos"/>
                <a:cs typeface="Aptos"/>
              </a:defRPr>
            </a:pPr>
            <a:r>
              <a:rPr sz="713" b="1">
                <a:solidFill>
                  <a:srgbClr val="617086"/>
                </a:solidFill>
                <a:latin typeface="Aptos"/>
                <a:ea typeface="Aptos"/>
                <a:cs typeface="Aptos"/>
              </a:rPr>
              <a:t>effort formation</a:t>
            </a:r>
          </a:p>
        </p:txBody>
      </p:sp>
      <p:sp>
        <p:nvSpPr>
          <p:cNvPr id="31" name="">
            <a:extLst xmlns:a="http://schemas.openxmlformats.org/drawingml/2006/main">
              <a:ext uri="{FF2B5EF4-FFF2-40B4-BE49-F238E27FC236}">
                <a16:creationId xmlns:a16="http://schemas.microsoft.com/office/drawing/2014/main" id="{E3D10225-EBEE-4D7C-A6F5-0F6A301743DD}"/>
              </a:ext>
            </a:extLst>
          </p:cNvPr>
          <p:cNvSpPr>
            <a:spLocks xmlns:a="http://schemas.openxmlformats.org/drawingml/2006/main" noGrp="1"/>
          </p:cNvSpPr>
          <p:nvPr/>
        </p:nvSpPr>
        <p:spPr>
          <a:xfrm xmlns:a="http://schemas.openxmlformats.org/drawingml/2006/main">
            <a:off x="5429250" y="5829300"/>
            <a:ext cx="89535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38" b="0">
                <a:solidFill>
                  <a:srgbClr val="617086"/>
                </a:solidFill>
                <a:latin typeface="Aptos"/>
                <a:ea typeface="Aptos"/>
                <a:cs typeface="Aptos"/>
              </a:defRPr>
            </a:pPr>
            <a:r>
              <a:rPr sz="638" b="0">
                <a:solidFill>
                  <a:srgbClr val="617086"/>
                </a:solidFill>
                <a:latin typeface="Aptos"/>
                <a:ea typeface="Aptos"/>
                <a:cs typeface="Aptos"/>
              </a:rPr>
              <a:t>benchmark onboarding / diffusion</a:t>
            </a:r>
          </a:p>
        </p:txBody>
      </p:sp>
      <p:sp>
        <p:nvSpPr>
          <p:cNvPr id="32" name="">
            <a:extLst xmlns:a="http://schemas.openxmlformats.org/drawingml/2006/main">
              <a:ext uri="{FF2B5EF4-FFF2-40B4-BE49-F238E27FC236}">
                <a16:creationId xmlns:a16="http://schemas.microsoft.com/office/drawing/2014/main" id="{BA33DD50-30C5-4084-AC83-D920F8B86804}"/>
              </a:ext>
            </a:extLst>
          </p:cNvPr>
          <p:cNvSpPr>
            <a:spLocks xmlns:a="http://schemas.openxmlformats.org/drawingml/2006/main" noGrp="1"/>
          </p:cNvSpPr>
          <p:nvPr/>
        </p:nvSpPr>
        <p:spPr>
          <a:xfrm xmlns:a="http://schemas.openxmlformats.org/drawingml/2006/main">
            <a:off x="7734300" y="116205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88" b="1">
                <a:solidFill>
                  <a:srgbClr val="FFFFFF"/>
                </a:solidFill>
                <a:latin typeface="Aptos"/>
                <a:ea typeface="Aptos"/>
                <a:cs typeface="Aptos"/>
              </a:defRPr>
            </a:pPr>
            <a:r>
              <a:rPr sz="788" b="1">
                <a:solidFill>
                  <a:srgbClr val="FFFFFF"/>
                </a:solidFill>
                <a:latin typeface="Aptos"/>
                <a:ea typeface="Aptos"/>
                <a:cs typeface="Aptos"/>
              </a:rPr>
              <a:t>CE QUE NOUS PROPOSONS</a:t>
            </a:r>
          </a:p>
        </p:txBody>
      </p:sp>
      <p:sp>
        <p:nvSpPr>
          <p:cNvPr id="33" name="">
            <a:extLst xmlns:a="http://schemas.openxmlformats.org/drawingml/2006/main">
              <a:ext uri="{FF2B5EF4-FFF2-40B4-BE49-F238E27FC236}">
                <a16:creationId xmlns:a16="http://schemas.microsoft.com/office/drawing/2014/main" id="{91981845-DB53-490F-A33E-4B8CDCAC98EB}"/>
              </a:ext>
            </a:extLst>
          </p:cNvPr>
          <p:cNvSpPr>
            <a:spLocks xmlns:a="http://schemas.openxmlformats.org/drawingml/2006/main" noGrp="1"/>
          </p:cNvSpPr>
          <p:nvPr/>
        </p:nvSpPr>
        <p:spPr>
          <a:xfrm xmlns:a="http://schemas.openxmlformats.org/drawingml/2006/main">
            <a:off x="7734300" y="1466850"/>
            <a:ext cx="3238500" cy="800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100" b="1">
                <a:solidFill>
                  <a:srgbClr val="FFFFFF"/>
                </a:solidFill>
                <a:latin typeface="Aptos Display"/>
                <a:ea typeface="Aptos Display"/>
                <a:cs typeface="Aptos Display"/>
              </a:defRPr>
            </a:pPr>
            <a:r>
              <a:rPr sz="2100" b="1">
                <a:solidFill>
                  <a:srgbClr val="FFFFFF"/>
                </a:solidFill>
                <a:latin typeface="Aptos Display"/>
                <a:ea typeface="Aptos Display"/>
                <a:cs typeface="Aptos Display"/>
              </a:rPr>
              <a:t>Une offre executive,</a:t>
            </a:r>
          </a:p>
          <a:p xmlns:a="http://schemas.openxmlformats.org/drawingml/2006/main">
            <a:pPr algn="l">
              <a:defRPr sz="2100" b="1">
                <a:solidFill>
                  <a:srgbClr val="FFFFFF"/>
                </a:solidFill>
                <a:latin typeface="Aptos Display"/>
                <a:ea typeface="Aptos Display"/>
                <a:cs typeface="Aptos Display"/>
              </a:defRPr>
            </a:pPr>
            <a:r>
              <a:rPr sz="2100" b="1">
                <a:solidFill>
                  <a:srgbClr val="FFFFFF"/>
                </a:solidFill>
                <a:latin typeface="Aptos Display"/>
                <a:ea typeface="Aptos Display"/>
                <a:cs typeface="Aptos Display"/>
              </a:rPr>
              <a:t>metier et mesurable.</a:t>
            </a:r>
          </a:p>
        </p:txBody>
      </p:sp>
      <p:sp>
        <p:nvSpPr>
          <p:cNvPr id="34" name="">
            <a:extLst xmlns:a="http://schemas.openxmlformats.org/drawingml/2006/main">
              <a:ext uri="{FF2B5EF4-FFF2-40B4-BE49-F238E27FC236}">
                <a16:creationId xmlns:a16="http://schemas.microsoft.com/office/drawing/2014/main" id="{F6CAEA07-B71E-4202-A47E-15DCD80B2E25}"/>
              </a:ext>
            </a:extLst>
          </p:cNvPr>
          <p:cNvSpPr>
            <a:spLocks xmlns:a="http://schemas.openxmlformats.org/drawingml/2006/main" noGrp="1"/>
          </p:cNvSpPr>
          <p:nvPr/>
        </p:nvSpPr>
        <p:spPr>
          <a:xfrm xmlns:a="http://schemas.openxmlformats.org/drawingml/2006/main">
            <a:off x="7734300" y="2628900"/>
            <a:ext cx="3219450" cy="1181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C9D4E1"/>
                </a:solidFill>
                <a:latin typeface="Aptos"/>
                <a:ea typeface="Aptos"/>
                <a:cs typeface="Aptos"/>
              </a:defRPr>
            </a:pPr>
            <a:r>
              <a:rPr sz="1125" b="0">
                <a:solidFill>
                  <a:srgbClr val="C9D4E1"/>
                </a:solidFill>
                <a:latin typeface="Aptos"/>
                <a:ea typeface="Aptos"/>
                <a:cs typeface="Aptos"/>
              </a:rPr>
              <a:t>• Partir des vrais irritants ELTON CI</a:t>
            </a:r>
          </a:p>
          <a:p xmlns:a="http://schemas.openxmlformats.org/drawingml/2006/main">
            <a:pPr algn="l">
              <a:defRPr sz="1125" b="0">
                <a:solidFill>
                  <a:srgbClr val="C9D4E1"/>
                </a:solidFill>
                <a:latin typeface="Aptos"/>
                <a:ea typeface="Aptos"/>
                <a:cs typeface="Aptos"/>
              </a:defRPr>
            </a:pPr>
            <a:r>
              <a:rPr sz="1125" b="0">
                <a:solidFill>
                  <a:srgbClr val="C9D4E1"/>
                </a:solidFill>
                <a:latin typeface="Aptos"/>
                <a:ea typeface="Aptos"/>
                <a:cs typeface="Aptos"/>
              </a:rPr>
              <a:t>• Cadrer des cas d'usage utiles avant tout deploiement</a:t>
            </a:r>
          </a:p>
          <a:p xmlns:a="http://schemas.openxmlformats.org/drawingml/2006/main">
            <a:pPr algn="l">
              <a:defRPr sz="1125" b="0">
                <a:solidFill>
                  <a:srgbClr val="C9D4E1"/>
                </a:solidFill>
                <a:latin typeface="Aptos"/>
                <a:ea typeface="Aptos"/>
                <a:cs typeface="Aptos"/>
              </a:defRPr>
            </a:pPr>
            <a:r>
              <a:rPr sz="1125" b="0">
                <a:solidFill>
                  <a:srgbClr val="C9D4E1"/>
                </a:solidFill>
                <a:latin typeface="Aptos"/>
                <a:ea typeface="Aptos"/>
                <a:cs typeface="Aptos"/>
              </a:rPr>
              <a:t>• Former les bonnes equipes au bon niveau</a:t>
            </a:r>
          </a:p>
          <a:p xmlns:a="http://schemas.openxmlformats.org/drawingml/2006/main">
            <a:pPr algn="l">
              <a:defRPr sz="1125" b="0">
                <a:solidFill>
                  <a:srgbClr val="C9D4E1"/>
                </a:solidFill>
                <a:latin typeface="Aptos"/>
                <a:ea typeface="Aptos"/>
                <a:cs typeface="Aptos"/>
              </a:defRPr>
            </a:pPr>
            <a:r>
              <a:rPr sz="1125" b="0">
                <a:solidFill>
                  <a:srgbClr val="C9D4E1"/>
                </a:solidFill>
                <a:latin typeface="Aptos"/>
                <a:ea typeface="Aptos"/>
                <a:cs typeface="Aptos"/>
              </a:rPr>
              <a:t>• Lancer un pilote avec mesure du ROI</a:t>
            </a:r>
          </a:p>
        </p:txBody>
      </p:sp>
      <p:sp>
        <p:nvSpPr>
          <p:cNvPr id="35" name="">
            <a:extLst xmlns:a="http://schemas.openxmlformats.org/drawingml/2006/main">
              <a:ext uri="{FF2B5EF4-FFF2-40B4-BE49-F238E27FC236}">
                <a16:creationId xmlns:a16="http://schemas.microsoft.com/office/drawing/2014/main" id="{316F1C64-A412-458F-BD3E-6A088B646B73}"/>
              </a:ext>
            </a:extLst>
          </p:cNvPr>
          <p:cNvSpPr>
            <a:spLocks xmlns:a="http://schemas.openxmlformats.org/drawingml/2006/main" noGrp="1"/>
          </p:cNvSpPr>
          <p:nvPr/>
        </p:nvSpPr>
        <p:spPr>
          <a:xfrm xmlns:a="http://schemas.openxmlformats.org/drawingml/2006/main">
            <a:off x="7734300" y="4095750"/>
            <a:ext cx="3143250" cy="971550"/>
          </a:xfrm>
          <a:prstGeom xmlns:a="http://schemas.openxmlformats.org/drawingml/2006/main" prst="rect">
            <a:avLst/>
          </a:prstGeom>
          <a:solidFill xmlns:a="http://schemas.openxmlformats.org/drawingml/2006/main">
            <a:srgbClr val="244667"/>
          </a:solidFill>
          <a:ln xmlns:a="http://schemas.openxmlformats.org/drawingml/2006/main" w="9525">
            <a:solidFill>
              <a:srgbClr val="244667"/>
            </a:solidFill>
            <a:prstDash val="solid"/>
          </a:ln>
        </p:spPr>
      </p:sp>
      <p:sp>
        <p:nvSpPr>
          <p:cNvPr id="36" name="">
            <a:extLst xmlns:a="http://schemas.openxmlformats.org/drawingml/2006/main">
              <a:ext uri="{FF2B5EF4-FFF2-40B4-BE49-F238E27FC236}">
                <a16:creationId xmlns:a16="http://schemas.microsoft.com/office/drawing/2014/main" id="{CA77F2EB-967D-4A0A-8434-7DAE8E3B4220}"/>
              </a:ext>
            </a:extLst>
          </p:cNvPr>
          <p:cNvSpPr>
            <a:spLocks xmlns:a="http://schemas.openxmlformats.org/drawingml/2006/main" noGrp="1"/>
          </p:cNvSpPr>
          <p:nvPr/>
        </p:nvSpPr>
        <p:spPr>
          <a:xfrm xmlns:a="http://schemas.openxmlformats.org/drawingml/2006/main">
            <a:off x="7943850" y="4267200"/>
            <a:ext cx="85725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13" b="1">
                <a:solidFill>
                  <a:srgbClr val="D7E5F3"/>
                </a:solidFill>
                <a:latin typeface="Aptos"/>
                <a:ea typeface="Aptos"/>
                <a:cs typeface="Aptos"/>
              </a:defRPr>
            </a:pPr>
            <a:r>
              <a:rPr sz="713" b="1">
                <a:solidFill>
                  <a:srgbClr val="D7E5F3"/>
                </a:solidFill>
                <a:latin typeface="Aptos"/>
                <a:ea typeface="Aptos"/>
                <a:cs typeface="Aptos"/>
              </a:rPr>
              <a:t>Promesse</a:t>
            </a:r>
          </a:p>
        </p:txBody>
      </p:sp>
      <p:sp>
        <p:nvSpPr>
          <p:cNvPr id="37" name="">
            <a:extLst xmlns:a="http://schemas.openxmlformats.org/drawingml/2006/main">
              <a:ext uri="{FF2B5EF4-FFF2-40B4-BE49-F238E27FC236}">
                <a16:creationId xmlns:a16="http://schemas.microsoft.com/office/drawing/2014/main" id="{ED583EC2-F4B3-4E0B-B0F8-7707F24BFF46}"/>
              </a:ext>
            </a:extLst>
          </p:cNvPr>
          <p:cNvSpPr>
            <a:spLocks xmlns:a="http://schemas.openxmlformats.org/drawingml/2006/main" noGrp="1"/>
          </p:cNvSpPr>
          <p:nvPr/>
        </p:nvSpPr>
        <p:spPr>
          <a:xfrm xmlns:a="http://schemas.openxmlformats.org/drawingml/2006/main">
            <a:off x="7943850" y="4476750"/>
            <a:ext cx="272415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FFFFFF"/>
                </a:solidFill>
                <a:latin typeface="Aptos"/>
                <a:ea typeface="Aptos"/>
                <a:cs typeface="Aptos"/>
              </a:defRPr>
            </a:pPr>
            <a:r>
              <a:rPr sz="1050" b="1">
                <a:solidFill>
                  <a:srgbClr val="FFFFFF"/>
                </a:solidFill>
                <a:latin typeface="Aptos"/>
                <a:ea typeface="Aptos"/>
                <a:cs typeface="Aptos"/>
              </a:rPr>
              <a:t>Faire de l'IA un levier de pilotage, de rigueur operationnelle et de qualite de service pour ELTON CI.</a:t>
            </a:r>
          </a:p>
        </p:txBody>
      </p:sp>
      <p:sp>
        <p:nvSpPr>
          <p:cNvPr id="38" name="">
            <a:extLst xmlns:a="http://schemas.openxmlformats.org/drawingml/2006/main">
              <a:ext uri="{FF2B5EF4-FFF2-40B4-BE49-F238E27FC236}">
                <a16:creationId xmlns:a16="http://schemas.microsoft.com/office/drawing/2014/main" id="{669BC3FC-D7E9-447D-857F-78D19556A2BD}"/>
              </a:ext>
            </a:extLst>
          </p:cNvPr>
          <p:cNvSpPr>
            <a:spLocks xmlns:a="http://schemas.openxmlformats.org/drawingml/2006/main" noGrp="1"/>
          </p:cNvSpPr>
          <p:nvPr/>
        </p:nvSpPr>
        <p:spPr>
          <a:xfrm xmlns:a="http://schemas.openxmlformats.org/drawingml/2006/main">
            <a:off x="7734300" y="5219700"/>
            <a:ext cx="3143250" cy="819150"/>
          </a:xfrm>
          <a:prstGeom xmlns:a="http://schemas.openxmlformats.org/drawingml/2006/main" prst="rect">
            <a:avLst/>
          </a:prstGeom>
          <a:solidFill xmlns:a="http://schemas.openxmlformats.org/drawingml/2006/main">
            <a:srgbClr val="10263F"/>
          </a:solidFill>
          <a:ln xmlns:a="http://schemas.openxmlformats.org/drawingml/2006/main" w="9525">
            <a:solidFill>
              <a:srgbClr val="2F587F"/>
            </a:solidFill>
            <a:prstDash val="solid"/>
          </a:ln>
        </p:spPr>
      </p:sp>
      <p:sp>
        <p:nvSpPr>
          <p:cNvPr id="39" name="">
            <a:extLst xmlns:a="http://schemas.openxmlformats.org/drawingml/2006/main">
              <a:ext uri="{FF2B5EF4-FFF2-40B4-BE49-F238E27FC236}">
                <a16:creationId xmlns:a16="http://schemas.microsoft.com/office/drawing/2014/main" id="{C7C09155-F5F1-496E-B75D-1097E488A0C9}"/>
              </a:ext>
            </a:extLst>
          </p:cNvPr>
          <p:cNvSpPr>
            <a:spLocks xmlns:a="http://schemas.openxmlformats.org/drawingml/2006/main" noGrp="1"/>
          </p:cNvSpPr>
          <p:nvPr/>
        </p:nvSpPr>
        <p:spPr>
          <a:xfrm xmlns:a="http://schemas.openxmlformats.org/drawingml/2006/main">
            <a:off x="7924800" y="5391150"/>
            <a:ext cx="278130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63" b="0">
                <a:solidFill>
                  <a:srgbClr val="D7E5F3"/>
                </a:solidFill>
                <a:latin typeface="Aptos"/>
                <a:ea typeface="Aptos"/>
                <a:cs typeface="Aptos"/>
              </a:defRPr>
            </a:pPr>
            <a:r>
              <a:rPr sz="863" b="0">
                <a:solidFill>
                  <a:srgbClr val="D7E5F3"/>
                </a:solidFill>
                <a:latin typeface="Aptos"/>
                <a:ea typeface="Aptos"/>
                <a:cs typeface="Aptos"/>
              </a:rPr>
              <a:t>Important: les chiffres de ROI affiches dans ce deck sont des benchmarks de reference TransferAI, a confirmer sur donnees ELTON CI pendant l'audit.</a:t>
            </a:r>
          </a:p>
        </p:txBody>
      </p:sp>
      <p:sp>
        <p:nvSpPr>
          <p:cNvPr id="40" name="">
            <a:extLst xmlns:a="http://schemas.openxmlformats.org/drawingml/2006/main">
              <a:ext uri="{FF2B5EF4-FFF2-40B4-BE49-F238E27FC236}">
                <a16:creationId xmlns:a16="http://schemas.microsoft.com/office/drawing/2014/main" id="{82ED101C-FA24-4536-90CA-EAF3E1DF4EA8}"/>
              </a:ext>
            </a:extLst>
          </p:cNvPr>
          <p:cNvSpPr>
            <a:spLocks xmlns:a="http://schemas.openxmlformats.org/drawingml/2006/main" noGrp="1"/>
          </p:cNvSpPr>
          <p:nvPr/>
        </p:nvSpPr>
        <p:spPr>
          <a:xfrm xmlns:a="http://schemas.openxmlformats.org/drawingml/2006/main">
            <a:off x="647700" y="6496050"/>
            <a:ext cx="10896600" cy="9525"/>
          </a:xfrm>
          <a:prstGeom xmlns:a="http://schemas.openxmlformats.org/drawingml/2006/main" prst="rect">
            <a:avLst/>
          </a:prstGeom>
          <a:solidFill xmlns:a="http://schemas.openxmlformats.org/drawingml/2006/main">
            <a:srgbClr val="D7CEC3"/>
          </a:solidFill>
          <a:ln xmlns:a="http://schemas.openxmlformats.org/drawingml/2006/main" w="0">
            <a:solidFill>
              <a:srgbClr val="000000">
                <a:alpha val="0"/>
              </a:srgbClr>
            </a:solidFill>
            <a:prstDash val="solid"/>
          </a:ln>
        </p:spPr>
      </p:sp>
      <p:sp>
        <p:nvSpPr>
          <p:cNvPr id="41" name="">
            <a:extLst xmlns:a="http://schemas.openxmlformats.org/drawingml/2006/main">
              <a:ext uri="{FF2B5EF4-FFF2-40B4-BE49-F238E27FC236}">
                <a16:creationId xmlns:a16="http://schemas.microsoft.com/office/drawing/2014/main" id="{08B7F88A-B9A4-4942-9BCB-2521927F77E6}"/>
              </a:ext>
            </a:extLst>
          </p:cNvPr>
          <p:cNvSpPr>
            <a:spLocks xmlns:a="http://schemas.openxmlformats.org/drawingml/2006/main" noGrp="1"/>
          </p:cNvSpPr>
          <p:nvPr/>
        </p:nvSpPr>
        <p:spPr>
          <a:xfrm xmlns:a="http://schemas.openxmlformats.org/drawingml/2006/main">
            <a:off x="685800" y="6572250"/>
            <a:ext cx="857250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38" b="0">
                <a:solidFill>
                  <a:srgbClr val="617086"/>
                </a:solidFill>
                <a:latin typeface="Aptos"/>
                <a:ea typeface="Aptos"/>
                <a:cs typeface="Aptos"/>
              </a:defRPr>
            </a:pPr>
            <a:r>
              <a:rPr sz="638" b="0">
                <a:solidFill>
                  <a:srgbClr val="617086"/>
                </a:solidFill>
                <a:latin typeface="Aptos"/>
                <a:ea typeface="Aptos"/>
                <a:cs typeface="Aptos"/>
              </a:rPr>
              <a:t>TransferAI | Hub AI de Nettelecom CI | Proposition ciblee ELTON CI</a:t>
            </a:r>
          </a:p>
        </p:txBody>
      </p:sp>
      <p:sp>
        <p:nvSpPr>
          <p:cNvPr id="42" name="">
            <a:extLst xmlns:a="http://schemas.openxmlformats.org/drawingml/2006/main">
              <a:ext uri="{FF2B5EF4-FFF2-40B4-BE49-F238E27FC236}">
                <a16:creationId xmlns:a16="http://schemas.microsoft.com/office/drawing/2014/main" id="{E56015EE-388F-47B3-8C75-441B58FF6EFD}"/>
              </a:ext>
            </a:extLst>
          </p:cNvPr>
          <p:cNvSpPr>
            <a:spLocks xmlns:a="http://schemas.openxmlformats.org/drawingml/2006/main" noGrp="1"/>
          </p:cNvSpPr>
          <p:nvPr/>
        </p:nvSpPr>
        <p:spPr>
          <a:xfrm xmlns:a="http://schemas.openxmlformats.org/drawingml/2006/main">
            <a:off x="11049000" y="6553200"/>
            <a:ext cx="3429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750" b="1">
                <a:solidFill>
                  <a:srgbClr val="1A3554"/>
                </a:solidFill>
                <a:latin typeface="Aptos"/>
                <a:ea typeface="Aptos"/>
                <a:cs typeface="Aptos"/>
              </a:defRPr>
            </a:pPr>
            <a:r>
              <a:rPr sz="750" b="1">
                <a:solidFill>
                  <a:srgbClr val="1A3554"/>
                </a:solidFill>
                <a:latin typeface="Aptos"/>
                <a:ea typeface="Aptos"/>
                <a:cs typeface="Aptos"/>
              </a:rPr>
              <a:t>01</a:t>
            </a:r>
          </a:p>
        </p:txBody>
      </p:sp>
    </p:spTree>
    <p:extLst>
      <p:ext uri="{BB962C8B-B14F-4D97-AF65-F5344CB8AC3E}">
        <p14:creationId xmlns:p14="http://schemas.microsoft.com/office/powerpoint/2010/main" val="1900376577"/>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F0FECC20-3913-4CD0-B8AF-01B5DDDD4913}"/>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EFE7"/>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EA0B6881-5626-410B-9185-DB48303354B2}"/>
              </a:ext>
            </a:extLst>
          </p:cNvPr>
          <p:cNvSpPr>
            <a:spLocks xmlns:a="http://schemas.openxmlformats.org/drawingml/2006/main" noGrp="1"/>
          </p:cNvSpPr>
          <p:nvPr/>
        </p:nvSpPr>
        <p:spPr>
          <a:xfrm xmlns:a="http://schemas.openxmlformats.org/drawingml/2006/main">
            <a:off x="685800" y="49530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88" b="1">
                <a:solidFill>
                  <a:srgbClr val="E76F1D"/>
                </a:solidFill>
                <a:latin typeface="Aptos"/>
                <a:ea typeface="Aptos"/>
                <a:cs typeface="Aptos"/>
              </a:defRPr>
            </a:pPr>
            <a:r>
              <a:rPr sz="788" b="1">
                <a:solidFill>
                  <a:srgbClr val="E76F1D"/>
                </a:solidFill>
                <a:latin typeface="Aptos"/>
                <a:ea typeface="Aptos"/>
                <a:cs typeface="Aptos"/>
              </a:rPr>
              <a:t>QUI SOMMES-NOUS</a:t>
            </a:r>
          </a:p>
        </p:txBody>
      </p:sp>
      <p:sp>
        <p:nvSpPr>
          <p:cNvPr id="3" name="">
            <a:extLst xmlns:a="http://schemas.openxmlformats.org/drawingml/2006/main">
              <a:ext uri="{FF2B5EF4-FFF2-40B4-BE49-F238E27FC236}">
                <a16:creationId xmlns:a16="http://schemas.microsoft.com/office/drawing/2014/main" id="{A8E6015F-DDA1-46E2-A79D-01E3058706AB}"/>
              </a:ext>
            </a:extLst>
          </p:cNvPr>
          <p:cNvSpPr>
            <a:spLocks xmlns:a="http://schemas.openxmlformats.org/drawingml/2006/main" noGrp="1"/>
          </p:cNvSpPr>
          <p:nvPr/>
        </p:nvSpPr>
        <p:spPr>
          <a:xfrm xmlns:a="http://schemas.openxmlformats.org/drawingml/2006/main">
            <a:off x="685800" y="819150"/>
            <a:ext cx="8191500" cy="800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550" b="1">
                <a:solidFill>
                  <a:srgbClr val="1A3554"/>
                </a:solidFill>
                <a:latin typeface="Aptos Display"/>
                <a:ea typeface="Aptos Display"/>
                <a:cs typeface="Aptos Display"/>
              </a:defRPr>
            </a:pPr>
            <a:r>
              <a:rPr sz="2550" b="1">
                <a:solidFill>
                  <a:srgbClr val="1A3554"/>
                </a:solidFill>
                <a:latin typeface="Aptos Display"/>
                <a:ea typeface="Aptos Display"/>
                <a:cs typeface="Aptos Display"/>
              </a:rPr>
              <a:t>TransferAI, le hub AI de Nettelecom CI</a:t>
            </a:r>
          </a:p>
        </p:txBody>
      </p:sp>
      <p:sp>
        <p:nvSpPr>
          <p:cNvPr id="4" name="">
            <a:extLst xmlns:a="http://schemas.openxmlformats.org/drawingml/2006/main">
              <a:ext uri="{FF2B5EF4-FFF2-40B4-BE49-F238E27FC236}">
                <a16:creationId xmlns:a16="http://schemas.microsoft.com/office/drawing/2014/main" id="{67FF2D96-60AE-4E06-B0A9-5E9E9847B938}"/>
              </a:ext>
            </a:extLst>
          </p:cNvPr>
          <p:cNvSpPr>
            <a:spLocks xmlns:a="http://schemas.openxmlformats.org/drawingml/2006/main" noGrp="1"/>
          </p:cNvSpPr>
          <p:nvPr/>
        </p:nvSpPr>
        <p:spPr>
          <a:xfrm xmlns:a="http://schemas.openxmlformats.org/drawingml/2006/main">
            <a:off x="685800" y="1676400"/>
            <a:ext cx="92392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617086"/>
                </a:solidFill>
                <a:latin typeface="Aptos"/>
                <a:ea typeface="Aptos"/>
                <a:cs typeface="Aptos"/>
              </a:defRPr>
            </a:pPr>
            <a:r>
              <a:rPr sz="1050" b="0">
                <a:solidFill>
                  <a:srgbClr val="617086"/>
                </a:solidFill>
                <a:latin typeface="Aptos"/>
                <a:ea typeface="Aptos"/>
                <a:cs typeface="Aptos"/>
              </a:rPr>
              <a:t>La proposition gagne en credibilite si nous expliquons clairement qui porte l'offre, avec quelle profondeur d'expertise et dans quel cadre d'execution.</a:t>
            </a:r>
          </a:p>
        </p:txBody>
      </p:sp>
      <p:sp>
        <p:nvSpPr>
          <p:cNvPr id="5" name="">
            <a:extLst xmlns:a="http://schemas.openxmlformats.org/drawingml/2006/main">
              <a:ext uri="{FF2B5EF4-FFF2-40B4-BE49-F238E27FC236}">
                <a16:creationId xmlns:a16="http://schemas.microsoft.com/office/drawing/2014/main" id="{FF5614E5-CC1B-419D-8630-7F7C3D27793C}"/>
              </a:ext>
            </a:extLst>
          </p:cNvPr>
          <p:cNvSpPr>
            <a:spLocks xmlns:a="http://schemas.openxmlformats.org/drawingml/2006/main" noGrp="1"/>
          </p:cNvSpPr>
          <p:nvPr/>
        </p:nvSpPr>
        <p:spPr>
          <a:xfrm xmlns:a="http://schemas.openxmlformats.org/drawingml/2006/main">
            <a:off x="685800" y="2171700"/>
            <a:ext cx="4114800" cy="3238500"/>
          </a:xfrm>
          <a:prstGeom xmlns:a="http://schemas.openxmlformats.org/drawingml/2006/main" prst="rect">
            <a:avLst/>
          </a:prstGeom>
          <a:solidFill xmlns:a="http://schemas.openxmlformats.org/drawingml/2006/main">
            <a:srgbClr val="163556"/>
          </a:solidFill>
          <a:ln xmlns:a="http://schemas.openxmlformats.org/drawingml/2006/main" w="0">
            <a:solidFill>
              <a:srgbClr val="163556"/>
            </a:solidFill>
            <a:prstDash val="solid"/>
          </a:ln>
        </p:spPr>
      </p:sp>
      <p:sp>
        <p:nvSpPr>
          <p:cNvPr id="6" name="">
            <a:extLst xmlns:a="http://schemas.openxmlformats.org/drawingml/2006/main">
              <a:ext uri="{FF2B5EF4-FFF2-40B4-BE49-F238E27FC236}">
                <a16:creationId xmlns:a16="http://schemas.microsoft.com/office/drawing/2014/main" id="{AF578537-EC47-4406-A6C6-2F9567F4D8E2}"/>
              </a:ext>
            </a:extLst>
          </p:cNvPr>
          <p:cNvSpPr>
            <a:spLocks xmlns:a="http://schemas.openxmlformats.org/drawingml/2006/main" noGrp="1"/>
          </p:cNvSpPr>
          <p:nvPr/>
        </p:nvSpPr>
        <p:spPr>
          <a:xfrm xmlns:a="http://schemas.openxmlformats.org/drawingml/2006/main">
            <a:off x="933450" y="2400300"/>
            <a:ext cx="15240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1">
                <a:solidFill>
                  <a:srgbClr val="D7E5F3"/>
                </a:solidFill>
                <a:latin typeface="Aptos"/>
                <a:ea typeface="Aptos"/>
                <a:cs typeface="Aptos"/>
              </a:defRPr>
            </a:pPr>
            <a:r>
              <a:rPr sz="825" b="1">
                <a:solidFill>
                  <a:srgbClr val="D7E5F3"/>
                </a:solidFill>
                <a:latin typeface="Aptos"/>
                <a:ea typeface="Aptos"/>
                <a:cs typeface="Aptos"/>
              </a:rPr>
              <a:t>TransferAI</a:t>
            </a:r>
          </a:p>
        </p:txBody>
      </p:sp>
      <p:sp>
        <p:nvSpPr>
          <p:cNvPr id="7" name="">
            <a:extLst xmlns:a="http://schemas.openxmlformats.org/drawingml/2006/main">
              <a:ext uri="{FF2B5EF4-FFF2-40B4-BE49-F238E27FC236}">
                <a16:creationId xmlns:a16="http://schemas.microsoft.com/office/drawing/2014/main" id="{C1A3E115-9FE5-4FFF-8B66-3731DF6C5C35}"/>
              </a:ext>
            </a:extLst>
          </p:cNvPr>
          <p:cNvSpPr>
            <a:spLocks xmlns:a="http://schemas.openxmlformats.org/drawingml/2006/main" noGrp="1"/>
          </p:cNvSpPr>
          <p:nvPr/>
        </p:nvSpPr>
        <p:spPr>
          <a:xfrm xmlns:a="http://schemas.openxmlformats.org/drawingml/2006/main">
            <a:off x="933450" y="2724150"/>
            <a:ext cx="2571750" cy="12573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250" b="1">
                <a:solidFill>
                  <a:srgbClr val="FFFFFF"/>
                </a:solidFill>
                <a:latin typeface="Aptos Display"/>
                <a:ea typeface="Aptos Display"/>
                <a:cs typeface="Aptos Display"/>
              </a:defRPr>
            </a:pPr>
            <a:r>
              <a:rPr sz="2250" b="1">
                <a:solidFill>
                  <a:srgbClr val="FFFFFF"/>
                </a:solidFill>
                <a:latin typeface="Aptos Display"/>
                <a:ea typeface="Aptos Display"/>
                <a:cs typeface="Aptos Display"/>
              </a:rPr>
              <a:t>Le hub AI</a:t>
            </a:r>
          </a:p>
          <a:p xmlns:a="http://schemas.openxmlformats.org/drawingml/2006/main">
            <a:pPr algn="l">
              <a:defRPr sz="2250" b="1">
                <a:solidFill>
                  <a:srgbClr val="FFFFFF"/>
                </a:solidFill>
                <a:latin typeface="Aptos Display"/>
                <a:ea typeface="Aptos Display"/>
                <a:cs typeface="Aptos Display"/>
              </a:defRPr>
            </a:pPr>
            <a:r>
              <a:rPr sz="2250" b="1">
                <a:solidFill>
                  <a:srgbClr val="FFFFFF"/>
                </a:solidFill>
                <a:latin typeface="Aptos Display"/>
                <a:ea typeface="Aptos Display"/>
                <a:cs typeface="Aptos Display"/>
              </a:rPr>
              <a:t>operationnel de</a:t>
            </a:r>
          </a:p>
          <a:p xmlns:a="http://schemas.openxmlformats.org/drawingml/2006/main">
            <a:pPr algn="l">
              <a:defRPr sz="2250" b="1">
                <a:solidFill>
                  <a:srgbClr val="FFFFFF"/>
                </a:solidFill>
                <a:latin typeface="Aptos Display"/>
                <a:ea typeface="Aptos Display"/>
                <a:cs typeface="Aptos Display"/>
              </a:defRPr>
            </a:pPr>
            <a:r>
              <a:rPr sz="2250" b="1">
                <a:solidFill>
                  <a:srgbClr val="FFFFFF"/>
                </a:solidFill>
                <a:latin typeface="Aptos Display"/>
                <a:ea typeface="Aptos Display"/>
                <a:cs typeface="Aptos Display"/>
              </a:rPr>
              <a:t>Nettelecom CI</a:t>
            </a:r>
          </a:p>
        </p:txBody>
      </p:sp>
      <p:sp>
        <p:nvSpPr>
          <p:cNvPr id="8" name="">
            <a:extLst xmlns:a="http://schemas.openxmlformats.org/drawingml/2006/main">
              <a:ext uri="{FF2B5EF4-FFF2-40B4-BE49-F238E27FC236}">
                <a16:creationId xmlns:a16="http://schemas.microsoft.com/office/drawing/2014/main" id="{CA9358FB-3AA5-41B4-8C80-5768B87371B0}"/>
              </a:ext>
            </a:extLst>
          </p:cNvPr>
          <p:cNvSpPr>
            <a:spLocks xmlns:a="http://schemas.openxmlformats.org/drawingml/2006/main" noGrp="1"/>
          </p:cNvSpPr>
          <p:nvPr/>
        </p:nvSpPr>
        <p:spPr>
          <a:xfrm xmlns:a="http://schemas.openxmlformats.org/drawingml/2006/main">
            <a:off x="933450" y="3886200"/>
            <a:ext cx="2724150" cy="742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13" b="0">
                <a:solidFill>
                  <a:srgbClr val="D7E5F3"/>
                </a:solidFill>
                <a:latin typeface="Aptos"/>
                <a:ea typeface="Aptos"/>
                <a:cs typeface="Aptos"/>
              </a:defRPr>
            </a:pPr>
            <a:r>
              <a:rPr sz="1013" b="0">
                <a:solidFill>
                  <a:srgbClr val="D7E5F3"/>
                </a:solidFill>
                <a:latin typeface="Aptos"/>
                <a:ea typeface="Aptos"/>
                <a:cs typeface="Aptos"/>
              </a:rPr>
              <a:t>Nous positionnons TransferAI comme la structure qui relie strategie, automatisation, data, formation et gouvernance pour transformer l'IA en execution metier.</a:t>
            </a:r>
          </a:p>
        </p:txBody>
      </p:sp>
      <p:sp>
        <p:nvSpPr>
          <p:cNvPr id="9" name="">
            <a:extLst xmlns:a="http://schemas.openxmlformats.org/drawingml/2006/main">
              <a:ext uri="{FF2B5EF4-FFF2-40B4-BE49-F238E27FC236}">
                <a16:creationId xmlns:a16="http://schemas.microsoft.com/office/drawing/2014/main" id="{43025416-47F2-4386-9119-08A1EF2572CC}"/>
              </a:ext>
            </a:extLst>
          </p:cNvPr>
          <p:cNvSpPr>
            <a:spLocks xmlns:a="http://schemas.openxmlformats.org/drawingml/2006/main" noGrp="1"/>
          </p:cNvSpPr>
          <p:nvPr/>
        </p:nvSpPr>
        <p:spPr>
          <a:xfrm xmlns:a="http://schemas.openxmlformats.org/drawingml/2006/main">
            <a:off x="933450" y="4876800"/>
            <a:ext cx="2762250" cy="400050"/>
          </a:xfrm>
          <a:prstGeom xmlns:a="http://schemas.openxmlformats.org/drawingml/2006/main" prst="rect">
            <a:avLst/>
          </a:prstGeom>
          <a:solidFill xmlns:a="http://schemas.openxmlformats.org/drawingml/2006/main">
            <a:srgbClr val="244667"/>
          </a:solidFill>
          <a:ln xmlns:a="http://schemas.openxmlformats.org/drawingml/2006/main" w="9525">
            <a:solidFill>
              <a:srgbClr val="244667"/>
            </a:solidFill>
            <a:prstDash val="solid"/>
          </a:ln>
        </p:spPr>
      </p:sp>
      <p:sp>
        <p:nvSpPr>
          <p:cNvPr id="10" name="">
            <a:extLst xmlns:a="http://schemas.openxmlformats.org/drawingml/2006/main">
              <a:ext uri="{FF2B5EF4-FFF2-40B4-BE49-F238E27FC236}">
                <a16:creationId xmlns:a16="http://schemas.microsoft.com/office/drawing/2014/main" id="{BDFD9875-BCAF-4AA6-ABB4-D4140029BF36}"/>
              </a:ext>
            </a:extLst>
          </p:cNvPr>
          <p:cNvSpPr>
            <a:spLocks xmlns:a="http://schemas.openxmlformats.org/drawingml/2006/main" noGrp="1"/>
          </p:cNvSpPr>
          <p:nvPr/>
        </p:nvSpPr>
        <p:spPr>
          <a:xfrm xmlns:a="http://schemas.openxmlformats.org/drawingml/2006/main">
            <a:off x="1085850" y="4991100"/>
            <a:ext cx="24574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1">
                <a:solidFill>
                  <a:srgbClr val="FFFFFF"/>
                </a:solidFill>
                <a:latin typeface="Aptos"/>
                <a:ea typeface="Aptos"/>
                <a:cs typeface="Aptos"/>
              </a:defRPr>
            </a:pPr>
            <a:r>
              <a:rPr sz="825" b="1">
                <a:solidFill>
                  <a:srgbClr val="FFFFFF"/>
                </a:solidFill>
                <a:latin typeface="Aptos"/>
                <a:ea typeface="Aptos"/>
                <a:cs typeface="Aptos"/>
              </a:rPr>
              <a:t>Pour ELTON CI: un interlocuteur IA structure, pas un simple catalogue.</a:t>
            </a:r>
          </a:p>
        </p:txBody>
      </p:sp>
      <p:sp>
        <p:nvSpPr>
          <p:cNvPr id="11" name="">
            <a:extLst xmlns:a="http://schemas.openxmlformats.org/drawingml/2006/main">
              <a:ext uri="{FF2B5EF4-FFF2-40B4-BE49-F238E27FC236}">
                <a16:creationId xmlns:a16="http://schemas.microsoft.com/office/drawing/2014/main" id="{8A3DA050-8809-4BE7-82C3-80086AF3A539}"/>
              </a:ext>
            </a:extLst>
          </p:cNvPr>
          <p:cNvSpPr>
            <a:spLocks xmlns:a="http://schemas.openxmlformats.org/drawingml/2006/main" noGrp="1"/>
          </p:cNvSpPr>
          <p:nvPr/>
        </p:nvSpPr>
        <p:spPr>
          <a:xfrm xmlns:a="http://schemas.openxmlformats.org/drawingml/2006/main">
            <a:off x="5086350" y="2171700"/>
            <a:ext cx="2857500" cy="1409700"/>
          </a:xfrm>
          <a:prstGeom xmlns:a="http://schemas.openxmlformats.org/drawingml/2006/main" prst="rect">
            <a:avLst/>
          </a:prstGeom>
          <a:solidFill xmlns:a="http://schemas.openxmlformats.org/drawingml/2006/main">
            <a:srgbClr val="FFFDFC"/>
          </a:solidFill>
          <a:ln xmlns:a="http://schemas.openxmlformats.org/drawingml/2006/main" w="9525">
            <a:solidFill>
              <a:srgbClr val="D7CEC3"/>
            </a:solidFill>
            <a:prstDash val="solid"/>
          </a:ln>
        </p:spPr>
      </p:sp>
      <p:sp>
        <p:nvSpPr>
          <p:cNvPr id="12" name="">
            <a:extLst xmlns:a="http://schemas.openxmlformats.org/drawingml/2006/main">
              <a:ext uri="{FF2B5EF4-FFF2-40B4-BE49-F238E27FC236}">
                <a16:creationId xmlns:a16="http://schemas.microsoft.com/office/drawing/2014/main" id="{A07DD1F6-FE2B-4CC9-BC05-8D4BCE942696}"/>
              </a:ext>
            </a:extLst>
          </p:cNvPr>
          <p:cNvSpPr>
            <a:spLocks xmlns:a="http://schemas.openxmlformats.org/drawingml/2006/main" noGrp="1"/>
          </p:cNvSpPr>
          <p:nvPr/>
        </p:nvSpPr>
        <p:spPr>
          <a:xfrm xmlns:a="http://schemas.openxmlformats.org/drawingml/2006/main">
            <a:off x="5295900" y="2381250"/>
            <a:ext cx="419100" cy="419100"/>
          </a:xfrm>
          <a:prstGeom xmlns:a="http://schemas.openxmlformats.org/drawingml/2006/main" prst="ellipse">
            <a:avLst/>
          </a:prstGeom>
          <a:solidFill xmlns:a="http://schemas.openxmlformats.org/drawingml/2006/main">
            <a:srgbClr val="E76F1D"/>
          </a:solidFill>
          <a:ln xmlns:a="http://schemas.openxmlformats.org/drawingml/2006/main" w="0">
            <a:solidFill>
              <a:srgbClr val="E76F1D"/>
            </a:solidFill>
            <a:prstDash val="solid"/>
          </a:ln>
        </p:spPr>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93b3eeb250774ec9">
            <a:extLst>
              <a:ext uri="{96DAC541-7B7A-43D3-8B79-37D633B846F1}">
                <asvg:svgBlip xmlns:asvg="http://schemas.microsoft.com/office/drawing/2016/SVG/main" r:embed="R0ac9fb8a0a0546b7"/>
              </a:ext>
            </a:extLst>
          </a:blip>
          <a:stretch xmlns:a="http://schemas.openxmlformats.org/drawingml/2006/main"/>
        </p:blipFill>
        <p:spPr>
          <a:xfrm xmlns:a="http://schemas.openxmlformats.org/drawingml/2006/main">
            <a:off x="5391150" y="2476500"/>
            <a:ext cx="228600" cy="228600"/>
          </a:xfrm>
          <a:prstGeom xmlns:a="http://schemas.openxmlformats.org/drawingml/2006/main" prst="rect">
            <a:avLst/>
          </a:prstGeom>
        </p:spPr>
      </p:pic>
      <p:sp>
        <p:nvSpPr>
          <p:cNvPr id="14" name="">
            <a:extLst xmlns:a="http://schemas.openxmlformats.org/drawingml/2006/main">
              <a:ext uri="{FF2B5EF4-FFF2-40B4-BE49-F238E27FC236}">
                <a16:creationId xmlns:a16="http://schemas.microsoft.com/office/drawing/2014/main" id="{8AA9442F-14BA-4976-BC68-780BA2E7F2F5}"/>
              </a:ext>
            </a:extLst>
          </p:cNvPr>
          <p:cNvSpPr>
            <a:spLocks xmlns:a="http://schemas.openxmlformats.org/drawingml/2006/main" noGrp="1"/>
          </p:cNvSpPr>
          <p:nvPr/>
        </p:nvSpPr>
        <p:spPr>
          <a:xfrm xmlns:a="http://schemas.openxmlformats.org/drawingml/2006/main">
            <a:off x="5829300" y="2381250"/>
            <a:ext cx="17145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650" b="1">
                <a:solidFill>
                  <a:srgbClr val="1A3554"/>
                </a:solidFill>
                <a:latin typeface="Aptos Display"/>
                <a:ea typeface="Aptos Display"/>
                <a:cs typeface="Aptos Display"/>
              </a:defRPr>
            </a:pPr>
            <a:r>
              <a:rPr sz="1650" b="1">
                <a:solidFill>
                  <a:srgbClr val="1A3554"/>
                </a:solidFill>
                <a:latin typeface="Aptos Display"/>
                <a:ea typeface="Aptos Display"/>
                <a:cs typeface="Aptos Display"/>
              </a:rPr>
              <a:t>13 experts en IA</a:t>
            </a:r>
          </a:p>
        </p:txBody>
      </p:sp>
      <p:sp>
        <p:nvSpPr>
          <p:cNvPr id="15" name="">
            <a:extLst xmlns:a="http://schemas.openxmlformats.org/drawingml/2006/main">
              <a:ext uri="{FF2B5EF4-FFF2-40B4-BE49-F238E27FC236}">
                <a16:creationId xmlns:a16="http://schemas.microsoft.com/office/drawing/2014/main" id="{2B5225C9-7F28-4063-B840-352CAE41B2C2}"/>
              </a:ext>
            </a:extLst>
          </p:cNvPr>
          <p:cNvSpPr>
            <a:spLocks xmlns:a="http://schemas.openxmlformats.org/drawingml/2006/main" noGrp="1"/>
          </p:cNvSpPr>
          <p:nvPr/>
        </p:nvSpPr>
        <p:spPr>
          <a:xfrm xmlns:a="http://schemas.openxmlformats.org/drawingml/2006/main">
            <a:off x="5295900" y="2857500"/>
            <a:ext cx="224790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8" b="0">
                <a:solidFill>
                  <a:srgbClr val="1A3554"/>
                </a:solidFill>
                <a:latin typeface="Aptos"/>
                <a:ea typeface="Aptos"/>
                <a:cs typeface="Aptos"/>
              </a:defRPr>
            </a:pPr>
            <a:r>
              <a:rPr sz="938" b="0">
                <a:solidFill>
                  <a:srgbClr val="1A3554"/>
                </a:solidFill>
                <a:latin typeface="Aptos"/>
                <a:ea typeface="Aptos"/>
                <a:cs typeface="Aptos"/>
              </a:rPr>
              <a:t>Une equipe de 13 experts en IA mobilisable sur des enjeux de diagnostic, d'automatisation, de pilotage, de formation et de gouvernance.</a:t>
            </a:r>
          </a:p>
        </p:txBody>
      </p:sp>
      <p:sp>
        <p:nvSpPr>
          <p:cNvPr id="16" name="">
            <a:extLst xmlns:a="http://schemas.openxmlformats.org/drawingml/2006/main">
              <a:ext uri="{FF2B5EF4-FFF2-40B4-BE49-F238E27FC236}">
                <a16:creationId xmlns:a16="http://schemas.microsoft.com/office/drawing/2014/main" id="{50B1B260-D0BF-4F5E-8721-8C12E9FDDE56}"/>
              </a:ext>
            </a:extLst>
          </p:cNvPr>
          <p:cNvSpPr>
            <a:spLocks xmlns:a="http://schemas.openxmlformats.org/drawingml/2006/main" noGrp="1"/>
          </p:cNvSpPr>
          <p:nvPr/>
        </p:nvSpPr>
        <p:spPr>
          <a:xfrm xmlns:a="http://schemas.openxmlformats.org/drawingml/2006/main">
            <a:off x="8153400" y="2171700"/>
            <a:ext cx="3352800" cy="1409700"/>
          </a:xfrm>
          <a:prstGeom xmlns:a="http://schemas.openxmlformats.org/drawingml/2006/main" prst="rect">
            <a:avLst/>
          </a:prstGeom>
          <a:solidFill xmlns:a="http://schemas.openxmlformats.org/drawingml/2006/main">
            <a:srgbClr val="FFFDFC"/>
          </a:solidFill>
          <a:ln xmlns:a="http://schemas.openxmlformats.org/drawingml/2006/main" w="9525">
            <a:solidFill>
              <a:srgbClr val="D7CEC3"/>
            </a:solidFill>
            <a:prstDash val="solid"/>
          </a:ln>
        </p:spPr>
      </p:sp>
      <p:sp>
        <p:nvSpPr>
          <p:cNvPr id="17" name="">
            <a:extLst xmlns:a="http://schemas.openxmlformats.org/drawingml/2006/main">
              <a:ext uri="{FF2B5EF4-FFF2-40B4-BE49-F238E27FC236}">
                <a16:creationId xmlns:a16="http://schemas.microsoft.com/office/drawing/2014/main" id="{1328FEC8-4D25-40E4-BD66-55EB1C1778A5}"/>
              </a:ext>
            </a:extLst>
          </p:cNvPr>
          <p:cNvSpPr>
            <a:spLocks xmlns:a="http://schemas.openxmlformats.org/drawingml/2006/main" noGrp="1"/>
          </p:cNvSpPr>
          <p:nvPr/>
        </p:nvSpPr>
        <p:spPr>
          <a:xfrm xmlns:a="http://schemas.openxmlformats.org/drawingml/2006/main">
            <a:off x="8362950" y="2381250"/>
            <a:ext cx="419100" cy="419100"/>
          </a:xfrm>
          <a:prstGeom xmlns:a="http://schemas.openxmlformats.org/drawingml/2006/main" prst="ellipse">
            <a:avLst/>
          </a:prstGeom>
          <a:solidFill xmlns:a="http://schemas.openxmlformats.org/drawingml/2006/main">
            <a:srgbClr val="1C8A78"/>
          </a:solidFill>
          <a:ln xmlns:a="http://schemas.openxmlformats.org/drawingml/2006/main" w="0">
            <a:solidFill>
              <a:srgbClr val="1C8A78"/>
            </a:solidFill>
            <a:prstDash val="solid"/>
          </a:ln>
        </p:spPr>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236ce829d2bd4e7d">
            <a:extLst>
              <a:ext uri="{96DAC541-7B7A-43D3-8B79-37D633B846F1}">
                <asvg:svgBlip xmlns:asvg="http://schemas.microsoft.com/office/drawing/2016/SVG/main" r:embed="R9f574383c62a41b3"/>
              </a:ext>
            </a:extLst>
          </a:blip>
          <a:stretch xmlns:a="http://schemas.openxmlformats.org/drawingml/2006/main"/>
        </p:blipFill>
        <p:spPr>
          <a:xfrm xmlns:a="http://schemas.openxmlformats.org/drawingml/2006/main">
            <a:off x="8458200" y="2476500"/>
            <a:ext cx="228600" cy="228600"/>
          </a:xfrm>
          <a:prstGeom xmlns:a="http://schemas.openxmlformats.org/drawingml/2006/main" prst="rect">
            <a:avLst/>
          </a:prstGeom>
        </p:spPr>
      </p:pic>
      <p:sp>
        <p:nvSpPr>
          <p:cNvPr id="19" name="">
            <a:extLst xmlns:a="http://schemas.openxmlformats.org/drawingml/2006/main">
              <a:ext uri="{FF2B5EF4-FFF2-40B4-BE49-F238E27FC236}">
                <a16:creationId xmlns:a16="http://schemas.microsoft.com/office/drawing/2014/main" id="{AB277DBD-22D0-4643-923C-EDDEB7AF913C}"/>
              </a:ext>
            </a:extLst>
          </p:cNvPr>
          <p:cNvSpPr>
            <a:spLocks xmlns:a="http://schemas.openxmlformats.org/drawingml/2006/main" noGrp="1"/>
          </p:cNvSpPr>
          <p:nvPr/>
        </p:nvSpPr>
        <p:spPr>
          <a:xfrm xmlns:a="http://schemas.openxmlformats.org/drawingml/2006/main">
            <a:off x="8896350" y="2381250"/>
            <a:ext cx="21907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650" b="1">
                <a:solidFill>
                  <a:srgbClr val="1A3554"/>
                </a:solidFill>
                <a:latin typeface="Aptos Display"/>
                <a:ea typeface="Aptos Display"/>
                <a:cs typeface="Aptos Display"/>
              </a:defRPr>
            </a:pPr>
            <a:r>
              <a:rPr sz="1650" b="1">
                <a:solidFill>
                  <a:srgbClr val="1A3554"/>
                </a:solidFill>
                <a:latin typeface="Aptos Display"/>
                <a:ea typeface="Aptos Display"/>
                <a:cs typeface="Aptos Display"/>
              </a:rPr>
              <a:t>Differents secteurs couverts</a:t>
            </a:r>
          </a:p>
        </p:txBody>
      </p:sp>
      <p:sp>
        <p:nvSpPr>
          <p:cNvPr id="20" name="">
            <a:extLst xmlns:a="http://schemas.openxmlformats.org/drawingml/2006/main">
              <a:ext uri="{FF2B5EF4-FFF2-40B4-BE49-F238E27FC236}">
                <a16:creationId xmlns:a16="http://schemas.microsoft.com/office/drawing/2014/main" id="{4623E988-A6AB-4965-82EC-B71A28C75BDC}"/>
              </a:ext>
            </a:extLst>
          </p:cNvPr>
          <p:cNvSpPr>
            <a:spLocks xmlns:a="http://schemas.openxmlformats.org/drawingml/2006/main" noGrp="1"/>
          </p:cNvSpPr>
          <p:nvPr/>
        </p:nvSpPr>
        <p:spPr>
          <a:xfrm xmlns:a="http://schemas.openxmlformats.org/drawingml/2006/main">
            <a:off x="8362950" y="2857500"/>
            <a:ext cx="274320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8" b="0">
                <a:solidFill>
                  <a:srgbClr val="1A3554"/>
                </a:solidFill>
                <a:latin typeface="Aptos"/>
                <a:ea typeface="Aptos"/>
                <a:cs typeface="Aptos"/>
              </a:defRPr>
            </a:pPr>
            <a:r>
              <a:rPr sz="938" b="0">
                <a:solidFill>
                  <a:srgbClr val="1A3554"/>
                </a:solidFill>
                <a:latin typeface="Aptos"/>
                <a:ea typeface="Aptos"/>
                <a:cs typeface="Aptos"/>
              </a:rPr>
              <a:t>TransferAI rassemble des expertises IA appliquees dans differents secteurs d'activite, ce qui permet de relier les usages technologiques aux contraintes metier.</a:t>
            </a:r>
          </a:p>
        </p:txBody>
      </p:sp>
      <p:sp>
        <p:nvSpPr>
          <p:cNvPr id="21" name="">
            <a:extLst xmlns:a="http://schemas.openxmlformats.org/drawingml/2006/main">
              <a:ext uri="{FF2B5EF4-FFF2-40B4-BE49-F238E27FC236}">
                <a16:creationId xmlns:a16="http://schemas.microsoft.com/office/drawing/2014/main" id="{60A5C121-B7F6-482A-A400-5010F5CC4A4C}"/>
              </a:ext>
            </a:extLst>
          </p:cNvPr>
          <p:cNvSpPr>
            <a:spLocks xmlns:a="http://schemas.openxmlformats.org/drawingml/2006/main" noGrp="1"/>
          </p:cNvSpPr>
          <p:nvPr/>
        </p:nvSpPr>
        <p:spPr>
          <a:xfrm xmlns:a="http://schemas.openxmlformats.org/drawingml/2006/main">
            <a:off x="5086350" y="3790950"/>
            <a:ext cx="2857500" cy="1409700"/>
          </a:xfrm>
          <a:prstGeom xmlns:a="http://schemas.openxmlformats.org/drawingml/2006/main" prst="rect">
            <a:avLst/>
          </a:prstGeom>
          <a:solidFill xmlns:a="http://schemas.openxmlformats.org/drawingml/2006/main">
            <a:srgbClr val="FFFDFC"/>
          </a:solidFill>
          <a:ln xmlns:a="http://schemas.openxmlformats.org/drawingml/2006/main" w="9525">
            <a:solidFill>
              <a:srgbClr val="D7CEC3"/>
            </a:solidFill>
            <a:prstDash val="solid"/>
          </a:ln>
        </p:spPr>
      </p:sp>
      <p:sp>
        <p:nvSpPr>
          <p:cNvPr id="22" name="">
            <a:extLst xmlns:a="http://schemas.openxmlformats.org/drawingml/2006/main">
              <a:ext uri="{FF2B5EF4-FFF2-40B4-BE49-F238E27FC236}">
                <a16:creationId xmlns:a16="http://schemas.microsoft.com/office/drawing/2014/main" id="{6825058E-0EC6-4FC4-AFAA-0E89C1304E89}"/>
              </a:ext>
            </a:extLst>
          </p:cNvPr>
          <p:cNvSpPr>
            <a:spLocks xmlns:a="http://schemas.openxmlformats.org/drawingml/2006/main" noGrp="1"/>
          </p:cNvSpPr>
          <p:nvPr/>
        </p:nvSpPr>
        <p:spPr>
          <a:xfrm xmlns:a="http://schemas.openxmlformats.org/drawingml/2006/main">
            <a:off x="5295900" y="4000500"/>
            <a:ext cx="419100" cy="419100"/>
          </a:xfrm>
          <a:prstGeom xmlns:a="http://schemas.openxmlformats.org/drawingml/2006/main" prst="ellipse">
            <a:avLst/>
          </a:prstGeom>
          <a:solidFill xmlns:a="http://schemas.openxmlformats.org/drawingml/2006/main">
            <a:srgbClr val="163556"/>
          </a:solidFill>
          <a:ln xmlns:a="http://schemas.openxmlformats.org/drawingml/2006/main" w="0">
            <a:solidFill>
              <a:srgbClr val="163556"/>
            </a:solidFill>
            <a:prstDash val="solid"/>
          </a:ln>
        </p:spPr>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8f4cb77d126848ef">
            <a:extLst>
              <a:ext uri="{96DAC541-7B7A-43D3-8B79-37D633B846F1}">
                <asvg:svgBlip xmlns:asvg="http://schemas.microsoft.com/office/drawing/2016/SVG/main" r:embed="Rf5429c15ce264e8e"/>
              </a:ext>
            </a:extLst>
          </a:blip>
          <a:stretch xmlns:a="http://schemas.openxmlformats.org/drawingml/2006/main"/>
        </p:blipFill>
        <p:spPr>
          <a:xfrm xmlns:a="http://schemas.openxmlformats.org/drawingml/2006/main">
            <a:off x="5391150" y="4095750"/>
            <a:ext cx="228600" cy="228600"/>
          </a:xfrm>
          <a:prstGeom xmlns:a="http://schemas.openxmlformats.org/drawingml/2006/main" prst="rect">
            <a:avLst/>
          </a:prstGeom>
        </p:spPr>
      </p:pic>
      <p:sp>
        <p:nvSpPr>
          <p:cNvPr id="24" name="">
            <a:extLst xmlns:a="http://schemas.openxmlformats.org/drawingml/2006/main">
              <a:ext uri="{FF2B5EF4-FFF2-40B4-BE49-F238E27FC236}">
                <a16:creationId xmlns:a16="http://schemas.microsoft.com/office/drawing/2014/main" id="{B904750A-B375-444D-8BF5-1A8518EDB532}"/>
              </a:ext>
            </a:extLst>
          </p:cNvPr>
          <p:cNvSpPr>
            <a:spLocks xmlns:a="http://schemas.openxmlformats.org/drawingml/2006/main" noGrp="1"/>
          </p:cNvSpPr>
          <p:nvPr/>
        </p:nvSpPr>
        <p:spPr>
          <a:xfrm xmlns:a="http://schemas.openxmlformats.org/drawingml/2006/main">
            <a:off x="5829300" y="4000500"/>
            <a:ext cx="18097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650" b="1">
                <a:solidFill>
                  <a:srgbClr val="1A3554"/>
                </a:solidFill>
                <a:latin typeface="Aptos Display"/>
                <a:ea typeface="Aptos Display"/>
                <a:cs typeface="Aptos Display"/>
              </a:defRPr>
            </a:pPr>
            <a:r>
              <a:rPr sz="1650" b="1">
                <a:solidFill>
                  <a:srgbClr val="1A3554"/>
                </a:solidFill>
                <a:latin typeface="Aptos Display"/>
                <a:ea typeface="Aptos Display"/>
                <a:cs typeface="Aptos Display"/>
              </a:rPr>
              <a:t>Une logique d'execution</a:t>
            </a:r>
          </a:p>
        </p:txBody>
      </p:sp>
      <p:sp>
        <p:nvSpPr>
          <p:cNvPr id="25" name="">
            <a:extLst xmlns:a="http://schemas.openxmlformats.org/drawingml/2006/main">
              <a:ext uri="{FF2B5EF4-FFF2-40B4-BE49-F238E27FC236}">
                <a16:creationId xmlns:a16="http://schemas.microsoft.com/office/drawing/2014/main" id="{17F9533A-A992-4ECE-B6C4-7BA8AFA17127}"/>
              </a:ext>
            </a:extLst>
          </p:cNvPr>
          <p:cNvSpPr>
            <a:spLocks xmlns:a="http://schemas.openxmlformats.org/drawingml/2006/main" noGrp="1"/>
          </p:cNvSpPr>
          <p:nvPr/>
        </p:nvSpPr>
        <p:spPr>
          <a:xfrm xmlns:a="http://schemas.openxmlformats.org/drawingml/2006/main">
            <a:off x="5295900" y="4476750"/>
            <a:ext cx="2247900" cy="533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8" b="0">
                <a:solidFill>
                  <a:srgbClr val="1A3554"/>
                </a:solidFill>
                <a:latin typeface="Aptos"/>
                <a:ea typeface="Aptos"/>
                <a:cs typeface="Aptos"/>
              </a:defRPr>
            </a:pPr>
            <a:r>
              <a:rPr sz="938" b="0">
                <a:solidFill>
                  <a:srgbClr val="1A3554"/>
                </a:solidFill>
                <a:latin typeface="Aptos"/>
                <a:ea typeface="Aptos"/>
                <a:cs typeface="Aptos"/>
              </a:rPr>
              <a:t>Notre role n'est pas seulement de presenter l'IA. Nous cadrons, priorisons, formons et transformons un besoin flou en pilote metier mesurable.</a:t>
            </a:r>
          </a:p>
        </p:txBody>
      </p:sp>
      <p:sp>
        <p:nvSpPr>
          <p:cNvPr id="26" name="">
            <a:extLst xmlns:a="http://schemas.openxmlformats.org/drawingml/2006/main">
              <a:ext uri="{FF2B5EF4-FFF2-40B4-BE49-F238E27FC236}">
                <a16:creationId xmlns:a16="http://schemas.microsoft.com/office/drawing/2014/main" id="{DDBF6B33-F682-4129-BCD4-3970D857B014}"/>
              </a:ext>
            </a:extLst>
          </p:cNvPr>
          <p:cNvSpPr>
            <a:spLocks xmlns:a="http://schemas.openxmlformats.org/drawingml/2006/main" noGrp="1"/>
          </p:cNvSpPr>
          <p:nvPr/>
        </p:nvSpPr>
        <p:spPr>
          <a:xfrm xmlns:a="http://schemas.openxmlformats.org/drawingml/2006/main">
            <a:off x="8153400" y="3790950"/>
            <a:ext cx="3352800" cy="1409700"/>
          </a:xfrm>
          <a:prstGeom xmlns:a="http://schemas.openxmlformats.org/drawingml/2006/main" prst="rect">
            <a:avLst/>
          </a:prstGeom>
          <a:solidFill xmlns:a="http://schemas.openxmlformats.org/drawingml/2006/main">
            <a:srgbClr val="FFFDFC"/>
          </a:solidFill>
          <a:ln xmlns:a="http://schemas.openxmlformats.org/drawingml/2006/main" w="9525">
            <a:solidFill>
              <a:srgbClr val="D7CEC3"/>
            </a:solidFill>
            <a:prstDash val="solid"/>
          </a:ln>
        </p:spPr>
      </p:sp>
      <p:sp>
        <p:nvSpPr>
          <p:cNvPr id="27" name="">
            <a:extLst xmlns:a="http://schemas.openxmlformats.org/drawingml/2006/main">
              <a:ext uri="{FF2B5EF4-FFF2-40B4-BE49-F238E27FC236}">
                <a16:creationId xmlns:a16="http://schemas.microsoft.com/office/drawing/2014/main" id="{953A3CE8-E30A-456D-A080-BBAC03C02845}"/>
              </a:ext>
            </a:extLst>
          </p:cNvPr>
          <p:cNvSpPr>
            <a:spLocks xmlns:a="http://schemas.openxmlformats.org/drawingml/2006/main" noGrp="1"/>
          </p:cNvSpPr>
          <p:nvPr/>
        </p:nvSpPr>
        <p:spPr>
          <a:xfrm xmlns:a="http://schemas.openxmlformats.org/drawingml/2006/main">
            <a:off x="8362950" y="4000500"/>
            <a:ext cx="419100" cy="419100"/>
          </a:xfrm>
          <a:prstGeom xmlns:a="http://schemas.openxmlformats.org/drawingml/2006/main" prst="ellipse">
            <a:avLst/>
          </a:prstGeom>
          <a:solidFill xmlns:a="http://schemas.openxmlformats.org/drawingml/2006/main">
            <a:srgbClr val="C88C3A"/>
          </a:solidFill>
          <a:ln xmlns:a="http://schemas.openxmlformats.org/drawingml/2006/main" w="0">
            <a:solidFill>
              <a:srgbClr val="C88C3A"/>
            </a:solidFill>
            <a:prstDash val="solid"/>
          </a:ln>
        </p:spPr>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cba8d8983ea843fe">
            <a:extLst>
              <a:ext uri="{96DAC541-7B7A-43D3-8B79-37D633B846F1}">
                <asvg:svgBlip xmlns:asvg="http://schemas.microsoft.com/office/drawing/2016/SVG/main" r:embed="R9b18bc77f6f74a3c"/>
              </a:ext>
            </a:extLst>
          </a:blip>
          <a:stretch xmlns:a="http://schemas.openxmlformats.org/drawingml/2006/main"/>
        </p:blipFill>
        <p:spPr>
          <a:xfrm xmlns:a="http://schemas.openxmlformats.org/drawingml/2006/main">
            <a:off x="8458200" y="4095750"/>
            <a:ext cx="228600" cy="228600"/>
          </a:xfrm>
          <a:prstGeom xmlns:a="http://schemas.openxmlformats.org/drawingml/2006/main" prst="rect">
            <a:avLst/>
          </a:prstGeom>
        </p:spPr>
      </p:pic>
      <p:sp>
        <p:nvSpPr>
          <p:cNvPr id="29" name="">
            <a:extLst xmlns:a="http://schemas.openxmlformats.org/drawingml/2006/main">
              <a:ext uri="{FF2B5EF4-FFF2-40B4-BE49-F238E27FC236}">
                <a16:creationId xmlns:a16="http://schemas.microsoft.com/office/drawing/2014/main" id="{38B8958F-B167-4BDD-B2D0-CDA643BE24EE}"/>
              </a:ext>
            </a:extLst>
          </p:cNvPr>
          <p:cNvSpPr>
            <a:spLocks xmlns:a="http://schemas.openxmlformats.org/drawingml/2006/main" noGrp="1"/>
          </p:cNvSpPr>
          <p:nvPr/>
        </p:nvSpPr>
        <p:spPr>
          <a:xfrm xmlns:a="http://schemas.openxmlformats.org/drawingml/2006/main">
            <a:off x="8896350" y="4000500"/>
            <a:ext cx="22860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650" b="1">
                <a:solidFill>
                  <a:srgbClr val="1A3554"/>
                </a:solidFill>
                <a:latin typeface="Aptos Display"/>
                <a:ea typeface="Aptos Display"/>
                <a:cs typeface="Aptos Display"/>
              </a:defRPr>
            </a:pPr>
            <a:r>
              <a:rPr sz="1650" b="1">
                <a:solidFill>
                  <a:srgbClr val="1A3554"/>
                </a:solidFill>
                <a:latin typeface="Aptos Display"/>
                <a:ea typeface="Aptos Display"/>
                <a:cs typeface="Aptos Display"/>
              </a:rPr>
              <a:t>Un cadre compatible entreprise</a:t>
            </a:r>
          </a:p>
        </p:txBody>
      </p:sp>
      <p:sp>
        <p:nvSpPr>
          <p:cNvPr id="30" name="">
            <a:extLst xmlns:a="http://schemas.openxmlformats.org/drawingml/2006/main">
              <a:ext uri="{FF2B5EF4-FFF2-40B4-BE49-F238E27FC236}">
                <a16:creationId xmlns:a16="http://schemas.microsoft.com/office/drawing/2014/main" id="{DA357801-94CE-49BF-BFAB-91D9A093D1F9}"/>
              </a:ext>
            </a:extLst>
          </p:cNvPr>
          <p:cNvSpPr>
            <a:spLocks xmlns:a="http://schemas.openxmlformats.org/drawingml/2006/main" noGrp="1"/>
          </p:cNvSpPr>
          <p:nvPr/>
        </p:nvSpPr>
        <p:spPr>
          <a:xfrm xmlns:a="http://schemas.openxmlformats.org/drawingml/2006/main">
            <a:off x="8362950" y="4476750"/>
            <a:ext cx="2743200" cy="533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8" b="0">
                <a:solidFill>
                  <a:srgbClr val="1A3554"/>
                </a:solidFill>
                <a:latin typeface="Aptos"/>
                <a:ea typeface="Aptos"/>
                <a:cs typeface="Aptos"/>
              </a:defRPr>
            </a:pPr>
            <a:r>
              <a:rPr sz="938" b="0">
                <a:solidFill>
                  <a:srgbClr val="1A3554"/>
                </a:solidFill>
                <a:latin typeface="Aptos"/>
                <a:ea typeface="Aptos"/>
                <a:cs typeface="Aptos"/>
              </a:rPr>
              <a:t>Adosse a Nettelecom CI, TransferAI porte une approche serieuse sur la confidentialite, la gouvernance des usages et la supervision des pilotes.</a:t>
            </a:r>
          </a:p>
        </p:txBody>
      </p:sp>
      <p:sp>
        <p:nvSpPr>
          <p:cNvPr id="31" name="">
            <a:extLst xmlns:a="http://schemas.openxmlformats.org/drawingml/2006/main">
              <a:ext uri="{FF2B5EF4-FFF2-40B4-BE49-F238E27FC236}">
                <a16:creationId xmlns:a16="http://schemas.microsoft.com/office/drawing/2014/main" id="{E2ED94C0-7B9D-43B6-AF03-CA8E4C4A63BF}"/>
              </a:ext>
            </a:extLst>
          </p:cNvPr>
          <p:cNvSpPr>
            <a:spLocks xmlns:a="http://schemas.openxmlformats.org/drawingml/2006/main" noGrp="1"/>
          </p:cNvSpPr>
          <p:nvPr/>
        </p:nvSpPr>
        <p:spPr>
          <a:xfrm xmlns:a="http://schemas.openxmlformats.org/drawingml/2006/main">
            <a:off x="685800" y="5638800"/>
            <a:ext cx="10820400" cy="476250"/>
          </a:xfrm>
          <a:prstGeom xmlns:a="http://schemas.openxmlformats.org/drawingml/2006/main" prst="rect">
            <a:avLst/>
          </a:prstGeom>
          <a:solidFill xmlns:a="http://schemas.openxmlformats.org/drawingml/2006/main">
            <a:srgbClr val="FBF5EE"/>
          </a:solidFill>
          <a:ln xmlns:a="http://schemas.openxmlformats.org/drawingml/2006/main" w="9525">
            <a:solidFill>
              <a:srgbClr val="D7CEC3"/>
            </a:solidFill>
            <a:prstDash val="solid"/>
          </a:ln>
        </p:spPr>
      </p:sp>
      <p:sp>
        <p:nvSpPr>
          <p:cNvPr id="32" name="">
            <a:extLst xmlns:a="http://schemas.openxmlformats.org/drawingml/2006/main">
              <a:ext uri="{FF2B5EF4-FFF2-40B4-BE49-F238E27FC236}">
                <a16:creationId xmlns:a16="http://schemas.microsoft.com/office/drawing/2014/main" id="{58868FB1-D88E-4073-99F2-9C33F1036FB0}"/>
              </a:ext>
            </a:extLst>
          </p:cNvPr>
          <p:cNvSpPr>
            <a:spLocks xmlns:a="http://schemas.openxmlformats.org/drawingml/2006/main" noGrp="1"/>
          </p:cNvSpPr>
          <p:nvPr/>
        </p:nvSpPr>
        <p:spPr>
          <a:xfrm xmlns:a="http://schemas.openxmlformats.org/drawingml/2006/main">
            <a:off x="895350" y="5810250"/>
            <a:ext cx="190500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E76F1D"/>
                </a:solidFill>
                <a:latin typeface="Aptos"/>
                <a:ea typeface="Aptos"/>
                <a:cs typeface="Aptos"/>
              </a:defRPr>
            </a:pPr>
            <a:r>
              <a:rPr sz="750" b="1">
                <a:solidFill>
                  <a:srgbClr val="E76F1D"/>
                </a:solidFill>
                <a:latin typeface="Aptos"/>
                <a:ea typeface="Aptos"/>
                <a:cs typeface="Aptos"/>
              </a:rPr>
              <a:t>Pourquoi l'ajouter tot dans le deck</a:t>
            </a:r>
          </a:p>
        </p:txBody>
      </p:sp>
      <p:sp>
        <p:nvSpPr>
          <p:cNvPr id="33" name="">
            <a:extLst xmlns:a="http://schemas.openxmlformats.org/drawingml/2006/main">
              <a:ext uri="{FF2B5EF4-FFF2-40B4-BE49-F238E27FC236}">
                <a16:creationId xmlns:a16="http://schemas.microsoft.com/office/drawing/2014/main" id="{2545FCB0-83F1-4A34-B055-ADBBE761E592}"/>
              </a:ext>
            </a:extLst>
          </p:cNvPr>
          <p:cNvSpPr>
            <a:spLocks xmlns:a="http://schemas.openxmlformats.org/drawingml/2006/main" noGrp="1"/>
          </p:cNvSpPr>
          <p:nvPr/>
        </p:nvSpPr>
        <p:spPr>
          <a:xfrm xmlns:a="http://schemas.openxmlformats.org/drawingml/2006/main">
            <a:off x="2952750" y="5772150"/>
            <a:ext cx="8191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63" b="1">
                <a:solidFill>
                  <a:srgbClr val="1A3554"/>
                </a:solidFill>
                <a:latin typeface="Aptos"/>
                <a:ea typeface="Aptos"/>
                <a:cs typeface="Aptos"/>
              </a:defRPr>
            </a:pPr>
            <a:r>
              <a:rPr sz="863" b="1">
                <a:solidFill>
                  <a:srgbClr val="1A3554"/>
                </a:solidFill>
                <a:latin typeface="Aptos"/>
                <a:ea typeface="Aptos"/>
                <a:cs typeface="Aptos"/>
              </a:rPr>
              <a:t>Avant de parler ROI et cas d'usage, ELTON CI doit voir que TransferAI est une entite credible, portee par Nettelecom CI et soutenue par 13 experts IA.</a:t>
            </a:r>
          </a:p>
        </p:txBody>
      </p:sp>
      <p:sp>
        <p:nvSpPr>
          <p:cNvPr id="34" name="">
            <a:extLst xmlns:a="http://schemas.openxmlformats.org/drawingml/2006/main">
              <a:ext uri="{FF2B5EF4-FFF2-40B4-BE49-F238E27FC236}">
                <a16:creationId xmlns:a16="http://schemas.microsoft.com/office/drawing/2014/main" id="{DF071CEB-A55F-4B9D-8590-41E68E1C3D1C}"/>
              </a:ext>
            </a:extLst>
          </p:cNvPr>
          <p:cNvSpPr>
            <a:spLocks xmlns:a="http://schemas.openxmlformats.org/drawingml/2006/main" noGrp="1"/>
          </p:cNvSpPr>
          <p:nvPr/>
        </p:nvSpPr>
        <p:spPr>
          <a:xfrm xmlns:a="http://schemas.openxmlformats.org/drawingml/2006/main">
            <a:off x="647700" y="6496050"/>
            <a:ext cx="10896600" cy="9525"/>
          </a:xfrm>
          <a:prstGeom xmlns:a="http://schemas.openxmlformats.org/drawingml/2006/main" prst="rect">
            <a:avLst/>
          </a:prstGeom>
          <a:solidFill xmlns:a="http://schemas.openxmlformats.org/drawingml/2006/main">
            <a:srgbClr val="D7CEC3"/>
          </a:solidFill>
          <a:ln xmlns:a="http://schemas.openxmlformats.org/drawingml/2006/main" w="0">
            <a:solidFill>
              <a:srgbClr val="000000">
                <a:alpha val="0"/>
              </a:srgbClr>
            </a:solidFill>
            <a:prstDash val="solid"/>
          </a:ln>
        </p:spPr>
      </p:sp>
      <p:sp>
        <p:nvSpPr>
          <p:cNvPr id="35" name="">
            <a:extLst xmlns:a="http://schemas.openxmlformats.org/drawingml/2006/main">
              <a:ext uri="{FF2B5EF4-FFF2-40B4-BE49-F238E27FC236}">
                <a16:creationId xmlns:a16="http://schemas.microsoft.com/office/drawing/2014/main" id="{1E601B31-8444-42D5-9B18-9A4CB5D9B695}"/>
              </a:ext>
            </a:extLst>
          </p:cNvPr>
          <p:cNvSpPr>
            <a:spLocks xmlns:a="http://schemas.openxmlformats.org/drawingml/2006/main" noGrp="1"/>
          </p:cNvSpPr>
          <p:nvPr/>
        </p:nvSpPr>
        <p:spPr>
          <a:xfrm xmlns:a="http://schemas.openxmlformats.org/drawingml/2006/main">
            <a:off x="685800" y="6572250"/>
            <a:ext cx="857250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38" b="0">
                <a:solidFill>
                  <a:srgbClr val="617086"/>
                </a:solidFill>
                <a:latin typeface="Aptos"/>
                <a:ea typeface="Aptos"/>
                <a:cs typeface="Aptos"/>
              </a:defRPr>
            </a:pPr>
            <a:r>
              <a:rPr sz="638" b="0">
                <a:solidFill>
                  <a:srgbClr val="617086"/>
                </a:solidFill>
                <a:latin typeface="Aptos"/>
                <a:ea typeface="Aptos"/>
                <a:cs typeface="Aptos"/>
              </a:rPr>
              <a:t>TransferAI | Hub AI de Nettelecom CI | Proposition ciblee ELTON CI</a:t>
            </a:r>
          </a:p>
        </p:txBody>
      </p:sp>
      <p:sp>
        <p:nvSpPr>
          <p:cNvPr id="36" name="">
            <a:extLst xmlns:a="http://schemas.openxmlformats.org/drawingml/2006/main">
              <a:ext uri="{FF2B5EF4-FFF2-40B4-BE49-F238E27FC236}">
                <a16:creationId xmlns:a16="http://schemas.microsoft.com/office/drawing/2014/main" id="{57FE613D-0D27-4F13-92B9-80E617CC96BE}"/>
              </a:ext>
            </a:extLst>
          </p:cNvPr>
          <p:cNvSpPr>
            <a:spLocks xmlns:a="http://schemas.openxmlformats.org/drawingml/2006/main" noGrp="1"/>
          </p:cNvSpPr>
          <p:nvPr/>
        </p:nvSpPr>
        <p:spPr>
          <a:xfrm xmlns:a="http://schemas.openxmlformats.org/drawingml/2006/main">
            <a:off x="11049000" y="6553200"/>
            <a:ext cx="3429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750" b="1">
                <a:solidFill>
                  <a:srgbClr val="1A3554"/>
                </a:solidFill>
                <a:latin typeface="Aptos"/>
                <a:ea typeface="Aptos"/>
                <a:cs typeface="Aptos"/>
              </a:defRPr>
            </a:pPr>
            <a:r>
              <a:rPr sz="750" b="1">
                <a:solidFill>
                  <a:srgbClr val="1A3554"/>
                </a:solidFill>
                <a:latin typeface="Aptos"/>
                <a:ea typeface="Aptos"/>
                <a:cs typeface="Aptos"/>
              </a:rPr>
              <a:t>02</a:t>
            </a:r>
          </a:p>
        </p:txBody>
      </p:sp>
    </p:spTree>
    <p:extLst>
      <p:ext uri="{BB962C8B-B14F-4D97-AF65-F5344CB8AC3E}">
        <p14:creationId xmlns:p14="http://schemas.microsoft.com/office/powerpoint/2010/main" val="1509872123"/>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D9564A75-7C33-4D92-BD87-70D473F28078}"/>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EFE7"/>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97AFBC20-D8A7-480B-BC26-A6568BB41AED}"/>
              </a:ext>
            </a:extLst>
          </p:cNvPr>
          <p:cNvSpPr>
            <a:spLocks xmlns:a="http://schemas.openxmlformats.org/drawingml/2006/main" noGrp="1"/>
          </p:cNvSpPr>
          <p:nvPr/>
        </p:nvSpPr>
        <p:spPr>
          <a:xfrm xmlns:a="http://schemas.openxmlformats.org/drawingml/2006/main">
            <a:off x="685800" y="49530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88" b="1">
                <a:solidFill>
                  <a:srgbClr val="E76F1D"/>
                </a:solidFill>
                <a:latin typeface="Aptos"/>
                <a:ea typeface="Aptos"/>
                <a:cs typeface="Aptos"/>
              </a:defRPr>
            </a:pPr>
            <a:r>
              <a:rPr sz="788" b="1">
                <a:solidFill>
                  <a:srgbClr val="E76F1D"/>
                </a:solidFill>
                <a:latin typeface="Aptos"/>
                <a:ea typeface="Aptos"/>
                <a:cs typeface="Aptos"/>
              </a:rPr>
              <a:t>CONTEXTE ELTON CI</a:t>
            </a:r>
          </a:p>
        </p:txBody>
      </p:sp>
      <p:sp>
        <p:nvSpPr>
          <p:cNvPr id="3" name="">
            <a:extLst xmlns:a="http://schemas.openxmlformats.org/drawingml/2006/main">
              <a:ext uri="{FF2B5EF4-FFF2-40B4-BE49-F238E27FC236}">
                <a16:creationId xmlns:a16="http://schemas.microsoft.com/office/drawing/2014/main" id="{BAEC4496-29CF-43A2-AEBD-CD4879BF7EEE}"/>
              </a:ext>
            </a:extLst>
          </p:cNvPr>
          <p:cNvSpPr>
            <a:spLocks xmlns:a="http://schemas.openxmlformats.org/drawingml/2006/main" noGrp="1"/>
          </p:cNvSpPr>
          <p:nvPr/>
        </p:nvSpPr>
        <p:spPr>
          <a:xfrm xmlns:a="http://schemas.openxmlformats.org/drawingml/2006/main">
            <a:off x="685800" y="819150"/>
            <a:ext cx="8572500" cy="800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550" b="1">
                <a:solidFill>
                  <a:srgbClr val="1A3554"/>
                </a:solidFill>
                <a:latin typeface="Aptos Display"/>
                <a:ea typeface="Aptos Display"/>
                <a:cs typeface="Aptos Display"/>
              </a:defRPr>
            </a:pPr>
            <a:r>
              <a:rPr sz="2550" b="1">
                <a:solidFill>
                  <a:srgbClr val="1A3554"/>
                </a:solidFill>
                <a:latin typeface="Aptos Display"/>
                <a:ea typeface="Aptos Display"/>
                <a:cs typeface="Aptos Display"/>
              </a:rPr>
              <a:t>Pourquoi cette proposition est adaptee au contexte ELTON CI</a:t>
            </a:r>
          </a:p>
        </p:txBody>
      </p:sp>
      <p:sp>
        <p:nvSpPr>
          <p:cNvPr id="4" name="">
            <a:extLst xmlns:a="http://schemas.openxmlformats.org/drawingml/2006/main">
              <a:ext uri="{FF2B5EF4-FFF2-40B4-BE49-F238E27FC236}">
                <a16:creationId xmlns:a16="http://schemas.microsoft.com/office/drawing/2014/main" id="{21843208-DE6C-4E0D-8FA6-BD5269D7A577}"/>
              </a:ext>
            </a:extLst>
          </p:cNvPr>
          <p:cNvSpPr>
            <a:spLocks xmlns:a="http://schemas.openxmlformats.org/drawingml/2006/main" noGrp="1"/>
          </p:cNvSpPr>
          <p:nvPr/>
        </p:nvSpPr>
        <p:spPr>
          <a:xfrm xmlns:a="http://schemas.openxmlformats.org/drawingml/2006/main">
            <a:off x="685800" y="1676400"/>
            <a:ext cx="904875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617086"/>
                </a:solidFill>
                <a:latin typeface="Aptos"/>
                <a:ea typeface="Aptos"/>
                <a:cs typeface="Aptos"/>
              </a:defRPr>
            </a:pPr>
            <a:r>
              <a:rPr sz="1050" b="0">
                <a:solidFill>
                  <a:srgbClr val="617086"/>
                </a:solidFill>
                <a:latin typeface="Aptos"/>
                <a:ea typeface="Aptos"/>
                <a:cs typeface="Aptos"/>
              </a:rPr>
              <a:t>L'objectif n'est pas d'ajouter un outil de plus. Il s'agit de mieux piloter, mieux coordonner et mieux diffuser l'information utile dans des flux qui coutent du temps et de la discipline.</a:t>
            </a:r>
          </a:p>
        </p:txBody>
      </p:sp>
      <p:sp>
        <p:nvSpPr>
          <p:cNvPr id="5" name="">
            <a:extLst xmlns:a="http://schemas.openxmlformats.org/drawingml/2006/main">
              <a:ext uri="{FF2B5EF4-FFF2-40B4-BE49-F238E27FC236}">
                <a16:creationId xmlns:a16="http://schemas.microsoft.com/office/drawing/2014/main" id="{28A341A8-D344-4646-94A5-A47AFC45A429}"/>
              </a:ext>
            </a:extLst>
          </p:cNvPr>
          <p:cNvSpPr>
            <a:spLocks xmlns:a="http://schemas.openxmlformats.org/drawingml/2006/main" noGrp="1"/>
          </p:cNvSpPr>
          <p:nvPr/>
        </p:nvSpPr>
        <p:spPr>
          <a:xfrm xmlns:a="http://schemas.openxmlformats.org/drawingml/2006/main">
            <a:off x="685800" y="2362200"/>
            <a:ext cx="2571750" cy="1714500"/>
          </a:xfrm>
          <a:prstGeom xmlns:a="http://schemas.openxmlformats.org/drawingml/2006/main" prst="rect">
            <a:avLst/>
          </a:prstGeom>
          <a:solidFill xmlns:a="http://schemas.openxmlformats.org/drawingml/2006/main">
            <a:srgbClr val="FFFDFC"/>
          </a:solidFill>
          <a:ln xmlns:a="http://schemas.openxmlformats.org/drawingml/2006/main" w="9525">
            <a:solidFill>
              <a:srgbClr val="D7CEC3"/>
            </a:solidFill>
            <a:prstDash val="solid"/>
          </a:ln>
        </p:spPr>
      </p:sp>
      <p:sp>
        <p:nvSpPr>
          <p:cNvPr id="6" name="">
            <a:extLst xmlns:a="http://schemas.openxmlformats.org/drawingml/2006/main">
              <a:ext uri="{FF2B5EF4-FFF2-40B4-BE49-F238E27FC236}">
                <a16:creationId xmlns:a16="http://schemas.microsoft.com/office/drawing/2014/main" id="{ABDD45AB-D11D-4CAB-AF10-21475B44FB7E}"/>
              </a:ext>
            </a:extLst>
          </p:cNvPr>
          <p:cNvSpPr>
            <a:spLocks xmlns:a="http://schemas.openxmlformats.org/drawingml/2006/main" noGrp="1"/>
          </p:cNvSpPr>
          <p:nvPr/>
        </p:nvSpPr>
        <p:spPr>
          <a:xfrm xmlns:a="http://schemas.openxmlformats.org/drawingml/2006/main">
            <a:off x="857250" y="2533650"/>
            <a:ext cx="419100" cy="419100"/>
          </a:xfrm>
          <a:prstGeom xmlns:a="http://schemas.openxmlformats.org/drawingml/2006/main" prst="ellipse">
            <a:avLst/>
          </a:prstGeom>
          <a:solidFill xmlns:a="http://schemas.openxmlformats.org/drawingml/2006/main">
            <a:srgbClr val="E76F1D"/>
          </a:solidFill>
          <a:ln xmlns:a="http://schemas.openxmlformats.org/drawingml/2006/main" w="0">
            <a:solidFill>
              <a:srgbClr val="E76F1D"/>
            </a:solidFill>
            <a:prstDash val="solid"/>
          </a:ln>
        </p:spPr>
      </p:sp>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012193779bf249b8">
            <a:extLst>
              <a:ext uri="{96DAC541-7B7A-43D3-8B79-37D633B846F1}">
                <asvg:svgBlip xmlns:asvg="http://schemas.microsoft.com/office/drawing/2016/SVG/main" r:embed="R20bd1582a2464f66"/>
              </a:ext>
            </a:extLst>
          </a:blip>
          <a:stretch xmlns:a="http://schemas.openxmlformats.org/drawingml/2006/main"/>
        </p:blipFill>
        <p:spPr>
          <a:xfrm xmlns:a="http://schemas.openxmlformats.org/drawingml/2006/main">
            <a:off x="952500" y="2628900"/>
            <a:ext cx="228600" cy="22860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0BAEAD4F-7E36-45F5-99A2-D6DD559E78FD}"/>
              </a:ext>
            </a:extLst>
          </p:cNvPr>
          <p:cNvSpPr>
            <a:spLocks xmlns:a="http://schemas.openxmlformats.org/drawingml/2006/main" noGrp="1"/>
          </p:cNvSpPr>
          <p:nvPr/>
        </p:nvSpPr>
        <p:spPr>
          <a:xfrm xmlns:a="http://schemas.openxmlformats.org/drawingml/2006/main">
            <a:off x="1409700" y="2571750"/>
            <a:ext cx="16573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A3554"/>
                </a:solidFill>
                <a:latin typeface="Aptos Display"/>
                <a:ea typeface="Aptos Display"/>
                <a:cs typeface="Aptos Display"/>
              </a:defRPr>
            </a:pPr>
            <a:r>
              <a:rPr sz="1275" b="1">
                <a:solidFill>
                  <a:srgbClr val="1A3554"/>
                </a:solidFill>
                <a:latin typeface="Aptos Display"/>
                <a:ea typeface="Aptos Display"/>
                <a:cs typeface="Aptos Display"/>
              </a:rPr>
              <a:t>Comptes professionnels</a:t>
            </a:r>
          </a:p>
        </p:txBody>
      </p:sp>
      <p:sp>
        <p:nvSpPr>
          <p:cNvPr id="9" name="">
            <a:extLst xmlns:a="http://schemas.openxmlformats.org/drawingml/2006/main">
              <a:ext uri="{FF2B5EF4-FFF2-40B4-BE49-F238E27FC236}">
                <a16:creationId xmlns:a16="http://schemas.microsoft.com/office/drawing/2014/main" id="{17F86897-C49E-4668-8384-5CC7CF0A4B3C}"/>
              </a:ext>
            </a:extLst>
          </p:cNvPr>
          <p:cNvSpPr>
            <a:spLocks xmlns:a="http://schemas.openxmlformats.org/drawingml/2006/main" noGrp="1"/>
          </p:cNvSpPr>
          <p:nvPr/>
        </p:nvSpPr>
        <p:spPr>
          <a:xfrm xmlns:a="http://schemas.openxmlformats.org/drawingml/2006/main">
            <a:off x="895350" y="3105150"/>
            <a:ext cx="76200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13" b="1">
                <a:solidFill>
                  <a:srgbClr val="E76F1D"/>
                </a:solidFill>
                <a:latin typeface="Aptos"/>
                <a:ea typeface="Aptos"/>
                <a:cs typeface="Aptos"/>
              </a:defRPr>
            </a:pPr>
            <a:r>
              <a:rPr sz="713" b="1">
                <a:solidFill>
                  <a:srgbClr val="E76F1D"/>
                </a:solidFill>
                <a:latin typeface="Aptos"/>
                <a:ea typeface="Aptos"/>
                <a:cs typeface="Aptos"/>
              </a:rPr>
              <a:t>AVANT</a:t>
            </a:r>
          </a:p>
        </p:txBody>
      </p:sp>
      <p:sp>
        <p:nvSpPr>
          <p:cNvPr id="10" name="">
            <a:extLst xmlns:a="http://schemas.openxmlformats.org/drawingml/2006/main">
              <a:ext uri="{FF2B5EF4-FFF2-40B4-BE49-F238E27FC236}">
                <a16:creationId xmlns:a16="http://schemas.microsoft.com/office/drawing/2014/main" id="{C0763E0B-3B52-4F26-B197-7855C9ED38AE}"/>
              </a:ext>
            </a:extLst>
          </p:cNvPr>
          <p:cNvSpPr>
            <a:spLocks xmlns:a="http://schemas.openxmlformats.org/drawingml/2006/main" noGrp="1"/>
          </p:cNvSpPr>
          <p:nvPr/>
        </p:nvSpPr>
        <p:spPr>
          <a:xfrm xmlns:a="http://schemas.openxmlformats.org/drawingml/2006/main">
            <a:off x="895350" y="3295650"/>
            <a:ext cx="2152650" cy="590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8" b="0">
                <a:solidFill>
                  <a:srgbClr val="617086"/>
                </a:solidFill>
                <a:latin typeface="Aptos"/>
                <a:ea typeface="Aptos"/>
                <a:cs typeface="Aptos"/>
              </a:defRPr>
            </a:pPr>
            <a:r>
              <a:rPr sz="938" b="0">
                <a:solidFill>
                  <a:srgbClr val="617086"/>
                </a:solidFill>
                <a:latin typeface="Aptos"/>
                <a:ea typeface="Aptos"/>
                <a:cs typeface="Aptos"/>
              </a:rPr>
              <a:t>Revues portefeuille, relances et suivi d'encaissement souvent prepares a la main.</a:t>
            </a:r>
          </a:p>
        </p:txBody>
      </p:sp>
      <p:sp>
        <p:nvSpPr>
          <p:cNvPr id="11" name="">
            <a:extLst xmlns:a="http://schemas.openxmlformats.org/drawingml/2006/main">
              <a:ext uri="{FF2B5EF4-FFF2-40B4-BE49-F238E27FC236}">
                <a16:creationId xmlns:a16="http://schemas.microsoft.com/office/drawing/2014/main" id="{157702DD-30C8-48B9-AD93-230F5663F1F9}"/>
              </a:ext>
            </a:extLst>
          </p:cNvPr>
          <p:cNvSpPr>
            <a:spLocks xmlns:a="http://schemas.openxmlformats.org/drawingml/2006/main" noGrp="1"/>
          </p:cNvSpPr>
          <p:nvPr/>
        </p:nvSpPr>
        <p:spPr>
          <a:xfrm xmlns:a="http://schemas.openxmlformats.org/drawingml/2006/main">
            <a:off x="895350" y="3981450"/>
            <a:ext cx="76200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13" b="1">
                <a:solidFill>
                  <a:srgbClr val="1C8A78"/>
                </a:solidFill>
                <a:latin typeface="Aptos"/>
                <a:ea typeface="Aptos"/>
                <a:cs typeface="Aptos"/>
              </a:defRPr>
            </a:pPr>
            <a:r>
              <a:rPr sz="713" b="1">
                <a:solidFill>
                  <a:srgbClr val="1C8A78"/>
                </a:solidFill>
                <a:latin typeface="Aptos"/>
                <a:ea typeface="Aptos"/>
                <a:cs typeface="Aptos"/>
              </a:rPr>
              <a:t>APRES</a:t>
            </a:r>
          </a:p>
        </p:txBody>
      </p:sp>
      <p:sp>
        <p:nvSpPr>
          <p:cNvPr id="12" name="">
            <a:extLst xmlns:a="http://schemas.openxmlformats.org/drawingml/2006/main">
              <a:ext uri="{FF2B5EF4-FFF2-40B4-BE49-F238E27FC236}">
                <a16:creationId xmlns:a16="http://schemas.microsoft.com/office/drawing/2014/main" id="{5948C386-1CA7-441C-9E8F-3CD747311019}"/>
              </a:ext>
            </a:extLst>
          </p:cNvPr>
          <p:cNvSpPr>
            <a:spLocks xmlns:a="http://schemas.openxmlformats.org/drawingml/2006/main" noGrp="1"/>
          </p:cNvSpPr>
          <p:nvPr/>
        </p:nvSpPr>
        <p:spPr>
          <a:xfrm xmlns:a="http://schemas.openxmlformats.org/drawingml/2006/main">
            <a:off x="895350" y="4171950"/>
            <a:ext cx="21526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8" b="0">
                <a:solidFill>
                  <a:srgbClr val="1A3554"/>
                </a:solidFill>
                <a:latin typeface="Aptos"/>
                <a:ea typeface="Aptos"/>
                <a:cs typeface="Aptos"/>
              </a:defRPr>
            </a:pPr>
            <a:r>
              <a:rPr sz="938" b="0">
                <a:solidFill>
                  <a:srgbClr val="1A3554"/>
                </a:solidFill>
                <a:latin typeface="Aptos"/>
                <a:ea typeface="Aptos"/>
                <a:cs typeface="Aptos"/>
              </a:rPr>
              <a:t>Portefeuille plus lisible, relances mieux priorisees et syntheses plus rapides pour la direction.</a:t>
            </a:r>
          </a:p>
        </p:txBody>
      </p:sp>
      <p:sp>
        <p:nvSpPr>
          <p:cNvPr id="13" name="">
            <a:extLst xmlns:a="http://schemas.openxmlformats.org/drawingml/2006/main">
              <a:ext uri="{FF2B5EF4-FFF2-40B4-BE49-F238E27FC236}">
                <a16:creationId xmlns:a16="http://schemas.microsoft.com/office/drawing/2014/main" id="{D8531663-406F-472E-ACC1-91ACC69CABCC}"/>
              </a:ext>
            </a:extLst>
          </p:cNvPr>
          <p:cNvSpPr>
            <a:spLocks xmlns:a="http://schemas.openxmlformats.org/drawingml/2006/main" noGrp="1"/>
          </p:cNvSpPr>
          <p:nvPr/>
        </p:nvSpPr>
        <p:spPr>
          <a:xfrm xmlns:a="http://schemas.openxmlformats.org/drawingml/2006/main">
            <a:off x="3448050" y="2362200"/>
            <a:ext cx="2571750" cy="1714500"/>
          </a:xfrm>
          <a:prstGeom xmlns:a="http://schemas.openxmlformats.org/drawingml/2006/main" prst="rect">
            <a:avLst/>
          </a:prstGeom>
          <a:solidFill xmlns:a="http://schemas.openxmlformats.org/drawingml/2006/main">
            <a:srgbClr val="FFFDFC"/>
          </a:solidFill>
          <a:ln xmlns:a="http://schemas.openxmlformats.org/drawingml/2006/main" w="9525">
            <a:solidFill>
              <a:srgbClr val="D7CEC3"/>
            </a:solidFill>
            <a:prstDash val="solid"/>
          </a:ln>
        </p:spPr>
      </p:sp>
      <p:sp>
        <p:nvSpPr>
          <p:cNvPr id="14" name="">
            <a:extLst xmlns:a="http://schemas.openxmlformats.org/drawingml/2006/main">
              <a:ext uri="{FF2B5EF4-FFF2-40B4-BE49-F238E27FC236}">
                <a16:creationId xmlns:a16="http://schemas.microsoft.com/office/drawing/2014/main" id="{7B1F1D92-F5EF-4613-B4F6-FC5F4F77D8AB}"/>
              </a:ext>
            </a:extLst>
          </p:cNvPr>
          <p:cNvSpPr>
            <a:spLocks xmlns:a="http://schemas.openxmlformats.org/drawingml/2006/main" noGrp="1"/>
          </p:cNvSpPr>
          <p:nvPr/>
        </p:nvSpPr>
        <p:spPr>
          <a:xfrm xmlns:a="http://schemas.openxmlformats.org/drawingml/2006/main">
            <a:off x="3619500" y="2533650"/>
            <a:ext cx="419100" cy="419100"/>
          </a:xfrm>
          <a:prstGeom xmlns:a="http://schemas.openxmlformats.org/drawingml/2006/main" prst="ellipse">
            <a:avLst/>
          </a:prstGeom>
          <a:solidFill xmlns:a="http://schemas.openxmlformats.org/drawingml/2006/main">
            <a:srgbClr val="1C8A78"/>
          </a:solidFill>
          <a:ln xmlns:a="http://schemas.openxmlformats.org/drawingml/2006/main" w="0">
            <a:solidFill>
              <a:srgbClr val="1C8A78"/>
            </a:solidFill>
            <a:prstDash val="solid"/>
          </a:ln>
        </p:spPr>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228d2eef2cbe4b68">
            <a:extLst>
              <a:ext uri="{96DAC541-7B7A-43D3-8B79-37D633B846F1}">
                <asvg:svgBlip xmlns:asvg="http://schemas.microsoft.com/office/drawing/2016/SVG/main" r:embed="R0e91ec6a7e0848a0"/>
              </a:ext>
            </a:extLst>
          </a:blip>
          <a:stretch xmlns:a="http://schemas.openxmlformats.org/drawingml/2006/main"/>
        </p:blipFill>
        <p:spPr>
          <a:xfrm xmlns:a="http://schemas.openxmlformats.org/drawingml/2006/main">
            <a:off x="3714750" y="2628900"/>
            <a:ext cx="228600" cy="228600"/>
          </a:xfrm>
          <a:prstGeom xmlns:a="http://schemas.openxmlformats.org/drawingml/2006/main" prst="rect">
            <a:avLst/>
          </a:prstGeom>
        </p:spPr>
      </p:pic>
      <p:sp>
        <p:nvSpPr>
          <p:cNvPr id="16" name="">
            <a:extLst xmlns:a="http://schemas.openxmlformats.org/drawingml/2006/main">
              <a:ext uri="{FF2B5EF4-FFF2-40B4-BE49-F238E27FC236}">
                <a16:creationId xmlns:a16="http://schemas.microsoft.com/office/drawing/2014/main" id="{0B2F7C31-94EF-4D76-9429-CBDAC0D71CA4}"/>
              </a:ext>
            </a:extLst>
          </p:cNvPr>
          <p:cNvSpPr>
            <a:spLocks xmlns:a="http://schemas.openxmlformats.org/drawingml/2006/main" noGrp="1"/>
          </p:cNvSpPr>
          <p:nvPr/>
        </p:nvSpPr>
        <p:spPr>
          <a:xfrm xmlns:a="http://schemas.openxmlformats.org/drawingml/2006/main">
            <a:off x="4171950" y="2571750"/>
            <a:ext cx="16573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A3554"/>
                </a:solidFill>
                <a:latin typeface="Aptos Display"/>
                <a:ea typeface="Aptos Display"/>
                <a:cs typeface="Aptos Display"/>
              </a:defRPr>
            </a:pPr>
            <a:r>
              <a:rPr sz="1275" b="1">
                <a:solidFill>
                  <a:srgbClr val="1A3554"/>
                </a:solidFill>
                <a:latin typeface="Aptos Display"/>
                <a:ea typeface="Aptos Display"/>
                <a:cs typeface="Aptos Display"/>
              </a:rPr>
              <a:t>Flotte &amp; carburant</a:t>
            </a:r>
          </a:p>
        </p:txBody>
      </p:sp>
      <p:sp>
        <p:nvSpPr>
          <p:cNvPr id="17" name="">
            <a:extLst xmlns:a="http://schemas.openxmlformats.org/drawingml/2006/main">
              <a:ext uri="{FF2B5EF4-FFF2-40B4-BE49-F238E27FC236}">
                <a16:creationId xmlns:a16="http://schemas.microsoft.com/office/drawing/2014/main" id="{DCBFC320-6B49-4A63-BE7E-307C80BF12D6}"/>
              </a:ext>
            </a:extLst>
          </p:cNvPr>
          <p:cNvSpPr>
            <a:spLocks xmlns:a="http://schemas.openxmlformats.org/drawingml/2006/main" noGrp="1"/>
          </p:cNvSpPr>
          <p:nvPr/>
        </p:nvSpPr>
        <p:spPr>
          <a:xfrm xmlns:a="http://schemas.openxmlformats.org/drawingml/2006/main">
            <a:off x="3657600" y="3105150"/>
            <a:ext cx="76200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13" b="1">
                <a:solidFill>
                  <a:srgbClr val="E76F1D"/>
                </a:solidFill>
                <a:latin typeface="Aptos"/>
                <a:ea typeface="Aptos"/>
                <a:cs typeface="Aptos"/>
              </a:defRPr>
            </a:pPr>
            <a:r>
              <a:rPr sz="713" b="1">
                <a:solidFill>
                  <a:srgbClr val="E76F1D"/>
                </a:solidFill>
                <a:latin typeface="Aptos"/>
                <a:ea typeface="Aptos"/>
                <a:cs typeface="Aptos"/>
              </a:rPr>
              <a:t>AVANT</a:t>
            </a:r>
          </a:p>
        </p:txBody>
      </p:sp>
      <p:sp>
        <p:nvSpPr>
          <p:cNvPr id="18" name="">
            <a:extLst xmlns:a="http://schemas.openxmlformats.org/drawingml/2006/main">
              <a:ext uri="{FF2B5EF4-FFF2-40B4-BE49-F238E27FC236}">
                <a16:creationId xmlns:a16="http://schemas.microsoft.com/office/drawing/2014/main" id="{482FA0E9-D304-4D39-8322-5DF61EA913FB}"/>
              </a:ext>
            </a:extLst>
          </p:cNvPr>
          <p:cNvSpPr>
            <a:spLocks xmlns:a="http://schemas.openxmlformats.org/drawingml/2006/main" noGrp="1"/>
          </p:cNvSpPr>
          <p:nvPr/>
        </p:nvSpPr>
        <p:spPr>
          <a:xfrm xmlns:a="http://schemas.openxmlformats.org/drawingml/2006/main">
            <a:off x="3657600" y="3295650"/>
            <a:ext cx="2152650" cy="590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8" b="0">
                <a:solidFill>
                  <a:srgbClr val="617086"/>
                </a:solidFill>
                <a:latin typeface="Aptos"/>
                <a:ea typeface="Aptos"/>
                <a:cs typeface="Aptos"/>
              </a:defRPr>
            </a:pPr>
            <a:r>
              <a:rPr sz="938" b="0">
                <a:solidFill>
                  <a:srgbClr val="617086"/>
                </a:solidFill>
                <a:latin typeface="Aptos"/>
                <a:ea typeface="Aptos"/>
                <a:cs typeface="Aptos"/>
              </a:rPr>
              <a:t>Consommations, cartes et anomalies difficilement consolidees dans un meme pilotage.</a:t>
            </a:r>
          </a:p>
        </p:txBody>
      </p:sp>
      <p:sp>
        <p:nvSpPr>
          <p:cNvPr id="19" name="">
            <a:extLst xmlns:a="http://schemas.openxmlformats.org/drawingml/2006/main">
              <a:ext uri="{FF2B5EF4-FFF2-40B4-BE49-F238E27FC236}">
                <a16:creationId xmlns:a16="http://schemas.microsoft.com/office/drawing/2014/main" id="{A1278EC8-0E9C-4D12-BFB5-0023D88DDA95}"/>
              </a:ext>
            </a:extLst>
          </p:cNvPr>
          <p:cNvSpPr>
            <a:spLocks xmlns:a="http://schemas.openxmlformats.org/drawingml/2006/main" noGrp="1"/>
          </p:cNvSpPr>
          <p:nvPr/>
        </p:nvSpPr>
        <p:spPr>
          <a:xfrm xmlns:a="http://schemas.openxmlformats.org/drawingml/2006/main">
            <a:off x="3657600" y="3981450"/>
            <a:ext cx="76200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13" b="1">
                <a:solidFill>
                  <a:srgbClr val="1C8A78"/>
                </a:solidFill>
                <a:latin typeface="Aptos"/>
                <a:ea typeface="Aptos"/>
                <a:cs typeface="Aptos"/>
              </a:defRPr>
            </a:pPr>
            <a:r>
              <a:rPr sz="713" b="1">
                <a:solidFill>
                  <a:srgbClr val="1C8A78"/>
                </a:solidFill>
                <a:latin typeface="Aptos"/>
                <a:ea typeface="Aptos"/>
                <a:cs typeface="Aptos"/>
              </a:rPr>
              <a:t>APRES</a:t>
            </a:r>
          </a:p>
        </p:txBody>
      </p:sp>
      <p:sp>
        <p:nvSpPr>
          <p:cNvPr id="20" name="">
            <a:extLst xmlns:a="http://schemas.openxmlformats.org/drawingml/2006/main">
              <a:ext uri="{FF2B5EF4-FFF2-40B4-BE49-F238E27FC236}">
                <a16:creationId xmlns:a16="http://schemas.microsoft.com/office/drawing/2014/main" id="{59A09D78-DA94-4228-B66A-CA15B4D854AE}"/>
              </a:ext>
            </a:extLst>
          </p:cNvPr>
          <p:cNvSpPr>
            <a:spLocks xmlns:a="http://schemas.openxmlformats.org/drawingml/2006/main" noGrp="1"/>
          </p:cNvSpPr>
          <p:nvPr/>
        </p:nvSpPr>
        <p:spPr>
          <a:xfrm xmlns:a="http://schemas.openxmlformats.org/drawingml/2006/main">
            <a:off x="3657600" y="4171950"/>
            <a:ext cx="21526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8" b="0">
                <a:solidFill>
                  <a:srgbClr val="1A3554"/>
                </a:solidFill>
                <a:latin typeface="Aptos"/>
                <a:ea typeface="Aptos"/>
                <a:cs typeface="Aptos"/>
              </a:defRPr>
            </a:pPr>
            <a:r>
              <a:rPr sz="938" b="0">
                <a:solidFill>
                  <a:srgbClr val="1A3554"/>
                </a:solidFill>
                <a:latin typeface="Aptos"/>
                <a:ea typeface="Aptos"/>
                <a:cs typeface="Aptos"/>
              </a:rPr>
              <a:t>Suivi plus fiable des couts, alertes sur ecarts et comparaison par vehicule, site ou periode.</a:t>
            </a:r>
          </a:p>
        </p:txBody>
      </p:sp>
      <p:sp>
        <p:nvSpPr>
          <p:cNvPr id="21" name="">
            <a:extLst xmlns:a="http://schemas.openxmlformats.org/drawingml/2006/main">
              <a:ext uri="{FF2B5EF4-FFF2-40B4-BE49-F238E27FC236}">
                <a16:creationId xmlns:a16="http://schemas.microsoft.com/office/drawing/2014/main" id="{D8D56F94-FA6E-4714-944D-11AD4DD9E81A}"/>
              </a:ext>
            </a:extLst>
          </p:cNvPr>
          <p:cNvSpPr>
            <a:spLocks xmlns:a="http://schemas.openxmlformats.org/drawingml/2006/main" noGrp="1"/>
          </p:cNvSpPr>
          <p:nvPr/>
        </p:nvSpPr>
        <p:spPr>
          <a:xfrm xmlns:a="http://schemas.openxmlformats.org/drawingml/2006/main">
            <a:off x="6210300" y="2362200"/>
            <a:ext cx="2571750" cy="1714500"/>
          </a:xfrm>
          <a:prstGeom xmlns:a="http://schemas.openxmlformats.org/drawingml/2006/main" prst="rect">
            <a:avLst/>
          </a:prstGeom>
          <a:solidFill xmlns:a="http://schemas.openxmlformats.org/drawingml/2006/main">
            <a:srgbClr val="FFFDFC"/>
          </a:solidFill>
          <a:ln xmlns:a="http://schemas.openxmlformats.org/drawingml/2006/main" w="9525">
            <a:solidFill>
              <a:srgbClr val="D7CEC3"/>
            </a:solidFill>
            <a:prstDash val="solid"/>
          </a:ln>
        </p:spPr>
      </p:sp>
      <p:sp>
        <p:nvSpPr>
          <p:cNvPr id="22" name="">
            <a:extLst xmlns:a="http://schemas.openxmlformats.org/drawingml/2006/main">
              <a:ext uri="{FF2B5EF4-FFF2-40B4-BE49-F238E27FC236}">
                <a16:creationId xmlns:a16="http://schemas.microsoft.com/office/drawing/2014/main" id="{AE3C7062-1D58-49FB-B2B9-AF7E686C56B4}"/>
              </a:ext>
            </a:extLst>
          </p:cNvPr>
          <p:cNvSpPr>
            <a:spLocks xmlns:a="http://schemas.openxmlformats.org/drawingml/2006/main" noGrp="1"/>
          </p:cNvSpPr>
          <p:nvPr/>
        </p:nvSpPr>
        <p:spPr>
          <a:xfrm xmlns:a="http://schemas.openxmlformats.org/drawingml/2006/main">
            <a:off x="6381750" y="2533650"/>
            <a:ext cx="419100" cy="419100"/>
          </a:xfrm>
          <a:prstGeom xmlns:a="http://schemas.openxmlformats.org/drawingml/2006/main" prst="ellipse">
            <a:avLst/>
          </a:prstGeom>
          <a:solidFill xmlns:a="http://schemas.openxmlformats.org/drawingml/2006/main">
            <a:srgbClr val="163556"/>
          </a:solidFill>
          <a:ln xmlns:a="http://schemas.openxmlformats.org/drawingml/2006/main" w="0">
            <a:solidFill>
              <a:srgbClr val="163556"/>
            </a:solidFill>
            <a:prstDash val="solid"/>
          </a:ln>
        </p:spPr>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49d0d2245dd74d8c">
            <a:extLst>
              <a:ext uri="{96DAC541-7B7A-43D3-8B79-37D633B846F1}">
                <asvg:svgBlip xmlns:asvg="http://schemas.microsoft.com/office/drawing/2016/SVG/main" r:embed="R0e0bae1d77d9404e"/>
              </a:ext>
            </a:extLst>
          </a:blip>
          <a:stretch xmlns:a="http://schemas.openxmlformats.org/drawingml/2006/main"/>
        </p:blipFill>
        <p:spPr>
          <a:xfrm xmlns:a="http://schemas.openxmlformats.org/drawingml/2006/main">
            <a:off x="6477000" y="2628900"/>
            <a:ext cx="228600" cy="228600"/>
          </a:xfrm>
          <a:prstGeom xmlns:a="http://schemas.openxmlformats.org/drawingml/2006/main" prst="rect">
            <a:avLst/>
          </a:prstGeom>
        </p:spPr>
      </p:pic>
      <p:sp>
        <p:nvSpPr>
          <p:cNvPr id="24" name="">
            <a:extLst xmlns:a="http://schemas.openxmlformats.org/drawingml/2006/main">
              <a:ext uri="{FF2B5EF4-FFF2-40B4-BE49-F238E27FC236}">
                <a16:creationId xmlns:a16="http://schemas.microsoft.com/office/drawing/2014/main" id="{E5CD3368-E0D9-46C3-840B-AE426BF37B25}"/>
              </a:ext>
            </a:extLst>
          </p:cNvPr>
          <p:cNvSpPr>
            <a:spLocks xmlns:a="http://schemas.openxmlformats.org/drawingml/2006/main" noGrp="1"/>
          </p:cNvSpPr>
          <p:nvPr/>
        </p:nvSpPr>
        <p:spPr>
          <a:xfrm xmlns:a="http://schemas.openxmlformats.org/drawingml/2006/main">
            <a:off x="6934200" y="2571750"/>
            <a:ext cx="16573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A3554"/>
                </a:solidFill>
                <a:latin typeface="Aptos Display"/>
                <a:ea typeface="Aptos Display"/>
                <a:cs typeface="Aptos Display"/>
              </a:defRPr>
            </a:pPr>
            <a:r>
              <a:rPr sz="1275" b="1">
                <a:solidFill>
                  <a:srgbClr val="1A3554"/>
                </a:solidFill>
                <a:latin typeface="Aptos Display"/>
                <a:ea typeface="Aptos Display"/>
                <a:cs typeface="Aptos Display"/>
              </a:rPr>
              <a:t>Service client / auto</a:t>
            </a:r>
          </a:p>
        </p:txBody>
      </p:sp>
      <p:sp>
        <p:nvSpPr>
          <p:cNvPr id="25" name="">
            <a:extLst xmlns:a="http://schemas.openxmlformats.org/drawingml/2006/main">
              <a:ext uri="{FF2B5EF4-FFF2-40B4-BE49-F238E27FC236}">
                <a16:creationId xmlns:a16="http://schemas.microsoft.com/office/drawing/2014/main" id="{99786BF7-B9C0-4F85-AB55-4693DAC8BF4B}"/>
              </a:ext>
            </a:extLst>
          </p:cNvPr>
          <p:cNvSpPr>
            <a:spLocks xmlns:a="http://schemas.openxmlformats.org/drawingml/2006/main" noGrp="1"/>
          </p:cNvSpPr>
          <p:nvPr/>
        </p:nvSpPr>
        <p:spPr>
          <a:xfrm xmlns:a="http://schemas.openxmlformats.org/drawingml/2006/main">
            <a:off x="6419850" y="3105150"/>
            <a:ext cx="76200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13" b="1">
                <a:solidFill>
                  <a:srgbClr val="E76F1D"/>
                </a:solidFill>
                <a:latin typeface="Aptos"/>
                <a:ea typeface="Aptos"/>
                <a:cs typeface="Aptos"/>
              </a:defRPr>
            </a:pPr>
            <a:r>
              <a:rPr sz="713" b="1">
                <a:solidFill>
                  <a:srgbClr val="E76F1D"/>
                </a:solidFill>
                <a:latin typeface="Aptos"/>
                <a:ea typeface="Aptos"/>
                <a:cs typeface="Aptos"/>
              </a:rPr>
              <a:t>AVANT</a:t>
            </a:r>
          </a:p>
        </p:txBody>
      </p:sp>
      <p:sp>
        <p:nvSpPr>
          <p:cNvPr id="26" name="">
            <a:extLst xmlns:a="http://schemas.openxmlformats.org/drawingml/2006/main">
              <a:ext uri="{FF2B5EF4-FFF2-40B4-BE49-F238E27FC236}">
                <a16:creationId xmlns:a16="http://schemas.microsoft.com/office/drawing/2014/main" id="{2C1BE5CB-6262-470F-8366-D491E47011B9}"/>
              </a:ext>
            </a:extLst>
          </p:cNvPr>
          <p:cNvSpPr>
            <a:spLocks xmlns:a="http://schemas.openxmlformats.org/drawingml/2006/main" noGrp="1"/>
          </p:cNvSpPr>
          <p:nvPr/>
        </p:nvSpPr>
        <p:spPr>
          <a:xfrm xmlns:a="http://schemas.openxmlformats.org/drawingml/2006/main">
            <a:off x="6419850" y="3295650"/>
            <a:ext cx="2152650" cy="590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8" b="0">
                <a:solidFill>
                  <a:srgbClr val="617086"/>
                </a:solidFill>
                <a:latin typeface="Aptos"/>
                <a:ea typeface="Aptos"/>
                <a:cs typeface="Aptos"/>
              </a:defRPr>
            </a:pPr>
            <a:r>
              <a:rPr sz="938" b="0">
                <a:solidFill>
                  <a:srgbClr val="617086"/>
                </a:solidFill>
                <a:latin typeface="Aptos"/>
                <a:ea typeface="Aptos"/>
                <a:cs typeface="Aptos"/>
              </a:rPr>
              <a:t>Rappels, demandes et reponses pas toujours homognes ni suffisamment traces.</a:t>
            </a:r>
          </a:p>
        </p:txBody>
      </p:sp>
      <p:sp>
        <p:nvSpPr>
          <p:cNvPr id="27" name="">
            <a:extLst xmlns:a="http://schemas.openxmlformats.org/drawingml/2006/main">
              <a:ext uri="{FF2B5EF4-FFF2-40B4-BE49-F238E27FC236}">
                <a16:creationId xmlns:a16="http://schemas.microsoft.com/office/drawing/2014/main" id="{7B8AE723-BAF6-4DD2-9CE1-7097BF307D29}"/>
              </a:ext>
            </a:extLst>
          </p:cNvPr>
          <p:cNvSpPr>
            <a:spLocks xmlns:a="http://schemas.openxmlformats.org/drawingml/2006/main" noGrp="1"/>
          </p:cNvSpPr>
          <p:nvPr/>
        </p:nvSpPr>
        <p:spPr>
          <a:xfrm xmlns:a="http://schemas.openxmlformats.org/drawingml/2006/main">
            <a:off x="6419850" y="3981450"/>
            <a:ext cx="76200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13" b="1">
                <a:solidFill>
                  <a:srgbClr val="1C8A78"/>
                </a:solidFill>
                <a:latin typeface="Aptos"/>
                <a:ea typeface="Aptos"/>
                <a:cs typeface="Aptos"/>
              </a:defRPr>
            </a:pPr>
            <a:r>
              <a:rPr sz="713" b="1">
                <a:solidFill>
                  <a:srgbClr val="1C8A78"/>
                </a:solidFill>
                <a:latin typeface="Aptos"/>
                <a:ea typeface="Aptos"/>
                <a:cs typeface="Aptos"/>
              </a:rPr>
              <a:t>APRES</a:t>
            </a:r>
          </a:p>
        </p:txBody>
      </p:sp>
      <p:sp>
        <p:nvSpPr>
          <p:cNvPr id="28" name="">
            <a:extLst xmlns:a="http://schemas.openxmlformats.org/drawingml/2006/main">
              <a:ext uri="{FF2B5EF4-FFF2-40B4-BE49-F238E27FC236}">
                <a16:creationId xmlns:a16="http://schemas.microsoft.com/office/drawing/2014/main" id="{DD905BB5-D11E-4147-BD9A-4C3BEA4ABB0B}"/>
              </a:ext>
            </a:extLst>
          </p:cNvPr>
          <p:cNvSpPr>
            <a:spLocks xmlns:a="http://schemas.openxmlformats.org/drawingml/2006/main" noGrp="1"/>
          </p:cNvSpPr>
          <p:nvPr/>
        </p:nvSpPr>
        <p:spPr>
          <a:xfrm xmlns:a="http://schemas.openxmlformats.org/drawingml/2006/main">
            <a:off x="6419850" y="4171950"/>
            <a:ext cx="21526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8" b="0">
                <a:solidFill>
                  <a:srgbClr val="1A3554"/>
                </a:solidFill>
                <a:latin typeface="Aptos"/>
                <a:ea typeface="Aptos"/>
                <a:cs typeface="Aptos"/>
              </a:defRPr>
            </a:pPr>
            <a:r>
              <a:rPr sz="938" b="0">
                <a:solidFill>
                  <a:srgbClr val="1A3554"/>
                </a:solidFill>
                <a:latin typeface="Aptos"/>
                <a:ea typeface="Aptos"/>
                <a:cs typeface="Aptos"/>
              </a:rPr>
              <a:t>Reponses plus rapides, scripts mieux cadres et meilleure continuite dans le suivi client.</a:t>
            </a:r>
          </a:p>
        </p:txBody>
      </p:sp>
      <p:sp>
        <p:nvSpPr>
          <p:cNvPr id="29" name="">
            <a:extLst xmlns:a="http://schemas.openxmlformats.org/drawingml/2006/main">
              <a:ext uri="{FF2B5EF4-FFF2-40B4-BE49-F238E27FC236}">
                <a16:creationId xmlns:a16="http://schemas.microsoft.com/office/drawing/2014/main" id="{C1D71BE4-6DFB-4708-B9D6-3BAF957476F1}"/>
              </a:ext>
            </a:extLst>
          </p:cNvPr>
          <p:cNvSpPr>
            <a:spLocks xmlns:a="http://schemas.openxmlformats.org/drawingml/2006/main" noGrp="1"/>
          </p:cNvSpPr>
          <p:nvPr/>
        </p:nvSpPr>
        <p:spPr>
          <a:xfrm xmlns:a="http://schemas.openxmlformats.org/drawingml/2006/main">
            <a:off x="8972550" y="2362200"/>
            <a:ext cx="2533650" cy="1714500"/>
          </a:xfrm>
          <a:prstGeom xmlns:a="http://schemas.openxmlformats.org/drawingml/2006/main" prst="rect">
            <a:avLst/>
          </a:prstGeom>
          <a:solidFill xmlns:a="http://schemas.openxmlformats.org/drawingml/2006/main">
            <a:srgbClr val="FFFDFC"/>
          </a:solidFill>
          <a:ln xmlns:a="http://schemas.openxmlformats.org/drawingml/2006/main" w="9525">
            <a:solidFill>
              <a:srgbClr val="D7CEC3"/>
            </a:solidFill>
            <a:prstDash val="solid"/>
          </a:ln>
        </p:spPr>
      </p:sp>
      <p:sp>
        <p:nvSpPr>
          <p:cNvPr id="30" name="">
            <a:extLst xmlns:a="http://schemas.openxmlformats.org/drawingml/2006/main">
              <a:ext uri="{FF2B5EF4-FFF2-40B4-BE49-F238E27FC236}">
                <a16:creationId xmlns:a16="http://schemas.microsoft.com/office/drawing/2014/main" id="{3A95AB41-5FA5-4053-9E75-96644F4EE446}"/>
              </a:ext>
            </a:extLst>
          </p:cNvPr>
          <p:cNvSpPr>
            <a:spLocks xmlns:a="http://schemas.openxmlformats.org/drawingml/2006/main" noGrp="1"/>
          </p:cNvSpPr>
          <p:nvPr/>
        </p:nvSpPr>
        <p:spPr>
          <a:xfrm xmlns:a="http://schemas.openxmlformats.org/drawingml/2006/main">
            <a:off x="9144000" y="2533650"/>
            <a:ext cx="419100" cy="419100"/>
          </a:xfrm>
          <a:prstGeom xmlns:a="http://schemas.openxmlformats.org/drawingml/2006/main" prst="ellipse">
            <a:avLst/>
          </a:prstGeom>
          <a:solidFill xmlns:a="http://schemas.openxmlformats.org/drawingml/2006/main">
            <a:srgbClr val="C88C3A"/>
          </a:solidFill>
          <a:ln xmlns:a="http://schemas.openxmlformats.org/drawingml/2006/main" w="0">
            <a:solidFill>
              <a:srgbClr val="C88C3A"/>
            </a:solidFill>
            <a:prstDash val="solid"/>
          </a:ln>
        </p:spPr>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43876d8905cb4d11">
            <a:extLst>
              <a:ext uri="{96DAC541-7B7A-43D3-8B79-37D633B846F1}">
                <asvg:svgBlip xmlns:asvg="http://schemas.microsoft.com/office/drawing/2016/SVG/main" r:embed="R7d259711c0014db1"/>
              </a:ext>
            </a:extLst>
          </a:blip>
          <a:stretch xmlns:a="http://schemas.openxmlformats.org/drawingml/2006/main"/>
        </p:blipFill>
        <p:spPr>
          <a:xfrm xmlns:a="http://schemas.openxmlformats.org/drawingml/2006/main">
            <a:off x="9239250" y="2628900"/>
            <a:ext cx="228600" cy="228600"/>
          </a:xfrm>
          <a:prstGeom xmlns:a="http://schemas.openxmlformats.org/drawingml/2006/main" prst="rect">
            <a:avLst/>
          </a:prstGeom>
        </p:spPr>
      </p:pic>
      <p:sp>
        <p:nvSpPr>
          <p:cNvPr id="32" name="">
            <a:extLst xmlns:a="http://schemas.openxmlformats.org/drawingml/2006/main">
              <a:ext uri="{FF2B5EF4-FFF2-40B4-BE49-F238E27FC236}">
                <a16:creationId xmlns:a16="http://schemas.microsoft.com/office/drawing/2014/main" id="{AABDA4E0-813C-48D7-80E4-60D1EB468EE2}"/>
              </a:ext>
            </a:extLst>
          </p:cNvPr>
          <p:cNvSpPr>
            <a:spLocks xmlns:a="http://schemas.openxmlformats.org/drawingml/2006/main" noGrp="1"/>
          </p:cNvSpPr>
          <p:nvPr/>
        </p:nvSpPr>
        <p:spPr>
          <a:xfrm xmlns:a="http://schemas.openxmlformats.org/drawingml/2006/main">
            <a:off x="9696450" y="2571750"/>
            <a:ext cx="16192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A3554"/>
                </a:solidFill>
                <a:latin typeface="Aptos Display"/>
                <a:ea typeface="Aptos Display"/>
                <a:cs typeface="Aptos Display"/>
              </a:defRPr>
            </a:pPr>
            <a:r>
              <a:rPr sz="1275" b="1">
                <a:solidFill>
                  <a:srgbClr val="1A3554"/>
                </a:solidFill>
                <a:latin typeface="Aptos Display"/>
                <a:ea typeface="Aptos Display"/>
                <a:cs typeface="Aptos Display"/>
              </a:rPr>
              <a:t>Procedures internes</a:t>
            </a:r>
          </a:p>
        </p:txBody>
      </p:sp>
      <p:sp>
        <p:nvSpPr>
          <p:cNvPr id="33" name="">
            <a:extLst xmlns:a="http://schemas.openxmlformats.org/drawingml/2006/main">
              <a:ext uri="{FF2B5EF4-FFF2-40B4-BE49-F238E27FC236}">
                <a16:creationId xmlns:a16="http://schemas.microsoft.com/office/drawing/2014/main" id="{00664A7E-7BFB-4A88-93E6-CE02E1A7B19D}"/>
              </a:ext>
            </a:extLst>
          </p:cNvPr>
          <p:cNvSpPr>
            <a:spLocks xmlns:a="http://schemas.openxmlformats.org/drawingml/2006/main" noGrp="1"/>
          </p:cNvSpPr>
          <p:nvPr/>
        </p:nvSpPr>
        <p:spPr>
          <a:xfrm xmlns:a="http://schemas.openxmlformats.org/drawingml/2006/main">
            <a:off x="9182100" y="3105150"/>
            <a:ext cx="76200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13" b="1">
                <a:solidFill>
                  <a:srgbClr val="E76F1D"/>
                </a:solidFill>
                <a:latin typeface="Aptos"/>
                <a:ea typeface="Aptos"/>
                <a:cs typeface="Aptos"/>
              </a:defRPr>
            </a:pPr>
            <a:r>
              <a:rPr sz="713" b="1">
                <a:solidFill>
                  <a:srgbClr val="E76F1D"/>
                </a:solidFill>
                <a:latin typeface="Aptos"/>
                <a:ea typeface="Aptos"/>
                <a:cs typeface="Aptos"/>
              </a:rPr>
              <a:t>AVANT</a:t>
            </a:r>
          </a:p>
        </p:txBody>
      </p:sp>
      <p:sp>
        <p:nvSpPr>
          <p:cNvPr id="34" name="">
            <a:extLst xmlns:a="http://schemas.openxmlformats.org/drawingml/2006/main">
              <a:ext uri="{FF2B5EF4-FFF2-40B4-BE49-F238E27FC236}">
                <a16:creationId xmlns:a16="http://schemas.microsoft.com/office/drawing/2014/main" id="{7D6D7CD1-5888-419A-B1C0-9A6B22A7BCE3}"/>
              </a:ext>
            </a:extLst>
          </p:cNvPr>
          <p:cNvSpPr>
            <a:spLocks xmlns:a="http://schemas.openxmlformats.org/drawingml/2006/main" noGrp="1"/>
          </p:cNvSpPr>
          <p:nvPr/>
        </p:nvSpPr>
        <p:spPr>
          <a:xfrm xmlns:a="http://schemas.openxmlformats.org/drawingml/2006/main">
            <a:off x="9182100" y="3295650"/>
            <a:ext cx="2114550" cy="590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8" b="0">
                <a:solidFill>
                  <a:srgbClr val="617086"/>
                </a:solidFill>
                <a:latin typeface="Aptos"/>
                <a:ea typeface="Aptos"/>
                <a:cs typeface="Aptos"/>
              </a:defRPr>
            </a:pPr>
            <a:r>
              <a:rPr sz="938" b="0">
                <a:solidFill>
                  <a:srgbClr val="617086"/>
                </a:solidFill>
                <a:latin typeface="Aptos"/>
                <a:ea typeface="Aptos"/>
                <a:cs typeface="Aptos"/>
              </a:rPr>
              <a:t>Les bonnes pratiques existent mais restent dispersees dans les equipes et les documents.</a:t>
            </a:r>
          </a:p>
        </p:txBody>
      </p:sp>
      <p:sp>
        <p:nvSpPr>
          <p:cNvPr id="35" name="">
            <a:extLst xmlns:a="http://schemas.openxmlformats.org/drawingml/2006/main">
              <a:ext uri="{FF2B5EF4-FFF2-40B4-BE49-F238E27FC236}">
                <a16:creationId xmlns:a16="http://schemas.microsoft.com/office/drawing/2014/main" id="{98792DEC-3D1A-4666-8BAC-9A4E613EE30C}"/>
              </a:ext>
            </a:extLst>
          </p:cNvPr>
          <p:cNvSpPr>
            <a:spLocks xmlns:a="http://schemas.openxmlformats.org/drawingml/2006/main" noGrp="1"/>
          </p:cNvSpPr>
          <p:nvPr/>
        </p:nvSpPr>
        <p:spPr>
          <a:xfrm xmlns:a="http://schemas.openxmlformats.org/drawingml/2006/main">
            <a:off x="9182100" y="3981450"/>
            <a:ext cx="76200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13" b="1">
                <a:solidFill>
                  <a:srgbClr val="1C8A78"/>
                </a:solidFill>
                <a:latin typeface="Aptos"/>
                <a:ea typeface="Aptos"/>
                <a:cs typeface="Aptos"/>
              </a:defRPr>
            </a:pPr>
            <a:r>
              <a:rPr sz="713" b="1">
                <a:solidFill>
                  <a:srgbClr val="1C8A78"/>
                </a:solidFill>
                <a:latin typeface="Aptos"/>
                <a:ea typeface="Aptos"/>
                <a:cs typeface="Aptos"/>
              </a:rPr>
              <a:t>APRES</a:t>
            </a:r>
          </a:p>
        </p:txBody>
      </p:sp>
      <p:sp>
        <p:nvSpPr>
          <p:cNvPr id="36" name="">
            <a:extLst xmlns:a="http://schemas.openxmlformats.org/drawingml/2006/main">
              <a:ext uri="{FF2B5EF4-FFF2-40B4-BE49-F238E27FC236}">
                <a16:creationId xmlns:a16="http://schemas.microsoft.com/office/drawing/2014/main" id="{30A6DFB5-8D5B-4436-A423-DA64CFB024EA}"/>
              </a:ext>
            </a:extLst>
          </p:cNvPr>
          <p:cNvSpPr>
            <a:spLocks xmlns:a="http://schemas.openxmlformats.org/drawingml/2006/main" noGrp="1"/>
          </p:cNvSpPr>
          <p:nvPr/>
        </p:nvSpPr>
        <p:spPr>
          <a:xfrm xmlns:a="http://schemas.openxmlformats.org/drawingml/2006/main">
            <a:off x="9182100" y="4171950"/>
            <a:ext cx="21145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8" b="0">
                <a:solidFill>
                  <a:srgbClr val="1A3554"/>
                </a:solidFill>
                <a:latin typeface="Aptos"/>
                <a:ea typeface="Aptos"/>
                <a:cs typeface="Aptos"/>
              </a:defRPr>
            </a:pPr>
            <a:r>
              <a:rPr sz="938" b="0">
                <a:solidFill>
                  <a:srgbClr val="1A3554"/>
                </a:solidFill>
                <a:latin typeface="Aptos"/>
                <a:ea typeface="Aptos"/>
                <a:cs typeface="Aptos"/>
              </a:rPr>
              <a:t>Acces plus rapide aux procedures, onboarding plus court et execution plus coherente.</a:t>
            </a:r>
          </a:p>
        </p:txBody>
      </p:sp>
      <p:sp>
        <p:nvSpPr>
          <p:cNvPr id="37" name="">
            <a:extLst xmlns:a="http://schemas.openxmlformats.org/drawingml/2006/main">
              <a:ext uri="{FF2B5EF4-FFF2-40B4-BE49-F238E27FC236}">
                <a16:creationId xmlns:a16="http://schemas.microsoft.com/office/drawing/2014/main" id="{931A2233-9C38-416C-B68E-FF3A75BCC39E}"/>
              </a:ext>
            </a:extLst>
          </p:cNvPr>
          <p:cNvSpPr>
            <a:spLocks xmlns:a="http://schemas.openxmlformats.org/drawingml/2006/main" noGrp="1"/>
          </p:cNvSpPr>
          <p:nvPr/>
        </p:nvSpPr>
        <p:spPr>
          <a:xfrm xmlns:a="http://schemas.openxmlformats.org/drawingml/2006/main">
            <a:off x="685800" y="4438650"/>
            <a:ext cx="10820400" cy="1295400"/>
          </a:xfrm>
          <a:prstGeom xmlns:a="http://schemas.openxmlformats.org/drawingml/2006/main" prst="rect">
            <a:avLst/>
          </a:prstGeom>
          <a:solidFill xmlns:a="http://schemas.openxmlformats.org/drawingml/2006/main">
            <a:srgbClr val="163556"/>
          </a:solidFill>
          <a:ln xmlns:a="http://schemas.openxmlformats.org/drawingml/2006/main" w="0">
            <a:solidFill>
              <a:srgbClr val="163556"/>
            </a:solidFill>
            <a:prstDash val="solid"/>
          </a:ln>
        </p:spPr>
      </p:sp>
      <p:sp>
        <p:nvSpPr>
          <p:cNvPr id="38" name="">
            <a:extLst xmlns:a="http://schemas.openxmlformats.org/drawingml/2006/main">
              <a:ext uri="{FF2B5EF4-FFF2-40B4-BE49-F238E27FC236}">
                <a16:creationId xmlns:a16="http://schemas.microsoft.com/office/drawing/2014/main" id="{3EA8ED8B-99CA-42A3-8E67-F2E5606EB9D1}"/>
              </a:ext>
            </a:extLst>
          </p:cNvPr>
          <p:cNvSpPr>
            <a:spLocks xmlns:a="http://schemas.openxmlformats.org/drawingml/2006/main" noGrp="1"/>
          </p:cNvSpPr>
          <p:nvPr/>
        </p:nvSpPr>
        <p:spPr>
          <a:xfrm xmlns:a="http://schemas.openxmlformats.org/drawingml/2006/main">
            <a:off x="933450" y="4686300"/>
            <a:ext cx="171450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CFE0F0"/>
                </a:solidFill>
                <a:latin typeface="Aptos"/>
                <a:ea typeface="Aptos"/>
                <a:cs typeface="Aptos"/>
              </a:defRPr>
            </a:pPr>
            <a:r>
              <a:rPr sz="750" b="1">
                <a:solidFill>
                  <a:srgbClr val="CFE0F0"/>
                </a:solidFill>
                <a:latin typeface="Aptos"/>
                <a:ea typeface="Aptos"/>
                <a:cs typeface="Aptos"/>
              </a:rPr>
              <a:t>Le bon angle commercial</a:t>
            </a:r>
          </a:p>
        </p:txBody>
      </p:sp>
      <p:sp>
        <p:nvSpPr>
          <p:cNvPr id="39" name="">
            <a:extLst xmlns:a="http://schemas.openxmlformats.org/drawingml/2006/main">
              <a:ext uri="{FF2B5EF4-FFF2-40B4-BE49-F238E27FC236}">
                <a16:creationId xmlns:a16="http://schemas.microsoft.com/office/drawing/2014/main" id="{5B0DCA71-0F0B-4CF1-8887-D5920F453BE5}"/>
              </a:ext>
            </a:extLst>
          </p:cNvPr>
          <p:cNvSpPr>
            <a:spLocks xmlns:a="http://schemas.openxmlformats.org/drawingml/2006/main" noGrp="1"/>
          </p:cNvSpPr>
          <p:nvPr/>
        </p:nvSpPr>
        <p:spPr>
          <a:xfrm xmlns:a="http://schemas.openxmlformats.org/drawingml/2006/main">
            <a:off x="933450" y="4953000"/>
            <a:ext cx="5334000" cy="4953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100" b="1">
                <a:solidFill>
                  <a:srgbClr val="FFFFFF"/>
                </a:solidFill>
                <a:latin typeface="Aptos Display"/>
                <a:ea typeface="Aptos Display"/>
                <a:cs typeface="Aptos Display"/>
              </a:defRPr>
            </a:pPr>
            <a:r>
              <a:rPr sz="2100" b="1">
                <a:solidFill>
                  <a:srgbClr val="FFFFFF"/>
                </a:solidFill>
                <a:latin typeface="Aptos Display"/>
                <a:ea typeface="Aptos Display"/>
                <a:cs typeface="Aptos Display"/>
              </a:rPr>
              <a:t>Partir des flux metier qui freinent deja l'execution.</a:t>
            </a:r>
          </a:p>
        </p:txBody>
      </p:sp>
      <p:sp>
        <p:nvSpPr>
          <p:cNvPr id="40" name="">
            <a:extLst xmlns:a="http://schemas.openxmlformats.org/drawingml/2006/main">
              <a:ext uri="{FF2B5EF4-FFF2-40B4-BE49-F238E27FC236}">
                <a16:creationId xmlns:a16="http://schemas.microsoft.com/office/drawing/2014/main" id="{41F8D291-700B-44BF-964A-9445A8B192F5}"/>
              </a:ext>
            </a:extLst>
          </p:cNvPr>
          <p:cNvSpPr>
            <a:spLocks xmlns:a="http://schemas.openxmlformats.org/drawingml/2006/main" noGrp="1"/>
          </p:cNvSpPr>
          <p:nvPr/>
        </p:nvSpPr>
        <p:spPr>
          <a:xfrm xmlns:a="http://schemas.openxmlformats.org/drawingml/2006/main">
            <a:off x="6477000" y="4876800"/>
            <a:ext cx="4762500" cy="533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13" b="0">
                <a:solidFill>
                  <a:srgbClr val="D7E5F3"/>
                </a:solidFill>
                <a:latin typeface="Aptos"/>
                <a:ea typeface="Aptos"/>
                <a:cs typeface="Aptos"/>
              </a:defRPr>
            </a:pPr>
            <a:r>
              <a:rPr sz="1013" b="0">
                <a:solidFill>
                  <a:srgbClr val="D7E5F3"/>
                </a:solidFill>
                <a:latin typeface="Aptos"/>
                <a:ea typeface="Aptos"/>
                <a:cs typeface="Aptos"/>
              </a:rPr>
              <a:t>Pour ELTON CI, la credibilite ne viendra pas d'un catalogue de formations. Elle viendra d'une proposition qui relie diagnostic, cas d'usage, gouvernance, formation ciblee et premiers gains visibles.</a:t>
            </a:r>
          </a:p>
        </p:txBody>
      </p:sp>
      <p:sp>
        <p:nvSpPr>
          <p:cNvPr id="41" name="">
            <a:extLst xmlns:a="http://schemas.openxmlformats.org/drawingml/2006/main">
              <a:ext uri="{FF2B5EF4-FFF2-40B4-BE49-F238E27FC236}">
                <a16:creationId xmlns:a16="http://schemas.microsoft.com/office/drawing/2014/main" id="{59915890-3E77-4CCA-9BB3-AB1C913D56B1}"/>
              </a:ext>
            </a:extLst>
          </p:cNvPr>
          <p:cNvSpPr>
            <a:spLocks xmlns:a="http://schemas.openxmlformats.org/drawingml/2006/main" noGrp="1"/>
          </p:cNvSpPr>
          <p:nvPr/>
        </p:nvSpPr>
        <p:spPr>
          <a:xfrm xmlns:a="http://schemas.openxmlformats.org/drawingml/2006/main">
            <a:off x="647700" y="6496050"/>
            <a:ext cx="10896600" cy="9525"/>
          </a:xfrm>
          <a:prstGeom xmlns:a="http://schemas.openxmlformats.org/drawingml/2006/main" prst="rect">
            <a:avLst/>
          </a:prstGeom>
          <a:solidFill xmlns:a="http://schemas.openxmlformats.org/drawingml/2006/main">
            <a:srgbClr val="D7CEC3"/>
          </a:solidFill>
          <a:ln xmlns:a="http://schemas.openxmlformats.org/drawingml/2006/main" w="0">
            <a:solidFill>
              <a:srgbClr val="000000">
                <a:alpha val="0"/>
              </a:srgbClr>
            </a:solidFill>
            <a:prstDash val="solid"/>
          </a:ln>
        </p:spPr>
      </p:sp>
      <p:sp>
        <p:nvSpPr>
          <p:cNvPr id="42" name="">
            <a:extLst xmlns:a="http://schemas.openxmlformats.org/drawingml/2006/main">
              <a:ext uri="{FF2B5EF4-FFF2-40B4-BE49-F238E27FC236}">
                <a16:creationId xmlns:a16="http://schemas.microsoft.com/office/drawing/2014/main" id="{0C5D2624-EB27-4C02-A9E6-A8063D3A5FC1}"/>
              </a:ext>
            </a:extLst>
          </p:cNvPr>
          <p:cNvSpPr>
            <a:spLocks xmlns:a="http://schemas.openxmlformats.org/drawingml/2006/main" noGrp="1"/>
          </p:cNvSpPr>
          <p:nvPr/>
        </p:nvSpPr>
        <p:spPr>
          <a:xfrm xmlns:a="http://schemas.openxmlformats.org/drawingml/2006/main">
            <a:off x="685800" y="6572250"/>
            <a:ext cx="857250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38" b="0">
                <a:solidFill>
                  <a:srgbClr val="617086"/>
                </a:solidFill>
                <a:latin typeface="Aptos"/>
                <a:ea typeface="Aptos"/>
                <a:cs typeface="Aptos"/>
              </a:defRPr>
            </a:pPr>
            <a:r>
              <a:rPr sz="638" b="0">
                <a:solidFill>
                  <a:srgbClr val="617086"/>
                </a:solidFill>
                <a:latin typeface="Aptos"/>
                <a:ea typeface="Aptos"/>
                <a:cs typeface="Aptos"/>
              </a:rPr>
              <a:t>TransferAI | Hub AI de Nettelecom CI | Proposition ciblee ELTON CI</a:t>
            </a:r>
          </a:p>
        </p:txBody>
      </p:sp>
      <p:sp>
        <p:nvSpPr>
          <p:cNvPr id="43" name="">
            <a:extLst xmlns:a="http://schemas.openxmlformats.org/drawingml/2006/main">
              <a:ext uri="{FF2B5EF4-FFF2-40B4-BE49-F238E27FC236}">
                <a16:creationId xmlns:a16="http://schemas.microsoft.com/office/drawing/2014/main" id="{11EDA102-0074-46C8-BC81-8E9C14FD32BE}"/>
              </a:ext>
            </a:extLst>
          </p:cNvPr>
          <p:cNvSpPr>
            <a:spLocks xmlns:a="http://schemas.openxmlformats.org/drawingml/2006/main" noGrp="1"/>
          </p:cNvSpPr>
          <p:nvPr/>
        </p:nvSpPr>
        <p:spPr>
          <a:xfrm xmlns:a="http://schemas.openxmlformats.org/drawingml/2006/main">
            <a:off x="11049000" y="6553200"/>
            <a:ext cx="3429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750" b="1">
                <a:solidFill>
                  <a:srgbClr val="1A3554"/>
                </a:solidFill>
                <a:latin typeface="Aptos"/>
                <a:ea typeface="Aptos"/>
                <a:cs typeface="Aptos"/>
              </a:defRPr>
            </a:pPr>
            <a:r>
              <a:rPr sz="750" b="1">
                <a:solidFill>
                  <a:srgbClr val="1A3554"/>
                </a:solidFill>
                <a:latin typeface="Aptos"/>
                <a:ea typeface="Aptos"/>
                <a:cs typeface="Aptos"/>
              </a:rPr>
              <a:t>03</a:t>
            </a:r>
          </a:p>
        </p:txBody>
      </p:sp>
    </p:spTree>
    <p:extLst>
      <p:ext uri="{BB962C8B-B14F-4D97-AF65-F5344CB8AC3E}">
        <p14:creationId xmlns:p14="http://schemas.microsoft.com/office/powerpoint/2010/main" val="1641729937"/>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F452BD40-0524-46B8-AD3F-7BC53CCD142B}"/>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EFE7"/>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BDEB40D8-7B37-48B8-A345-C4256B7C9F7B}"/>
              </a:ext>
            </a:extLst>
          </p:cNvPr>
          <p:cNvSpPr>
            <a:spLocks xmlns:a="http://schemas.openxmlformats.org/drawingml/2006/main" noGrp="1"/>
          </p:cNvSpPr>
          <p:nvPr/>
        </p:nvSpPr>
        <p:spPr>
          <a:xfrm xmlns:a="http://schemas.openxmlformats.org/drawingml/2006/main">
            <a:off x="0" y="0"/>
            <a:ext cx="12192000" cy="1123950"/>
          </a:xfrm>
          <a:prstGeom xmlns:a="http://schemas.openxmlformats.org/drawingml/2006/main" prst="rect">
            <a:avLst/>
          </a:prstGeom>
          <a:solidFill xmlns:a="http://schemas.openxmlformats.org/drawingml/2006/main">
            <a:srgbClr val="163556"/>
          </a:solidFill>
          <a:ln xmlns:a="http://schemas.openxmlformats.org/drawingml/2006/main" w="0">
            <a:solidFill>
              <a:srgbClr val="163556"/>
            </a:solidFill>
            <a:prstDash val="solid"/>
          </a:ln>
        </p:spPr>
      </p:sp>
      <p:sp>
        <p:nvSpPr>
          <p:cNvPr id="3" name="">
            <a:extLst xmlns:a="http://schemas.openxmlformats.org/drawingml/2006/main">
              <a:ext uri="{FF2B5EF4-FFF2-40B4-BE49-F238E27FC236}">
                <a16:creationId xmlns:a16="http://schemas.microsoft.com/office/drawing/2014/main" id="{A45EED8F-3598-4387-91A0-BE200174E680}"/>
              </a:ext>
            </a:extLst>
          </p:cNvPr>
          <p:cNvSpPr>
            <a:spLocks xmlns:a="http://schemas.openxmlformats.org/drawingml/2006/main" noGrp="1"/>
          </p:cNvSpPr>
          <p:nvPr/>
        </p:nvSpPr>
        <p:spPr>
          <a:xfrm xmlns:a="http://schemas.openxmlformats.org/drawingml/2006/main">
            <a:off x="685800" y="49530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88" b="1">
                <a:solidFill>
                  <a:srgbClr val="FFFFFF"/>
                </a:solidFill>
                <a:latin typeface="Aptos"/>
                <a:ea typeface="Aptos"/>
                <a:cs typeface="Aptos"/>
              </a:defRPr>
            </a:pPr>
            <a:r>
              <a:rPr sz="788" b="1">
                <a:solidFill>
                  <a:srgbClr val="FFFFFF"/>
                </a:solidFill>
                <a:latin typeface="Aptos"/>
                <a:ea typeface="Aptos"/>
                <a:cs typeface="Aptos"/>
              </a:rPr>
              <a:t>ROI DE REFERENCE</a:t>
            </a:r>
          </a:p>
        </p:txBody>
      </p:sp>
      <p:sp>
        <p:nvSpPr>
          <p:cNvPr id="4" name="">
            <a:extLst xmlns:a="http://schemas.openxmlformats.org/drawingml/2006/main">
              <a:ext uri="{FF2B5EF4-FFF2-40B4-BE49-F238E27FC236}">
                <a16:creationId xmlns:a16="http://schemas.microsoft.com/office/drawing/2014/main" id="{FE7CFEAD-6A8F-4863-8841-814DF2A004CD}"/>
              </a:ext>
            </a:extLst>
          </p:cNvPr>
          <p:cNvSpPr>
            <a:spLocks xmlns:a="http://schemas.openxmlformats.org/drawingml/2006/main" noGrp="1"/>
          </p:cNvSpPr>
          <p:nvPr/>
        </p:nvSpPr>
        <p:spPr>
          <a:xfrm xmlns:a="http://schemas.openxmlformats.org/drawingml/2006/main">
            <a:off x="685800" y="723900"/>
            <a:ext cx="98679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100" b="1">
                <a:solidFill>
                  <a:srgbClr val="FFFFFF"/>
                </a:solidFill>
                <a:latin typeface="Aptos Display"/>
                <a:ea typeface="Aptos Display"/>
                <a:cs typeface="Aptos Display"/>
              </a:defRPr>
            </a:pPr>
            <a:r>
              <a:rPr sz="2100" b="1">
                <a:solidFill>
                  <a:srgbClr val="FFFFFF"/>
                </a:solidFill>
                <a:latin typeface="Aptos Display"/>
                <a:ea typeface="Aptos Display"/>
                <a:cs typeface="Aptos Display"/>
              </a:rPr>
              <a:t>Le ROI presente devient utile seulement s'il est traduit dans le contexte ELTON CI</a:t>
            </a:r>
          </a:p>
        </p:txBody>
      </p:sp>
      <p:sp>
        <p:nvSpPr>
          <p:cNvPr id="5" name="">
            <a:extLst xmlns:a="http://schemas.openxmlformats.org/drawingml/2006/main">
              <a:ext uri="{FF2B5EF4-FFF2-40B4-BE49-F238E27FC236}">
                <a16:creationId xmlns:a16="http://schemas.microsoft.com/office/drawing/2014/main" id="{D8260720-56CA-4958-B7A2-8F4303495890}"/>
              </a:ext>
            </a:extLst>
          </p:cNvPr>
          <p:cNvSpPr>
            <a:spLocks xmlns:a="http://schemas.openxmlformats.org/drawingml/2006/main" noGrp="1"/>
          </p:cNvSpPr>
          <p:nvPr/>
        </p:nvSpPr>
        <p:spPr>
          <a:xfrm xmlns:a="http://schemas.openxmlformats.org/drawingml/2006/main">
            <a:off x="685800" y="1409700"/>
            <a:ext cx="2514600" cy="1104900"/>
          </a:xfrm>
          <a:prstGeom xmlns:a="http://schemas.openxmlformats.org/drawingml/2006/main" prst="rect">
            <a:avLst/>
          </a:prstGeom>
          <a:solidFill xmlns:a="http://schemas.openxmlformats.org/drawingml/2006/main">
            <a:srgbClr val="1C8A78"/>
          </a:solidFill>
          <a:ln xmlns:a="http://schemas.openxmlformats.org/drawingml/2006/main" w="0">
            <a:solidFill>
              <a:srgbClr val="1C8A78"/>
            </a:solidFill>
            <a:prstDash val="solid"/>
          </a:ln>
        </p:spPr>
      </p:sp>
      <p:sp>
        <p:nvSpPr>
          <p:cNvPr id="6" name="">
            <a:extLst xmlns:a="http://schemas.openxmlformats.org/drawingml/2006/main">
              <a:ext uri="{FF2B5EF4-FFF2-40B4-BE49-F238E27FC236}">
                <a16:creationId xmlns:a16="http://schemas.microsoft.com/office/drawing/2014/main" id="{3475A85A-950E-47F9-88AB-2D4296B9E313}"/>
              </a:ext>
            </a:extLst>
          </p:cNvPr>
          <p:cNvSpPr>
            <a:spLocks xmlns:a="http://schemas.openxmlformats.org/drawingml/2006/main" noGrp="1"/>
          </p:cNvSpPr>
          <p:nvPr/>
        </p:nvSpPr>
        <p:spPr>
          <a:xfrm xmlns:a="http://schemas.openxmlformats.org/drawingml/2006/main">
            <a:off x="857250" y="1581150"/>
            <a:ext cx="21717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2400" b="1">
                <a:solidFill>
                  <a:srgbClr val="FFFFFF"/>
                </a:solidFill>
                <a:latin typeface="Aptos Display"/>
                <a:ea typeface="Aptos Display"/>
                <a:cs typeface="Aptos Display"/>
              </a:defRPr>
            </a:pPr>
            <a:r>
              <a:rPr sz="2400" b="1">
                <a:solidFill>
                  <a:srgbClr val="FFFFFF"/>
                </a:solidFill>
                <a:latin typeface="Aptos Display"/>
                <a:ea typeface="Aptos Display"/>
                <a:cs typeface="Aptos Display"/>
              </a:rPr>
              <a:t>+30 %</a:t>
            </a:r>
          </a:p>
        </p:txBody>
      </p:sp>
      <p:sp>
        <p:nvSpPr>
          <p:cNvPr id="7" name="">
            <a:extLst xmlns:a="http://schemas.openxmlformats.org/drawingml/2006/main">
              <a:ext uri="{FF2B5EF4-FFF2-40B4-BE49-F238E27FC236}">
                <a16:creationId xmlns:a16="http://schemas.microsoft.com/office/drawing/2014/main" id="{6D0ABF47-FCCB-4705-A427-18E7B82FB915}"/>
              </a:ext>
            </a:extLst>
          </p:cNvPr>
          <p:cNvSpPr>
            <a:spLocks xmlns:a="http://schemas.openxmlformats.org/drawingml/2006/main" noGrp="1"/>
          </p:cNvSpPr>
          <p:nvPr/>
        </p:nvSpPr>
        <p:spPr>
          <a:xfrm xmlns:a="http://schemas.openxmlformats.org/drawingml/2006/main">
            <a:off x="857250" y="2019300"/>
            <a:ext cx="21717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825" b="1">
                <a:solidFill>
                  <a:srgbClr val="FFFFFF"/>
                </a:solidFill>
                <a:latin typeface="Aptos"/>
                <a:ea typeface="Aptos"/>
                <a:cs typeface="Aptos"/>
              </a:defRPr>
            </a:pPr>
            <a:r>
              <a:rPr sz="825" b="1">
                <a:solidFill>
                  <a:srgbClr val="FFFFFF"/>
                </a:solidFill>
                <a:latin typeface="Aptos"/>
                <a:ea typeface="Aptos"/>
                <a:cs typeface="Aptos"/>
              </a:rPr>
              <a:t>productivite benchmark</a:t>
            </a:r>
          </a:p>
        </p:txBody>
      </p:sp>
      <p:sp>
        <p:nvSpPr>
          <p:cNvPr id="8" name="">
            <a:extLst xmlns:a="http://schemas.openxmlformats.org/drawingml/2006/main">
              <a:ext uri="{FF2B5EF4-FFF2-40B4-BE49-F238E27FC236}">
                <a16:creationId xmlns:a16="http://schemas.microsoft.com/office/drawing/2014/main" id="{04793207-5263-4964-B27E-F3A3CF9576A1}"/>
              </a:ext>
            </a:extLst>
          </p:cNvPr>
          <p:cNvSpPr>
            <a:spLocks xmlns:a="http://schemas.openxmlformats.org/drawingml/2006/main" noGrp="1"/>
          </p:cNvSpPr>
          <p:nvPr/>
        </p:nvSpPr>
        <p:spPr>
          <a:xfrm xmlns:a="http://schemas.openxmlformats.org/drawingml/2006/main">
            <a:off x="857250" y="2228850"/>
            <a:ext cx="21717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638" b="0">
                <a:solidFill>
                  <a:srgbClr val="FFFFFF"/>
                </a:solidFill>
                <a:latin typeface="Aptos"/>
                <a:ea typeface="Aptos"/>
                <a:cs typeface="Aptos"/>
              </a:defRPr>
            </a:pPr>
            <a:r>
              <a:rPr sz="638" b="0">
                <a:solidFill>
                  <a:srgbClr val="FFFFFF"/>
                </a:solidFill>
                <a:latin typeface="Aptos"/>
                <a:ea typeface="Aptos"/>
                <a:cs typeface="Aptos"/>
              </a:rPr>
              <a:t>taches repetitives, reporting, preparation de syntheses</a:t>
            </a:r>
          </a:p>
        </p:txBody>
      </p:sp>
      <p:sp>
        <p:nvSpPr>
          <p:cNvPr id="9" name="">
            <a:extLst xmlns:a="http://schemas.openxmlformats.org/drawingml/2006/main">
              <a:ext uri="{FF2B5EF4-FFF2-40B4-BE49-F238E27FC236}">
                <a16:creationId xmlns:a16="http://schemas.microsoft.com/office/drawing/2014/main" id="{4CA6E1AB-F48E-4724-BB3D-F8635A41EE1F}"/>
              </a:ext>
            </a:extLst>
          </p:cNvPr>
          <p:cNvSpPr>
            <a:spLocks xmlns:a="http://schemas.openxmlformats.org/drawingml/2006/main" noGrp="1"/>
          </p:cNvSpPr>
          <p:nvPr/>
        </p:nvSpPr>
        <p:spPr>
          <a:xfrm xmlns:a="http://schemas.openxmlformats.org/drawingml/2006/main">
            <a:off x="3390900" y="1409700"/>
            <a:ext cx="2514600" cy="1104900"/>
          </a:xfrm>
          <a:prstGeom xmlns:a="http://schemas.openxmlformats.org/drawingml/2006/main" prst="rect">
            <a:avLst/>
          </a:prstGeom>
          <a:solidFill xmlns:a="http://schemas.openxmlformats.org/drawingml/2006/main">
            <a:srgbClr val="163556"/>
          </a:solidFill>
          <a:ln xmlns:a="http://schemas.openxmlformats.org/drawingml/2006/main" w="0">
            <a:solidFill>
              <a:srgbClr val="163556"/>
            </a:solidFill>
            <a:prstDash val="solid"/>
          </a:ln>
        </p:spPr>
      </p:sp>
      <p:sp>
        <p:nvSpPr>
          <p:cNvPr id="10" name="">
            <a:extLst xmlns:a="http://schemas.openxmlformats.org/drawingml/2006/main">
              <a:ext uri="{FF2B5EF4-FFF2-40B4-BE49-F238E27FC236}">
                <a16:creationId xmlns:a16="http://schemas.microsoft.com/office/drawing/2014/main" id="{BF7C495B-DC8F-4F87-BA35-BB7C0840060C}"/>
              </a:ext>
            </a:extLst>
          </p:cNvPr>
          <p:cNvSpPr>
            <a:spLocks xmlns:a="http://schemas.openxmlformats.org/drawingml/2006/main" noGrp="1"/>
          </p:cNvSpPr>
          <p:nvPr/>
        </p:nvSpPr>
        <p:spPr>
          <a:xfrm xmlns:a="http://schemas.openxmlformats.org/drawingml/2006/main">
            <a:off x="3562350" y="1581150"/>
            <a:ext cx="21717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2400" b="1">
                <a:solidFill>
                  <a:srgbClr val="FFFFFF"/>
                </a:solidFill>
                <a:latin typeface="Aptos Display"/>
                <a:ea typeface="Aptos Display"/>
                <a:cs typeface="Aptos Display"/>
              </a:defRPr>
            </a:pPr>
            <a:r>
              <a:rPr sz="2400" b="1">
                <a:solidFill>
                  <a:srgbClr val="FFFFFF"/>
                </a:solidFill>
                <a:latin typeface="Aptos Display"/>
                <a:ea typeface="Aptos Display"/>
                <a:cs typeface="Aptos Display"/>
              </a:rPr>
              <a:t>-45 %</a:t>
            </a:r>
          </a:p>
        </p:txBody>
      </p:sp>
      <p:sp>
        <p:nvSpPr>
          <p:cNvPr id="11" name="">
            <a:extLst xmlns:a="http://schemas.openxmlformats.org/drawingml/2006/main">
              <a:ext uri="{FF2B5EF4-FFF2-40B4-BE49-F238E27FC236}">
                <a16:creationId xmlns:a16="http://schemas.microsoft.com/office/drawing/2014/main" id="{A0655764-0C54-42E4-91C6-064B97A28AE0}"/>
              </a:ext>
            </a:extLst>
          </p:cNvPr>
          <p:cNvSpPr>
            <a:spLocks xmlns:a="http://schemas.openxmlformats.org/drawingml/2006/main" noGrp="1"/>
          </p:cNvSpPr>
          <p:nvPr/>
        </p:nvSpPr>
        <p:spPr>
          <a:xfrm xmlns:a="http://schemas.openxmlformats.org/drawingml/2006/main">
            <a:off x="3562350" y="2019300"/>
            <a:ext cx="21717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825" b="1">
                <a:solidFill>
                  <a:srgbClr val="FFFFFF"/>
                </a:solidFill>
                <a:latin typeface="Aptos"/>
                <a:ea typeface="Aptos"/>
                <a:cs typeface="Aptos"/>
              </a:defRPr>
            </a:pPr>
            <a:r>
              <a:rPr sz="825" b="1">
                <a:solidFill>
                  <a:srgbClr val="FFFFFF"/>
                </a:solidFill>
                <a:latin typeface="Aptos"/>
                <a:ea typeface="Aptos"/>
                <a:cs typeface="Aptos"/>
              </a:rPr>
              <a:t>effort de formation</a:t>
            </a:r>
          </a:p>
        </p:txBody>
      </p:sp>
      <p:sp>
        <p:nvSpPr>
          <p:cNvPr id="12" name="">
            <a:extLst xmlns:a="http://schemas.openxmlformats.org/drawingml/2006/main">
              <a:ext uri="{FF2B5EF4-FFF2-40B4-BE49-F238E27FC236}">
                <a16:creationId xmlns:a16="http://schemas.microsoft.com/office/drawing/2014/main" id="{053F158D-CFAF-4017-8351-7109DE608951}"/>
              </a:ext>
            </a:extLst>
          </p:cNvPr>
          <p:cNvSpPr>
            <a:spLocks xmlns:a="http://schemas.openxmlformats.org/drawingml/2006/main" noGrp="1"/>
          </p:cNvSpPr>
          <p:nvPr/>
        </p:nvSpPr>
        <p:spPr>
          <a:xfrm xmlns:a="http://schemas.openxmlformats.org/drawingml/2006/main">
            <a:off x="3562350" y="2228850"/>
            <a:ext cx="21717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638" b="0">
                <a:solidFill>
                  <a:srgbClr val="FFFFFF"/>
                </a:solidFill>
                <a:latin typeface="Aptos"/>
                <a:ea typeface="Aptos"/>
                <a:cs typeface="Aptos"/>
              </a:defRPr>
            </a:pPr>
            <a:r>
              <a:rPr sz="638" b="0">
                <a:solidFill>
                  <a:srgbClr val="FFFFFF"/>
                </a:solidFill>
                <a:latin typeface="Aptos"/>
                <a:ea typeface="Aptos"/>
                <a:cs typeface="Aptos"/>
              </a:rPr>
              <a:t>onboarding, diffusion de pratiques et transfert de savoir</a:t>
            </a:r>
          </a:p>
        </p:txBody>
      </p:sp>
      <p:sp>
        <p:nvSpPr>
          <p:cNvPr id="13" name="">
            <a:extLst xmlns:a="http://schemas.openxmlformats.org/drawingml/2006/main">
              <a:ext uri="{FF2B5EF4-FFF2-40B4-BE49-F238E27FC236}">
                <a16:creationId xmlns:a16="http://schemas.microsoft.com/office/drawing/2014/main" id="{73B24A7A-0582-4753-9599-47ED4F26E616}"/>
              </a:ext>
            </a:extLst>
          </p:cNvPr>
          <p:cNvSpPr>
            <a:spLocks xmlns:a="http://schemas.openxmlformats.org/drawingml/2006/main" noGrp="1"/>
          </p:cNvSpPr>
          <p:nvPr/>
        </p:nvSpPr>
        <p:spPr>
          <a:xfrm xmlns:a="http://schemas.openxmlformats.org/drawingml/2006/main">
            <a:off x="6096000" y="1409700"/>
            <a:ext cx="2514600" cy="1104900"/>
          </a:xfrm>
          <a:prstGeom xmlns:a="http://schemas.openxmlformats.org/drawingml/2006/main" prst="rect">
            <a:avLst/>
          </a:prstGeom>
          <a:solidFill xmlns:a="http://schemas.openxmlformats.org/drawingml/2006/main">
            <a:srgbClr val="E76F1D"/>
          </a:solidFill>
          <a:ln xmlns:a="http://schemas.openxmlformats.org/drawingml/2006/main" w="0">
            <a:solidFill>
              <a:srgbClr val="E76F1D"/>
            </a:solidFill>
            <a:prstDash val="solid"/>
          </a:ln>
        </p:spPr>
      </p:sp>
      <p:sp>
        <p:nvSpPr>
          <p:cNvPr id="14" name="">
            <a:extLst xmlns:a="http://schemas.openxmlformats.org/drawingml/2006/main">
              <a:ext uri="{FF2B5EF4-FFF2-40B4-BE49-F238E27FC236}">
                <a16:creationId xmlns:a16="http://schemas.microsoft.com/office/drawing/2014/main" id="{26A2A40B-4A87-49B0-A662-6CE2542747F6}"/>
              </a:ext>
            </a:extLst>
          </p:cNvPr>
          <p:cNvSpPr>
            <a:spLocks xmlns:a="http://schemas.openxmlformats.org/drawingml/2006/main" noGrp="1"/>
          </p:cNvSpPr>
          <p:nvPr/>
        </p:nvSpPr>
        <p:spPr>
          <a:xfrm xmlns:a="http://schemas.openxmlformats.org/drawingml/2006/main">
            <a:off x="6267450" y="1581150"/>
            <a:ext cx="21717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2400" b="1">
                <a:solidFill>
                  <a:srgbClr val="FFFFFF"/>
                </a:solidFill>
                <a:latin typeface="Aptos Display"/>
                <a:ea typeface="Aptos Display"/>
                <a:cs typeface="Aptos Display"/>
              </a:defRPr>
            </a:pPr>
            <a:r>
              <a:rPr sz="2400" b="1">
                <a:solidFill>
                  <a:srgbClr val="FFFFFF"/>
                </a:solidFill>
                <a:latin typeface="Aptos Display"/>
                <a:ea typeface="Aptos Display"/>
                <a:cs typeface="Aptos Display"/>
              </a:rPr>
              <a:t>J+15</a:t>
            </a:r>
          </a:p>
        </p:txBody>
      </p:sp>
      <p:sp>
        <p:nvSpPr>
          <p:cNvPr id="15" name="">
            <a:extLst xmlns:a="http://schemas.openxmlformats.org/drawingml/2006/main">
              <a:ext uri="{FF2B5EF4-FFF2-40B4-BE49-F238E27FC236}">
                <a16:creationId xmlns:a16="http://schemas.microsoft.com/office/drawing/2014/main" id="{7860D4BE-4B82-4502-A5F4-6CE5866CE281}"/>
              </a:ext>
            </a:extLst>
          </p:cNvPr>
          <p:cNvSpPr>
            <a:spLocks xmlns:a="http://schemas.openxmlformats.org/drawingml/2006/main" noGrp="1"/>
          </p:cNvSpPr>
          <p:nvPr/>
        </p:nvSpPr>
        <p:spPr>
          <a:xfrm xmlns:a="http://schemas.openxmlformats.org/drawingml/2006/main">
            <a:off x="6267450" y="2019300"/>
            <a:ext cx="21717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825" b="1">
                <a:solidFill>
                  <a:srgbClr val="FFFFFF"/>
                </a:solidFill>
                <a:latin typeface="Aptos"/>
                <a:ea typeface="Aptos"/>
                <a:cs typeface="Aptos"/>
              </a:defRPr>
            </a:pPr>
            <a:r>
              <a:rPr sz="825" b="1">
                <a:solidFill>
                  <a:srgbClr val="FFFFFF"/>
                </a:solidFill>
                <a:latin typeface="Aptos"/>
                <a:ea typeface="Aptos"/>
                <a:cs typeface="Aptos"/>
              </a:rPr>
              <a:t>premier livrable</a:t>
            </a:r>
          </a:p>
        </p:txBody>
      </p:sp>
      <p:sp>
        <p:nvSpPr>
          <p:cNvPr id="16" name="">
            <a:extLst xmlns:a="http://schemas.openxmlformats.org/drawingml/2006/main">
              <a:ext uri="{FF2B5EF4-FFF2-40B4-BE49-F238E27FC236}">
                <a16:creationId xmlns:a16="http://schemas.microsoft.com/office/drawing/2014/main" id="{28CB0645-6526-4723-915F-143AB3FC44D8}"/>
              </a:ext>
            </a:extLst>
          </p:cNvPr>
          <p:cNvSpPr>
            <a:spLocks xmlns:a="http://schemas.openxmlformats.org/drawingml/2006/main" noGrp="1"/>
          </p:cNvSpPr>
          <p:nvPr/>
        </p:nvSpPr>
        <p:spPr>
          <a:xfrm xmlns:a="http://schemas.openxmlformats.org/drawingml/2006/main">
            <a:off x="6267450" y="2228850"/>
            <a:ext cx="21717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638" b="0">
                <a:solidFill>
                  <a:srgbClr val="FFFFFF"/>
                </a:solidFill>
                <a:latin typeface="Aptos"/>
                <a:ea typeface="Aptos"/>
                <a:cs typeface="Aptos"/>
              </a:defRPr>
            </a:pPr>
            <a:r>
              <a:rPr sz="638" b="0">
                <a:solidFill>
                  <a:srgbClr val="FFFFFF"/>
                </a:solidFill>
                <a:latin typeface="Aptos"/>
                <a:ea typeface="Aptos"/>
                <a:cs typeface="Aptos"/>
              </a:rPr>
              <a:t>audit, cadrage et priorisation ROI</a:t>
            </a:r>
          </a:p>
        </p:txBody>
      </p:sp>
      <p:sp>
        <p:nvSpPr>
          <p:cNvPr id="17" name="">
            <a:extLst xmlns:a="http://schemas.openxmlformats.org/drawingml/2006/main">
              <a:ext uri="{FF2B5EF4-FFF2-40B4-BE49-F238E27FC236}">
                <a16:creationId xmlns:a16="http://schemas.microsoft.com/office/drawing/2014/main" id="{23A603CC-F54E-4F49-B3BA-B264123FB1BF}"/>
              </a:ext>
            </a:extLst>
          </p:cNvPr>
          <p:cNvSpPr>
            <a:spLocks xmlns:a="http://schemas.openxmlformats.org/drawingml/2006/main" noGrp="1"/>
          </p:cNvSpPr>
          <p:nvPr/>
        </p:nvSpPr>
        <p:spPr>
          <a:xfrm xmlns:a="http://schemas.openxmlformats.org/drawingml/2006/main">
            <a:off x="8801100" y="1409700"/>
            <a:ext cx="2705100" cy="1104900"/>
          </a:xfrm>
          <a:prstGeom xmlns:a="http://schemas.openxmlformats.org/drawingml/2006/main" prst="rect">
            <a:avLst/>
          </a:prstGeom>
          <a:solidFill xmlns:a="http://schemas.openxmlformats.org/drawingml/2006/main">
            <a:srgbClr val="C88C3A"/>
          </a:solidFill>
          <a:ln xmlns:a="http://schemas.openxmlformats.org/drawingml/2006/main" w="0">
            <a:solidFill>
              <a:srgbClr val="C88C3A"/>
            </a:solidFill>
            <a:prstDash val="solid"/>
          </a:ln>
        </p:spPr>
      </p:sp>
      <p:sp>
        <p:nvSpPr>
          <p:cNvPr id="18" name="">
            <a:extLst xmlns:a="http://schemas.openxmlformats.org/drawingml/2006/main">
              <a:ext uri="{FF2B5EF4-FFF2-40B4-BE49-F238E27FC236}">
                <a16:creationId xmlns:a16="http://schemas.microsoft.com/office/drawing/2014/main" id="{3E166200-F6B0-4FE1-A276-D208FD5122C9}"/>
              </a:ext>
            </a:extLst>
          </p:cNvPr>
          <p:cNvSpPr>
            <a:spLocks xmlns:a="http://schemas.openxmlformats.org/drawingml/2006/main" noGrp="1"/>
          </p:cNvSpPr>
          <p:nvPr/>
        </p:nvSpPr>
        <p:spPr>
          <a:xfrm xmlns:a="http://schemas.openxmlformats.org/drawingml/2006/main">
            <a:off x="8972550" y="1581150"/>
            <a:ext cx="23622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2400" b="1">
                <a:solidFill>
                  <a:srgbClr val="FFFFFF"/>
                </a:solidFill>
                <a:latin typeface="Aptos Display"/>
                <a:ea typeface="Aptos Display"/>
                <a:cs typeface="Aptos Display"/>
              </a:defRPr>
            </a:pPr>
            <a:r>
              <a:rPr sz="2400" b="1">
                <a:solidFill>
                  <a:srgbClr val="FFFFFF"/>
                </a:solidFill>
                <a:latin typeface="Aptos Display"/>
                <a:ea typeface="Aptos Display"/>
                <a:cs typeface="Aptos Display"/>
              </a:rPr>
              <a:t>3,2x</a:t>
            </a:r>
          </a:p>
        </p:txBody>
      </p:sp>
      <p:sp>
        <p:nvSpPr>
          <p:cNvPr id="19" name="">
            <a:extLst xmlns:a="http://schemas.openxmlformats.org/drawingml/2006/main">
              <a:ext uri="{FF2B5EF4-FFF2-40B4-BE49-F238E27FC236}">
                <a16:creationId xmlns:a16="http://schemas.microsoft.com/office/drawing/2014/main" id="{6C7D7521-B084-43C6-AD7E-0E1711608AEC}"/>
              </a:ext>
            </a:extLst>
          </p:cNvPr>
          <p:cNvSpPr>
            <a:spLocks xmlns:a="http://schemas.openxmlformats.org/drawingml/2006/main" noGrp="1"/>
          </p:cNvSpPr>
          <p:nvPr/>
        </p:nvSpPr>
        <p:spPr>
          <a:xfrm xmlns:a="http://schemas.openxmlformats.org/drawingml/2006/main">
            <a:off x="8972550" y="2019300"/>
            <a:ext cx="23622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825" b="1">
                <a:solidFill>
                  <a:srgbClr val="FFFFFF"/>
                </a:solidFill>
                <a:latin typeface="Aptos"/>
                <a:ea typeface="Aptos"/>
                <a:cs typeface="Aptos"/>
              </a:defRPr>
            </a:pPr>
            <a:r>
              <a:rPr sz="825" b="1">
                <a:solidFill>
                  <a:srgbClr val="FFFFFF"/>
                </a:solidFill>
                <a:latin typeface="Aptos"/>
                <a:ea typeface="Aptos"/>
                <a:cs typeface="Aptos"/>
              </a:rPr>
              <a:t>potentiel de ROI</a:t>
            </a:r>
          </a:p>
        </p:txBody>
      </p:sp>
      <p:sp>
        <p:nvSpPr>
          <p:cNvPr id="20" name="">
            <a:extLst xmlns:a="http://schemas.openxmlformats.org/drawingml/2006/main">
              <a:ext uri="{FF2B5EF4-FFF2-40B4-BE49-F238E27FC236}">
                <a16:creationId xmlns:a16="http://schemas.microsoft.com/office/drawing/2014/main" id="{F923935E-0416-40F5-B93A-3F49D6B59CC8}"/>
              </a:ext>
            </a:extLst>
          </p:cNvPr>
          <p:cNvSpPr>
            <a:spLocks xmlns:a="http://schemas.openxmlformats.org/drawingml/2006/main" noGrp="1"/>
          </p:cNvSpPr>
          <p:nvPr/>
        </p:nvSpPr>
        <p:spPr>
          <a:xfrm xmlns:a="http://schemas.openxmlformats.org/drawingml/2006/main">
            <a:off x="8972550" y="2228850"/>
            <a:ext cx="23622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638" b="0">
                <a:solidFill>
                  <a:srgbClr val="FFFFFF"/>
                </a:solidFill>
                <a:latin typeface="Aptos"/>
                <a:ea typeface="Aptos"/>
                <a:cs typeface="Aptos"/>
              </a:defRPr>
            </a:pPr>
            <a:r>
              <a:rPr sz="638" b="0">
                <a:solidFill>
                  <a:srgbClr val="FFFFFF"/>
                </a:solidFill>
                <a:latin typeface="Aptos"/>
                <a:ea typeface="Aptos"/>
                <a:cs typeface="Aptos"/>
              </a:rPr>
              <a:t>reference projets comparables TransferAI</a:t>
            </a:r>
          </a:p>
        </p:txBody>
      </p:sp>
      <p:sp>
        <p:nvSpPr>
          <p:cNvPr id="21" name="">
            <a:extLst xmlns:a="http://schemas.openxmlformats.org/drawingml/2006/main">
              <a:ext uri="{FF2B5EF4-FFF2-40B4-BE49-F238E27FC236}">
                <a16:creationId xmlns:a16="http://schemas.microsoft.com/office/drawing/2014/main" id="{FC00FD6C-38D7-4BD4-AF09-1E9BBE01A797}"/>
              </a:ext>
            </a:extLst>
          </p:cNvPr>
          <p:cNvSpPr>
            <a:spLocks xmlns:a="http://schemas.openxmlformats.org/drawingml/2006/main" noGrp="1"/>
          </p:cNvSpPr>
          <p:nvPr/>
        </p:nvSpPr>
        <p:spPr>
          <a:xfrm xmlns:a="http://schemas.openxmlformats.org/drawingml/2006/main">
            <a:off x="685800" y="3048000"/>
            <a:ext cx="47625" cy="457200"/>
          </a:xfrm>
          <a:prstGeom xmlns:a="http://schemas.openxmlformats.org/drawingml/2006/main" prst="rect">
            <a:avLst/>
          </a:prstGeom>
          <a:solidFill xmlns:a="http://schemas.openxmlformats.org/drawingml/2006/main">
            <a:srgbClr val="E76F1D"/>
          </a:solidFill>
          <a:ln xmlns:a="http://schemas.openxmlformats.org/drawingml/2006/main" w="0">
            <a:solidFill>
              <a:srgbClr val="000000">
                <a:alpha val="0"/>
              </a:srgbClr>
            </a:solidFill>
            <a:prstDash val="solid"/>
          </a:ln>
        </p:spPr>
      </p:sp>
      <p:sp>
        <p:nvSpPr>
          <p:cNvPr id="22" name="">
            <a:extLst xmlns:a="http://schemas.openxmlformats.org/drawingml/2006/main">
              <a:ext uri="{FF2B5EF4-FFF2-40B4-BE49-F238E27FC236}">
                <a16:creationId xmlns:a16="http://schemas.microsoft.com/office/drawing/2014/main" id="{56EE050C-F3C4-4E1E-809A-F57CB7FAAA0C}"/>
              </a:ext>
            </a:extLst>
          </p:cNvPr>
          <p:cNvSpPr>
            <a:spLocks xmlns:a="http://schemas.openxmlformats.org/drawingml/2006/main" noGrp="1"/>
          </p:cNvSpPr>
          <p:nvPr/>
        </p:nvSpPr>
        <p:spPr>
          <a:xfrm xmlns:a="http://schemas.openxmlformats.org/drawingml/2006/main">
            <a:off x="876300" y="2952750"/>
            <a:ext cx="238125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1A3554"/>
                </a:solidFill>
                <a:latin typeface="Aptos Display"/>
                <a:ea typeface="Aptos Display"/>
                <a:cs typeface="Aptos Display"/>
              </a:defRPr>
            </a:pPr>
            <a:r>
              <a:rPr sz="1125" b="1">
                <a:solidFill>
                  <a:srgbClr val="1A3554"/>
                </a:solidFill>
                <a:latin typeface="Aptos Display"/>
                <a:ea typeface="Aptos Display"/>
                <a:cs typeface="Aptos Display"/>
              </a:rPr>
              <a:t>Comptes professionnels</a:t>
            </a:r>
          </a:p>
        </p:txBody>
      </p:sp>
      <p:sp>
        <p:nvSpPr>
          <p:cNvPr id="23" name="">
            <a:extLst xmlns:a="http://schemas.openxmlformats.org/drawingml/2006/main">
              <a:ext uri="{FF2B5EF4-FFF2-40B4-BE49-F238E27FC236}">
                <a16:creationId xmlns:a16="http://schemas.microsoft.com/office/drawing/2014/main" id="{275767A9-01BD-4ADB-BF6D-0A20B79EF2EC}"/>
              </a:ext>
            </a:extLst>
          </p:cNvPr>
          <p:cNvSpPr>
            <a:spLocks xmlns:a="http://schemas.openxmlformats.org/drawingml/2006/main" noGrp="1"/>
          </p:cNvSpPr>
          <p:nvPr/>
        </p:nvSpPr>
        <p:spPr>
          <a:xfrm xmlns:a="http://schemas.openxmlformats.org/drawingml/2006/main">
            <a:off x="876300" y="3200400"/>
            <a:ext cx="485775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0">
                <a:solidFill>
                  <a:srgbClr val="617086"/>
                </a:solidFill>
                <a:latin typeface="Aptos"/>
                <a:ea typeface="Aptos"/>
                <a:cs typeface="Aptos"/>
              </a:defRPr>
            </a:pPr>
            <a:r>
              <a:rPr sz="900" b="0">
                <a:solidFill>
                  <a:srgbClr val="617086"/>
                </a:solidFill>
                <a:latin typeface="Aptos"/>
                <a:ea typeface="Aptos"/>
                <a:cs typeface="Aptos"/>
              </a:rPr>
              <a:t>Automatiser la preparation des relances, standardiser les revues portefeuille et mieux signaler les comptes a risque ou en retard.</a:t>
            </a:r>
          </a:p>
        </p:txBody>
      </p:sp>
      <p:sp>
        <p:nvSpPr>
          <p:cNvPr id="24" name="">
            <a:extLst xmlns:a="http://schemas.openxmlformats.org/drawingml/2006/main">
              <a:ext uri="{FF2B5EF4-FFF2-40B4-BE49-F238E27FC236}">
                <a16:creationId xmlns:a16="http://schemas.microsoft.com/office/drawing/2014/main" id="{03E29469-5A41-4521-AD46-BCE76877770E}"/>
              </a:ext>
            </a:extLst>
          </p:cNvPr>
          <p:cNvSpPr>
            <a:spLocks xmlns:a="http://schemas.openxmlformats.org/drawingml/2006/main" noGrp="1"/>
          </p:cNvSpPr>
          <p:nvPr/>
        </p:nvSpPr>
        <p:spPr>
          <a:xfrm xmlns:a="http://schemas.openxmlformats.org/drawingml/2006/main">
            <a:off x="6096000" y="2933700"/>
            <a:ext cx="5334000" cy="666750"/>
          </a:xfrm>
          <a:prstGeom xmlns:a="http://schemas.openxmlformats.org/drawingml/2006/main" prst="rect">
            <a:avLst/>
          </a:prstGeom>
          <a:solidFill xmlns:a="http://schemas.openxmlformats.org/drawingml/2006/main">
            <a:srgbClr val="FBF5EE"/>
          </a:solidFill>
          <a:ln xmlns:a="http://schemas.openxmlformats.org/drawingml/2006/main" w="9525">
            <a:solidFill>
              <a:srgbClr val="D7CEC3"/>
            </a:solidFill>
            <a:prstDash val="solid"/>
          </a:ln>
        </p:spPr>
      </p:sp>
      <p:sp>
        <p:nvSpPr>
          <p:cNvPr id="25" name="">
            <a:extLst xmlns:a="http://schemas.openxmlformats.org/drawingml/2006/main">
              <a:ext uri="{FF2B5EF4-FFF2-40B4-BE49-F238E27FC236}">
                <a16:creationId xmlns:a16="http://schemas.microsoft.com/office/drawing/2014/main" id="{0B68D1AB-AD73-43D9-8DC2-8D1DF32EC70D}"/>
              </a:ext>
            </a:extLst>
          </p:cNvPr>
          <p:cNvSpPr>
            <a:spLocks xmlns:a="http://schemas.openxmlformats.org/drawingml/2006/main" noGrp="1"/>
          </p:cNvSpPr>
          <p:nvPr/>
        </p:nvSpPr>
        <p:spPr>
          <a:xfrm xmlns:a="http://schemas.openxmlformats.org/drawingml/2006/main">
            <a:off x="6305550" y="3048000"/>
            <a:ext cx="133350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13" b="1">
                <a:solidFill>
                  <a:srgbClr val="E76F1D"/>
                </a:solidFill>
                <a:latin typeface="Aptos"/>
                <a:ea typeface="Aptos"/>
                <a:cs typeface="Aptos"/>
              </a:defRPr>
            </a:pPr>
            <a:r>
              <a:rPr sz="713" b="1">
                <a:solidFill>
                  <a:srgbClr val="E76F1D"/>
                </a:solidFill>
                <a:latin typeface="Aptos"/>
                <a:ea typeface="Aptos"/>
                <a:cs typeface="Aptos"/>
              </a:rPr>
              <a:t>KPI a instrumenter</a:t>
            </a:r>
          </a:p>
        </p:txBody>
      </p:sp>
      <p:sp>
        <p:nvSpPr>
          <p:cNvPr id="26" name="">
            <a:extLst xmlns:a="http://schemas.openxmlformats.org/drawingml/2006/main">
              <a:ext uri="{FF2B5EF4-FFF2-40B4-BE49-F238E27FC236}">
                <a16:creationId xmlns:a16="http://schemas.microsoft.com/office/drawing/2014/main" id="{B44A9B41-A77B-4EBC-A6D0-8E3945173AF1}"/>
              </a:ext>
            </a:extLst>
          </p:cNvPr>
          <p:cNvSpPr>
            <a:spLocks xmlns:a="http://schemas.openxmlformats.org/drawingml/2006/main" noGrp="1"/>
          </p:cNvSpPr>
          <p:nvPr/>
        </p:nvSpPr>
        <p:spPr>
          <a:xfrm xmlns:a="http://schemas.openxmlformats.org/drawingml/2006/main">
            <a:off x="6305550" y="3219450"/>
            <a:ext cx="49149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0">
                <a:solidFill>
                  <a:srgbClr val="1A3554"/>
                </a:solidFill>
                <a:latin typeface="Aptos"/>
                <a:ea typeface="Aptos"/>
                <a:cs typeface="Aptos"/>
              </a:defRPr>
            </a:pPr>
            <a:r>
              <a:rPr sz="900" b="0">
                <a:solidFill>
                  <a:srgbClr val="1A3554"/>
                </a:solidFill>
                <a:latin typeface="Aptos"/>
                <a:ea typeface="Aptos"/>
                <a:cs typeface="Aptos"/>
              </a:rPr>
              <a:t>delai moyen de relance, temps de preparation revue clients, evolution des encours en retard</a:t>
            </a:r>
          </a:p>
        </p:txBody>
      </p:sp>
      <p:sp>
        <p:nvSpPr>
          <p:cNvPr id="27" name="">
            <a:extLst xmlns:a="http://schemas.openxmlformats.org/drawingml/2006/main">
              <a:ext uri="{FF2B5EF4-FFF2-40B4-BE49-F238E27FC236}">
                <a16:creationId xmlns:a16="http://schemas.microsoft.com/office/drawing/2014/main" id="{20322147-C777-4D03-AA45-310B9E44793A}"/>
              </a:ext>
            </a:extLst>
          </p:cNvPr>
          <p:cNvSpPr>
            <a:spLocks xmlns:a="http://schemas.openxmlformats.org/drawingml/2006/main" noGrp="1"/>
          </p:cNvSpPr>
          <p:nvPr/>
        </p:nvSpPr>
        <p:spPr>
          <a:xfrm xmlns:a="http://schemas.openxmlformats.org/drawingml/2006/main">
            <a:off x="685800" y="3829050"/>
            <a:ext cx="47625" cy="457200"/>
          </a:xfrm>
          <a:prstGeom xmlns:a="http://schemas.openxmlformats.org/drawingml/2006/main" prst="rect">
            <a:avLst/>
          </a:prstGeom>
          <a:solidFill xmlns:a="http://schemas.openxmlformats.org/drawingml/2006/main">
            <a:srgbClr val="1C8A78"/>
          </a:solidFill>
          <a:ln xmlns:a="http://schemas.openxmlformats.org/drawingml/2006/main" w="0">
            <a:solidFill>
              <a:srgbClr val="000000">
                <a:alpha val="0"/>
              </a:srgbClr>
            </a:solidFill>
            <a:prstDash val="solid"/>
          </a:ln>
        </p:spPr>
      </p:sp>
      <p:sp>
        <p:nvSpPr>
          <p:cNvPr id="28" name="">
            <a:extLst xmlns:a="http://schemas.openxmlformats.org/drawingml/2006/main">
              <a:ext uri="{FF2B5EF4-FFF2-40B4-BE49-F238E27FC236}">
                <a16:creationId xmlns:a16="http://schemas.microsoft.com/office/drawing/2014/main" id="{37E3621D-28B6-41A5-8573-05DC226B50B3}"/>
              </a:ext>
            </a:extLst>
          </p:cNvPr>
          <p:cNvSpPr>
            <a:spLocks xmlns:a="http://schemas.openxmlformats.org/drawingml/2006/main" noGrp="1"/>
          </p:cNvSpPr>
          <p:nvPr/>
        </p:nvSpPr>
        <p:spPr>
          <a:xfrm xmlns:a="http://schemas.openxmlformats.org/drawingml/2006/main">
            <a:off x="876300" y="3733800"/>
            <a:ext cx="238125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1A3554"/>
                </a:solidFill>
                <a:latin typeface="Aptos Display"/>
                <a:ea typeface="Aptos Display"/>
                <a:cs typeface="Aptos Display"/>
              </a:defRPr>
            </a:pPr>
            <a:r>
              <a:rPr sz="1125" b="1">
                <a:solidFill>
                  <a:srgbClr val="1A3554"/>
                </a:solidFill>
                <a:latin typeface="Aptos Display"/>
                <a:ea typeface="Aptos Display"/>
                <a:cs typeface="Aptos Display"/>
              </a:rPr>
              <a:t>Flotte &amp; cartes carburant</a:t>
            </a:r>
          </a:p>
        </p:txBody>
      </p:sp>
      <p:sp>
        <p:nvSpPr>
          <p:cNvPr id="29" name="">
            <a:extLst xmlns:a="http://schemas.openxmlformats.org/drawingml/2006/main">
              <a:ext uri="{FF2B5EF4-FFF2-40B4-BE49-F238E27FC236}">
                <a16:creationId xmlns:a16="http://schemas.microsoft.com/office/drawing/2014/main" id="{F2E9A78B-9B66-4C3B-A6D1-DD074D968D95}"/>
              </a:ext>
            </a:extLst>
          </p:cNvPr>
          <p:cNvSpPr>
            <a:spLocks xmlns:a="http://schemas.openxmlformats.org/drawingml/2006/main" noGrp="1"/>
          </p:cNvSpPr>
          <p:nvPr/>
        </p:nvSpPr>
        <p:spPr>
          <a:xfrm xmlns:a="http://schemas.openxmlformats.org/drawingml/2006/main">
            <a:off x="876300" y="3981450"/>
            <a:ext cx="485775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0">
                <a:solidFill>
                  <a:srgbClr val="617086"/>
                </a:solidFill>
                <a:latin typeface="Aptos"/>
                <a:ea typeface="Aptos"/>
                <a:cs typeface="Aptos"/>
              </a:defRPr>
            </a:pPr>
            <a:r>
              <a:rPr sz="900" b="0">
                <a:solidFill>
                  <a:srgbClr val="617086"/>
                </a:solidFill>
                <a:latin typeface="Aptos"/>
                <a:ea typeface="Aptos"/>
                <a:cs typeface="Aptos"/>
              </a:rPr>
              <a:t>Consolider les consommations, rapprocher les sources et produire des alertes simples sur anomalies ou depassements inhabituels.</a:t>
            </a:r>
          </a:p>
        </p:txBody>
      </p:sp>
      <p:sp>
        <p:nvSpPr>
          <p:cNvPr id="30" name="">
            <a:extLst xmlns:a="http://schemas.openxmlformats.org/drawingml/2006/main">
              <a:ext uri="{FF2B5EF4-FFF2-40B4-BE49-F238E27FC236}">
                <a16:creationId xmlns:a16="http://schemas.microsoft.com/office/drawing/2014/main" id="{7C2D76EF-F91A-45A7-B98E-73AD6F57521E}"/>
              </a:ext>
            </a:extLst>
          </p:cNvPr>
          <p:cNvSpPr>
            <a:spLocks xmlns:a="http://schemas.openxmlformats.org/drawingml/2006/main" noGrp="1"/>
          </p:cNvSpPr>
          <p:nvPr/>
        </p:nvSpPr>
        <p:spPr>
          <a:xfrm xmlns:a="http://schemas.openxmlformats.org/drawingml/2006/main">
            <a:off x="6096000" y="3714750"/>
            <a:ext cx="5334000" cy="666750"/>
          </a:xfrm>
          <a:prstGeom xmlns:a="http://schemas.openxmlformats.org/drawingml/2006/main" prst="rect">
            <a:avLst/>
          </a:prstGeom>
          <a:solidFill xmlns:a="http://schemas.openxmlformats.org/drawingml/2006/main">
            <a:srgbClr val="FBF5EE"/>
          </a:solidFill>
          <a:ln xmlns:a="http://schemas.openxmlformats.org/drawingml/2006/main" w="9525">
            <a:solidFill>
              <a:srgbClr val="D7CEC3"/>
            </a:solidFill>
            <a:prstDash val="solid"/>
          </a:ln>
        </p:spPr>
      </p:sp>
      <p:sp>
        <p:nvSpPr>
          <p:cNvPr id="31" name="">
            <a:extLst xmlns:a="http://schemas.openxmlformats.org/drawingml/2006/main">
              <a:ext uri="{FF2B5EF4-FFF2-40B4-BE49-F238E27FC236}">
                <a16:creationId xmlns:a16="http://schemas.microsoft.com/office/drawing/2014/main" id="{3835C063-AF2B-476F-A475-AEC20CCBADB3}"/>
              </a:ext>
            </a:extLst>
          </p:cNvPr>
          <p:cNvSpPr>
            <a:spLocks xmlns:a="http://schemas.openxmlformats.org/drawingml/2006/main" noGrp="1"/>
          </p:cNvSpPr>
          <p:nvPr/>
        </p:nvSpPr>
        <p:spPr>
          <a:xfrm xmlns:a="http://schemas.openxmlformats.org/drawingml/2006/main">
            <a:off x="6305550" y="3829050"/>
            <a:ext cx="133350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13" b="1">
                <a:solidFill>
                  <a:srgbClr val="E76F1D"/>
                </a:solidFill>
                <a:latin typeface="Aptos"/>
                <a:ea typeface="Aptos"/>
                <a:cs typeface="Aptos"/>
              </a:defRPr>
            </a:pPr>
            <a:r>
              <a:rPr sz="713" b="1">
                <a:solidFill>
                  <a:srgbClr val="E76F1D"/>
                </a:solidFill>
                <a:latin typeface="Aptos"/>
                <a:ea typeface="Aptos"/>
                <a:cs typeface="Aptos"/>
              </a:rPr>
              <a:t>KPI a instrumenter</a:t>
            </a:r>
          </a:p>
        </p:txBody>
      </p:sp>
      <p:sp>
        <p:nvSpPr>
          <p:cNvPr id="32" name="">
            <a:extLst xmlns:a="http://schemas.openxmlformats.org/drawingml/2006/main">
              <a:ext uri="{FF2B5EF4-FFF2-40B4-BE49-F238E27FC236}">
                <a16:creationId xmlns:a16="http://schemas.microsoft.com/office/drawing/2014/main" id="{290F4A84-BA03-490A-9971-1DFEB274BCB2}"/>
              </a:ext>
            </a:extLst>
          </p:cNvPr>
          <p:cNvSpPr>
            <a:spLocks xmlns:a="http://schemas.openxmlformats.org/drawingml/2006/main" noGrp="1"/>
          </p:cNvSpPr>
          <p:nvPr/>
        </p:nvSpPr>
        <p:spPr>
          <a:xfrm xmlns:a="http://schemas.openxmlformats.org/drawingml/2006/main">
            <a:off x="6305550" y="4000500"/>
            <a:ext cx="49149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0">
                <a:solidFill>
                  <a:srgbClr val="1A3554"/>
                </a:solidFill>
                <a:latin typeface="Aptos"/>
                <a:ea typeface="Aptos"/>
                <a:cs typeface="Aptos"/>
              </a:defRPr>
            </a:pPr>
            <a:r>
              <a:rPr sz="900" b="0">
                <a:solidFill>
                  <a:srgbClr val="1A3554"/>
                </a:solidFill>
                <a:latin typeface="Aptos"/>
                <a:ea typeface="Aptos"/>
                <a:cs typeface="Aptos"/>
              </a:rPr>
              <a:t>temps de production du reporting flotte, nombre d'anomalies detectees, variation des couts carburant</a:t>
            </a:r>
          </a:p>
        </p:txBody>
      </p:sp>
      <p:sp>
        <p:nvSpPr>
          <p:cNvPr id="33" name="">
            <a:extLst xmlns:a="http://schemas.openxmlformats.org/drawingml/2006/main">
              <a:ext uri="{FF2B5EF4-FFF2-40B4-BE49-F238E27FC236}">
                <a16:creationId xmlns:a16="http://schemas.microsoft.com/office/drawing/2014/main" id="{138E14AE-B841-46B8-8470-707F13FAD857}"/>
              </a:ext>
            </a:extLst>
          </p:cNvPr>
          <p:cNvSpPr>
            <a:spLocks xmlns:a="http://schemas.openxmlformats.org/drawingml/2006/main" noGrp="1"/>
          </p:cNvSpPr>
          <p:nvPr/>
        </p:nvSpPr>
        <p:spPr>
          <a:xfrm xmlns:a="http://schemas.openxmlformats.org/drawingml/2006/main">
            <a:off x="685800" y="4610100"/>
            <a:ext cx="47625" cy="457200"/>
          </a:xfrm>
          <a:prstGeom xmlns:a="http://schemas.openxmlformats.org/drawingml/2006/main" prst="rect">
            <a:avLst/>
          </a:prstGeom>
          <a:solidFill xmlns:a="http://schemas.openxmlformats.org/drawingml/2006/main">
            <a:srgbClr val="163556"/>
          </a:solidFill>
          <a:ln xmlns:a="http://schemas.openxmlformats.org/drawingml/2006/main" w="0">
            <a:solidFill>
              <a:srgbClr val="000000">
                <a:alpha val="0"/>
              </a:srgbClr>
            </a:solidFill>
            <a:prstDash val="solid"/>
          </a:ln>
        </p:spPr>
      </p:sp>
      <p:sp>
        <p:nvSpPr>
          <p:cNvPr id="34" name="">
            <a:extLst xmlns:a="http://schemas.openxmlformats.org/drawingml/2006/main">
              <a:ext uri="{FF2B5EF4-FFF2-40B4-BE49-F238E27FC236}">
                <a16:creationId xmlns:a16="http://schemas.microsoft.com/office/drawing/2014/main" id="{390E9022-75E3-4AF5-875E-D6FC6329284D}"/>
              </a:ext>
            </a:extLst>
          </p:cNvPr>
          <p:cNvSpPr>
            <a:spLocks xmlns:a="http://schemas.openxmlformats.org/drawingml/2006/main" noGrp="1"/>
          </p:cNvSpPr>
          <p:nvPr/>
        </p:nvSpPr>
        <p:spPr>
          <a:xfrm xmlns:a="http://schemas.openxmlformats.org/drawingml/2006/main">
            <a:off x="876300" y="4514850"/>
            <a:ext cx="238125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1A3554"/>
                </a:solidFill>
                <a:latin typeface="Aptos Display"/>
                <a:ea typeface="Aptos Display"/>
                <a:cs typeface="Aptos Display"/>
              </a:defRPr>
            </a:pPr>
            <a:r>
              <a:rPr sz="1125" b="1">
                <a:solidFill>
                  <a:srgbClr val="1A3554"/>
                </a:solidFill>
                <a:latin typeface="Aptos Display"/>
                <a:ea typeface="Aptos Display"/>
                <a:cs typeface="Aptos Display"/>
              </a:rPr>
              <a:t>Service client &amp; procedures</a:t>
            </a:r>
          </a:p>
        </p:txBody>
      </p:sp>
      <p:sp>
        <p:nvSpPr>
          <p:cNvPr id="35" name="">
            <a:extLst xmlns:a="http://schemas.openxmlformats.org/drawingml/2006/main">
              <a:ext uri="{FF2B5EF4-FFF2-40B4-BE49-F238E27FC236}">
                <a16:creationId xmlns:a16="http://schemas.microsoft.com/office/drawing/2014/main" id="{70C962D5-D14A-4A5E-8250-712A83534295}"/>
              </a:ext>
            </a:extLst>
          </p:cNvPr>
          <p:cNvSpPr>
            <a:spLocks xmlns:a="http://schemas.openxmlformats.org/drawingml/2006/main" noGrp="1"/>
          </p:cNvSpPr>
          <p:nvPr/>
        </p:nvSpPr>
        <p:spPr>
          <a:xfrm xmlns:a="http://schemas.openxmlformats.org/drawingml/2006/main">
            <a:off x="876300" y="4762500"/>
            <a:ext cx="485775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0">
                <a:solidFill>
                  <a:srgbClr val="617086"/>
                </a:solidFill>
                <a:latin typeface="Aptos"/>
                <a:ea typeface="Aptos"/>
                <a:cs typeface="Aptos"/>
              </a:defRPr>
            </a:pPr>
            <a:r>
              <a:rPr sz="900" b="0">
                <a:solidFill>
                  <a:srgbClr val="617086"/>
                </a:solidFill>
                <a:latin typeface="Aptos"/>
                <a:ea typeface="Aptos"/>
                <a:cs typeface="Aptos"/>
              </a:rPr>
              <a:t>Rendre les reponses plus coherentes, accelerer l'acces aux standards et reduire le temps de montee en main des equipes.</a:t>
            </a:r>
          </a:p>
        </p:txBody>
      </p:sp>
      <p:sp>
        <p:nvSpPr>
          <p:cNvPr id="36" name="">
            <a:extLst xmlns:a="http://schemas.openxmlformats.org/drawingml/2006/main">
              <a:ext uri="{FF2B5EF4-FFF2-40B4-BE49-F238E27FC236}">
                <a16:creationId xmlns:a16="http://schemas.microsoft.com/office/drawing/2014/main" id="{B0CFF16A-589D-455C-9B18-42DBB063E8DB}"/>
              </a:ext>
            </a:extLst>
          </p:cNvPr>
          <p:cNvSpPr>
            <a:spLocks xmlns:a="http://schemas.openxmlformats.org/drawingml/2006/main" noGrp="1"/>
          </p:cNvSpPr>
          <p:nvPr/>
        </p:nvSpPr>
        <p:spPr>
          <a:xfrm xmlns:a="http://schemas.openxmlformats.org/drawingml/2006/main">
            <a:off x="6096000" y="4495800"/>
            <a:ext cx="5334000" cy="666750"/>
          </a:xfrm>
          <a:prstGeom xmlns:a="http://schemas.openxmlformats.org/drawingml/2006/main" prst="rect">
            <a:avLst/>
          </a:prstGeom>
          <a:solidFill xmlns:a="http://schemas.openxmlformats.org/drawingml/2006/main">
            <a:srgbClr val="FBF5EE"/>
          </a:solidFill>
          <a:ln xmlns:a="http://schemas.openxmlformats.org/drawingml/2006/main" w="9525">
            <a:solidFill>
              <a:srgbClr val="D7CEC3"/>
            </a:solidFill>
            <a:prstDash val="solid"/>
          </a:ln>
        </p:spPr>
      </p:sp>
      <p:sp>
        <p:nvSpPr>
          <p:cNvPr id="37" name="">
            <a:extLst xmlns:a="http://schemas.openxmlformats.org/drawingml/2006/main">
              <a:ext uri="{FF2B5EF4-FFF2-40B4-BE49-F238E27FC236}">
                <a16:creationId xmlns:a16="http://schemas.microsoft.com/office/drawing/2014/main" id="{F867A36F-89E8-40D6-8EFC-7BE07923C069}"/>
              </a:ext>
            </a:extLst>
          </p:cNvPr>
          <p:cNvSpPr>
            <a:spLocks xmlns:a="http://schemas.openxmlformats.org/drawingml/2006/main" noGrp="1"/>
          </p:cNvSpPr>
          <p:nvPr/>
        </p:nvSpPr>
        <p:spPr>
          <a:xfrm xmlns:a="http://schemas.openxmlformats.org/drawingml/2006/main">
            <a:off x="6305550" y="4610100"/>
            <a:ext cx="133350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13" b="1">
                <a:solidFill>
                  <a:srgbClr val="E76F1D"/>
                </a:solidFill>
                <a:latin typeface="Aptos"/>
                <a:ea typeface="Aptos"/>
                <a:cs typeface="Aptos"/>
              </a:defRPr>
            </a:pPr>
            <a:r>
              <a:rPr sz="713" b="1">
                <a:solidFill>
                  <a:srgbClr val="E76F1D"/>
                </a:solidFill>
                <a:latin typeface="Aptos"/>
                <a:ea typeface="Aptos"/>
                <a:cs typeface="Aptos"/>
              </a:rPr>
              <a:t>KPI a instrumenter</a:t>
            </a:r>
          </a:p>
        </p:txBody>
      </p:sp>
      <p:sp>
        <p:nvSpPr>
          <p:cNvPr id="38" name="">
            <a:extLst xmlns:a="http://schemas.openxmlformats.org/drawingml/2006/main">
              <a:ext uri="{FF2B5EF4-FFF2-40B4-BE49-F238E27FC236}">
                <a16:creationId xmlns:a16="http://schemas.microsoft.com/office/drawing/2014/main" id="{F46745B3-3B15-40BC-AD22-83A2864D91FB}"/>
              </a:ext>
            </a:extLst>
          </p:cNvPr>
          <p:cNvSpPr>
            <a:spLocks xmlns:a="http://schemas.openxmlformats.org/drawingml/2006/main" noGrp="1"/>
          </p:cNvSpPr>
          <p:nvPr/>
        </p:nvSpPr>
        <p:spPr>
          <a:xfrm xmlns:a="http://schemas.openxmlformats.org/drawingml/2006/main">
            <a:off x="6305550" y="4781550"/>
            <a:ext cx="49149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0">
                <a:solidFill>
                  <a:srgbClr val="1A3554"/>
                </a:solidFill>
                <a:latin typeface="Aptos"/>
                <a:ea typeface="Aptos"/>
                <a:cs typeface="Aptos"/>
              </a:defRPr>
            </a:pPr>
            <a:r>
              <a:rPr sz="900" b="0">
                <a:solidFill>
                  <a:srgbClr val="1A3554"/>
                </a:solidFill>
                <a:latin typeface="Aptos"/>
                <a:ea typeface="Aptos"/>
                <a:cs typeface="Aptos"/>
              </a:rPr>
              <a:t>delai de reponse, temps d'onboarding, usage de la base procedure / FAQ interne</a:t>
            </a:r>
          </a:p>
        </p:txBody>
      </p:sp>
      <p:sp>
        <p:nvSpPr>
          <p:cNvPr id="39" name="">
            <a:extLst xmlns:a="http://schemas.openxmlformats.org/drawingml/2006/main">
              <a:ext uri="{FF2B5EF4-FFF2-40B4-BE49-F238E27FC236}">
                <a16:creationId xmlns:a16="http://schemas.microsoft.com/office/drawing/2014/main" id="{A31910CE-6DD5-4F03-9D98-8BFF5D7D4095}"/>
              </a:ext>
            </a:extLst>
          </p:cNvPr>
          <p:cNvSpPr>
            <a:spLocks xmlns:a="http://schemas.openxmlformats.org/drawingml/2006/main" noGrp="1"/>
          </p:cNvSpPr>
          <p:nvPr/>
        </p:nvSpPr>
        <p:spPr>
          <a:xfrm xmlns:a="http://schemas.openxmlformats.org/drawingml/2006/main">
            <a:off x="685800" y="5562600"/>
            <a:ext cx="10820400" cy="514350"/>
          </a:xfrm>
          <a:prstGeom xmlns:a="http://schemas.openxmlformats.org/drawingml/2006/main" prst="rect">
            <a:avLst/>
          </a:prstGeom>
          <a:solidFill xmlns:a="http://schemas.openxmlformats.org/drawingml/2006/main">
            <a:srgbClr val="FBF5EE"/>
          </a:solidFill>
          <a:ln xmlns:a="http://schemas.openxmlformats.org/drawingml/2006/main" w="9525">
            <a:solidFill>
              <a:srgbClr val="D7CEC3"/>
            </a:solidFill>
            <a:prstDash val="solid"/>
          </a:ln>
        </p:spPr>
      </p:sp>
      <p:sp>
        <p:nvSpPr>
          <p:cNvPr id="40" name="">
            <a:extLst xmlns:a="http://schemas.openxmlformats.org/drawingml/2006/main">
              <a:ext uri="{FF2B5EF4-FFF2-40B4-BE49-F238E27FC236}">
                <a16:creationId xmlns:a16="http://schemas.microsoft.com/office/drawing/2014/main" id="{A33DC912-07FD-4732-9F3D-49C34DCB51E3}"/>
              </a:ext>
            </a:extLst>
          </p:cNvPr>
          <p:cNvSpPr>
            <a:spLocks xmlns:a="http://schemas.openxmlformats.org/drawingml/2006/main" noGrp="1"/>
          </p:cNvSpPr>
          <p:nvPr/>
        </p:nvSpPr>
        <p:spPr>
          <a:xfrm xmlns:a="http://schemas.openxmlformats.org/drawingml/2006/main">
            <a:off x="895350" y="5734050"/>
            <a:ext cx="85725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E76F1D"/>
                </a:solidFill>
                <a:latin typeface="Aptos"/>
                <a:ea typeface="Aptos"/>
                <a:cs typeface="Aptos"/>
              </a:defRPr>
            </a:pPr>
            <a:r>
              <a:rPr sz="750" b="1">
                <a:solidFill>
                  <a:srgbClr val="E76F1D"/>
                </a:solidFill>
                <a:latin typeface="Aptos"/>
                <a:ea typeface="Aptos"/>
                <a:cs typeface="Aptos"/>
              </a:rPr>
              <a:t>Important</a:t>
            </a:r>
          </a:p>
        </p:txBody>
      </p:sp>
      <p:sp>
        <p:nvSpPr>
          <p:cNvPr id="41" name="">
            <a:extLst xmlns:a="http://schemas.openxmlformats.org/drawingml/2006/main">
              <a:ext uri="{FF2B5EF4-FFF2-40B4-BE49-F238E27FC236}">
                <a16:creationId xmlns:a16="http://schemas.microsoft.com/office/drawing/2014/main" id="{B1BBC4A3-3A6F-4655-B979-FA4B196294DF}"/>
              </a:ext>
            </a:extLst>
          </p:cNvPr>
          <p:cNvSpPr>
            <a:spLocks xmlns:a="http://schemas.openxmlformats.org/drawingml/2006/main" noGrp="1"/>
          </p:cNvSpPr>
          <p:nvPr/>
        </p:nvSpPr>
        <p:spPr>
          <a:xfrm xmlns:a="http://schemas.openxmlformats.org/drawingml/2006/main">
            <a:off x="1790700" y="5695950"/>
            <a:ext cx="9334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63" b="0">
                <a:solidFill>
                  <a:srgbClr val="1A3554"/>
                </a:solidFill>
                <a:latin typeface="Aptos"/>
                <a:ea typeface="Aptos"/>
                <a:cs typeface="Aptos"/>
              </a:defRPr>
            </a:pPr>
            <a:r>
              <a:rPr sz="863" b="0">
                <a:solidFill>
                  <a:srgbClr val="1A3554"/>
                </a:solidFill>
                <a:latin typeface="Aptos"/>
                <a:ea typeface="Aptos"/>
                <a:cs typeface="Aptos"/>
              </a:rPr>
              <a:t>Les chiffres affiches ci-dessus sont un referentiel ROI TransferAI sur des deploiements comparables. Les gains ELTON CI seront calibres sur vos volumes, vos processus et vos donnees pendant l'audit initial.</a:t>
            </a:r>
          </a:p>
        </p:txBody>
      </p:sp>
      <p:sp>
        <p:nvSpPr>
          <p:cNvPr id="42" name="">
            <a:extLst xmlns:a="http://schemas.openxmlformats.org/drawingml/2006/main">
              <a:ext uri="{FF2B5EF4-FFF2-40B4-BE49-F238E27FC236}">
                <a16:creationId xmlns:a16="http://schemas.microsoft.com/office/drawing/2014/main" id="{A777BBD4-1A34-4162-A3B8-1B04D04D62F1}"/>
              </a:ext>
            </a:extLst>
          </p:cNvPr>
          <p:cNvSpPr>
            <a:spLocks xmlns:a="http://schemas.openxmlformats.org/drawingml/2006/main" noGrp="1"/>
          </p:cNvSpPr>
          <p:nvPr/>
        </p:nvSpPr>
        <p:spPr>
          <a:xfrm xmlns:a="http://schemas.openxmlformats.org/drawingml/2006/main">
            <a:off x="647700" y="6496050"/>
            <a:ext cx="10896600" cy="9525"/>
          </a:xfrm>
          <a:prstGeom xmlns:a="http://schemas.openxmlformats.org/drawingml/2006/main" prst="rect">
            <a:avLst/>
          </a:prstGeom>
          <a:solidFill xmlns:a="http://schemas.openxmlformats.org/drawingml/2006/main">
            <a:srgbClr val="D7CEC3"/>
          </a:solidFill>
          <a:ln xmlns:a="http://schemas.openxmlformats.org/drawingml/2006/main" w="0">
            <a:solidFill>
              <a:srgbClr val="000000">
                <a:alpha val="0"/>
              </a:srgbClr>
            </a:solidFill>
            <a:prstDash val="solid"/>
          </a:ln>
        </p:spPr>
      </p:sp>
      <p:sp>
        <p:nvSpPr>
          <p:cNvPr id="43" name="">
            <a:extLst xmlns:a="http://schemas.openxmlformats.org/drawingml/2006/main">
              <a:ext uri="{FF2B5EF4-FFF2-40B4-BE49-F238E27FC236}">
                <a16:creationId xmlns:a16="http://schemas.microsoft.com/office/drawing/2014/main" id="{6CF57405-399C-43A8-BBC6-F2899AA5552D}"/>
              </a:ext>
            </a:extLst>
          </p:cNvPr>
          <p:cNvSpPr>
            <a:spLocks xmlns:a="http://schemas.openxmlformats.org/drawingml/2006/main" noGrp="1"/>
          </p:cNvSpPr>
          <p:nvPr/>
        </p:nvSpPr>
        <p:spPr>
          <a:xfrm xmlns:a="http://schemas.openxmlformats.org/drawingml/2006/main">
            <a:off x="685800" y="6572250"/>
            <a:ext cx="857250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38" b="0">
                <a:solidFill>
                  <a:srgbClr val="617086"/>
                </a:solidFill>
                <a:latin typeface="Aptos"/>
                <a:ea typeface="Aptos"/>
                <a:cs typeface="Aptos"/>
              </a:defRPr>
            </a:pPr>
            <a:r>
              <a:rPr sz="638" b="0">
                <a:solidFill>
                  <a:srgbClr val="617086"/>
                </a:solidFill>
                <a:latin typeface="Aptos"/>
                <a:ea typeface="Aptos"/>
                <a:cs typeface="Aptos"/>
              </a:rPr>
              <a:t>TransferAI | Hub AI de Nettelecom CI | Proposition ciblee ELTON CI</a:t>
            </a:r>
          </a:p>
        </p:txBody>
      </p:sp>
      <p:sp>
        <p:nvSpPr>
          <p:cNvPr id="44" name="">
            <a:extLst xmlns:a="http://schemas.openxmlformats.org/drawingml/2006/main">
              <a:ext uri="{FF2B5EF4-FFF2-40B4-BE49-F238E27FC236}">
                <a16:creationId xmlns:a16="http://schemas.microsoft.com/office/drawing/2014/main" id="{BFCCC09A-DB35-4A00-AD85-6B20BF82B032}"/>
              </a:ext>
            </a:extLst>
          </p:cNvPr>
          <p:cNvSpPr>
            <a:spLocks xmlns:a="http://schemas.openxmlformats.org/drawingml/2006/main" noGrp="1"/>
          </p:cNvSpPr>
          <p:nvPr/>
        </p:nvSpPr>
        <p:spPr>
          <a:xfrm xmlns:a="http://schemas.openxmlformats.org/drawingml/2006/main">
            <a:off x="11049000" y="6553200"/>
            <a:ext cx="3429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750" b="1">
                <a:solidFill>
                  <a:srgbClr val="1A3554"/>
                </a:solidFill>
                <a:latin typeface="Aptos"/>
                <a:ea typeface="Aptos"/>
                <a:cs typeface="Aptos"/>
              </a:defRPr>
            </a:pPr>
            <a:r>
              <a:rPr sz="750" b="1">
                <a:solidFill>
                  <a:srgbClr val="1A3554"/>
                </a:solidFill>
                <a:latin typeface="Aptos"/>
                <a:ea typeface="Aptos"/>
                <a:cs typeface="Aptos"/>
              </a:rPr>
              <a:t>04</a:t>
            </a:r>
          </a:p>
        </p:txBody>
      </p:sp>
    </p:spTree>
    <p:extLst>
      <p:ext uri="{BB962C8B-B14F-4D97-AF65-F5344CB8AC3E}">
        <p14:creationId xmlns:p14="http://schemas.microsoft.com/office/powerpoint/2010/main" val="846629652"/>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0B63EEC9-7457-4FB6-BF36-67547AAEB0B5}"/>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EFE7"/>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CCF0F1C8-B487-469A-9BB8-D51722AB530C}"/>
              </a:ext>
            </a:extLst>
          </p:cNvPr>
          <p:cNvSpPr>
            <a:spLocks xmlns:a="http://schemas.openxmlformats.org/drawingml/2006/main" noGrp="1"/>
          </p:cNvSpPr>
          <p:nvPr/>
        </p:nvSpPr>
        <p:spPr>
          <a:xfrm xmlns:a="http://schemas.openxmlformats.org/drawingml/2006/main">
            <a:off x="685800" y="49530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88" b="1">
                <a:solidFill>
                  <a:srgbClr val="E76F1D"/>
                </a:solidFill>
                <a:latin typeface="Aptos"/>
                <a:ea typeface="Aptos"/>
                <a:cs typeface="Aptos"/>
              </a:defRPr>
            </a:pPr>
            <a:r>
              <a:rPr sz="788" b="1">
                <a:solidFill>
                  <a:srgbClr val="E76F1D"/>
                </a:solidFill>
                <a:latin typeface="Aptos"/>
                <a:ea typeface="Aptos"/>
                <a:cs typeface="Aptos"/>
              </a:rPr>
              <a:t>CAS D'USAGE PRIORITAIRES</a:t>
            </a:r>
          </a:p>
        </p:txBody>
      </p:sp>
      <p:sp>
        <p:nvSpPr>
          <p:cNvPr id="3" name="">
            <a:extLst xmlns:a="http://schemas.openxmlformats.org/drawingml/2006/main">
              <a:ext uri="{FF2B5EF4-FFF2-40B4-BE49-F238E27FC236}">
                <a16:creationId xmlns:a16="http://schemas.microsoft.com/office/drawing/2014/main" id="{312799E0-C7F4-468C-B122-6959C347B469}"/>
              </a:ext>
            </a:extLst>
          </p:cNvPr>
          <p:cNvSpPr>
            <a:spLocks xmlns:a="http://schemas.openxmlformats.org/drawingml/2006/main" noGrp="1"/>
          </p:cNvSpPr>
          <p:nvPr/>
        </p:nvSpPr>
        <p:spPr>
          <a:xfrm xmlns:a="http://schemas.openxmlformats.org/drawingml/2006/main">
            <a:off x="685800" y="819150"/>
            <a:ext cx="8572500" cy="800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550" b="1">
                <a:solidFill>
                  <a:srgbClr val="1A3554"/>
                </a:solidFill>
                <a:latin typeface="Aptos Display"/>
                <a:ea typeface="Aptos Display"/>
                <a:cs typeface="Aptos Display"/>
              </a:defRPr>
            </a:pPr>
            <a:r>
              <a:rPr sz="2550" b="1">
                <a:solidFill>
                  <a:srgbClr val="1A3554"/>
                </a:solidFill>
                <a:latin typeface="Aptos Display"/>
                <a:ea typeface="Aptos Display"/>
                <a:cs typeface="Aptos Display"/>
              </a:rPr>
              <a:t>Les 4 cas d'usage a mettre au centre de la proposition ELTON CI</a:t>
            </a:r>
          </a:p>
        </p:txBody>
      </p:sp>
      <p:sp>
        <p:nvSpPr>
          <p:cNvPr id="4" name="">
            <a:extLst xmlns:a="http://schemas.openxmlformats.org/drawingml/2006/main">
              <a:ext uri="{FF2B5EF4-FFF2-40B4-BE49-F238E27FC236}">
                <a16:creationId xmlns:a16="http://schemas.microsoft.com/office/drawing/2014/main" id="{815B7607-044F-4646-828D-5072AA415526}"/>
              </a:ext>
            </a:extLst>
          </p:cNvPr>
          <p:cNvSpPr>
            <a:spLocks xmlns:a="http://schemas.openxmlformats.org/drawingml/2006/main" noGrp="1"/>
          </p:cNvSpPr>
          <p:nvPr/>
        </p:nvSpPr>
        <p:spPr>
          <a:xfrm xmlns:a="http://schemas.openxmlformats.org/drawingml/2006/main">
            <a:off x="685800" y="1676400"/>
            <a:ext cx="87630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617086"/>
                </a:solidFill>
                <a:latin typeface="Aptos"/>
                <a:ea typeface="Aptos"/>
                <a:cs typeface="Aptos"/>
              </a:defRPr>
            </a:pPr>
            <a:r>
              <a:rPr sz="1050" b="0">
                <a:solidFill>
                  <a:srgbClr val="617086"/>
                </a:solidFill>
                <a:latin typeface="Aptos"/>
                <a:ea typeface="Aptos"/>
                <a:cs typeface="Aptos"/>
              </a:rPr>
              <a:t>Chaque cas d'usage doit etre presente comme un flux metier visible, avec un avant, un apres et des KPI de validation.</a:t>
            </a:r>
          </a:p>
        </p:txBody>
      </p:sp>
      <p:sp>
        <p:nvSpPr>
          <p:cNvPr id="5" name="">
            <a:extLst xmlns:a="http://schemas.openxmlformats.org/drawingml/2006/main">
              <a:ext uri="{FF2B5EF4-FFF2-40B4-BE49-F238E27FC236}">
                <a16:creationId xmlns:a16="http://schemas.microsoft.com/office/drawing/2014/main" id="{BDCA2870-A4E4-469D-9989-0891818C2619}"/>
              </a:ext>
            </a:extLst>
          </p:cNvPr>
          <p:cNvSpPr>
            <a:spLocks xmlns:a="http://schemas.openxmlformats.org/drawingml/2006/main" noGrp="1"/>
          </p:cNvSpPr>
          <p:nvPr/>
        </p:nvSpPr>
        <p:spPr>
          <a:xfrm xmlns:a="http://schemas.openxmlformats.org/drawingml/2006/main">
            <a:off x="685800" y="2171700"/>
            <a:ext cx="5143500" cy="1638300"/>
          </a:xfrm>
          <a:prstGeom xmlns:a="http://schemas.openxmlformats.org/drawingml/2006/main" prst="rect">
            <a:avLst/>
          </a:prstGeom>
          <a:solidFill xmlns:a="http://schemas.openxmlformats.org/drawingml/2006/main">
            <a:srgbClr val="FFFDFC"/>
          </a:solidFill>
          <a:ln xmlns:a="http://schemas.openxmlformats.org/drawingml/2006/main" w="9525">
            <a:solidFill>
              <a:srgbClr val="D7CEC3"/>
            </a:solidFill>
            <a:prstDash val="solid"/>
          </a:ln>
        </p:spPr>
      </p:sp>
      <p:sp>
        <p:nvSpPr>
          <p:cNvPr id="6" name="">
            <a:extLst xmlns:a="http://schemas.openxmlformats.org/drawingml/2006/main">
              <a:ext uri="{FF2B5EF4-FFF2-40B4-BE49-F238E27FC236}">
                <a16:creationId xmlns:a16="http://schemas.microsoft.com/office/drawing/2014/main" id="{F1CDC37F-5DA8-4F8A-84C4-4A089CB34714}"/>
              </a:ext>
            </a:extLst>
          </p:cNvPr>
          <p:cNvSpPr>
            <a:spLocks xmlns:a="http://schemas.openxmlformats.org/drawingml/2006/main" noGrp="1"/>
          </p:cNvSpPr>
          <p:nvPr/>
        </p:nvSpPr>
        <p:spPr>
          <a:xfrm xmlns:a="http://schemas.openxmlformats.org/drawingml/2006/main">
            <a:off x="857250" y="2343150"/>
            <a:ext cx="419100" cy="419100"/>
          </a:xfrm>
          <a:prstGeom xmlns:a="http://schemas.openxmlformats.org/drawingml/2006/main" prst="ellipse">
            <a:avLst/>
          </a:prstGeom>
          <a:solidFill xmlns:a="http://schemas.openxmlformats.org/drawingml/2006/main">
            <a:srgbClr val="E76F1D"/>
          </a:solidFill>
          <a:ln xmlns:a="http://schemas.openxmlformats.org/drawingml/2006/main" w="0">
            <a:solidFill>
              <a:srgbClr val="E76F1D"/>
            </a:solidFill>
            <a:prstDash val="solid"/>
          </a:ln>
        </p:spPr>
      </p:sp>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9306c965c84f4b93">
            <a:extLst>
              <a:ext uri="{96DAC541-7B7A-43D3-8B79-37D633B846F1}">
                <asvg:svgBlip xmlns:asvg="http://schemas.microsoft.com/office/drawing/2016/SVG/main" r:embed="Ra3f6b12ab6ab4c5d"/>
              </a:ext>
            </a:extLst>
          </a:blip>
          <a:stretch xmlns:a="http://schemas.openxmlformats.org/drawingml/2006/main"/>
        </p:blipFill>
        <p:spPr>
          <a:xfrm xmlns:a="http://schemas.openxmlformats.org/drawingml/2006/main">
            <a:off x="952500" y="2438400"/>
            <a:ext cx="228600" cy="22860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F91EBBD4-732D-4D6D-9C84-956CE1B5A5EB}"/>
              </a:ext>
            </a:extLst>
          </p:cNvPr>
          <p:cNvSpPr>
            <a:spLocks xmlns:a="http://schemas.openxmlformats.org/drawingml/2006/main" noGrp="1"/>
          </p:cNvSpPr>
          <p:nvPr/>
        </p:nvSpPr>
        <p:spPr>
          <a:xfrm xmlns:a="http://schemas.openxmlformats.org/drawingml/2006/main">
            <a:off x="1409700" y="2381250"/>
            <a:ext cx="42291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A3554"/>
                </a:solidFill>
                <a:latin typeface="Aptos Display"/>
                <a:ea typeface="Aptos Display"/>
                <a:cs typeface="Aptos Display"/>
              </a:defRPr>
            </a:pPr>
            <a:r>
              <a:rPr sz="1275" b="1">
                <a:solidFill>
                  <a:srgbClr val="1A3554"/>
                </a:solidFill>
                <a:latin typeface="Aptos Display"/>
                <a:ea typeface="Aptos Display"/>
                <a:cs typeface="Aptos Display"/>
              </a:rPr>
              <a:t>1. Comptes professionnels &amp; recouvrement</a:t>
            </a:r>
          </a:p>
        </p:txBody>
      </p:sp>
      <p:sp>
        <p:nvSpPr>
          <p:cNvPr id="9" name="">
            <a:extLst xmlns:a="http://schemas.openxmlformats.org/drawingml/2006/main">
              <a:ext uri="{FF2B5EF4-FFF2-40B4-BE49-F238E27FC236}">
                <a16:creationId xmlns:a16="http://schemas.microsoft.com/office/drawing/2014/main" id="{8A36E2E3-95B5-4319-9EC5-69B8478E70D7}"/>
              </a:ext>
            </a:extLst>
          </p:cNvPr>
          <p:cNvSpPr>
            <a:spLocks xmlns:a="http://schemas.openxmlformats.org/drawingml/2006/main" noGrp="1"/>
          </p:cNvSpPr>
          <p:nvPr/>
        </p:nvSpPr>
        <p:spPr>
          <a:xfrm xmlns:a="http://schemas.openxmlformats.org/drawingml/2006/main">
            <a:off x="895350" y="2914650"/>
            <a:ext cx="76200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13" b="1">
                <a:solidFill>
                  <a:srgbClr val="E76F1D"/>
                </a:solidFill>
                <a:latin typeface="Aptos"/>
                <a:ea typeface="Aptos"/>
                <a:cs typeface="Aptos"/>
              </a:defRPr>
            </a:pPr>
            <a:r>
              <a:rPr sz="713" b="1">
                <a:solidFill>
                  <a:srgbClr val="E76F1D"/>
                </a:solidFill>
                <a:latin typeface="Aptos"/>
                <a:ea typeface="Aptos"/>
                <a:cs typeface="Aptos"/>
              </a:rPr>
              <a:t>AVANT</a:t>
            </a:r>
          </a:p>
        </p:txBody>
      </p:sp>
      <p:sp>
        <p:nvSpPr>
          <p:cNvPr id="10" name="">
            <a:extLst xmlns:a="http://schemas.openxmlformats.org/drawingml/2006/main">
              <a:ext uri="{FF2B5EF4-FFF2-40B4-BE49-F238E27FC236}">
                <a16:creationId xmlns:a16="http://schemas.microsoft.com/office/drawing/2014/main" id="{34BA2005-3A9F-42DE-AA74-8DAA6BC1A045}"/>
              </a:ext>
            </a:extLst>
          </p:cNvPr>
          <p:cNvSpPr>
            <a:spLocks xmlns:a="http://schemas.openxmlformats.org/drawingml/2006/main" noGrp="1"/>
          </p:cNvSpPr>
          <p:nvPr/>
        </p:nvSpPr>
        <p:spPr>
          <a:xfrm xmlns:a="http://schemas.openxmlformats.org/drawingml/2006/main">
            <a:off x="895350" y="3105150"/>
            <a:ext cx="4724400" cy="590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8" b="0">
                <a:solidFill>
                  <a:srgbClr val="617086"/>
                </a:solidFill>
                <a:latin typeface="Aptos"/>
                <a:ea typeface="Aptos"/>
                <a:cs typeface="Aptos"/>
              </a:defRPr>
            </a:pPr>
            <a:r>
              <a:rPr sz="938" b="0">
                <a:solidFill>
                  <a:srgbClr val="617086"/>
                </a:solidFill>
                <a:latin typeface="Aptos"/>
                <a:ea typeface="Aptos"/>
                <a:cs typeface="Aptos"/>
              </a:rPr>
              <a:t>Relances, revues portefeuille et syntheses commerciales disperses entre plusieurs supports.</a:t>
            </a:r>
          </a:p>
        </p:txBody>
      </p:sp>
      <p:sp>
        <p:nvSpPr>
          <p:cNvPr id="11" name="">
            <a:extLst xmlns:a="http://schemas.openxmlformats.org/drawingml/2006/main">
              <a:ext uri="{FF2B5EF4-FFF2-40B4-BE49-F238E27FC236}">
                <a16:creationId xmlns:a16="http://schemas.microsoft.com/office/drawing/2014/main" id="{90428365-82FA-4FCC-A6FE-9370E45B7BA6}"/>
              </a:ext>
            </a:extLst>
          </p:cNvPr>
          <p:cNvSpPr>
            <a:spLocks xmlns:a="http://schemas.openxmlformats.org/drawingml/2006/main" noGrp="1"/>
          </p:cNvSpPr>
          <p:nvPr/>
        </p:nvSpPr>
        <p:spPr>
          <a:xfrm xmlns:a="http://schemas.openxmlformats.org/drawingml/2006/main">
            <a:off x="895350" y="3790950"/>
            <a:ext cx="76200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13" b="1">
                <a:solidFill>
                  <a:srgbClr val="1C8A78"/>
                </a:solidFill>
                <a:latin typeface="Aptos"/>
                <a:ea typeface="Aptos"/>
                <a:cs typeface="Aptos"/>
              </a:defRPr>
            </a:pPr>
            <a:r>
              <a:rPr sz="713" b="1">
                <a:solidFill>
                  <a:srgbClr val="1C8A78"/>
                </a:solidFill>
                <a:latin typeface="Aptos"/>
                <a:ea typeface="Aptos"/>
                <a:cs typeface="Aptos"/>
              </a:rPr>
              <a:t>APRES</a:t>
            </a:r>
          </a:p>
        </p:txBody>
      </p:sp>
      <p:sp>
        <p:nvSpPr>
          <p:cNvPr id="12" name="">
            <a:extLst xmlns:a="http://schemas.openxmlformats.org/drawingml/2006/main">
              <a:ext uri="{FF2B5EF4-FFF2-40B4-BE49-F238E27FC236}">
                <a16:creationId xmlns:a16="http://schemas.microsoft.com/office/drawing/2014/main" id="{EA27FE42-E06C-4003-B5A6-8F71CD137EB8}"/>
              </a:ext>
            </a:extLst>
          </p:cNvPr>
          <p:cNvSpPr>
            <a:spLocks xmlns:a="http://schemas.openxmlformats.org/drawingml/2006/main" noGrp="1"/>
          </p:cNvSpPr>
          <p:nvPr/>
        </p:nvSpPr>
        <p:spPr>
          <a:xfrm xmlns:a="http://schemas.openxmlformats.org/drawingml/2006/main">
            <a:off x="895350" y="3981450"/>
            <a:ext cx="4724400" cy="-3429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8" b="0">
                <a:solidFill>
                  <a:srgbClr val="1A3554"/>
                </a:solidFill>
                <a:latin typeface="Aptos"/>
                <a:ea typeface="Aptos"/>
                <a:cs typeface="Aptos"/>
              </a:defRPr>
            </a:pPr>
            <a:r>
              <a:rPr sz="938" b="0">
                <a:solidFill>
                  <a:srgbClr val="1A3554"/>
                </a:solidFill>
                <a:latin typeface="Aptos"/>
                <a:ea typeface="Aptos"/>
                <a:cs typeface="Aptos"/>
              </a:rPr>
              <a:t>Assistant de preparation, synthese portefeuille, priorisation des comptes a risque et routines de suivi mieux standardisees.</a:t>
            </a:r>
          </a:p>
        </p:txBody>
      </p:sp>
      <p:sp>
        <p:nvSpPr>
          <p:cNvPr id="13" name="">
            <a:extLst xmlns:a="http://schemas.openxmlformats.org/drawingml/2006/main">
              <a:ext uri="{FF2B5EF4-FFF2-40B4-BE49-F238E27FC236}">
                <a16:creationId xmlns:a16="http://schemas.microsoft.com/office/drawing/2014/main" id="{62B2E7A1-53DF-4604-9911-8FC208E8F926}"/>
              </a:ext>
            </a:extLst>
          </p:cNvPr>
          <p:cNvSpPr>
            <a:spLocks xmlns:a="http://schemas.openxmlformats.org/drawingml/2006/main" noGrp="1"/>
          </p:cNvSpPr>
          <p:nvPr/>
        </p:nvSpPr>
        <p:spPr>
          <a:xfrm xmlns:a="http://schemas.openxmlformats.org/drawingml/2006/main">
            <a:off x="6096000" y="2171700"/>
            <a:ext cx="5410200" cy="1638300"/>
          </a:xfrm>
          <a:prstGeom xmlns:a="http://schemas.openxmlformats.org/drawingml/2006/main" prst="rect">
            <a:avLst/>
          </a:prstGeom>
          <a:solidFill xmlns:a="http://schemas.openxmlformats.org/drawingml/2006/main">
            <a:srgbClr val="FFFDFC"/>
          </a:solidFill>
          <a:ln xmlns:a="http://schemas.openxmlformats.org/drawingml/2006/main" w="9525">
            <a:solidFill>
              <a:srgbClr val="D7CEC3"/>
            </a:solidFill>
            <a:prstDash val="solid"/>
          </a:ln>
        </p:spPr>
      </p:sp>
      <p:sp>
        <p:nvSpPr>
          <p:cNvPr id="14" name="">
            <a:extLst xmlns:a="http://schemas.openxmlformats.org/drawingml/2006/main">
              <a:ext uri="{FF2B5EF4-FFF2-40B4-BE49-F238E27FC236}">
                <a16:creationId xmlns:a16="http://schemas.microsoft.com/office/drawing/2014/main" id="{1E927C90-762D-4574-BE48-76C672C4AB6F}"/>
              </a:ext>
            </a:extLst>
          </p:cNvPr>
          <p:cNvSpPr>
            <a:spLocks xmlns:a="http://schemas.openxmlformats.org/drawingml/2006/main" noGrp="1"/>
          </p:cNvSpPr>
          <p:nvPr/>
        </p:nvSpPr>
        <p:spPr>
          <a:xfrm xmlns:a="http://schemas.openxmlformats.org/drawingml/2006/main">
            <a:off x="6267450" y="2343150"/>
            <a:ext cx="419100" cy="419100"/>
          </a:xfrm>
          <a:prstGeom xmlns:a="http://schemas.openxmlformats.org/drawingml/2006/main" prst="ellipse">
            <a:avLst/>
          </a:prstGeom>
          <a:solidFill xmlns:a="http://schemas.openxmlformats.org/drawingml/2006/main">
            <a:srgbClr val="1C8A78"/>
          </a:solidFill>
          <a:ln xmlns:a="http://schemas.openxmlformats.org/drawingml/2006/main" w="0">
            <a:solidFill>
              <a:srgbClr val="1C8A78"/>
            </a:solidFill>
            <a:prstDash val="solid"/>
          </a:ln>
        </p:spPr>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43e807481bbd4129">
            <a:extLst>
              <a:ext uri="{96DAC541-7B7A-43D3-8B79-37D633B846F1}">
                <asvg:svgBlip xmlns:asvg="http://schemas.microsoft.com/office/drawing/2016/SVG/main" r:embed="Rbbf0730f4df64cca"/>
              </a:ext>
            </a:extLst>
          </a:blip>
          <a:stretch xmlns:a="http://schemas.openxmlformats.org/drawingml/2006/main"/>
        </p:blipFill>
        <p:spPr>
          <a:xfrm xmlns:a="http://schemas.openxmlformats.org/drawingml/2006/main">
            <a:off x="6362700" y="2438400"/>
            <a:ext cx="228600" cy="228600"/>
          </a:xfrm>
          <a:prstGeom xmlns:a="http://schemas.openxmlformats.org/drawingml/2006/main" prst="rect">
            <a:avLst/>
          </a:prstGeom>
        </p:spPr>
      </p:pic>
      <p:sp>
        <p:nvSpPr>
          <p:cNvPr id="16" name="">
            <a:extLst xmlns:a="http://schemas.openxmlformats.org/drawingml/2006/main">
              <a:ext uri="{FF2B5EF4-FFF2-40B4-BE49-F238E27FC236}">
                <a16:creationId xmlns:a16="http://schemas.microsoft.com/office/drawing/2014/main" id="{E15E95B9-ACE2-468D-AE09-1488EC6A03DF}"/>
              </a:ext>
            </a:extLst>
          </p:cNvPr>
          <p:cNvSpPr>
            <a:spLocks xmlns:a="http://schemas.openxmlformats.org/drawingml/2006/main" noGrp="1"/>
          </p:cNvSpPr>
          <p:nvPr/>
        </p:nvSpPr>
        <p:spPr>
          <a:xfrm xmlns:a="http://schemas.openxmlformats.org/drawingml/2006/main">
            <a:off x="6819900" y="2381250"/>
            <a:ext cx="44958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A3554"/>
                </a:solidFill>
                <a:latin typeface="Aptos Display"/>
                <a:ea typeface="Aptos Display"/>
                <a:cs typeface="Aptos Display"/>
              </a:defRPr>
            </a:pPr>
            <a:r>
              <a:rPr sz="1275" b="1">
                <a:solidFill>
                  <a:srgbClr val="1A3554"/>
                </a:solidFill>
                <a:latin typeface="Aptos Display"/>
                <a:ea typeface="Aptos Display"/>
                <a:cs typeface="Aptos Display"/>
              </a:rPr>
              <a:t>2. Flotte, cartes carburant &amp; consommation</a:t>
            </a:r>
          </a:p>
        </p:txBody>
      </p:sp>
      <p:sp>
        <p:nvSpPr>
          <p:cNvPr id="17" name="">
            <a:extLst xmlns:a="http://schemas.openxmlformats.org/drawingml/2006/main">
              <a:ext uri="{FF2B5EF4-FFF2-40B4-BE49-F238E27FC236}">
                <a16:creationId xmlns:a16="http://schemas.microsoft.com/office/drawing/2014/main" id="{7CE5DEBC-EF58-401A-BDBD-722249B4D0E6}"/>
              </a:ext>
            </a:extLst>
          </p:cNvPr>
          <p:cNvSpPr>
            <a:spLocks xmlns:a="http://schemas.openxmlformats.org/drawingml/2006/main" noGrp="1"/>
          </p:cNvSpPr>
          <p:nvPr/>
        </p:nvSpPr>
        <p:spPr>
          <a:xfrm xmlns:a="http://schemas.openxmlformats.org/drawingml/2006/main">
            <a:off x="6305550" y="2914650"/>
            <a:ext cx="76200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13" b="1">
                <a:solidFill>
                  <a:srgbClr val="E76F1D"/>
                </a:solidFill>
                <a:latin typeface="Aptos"/>
                <a:ea typeface="Aptos"/>
                <a:cs typeface="Aptos"/>
              </a:defRPr>
            </a:pPr>
            <a:r>
              <a:rPr sz="713" b="1">
                <a:solidFill>
                  <a:srgbClr val="E76F1D"/>
                </a:solidFill>
                <a:latin typeface="Aptos"/>
                <a:ea typeface="Aptos"/>
                <a:cs typeface="Aptos"/>
              </a:rPr>
              <a:t>AVANT</a:t>
            </a:r>
          </a:p>
        </p:txBody>
      </p:sp>
      <p:sp>
        <p:nvSpPr>
          <p:cNvPr id="18" name="">
            <a:extLst xmlns:a="http://schemas.openxmlformats.org/drawingml/2006/main">
              <a:ext uri="{FF2B5EF4-FFF2-40B4-BE49-F238E27FC236}">
                <a16:creationId xmlns:a16="http://schemas.microsoft.com/office/drawing/2014/main" id="{DA4E0CA1-F43E-4C73-9A9F-E8501C9128CB}"/>
              </a:ext>
            </a:extLst>
          </p:cNvPr>
          <p:cNvSpPr>
            <a:spLocks xmlns:a="http://schemas.openxmlformats.org/drawingml/2006/main" noGrp="1"/>
          </p:cNvSpPr>
          <p:nvPr/>
        </p:nvSpPr>
        <p:spPr>
          <a:xfrm xmlns:a="http://schemas.openxmlformats.org/drawingml/2006/main">
            <a:off x="6305550" y="3105150"/>
            <a:ext cx="4991100" cy="590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8" b="0">
                <a:solidFill>
                  <a:srgbClr val="617086"/>
                </a:solidFill>
                <a:latin typeface="Aptos"/>
                <a:ea typeface="Aptos"/>
                <a:cs typeface="Aptos"/>
              </a:defRPr>
            </a:pPr>
            <a:r>
              <a:rPr sz="938" b="0">
                <a:solidFill>
                  <a:srgbClr val="617086"/>
                </a:solidFill>
                <a:latin typeface="Aptos"/>
                <a:ea typeface="Aptos"/>
                <a:cs typeface="Aptos"/>
              </a:rPr>
              <a:t>Vision fragmentee des consommations, des ecarts et des commentaires d'analyse.</a:t>
            </a:r>
          </a:p>
        </p:txBody>
      </p:sp>
      <p:sp>
        <p:nvSpPr>
          <p:cNvPr id="19" name="">
            <a:extLst xmlns:a="http://schemas.openxmlformats.org/drawingml/2006/main">
              <a:ext uri="{FF2B5EF4-FFF2-40B4-BE49-F238E27FC236}">
                <a16:creationId xmlns:a16="http://schemas.microsoft.com/office/drawing/2014/main" id="{EF0F35A5-DD73-48F3-8E5A-A855A55A3284}"/>
              </a:ext>
            </a:extLst>
          </p:cNvPr>
          <p:cNvSpPr>
            <a:spLocks xmlns:a="http://schemas.openxmlformats.org/drawingml/2006/main" noGrp="1"/>
          </p:cNvSpPr>
          <p:nvPr/>
        </p:nvSpPr>
        <p:spPr>
          <a:xfrm xmlns:a="http://schemas.openxmlformats.org/drawingml/2006/main">
            <a:off x="6305550" y="3790950"/>
            <a:ext cx="76200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13" b="1">
                <a:solidFill>
                  <a:srgbClr val="1C8A78"/>
                </a:solidFill>
                <a:latin typeface="Aptos"/>
                <a:ea typeface="Aptos"/>
                <a:cs typeface="Aptos"/>
              </a:defRPr>
            </a:pPr>
            <a:r>
              <a:rPr sz="713" b="1">
                <a:solidFill>
                  <a:srgbClr val="1C8A78"/>
                </a:solidFill>
                <a:latin typeface="Aptos"/>
                <a:ea typeface="Aptos"/>
                <a:cs typeface="Aptos"/>
              </a:rPr>
              <a:t>APRES</a:t>
            </a:r>
          </a:p>
        </p:txBody>
      </p:sp>
      <p:sp>
        <p:nvSpPr>
          <p:cNvPr id="20" name="">
            <a:extLst xmlns:a="http://schemas.openxmlformats.org/drawingml/2006/main">
              <a:ext uri="{FF2B5EF4-FFF2-40B4-BE49-F238E27FC236}">
                <a16:creationId xmlns:a16="http://schemas.microsoft.com/office/drawing/2014/main" id="{D71B8293-A235-4474-984C-87369230B068}"/>
              </a:ext>
            </a:extLst>
          </p:cNvPr>
          <p:cNvSpPr>
            <a:spLocks xmlns:a="http://schemas.openxmlformats.org/drawingml/2006/main" noGrp="1"/>
          </p:cNvSpPr>
          <p:nvPr/>
        </p:nvSpPr>
        <p:spPr>
          <a:xfrm xmlns:a="http://schemas.openxmlformats.org/drawingml/2006/main">
            <a:off x="6305550" y="3981450"/>
            <a:ext cx="4991100" cy="-3429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8" b="0">
                <a:solidFill>
                  <a:srgbClr val="1A3554"/>
                </a:solidFill>
                <a:latin typeface="Aptos"/>
                <a:ea typeface="Aptos"/>
                <a:cs typeface="Aptos"/>
              </a:defRPr>
            </a:pPr>
            <a:r>
              <a:rPr sz="938" b="0">
                <a:solidFill>
                  <a:srgbClr val="1A3554"/>
                </a:solidFill>
                <a:latin typeface="Aptos"/>
                <a:ea typeface="Aptos"/>
                <a:cs typeface="Aptos"/>
              </a:rPr>
              <a:t>Tableau de bord consolide, alertes simples sur anomalies et meilleure lecture des couts par vehicule, site ou periode.</a:t>
            </a:r>
          </a:p>
        </p:txBody>
      </p:sp>
      <p:sp>
        <p:nvSpPr>
          <p:cNvPr id="21" name="">
            <a:extLst xmlns:a="http://schemas.openxmlformats.org/drawingml/2006/main">
              <a:ext uri="{FF2B5EF4-FFF2-40B4-BE49-F238E27FC236}">
                <a16:creationId xmlns:a16="http://schemas.microsoft.com/office/drawing/2014/main" id="{B15B54E6-14A3-4188-80F1-4E1F59544F8C}"/>
              </a:ext>
            </a:extLst>
          </p:cNvPr>
          <p:cNvSpPr>
            <a:spLocks xmlns:a="http://schemas.openxmlformats.org/drawingml/2006/main" noGrp="1"/>
          </p:cNvSpPr>
          <p:nvPr/>
        </p:nvSpPr>
        <p:spPr>
          <a:xfrm xmlns:a="http://schemas.openxmlformats.org/drawingml/2006/main">
            <a:off x="685800" y="4038600"/>
            <a:ext cx="5143500" cy="1638300"/>
          </a:xfrm>
          <a:prstGeom xmlns:a="http://schemas.openxmlformats.org/drawingml/2006/main" prst="rect">
            <a:avLst/>
          </a:prstGeom>
          <a:solidFill xmlns:a="http://schemas.openxmlformats.org/drawingml/2006/main">
            <a:srgbClr val="FFFDFC"/>
          </a:solidFill>
          <a:ln xmlns:a="http://schemas.openxmlformats.org/drawingml/2006/main" w="9525">
            <a:solidFill>
              <a:srgbClr val="D7CEC3"/>
            </a:solidFill>
            <a:prstDash val="solid"/>
          </a:ln>
        </p:spPr>
      </p:sp>
      <p:sp>
        <p:nvSpPr>
          <p:cNvPr id="22" name="">
            <a:extLst xmlns:a="http://schemas.openxmlformats.org/drawingml/2006/main">
              <a:ext uri="{FF2B5EF4-FFF2-40B4-BE49-F238E27FC236}">
                <a16:creationId xmlns:a16="http://schemas.microsoft.com/office/drawing/2014/main" id="{18F82C5A-B79D-4413-843F-1499B9CA3DCA}"/>
              </a:ext>
            </a:extLst>
          </p:cNvPr>
          <p:cNvSpPr>
            <a:spLocks xmlns:a="http://schemas.openxmlformats.org/drawingml/2006/main" noGrp="1"/>
          </p:cNvSpPr>
          <p:nvPr/>
        </p:nvSpPr>
        <p:spPr>
          <a:xfrm xmlns:a="http://schemas.openxmlformats.org/drawingml/2006/main">
            <a:off x="857250" y="4210050"/>
            <a:ext cx="419100" cy="419100"/>
          </a:xfrm>
          <a:prstGeom xmlns:a="http://schemas.openxmlformats.org/drawingml/2006/main" prst="ellipse">
            <a:avLst/>
          </a:prstGeom>
          <a:solidFill xmlns:a="http://schemas.openxmlformats.org/drawingml/2006/main">
            <a:srgbClr val="163556"/>
          </a:solidFill>
          <a:ln xmlns:a="http://schemas.openxmlformats.org/drawingml/2006/main" w="0">
            <a:solidFill>
              <a:srgbClr val="163556"/>
            </a:solidFill>
            <a:prstDash val="solid"/>
          </a:ln>
        </p:spPr>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af166f53db02416f">
            <a:extLst>
              <a:ext uri="{96DAC541-7B7A-43D3-8B79-37D633B846F1}">
                <asvg:svgBlip xmlns:asvg="http://schemas.microsoft.com/office/drawing/2016/SVG/main" r:embed="R1889e1a45fda4bcd"/>
              </a:ext>
            </a:extLst>
          </a:blip>
          <a:stretch xmlns:a="http://schemas.openxmlformats.org/drawingml/2006/main"/>
        </p:blipFill>
        <p:spPr>
          <a:xfrm xmlns:a="http://schemas.openxmlformats.org/drawingml/2006/main">
            <a:off x="952500" y="4305300"/>
            <a:ext cx="228600" cy="228600"/>
          </a:xfrm>
          <a:prstGeom xmlns:a="http://schemas.openxmlformats.org/drawingml/2006/main" prst="rect">
            <a:avLst/>
          </a:prstGeom>
        </p:spPr>
      </p:pic>
      <p:sp>
        <p:nvSpPr>
          <p:cNvPr id="24" name="">
            <a:extLst xmlns:a="http://schemas.openxmlformats.org/drawingml/2006/main">
              <a:ext uri="{FF2B5EF4-FFF2-40B4-BE49-F238E27FC236}">
                <a16:creationId xmlns:a16="http://schemas.microsoft.com/office/drawing/2014/main" id="{6F36E500-455F-4AA0-ACD0-FC0F1B939011}"/>
              </a:ext>
            </a:extLst>
          </p:cNvPr>
          <p:cNvSpPr>
            <a:spLocks xmlns:a="http://schemas.openxmlformats.org/drawingml/2006/main" noGrp="1"/>
          </p:cNvSpPr>
          <p:nvPr/>
        </p:nvSpPr>
        <p:spPr>
          <a:xfrm xmlns:a="http://schemas.openxmlformats.org/drawingml/2006/main">
            <a:off x="1409700" y="4248150"/>
            <a:ext cx="42291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A3554"/>
                </a:solidFill>
                <a:latin typeface="Aptos Display"/>
                <a:ea typeface="Aptos Display"/>
                <a:cs typeface="Aptos Display"/>
              </a:defRPr>
            </a:pPr>
            <a:r>
              <a:rPr sz="1275" b="1">
                <a:solidFill>
                  <a:srgbClr val="1A3554"/>
                </a:solidFill>
                <a:latin typeface="Aptos Display"/>
                <a:ea typeface="Aptos Display"/>
                <a:cs typeface="Aptos Display"/>
              </a:rPr>
              <a:t>3. Service client / service auto</a:t>
            </a:r>
          </a:p>
        </p:txBody>
      </p:sp>
      <p:sp>
        <p:nvSpPr>
          <p:cNvPr id="25" name="">
            <a:extLst xmlns:a="http://schemas.openxmlformats.org/drawingml/2006/main">
              <a:ext uri="{FF2B5EF4-FFF2-40B4-BE49-F238E27FC236}">
                <a16:creationId xmlns:a16="http://schemas.microsoft.com/office/drawing/2014/main" id="{BCEECA87-C58B-4B31-9A9C-661A34826B17}"/>
              </a:ext>
            </a:extLst>
          </p:cNvPr>
          <p:cNvSpPr>
            <a:spLocks xmlns:a="http://schemas.openxmlformats.org/drawingml/2006/main" noGrp="1"/>
          </p:cNvSpPr>
          <p:nvPr/>
        </p:nvSpPr>
        <p:spPr>
          <a:xfrm xmlns:a="http://schemas.openxmlformats.org/drawingml/2006/main">
            <a:off x="895350" y="4781550"/>
            <a:ext cx="76200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13" b="1">
                <a:solidFill>
                  <a:srgbClr val="E76F1D"/>
                </a:solidFill>
                <a:latin typeface="Aptos"/>
                <a:ea typeface="Aptos"/>
                <a:cs typeface="Aptos"/>
              </a:defRPr>
            </a:pPr>
            <a:r>
              <a:rPr sz="713" b="1">
                <a:solidFill>
                  <a:srgbClr val="E76F1D"/>
                </a:solidFill>
                <a:latin typeface="Aptos"/>
                <a:ea typeface="Aptos"/>
                <a:cs typeface="Aptos"/>
              </a:rPr>
              <a:t>AVANT</a:t>
            </a:r>
          </a:p>
        </p:txBody>
      </p:sp>
      <p:sp>
        <p:nvSpPr>
          <p:cNvPr id="26" name="">
            <a:extLst xmlns:a="http://schemas.openxmlformats.org/drawingml/2006/main">
              <a:ext uri="{FF2B5EF4-FFF2-40B4-BE49-F238E27FC236}">
                <a16:creationId xmlns:a16="http://schemas.microsoft.com/office/drawing/2014/main" id="{4EF72D3D-0C28-4DF2-91D1-3E95FCD25291}"/>
              </a:ext>
            </a:extLst>
          </p:cNvPr>
          <p:cNvSpPr>
            <a:spLocks xmlns:a="http://schemas.openxmlformats.org/drawingml/2006/main" noGrp="1"/>
          </p:cNvSpPr>
          <p:nvPr/>
        </p:nvSpPr>
        <p:spPr>
          <a:xfrm xmlns:a="http://schemas.openxmlformats.org/drawingml/2006/main">
            <a:off x="895350" y="4972050"/>
            <a:ext cx="4724400" cy="590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8" b="0">
                <a:solidFill>
                  <a:srgbClr val="617086"/>
                </a:solidFill>
                <a:latin typeface="Aptos"/>
                <a:ea typeface="Aptos"/>
                <a:cs typeface="Aptos"/>
              </a:defRPr>
            </a:pPr>
            <a:r>
              <a:rPr sz="938" b="0">
                <a:solidFill>
                  <a:srgbClr val="617086"/>
                </a:solidFill>
                <a:latin typeface="Aptos"/>
                <a:ea typeface="Aptos"/>
                <a:cs typeface="Aptos"/>
              </a:rPr>
              <a:t>Demandes recurrentes, scripts variables et historique pas toujours exploitable pour mieux servir.</a:t>
            </a:r>
          </a:p>
        </p:txBody>
      </p:sp>
      <p:sp>
        <p:nvSpPr>
          <p:cNvPr id="27" name="">
            <a:extLst xmlns:a="http://schemas.openxmlformats.org/drawingml/2006/main">
              <a:ext uri="{FF2B5EF4-FFF2-40B4-BE49-F238E27FC236}">
                <a16:creationId xmlns:a16="http://schemas.microsoft.com/office/drawing/2014/main" id="{DD2F09F2-6743-4FDF-92A6-40D8A8380557}"/>
              </a:ext>
            </a:extLst>
          </p:cNvPr>
          <p:cNvSpPr>
            <a:spLocks xmlns:a="http://schemas.openxmlformats.org/drawingml/2006/main" noGrp="1"/>
          </p:cNvSpPr>
          <p:nvPr/>
        </p:nvSpPr>
        <p:spPr>
          <a:xfrm xmlns:a="http://schemas.openxmlformats.org/drawingml/2006/main">
            <a:off x="895350" y="5657850"/>
            <a:ext cx="76200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13" b="1">
                <a:solidFill>
                  <a:srgbClr val="1C8A78"/>
                </a:solidFill>
                <a:latin typeface="Aptos"/>
                <a:ea typeface="Aptos"/>
                <a:cs typeface="Aptos"/>
              </a:defRPr>
            </a:pPr>
            <a:r>
              <a:rPr sz="713" b="1">
                <a:solidFill>
                  <a:srgbClr val="1C8A78"/>
                </a:solidFill>
                <a:latin typeface="Aptos"/>
                <a:ea typeface="Aptos"/>
                <a:cs typeface="Aptos"/>
              </a:rPr>
              <a:t>APRES</a:t>
            </a:r>
          </a:p>
        </p:txBody>
      </p:sp>
      <p:sp>
        <p:nvSpPr>
          <p:cNvPr id="28" name="">
            <a:extLst xmlns:a="http://schemas.openxmlformats.org/drawingml/2006/main">
              <a:ext uri="{FF2B5EF4-FFF2-40B4-BE49-F238E27FC236}">
                <a16:creationId xmlns:a16="http://schemas.microsoft.com/office/drawing/2014/main" id="{BB3D7D00-D505-4CAB-BB7D-F6149DB7195F}"/>
              </a:ext>
            </a:extLst>
          </p:cNvPr>
          <p:cNvSpPr>
            <a:spLocks xmlns:a="http://schemas.openxmlformats.org/drawingml/2006/main" noGrp="1"/>
          </p:cNvSpPr>
          <p:nvPr/>
        </p:nvSpPr>
        <p:spPr>
          <a:xfrm xmlns:a="http://schemas.openxmlformats.org/drawingml/2006/main">
            <a:off x="895350" y="5848350"/>
            <a:ext cx="4724400" cy="-3429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8" b="0">
                <a:solidFill>
                  <a:srgbClr val="1A3554"/>
                </a:solidFill>
                <a:latin typeface="Aptos"/>
                <a:ea typeface="Aptos"/>
                <a:cs typeface="Aptos"/>
              </a:defRPr>
            </a:pPr>
            <a:r>
              <a:rPr sz="938" b="0">
                <a:solidFill>
                  <a:srgbClr val="1A3554"/>
                </a:solidFill>
                <a:latin typeface="Aptos"/>
                <a:ea typeface="Aptos"/>
                <a:cs typeface="Aptos"/>
              </a:rPr>
              <a:t>FAQ assistee, canevas de reponse, suivi plus continu et meilleur niveau de reactivite operationnelle.</a:t>
            </a:r>
          </a:p>
        </p:txBody>
      </p:sp>
      <p:sp>
        <p:nvSpPr>
          <p:cNvPr id="29" name="">
            <a:extLst xmlns:a="http://schemas.openxmlformats.org/drawingml/2006/main">
              <a:ext uri="{FF2B5EF4-FFF2-40B4-BE49-F238E27FC236}">
                <a16:creationId xmlns:a16="http://schemas.microsoft.com/office/drawing/2014/main" id="{639DAE9D-4EE7-4983-8687-0F63DB9C973D}"/>
              </a:ext>
            </a:extLst>
          </p:cNvPr>
          <p:cNvSpPr>
            <a:spLocks xmlns:a="http://schemas.openxmlformats.org/drawingml/2006/main" noGrp="1"/>
          </p:cNvSpPr>
          <p:nvPr/>
        </p:nvSpPr>
        <p:spPr>
          <a:xfrm xmlns:a="http://schemas.openxmlformats.org/drawingml/2006/main">
            <a:off x="6096000" y="4038600"/>
            <a:ext cx="5410200" cy="1638300"/>
          </a:xfrm>
          <a:prstGeom xmlns:a="http://schemas.openxmlformats.org/drawingml/2006/main" prst="rect">
            <a:avLst/>
          </a:prstGeom>
          <a:solidFill xmlns:a="http://schemas.openxmlformats.org/drawingml/2006/main">
            <a:srgbClr val="FFFDFC"/>
          </a:solidFill>
          <a:ln xmlns:a="http://schemas.openxmlformats.org/drawingml/2006/main" w="9525">
            <a:solidFill>
              <a:srgbClr val="D7CEC3"/>
            </a:solidFill>
            <a:prstDash val="solid"/>
          </a:ln>
        </p:spPr>
      </p:sp>
      <p:sp>
        <p:nvSpPr>
          <p:cNvPr id="30" name="">
            <a:extLst xmlns:a="http://schemas.openxmlformats.org/drawingml/2006/main">
              <a:ext uri="{FF2B5EF4-FFF2-40B4-BE49-F238E27FC236}">
                <a16:creationId xmlns:a16="http://schemas.microsoft.com/office/drawing/2014/main" id="{97412767-3ED9-42D7-B5E0-766C4D475ED9}"/>
              </a:ext>
            </a:extLst>
          </p:cNvPr>
          <p:cNvSpPr>
            <a:spLocks xmlns:a="http://schemas.openxmlformats.org/drawingml/2006/main" noGrp="1"/>
          </p:cNvSpPr>
          <p:nvPr/>
        </p:nvSpPr>
        <p:spPr>
          <a:xfrm xmlns:a="http://schemas.openxmlformats.org/drawingml/2006/main">
            <a:off x="6267450" y="4210050"/>
            <a:ext cx="419100" cy="419100"/>
          </a:xfrm>
          <a:prstGeom xmlns:a="http://schemas.openxmlformats.org/drawingml/2006/main" prst="ellipse">
            <a:avLst/>
          </a:prstGeom>
          <a:solidFill xmlns:a="http://schemas.openxmlformats.org/drawingml/2006/main">
            <a:srgbClr val="C88C3A"/>
          </a:solidFill>
          <a:ln xmlns:a="http://schemas.openxmlformats.org/drawingml/2006/main" w="0">
            <a:solidFill>
              <a:srgbClr val="C88C3A"/>
            </a:solidFill>
            <a:prstDash val="solid"/>
          </a:ln>
        </p:spPr>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646eea77407e487c">
            <a:extLst>
              <a:ext uri="{96DAC541-7B7A-43D3-8B79-37D633B846F1}">
                <asvg:svgBlip xmlns:asvg="http://schemas.microsoft.com/office/drawing/2016/SVG/main" r:embed="R63733c1f674944c1"/>
              </a:ext>
            </a:extLst>
          </a:blip>
          <a:stretch xmlns:a="http://schemas.openxmlformats.org/drawingml/2006/main"/>
        </p:blipFill>
        <p:spPr>
          <a:xfrm xmlns:a="http://schemas.openxmlformats.org/drawingml/2006/main">
            <a:off x="6362700" y="4305300"/>
            <a:ext cx="228600" cy="228600"/>
          </a:xfrm>
          <a:prstGeom xmlns:a="http://schemas.openxmlformats.org/drawingml/2006/main" prst="rect">
            <a:avLst/>
          </a:prstGeom>
        </p:spPr>
      </p:pic>
      <p:sp>
        <p:nvSpPr>
          <p:cNvPr id="32" name="">
            <a:extLst xmlns:a="http://schemas.openxmlformats.org/drawingml/2006/main">
              <a:ext uri="{FF2B5EF4-FFF2-40B4-BE49-F238E27FC236}">
                <a16:creationId xmlns:a16="http://schemas.microsoft.com/office/drawing/2014/main" id="{985C6587-9094-4A76-A520-5E4904B7920A}"/>
              </a:ext>
            </a:extLst>
          </p:cNvPr>
          <p:cNvSpPr>
            <a:spLocks xmlns:a="http://schemas.openxmlformats.org/drawingml/2006/main" noGrp="1"/>
          </p:cNvSpPr>
          <p:nvPr/>
        </p:nvSpPr>
        <p:spPr>
          <a:xfrm xmlns:a="http://schemas.openxmlformats.org/drawingml/2006/main">
            <a:off x="6819900" y="4248150"/>
            <a:ext cx="44958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A3554"/>
                </a:solidFill>
                <a:latin typeface="Aptos Display"/>
                <a:ea typeface="Aptos Display"/>
                <a:cs typeface="Aptos Display"/>
              </a:defRPr>
            </a:pPr>
            <a:r>
              <a:rPr sz="1275" b="1">
                <a:solidFill>
                  <a:srgbClr val="1A3554"/>
                </a:solidFill>
                <a:latin typeface="Aptos Display"/>
                <a:ea typeface="Aptos Display"/>
                <a:cs typeface="Aptos Display"/>
              </a:rPr>
              <a:t>4. Procedures internes &amp; knowledge base</a:t>
            </a:r>
          </a:p>
        </p:txBody>
      </p:sp>
      <p:sp>
        <p:nvSpPr>
          <p:cNvPr id="33" name="">
            <a:extLst xmlns:a="http://schemas.openxmlformats.org/drawingml/2006/main">
              <a:ext uri="{FF2B5EF4-FFF2-40B4-BE49-F238E27FC236}">
                <a16:creationId xmlns:a16="http://schemas.microsoft.com/office/drawing/2014/main" id="{12DD097B-1C11-4B8A-A5FC-1AB6A69B6DEE}"/>
              </a:ext>
            </a:extLst>
          </p:cNvPr>
          <p:cNvSpPr>
            <a:spLocks xmlns:a="http://schemas.openxmlformats.org/drawingml/2006/main" noGrp="1"/>
          </p:cNvSpPr>
          <p:nvPr/>
        </p:nvSpPr>
        <p:spPr>
          <a:xfrm xmlns:a="http://schemas.openxmlformats.org/drawingml/2006/main">
            <a:off x="6305550" y="4781550"/>
            <a:ext cx="76200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13" b="1">
                <a:solidFill>
                  <a:srgbClr val="E76F1D"/>
                </a:solidFill>
                <a:latin typeface="Aptos"/>
                <a:ea typeface="Aptos"/>
                <a:cs typeface="Aptos"/>
              </a:defRPr>
            </a:pPr>
            <a:r>
              <a:rPr sz="713" b="1">
                <a:solidFill>
                  <a:srgbClr val="E76F1D"/>
                </a:solidFill>
                <a:latin typeface="Aptos"/>
                <a:ea typeface="Aptos"/>
                <a:cs typeface="Aptos"/>
              </a:rPr>
              <a:t>AVANT</a:t>
            </a:r>
          </a:p>
        </p:txBody>
      </p:sp>
      <p:sp>
        <p:nvSpPr>
          <p:cNvPr id="34" name="">
            <a:extLst xmlns:a="http://schemas.openxmlformats.org/drawingml/2006/main">
              <a:ext uri="{FF2B5EF4-FFF2-40B4-BE49-F238E27FC236}">
                <a16:creationId xmlns:a16="http://schemas.microsoft.com/office/drawing/2014/main" id="{A5DBC142-CEE6-409C-BAF9-F52A10B5E168}"/>
              </a:ext>
            </a:extLst>
          </p:cNvPr>
          <p:cNvSpPr>
            <a:spLocks xmlns:a="http://schemas.openxmlformats.org/drawingml/2006/main" noGrp="1"/>
          </p:cNvSpPr>
          <p:nvPr/>
        </p:nvSpPr>
        <p:spPr>
          <a:xfrm xmlns:a="http://schemas.openxmlformats.org/drawingml/2006/main">
            <a:off x="6305550" y="4972050"/>
            <a:ext cx="4991100" cy="590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8" b="0">
                <a:solidFill>
                  <a:srgbClr val="617086"/>
                </a:solidFill>
                <a:latin typeface="Aptos"/>
                <a:ea typeface="Aptos"/>
                <a:cs typeface="Aptos"/>
              </a:defRPr>
            </a:pPr>
            <a:r>
              <a:rPr sz="938" b="0">
                <a:solidFill>
                  <a:srgbClr val="617086"/>
                </a:solidFill>
                <a:latin typeface="Aptos"/>
                <a:ea typeface="Aptos"/>
                <a:cs typeface="Aptos"/>
              </a:rPr>
              <a:t>Procedures, standards et bonnes reponses eparpilles, donc difficilement reutilisables a grande echelle.</a:t>
            </a:r>
          </a:p>
        </p:txBody>
      </p:sp>
      <p:sp>
        <p:nvSpPr>
          <p:cNvPr id="35" name="">
            <a:extLst xmlns:a="http://schemas.openxmlformats.org/drawingml/2006/main">
              <a:ext uri="{FF2B5EF4-FFF2-40B4-BE49-F238E27FC236}">
                <a16:creationId xmlns:a16="http://schemas.microsoft.com/office/drawing/2014/main" id="{A35E976E-6DDF-46FB-8339-B76259461A1E}"/>
              </a:ext>
            </a:extLst>
          </p:cNvPr>
          <p:cNvSpPr>
            <a:spLocks xmlns:a="http://schemas.openxmlformats.org/drawingml/2006/main" noGrp="1"/>
          </p:cNvSpPr>
          <p:nvPr/>
        </p:nvSpPr>
        <p:spPr>
          <a:xfrm xmlns:a="http://schemas.openxmlformats.org/drawingml/2006/main">
            <a:off x="6305550" y="5657850"/>
            <a:ext cx="76200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13" b="1">
                <a:solidFill>
                  <a:srgbClr val="1C8A78"/>
                </a:solidFill>
                <a:latin typeface="Aptos"/>
                <a:ea typeface="Aptos"/>
                <a:cs typeface="Aptos"/>
              </a:defRPr>
            </a:pPr>
            <a:r>
              <a:rPr sz="713" b="1">
                <a:solidFill>
                  <a:srgbClr val="1C8A78"/>
                </a:solidFill>
                <a:latin typeface="Aptos"/>
                <a:ea typeface="Aptos"/>
                <a:cs typeface="Aptos"/>
              </a:rPr>
              <a:t>APRES</a:t>
            </a:r>
          </a:p>
        </p:txBody>
      </p:sp>
      <p:sp>
        <p:nvSpPr>
          <p:cNvPr id="36" name="">
            <a:extLst xmlns:a="http://schemas.openxmlformats.org/drawingml/2006/main">
              <a:ext uri="{FF2B5EF4-FFF2-40B4-BE49-F238E27FC236}">
                <a16:creationId xmlns:a16="http://schemas.microsoft.com/office/drawing/2014/main" id="{213DD0DD-F0CE-4D89-8EA3-13FA65833338}"/>
              </a:ext>
            </a:extLst>
          </p:cNvPr>
          <p:cNvSpPr>
            <a:spLocks xmlns:a="http://schemas.openxmlformats.org/drawingml/2006/main" noGrp="1"/>
          </p:cNvSpPr>
          <p:nvPr/>
        </p:nvSpPr>
        <p:spPr>
          <a:xfrm xmlns:a="http://schemas.openxmlformats.org/drawingml/2006/main">
            <a:off x="6305550" y="5848350"/>
            <a:ext cx="4991100" cy="-3429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8" b="0">
                <a:solidFill>
                  <a:srgbClr val="1A3554"/>
                </a:solidFill>
                <a:latin typeface="Aptos"/>
                <a:ea typeface="Aptos"/>
                <a:cs typeface="Aptos"/>
              </a:defRPr>
            </a:pPr>
            <a:r>
              <a:rPr sz="938" b="0">
                <a:solidFill>
                  <a:srgbClr val="1A3554"/>
                </a:solidFill>
                <a:latin typeface="Aptos"/>
                <a:ea typeface="Aptos"/>
                <a:cs typeface="Aptos"/>
              </a:rPr>
              <a:t>Base interne plus accessible, execution plus homogene et reduction du temps de recherche pour les equipes.</a:t>
            </a:r>
          </a:p>
        </p:txBody>
      </p:sp>
      <p:sp>
        <p:nvSpPr>
          <p:cNvPr id="37" name="">
            <a:extLst xmlns:a="http://schemas.openxmlformats.org/drawingml/2006/main">
              <a:ext uri="{FF2B5EF4-FFF2-40B4-BE49-F238E27FC236}">
                <a16:creationId xmlns:a16="http://schemas.microsoft.com/office/drawing/2014/main" id="{B8413734-A781-49BB-9E1E-0204CFC5DF71}"/>
              </a:ext>
            </a:extLst>
          </p:cNvPr>
          <p:cNvSpPr>
            <a:spLocks xmlns:a="http://schemas.openxmlformats.org/drawingml/2006/main" noGrp="1"/>
          </p:cNvSpPr>
          <p:nvPr/>
        </p:nvSpPr>
        <p:spPr>
          <a:xfrm xmlns:a="http://schemas.openxmlformats.org/drawingml/2006/main">
            <a:off x="647700" y="6496050"/>
            <a:ext cx="10896600" cy="9525"/>
          </a:xfrm>
          <a:prstGeom xmlns:a="http://schemas.openxmlformats.org/drawingml/2006/main" prst="rect">
            <a:avLst/>
          </a:prstGeom>
          <a:solidFill xmlns:a="http://schemas.openxmlformats.org/drawingml/2006/main">
            <a:srgbClr val="D7CEC3"/>
          </a:solidFill>
          <a:ln xmlns:a="http://schemas.openxmlformats.org/drawingml/2006/main" w="0">
            <a:solidFill>
              <a:srgbClr val="000000">
                <a:alpha val="0"/>
              </a:srgbClr>
            </a:solidFill>
            <a:prstDash val="solid"/>
          </a:ln>
        </p:spPr>
      </p:sp>
      <p:sp>
        <p:nvSpPr>
          <p:cNvPr id="38" name="">
            <a:extLst xmlns:a="http://schemas.openxmlformats.org/drawingml/2006/main">
              <a:ext uri="{FF2B5EF4-FFF2-40B4-BE49-F238E27FC236}">
                <a16:creationId xmlns:a16="http://schemas.microsoft.com/office/drawing/2014/main" id="{6636AF6E-C36B-425E-9C74-7CD06366DAE7}"/>
              </a:ext>
            </a:extLst>
          </p:cNvPr>
          <p:cNvSpPr>
            <a:spLocks xmlns:a="http://schemas.openxmlformats.org/drawingml/2006/main" noGrp="1"/>
          </p:cNvSpPr>
          <p:nvPr/>
        </p:nvSpPr>
        <p:spPr>
          <a:xfrm xmlns:a="http://schemas.openxmlformats.org/drawingml/2006/main">
            <a:off x="685800" y="6572250"/>
            <a:ext cx="857250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38" b="0">
                <a:solidFill>
                  <a:srgbClr val="617086"/>
                </a:solidFill>
                <a:latin typeface="Aptos"/>
                <a:ea typeface="Aptos"/>
                <a:cs typeface="Aptos"/>
              </a:defRPr>
            </a:pPr>
            <a:r>
              <a:rPr sz="638" b="0">
                <a:solidFill>
                  <a:srgbClr val="617086"/>
                </a:solidFill>
                <a:latin typeface="Aptos"/>
                <a:ea typeface="Aptos"/>
                <a:cs typeface="Aptos"/>
              </a:rPr>
              <a:t>TransferAI | Hub AI de Nettelecom CI | Proposition ciblee ELTON CI</a:t>
            </a:r>
          </a:p>
        </p:txBody>
      </p:sp>
      <p:sp>
        <p:nvSpPr>
          <p:cNvPr id="39" name="">
            <a:extLst xmlns:a="http://schemas.openxmlformats.org/drawingml/2006/main">
              <a:ext uri="{FF2B5EF4-FFF2-40B4-BE49-F238E27FC236}">
                <a16:creationId xmlns:a16="http://schemas.microsoft.com/office/drawing/2014/main" id="{B16E9E34-C478-48A0-9D09-429CC5EDC23E}"/>
              </a:ext>
            </a:extLst>
          </p:cNvPr>
          <p:cNvSpPr>
            <a:spLocks xmlns:a="http://schemas.openxmlformats.org/drawingml/2006/main" noGrp="1"/>
          </p:cNvSpPr>
          <p:nvPr/>
        </p:nvSpPr>
        <p:spPr>
          <a:xfrm xmlns:a="http://schemas.openxmlformats.org/drawingml/2006/main">
            <a:off x="11049000" y="6553200"/>
            <a:ext cx="3429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750" b="1">
                <a:solidFill>
                  <a:srgbClr val="1A3554"/>
                </a:solidFill>
                <a:latin typeface="Aptos"/>
                <a:ea typeface="Aptos"/>
                <a:cs typeface="Aptos"/>
              </a:defRPr>
            </a:pPr>
            <a:r>
              <a:rPr sz="750" b="1">
                <a:solidFill>
                  <a:srgbClr val="1A3554"/>
                </a:solidFill>
                <a:latin typeface="Aptos"/>
                <a:ea typeface="Aptos"/>
                <a:cs typeface="Aptos"/>
              </a:rPr>
              <a:t>05</a:t>
            </a:r>
          </a:p>
        </p:txBody>
      </p:sp>
    </p:spTree>
    <p:extLst>
      <p:ext uri="{BB962C8B-B14F-4D97-AF65-F5344CB8AC3E}">
        <p14:creationId xmlns:p14="http://schemas.microsoft.com/office/powerpoint/2010/main" val="2125904473"/>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97C08BB3-9604-4F6C-986E-EEECE09D4F6E}"/>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EFE7"/>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6225F7CC-AEC6-47C2-8EC6-6E386133D850}"/>
              </a:ext>
            </a:extLst>
          </p:cNvPr>
          <p:cNvSpPr>
            <a:spLocks xmlns:a="http://schemas.openxmlformats.org/drawingml/2006/main" noGrp="1"/>
          </p:cNvSpPr>
          <p:nvPr/>
        </p:nvSpPr>
        <p:spPr>
          <a:xfrm xmlns:a="http://schemas.openxmlformats.org/drawingml/2006/main">
            <a:off x="685800" y="49530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88" b="1">
                <a:solidFill>
                  <a:srgbClr val="E76F1D"/>
                </a:solidFill>
                <a:latin typeface="Aptos"/>
                <a:ea typeface="Aptos"/>
                <a:cs typeface="Aptos"/>
              </a:defRPr>
            </a:pPr>
            <a:r>
              <a:rPr sz="788" b="1">
                <a:solidFill>
                  <a:srgbClr val="E76F1D"/>
                </a:solidFill>
                <a:latin typeface="Aptos"/>
                <a:ea typeface="Aptos"/>
                <a:cs typeface="Aptos"/>
              </a:rPr>
              <a:t>DETAIL CAS D'USAGE</a:t>
            </a:r>
          </a:p>
        </p:txBody>
      </p:sp>
      <p:sp>
        <p:nvSpPr>
          <p:cNvPr id="3" name="">
            <a:extLst xmlns:a="http://schemas.openxmlformats.org/drawingml/2006/main">
              <a:ext uri="{FF2B5EF4-FFF2-40B4-BE49-F238E27FC236}">
                <a16:creationId xmlns:a16="http://schemas.microsoft.com/office/drawing/2014/main" id="{76DD9CD0-94BB-40D8-AC5A-35C8405D2F4E}"/>
              </a:ext>
            </a:extLst>
          </p:cNvPr>
          <p:cNvSpPr>
            <a:spLocks xmlns:a="http://schemas.openxmlformats.org/drawingml/2006/main" noGrp="1"/>
          </p:cNvSpPr>
          <p:nvPr/>
        </p:nvSpPr>
        <p:spPr>
          <a:xfrm xmlns:a="http://schemas.openxmlformats.org/drawingml/2006/main">
            <a:off x="685800" y="819150"/>
            <a:ext cx="8001000" cy="800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550" b="1">
                <a:solidFill>
                  <a:srgbClr val="1A3554"/>
                </a:solidFill>
                <a:latin typeface="Aptos Display"/>
                <a:ea typeface="Aptos Display"/>
                <a:cs typeface="Aptos Display"/>
              </a:defRPr>
            </a:pPr>
            <a:r>
              <a:rPr sz="2550" b="1">
                <a:solidFill>
                  <a:srgbClr val="1A3554"/>
                </a:solidFill>
                <a:latin typeface="Aptos Display"/>
                <a:ea typeface="Aptos Display"/>
                <a:cs typeface="Aptos Display"/>
              </a:rPr>
              <a:t>Les deux premiers terrains a lancer rapidement</a:t>
            </a:r>
          </a:p>
        </p:txBody>
      </p:sp>
      <p:sp>
        <p:nvSpPr>
          <p:cNvPr id="4" name="">
            <a:extLst xmlns:a="http://schemas.openxmlformats.org/drawingml/2006/main">
              <a:ext uri="{FF2B5EF4-FFF2-40B4-BE49-F238E27FC236}">
                <a16:creationId xmlns:a16="http://schemas.microsoft.com/office/drawing/2014/main" id="{26C64578-3272-453E-967A-7C4085986E4C}"/>
              </a:ext>
            </a:extLst>
          </p:cNvPr>
          <p:cNvSpPr>
            <a:spLocks xmlns:a="http://schemas.openxmlformats.org/drawingml/2006/main" noGrp="1"/>
          </p:cNvSpPr>
          <p:nvPr/>
        </p:nvSpPr>
        <p:spPr>
          <a:xfrm xmlns:a="http://schemas.openxmlformats.org/drawingml/2006/main">
            <a:off x="685800" y="1676400"/>
            <a:ext cx="87630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617086"/>
                </a:solidFill>
                <a:latin typeface="Aptos"/>
                <a:ea typeface="Aptos"/>
                <a:cs typeface="Aptos"/>
              </a:defRPr>
            </a:pPr>
            <a:r>
              <a:rPr sz="1050" b="0">
                <a:solidFill>
                  <a:srgbClr val="617086"/>
                </a:solidFill>
                <a:latin typeface="Aptos"/>
                <a:ea typeface="Aptos"/>
                <a:cs typeface="Aptos"/>
              </a:rPr>
              <a:t>Nous recommandons de demarrer par deux flux ou la valeur est plus facile a rendre visible pour la direction: comptes professionnels et flotte / cartes carburant.</a:t>
            </a:r>
          </a:p>
        </p:txBody>
      </p:sp>
      <p:sp>
        <p:nvSpPr>
          <p:cNvPr id="5" name="">
            <a:extLst xmlns:a="http://schemas.openxmlformats.org/drawingml/2006/main">
              <a:ext uri="{FF2B5EF4-FFF2-40B4-BE49-F238E27FC236}">
                <a16:creationId xmlns:a16="http://schemas.microsoft.com/office/drawing/2014/main" id="{F0C13B89-4518-4141-8E31-E180C51737DC}"/>
              </a:ext>
            </a:extLst>
          </p:cNvPr>
          <p:cNvSpPr>
            <a:spLocks xmlns:a="http://schemas.openxmlformats.org/drawingml/2006/main" noGrp="1"/>
          </p:cNvSpPr>
          <p:nvPr/>
        </p:nvSpPr>
        <p:spPr>
          <a:xfrm xmlns:a="http://schemas.openxmlformats.org/drawingml/2006/main">
            <a:off x="685800" y="2171700"/>
            <a:ext cx="5143500" cy="3105150"/>
          </a:xfrm>
          <a:prstGeom xmlns:a="http://schemas.openxmlformats.org/drawingml/2006/main" prst="rect">
            <a:avLst/>
          </a:prstGeom>
          <a:solidFill xmlns:a="http://schemas.openxmlformats.org/drawingml/2006/main">
            <a:srgbClr val="FFFDFC"/>
          </a:solidFill>
          <a:ln xmlns:a="http://schemas.openxmlformats.org/drawingml/2006/main" w="9525">
            <a:solidFill>
              <a:srgbClr val="D7CEC3"/>
            </a:solidFill>
            <a:prstDash val="solid"/>
          </a:ln>
        </p:spPr>
      </p:sp>
      <p:sp>
        <p:nvSpPr>
          <p:cNvPr id="6" name="">
            <a:extLst xmlns:a="http://schemas.openxmlformats.org/drawingml/2006/main">
              <a:ext uri="{FF2B5EF4-FFF2-40B4-BE49-F238E27FC236}">
                <a16:creationId xmlns:a16="http://schemas.microsoft.com/office/drawing/2014/main" id="{B2768DAC-4627-45B3-980E-D06049423A2A}"/>
              </a:ext>
            </a:extLst>
          </p:cNvPr>
          <p:cNvSpPr>
            <a:spLocks xmlns:a="http://schemas.openxmlformats.org/drawingml/2006/main" noGrp="1"/>
          </p:cNvSpPr>
          <p:nvPr/>
        </p:nvSpPr>
        <p:spPr>
          <a:xfrm xmlns:a="http://schemas.openxmlformats.org/drawingml/2006/main">
            <a:off x="895350" y="2362200"/>
            <a:ext cx="419100" cy="419100"/>
          </a:xfrm>
          <a:prstGeom xmlns:a="http://schemas.openxmlformats.org/drawingml/2006/main" prst="ellipse">
            <a:avLst/>
          </a:prstGeom>
          <a:solidFill xmlns:a="http://schemas.openxmlformats.org/drawingml/2006/main">
            <a:srgbClr val="E76F1D"/>
          </a:solidFill>
          <a:ln xmlns:a="http://schemas.openxmlformats.org/drawingml/2006/main" w="0">
            <a:solidFill>
              <a:srgbClr val="E76F1D"/>
            </a:solidFill>
            <a:prstDash val="solid"/>
          </a:ln>
        </p:spPr>
      </p:sp>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bbb4702bbabd4ffe">
            <a:extLst>
              <a:ext uri="{96DAC541-7B7A-43D3-8B79-37D633B846F1}">
                <asvg:svgBlip xmlns:asvg="http://schemas.microsoft.com/office/drawing/2016/SVG/main" r:embed="R43d3b764659c4c70"/>
              </a:ext>
            </a:extLst>
          </a:blip>
          <a:stretch xmlns:a="http://schemas.openxmlformats.org/drawingml/2006/main"/>
        </p:blipFill>
        <p:spPr>
          <a:xfrm xmlns:a="http://schemas.openxmlformats.org/drawingml/2006/main">
            <a:off x="990600" y="2457450"/>
            <a:ext cx="228600" cy="22860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D19279E3-B45F-426C-A0E9-403FCE8ED819}"/>
              </a:ext>
            </a:extLst>
          </p:cNvPr>
          <p:cNvSpPr>
            <a:spLocks xmlns:a="http://schemas.openxmlformats.org/drawingml/2006/main" noGrp="1"/>
          </p:cNvSpPr>
          <p:nvPr/>
        </p:nvSpPr>
        <p:spPr>
          <a:xfrm xmlns:a="http://schemas.openxmlformats.org/drawingml/2006/main">
            <a:off x="1428750" y="2362200"/>
            <a:ext cx="39052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650" b="1">
                <a:solidFill>
                  <a:srgbClr val="1A3554"/>
                </a:solidFill>
                <a:latin typeface="Aptos Display"/>
                <a:ea typeface="Aptos Display"/>
                <a:cs typeface="Aptos Display"/>
              </a:defRPr>
            </a:pPr>
            <a:r>
              <a:rPr sz="1650" b="1">
                <a:solidFill>
                  <a:srgbClr val="1A3554"/>
                </a:solidFill>
                <a:latin typeface="Aptos Display"/>
                <a:ea typeface="Aptos Display"/>
                <a:cs typeface="Aptos Display"/>
              </a:rPr>
              <a:t>Comptes professionnels &amp; recouvrement</a:t>
            </a:r>
          </a:p>
        </p:txBody>
      </p:sp>
      <p:sp>
        <p:nvSpPr>
          <p:cNvPr id="9" name="">
            <a:extLst xmlns:a="http://schemas.openxmlformats.org/drawingml/2006/main">
              <a:ext uri="{FF2B5EF4-FFF2-40B4-BE49-F238E27FC236}">
                <a16:creationId xmlns:a16="http://schemas.microsoft.com/office/drawing/2014/main" id="{FEE2EBA3-02F9-4A53-A323-5BDAA689D8E4}"/>
              </a:ext>
            </a:extLst>
          </p:cNvPr>
          <p:cNvSpPr>
            <a:spLocks xmlns:a="http://schemas.openxmlformats.org/drawingml/2006/main" noGrp="1"/>
          </p:cNvSpPr>
          <p:nvPr/>
        </p:nvSpPr>
        <p:spPr>
          <a:xfrm xmlns:a="http://schemas.openxmlformats.org/drawingml/2006/main">
            <a:off x="895350" y="2857500"/>
            <a:ext cx="66675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E76F1D"/>
                </a:solidFill>
                <a:latin typeface="Aptos"/>
                <a:ea typeface="Aptos"/>
                <a:cs typeface="Aptos"/>
              </a:defRPr>
            </a:pPr>
            <a:r>
              <a:rPr sz="750" b="1">
                <a:solidFill>
                  <a:srgbClr val="E76F1D"/>
                </a:solidFill>
                <a:latin typeface="Aptos"/>
                <a:ea typeface="Aptos"/>
                <a:cs typeface="Aptos"/>
              </a:rPr>
              <a:t>AVANT</a:t>
            </a:r>
          </a:p>
        </p:txBody>
      </p:sp>
      <p:sp>
        <p:nvSpPr>
          <p:cNvPr id="10" name="">
            <a:extLst xmlns:a="http://schemas.openxmlformats.org/drawingml/2006/main">
              <a:ext uri="{FF2B5EF4-FFF2-40B4-BE49-F238E27FC236}">
                <a16:creationId xmlns:a16="http://schemas.microsoft.com/office/drawing/2014/main" id="{8A5B4553-850A-45BF-AFEE-5956195100CE}"/>
              </a:ext>
            </a:extLst>
          </p:cNvPr>
          <p:cNvSpPr>
            <a:spLocks xmlns:a="http://schemas.openxmlformats.org/drawingml/2006/main" noGrp="1"/>
          </p:cNvSpPr>
          <p:nvPr/>
        </p:nvSpPr>
        <p:spPr>
          <a:xfrm xmlns:a="http://schemas.openxmlformats.org/drawingml/2006/main">
            <a:off x="895350" y="3086100"/>
            <a:ext cx="4476750" cy="704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8" b="0">
                <a:solidFill>
                  <a:srgbClr val="617086"/>
                </a:solidFill>
                <a:latin typeface="Aptos"/>
                <a:ea typeface="Aptos"/>
                <a:cs typeface="Aptos"/>
              </a:defRPr>
            </a:pPr>
            <a:r>
              <a:rPr sz="938" b="0">
                <a:solidFill>
                  <a:srgbClr val="617086"/>
                </a:solidFill>
                <a:latin typeface="Aptos"/>
                <a:ea typeface="Aptos"/>
                <a:cs typeface="Aptos"/>
              </a:rPr>
              <a:t>• relances preparees a la main</a:t>
            </a:r>
          </a:p>
          <a:p xmlns:a="http://schemas.openxmlformats.org/drawingml/2006/main">
            <a:pPr algn="l">
              <a:defRPr sz="938" b="0">
                <a:solidFill>
                  <a:srgbClr val="617086"/>
                </a:solidFill>
                <a:latin typeface="Aptos"/>
                <a:ea typeface="Aptos"/>
                <a:cs typeface="Aptos"/>
              </a:defRPr>
            </a:pPr>
            <a:r>
              <a:rPr sz="938" b="0">
                <a:solidFill>
                  <a:srgbClr val="617086"/>
                </a:solidFill>
                <a:latin typeface="Aptos"/>
                <a:ea typeface="Aptos"/>
                <a:cs typeface="Aptos"/>
              </a:rPr>
              <a:t>• revues portefeuille longues a consolider</a:t>
            </a:r>
          </a:p>
          <a:p xmlns:a="http://schemas.openxmlformats.org/drawingml/2006/main">
            <a:pPr algn="l">
              <a:defRPr sz="938" b="0">
                <a:solidFill>
                  <a:srgbClr val="617086"/>
                </a:solidFill>
                <a:latin typeface="Aptos"/>
                <a:ea typeface="Aptos"/>
                <a:cs typeface="Aptos"/>
              </a:defRPr>
            </a:pPr>
            <a:r>
              <a:rPr sz="938" b="0">
                <a:solidFill>
                  <a:srgbClr val="617086"/>
                </a:solidFill>
                <a:latin typeface="Aptos"/>
                <a:ea typeface="Aptos"/>
                <a:cs typeface="Aptos"/>
              </a:rPr>
              <a:t>• informations dispersees entre mails, fichiers et historique commercial</a:t>
            </a:r>
          </a:p>
        </p:txBody>
      </p:sp>
      <p:sp>
        <p:nvSpPr>
          <p:cNvPr id="11" name="">
            <a:extLst xmlns:a="http://schemas.openxmlformats.org/drawingml/2006/main">
              <a:ext uri="{FF2B5EF4-FFF2-40B4-BE49-F238E27FC236}">
                <a16:creationId xmlns:a16="http://schemas.microsoft.com/office/drawing/2014/main" id="{93B52F13-D608-4AA9-BA77-1EA8FE7FA917}"/>
              </a:ext>
            </a:extLst>
          </p:cNvPr>
          <p:cNvSpPr>
            <a:spLocks xmlns:a="http://schemas.openxmlformats.org/drawingml/2006/main" noGrp="1"/>
          </p:cNvSpPr>
          <p:nvPr/>
        </p:nvSpPr>
        <p:spPr>
          <a:xfrm xmlns:a="http://schemas.openxmlformats.org/drawingml/2006/main">
            <a:off x="895350" y="3981450"/>
            <a:ext cx="66675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1C8A78"/>
                </a:solidFill>
                <a:latin typeface="Aptos"/>
                <a:ea typeface="Aptos"/>
                <a:cs typeface="Aptos"/>
              </a:defRPr>
            </a:pPr>
            <a:r>
              <a:rPr sz="750" b="1">
                <a:solidFill>
                  <a:srgbClr val="1C8A78"/>
                </a:solidFill>
                <a:latin typeface="Aptos"/>
                <a:ea typeface="Aptos"/>
                <a:cs typeface="Aptos"/>
              </a:rPr>
              <a:t>APRES</a:t>
            </a:r>
          </a:p>
        </p:txBody>
      </p:sp>
      <p:sp>
        <p:nvSpPr>
          <p:cNvPr id="12" name="">
            <a:extLst xmlns:a="http://schemas.openxmlformats.org/drawingml/2006/main">
              <a:ext uri="{FF2B5EF4-FFF2-40B4-BE49-F238E27FC236}">
                <a16:creationId xmlns:a16="http://schemas.microsoft.com/office/drawing/2014/main" id="{6D8581ED-2824-41BD-8560-F24565A783AC}"/>
              </a:ext>
            </a:extLst>
          </p:cNvPr>
          <p:cNvSpPr>
            <a:spLocks xmlns:a="http://schemas.openxmlformats.org/drawingml/2006/main" noGrp="1"/>
          </p:cNvSpPr>
          <p:nvPr/>
        </p:nvSpPr>
        <p:spPr>
          <a:xfrm xmlns:a="http://schemas.openxmlformats.org/drawingml/2006/main">
            <a:off x="895350" y="4210050"/>
            <a:ext cx="4476750" cy="704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8" b="0">
                <a:solidFill>
                  <a:srgbClr val="1A3554"/>
                </a:solidFill>
                <a:latin typeface="Aptos"/>
                <a:ea typeface="Aptos"/>
                <a:cs typeface="Aptos"/>
              </a:defRPr>
            </a:pPr>
            <a:r>
              <a:rPr sz="938" b="0">
                <a:solidFill>
                  <a:srgbClr val="1A3554"/>
                </a:solidFill>
                <a:latin typeface="Aptos"/>
                <a:ea typeface="Aptos"/>
                <a:cs typeface="Aptos"/>
              </a:rPr>
              <a:t>• canevas de relance et brouillons assistes</a:t>
            </a:r>
          </a:p>
          <a:p xmlns:a="http://schemas.openxmlformats.org/drawingml/2006/main">
            <a:pPr algn="l">
              <a:defRPr sz="938" b="0">
                <a:solidFill>
                  <a:srgbClr val="1A3554"/>
                </a:solidFill>
                <a:latin typeface="Aptos"/>
                <a:ea typeface="Aptos"/>
                <a:cs typeface="Aptos"/>
              </a:defRPr>
            </a:pPr>
            <a:r>
              <a:rPr sz="938" b="0">
                <a:solidFill>
                  <a:srgbClr val="1A3554"/>
                </a:solidFill>
                <a:latin typeface="Aptos"/>
                <a:ea typeface="Aptos"/>
                <a:cs typeface="Aptos"/>
              </a:rPr>
              <a:t>• synthese portefeuille pre-preparee pour les revues</a:t>
            </a:r>
          </a:p>
          <a:p xmlns:a="http://schemas.openxmlformats.org/drawingml/2006/main">
            <a:pPr algn="l">
              <a:defRPr sz="938" b="0">
                <a:solidFill>
                  <a:srgbClr val="1A3554"/>
                </a:solidFill>
                <a:latin typeface="Aptos"/>
                <a:ea typeface="Aptos"/>
                <a:cs typeface="Aptos"/>
              </a:defRPr>
            </a:pPr>
            <a:r>
              <a:rPr sz="938" b="0">
                <a:solidFill>
                  <a:srgbClr val="1A3554"/>
                </a:solidFill>
                <a:latin typeface="Aptos"/>
                <a:ea typeface="Aptos"/>
                <a:cs typeface="Aptos"/>
              </a:rPr>
              <a:t>• signalement des comptes sensibles ou des echeances critiques</a:t>
            </a:r>
          </a:p>
        </p:txBody>
      </p:sp>
      <p:sp>
        <p:nvSpPr>
          <p:cNvPr id="13" name="">
            <a:extLst xmlns:a="http://schemas.openxmlformats.org/drawingml/2006/main">
              <a:ext uri="{FF2B5EF4-FFF2-40B4-BE49-F238E27FC236}">
                <a16:creationId xmlns:a16="http://schemas.microsoft.com/office/drawing/2014/main" id="{981785BE-F908-4719-8F16-FB2D15E36A4D}"/>
              </a:ext>
            </a:extLst>
          </p:cNvPr>
          <p:cNvSpPr>
            <a:spLocks xmlns:a="http://schemas.openxmlformats.org/drawingml/2006/main" noGrp="1"/>
          </p:cNvSpPr>
          <p:nvPr/>
        </p:nvSpPr>
        <p:spPr>
          <a:xfrm xmlns:a="http://schemas.openxmlformats.org/drawingml/2006/main">
            <a:off x="895350" y="4972050"/>
            <a:ext cx="4667250" cy="381000"/>
          </a:xfrm>
          <a:prstGeom xmlns:a="http://schemas.openxmlformats.org/drawingml/2006/main" prst="rect">
            <a:avLst/>
          </a:prstGeom>
          <a:solidFill xmlns:a="http://schemas.openxmlformats.org/drawingml/2006/main">
            <a:srgbClr val="FBF5EE"/>
          </a:solidFill>
          <a:ln xmlns:a="http://schemas.openxmlformats.org/drawingml/2006/main" w="9525">
            <a:solidFill>
              <a:srgbClr val="D7CEC3"/>
            </a:solidFill>
            <a:prstDash val="solid"/>
          </a:ln>
        </p:spPr>
      </p:sp>
      <p:sp>
        <p:nvSpPr>
          <p:cNvPr id="14" name="">
            <a:extLst xmlns:a="http://schemas.openxmlformats.org/drawingml/2006/main">
              <a:ext uri="{FF2B5EF4-FFF2-40B4-BE49-F238E27FC236}">
                <a16:creationId xmlns:a16="http://schemas.microsoft.com/office/drawing/2014/main" id="{A7F182DE-9753-424E-AD18-F9EBDC9313DF}"/>
              </a:ext>
            </a:extLst>
          </p:cNvPr>
          <p:cNvSpPr>
            <a:spLocks xmlns:a="http://schemas.openxmlformats.org/drawingml/2006/main" noGrp="1"/>
          </p:cNvSpPr>
          <p:nvPr/>
        </p:nvSpPr>
        <p:spPr>
          <a:xfrm xmlns:a="http://schemas.openxmlformats.org/drawingml/2006/main">
            <a:off x="1047750" y="5086350"/>
            <a:ext cx="434340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63" b="1">
                <a:solidFill>
                  <a:srgbClr val="1A3554"/>
                </a:solidFill>
                <a:latin typeface="Aptos"/>
                <a:ea typeface="Aptos"/>
                <a:cs typeface="Aptos"/>
              </a:defRPr>
            </a:pPr>
            <a:r>
              <a:rPr sz="863" b="1">
                <a:solidFill>
                  <a:srgbClr val="1A3554"/>
                </a:solidFill>
                <a:latin typeface="Aptos"/>
                <a:ea typeface="Aptos"/>
                <a:cs typeface="Aptos"/>
              </a:rPr>
              <a:t>KPI: delai de relance | temps preparation revue | visibilite encours en retard</a:t>
            </a:r>
          </a:p>
        </p:txBody>
      </p:sp>
      <p:sp>
        <p:nvSpPr>
          <p:cNvPr id="15" name="">
            <a:extLst xmlns:a="http://schemas.openxmlformats.org/drawingml/2006/main">
              <a:ext uri="{FF2B5EF4-FFF2-40B4-BE49-F238E27FC236}">
                <a16:creationId xmlns:a16="http://schemas.microsoft.com/office/drawing/2014/main" id="{02CF39B0-96E3-41AF-AC22-9593AEDE05EA}"/>
              </a:ext>
            </a:extLst>
          </p:cNvPr>
          <p:cNvSpPr>
            <a:spLocks xmlns:a="http://schemas.openxmlformats.org/drawingml/2006/main" noGrp="1"/>
          </p:cNvSpPr>
          <p:nvPr/>
        </p:nvSpPr>
        <p:spPr>
          <a:xfrm xmlns:a="http://schemas.openxmlformats.org/drawingml/2006/main">
            <a:off x="6096000" y="2171700"/>
            <a:ext cx="5410200" cy="3105150"/>
          </a:xfrm>
          <a:prstGeom xmlns:a="http://schemas.openxmlformats.org/drawingml/2006/main" prst="rect">
            <a:avLst/>
          </a:prstGeom>
          <a:solidFill xmlns:a="http://schemas.openxmlformats.org/drawingml/2006/main">
            <a:srgbClr val="FFFDFC"/>
          </a:solidFill>
          <a:ln xmlns:a="http://schemas.openxmlformats.org/drawingml/2006/main" w="9525">
            <a:solidFill>
              <a:srgbClr val="D7CEC3"/>
            </a:solidFill>
            <a:prstDash val="solid"/>
          </a:ln>
        </p:spPr>
      </p:sp>
      <p:sp>
        <p:nvSpPr>
          <p:cNvPr id="16" name="">
            <a:extLst xmlns:a="http://schemas.openxmlformats.org/drawingml/2006/main">
              <a:ext uri="{FF2B5EF4-FFF2-40B4-BE49-F238E27FC236}">
                <a16:creationId xmlns:a16="http://schemas.microsoft.com/office/drawing/2014/main" id="{BF062D4D-3945-4F6A-B84C-620713D88B9D}"/>
              </a:ext>
            </a:extLst>
          </p:cNvPr>
          <p:cNvSpPr>
            <a:spLocks xmlns:a="http://schemas.openxmlformats.org/drawingml/2006/main" noGrp="1"/>
          </p:cNvSpPr>
          <p:nvPr/>
        </p:nvSpPr>
        <p:spPr>
          <a:xfrm xmlns:a="http://schemas.openxmlformats.org/drawingml/2006/main">
            <a:off x="6305550" y="2362200"/>
            <a:ext cx="419100" cy="419100"/>
          </a:xfrm>
          <a:prstGeom xmlns:a="http://schemas.openxmlformats.org/drawingml/2006/main" prst="ellipse">
            <a:avLst/>
          </a:prstGeom>
          <a:solidFill xmlns:a="http://schemas.openxmlformats.org/drawingml/2006/main">
            <a:srgbClr val="1C8A78"/>
          </a:solidFill>
          <a:ln xmlns:a="http://schemas.openxmlformats.org/drawingml/2006/main" w="0">
            <a:solidFill>
              <a:srgbClr val="1C8A78"/>
            </a:solidFill>
            <a:prstDash val="solid"/>
          </a:ln>
        </p:spPr>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eebf2d0b1b4149a3">
            <a:extLst>
              <a:ext uri="{96DAC541-7B7A-43D3-8B79-37D633B846F1}">
                <asvg:svgBlip xmlns:asvg="http://schemas.microsoft.com/office/drawing/2016/SVG/main" r:embed="R2e5b8e227f214cbf"/>
              </a:ext>
            </a:extLst>
          </a:blip>
          <a:stretch xmlns:a="http://schemas.openxmlformats.org/drawingml/2006/main"/>
        </p:blipFill>
        <p:spPr>
          <a:xfrm xmlns:a="http://schemas.openxmlformats.org/drawingml/2006/main">
            <a:off x="6400800" y="2457450"/>
            <a:ext cx="228600" cy="228600"/>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C68726A7-8DDA-4500-A27B-4225CD7E159F}"/>
              </a:ext>
            </a:extLst>
          </p:cNvPr>
          <p:cNvSpPr>
            <a:spLocks xmlns:a="http://schemas.openxmlformats.org/drawingml/2006/main" noGrp="1"/>
          </p:cNvSpPr>
          <p:nvPr/>
        </p:nvSpPr>
        <p:spPr>
          <a:xfrm xmlns:a="http://schemas.openxmlformats.org/drawingml/2006/main">
            <a:off x="6838950" y="2362200"/>
            <a:ext cx="40005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650" b="1">
                <a:solidFill>
                  <a:srgbClr val="1A3554"/>
                </a:solidFill>
                <a:latin typeface="Aptos Display"/>
                <a:ea typeface="Aptos Display"/>
                <a:cs typeface="Aptos Display"/>
              </a:defRPr>
            </a:pPr>
            <a:r>
              <a:rPr sz="1650" b="1">
                <a:solidFill>
                  <a:srgbClr val="1A3554"/>
                </a:solidFill>
                <a:latin typeface="Aptos Display"/>
                <a:ea typeface="Aptos Display"/>
                <a:cs typeface="Aptos Display"/>
              </a:rPr>
              <a:t>Flotte, cartes carburant &amp; consommation</a:t>
            </a:r>
          </a:p>
        </p:txBody>
      </p:sp>
      <p:sp>
        <p:nvSpPr>
          <p:cNvPr id="19" name="">
            <a:extLst xmlns:a="http://schemas.openxmlformats.org/drawingml/2006/main">
              <a:ext uri="{FF2B5EF4-FFF2-40B4-BE49-F238E27FC236}">
                <a16:creationId xmlns:a16="http://schemas.microsoft.com/office/drawing/2014/main" id="{F4D98E40-69C5-4680-8BCF-A71381E08BF0}"/>
              </a:ext>
            </a:extLst>
          </p:cNvPr>
          <p:cNvSpPr>
            <a:spLocks xmlns:a="http://schemas.openxmlformats.org/drawingml/2006/main" noGrp="1"/>
          </p:cNvSpPr>
          <p:nvPr/>
        </p:nvSpPr>
        <p:spPr>
          <a:xfrm xmlns:a="http://schemas.openxmlformats.org/drawingml/2006/main">
            <a:off x="6305550" y="2857500"/>
            <a:ext cx="66675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E76F1D"/>
                </a:solidFill>
                <a:latin typeface="Aptos"/>
                <a:ea typeface="Aptos"/>
                <a:cs typeface="Aptos"/>
              </a:defRPr>
            </a:pPr>
            <a:r>
              <a:rPr sz="750" b="1">
                <a:solidFill>
                  <a:srgbClr val="E76F1D"/>
                </a:solidFill>
                <a:latin typeface="Aptos"/>
                <a:ea typeface="Aptos"/>
                <a:cs typeface="Aptos"/>
              </a:rPr>
              <a:t>AVANT</a:t>
            </a:r>
          </a:p>
        </p:txBody>
      </p:sp>
      <p:sp>
        <p:nvSpPr>
          <p:cNvPr id="20" name="">
            <a:extLst xmlns:a="http://schemas.openxmlformats.org/drawingml/2006/main">
              <a:ext uri="{FF2B5EF4-FFF2-40B4-BE49-F238E27FC236}">
                <a16:creationId xmlns:a16="http://schemas.microsoft.com/office/drawing/2014/main" id="{95B63DF6-2B26-47A1-9032-004425A16E47}"/>
              </a:ext>
            </a:extLst>
          </p:cNvPr>
          <p:cNvSpPr>
            <a:spLocks xmlns:a="http://schemas.openxmlformats.org/drawingml/2006/main" noGrp="1"/>
          </p:cNvSpPr>
          <p:nvPr/>
        </p:nvSpPr>
        <p:spPr>
          <a:xfrm xmlns:a="http://schemas.openxmlformats.org/drawingml/2006/main">
            <a:off x="6305550" y="3086100"/>
            <a:ext cx="4743450" cy="704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8" b="0">
                <a:solidFill>
                  <a:srgbClr val="617086"/>
                </a:solidFill>
                <a:latin typeface="Aptos"/>
                <a:ea typeface="Aptos"/>
                <a:cs typeface="Aptos"/>
              </a:defRPr>
            </a:pPr>
            <a:r>
              <a:rPr sz="938" b="0">
                <a:solidFill>
                  <a:srgbClr val="617086"/>
                </a:solidFill>
                <a:latin typeface="Aptos"/>
                <a:ea typeface="Aptos"/>
                <a:cs typeface="Aptos"/>
              </a:rPr>
              <a:t>• reporting flotte et carburant peu harmonise</a:t>
            </a:r>
          </a:p>
          <a:p xmlns:a="http://schemas.openxmlformats.org/drawingml/2006/main">
            <a:pPr algn="l">
              <a:defRPr sz="938" b="0">
                <a:solidFill>
                  <a:srgbClr val="617086"/>
                </a:solidFill>
                <a:latin typeface="Aptos"/>
                <a:ea typeface="Aptos"/>
                <a:cs typeface="Aptos"/>
              </a:defRPr>
            </a:pPr>
            <a:r>
              <a:rPr sz="938" b="0">
                <a:solidFill>
                  <a:srgbClr val="617086"/>
                </a:solidFill>
                <a:latin typeface="Aptos"/>
                <a:ea typeface="Aptos"/>
                <a:cs typeface="Aptos"/>
              </a:rPr>
              <a:t>• ecarts detectes tardivement</a:t>
            </a:r>
          </a:p>
          <a:p xmlns:a="http://schemas.openxmlformats.org/drawingml/2006/main">
            <a:pPr algn="l">
              <a:defRPr sz="938" b="0">
                <a:solidFill>
                  <a:srgbClr val="617086"/>
                </a:solidFill>
                <a:latin typeface="Aptos"/>
                <a:ea typeface="Aptos"/>
                <a:cs typeface="Aptos"/>
              </a:defRPr>
            </a:pPr>
            <a:r>
              <a:rPr sz="938" b="0">
                <a:solidFill>
                  <a:srgbClr val="617086"/>
                </a:solidFill>
                <a:latin typeface="Aptos"/>
                <a:ea typeface="Aptos"/>
                <a:cs typeface="Aptos"/>
              </a:rPr>
              <a:t>• lecture difficile des couts par site, vehicule ou periode</a:t>
            </a:r>
          </a:p>
        </p:txBody>
      </p:sp>
      <p:sp>
        <p:nvSpPr>
          <p:cNvPr id="21" name="">
            <a:extLst xmlns:a="http://schemas.openxmlformats.org/drawingml/2006/main">
              <a:ext uri="{FF2B5EF4-FFF2-40B4-BE49-F238E27FC236}">
                <a16:creationId xmlns:a16="http://schemas.microsoft.com/office/drawing/2014/main" id="{301A0342-B50F-4046-85A1-3CDF76DA6F0C}"/>
              </a:ext>
            </a:extLst>
          </p:cNvPr>
          <p:cNvSpPr>
            <a:spLocks xmlns:a="http://schemas.openxmlformats.org/drawingml/2006/main" noGrp="1"/>
          </p:cNvSpPr>
          <p:nvPr/>
        </p:nvSpPr>
        <p:spPr>
          <a:xfrm xmlns:a="http://schemas.openxmlformats.org/drawingml/2006/main">
            <a:off x="6305550" y="3981450"/>
            <a:ext cx="66675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1C8A78"/>
                </a:solidFill>
                <a:latin typeface="Aptos"/>
                <a:ea typeface="Aptos"/>
                <a:cs typeface="Aptos"/>
              </a:defRPr>
            </a:pPr>
            <a:r>
              <a:rPr sz="750" b="1">
                <a:solidFill>
                  <a:srgbClr val="1C8A78"/>
                </a:solidFill>
                <a:latin typeface="Aptos"/>
                <a:ea typeface="Aptos"/>
                <a:cs typeface="Aptos"/>
              </a:rPr>
              <a:t>APRES</a:t>
            </a:r>
          </a:p>
        </p:txBody>
      </p:sp>
      <p:sp>
        <p:nvSpPr>
          <p:cNvPr id="22" name="">
            <a:extLst xmlns:a="http://schemas.openxmlformats.org/drawingml/2006/main">
              <a:ext uri="{FF2B5EF4-FFF2-40B4-BE49-F238E27FC236}">
                <a16:creationId xmlns:a16="http://schemas.microsoft.com/office/drawing/2014/main" id="{A8C99F0F-2532-4753-9DA9-90AD64C1842C}"/>
              </a:ext>
            </a:extLst>
          </p:cNvPr>
          <p:cNvSpPr>
            <a:spLocks xmlns:a="http://schemas.openxmlformats.org/drawingml/2006/main" noGrp="1"/>
          </p:cNvSpPr>
          <p:nvPr/>
        </p:nvSpPr>
        <p:spPr>
          <a:xfrm xmlns:a="http://schemas.openxmlformats.org/drawingml/2006/main">
            <a:off x="6305550" y="4210050"/>
            <a:ext cx="4743450" cy="704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8" b="0">
                <a:solidFill>
                  <a:srgbClr val="1A3554"/>
                </a:solidFill>
                <a:latin typeface="Aptos"/>
                <a:ea typeface="Aptos"/>
                <a:cs typeface="Aptos"/>
              </a:defRPr>
            </a:pPr>
            <a:r>
              <a:rPr sz="938" b="0">
                <a:solidFill>
                  <a:srgbClr val="1A3554"/>
                </a:solidFill>
                <a:latin typeface="Aptos"/>
                <a:ea typeface="Aptos"/>
                <a:cs typeface="Aptos"/>
              </a:rPr>
              <a:t>• tableau de bord consolide</a:t>
            </a:r>
          </a:p>
          <a:p xmlns:a="http://schemas.openxmlformats.org/drawingml/2006/main">
            <a:pPr algn="l">
              <a:defRPr sz="938" b="0">
                <a:solidFill>
                  <a:srgbClr val="1A3554"/>
                </a:solidFill>
                <a:latin typeface="Aptos"/>
                <a:ea typeface="Aptos"/>
                <a:cs typeface="Aptos"/>
              </a:defRPr>
            </a:pPr>
            <a:r>
              <a:rPr sz="938" b="0">
                <a:solidFill>
                  <a:srgbClr val="1A3554"/>
                </a:solidFill>
                <a:latin typeface="Aptos"/>
                <a:ea typeface="Aptos"/>
                <a:cs typeface="Aptos"/>
              </a:rPr>
              <a:t>• alertes sur anomalies de consommation</a:t>
            </a:r>
          </a:p>
          <a:p xmlns:a="http://schemas.openxmlformats.org/drawingml/2006/main">
            <a:pPr algn="l">
              <a:defRPr sz="938" b="0">
                <a:solidFill>
                  <a:srgbClr val="1A3554"/>
                </a:solidFill>
                <a:latin typeface="Aptos"/>
                <a:ea typeface="Aptos"/>
                <a:cs typeface="Aptos"/>
              </a:defRPr>
            </a:pPr>
            <a:r>
              <a:rPr sz="938" b="0">
                <a:solidFill>
                  <a:srgbClr val="1A3554"/>
                </a:solidFill>
                <a:latin typeface="Aptos"/>
                <a:ea typeface="Aptos"/>
                <a:cs typeface="Aptos"/>
              </a:rPr>
              <a:t>• comparatifs plus simples pour arbitrer et commenter les ecarts</a:t>
            </a:r>
          </a:p>
        </p:txBody>
      </p:sp>
      <p:sp>
        <p:nvSpPr>
          <p:cNvPr id="23" name="">
            <a:extLst xmlns:a="http://schemas.openxmlformats.org/drawingml/2006/main">
              <a:ext uri="{FF2B5EF4-FFF2-40B4-BE49-F238E27FC236}">
                <a16:creationId xmlns:a16="http://schemas.microsoft.com/office/drawing/2014/main" id="{71A70BA2-45EC-41C9-8604-29FE31620A3F}"/>
              </a:ext>
            </a:extLst>
          </p:cNvPr>
          <p:cNvSpPr>
            <a:spLocks xmlns:a="http://schemas.openxmlformats.org/drawingml/2006/main" noGrp="1"/>
          </p:cNvSpPr>
          <p:nvPr/>
        </p:nvSpPr>
        <p:spPr>
          <a:xfrm xmlns:a="http://schemas.openxmlformats.org/drawingml/2006/main">
            <a:off x="6305550" y="4972050"/>
            <a:ext cx="4743450" cy="381000"/>
          </a:xfrm>
          <a:prstGeom xmlns:a="http://schemas.openxmlformats.org/drawingml/2006/main" prst="rect">
            <a:avLst/>
          </a:prstGeom>
          <a:solidFill xmlns:a="http://schemas.openxmlformats.org/drawingml/2006/main">
            <a:srgbClr val="FBF5EE"/>
          </a:solidFill>
          <a:ln xmlns:a="http://schemas.openxmlformats.org/drawingml/2006/main" w="9525">
            <a:solidFill>
              <a:srgbClr val="D7CEC3"/>
            </a:solidFill>
            <a:prstDash val="solid"/>
          </a:ln>
        </p:spPr>
      </p:sp>
      <p:sp>
        <p:nvSpPr>
          <p:cNvPr id="24" name="">
            <a:extLst xmlns:a="http://schemas.openxmlformats.org/drawingml/2006/main">
              <a:ext uri="{FF2B5EF4-FFF2-40B4-BE49-F238E27FC236}">
                <a16:creationId xmlns:a16="http://schemas.microsoft.com/office/drawing/2014/main" id="{1ED58E4F-AD64-4EC8-98E1-ECFA2FB017CB}"/>
              </a:ext>
            </a:extLst>
          </p:cNvPr>
          <p:cNvSpPr>
            <a:spLocks xmlns:a="http://schemas.openxmlformats.org/drawingml/2006/main" noGrp="1"/>
          </p:cNvSpPr>
          <p:nvPr/>
        </p:nvSpPr>
        <p:spPr>
          <a:xfrm xmlns:a="http://schemas.openxmlformats.org/drawingml/2006/main">
            <a:off x="6457950" y="5086350"/>
            <a:ext cx="443865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63" b="1">
                <a:solidFill>
                  <a:srgbClr val="1A3554"/>
                </a:solidFill>
                <a:latin typeface="Aptos"/>
                <a:ea typeface="Aptos"/>
                <a:cs typeface="Aptos"/>
              </a:defRPr>
            </a:pPr>
            <a:r>
              <a:rPr sz="863" b="1">
                <a:solidFill>
                  <a:srgbClr val="1A3554"/>
                </a:solidFill>
                <a:latin typeface="Aptos"/>
                <a:ea typeface="Aptos"/>
                <a:cs typeface="Aptos"/>
              </a:rPr>
              <a:t>KPI: temps de production reporting | anomalies detectees | variation cout carburant</a:t>
            </a:r>
          </a:p>
        </p:txBody>
      </p:sp>
      <p:sp>
        <p:nvSpPr>
          <p:cNvPr id="25" name="">
            <a:extLst xmlns:a="http://schemas.openxmlformats.org/drawingml/2006/main">
              <a:ext uri="{FF2B5EF4-FFF2-40B4-BE49-F238E27FC236}">
                <a16:creationId xmlns:a16="http://schemas.microsoft.com/office/drawing/2014/main" id="{D63A6295-5A04-49DF-80E5-395DFEED9C85}"/>
              </a:ext>
            </a:extLst>
          </p:cNvPr>
          <p:cNvSpPr>
            <a:spLocks xmlns:a="http://schemas.openxmlformats.org/drawingml/2006/main" noGrp="1"/>
          </p:cNvSpPr>
          <p:nvPr/>
        </p:nvSpPr>
        <p:spPr>
          <a:xfrm xmlns:a="http://schemas.openxmlformats.org/drawingml/2006/main">
            <a:off x="685800" y="5619750"/>
            <a:ext cx="10820400" cy="514350"/>
          </a:xfrm>
          <a:prstGeom xmlns:a="http://schemas.openxmlformats.org/drawingml/2006/main" prst="rect">
            <a:avLst/>
          </a:prstGeom>
          <a:solidFill xmlns:a="http://schemas.openxmlformats.org/drawingml/2006/main">
            <a:srgbClr val="163556"/>
          </a:solidFill>
          <a:ln xmlns:a="http://schemas.openxmlformats.org/drawingml/2006/main" w="0">
            <a:solidFill>
              <a:srgbClr val="163556"/>
            </a:solidFill>
            <a:prstDash val="solid"/>
          </a:ln>
        </p:spPr>
      </p:sp>
      <p:sp>
        <p:nvSpPr>
          <p:cNvPr id="26" name="">
            <a:extLst xmlns:a="http://schemas.openxmlformats.org/drawingml/2006/main">
              <a:ext uri="{FF2B5EF4-FFF2-40B4-BE49-F238E27FC236}">
                <a16:creationId xmlns:a16="http://schemas.microsoft.com/office/drawing/2014/main" id="{7C6C2D62-DE93-4212-AD40-B28D84BB7C9E}"/>
              </a:ext>
            </a:extLst>
          </p:cNvPr>
          <p:cNvSpPr>
            <a:spLocks xmlns:a="http://schemas.openxmlformats.org/drawingml/2006/main" noGrp="1"/>
          </p:cNvSpPr>
          <p:nvPr/>
        </p:nvSpPr>
        <p:spPr>
          <a:xfrm xmlns:a="http://schemas.openxmlformats.org/drawingml/2006/main">
            <a:off x="914400" y="5772150"/>
            <a:ext cx="1036320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8" b="0">
                <a:solidFill>
                  <a:srgbClr val="FFFFFF"/>
                </a:solidFill>
                <a:latin typeface="Aptos"/>
                <a:ea typeface="Aptos"/>
                <a:cs typeface="Aptos"/>
              </a:defRPr>
            </a:pPr>
            <a:r>
              <a:rPr sz="938" b="0">
                <a:solidFill>
                  <a:srgbClr val="FFFFFF"/>
                </a:solidFill>
                <a:latin typeface="Aptos"/>
                <a:ea typeface="Aptos"/>
                <a:cs typeface="Aptos"/>
              </a:rPr>
              <a:t>Ces deux flux ont un avantage: ils parlent a la fois a la direction, aux operations et aux equipes metier. Ils permettent donc de montrer tres vite une valeur concrete, sans promettre une transformation trop large des le depart.</a:t>
            </a:r>
          </a:p>
        </p:txBody>
      </p:sp>
      <p:sp>
        <p:nvSpPr>
          <p:cNvPr id="27" name="">
            <a:extLst xmlns:a="http://schemas.openxmlformats.org/drawingml/2006/main">
              <a:ext uri="{FF2B5EF4-FFF2-40B4-BE49-F238E27FC236}">
                <a16:creationId xmlns:a16="http://schemas.microsoft.com/office/drawing/2014/main" id="{E83E0E64-56CE-4C27-B61C-0C2FC6E98340}"/>
              </a:ext>
            </a:extLst>
          </p:cNvPr>
          <p:cNvSpPr>
            <a:spLocks xmlns:a="http://schemas.openxmlformats.org/drawingml/2006/main" noGrp="1"/>
          </p:cNvSpPr>
          <p:nvPr/>
        </p:nvSpPr>
        <p:spPr>
          <a:xfrm xmlns:a="http://schemas.openxmlformats.org/drawingml/2006/main">
            <a:off x="647700" y="6496050"/>
            <a:ext cx="10896600" cy="9525"/>
          </a:xfrm>
          <a:prstGeom xmlns:a="http://schemas.openxmlformats.org/drawingml/2006/main" prst="rect">
            <a:avLst/>
          </a:prstGeom>
          <a:solidFill xmlns:a="http://schemas.openxmlformats.org/drawingml/2006/main">
            <a:srgbClr val="D7CEC3"/>
          </a:solidFill>
          <a:ln xmlns:a="http://schemas.openxmlformats.org/drawingml/2006/main" w="0">
            <a:solidFill>
              <a:srgbClr val="000000">
                <a:alpha val="0"/>
              </a:srgbClr>
            </a:solidFill>
            <a:prstDash val="solid"/>
          </a:ln>
        </p:spPr>
      </p:sp>
      <p:sp>
        <p:nvSpPr>
          <p:cNvPr id="28" name="">
            <a:extLst xmlns:a="http://schemas.openxmlformats.org/drawingml/2006/main">
              <a:ext uri="{FF2B5EF4-FFF2-40B4-BE49-F238E27FC236}">
                <a16:creationId xmlns:a16="http://schemas.microsoft.com/office/drawing/2014/main" id="{E9CF8BD9-2016-498F-89BA-8FD5763FFFB2}"/>
              </a:ext>
            </a:extLst>
          </p:cNvPr>
          <p:cNvSpPr>
            <a:spLocks xmlns:a="http://schemas.openxmlformats.org/drawingml/2006/main" noGrp="1"/>
          </p:cNvSpPr>
          <p:nvPr/>
        </p:nvSpPr>
        <p:spPr>
          <a:xfrm xmlns:a="http://schemas.openxmlformats.org/drawingml/2006/main">
            <a:off x="685800" y="6572250"/>
            <a:ext cx="857250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38" b="0">
                <a:solidFill>
                  <a:srgbClr val="617086"/>
                </a:solidFill>
                <a:latin typeface="Aptos"/>
                <a:ea typeface="Aptos"/>
                <a:cs typeface="Aptos"/>
              </a:defRPr>
            </a:pPr>
            <a:r>
              <a:rPr sz="638" b="0">
                <a:solidFill>
                  <a:srgbClr val="617086"/>
                </a:solidFill>
                <a:latin typeface="Aptos"/>
                <a:ea typeface="Aptos"/>
                <a:cs typeface="Aptos"/>
              </a:rPr>
              <a:t>TransferAI | Hub AI de Nettelecom CI | Proposition ciblee ELTON CI</a:t>
            </a:r>
          </a:p>
        </p:txBody>
      </p:sp>
      <p:sp>
        <p:nvSpPr>
          <p:cNvPr id="29" name="">
            <a:extLst xmlns:a="http://schemas.openxmlformats.org/drawingml/2006/main">
              <a:ext uri="{FF2B5EF4-FFF2-40B4-BE49-F238E27FC236}">
                <a16:creationId xmlns:a16="http://schemas.microsoft.com/office/drawing/2014/main" id="{C8C2FB64-6D85-4188-9784-D4CC379B5826}"/>
              </a:ext>
            </a:extLst>
          </p:cNvPr>
          <p:cNvSpPr>
            <a:spLocks xmlns:a="http://schemas.openxmlformats.org/drawingml/2006/main" noGrp="1"/>
          </p:cNvSpPr>
          <p:nvPr/>
        </p:nvSpPr>
        <p:spPr>
          <a:xfrm xmlns:a="http://schemas.openxmlformats.org/drawingml/2006/main">
            <a:off x="11049000" y="6553200"/>
            <a:ext cx="3429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750" b="1">
                <a:solidFill>
                  <a:srgbClr val="1A3554"/>
                </a:solidFill>
                <a:latin typeface="Aptos"/>
                <a:ea typeface="Aptos"/>
                <a:cs typeface="Aptos"/>
              </a:defRPr>
            </a:pPr>
            <a:r>
              <a:rPr sz="750" b="1">
                <a:solidFill>
                  <a:srgbClr val="1A3554"/>
                </a:solidFill>
                <a:latin typeface="Aptos"/>
                <a:ea typeface="Aptos"/>
                <a:cs typeface="Aptos"/>
              </a:rPr>
              <a:t>06</a:t>
            </a:r>
          </a:p>
        </p:txBody>
      </p:sp>
    </p:spTree>
    <p:extLst>
      <p:ext uri="{BB962C8B-B14F-4D97-AF65-F5344CB8AC3E}">
        <p14:creationId xmlns:p14="http://schemas.microsoft.com/office/powerpoint/2010/main" val="1873072709"/>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DA115110-47B3-41E3-A3FD-DB79B9C39235}"/>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EFE7"/>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3E6B9266-9CB3-4E91-B017-2B7BEF35DF56}"/>
              </a:ext>
            </a:extLst>
          </p:cNvPr>
          <p:cNvSpPr>
            <a:spLocks xmlns:a="http://schemas.openxmlformats.org/drawingml/2006/main" noGrp="1"/>
          </p:cNvSpPr>
          <p:nvPr/>
        </p:nvSpPr>
        <p:spPr>
          <a:xfrm xmlns:a="http://schemas.openxmlformats.org/drawingml/2006/main">
            <a:off x="685800" y="49530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88" b="1">
                <a:solidFill>
                  <a:srgbClr val="E76F1D"/>
                </a:solidFill>
                <a:latin typeface="Aptos"/>
                <a:ea typeface="Aptos"/>
                <a:cs typeface="Aptos"/>
              </a:defRPr>
            </a:pPr>
            <a:r>
              <a:rPr sz="788" b="1">
                <a:solidFill>
                  <a:srgbClr val="E76F1D"/>
                </a:solidFill>
                <a:latin typeface="Aptos"/>
                <a:ea typeface="Aptos"/>
                <a:cs typeface="Aptos"/>
              </a:rPr>
              <a:t>DETAIL CAS D'USAGE</a:t>
            </a:r>
          </a:p>
        </p:txBody>
      </p:sp>
      <p:sp>
        <p:nvSpPr>
          <p:cNvPr id="3" name="">
            <a:extLst xmlns:a="http://schemas.openxmlformats.org/drawingml/2006/main">
              <a:ext uri="{FF2B5EF4-FFF2-40B4-BE49-F238E27FC236}">
                <a16:creationId xmlns:a16="http://schemas.microsoft.com/office/drawing/2014/main" id="{D7482BC9-43DC-43DA-A8D2-98EF89190808}"/>
              </a:ext>
            </a:extLst>
          </p:cNvPr>
          <p:cNvSpPr>
            <a:spLocks xmlns:a="http://schemas.openxmlformats.org/drawingml/2006/main" noGrp="1"/>
          </p:cNvSpPr>
          <p:nvPr/>
        </p:nvSpPr>
        <p:spPr>
          <a:xfrm xmlns:a="http://schemas.openxmlformats.org/drawingml/2006/main">
            <a:off x="685800" y="819150"/>
            <a:ext cx="9334500" cy="800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550" b="1">
                <a:solidFill>
                  <a:srgbClr val="1A3554"/>
                </a:solidFill>
                <a:latin typeface="Aptos Display"/>
                <a:ea typeface="Aptos Display"/>
                <a:cs typeface="Aptos Display"/>
              </a:defRPr>
            </a:pPr>
            <a:r>
              <a:rPr sz="2550" b="1">
                <a:solidFill>
                  <a:srgbClr val="1A3554"/>
                </a:solidFill>
                <a:latin typeface="Aptos Display"/>
                <a:ea typeface="Aptos Display"/>
                <a:cs typeface="Aptos Display"/>
              </a:rPr>
              <a:t>Les cas d'usage qui renforcent la qualite de service et la standardisation</a:t>
            </a:r>
          </a:p>
        </p:txBody>
      </p:sp>
      <p:sp>
        <p:nvSpPr>
          <p:cNvPr id="4" name="">
            <a:extLst xmlns:a="http://schemas.openxmlformats.org/drawingml/2006/main">
              <a:ext uri="{FF2B5EF4-FFF2-40B4-BE49-F238E27FC236}">
                <a16:creationId xmlns:a16="http://schemas.microsoft.com/office/drawing/2014/main" id="{23E004D6-C93A-4C5F-A091-9553418D471B}"/>
              </a:ext>
            </a:extLst>
          </p:cNvPr>
          <p:cNvSpPr>
            <a:spLocks xmlns:a="http://schemas.openxmlformats.org/drawingml/2006/main" noGrp="1"/>
          </p:cNvSpPr>
          <p:nvPr/>
        </p:nvSpPr>
        <p:spPr>
          <a:xfrm xmlns:a="http://schemas.openxmlformats.org/drawingml/2006/main">
            <a:off x="685800" y="1676400"/>
            <a:ext cx="91440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617086"/>
                </a:solidFill>
                <a:latin typeface="Aptos"/>
                <a:ea typeface="Aptos"/>
                <a:cs typeface="Aptos"/>
              </a:defRPr>
            </a:pPr>
            <a:r>
              <a:rPr sz="1050" b="0">
                <a:solidFill>
                  <a:srgbClr val="617086"/>
                </a:solidFill>
                <a:latin typeface="Aptos"/>
                <a:ea typeface="Aptos"/>
                <a:cs typeface="Aptos"/>
              </a:rPr>
              <a:t>Ces deux usages rendent aussi la formation plus credible: on apprend sur des situations reelles, pas sur des exemples generiques.</a:t>
            </a:r>
          </a:p>
        </p:txBody>
      </p:sp>
      <p:sp>
        <p:nvSpPr>
          <p:cNvPr id="5" name="">
            <a:extLst xmlns:a="http://schemas.openxmlformats.org/drawingml/2006/main">
              <a:ext uri="{FF2B5EF4-FFF2-40B4-BE49-F238E27FC236}">
                <a16:creationId xmlns:a16="http://schemas.microsoft.com/office/drawing/2014/main" id="{B313001F-8F2C-4C4B-A05D-69882961F72D}"/>
              </a:ext>
            </a:extLst>
          </p:cNvPr>
          <p:cNvSpPr>
            <a:spLocks xmlns:a="http://schemas.openxmlformats.org/drawingml/2006/main" noGrp="1"/>
          </p:cNvSpPr>
          <p:nvPr/>
        </p:nvSpPr>
        <p:spPr>
          <a:xfrm xmlns:a="http://schemas.openxmlformats.org/drawingml/2006/main">
            <a:off x="685800" y="2171700"/>
            <a:ext cx="5143500" cy="2933700"/>
          </a:xfrm>
          <a:prstGeom xmlns:a="http://schemas.openxmlformats.org/drawingml/2006/main" prst="rect">
            <a:avLst/>
          </a:prstGeom>
          <a:solidFill xmlns:a="http://schemas.openxmlformats.org/drawingml/2006/main">
            <a:srgbClr val="FFFDFC"/>
          </a:solidFill>
          <a:ln xmlns:a="http://schemas.openxmlformats.org/drawingml/2006/main" w="9525">
            <a:solidFill>
              <a:srgbClr val="D7CEC3"/>
            </a:solidFill>
            <a:prstDash val="solid"/>
          </a:ln>
        </p:spPr>
      </p:sp>
      <p:sp>
        <p:nvSpPr>
          <p:cNvPr id="6" name="">
            <a:extLst xmlns:a="http://schemas.openxmlformats.org/drawingml/2006/main">
              <a:ext uri="{FF2B5EF4-FFF2-40B4-BE49-F238E27FC236}">
                <a16:creationId xmlns:a16="http://schemas.microsoft.com/office/drawing/2014/main" id="{B34D18BD-429D-4C99-BC19-8EACB49A3F90}"/>
              </a:ext>
            </a:extLst>
          </p:cNvPr>
          <p:cNvSpPr>
            <a:spLocks xmlns:a="http://schemas.openxmlformats.org/drawingml/2006/main" noGrp="1"/>
          </p:cNvSpPr>
          <p:nvPr/>
        </p:nvSpPr>
        <p:spPr>
          <a:xfrm xmlns:a="http://schemas.openxmlformats.org/drawingml/2006/main">
            <a:off x="895350" y="2362200"/>
            <a:ext cx="419100" cy="419100"/>
          </a:xfrm>
          <a:prstGeom xmlns:a="http://schemas.openxmlformats.org/drawingml/2006/main" prst="ellipse">
            <a:avLst/>
          </a:prstGeom>
          <a:solidFill xmlns:a="http://schemas.openxmlformats.org/drawingml/2006/main">
            <a:srgbClr val="163556"/>
          </a:solidFill>
          <a:ln xmlns:a="http://schemas.openxmlformats.org/drawingml/2006/main" w="0">
            <a:solidFill>
              <a:srgbClr val="163556"/>
            </a:solidFill>
            <a:prstDash val="solid"/>
          </a:ln>
        </p:spPr>
      </p:sp>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8d698a8c3825466c">
            <a:extLst>
              <a:ext uri="{96DAC541-7B7A-43D3-8B79-37D633B846F1}">
                <asvg:svgBlip xmlns:asvg="http://schemas.microsoft.com/office/drawing/2016/SVG/main" r:embed="Rc9864f8ebe434b45"/>
              </a:ext>
            </a:extLst>
          </a:blip>
          <a:stretch xmlns:a="http://schemas.openxmlformats.org/drawingml/2006/main"/>
        </p:blipFill>
        <p:spPr>
          <a:xfrm xmlns:a="http://schemas.openxmlformats.org/drawingml/2006/main">
            <a:off x="990600" y="2457450"/>
            <a:ext cx="228600" cy="22860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9F2FF2E1-02E9-4E78-A684-6E37D2CF5D81}"/>
              </a:ext>
            </a:extLst>
          </p:cNvPr>
          <p:cNvSpPr>
            <a:spLocks xmlns:a="http://schemas.openxmlformats.org/drawingml/2006/main" noGrp="1"/>
          </p:cNvSpPr>
          <p:nvPr/>
        </p:nvSpPr>
        <p:spPr>
          <a:xfrm xmlns:a="http://schemas.openxmlformats.org/drawingml/2006/main">
            <a:off x="1428750" y="2362200"/>
            <a:ext cx="37147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650" b="1">
                <a:solidFill>
                  <a:srgbClr val="1A3554"/>
                </a:solidFill>
                <a:latin typeface="Aptos Display"/>
                <a:ea typeface="Aptos Display"/>
                <a:cs typeface="Aptos Display"/>
              </a:defRPr>
            </a:pPr>
            <a:r>
              <a:rPr sz="1650" b="1">
                <a:solidFill>
                  <a:srgbClr val="1A3554"/>
                </a:solidFill>
                <a:latin typeface="Aptos Display"/>
                <a:ea typeface="Aptos Display"/>
                <a:cs typeface="Aptos Display"/>
              </a:rPr>
              <a:t>Service client / service auto</a:t>
            </a:r>
          </a:p>
        </p:txBody>
      </p:sp>
      <p:sp>
        <p:nvSpPr>
          <p:cNvPr id="9" name="">
            <a:extLst xmlns:a="http://schemas.openxmlformats.org/drawingml/2006/main">
              <a:ext uri="{FF2B5EF4-FFF2-40B4-BE49-F238E27FC236}">
                <a16:creationId xmlns:a16="http://schemas.microsoft.com/office/drawing/2014/main" id="{9313351F-5105-43CE-A338-24006F353B2A}"/>
              </a:ext>
            </a:extLst>
          </p:cNvPr>
          <p:cNvSpPr>
            <a:spLocks xmlns:a="http://schemas.openxmlformats.org/drawingml/2006/main" noGrp="1"/>
          </p:cNvSpPr>
          <p:nvPr/>
        </p:nvSpPr>
        <p:spPr>
          <a:xfrm xmlns:a="http://schemas.openxmlformats.org/drawingml/2006/main">
            <a:off x="895350" y="2857500"/>
            <a:ext cx="104775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E76F1D"/>
                </a:solidFill>
                <a:latin typeface="Aptos"/>
                <a:ea typeface="Aptos"/>
                <a:cs typeface="Aptos"/>
              </a:defRPr>
            </a:pPr>
            <a:r>
              <a:rPr sz="750" b="1">
                <a:solidFill>
                  <a:srgbClr val="E76F1D"/>
                </a:solidFill>
                <a:latin typeface="Aptos"/>
                <a:ea typeface="Aptos"/>
                <a:cs typeface="Aptos"/>
              </a:rPr>
              <a:t>Usages proposes</a:t>
            </a:r>
          </a:p>
        </p:txBody>
      </p:sp>
      <p:sp>
        <p:nvSpPr>
          <p:cNvPr id="10" name="">
            <a:extLst xmlns:a="http://schemas.openxmlformats.org/drawingml/2006/main">
              <a:ext uri="{FF2B5EF4-FFF2-40B4-BE49-F238E27FC236}">
                <a16:creationId xmlns:a16="http://schemas.microsoft.com/office/drawing/2014/main" id="{E3FE1217-698F-4285-BAFB-04443F05FE36}"/>
              </a:ext>
            </a:extLst>
          </p:cNvPr>
          <p:cNvSpPr>
            <a:spLocks xmlns:a="http://schemas.openxmlformats.org/drawingml/2006/main" noGrp="1"/>
          </p:cNvSpPr>
          <p:nvPr/>
        </p:nvSpPr>
        <p:spPr>
          <a:xfrm xmlns:a="http://schemas.openxmlformats.org/drawingml/2006/main">
            <a:off x="895350" y="3086100"/>
            <a:ext cx="4343400" cy="857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8" b="0">
                <a:solidFill>
                  <a:srgbClr val="1A3554"/>
                </a:solidFill>
                <a:latin typeface="Aptos"/>
                <a:ea typeface="Aptos"/>
                <a:cs typeface="Aptos"/>
              </a:defRPr>
            </a:pPr>
            <a:r>
              <a:rPr sz="938" b="0">
                <a:solidFill>
                  <a:srgbClr val="1A3554"/>
                </a:solidFill>
                <a:latin typeface="Aptos"/>
                <a:ea typeface="Aptos"/>
                <a:cs typeface="Aptos"/>
              </a:rPr>
              <a:t>• FAQ assistee pour questions recurrentes</a:t>
            </a:r>
          </a:p>
          <a:p xmlns:a="http://schemas.openxmlformats.org/drawingml/2006/main">
            <a:pPr algn="l">
              <a:defRPr sz="938" b="0">
                <a:solidFill>
                  <a:srgbClr val="1A3554"/>
                </a:solidFill>
                <a:latin typeface="Aptos"/>
                <a:ea typeface="Aptos"/>
                <a:cs typeface="Aptos"/>
              </a:defRPr>
            </a:pPr>
            <a:r>
              <a:rPr sz="938" b="0">
                <a:solidFill>
                  <a:srgbClr val="1A3554"/>
                </a:solidFill>
                <a:latin typeface="Aptos"/>
                <a:ea typeface="Aptos"/>
                <a:cs typeface="Aptos"/>
              </a:rPr>
              <a:t>• canevas de reponse ou de rappel</a:t>
            </a:r>
          </a:p>
          <a:p xmlns:a="http://schemas.openxmlformats.org/drawingml/2006/main">
            <a:pPr algn="l">
              <a:defRPr sz="938" b="0">
                <a:solidFill>
                  <a:srgbClr val="1A3554"/>
                </a:solidFill>
                <a:latin typeface="Aptos"/>
                <a:ea typeface="Aptos"/>
                <a:cs typeface="Aptos"/>
              </a:defRPr>
            </a:pPr>
            <a:r>
              <a:rPr sz="938" b="0">
                <a:solidFill>
                  <a:srgbClr val="1A3554"/>
                </a:solidFill>
                <a:latin typeface="Aptos"/>
                <a:ea typeface="Aptos"/>
                <a:cs typeface="Aptos"/>
              </a:rPr>
              <a:t>• historique d'interactions mieux exploitable</a:t>
            </a:r>
          </a:p>
          <a:p xmlns:a="http://schemas.openxmlformats.org/drawingml/2006/main">
            <a:pPr algn="l">
              <a:defRPr sz="938" b="0">
                <a:solidFill>
                  <a:srgbClr val="1A3554"/>
                </a:solidFill>
                <a:latin typeface="Aptos"/>
                <a:ea typeface="Aptos"/>
                <a:cs typeface="Aptos"/>
              </a:defRPr>
            </a:pPr>
            <a:r>
              <a:rPr sz="938" b="0">
                <a:solidFill>
                  <a:srgbClr val="1A3554"/>
                </a:solidFill>
                <a:latin typeface="Aptos"/>
                <a:ea typeface="Aptos"/>
                <a:cs typeface="Aptos"/>
              </a:rPr>
              <a:t>• syntheses rapides avant rappel ou traitement</a:t>
            </a:r>
          </a:p>
        </p:txBody>
      </p:sp>
      <p:sp>
        <p:nvSpPr>
          <p:cNvPr id="11" name="">
            <a:extLst xmlns:a="http://schemas.openxmlformats.org/drawingml/2006/main">
              <a:ext uri="{FF2B5EF4-FFF2-40B4-BE49-F238E27FC236}">
                <a16:creationId xmlns:a16="http://schemas.microsoft.com/office/drawing/2014/main" id="{383D2324-7F18-4114-8646-60C81ED1715A}"/>
              </a:ext>
            </a:extLst>
          </p:cNvPr>
          <p:cNvSpPr>
            <a:spLocks xmlns:a="http://schemas.openxmlformats.org/drawingml/2006/main" noGrp="1"/>
          </p:cNvSpPr>
          <p:nvPr/>
        </p:nvSpPr>
        <p:spPr>
          <a:xfrm xmlns:a="http://schemas.openxmlformats.org/drawingml/2006/main">
            <a:off x="895350" y="4114800"/>
            <a:ext cx="4667250" cy="800100"/>
          </a:xfrm>
          <a:prstGeom xmlns:a="http://schemas.openxmlformats.org/drawingml/2006/main" prst="rect">
            <a:avLst/>
          </a:prstGeom>
          <a:solidFill xmlns:a="http://schemas.openxmlformats.org/drawingml/2006/main">
            <a:srgbClr val="FBF5EE"/>
          </a:solidFill>
          <a:ln xmlns:a="http://schemas.openxmlformats.org/drawingml/2006/main" w="9525">
            <a:solidFill>
              <a:srgbClr val="D7CEC3"/>
            </a:solidFill>
            <a:prstDash val="solid"/>
          </a:ln>
        </p:spPr>
      </p:sp>
      <p:sp>
        <p:nvSpPr>
          <p:cNvPr id="12" name="">
            <a:extLst xmlns:a="http://schemas.openxmlformats.org/drawingml/2006/main">
              <a:ext uri="{FF2B5EF4-FFF2-40B4-BE49-F238E27FC236}">
                <a16:creationId xmlns:a16="http://schemas.microsoft.com/office/drawing/2014/main" id="{0E7D9193-B54C-4284-A6AA-10CFFD670006}"/>
              </a:ext>
            </a:extLst>
          </p:cNvPr>
          <p:cNvSpPr>
            <a:spLocks xmlns:a="http://schemas.openxmlformats.org/drawingml/2006/main" noGrp="1"/>
          </p:cNvSpPr>
          <p:nvPr/>
        </p:nvSpPr>
        <p:spPr>
          <a:xfrm xmlns:a="http://schemas.openxmlformats.org/drawingml/2006/main">
            <a:off x="1066800" y="4362450"/>
            <a:ext cx="4286250" cy="3429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63" b="1">
                <a:solidFill>
                  <a:srgbClr val="1A3554"/>
                </a:solidFill>
                <a:latin typeface="Aptos"/>
                <a:ea typeface="Aptos"/>
                <a:cs typeface="Aptos"/>
              </a:defRPr>
            </a:pPr>
            <a:r>
              <a:rPr sz="863" b="1">
                <a:solidFill>
                  <a:srgbClr val="1A3554"/>
                </a:solidFill>
                <a:latin typeface="Aptos"/>
                <a:ea typeface="Aptos"/>
                <a:cs typeface="Aptos"/>
              </a:rPr>
              <a:t>KPI: delai de reponse | qualite percue | taux de reouverture / relance | standardisation des scripts</a:t>
            </a:r>
          </a:p>
        </p:txBody>
      </p:sp>
      <p:sp>
        <p:nvSpPr>
          <p:cNvPr id="13" name="">
            <a:extLst xmlns:a="http://schemas.openxmlformats.org/drawingml/2006/main">
              <a:ext uri="{FF2B5EF4-FFF2-40B4-BE49-F238E27FC236}">
                <a16:creationId xmlns:a16="http://schemas.microsoft.com/office/drawing/2014/main" id="{0735D33A-396A-4861-A44A-B783B485C941}"/>
              </a:ext>
            </a:extLst>
          </p:cNvPr>
          <p:cNvSpPr>
            <a:spLocks xmlns:a="http://schemas.openxmlformats.org/drawingml/2006/main" noGrp="1"/>
          </p:cNvSpPr>
          <p:nvPr/>
        </p:nvSpPr>
        <p:spPr>
          <a:xfrm xmlns:a="http://schemas.openxmlformats.org/drawingml/2006/main">
            <a:off x="6096000" y="2171700"/>
            <a:ext cx="5410200" cy="2933700"/>
          </a:xfrm>
          <a:prstGeom xmlns:a="http://schemas.openxmlformats.org/drawingml/2006/main" prst="rect">
            <a:avLst/>
          </a:prstGeom>
          <a:solidFill xmlns:a="http://schemas.openxmlformats.org/drawingml/2006/main">
            <a:srgbClr val="FFFDFC"/>
          </a:solidFill>
          <a:ln xmlns:a="http://schemas.openxmlformats.org/drawingml/2006/main" w="9525">
            <a:solidFill>
              <a:srgbClr val="D7CEC3"/>
            </a:solidFill>
            <a:prstDash val="solid"/>
          </a:ln>
        </p:spPr>
      </p:sp>
      <p:sp>
        <p:nvSpPr>
          <p:cNvPr id="14" name="">
            <a:extLst xmlns:a="http://schemas.openxmlformats.org/drawingml/2006/main">
              <a:ext uri="{FF2B5EF4-FFF2-40B4-BE49-F238E27FC236}">
                <a16:creationId xmlns:a16="http://schemas.microsoft.com/office/drawing/2014/main" id="{EC4AD58E-3CD6-4E2D-A23D-ED811976BD51}"/>
              </a:ext>
            </a:extLst>
          </p:cNvPr>
          <p:cNvSpPr>
            <a:spLocks xmlns:a="http://schemas.openxmlformats.org/drawingml/2006/main" noGrp="1"/>
          </p:cNvSpPr>
          <p:nvPr/>
        </p:nvSpPr>
        <p:spPr>
          <a:xfrm xmlns:a="http://schemas.openxmlformats.org/drawingml/2006/main">
            <a:off x="6305550" y="2362200"/>
            <a:ext cx="419100" cy="419100"/>
          </a:xfrm>
          <a:prstGeom xmlns:a="http://schemas.openxmlformats.org/drawingml/2006/main" prst="ellipse">
            <a:avLst/>
          </a:prstGeom>
          <a:solidFill xmlns:a="http://schemas.openxmlformats.org/drawingml/2006/main">
            <a:srgbClr val="C88C3A"/>
          </a:solidFill>
          <a:ln xmlns:a="http://schemas.openxmlformats.org/drawingml/2006/main" w="0">
            <a:solidFill>
              <a:srgbClr val="C88C3A"/>
            </a:solidFill>
            <a:prstDash val="solid"/>
          </a:ln>
        </p:spPr>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47ead9c80fc04db1">
            <a:extLst>
              <a:ext uri="{96DAC541-7B7A-43D3-8B79-37D633B846F1}">
                <asvg:svgBlip xmlns:asvg="http://schemas.microsoft.com/office/drawing/2016/SVG/main" r:embed="R945e47dd559242c4"/>
              </a:ext>
            </a:extLst>
          </a:blip>
          <a:stretch xmlns:a="http://schemas.openxmlformats.org/drawingml/2006/main"/>
        </p:blipFill>
        <p:spPr>
          <a:xfrm xmlns:a="http://schemas.openxmlformats.org/drawingml/2006/main">
            <a:off x="6400800" y="2457450"/>
            <a:ext cx="228600" cy="228600"/>
          </a:xfrm>
          <a:prstGeom xmlns:a="http://schemas.openxmlformats.org/drawingml/2006/main" prst="rect">
            <a:avLst/>
          </a:prstGeom>
        </p:spPr>
      </p:pic>
      <p:sp>
        <p:nvSpPr>
          <p:cNvPr id="16" name="">
            <a:extLst xmlns:a="http://schemas.openxmlformats.org/drawingml/2006/main">
              <a:ext uri="{FF2B5EF4-FFF2-40B4-BE49-F238E27FC236}">
                <a16:creationId xmlns:a16="http://schemas.microsoft.com/office/drawing/2014/main" id="{4485CEF9-87EC-4E32-98A4-021E2CD06B8F}"/>
              </a:ext>
            </a:extLst>
          </p:cNvPr>
          <p:cNvSpPr>
            <a:spLocks xmlns:a="http://schemas.openxmlformats.org/drawingml/2006/main" noGrp="1"/>
          </p:cNvSpPr>
          <p:nvPr/>
        </p:nvSpPr>
        <p:spPr>
          <a:xfrm xmlns:a="http://schemas.openxmlformats.org/drawingml/2006/main">
            <a:off x="6838950" y="2362200"/>
            <a:ext cx="41148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650" b="1">
                <a:solidFill>
                  <a:srgbClr val="1A3554"/>
                </a:solidFill>
                <a:latin typeface="Aptos Display"/>
                <a:ea typeface="Aptos Display"/>
                <a:cs typeface="Aptos Display"/>
              </a:defRPr>
            </a:pPr>
            <a:r>
              <a:rPr sz="1650" b="1">
                <a:solidFill>
                  <a:srgbClr val="1A3554"/>
                </a:solidFill>
                <a:latin typeface="Aptos Display"/>
                <a:ea typeface="Aptos Display"/>
                <a:cs typeface="Aptos Display"/>
              </a:rPr>
              <a:t>Procedures internes &amp; knowledge base</a:t>
            </a:r>
          </a:p>
        </p:txBody>
      </p:sp>
      <p:sp>
        <p:nvSpPr>
          <p:cNvPr id="17" name="">
            <a:extLst xmlns:a="http://schemas.openxmlformats.org/drawingml/2006/main">
              <a:ext uri="{FF2B5EF4-FFF2-40B4-BE49-F238E27FC236}">
                <a16:creationId xmlns:a16="http://schemas.microsoft.com/office/drawing/2014/main" id="{0EAFEF7F-BC44-490D-B159-F7854CC4026E}"/>
              </a:ext>
            </a:extLst>
          </p:cNvPr>
          <p:cNvSpPr>
            <a:spLocks xmlns:a="http://schemas.openxmlformats.org/drawingml/2006/main" noGrp="1"/>
          </p:cNvSpPr>
          <p:nvPr/>
        </p:nvSpPr>
        <p:spPr>
          <a:xfrm xmlns:a="http://schemas.openxmlformats.org/drawingml/2006/main">
            <a:off x="6305550" y="2857500"/>
            <a:ext cx="104775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E76F1D"/>
                </a:solidFill>
                <a:latin typeface="Aptos"/>
                <a:ea typeface="Aptos"/>
                <a:cs typeface="Aptos"/>
              </a:defRPr>
            </a:pPr>
            <a:r>
              <a:rPr sz="750" b="1">
                <a:solidFill>
                  <a:srgbClr val="E76F1D"/>
                </a:solidFill>
                <a:latin typeface="Aptos"/>
                <a:ea typeface="Aptos"/>
                <a:cs typeface="Aptos"/>
              </a:rPr>
              <a:t>Usages proposes</a:t>
            </a:r>
          </a:p>
        </p:txBody>
      </p:sp>
      <p:sp>
        <p:nvSpPr>
          <p:cNvPr id="18" name="">
            <a:extLst xmlns:a="http://schemas.openxmlformats.org/drawingml/2006/main">
              <a:ext uri="{FF2B5EF4-FFF2-40B4-BE49-F238E27FC236}">
                <a16:creationId xmlns:a16="http://schemas.microsoft.com/office/drawing/2014/main" id="{F25C5FAD-E3F3-4C70-B340-2A5814EB29A1}"/>
              </a:ext>
            </a:extLst>
          </p:cNvPr>
          <p:cNvSpPr>
            <a:spLocks xmlns:a="http://schemas.openxmlformats.org/drawingml/2006/main" noGrp="1"/>
          </p:cNvSpPr>
          <p:nvPr/>
        </p:nvSpPr>
        <p:spPr>
          <a:xfrm xmlns:a="http://schemas.openxmlformats.org/drawingml/2006/main">
            <a:off x="6305550" y="3086100"/>
            <a:ext cx="4667250" cy="857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8" b="0">
                <a:solidFill>
                  <a:srgbClr val="1A3554"/>
                </a:solidFill>
                <a:latin typeface="Aptos"/>
                <a:ea typeface="Aptos"/>
                <a:cs typeface="Aptos"/>
              </a:defRPr>
            </a:pPr>
            <a:r>
              <a:rPr sz="938" b="0">
                <a:solidFill>
                  <a:srgbClr val="1A3554"/>
                </a:solidFill>
                <a:latin typeface="Aptos"/>
                <a:ea typeface="Aptos"/>
                <a:cs typeface="Aptos"/>
              </a:rPr>
              <a:t>• base procedure consultable rapidement</a:t>
            </a:r>
          </a:p>
          <a:p xmlns:a="http://schemas.openxmlformats.org/drawingml/2006/main">
            <a:pPr algn="l">
              <a:defRPr sz="938" b="0">
                <a:solidFill>
                  <a:srgbClr val="1A3554"/>
                </a:solidFill>
                <a:latin typeface="Aptos"/>
                <a:ea typeface="Aptos"/>
                <a:cs typeface="Aptos"/>
              </a:defRPr>
            </a:pPr>
            <a:r>
              <a:rPr sz="938" b="0">
                <a:solidFill>
                  <a:srgbClr val="1A3554"/>
                </a:solidFill>
                <a:latin typeface="Aptos"/>
                <a:ea typeface="Aptos"/>
                <a:cs typeface="Aptos"/>
              </a:rPr>
              <a:t>• reponses homognes pour les equipes support et metier</a:t>
            </a:r>
          </a:p>
          <a:p xmlns:a="http://schemas.openxmlformats.org/drawingml/2006/main">
            <a:pPr algn="l">
              <a:defRPr sz="938" b="0">
                <a:solidFill>
                  <a:srgbClr val="1A3554"/>
                </a:solidFill>
                <a:latin typeface="Aptos"/>
                <a:ea typeface="Aptos"/>
                <a:cs typeface="Aptos"/>
              </a:defRPr>
            </a:pPr>
            <a:r>
              <a:rPr sz="938" b="0">
                <a:solidFill>
                  <a:srgbClr val="1A3554"/>
                </a:solidFill>
                <a:latin typeface="Aptos"/>
                <a:ea typeface="Aptos"/>
                <a:cs typeface="Aptos"/>
              </a:rPr>
              <a:t>• onboarding accelere sur standards, scripts et points de controle</a:t>
            </a:r>
          </a:p>
          <a:p xmlns:a="http://schemas.openxmlformats.org/drawingml/2006/main">
            <a:pPr algn="l">
              <a:defRPr sz="938" b="0">
                <a:solidFill>
                  <a:srgbClr val="1A3554"/>
                </a:solidFill>
                <a:latin typeface="Aptos"/>
                <a:ea typeface="Aptos"/>
                <a:cs typeface="Aptos"/>
              </a:defRPr>
            </a:pPr>
            <a:r>
              <a:rPr sz="938" b="0">
                <a:solidFill>
                  <a:srgbClr val="1A3554"/>
                </a:solidFill>
                <a:latin typeface="Aptos"/>
                <a:ea typeface="Aptos"/>
                <a:cs typeface="Aptos"/>
              </a:rPr>
              <a:t>• diffusion plus simple des mises a jour internes</a:t>
            </a:r>
          </a:p>
        </p:txBody>
      </p:sp>
      <p:sp>
        <p:nvSpPr>
          <p:cNvPr id="19" name="">
            <a:extLst xmlns:a="http://schemas.openxmlformats.org/drawingml/2006/main">
              <a:ext uri="{FF2B5EF4-FFF2-40B4-BE49-F238E27FC236}">
                <a16:creationId xmlns:a16="http://schemas.microsoft.com/office/drawing/2014/main" id="{A868A481-709A-491E-A54C-F2C2AEE8A375}"/>
              </a:ext>
            </a:extLst>
          </p:cNvPr>
          <p:cNvSpPr>
            <a:spLocks xmlns:a="http://schemas.openxmlformats.org/drawingml/2006/main" noGrp="1"/>
          </p:cNvSpPr>
          <p:nvPr/>
        </p:nvSpPr>
        <p:spPr>
          <a:xfrm xmlns:a="http://schemas.openxmlformats.org/drawingml/2006/main">
            <a:off x="6305550" y="4114800"/>
            <a:ext cx="4743450" cy="800100"/>
          </a:xfrm>
          <a:prstGeom xmlns:a="http://schemas.openxmlformats.org/drawingml/2006/main" prst="rect">
            <a:avLst/>
          </a:prstGeom>
          <a:solidFill xmlns:a="http://schemas.openxmlformats.org/drawingml/2006/main">
            <a:srgbClr val="FBF5EE"/>
          </a:solidFill>
          <a:ln xmlns:a="http://schemas.openxmlformats.org/drawingml/2006/main" w="9525">
            <a:solidFill>
              <a:srgbClr val="D7CEC3"/>
            </a:solidFill>
            <a:prstDash val="solid"/>
          </a:ln>
        </p:spPr>
      </p:sp>
      <p:sp>
        <p:nvSpPr>
          <p:cNvPr id="20" name="">
            <a:extLst xmlns:a="http://schemas.openxmlformats.org/drawingml/2006/main">
              <a:ext uri="{FF2B5EF4-FFF2-40B4-BE49-F238E27FC236}">
                <a16:creationId xmlns:a16="http://schemas.microsoft.com/office/drawing/2014/main" id="{F10B8936-DE19-4374-B0D8-05D9135278E5}"/>
              </a:ext>
            </a:extLst>
          </p:cNvPr>
          <p:cNvSpPr>
            <a:spLocks xmlns:a="http://schemas.openxmlformats.org/drawingml/2006/main" noGrp="1"/>
          </p:cNvSpPr>
          <p:nvPr/>
        </p:nvSpPr>
        <p:spPr>
          <a:xfrm xmlns:a="http://schemas.openxmlformats.org/drawingml/2006/main">
            <a:off x="6477000" y="4362450"/>
            <a:ext cx="4381500" cy="3429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63" b="1">
                <a:solidFill>
                  <a:srgbClr val="1A3554"/>
                </a:solidFill>
                <a:latin typeface="Aptos"/>
                <a:ea typeface="Aptos"/>
                <a:cs typeface="Aptos"/>
              </a:defRPr>
            </a:pPr>
            <a:r>
              <a:rPr sz="863" b="1">
                <a:solidFill>
                  <a:srgbClr val="1A3554"/>
                </a:solidFill>
                <a:latin typeface="Aptos"/>
                <a:ea typeface="Aptos"/>
                <a:cs typeface="Aptos"/>
              </a:rPr>
              <a:t>KPI: temps de recherche d'information | temps d'onboarding | taux d'usage de la base interne</a:t>
            </a:r>
          </a:p>
        </p:txBody>
      </p:sp>
      <p:sp>
        <p:nvSpPr>
          <p:cNvPr id="21" name="">
            <a:extLst xmlns:a="http://schemas.openxmlformats.org/drawingml/2006/main">
              <a:ext uri="{FF2B5EF4-FFF2-40B4-BE49-F238E27FC236}">
                <a16:creationId xmlns:a16="http://schemas.microsoft.com/office/drawing/2014/main" id="{799C973C-F27D-438F-BDE6-1573C3B923EC}"/>
              </a:ext>
            </a:extLst>
          </p:cNvPr>
          <p:cNvSpPr>
            <a:spLocks xmlns:a="http://schemas.openxmlformats.org/drawingml/2006/main" noGrp="1"/>
          </p:cNvSpPr>
          <p:nvPr/>
        </p:nvSpPr>
        <p:spPr>
          <a:xfrm xmlns:a="http://schemas.openxmlformats.org/drawingml/2006/main">
            <a:off x="685800" y="5391150"/>
            <a:ext cx="10820400" cy="762000"/>
          </a:xfrm>
          <a:prstGeom xmlns:a="http://schemas.openxmlformats.org/drawingml/2006/main" prst="rect">
            <a:avLst/>
          </a:prstGeom>
          <a:solidFill xmlns:a="http://schemas.openxmlformats.org/drawingml/2006/main">
            <a:srgbClr val="1C8A78"/>
          </a:solidFill>
          <a:ln xmlns:a="http://schemas.openxmlformats.org/drawingml/2006/main" w="0">
            <a:solidFill>
              <a:srgbClr val="1C8A78"/>
            </a:solidFill>
            <a:prstDash val="solid"/>
          </a:ln>
        </p:spPr>
      </p:sp>
      <p:sp>
        <p:nvSpPr>
          <p:cNvPr id="22" name="">
            <a:extLst xmlns:a="http://schemas.openxmlformats.org/drawingml/2006/main">
              <a:ext uri="{FF2B5EF4-FFF2-40B4-BE49-F238E27FC236}">
                <a16:creationId xmlns:a16="http://schemas.microsoft.com/office/drawing/2014/main" id="{47938AF2-842E-46E8-B247-9CA2ED3C425B}"/>
              </a:ext>
            </a:extLst>
          </p:cNvPr>
          <p:cNvSpPr>
            <a:spLocks xmlns:a="http://schemas.openxmlformats.org/drawingml/2006/main" noGrp="1"/>
          </p:cNvSpPr>
          <p:nvPr/>
        </p:nvSpPr>
        <p:spPr>
          <a:xfrm xmlns:a="http://schemas.openxmlformats.org/drawingml/2006/main">
            <a:off x="914400" y="5581650"/>
            <a:ext cx="161925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DDF5EF"/>
                </a:solidFill>
                <a:latin typeface="Aptos"/>
                <a:ea typeface="Aptos"/>
                <a:cs typeface="Aptos"/>
              </a:defRPr>
            </a:pPr>
            <a:r>
              <a:rPr sz="750" b="1">
                <a:solidFill>
                  <a:srgbClr val="DDF5EF"/>
                </a:solidFill>
                <a:latin typeface="Aptos"/>
                <a:ea typeface="Aptos"/>
                <a:cs typeface="Aptos"/>
              </a:rPr>
              <a:t>Pourquoi cette slide compte</a:t>
            </a:r>
          </a:p>
        </p:txBody>
      </p:sp>
      <p:sp>
        <p:nvSpPr>
          <p:cNvPr id="23" name="">
            <a:extLst xmlns:a="http://schemas.openxmlformats.org/drawingml/2006/main">
              <a:ext uri="{FF2B5EF4-FFF2-40B4-BE49-F238E27FC236}">
                <a16:creationId xmlns:a16="http://schemas.microsoft.com/office/drawing/2014/main" id="{8FDFFCA4-D943-45A1-8A58-AFD1B3E1B56D}"/>
              </a:ext>
            </a:extLst>
          </p:cNvPr>
          <p:cNvSpPr>
            <a:spLocks xmlns:a="http://schemas.openxmlformats.org/drawingml/2006/main" noGrp="1"/>
          </p:cNvSpPr>
          <p:nvPr/>
        </p:nvSpPr>
        <p:spPr>
          <a:xfrm xmlns:a="http://schemas.openxmlformats.org/drawingml/2006/main">
            <a:off x="914400" y="5791200"/>
            <a:ext cx="53340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650" b="1">
                <a:solidFill>
                  <a:srgbClr val="FFFFFF"/>
                </a:solidFill>
                <a:latin typeface="Aptos Display"/>
                <a:ea typeface="Aptos Display"/>
                <a:cs typeface="Aptos Display"/>
              </a:defRPr>
            </a:pPr>
            <a:r>
              <a:rPr sz="1650" b="1">
                <a:solidFill>
                  <a:srgbClr val="FFFFFF"/>
                </a:solidFill>
                <a:latin typeface="Aptos Display"/>
                <a:ea typeface="Aptos Display"/>
                <a:cs typeface="Aptos Display"/>
              </a:rPr>
              <a:t>La formation devient credible quand elle prepare des usages visibles.</a:t>
            </a:r>
          </a:p>
        </p:txBody>
      </p:sp>
      <p:sp>
        <p:nvSpPr>
          <p:cNvPr id="24" name="">
            <a:extLst xmlns:a="http://schemas.openxmlformats.org/drawingml/2006/main">
              <a:ext uri="{FF2B5EF4-FFF2-40B4-BE49-F238E27FC236}">
                <a16:creationId xmlns:a16="http://schemas.microsoft.com/office/drawing/2014/main" id="{ADA87EB8-3188-4252-AA59-94C756115D8A}"/>
              </a:ext>
            </a:extLst>
          </p:cNvPr>
          <p:cNvSpPr>
            <a:spLocks xmlns:a="http://schemas.openxmlformats.org/drawingml/2006/main" noGrp="1"/>
          </p:cNvSpPr>
          <p:nvPr/>
        </p:nvSpPr>
        <p:spPr>
          <a:xfrm xmlns:a="http://schemas.openxmlformats.org/drawingml/2006/main">
            <a:off x="6667500" y="5734050"/>
            <a:ext cx="447675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8" b="0">
                <a:solidFill>
                  <a:srgbClr val="FFFFFF"/>
                </a:solidFill>
                <a:latin typeface="Aptos"/>
                <a:ea typeface="Aptos"/>
                <a:cs typeface="Aptos"/>
              </a:defRPr>
            </a:pPr>
            <a:r>
              <a:rPr sz="938" b="0">
                <a:solidFill>
                  <a:srgbClr val="FFFFFF"/>
                </a:solidFill>
                <a:latin typeface="Aptos"/>
                <a:ea typeface="Aptos"/>
                <a:cs typeface="Aptos"/>
              </a:rPr>
              <a:t>Pour ELTON CI, cela permet d'eviter un discours abstrait: les equipes voient tout de suite sur quels gestes metier l'IA doit les aider.</a:t>
            </a:r>
          </a:p>
        </p:txBody>
      </p:sp>
      <p:sp>
        <p:nvSpPr>
          <p:cNvPr id="25" name="">
            <a:extLst xmlns:a="http://schemas.openxmlformats.org/drawingml/2006/main">
              <a:ext uri="{FF2B5EF4-FFF2-40B4-BE49-F238E27FC236}">
                <a16:creationId xmlns:a16="http://schemas.microsoft.com/office/drawing/2014/main" id="{65315CFC-B03B-4755-A289-15D5A02CFF74}"/>
              </a:ext>
            </a:extLst>
          </p:cNvPr>
          <p:cNvSpPr>
            <a:spLocks xmlns:a="http://schemas.openxmlformats.org/drawingml/2006/main" noGrp="1"/>
          </p:cNvSpPr>
          <p:nvPr/>
        </p:nvSpPr>
        <p:spPr>
          <a:xfrm xmlns:a="http://schemas.openxmlformats.org/drawingml/2006/main">
            <a:off x="647700" y="6496050"/>
            <a:ext cx="10896600" cy="9525"/>
          </a:xfrm>
          <a:prstGeom xmlns:a="http://schemas.openxmlformats.org/drawingml/2006/main" prst="rect">
            <a:avLst/>
          </a:prstGeom>
          <a:solidFill xmlns:a="http://schemas.openxmlformats.org/drawingml/2006/main">
            <a:srgbClr val="D7CEC3"/>
          </a:solidFill>
          <a:ln xmlns:a="http://schemas.openxmlformats.org/drawingml/2006/main" w="0">
            <a:solidFill>
              <a:srgbClr val="000000">
                <a:alpha val="0"/>
              </a:srgbClr>
            </a:solidFill>
            <a:prstDash val="solid"/>
          </a:ln>
        </p:spPr>
      </p:sp>
      <p:sp>
        <p:nvSpPr>
          <p:cNvPr id="26" name="">
            <a:extLst xmlns:a="http://schemas.openxmlformats.org/drawingml/2006/main">
              <a:ext uri="{FF2B5EF4-FFF2-40B4-BE49-F238E27FC236}">
                <a16:creationId xmlns:a16="http://schemas.microsoft.com/office/drawing/2014/main" id="{99B1D698-3D50-4749-9A80-244CE4C5407C}"/>
              </a:ext>
            </a:extLst>
          </p:cNvPr>
          <p:cNvSpPr>
            <a:spLocks xmlns:a="http://schemas.openxmlformats.org/drawingml/2006/main" noGrp="1"/>
          </p:cNvSpPr>
          <p:nvPr/>
        </p:nvSpPr>
        <p:spPr>
          <a:xfrm xmlns:a="http://schemas.openxmlformats.org/drawingml/2006/main">
            <a:off x="685800" y="6572250"/>
            <a:ext cx="857250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38" b="0">
                <a:solidFill>
                  <a:srgbClr val="617086"/>
                </a:solidFill>
                <a:latin typeface="Aptos"/>
                <a:ea typeface="Aptos"/>
                <a:cs typeface="Aptos"/>
              </a:defRPr>
            </a:pPr>
            <a:r>
              <a:rPr sz="638" b="0">
                <a:solidFill>
                  <a:srgbClr val="617086"/>
                </a:solidFill>
                <a:latin typeface="Aptos"/>
                <a:ea typeface="Aptos"/>
                <a:cs typeface="Aptos"/>
              </a:rPr>
              <a:t>TransferAI | Hub AI de Nettelecom CI | Proposition ciblee ELTON CI</a:t>
            </a:r>
          </a:p>
        </p:txBody>
      </p:sp>
      <p:sp>
        <p:nvSpPr>
          <p:cNvPr id="27" name="">
            <a:extLst xmlns:a="http://schemas.openxmlformats.org/drawingml/2006/main">
              <a:ext uri="{FF2B5EF4-FFF2-40B4-BE49-F238E27FC236}">
                <a16:creationId xmlns:a16="http://schemas.microsoft.com/office/drawing/2014/main" id="{622FF372-2E13-4DC2-8EE7-CB568E7A8364}"/>
              </a:ext>
            </a:extLst>
          </p:cNvPr>
          <p:cNvSpPr>
            <a:spLocks xmlns:a="http://schemas.openxmlformats.org/drawingml/2006/main" noGrp="1"/>
          </p:cNvSpPr>
          <p:nvPr/>
        </p:nvSpPr>
        <p:spPr>
          <a:xfrm xmlns:a="http://schemas.openxmlformats.org/drawingml/2006/main">
            <a:off x="11049000" y="6553200"/>
            <a:ext cx="3429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750" b="1">
                <a:solidFill>
                  <a:srgbClr val="1A3554"/>
                </a:solidFill>
                <a:latin typeface="Aptos"/>
                <a:ea typeface="Aptos"/>
                <a:cs typeface="Aptos"/>
              </a:defRPr>
            </a:pPr>
            <a:r>
              <a:rPr sz="750" b="1">
                <a:solidFill>
                  <a:srgbClr val="1A3554"/>
                </a:solidFill>
                <a:latin typeface="Aptos"/>
                <a:ea typeface="Aptos"/>
                <a:cs typeface="Aptos"/>
              </a:rPr>
              <a:t>07</a:t>
            </a:r>
          </a:p>
        </p:txBody>
      </p:sp>
    </p:spTree>
    <p:extLst>
      <p:ext uri="{BB962C8B-B14F-4D97-AF65-F5344CB8AC3E}">
        <p14:creationId xmlns:p14="http://schemas.microsoft.com/office/powerpoint/2010/main" val="239438654"/>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C8261E8C-CC30-4B02-874B-B40051547F53}"/>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EFE7"/>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687BA306-A4A0-45BC-B455-4A7B10CFD275}"/>
              </a:ext>
            </a:extLst>
          </p:cNvPr>
          <p:cNvSpPr>
            <a:spLocks xmlns:a="http://schemas.openxmlformats.org/drawingml/2006/main" noGrp="1"/>
          </p:cNvSpPr>
          <p:nvPr/>
        </p:nvSpPr>
        <p:spPr>
          <a:xfrm xmlns:a="http://schemas.openxmlformats.org/drawingml/2006/main">
            <a:off x="685800" y="49530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88" b="1">
                <a:solidFill>
                  <a:srgbClr val="E76F1D"/>
                </a:solidFill>
                <a:latin typeface="Aptos"/>
                <a:ea typeface="Aptos"/>
                <a:cs typeface="Aptos"/>
              </a:defRPr>
            </a:pPr>
            <a:r>
              <a:rPr sz="788" b="1">
                <a:solidFill>
                  <a:srgbClr val="E76F1D"/>
                </a:solidFill>
                <a:latin typeface="Aptos"/>
                <a:ea typeface="Aptos"/>
                <a:cs typeface="Aptos"/>
              </a:rPr>
              <a:t>PARCOURS 90 JOURS</a:t>
            </a:r>
          </a:p>
        </p:txBody>
      </p:sp>
      <p:sp>
        <p:nvSpPr>
          <p:cNvPr id="3" name="">
            <a:extLst xmlns:a="http://schemas.openxmlformats.org/drawingml/2006/main">
              <a:ext uri="{FF2B5EF4-FFF2-40B4-BE49-F238E27FC236}">
                <a16:creationId xmlns:a16="http://schemas.microsoft.com/office/drawing/2014/main" id="{1DD6A26D-0FE0-4B78-AC75-BE1CDBE783CC}"/>
              </a:ext>
            </a:extLst>
          </p:cNvPr>
          <p:cNvSpPr>
            <a:spLocks xmlns:a="http://schemas.openxmlformats.org/drawingml/2006/main" noGrp="1"/>
          </p:cNvSpPr>
          <p:nvPr/>
        </p:nvSpPr>
        <p:spPr>
          <a:xfrm xmlns:a="http://schemas.openxmlformats.org/drawingml/2006/main">
            <a:off x="685800" y="819150"/>
            <a:ext cx="8572500" cy="800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550" b="1">
                <a:solidFill>
                  <a:srgbClr val="1A3554"/>
                </a:solidFill>
                <a:latin typeface="Aptos Display"/>
                <a:ea typeface="Aptos Display"/>
                <a:cs typeface="Aptos Display"/>
              </a:defRPr>
            </a:pPr>
            <a:r>
              <a:rPr sz="2550" b="1">
                <a:solidFill>
                  <a:srgbClr val="1A3554"/>
                </a:solidFill>
                <a:latin typeface="Aptos Display"/>
                <a:ea typeface="Aptos Display"/>
                <a:cs typeface="Aptos Display"/>
              </a:rPr>
              <a:t>La sequence recommandee pour passer du cadrage au pilote</a:t>
            </a:r>
          </a:p>
        </p:txBody>
      </p:sp>
      <p:sp>
        <p:nvSpPr>
          <p:cNvPr id="4" name="">
            <a:extLst xmlns:a="http://schemas.openxmlformats.org/drawingml/2006/main">
              <a:ext uri="{FF2B5EF4-FFF2-40B4-BE49-F238E27FC236}">
                <a16:creationId xmlns:a16="http://schemas.microsoft.com/office/drawing/2014/main" id="{74629D25-EFC7-4D01-BC75-E1351E3E027C}"/>
              </a:ext>
            </a:extLst>
          </p:cNvPr>
          <p:cNvSpPr>
            <a:spLocks xmlns:a="http://schemas.openxmlformats.org/drawingml/2006/main" noGrp="1"/>
          </p:cNvSpPr>
          <p:nvPr/>
        </p:nvSpPr>
        <p:spPr>
          <a:xfrm xmlns:a="http://schemas.openxmlformats.org/drawingml/2006/main">
            <a:off x="685800" y="1676400"/>
            <a:ext cx="89535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617086"/>
                </a:solidFill>
                <a:latin typeface="Aptos"/>
                <a:ea typeface="Aptos"/>
                <a:cs typeface="Aptos"/>
              </a:defRPr>
            </a:pPr>
            <a:r>
              <a:rPr sz="1050" b="0">
                <a:solidFill>
                  <a:srgbClr val="617086"/>
                </a:solidFill>
                <a:latin typeface="Aptos"/>
                <a:ea typeface="Aptos"/>
                <a:cs typeface="Aptos"/>
              </a:rPr>
              <a:t>Le bon scenario n'est pas de tout vendre d'un bloc, mais d'enchainer les etapes utiles dans le bon ordre, avec validation a chaque palier.</a:t>
            </a:r>
          </a:p>
        </p:txBody>
      </p:sp>
      <p:sp>
        <p:nvSpPr>
          <p:cNvPr id="5" name="">
            <a:extLst xmlns:a="http://schemas.openxmlformats.org/drawingml/2006/main">
              <a:ext uri="{FF2B5EF4-FFF2-40B4-BE49-F238E27FC236}">
                <a16:creationId xmlns:a16="http://schemas.microsoft.com/office/drawing/2014/main" id="{39CE4303-4C40-401A-B1FF-AF3546B574E3}"/>
              </a:ext>
            </a:extLst>
          </p:cNvPr>
          <p:cNvSpPr>
            <a:spLocks xmlns:a="http://schemas.openxmlformats.org/drawingml/2006/main" noGrp="1"/>
          </p:cNvSpPr>
          <p:nvPr/>
        </p:nvSpPr>
        <p:spPr>
          <a:xfrm xmlns:a="http://schemas.openxmlformats.org/drawingml/2006/main">
            <a:off x="685800" y="2247900"/>
            <a:ext cx="2438400" cy="2362200"/>
          </a:xfrm>
          <a:prstGeom xmlns:a="http://schemas.openxmlformats.org/drawingml/2006/main" prst="rect">
            <a:avLst/>
          </a:prstGeom>
          <a:solidFill xmlns:a="http://schemas.openxmlformats.org/drawingml/2006/main">
            <a:srgbClr val="FFFDFC"/>
          </a:solidFill>
          <a:ln xmlns:a="http://schemas.openxmlformats.org/drawingml/2006/main" w="9525">
            <a:solidFill>
              <a:srgbClr val="D7CEC3"/>
            </a:solidFill>
            <a:prstDash val="solid"/>
          </a:ln>
        </p:spPr>
      </p:sp>
      <p:sp>
        <p:nvSpPr>
          <p:cNvPr id="6" name="">
            <a:extLst xmlns:a="http://schemas.openxmlformats.org/drawingml/2006/main">
              <a:ext uri="{FF2B5EF4-FFF2-40B4-BE49-F238E27FC236}">
                <a16:creationId xmlns:a16="http://schemas.microsoft.com/office/drawing/2014/main" id="{7482180A-9328-4A40-8CF8-D5A0FAFE0EE7}"/>
              </a:ext>
            </a:extLst>
          </p:cNvPr>
          <p:cNvSpPr>
            <a:spLocks xmlns:a="http://schemas.openxmlformats.org/drawingml/2006/main" noGrp="1"/>
          </p:cNvSpPr>
          <p:nvPr/>
        </p:nvSpPr>
        <p:spPr>
          <a:xfrm xmlns:a="http://schemas.openxmlformats.org/drawingml/2006/main">
            <a:off x="857250" y="2400300"/>
            <a:ext cx="5715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00" b="1">
                <a:solidFill>
                  <a:srgbClr val="E76F1D"/>
                </a:solidFill>
                <a:latin typeface="Aptos Display"/>
                <a:ea typeface="Aptos Display"/>
                <a:cs typeface="Aptos Display"/>
              </a:defRPr>
            </a:pPr>
            <a:r>
              <a:rPr sz="1500" b="1">
                <a:solidFill>
                  <a:srgbClr val="E76F1D"/>
                </a:solidFill>
                <a:latin typeface="Aptos Display"/>
                <a:ea typeface="Aptos Display"/>
                <a:cs typeface="Aptos Display"/>
              </a:rPr>
              <a:t>01</a:t>
            </a:r>
          </a:p>
        </p:txBody>
      </p:sp>
      <p:sp>
        <p:nvSpPr>
          <p:cNvPr id="7" name="">
            <a:extLst xmlns:a="http://schemas.openxmlformats.org/drawingml/2006/main">
              <a:ext uri="{FF2B5EF4-FFF2-40B4-BE49-F238E27FC236}">
                <a16:creationId xmlns:a16="http://schemas.microsoft.com/office/drawing/2014/main" id="{9AA1BF16-1300-46F4-B6BA-8FF05DA8487A}"/>
              </a:ext>
            </a:extLst>
          </p:cNvPr>
          <p:cNvSpPr>
            <a:spLocks xmlns:a="http://schemas.openxmlformats.org/drawingml/2006/main" noGrp="1"/>
          </p:cNvSpPr>
          <p:nvPr/>
        </p:nvSpPr>
        <p:spPr>
          <a:xfrm xmlns:a="http://schemas.openxmlformats.org/drawingml/2006/main">
            <a:off x="857250" y="2762250"/>
            <a:ext cx="2095500" cy="4953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1">
                <a:solidFill>
                  <a:srgbClr val="1A3554"/>
                </a:solidFill>
                <a:latin typeface="Aptos Display"/>
                <a:ea typeface="Aptos Display"/>
                <a:cs typeface="Aptos Display"/>
              </a:defRPr>
            </a:pPr>
            <a:r>
              <a:rPr sz="1350" b="1">
                <a:solidFill>
                  <a:srgbClr val="1A3554"/>
                </a:solidFill>
                <a:latin typeface="Aptos Display"/>
                <a:ea typeface="Aptos Display"/>
                <a:cs typeface="Aptos Display"/>
              </a:rPr>
              <a:t>J+0 | Audit &amp; cadrage</a:t>
            </a:r>
          </a:p>
        </p:txBody>
      </p:sp>
      <p:sp>
        <p:nvSpPr>
          <p:cNvPr id="8" name="">
            <a:extLst xmlns:a="http://schemas.openxmlformats.org/drawingml/2006/main">
              <a:ext uri="{FF2B5EF4-FFF2-40B4-BE49-F238E27FC236}">
                <a16:creationId xmlns:a16="http://schemas.microsoft.com/office/drawing/2014/main" id="{96FEA4C2-263D-4375-9569-FD8498276C33}"/>
              </a:ext>
            </a:extLst>
          </p:cNvPr>
          <p:cNvSpPr>
            <a:spLocks xmlns:a="http://schemas.openxmlformats.org/drawingml/2006/main" noGrp="1"/>
          </p:cNvSpPr>
          <p:nvPr/>
        </p:nvSpPr>
        <p:spPr>
          <a:xfrm xmlns:a="http://schemas.openxmlformats.org/drawingml/2006/main">
            <a:off x="857250" y="3333750"/>
            <a:ext cx="2095500" cy="11049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8" b="0">
                <a:solidFill>
                  <a:srgbClr val="617086"/>
                </a:solidFill>
                <a:latin typeface="Aptos"/>
                <a:ea typeface="Aptos"/>
                <a:cs typeface="Aptos"/>
              </a:defRPr>
            </a:pPr>
            <a:r>
              <a:rPr sz="938" b="0">
                <a:solidFill>
                  <a:srgbClr val="617086"/>
                </a:solidFill>
                <a:latin typeface="Aptos"/>
                <a:ea typeface="Aptos"/>
                <a:cs typeface="Aptos"/>
              </a:rPr>
              <a:t>Cartographier les irritants, choisir les cas d'usage prioritaires et definir les KPI de preuve.</a:t>
            </a:r>
          </a:p>
        </p:txBody>
      </p:sp>
      <p:sp>
        <p:nvSpPr>
          <p:cNvPr id="9" name="">
            <a:extLst xmlns:a="http://schemas.openxmlformats.org/drawingml/2006/main">
              <a:ext uri="{FF2B5EF4-FFF2-40B4-BE49-F238E27FC236}">
                <a16:creationId xmlns:a16="http://schemas.microsoft.com/office/drawing/2014/main" id="{0F871735-2BBA-49D5-9818-E9E85DA72D87}"/>
              </a:ext>
            </a:extLst>
          </p:cNvPr>
          <p:cNvSpPr>
            <a:spLocks xmlns:a="http://schemas.openxmlformats.org/drawingml/2006/main" noGrp="1"/>
          </p:cNvSpPr>
          <p:nvPr/>
        </p:nvSpPr>
        <p:spPr>
          <a:xfrm xmlns:a="http://schemas.openxmlformats.org/drawingml/2006/main">
            <a:off x="3352800" y="2247900"/>
            <a:ext cx="2438400" cy="2362200"/>
          </a:xfrm>
          <a:prstGeom xmlns:a="http://schemas.openxmlformats.org/drawingml/2006/main" prst="rect">
            <a:avLst/>
          </a:prstGeom>
          <a:solidFill xmlns:a="http://schemas.openxmlformats.org/drawingml/2006/main">
            <a:srgbClr val="FFFDFC"/>
          </a:solidFill>
          <a:ln xmlns:a="http://schemas.openxmlformats.org/drawingml/2006/main" w="9525">
            <a:solidFill>
              <a:srgbClr val="D7CEC3"/>
            </a:solidFill>
            <a:prstDash val="solid"/>
          </a:ln>
        </p:spPr>
      </p:sp>
      <p:sp>
        <p:nvSpPr>
          <p:cNvPr id="10" name="">
            <a:extLst xmlns:a="http://schemas.openxmlformats.org/drawingml/2006/main">
              <a:ext uri="{FF2B5EF4-FFF2-40B4-BE49-F238E27FC236}">
                <a16:creationId xmlns:a16="http://schemas.microsoft.com/office/drawing/2014/main" id="{928CC52E-59A1-4EF8-A156-DA519C91A34E}"/>
              </a:ext>
            </a:extLst>
          </p:cNvPr>
          <p:cNvSpPr>
            <a:spLocks xmlns:a="http://schemas.openxmlformats.org/drawingml/2006/main" noGrp="1"/>
          </p:cNvSpPr>
          <p:nvPr/>
        </p:nvSpPr>
        <p:spPr>
          <a:xfrm xmlns:a="http://schemas.openxmlformats.org/drawingml/2006/main">
            <a:off x="3524250" y="2400300"/>
            <a:ext cx="5715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00" b="1">
                <a:solidFill>
                  <a:srgbClr val="1C8A78"/>
                </a:solidFill>
                <a:latin typeface="Aptos Display"/>
                <a:ea typeface="Aptos Display"/>
                <a:cs typeface="Aptos Display"/>
              </a:defRPr>
            </a:pPr>
            <a:r>
              <a:rPr sz="1500" b="1">
                <a:solidFill>
                  <a:srgbClr val="1C8A78"/>
                </a:solidFill>
                <a:latin typeface="Aptos Display"/>
                <a:ea typeface="Aptos Display"/>
                <a:cs typeface="Aptos Display"/>
              </a:rPr>
              <a:t>02</a:t>
            </a:r>
          </a:p>
        </p:txBody>
      </p:sp>
      <p:sp>
        <p:nvSpPr>
          <p:cNvPr id="11" name="">
            <a:extLst xmlns:a="http://schemas.openxmlformats.org/drawingml/2006/main">
              <a:ext uri="{FF2B5EF4-FFF2-40B4-BE49-F238E27FC236}">
                <a16:creationId xmlns:a16="http://schemas.microsoft.com/office/drawing/2014/main" id="{E0836345-4A44-43EF-9C6E-EB43E0F57958}"/>
              </a:ext>
            </a:extLst>
          </p:cNvPr>
          <p:cNvSpPr>
            <a:spLocks xmlns:a="http://schemas.openxmlformats.org/drawingml/2006/main" noGrp="1"/>
          </p:cNvSpPr>
          <p:nvPr/>
        </p:nvSpPr>
        <p:spPr>
          <a:xfrm xmlns:a="http://schemas.openxmlformats.org/drawingml/2006/main">
            <a:off x="3524250" y="2762250"/>
            <a:ext cx="2095500" cy="4953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1">
                <a:solidFill>
                  <a:srgbClr val="1A3554"/>
                </a:solidFill>
                <a:latin typeface="Aptos Display"/>
                <a:ea typeface="Aptos Display"/>
                <a:cs typeface="Aptos Display"/>
              </a:defRPr>
            </a:pPr>
            <a:r>
              <a:rPr sz="1350" b="1">
                <a:solidFill>
                  <a:srgbClr val="1A3554"/>
                </a:solidFill>
                <a:latin typeface="Aptos Display"/>
                <a:ea typeface="Aptos Display"/>
                <a:cs typeface="Aptos Display"/>
              </a:rPr>
              <a:t>J+15 | Prototype cible</a:t>
            </a:r>
          </a:p>
        </p:txBody>
      </p:sp>
      <p:sp>
        <p:nvSpPr>
          <p:cNvPr id="12" name="">
            <a:extLst xmlns:a="http://schemas.openxmlformats.org/drawingml/2006/main">
              <a:ext uri="{FF2B5EF4-FFF2-40B4-BE49-F238E27FC236}">
                <a16:creationId xmlns:a16="http://schemas.microsoft.com/office/drawing/2014/main" id="{75FFD8FC-5C9A-4E6C-8D95-A942BAD502B1}"/>
              </a:ext>
            </a:extLst>
          </p:cNvPr>
          <p:cNvSpPr>
            <a:spLocks xmlns:a="http://schemas.openxmlformats.org/drawingml/2006/main" noGrp="1"/>
          </p:cNvSpPr>
          <p:nvPr/>
        </p:nvSpPr>
        <p:spPr>
          <a:xfrm xmlns:a="http://schemas.openxmlformats.org/drawingml/2006/main">
            <a:off x="3524250" y="3333750"/>
            <a:ext cx="2095500" cy="11049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8" b="0">
                <a:solidFill>
                  <a:srgbClr val="617086"/>
                </a:solidFill>
                <a:latin typeface="Aptos"/>
                <a:ea typeface="Aptos"/>
                <a:cs typeface="Aptos"/>
              </a:defRPr>
            </a:pPr>
            <a:r>
              <a:rPr sz="938" b="0">
                <a:solidFill>
                  <a:srgbClr val="617086"/>
                </a:solidFill>
                <a:latin typeface="Aptos"/>
                <a:ea typeface="Aptos"/>
                <a:cs typeface="Aptos"/>
              </a:rPr>
              <a:t>Produire un premier livrable exploitable: synthese, tableau de bord, assistant ou routine de pilotage.</a:t>
            </a:r>
          </a:p>
        </p:txBody>
      </p:sp>
      <p:sp>
        <p:nvSpPr>
          <p:cNvPr id="13" name="">
            <a:extLst xmlns:a="http://schemas.openxmlformats.org/drawingml/2006/main">
              <a:ext uri="{FF2B5EF4-FFF2-40B4-BE49-F238E27FC236}">
                <a16:creationId xmlns:a16="http://schemas.microsoft.com/office/drawing/2014/main" id="{3601EC8E-6AAA-461B-AEB8-973F69277457}"/>
              </a:ext>
            </a:extLst>
          </p:cNvPr>
          <p:cNvSpPr>
            <a:spLocks xmlns:a="http://schemas.openxmlformats.org/drawingml/2006/main" noGrp="1"/>
          </p:cNvSpPr>
          <p:nvPr/>
        </p:nvSpPr>
        <p:spPr>
          <a:xfrm xmlns:a="http://schemas.openxmlformats.org/drawingml/2006/main">
            <a:off x="6019800" y="2247900"/>
            <a:ext cx="2438400" cy="2362200"/>
          </a:xfrm>
          <a:prstGeom xmlns:a="http://schemas.openxmlformats.org/drawingml/2006/main" prst="rect">
            <a:avLst/>
          </a:prstGeom>
          <a:solidFill xmlns:a="http://schemas.openxmlformats.org/drawingml/2006/main">
            <a:srgbClr val="FFFDFC"/>
          </a:solidFill>
          <a:ln xmlns:a="http://schemas.openxmlformats.org/drawingml/2006/main" w="9525">
            <a:solidFill>
              <a:srgbClr val="D7CEC3"/>
            </a:solidFill>
            <a:prstDash val="solid"/>
          </a:ln>
        </p:spPr>
      </p:sp>
      <p:sp>
        <p:nvSpPr>
          <p:cNvPr id="14" name="">
            <a:extLst xmlns:a="http://schemas.openxmlformats.org/drawingml/2006/main">
              <a:ext uri="{FF2B5EF4-FFF2-40B4-BE49-F238E27FC236}">
                <a16:creationId xmlns:a16="http://schemas.microsoft.com/office/drawing/2014/main" id="{EE9A5F14-EF22-4B4D-81E5-BEA059E1F498}"/>
              </a:ext>
            </a:extLst>
          </p:cNvPr>
          <p:cNvSpPr>
            <a:spLocks xmlns:a="http://schemas.openxmlformats.org/drawingml/2006/main" noGrp="1"/>
          </p:cNvSpPr>
          <p:nvPr/>
        </p:nvSpPr>
        <p:spPr>
          <a:xfrm xmlns:a="http://schemas.openxmlformats.org/drawingml/2006/main">
            <a:off x="6191250" y="2400300"/>
            <a:ext cx="5715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00" b="1">
                <a:solidFill>
                  <a:srgbClr val="163556"/>
                </a:solidFill>
                <a:latin typeface="Aptos Display"/>
                <a:ea typeface="Aptos Display"/>
                <a:cs typeface="Aptos Display"/>
              </a:defRPr>
            </a:pPr>
            <a:r>
              <a:rPr sz="1500" b="1">
                <a:solidFill>
                  <a:srgbClr val="163556"/>
                </a:solidFill>
                <a:latin typeface="Aptos Display"/>
                <a:ea typeface="Aptos Display"/>
                <a:cs typeface="Aptos Display"/>
              </a:rPr>
              <a:t>03</a:t>
            </a:r>
          </a:p>
        </p:txBody>
      </p:sp>
      <p:sp>
        <p:nvSpPr>
          <p:cNvPr id="15" name="">
            <a:extLst xmlns:a="http://schemas.openxmlformats.org/drawingml/2006/main">
              <a:ext uri="{FF2B5EF4-FFF2-40B4-BE49-F238E27FC236}">
                <a16:creationId xmlns:a16="http://schemas.microsoft.com/office/drawing/2014/main" id="{77208977-F231-4F5A-8091-F636BA7F988D}"/>
              </a:ext>
            </a:extLst>
          </p:cNvPr>
          <p:cNvSpPr>
            <a:spLocks xmlns:a="http://schemas.openxmlformats.org/drawingml/2006/main" noGrp="1"/>
          </p:cNvSpPr>
          <p:nvPr/>
        </p:nvSpPr>
        <p:spPr>
          <a:xfrm xmlns:a="http://schemas.openxmlformats.org/drawingml/2006/main">
            <a:off x="6191250" y="2762250"/>
            <a:ext cx="2095500" cy="4953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1">
                <a:solidFill>
                  <a:srgbClr val="1A3554"/>
                </a:solidFill>
                <a:latin typeface="Aptos Display"/>
                <a:ea typeface="Aptos Display"/>
                <a:cs typeface="Aptos Display"/>
              </a:defRPr>
            </a:pPr>
            <a:r>
              <a:rPr sz="1350" b="1">
                <a:solidFill>
                  <a:srgbClr val="1A3554"/>
                </a:solidFill>
                <a:latin typeface="Aptos Display"/>
                <a:ea typeface="Aptos Display"/>
                <a:cs typeface="Aptos Display"/>
              </a:rPr>
              <a:t>J+45 | Formation &amp; pilote</a:t>
            </a:r>
          </a:p>
        </p:txBody>
      </p:sp>
      <p:sp>
        <p:nvSpPr>
          <p:cNvPr id="16" name="">
            <a:extLst xmlns:a="http://schemas.openxmlformats.org/drawingml/2006/main">
              <a:ext uri="{FF2B5EF4-FFF2-40B4-BE49-F238E27FC236}">
                <a16:creationId xmlns:a16="http://schemas.microsoft.com/office/drawing/2014/main" id="{E76EA6CB-E81F-4F5A-99C1-D7046BA2B31F}"/>
              </a:ext>
            </a:extLst>
          </p:cNvPr>
          <p:cNvSpPr>
            <a:spLocks xmlns:a="http://schemas.openxmlformats.org/drawingml/2006/main" noGrp="1"/>
          </p:cNvSpPr>
          <p:nvPr/>
        </p:nvSpPr>
        <p:spPr>
          <a:xfrm xmlns:a="http://schemas.openxmlformats.org/drawingml/2006/main">
            <a:off x="6191250" y="3333750"/>
            <a:ext cx="2095500" cy="11049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8" b="0">
                <a:solidFill>
                  <a:srgbClr val="617086"/>
                </a:solidFill>
                <a:latin typeface="Aptos"/>
                <a:ea typeface="Aptos"/>
                <a:cs typeface="Aptos"/>
              </a:defRPr>
            </a:pPr>
            <a:r>
              <a:rPr sz="938" b="0">
                <a:solidFill>
                  <a:srgbClr val="617086"/>
                </a:solidFill>
                <a:latin typeface="Aptos"/>
                <a:ea typeface="Aptos"/>
                <a:cs typeface="Aptos"/>
              </a:rPr>
              <a:t>Former la bonne population et lancer le pilote sur un flux concret, avec supervision et revue metier.</a:t>
            </a:r>
          </a:p>
        </p:txBody>
      </p:sp>
      <p:sp>
        <p:nvSpPr>
          <p:cNvPr id="17" name="">
            <a:extLst xmlns:a="http://schemas.openxmlformats.org/drawingml/2006/main">
              <a:ext uri="{FF2B5EF4-FFF2-40B4-BE49-F238E27FC236}">
                <a16:creationId xmlns:a16="http://schemas.microsoft.com/office/drawing/2014/main" id="{6C26155C-A114-45FB-B70D-322F215117F0}"/>
              </a:ext>
            </a:extLst>
          </p:cNvPr>
          <p:cNvSpPr>
            <a:spLocks xmlns:a="http://schemas.openxmlformats.org/drawingml/2006/main" noGrp="1"/>
          </p:cNvSpPr>
          <p:nvPr/>
        </p:nvSpPr>
        <p:spPr>
          <a:xfrm xmlns:a="http://schemas.openxmlformats.org/drawingml/2006/main">
            <a:off x="8686800" y="2247900"/>
            <a:ext cx="2819400" cy="2362200"/>
          </a:xfrm>
          <a:prstGeom xmlns:a="http://schemas.openxmlformats.org/drawingml/2006/main" prst="rect">
            <a:avLst/>
          </a:prstGeom>
          <a:solidFill xmlns:a="http://schemas.openxmlformats.org/drawingml/2006/main">
            <a:srgbClr val="FFFDFC"/>
          </a:solidFill>
          <a:ln xmlns:a="http://schemas.openxmlformats.org/drawingml/2006/main" w="9525">
            <a:solidFill>
              <a:srgbClr val="D7CEC3"/>
            </a:solidFill>
            <a:prstDash val="solid"/>
          </a:ln>
        </p:spPr>
      </p:sp>
      <p:sp>
        <p:nvSpPr>
          <p:cNvPr id="18" name="">
            <a:extLst xmlns:a="http://schemas.openxmlformats.org/drawingml/2006/main">
              <a:ext uri="{FF2B5EF4-FFF2-40B4-BE49-F238E27FC236}">
                <a16:creationId xmlns:a16="http://schemas.microsoft.com/office/drawing/2014/main" id="{D56E0E60-DF26-4D8C-808B-CAEDFCBAB5E1}"/>
              </a:ext>
            </a:extLst>
          </p:cNvPr>
          <p:cNvSpPr>
            <a:spLocks xmlns:a="http://schemas.openxmlformats.org/drawingml/2006/main" noGrp="1"/>
          </p:cNvSpPr>
          <p:nvPr/>
        </p:nvSpPr>
        <p:spPr>
          <a:xfrm xmlns:a="http://schemas.openxmlformats.org/drawingml/2006/main">
            <a:off x="8858250" y="2400300"/>
            <a:ext cx="5715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00" b="1">
                <a:solidFill>
                  <a:srgbClr val="C88C3A"/>
                </a:solidFill>
                <a:latin typeface="Aptos Display"/>
                <a:ea typeface="Aptos Display"/>
                <a:cs typeface="Aptos Display"/>
              </a:defRPr>
            </a:pPr>
            <a:r>
              <a:rPr sz="1500" b="1">
                <a:solidFill>
                  <a:srgbClr val="C88C3A"/>
                </a:solidFill>
                <a:latin typeface="Aptos Display"/>
                <a:ea typeface="Aptos Display"/>
                <a:cs typeface="Aptos Display"/>
              </a:rPr>
              <a:t>04</a:t>
            </a:r>
          </a:p>
        </p:txBody>
      </p:sp>
      <p:sp>
        <p:nvSpPr>
          <p:cNvPr id="19" name="">
            <a:extLst xmlns:a="http://schemas.openxmlformats.org/drawingml/2006/main">
              <a:ext uri="{FF2B5EF4-FFF2-40B4-BE49-F238E27FC236}">
                <a16:creationId xmlns:a16="http://schemas.microsoft.com/office/drawing/2014/main" id="{1DD62780-9D60-40D4-A325-18F5F876A324}"/>
              </a:ext>
            </a:extLst>
          </p:cNvPr>
          <p:cNvSpPr>
            <a:spLocks xmlns:a="http://schemas.openxmlformats.org/drawingml/2006/main" noGrp="1"/>
          </p:cNvSpPr>
          <p:nvPr/>
        </p:nvSpPr>
        <p:spPr>
          <a:xfrm xmlns:a="http://schemas.openxmlformats.org/drawingml/2006/main">
            <a:off x="8858250" y="2762250"/>
            <a:ext cx="2476500" cy="4953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1">
                <a:solidFill>
                  <a:srgbClr val="1A3554"/>
                </a:solidFill>
                <a:latin typeface="Aptos Display"/>
                <a:ea typeface="Aptos Display"/>
                <a:cs typeface="Aptos Display"/>
              </a:defRPr>
            </a:pPr>
            <a:r>
              <a:rPr sz="1350" b="1">
                <a:solidFill>
                  <a:srgbClr val="1A3554"/>
                </a:solidFill>
                <a:latin typeface="Aptos Display"/>
                <a:ea typeface="Aptos Display"/>
                <a:cs typeface="Aptos Display"/>
              </a:rPr>
              <a:t>J+90 | ROI &amp; extension</a:t>
            </a:r>
          </a:p>
        </p:txBody>
      </p:sp>
      <p:sp>
        <p:nvSpPr>
          <p:cNvPr id="20" name="">
            <a:extLst xmlns:a="http://schemas.openxmlformats.org/drawingml/2006/main">
              <a:ext uri="{FF2B5EF4-FFF2-40B4-BE49-F238E27FC236}">
                <a16:creationId xmlns:a16="http://schemas.microsoft.com/office/drawing/2014/main" id="{5E24BEDD-4701-4213-9CA3-7641E9BA34B0}"/>
              </a:ext>
            </a:extLst>
          </p:cNvPr>
          <p:cNvSpPr>
            <a:spLocks xmlns:a="http://schemas.openxmlformats.org/drawingml/2006/main" noGrp="1"/>
          </p:cNvSpPr>
          <p:nvPr/>
        </p:nvSpPr>
        <p:spPr>
          <a:xfrm xmlns:a="http://schemas.openxmlformats.org/drawingml/2006/main">
            <a:off x="8858250" y="3333750"/>
            <a:ext cx="2476500" cy="11049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8" b="0">
                <a:solidFill>
                  <a:srgbClr val="617086"/>
                </a:solidFill>
                <a:latin typeface="Aptos"/>
                <a:ea typeface="Aptos"/>
                <a:cs typeface="Aptos"/>
              </a:defRPr>
            </a:pPr>
            <a:r>
              <a:rPr sz="938" b="0">
                <a:solidFill>
                  <a:srgbClr val="617086"/>
                </a:solidFill>
                <a:latin typeface="Aptos"/>
                <a:ea typeface="Aptos"/>
                <a:cs typeface="Aptos"/>
              </a:rPr>
              <a:t>Mesurer les premiers resultats, documenter les apprentissages et decider ce qui merite d'etre etendu.</a:t>
            </a:r>
          </a:p>
        </p:txBody>
      </p:sp>
      <p:sp>
        <p:nvSpPr>
          <p:cNvPr id="21" name="">
            <a:extLst xmlns:a="http://schemas.openxmlformats.org/drawingml/2006/main">
              <a:ext uri="{FF2B5EF4-FFF2-40B4-BE49-F238E27FC236}">
                <a16:creationId xmlns:a16="http://schemas.microsoft.com/office/drawing/2014/main" id="{50DA0577-81C4-4A31-8303-C1BF6498CBFC}"/>
              </a:ext>
            </a:extLst>
          </p:cNvPr>
          <p:cNvSpPr>
            <a:spLocks xmlns:a="http://schemas.openxmlformats.org/drawingml/2006/main" noGrp="1"/>
          </p:cNvSpPr>
          <p:nvPr/>
        </p:nvSpPr>
        <p:spPr>
          <a:xfrm xmlns:a="http://schemas.openxmlformats.org/drawingml/2006/main">
            <a:off x="685800" y="4953000"/>
            <a:ext cx="10820400" cy="1066800"/>
          </a:xfrm>
          <a:prstGeom xmlns:a="http://schemas.openxmlformats.org/drawingml/2006/main" prst="rect">
            <a:avLst/>
          </a:prstGeom>
          <a:solidFill xmlns:a="http://schemas.openxmlformats.org/drawingml/2006/main">
            <a:srgbClr val="163556"/>
          </a:solidFill>
          <a:ln xmlns:a="http://schemas.openxmlformats.org/drawingml/2006/main" w="0">
            <a:solidFill>
              <a:srgbClr val="163556"/>
            </a:solidFill>
            <a:prstDash val="solid"/>
          </a:ln>
        </p:spPr>
      </p:sp>
      <p:sp>
        <p:nvSpPr>
          <p:cNvPr id="22" name="">
            <a:extLst xmlns:a="http://schemas.openxmlformats.org/drawingml/2006/main">
              <a:ext uri="{FF2B5EF4-FFF2-40B4-BE49-F238E27FC236}">
                <a16:creationId xmlns:a16="http://schemas.microsoft.com/office/drawing/2014/main" id="{1DD51142-E3D5-439E-8065-743F7B8009DB}"/>
              </a:ext>
            </a:extLst>
          </p:cNvPr>
          <p:cNvSpPr>
            <a:spLocks xmlns:a="http://schemas.openxmlformats.org/drawingml/2006/main" noGrp="1"/>
          </p:cNvSpPr>
          <p:nvPr/>
        </p:nvSpPr>
        <p:spPr>
          <a:xfrm xmlns:a="http://schemas.openxmlformats.org/drawingml/2006/main">
            <a:off x="914400" y="5162550"/>
            <a:ext cx="238125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CFE0F0"/>
                </a:solidFill>
                <a:latin typeface="Aptos"/>
                <a:ea typeface="Aptos"/>
                <a:cs typeface="Aptos"/>
              </a:defRPr>
            </a:pPr>
            <a:r>
              <a:rPr sz="750" b="1">
                <a:solidFill>
                  <a:srgbClr val="CFE0F0"/>
                </a:solidFill>
                <a:latin typeface="Aptos"/>
                <a:ea typeface="Aptos"/>
                <a:cs typeface="Aptos"/>
              </a:rPr>
              <a:t>Ce qu'ELTON CI obtient a chaque etape</a:t>
            </a:r>
          </a:p>
        </p:txBody>
      </p:sp>
      <p:sp>
        <p:nvSpPr>
          <p:cNvPr id="23" name="">
            <a:extLst xmlns:a="http://schemas.openxmlformats.org/drawingml/2006/main">
              <a:ext uri="{FF2B5EF4-FFF2-40B4-BE49-F238E27FC236}">
                <a16:creationId xmlns:a16="http://schemas.microsoft.com/office/drawing/2014/main" id="{54AF5682-B4A0-4B83-89F6-71197F5719EC}"/>
              </a:ext>
            </a:extLst>
          </p:cNvPr>
          <p:cNvSpPr>
            <a:spLocks xmlns:a="http://schemas.openxmlformats.org/drawingml/2006/main" noGrp="1"/>
          </p:cNvSpPr>
          <p:nvPr/>
        </p:nvSpPr>
        <p:spPr>
          <a:xfrm xmlns:a="http://schemas.openxmlformats.org/drawingml/2006/main">
            <a:off x="914400" y="5391150"/>
            <a:ext cx="2476500" cy="533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63" b="0">
                <a:solidFill>
                  <a:srgbClr val="FFFFFF"/>
                </a:solidFill>
                <a:latin typeface="Aptos"/>
                <a:ea typeface="Aptos"/>
                <a:cs typeface="Aptos"/>
              </a:defRPr>
            </a:pPr>
            <a:r>
              <a:rPr sz="863" b="0">
                <a:solidFill>
                  <a:srgbClr val="FFFFFF"/>
                </a:solidFill>
                <a:latin typeface="Aptos"/>
                <a:ea typeface="Aptos"/>
                <a:cs typeface="Aptos"/>
              </a:rPr>
              <a:t>• priorites mieux choisies</a:t>
            </a:r>
          </a:p>
          <a:p xmlns:a="http://schemas.openxmlformats.org/drawingml/2006/main">
            <a:pPr algn="l">
              <a:defRPr sz="863" b="0">
                <a:solidFill>
                  <a:srgbClr val="FFFFFF"/>
                </a:solidFill>
                <a:latin typeface="Aptos"/>
                <a:ea typeface="Aptos"/>
                <a:cs typeface="Aptos"/>
              </a:defRPr>
            </a:pPr>
            <a:r>
              <a:rPr sz="863" b="0">
                <a:solidFill>
                  <a:srgbClr val="FFFFFF"/>
                </a:solidFill>
                <a:latin typeface="Aptos"/>
                <a:ea typeface="Aptos"/>
                <a:cs typeface="Aptos"/>
              </a:rPr>
              <a:t>• cas d'usage mieux qualifies</a:t>
            </a:r>
          </a:p>
          <a:p xmlns:a="http://schemas.openxmlformats.org/drawingml/2006/main">
            <a:pPr algn="l">
              <a:defRPr sz="863" b="0">
                <a:solidFill>
                  <a:srgbClr val="FFFFFF"/>
                </a:solidFill>
                <a:latin typeface="Aptos"/>
                <a:ea typeface="Aptos"/>
                <a:cs typeface="Aptos"/>
              </a:defRPr>
            </a:pPr>
            <a:r>
              <a:rPr sz="863" b="0">
                <a:solidFill>
                  <a:srgbClr val="FFFFFF"/>
                </a:solidFill>
                <a:latin typeface="Aptos"/>
                <a:ea typeface="Aptos"/>
                <a:cs typeface="Aptos"/>
              </a:rPr>
              <a:t>• formation plus ciblee</a:t>
            </a:r>
          </a:p>
          <a:p xmlns:a="http://schemas.openxmlformats.org/drawingml/2006/main">
            <a:pPr algn="l">
              <a:defRPr sz="863" b="0">
                <a:solidFill>
                  <a:srgbClr val="FFFFFF"/>
                </a:solidFill>
                <a:latin typeface="Aptos"/>
                <a:ea typeface="Aptos"/>
                <a:cs typeface="Aptos"/>
              </a:defRPr>
            </a:pPr>
            <a:r>
              <a:rPr sz="863" b="0">
                <a:solidFill>
                  <a:srgbClr val="FFFFFF"/>
                </a:solidFill>
                <a:latin typeface="Aptos"/>
                <a:ea typeface="Aptos"/>
                <a:cs typeface="Aptos"/>
              </a:rPr>
              <a:t>• decision plus simple sur le passage a l'echelle</a:t>
            </a:r>
          </a:p>
        </p:txBody>
      </p:sp>
      <p:sp>
        <p:nvSpPr>
          <p:cNvPr id="24" name="">
            <a:extLst xmlns:a="http://schemas.openxmlformats.org/drawingml/2006/main">
              <a:ext uri="{FF2B5EF4-FFF2-40B4-BE49-F238E27FC236}">
                <a16:creationId xmlns:a16="http://schemas.microsoft.com/office/drawing/2014/main" id="{A3B11342-5659-4636-B2B5-877AFD2952E7}"/>
              </a:ext>
            </a:extLst>
          </p:cNvPr>
          <p:cNvSpPr>
            <a:spLocks xmlns:a="http://schemas.openxmlformats.org/drawingml/2006/main" noGrp="1"/>
          </p:cNvSpPr>
          <p:nvPr/>
        </p:nvSpPr>
        <p:spPr>
          <a:xfrm xmlns:a="http://schemas.openxmlformats.org/drawingml/2006/main">
            <a:off x="3943350" y="5505450"/>
            <a:ext cx="70104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8" b="1">
                <a:solidFill>
                  <a:srgbClr val="D7E5F3"/>
                </a:solidFill>
                <a:latin typeface="Aptos"/>
                <a:ea typeface="Aptos"/>
                <a:cs typeface="Aptos"/>
              </a:defRPr>
            </a:pPr>
            <a:r>
              <a:rPr sz="938" b="1">
                <a:solidFill>
                  <a:srgbClr val="D7E5F3"/>
                </a:solidFill>
                <a:latin typeface="Aptos"/>
                <a:ea typeface="Aptos"/>
                <a:cs typeface="Aptos"/>
              </a:rPr>
              <a:t>Principe de gouvernance: aucun passage a l'etape suivante sans validation des livrables, des acces et des usages autorises.</a:t>
            </a:r>
          </a:p>
        </p:txBody>
      </p:sp>
      <p:sp>
        <p:nvSpPr>
          <p:cNvPr id="25" name="">
            <a:extLst xmlns:a="http://schemas.openxmlformats.org/drawingml/2006/main">
              <a:ext uri="{FF2B5EF4-FFF2-40B4-BE49-F238E27FC236}">
                <a16:creationId xmlns:a16="http://schemas.microsoft.com/office/drawing/2014/main" id="{34126CE5-B012-4562-8C17-F73B10712C95}"/>
              </a:ext>
            </a:extLst>
          </p:cNvPr>
          <p:cNvSpPr>
            <a:spLocks xmlns:a="http://schemas.openxmlformats.org/drawingml/2006/main" noGrp="1"/>
          </p:cNvSpPr>
          <p:nvPr/>
        </p:nvSpPr>
        <p:spPr>
          <a:xfrm xmlns:a="http://schemas.openxmlformats.org/drawingml/2006/main">
            <a:off x="647700" y="6496050"/>
            <a:ext cx="10896600" cy="9525"/>
          </a:xfrm>
          <a:prstGeom xmlns:a="http://schemas.openxmlformats.org/drawingml/2006/main" prst="rect">
            <a:avLst/>
          </a:prstGeom>
          <a:solidFill xmlns:a="http://schemas.openxmlformats.org/drawingml/2006/main">
            <a:srgbClr val="D7CEC3"/>
          </a:solidFill>
          <a:ln xmlns:a="http://schemas.openxmlformats.org/drawingml/2006/main" w="0">
            <a:solidFill>
              <a:srgbClr val="000000">
                <a:alpha val="0"/>
              </a:srgbClr>
            </a:solidFill>
            <a:prstDash val="solid"/>
          </a:ln>
        </p:spPr>
      </p:sp>
      <p:sp>
        <p:nvSpPr>
          <p:cNvPr id="26" name="">
            <a:extLst xmlns:a="http://schemas.openxmlformats.org/drawingml/2006/main">
              <a:ext uri="{FF2B5EF4-FFF2-40B4-BE49-F238E27FC236}">
                <a16:creationId xmlns:a16="http://schemas.microsoft.com/office/drawing/2014/main" id="{8408496E-78C8-43E6-8966-3EBA90328145}"/>
              </a:ext>
            </a:extLst>
          </p:cNvPr>
          <p:cNvSpPr>
            <a:spLocks xmlns:a="http://schemas.openxmlformats.org/drawingml/2006/main" noGrp="1"/>
          </p:cNvSpPr>
          <p:nvPr/>
        </p:nvSpPr>
        <p:spPr>
          <a:xfrm xmlns:a="http://schemas.openxmlformats.org/drawingml/2006/main">
            <a:off x="685800" y="6572250"/>
            <a:ext cx="857250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38" b="0">
                <a:solidFill>
                  <a:srgbClr val="617086"/>
                </a:solidFill>
                <a:latin typeface="Aptos"/>
                <a:ea typeface="Aptos"/>
                <a:cs typeface="Aptos"/>
              </a:defRPr>
            </a:pPr>
            <a:r>
              <a:rPr sz="638" b="0">
                <a:solidFill>
                  <a:srgbClr val="617086"/>
                </a:solidFill>
                <a:latin typeface="Aptos"/>
                <a:ea typeface="Aptos"/>
                <a:cs typeface="Aptos"/>
              </a:rPr>
              <a:t>TransferAI | Hub AI de Nettelecom CI | Proposition ciblee ELTON CI</a:t>
            </a:r>
          </a:p>
        </p:txBody>
      </p:sp>
      <p:sp>
        <p:nvSpPr>
          <p:cNvPr id="27" name="">
            <a:extLst xmlns:a="http://schemas.openxmlformats.org/drawingml/2006/main">
              <a:ext uri="{FF2B5EF4-FFF2-40B4-BE49-F238E27FC236}">
                <a16:creationId xmlns:a16="http://schemas.microsoft.com/office/drawing/2014/main" id="{D1D4BB7F-9849-429D-8B9F-1812AE71DCB9}"/>
              </a:ext>
            </a:extLst>
          </p:cNvPr>
          <p:cNvSpPr>
            <a:spLocks xmlns:a="http://schemas.openxmlformats.org/drawingml/2006/main" noGrp="1"/>
          </p:cNvSpPr>
          <p:nvPr/>
        </p:nvSpPr>
        <p:spPr>
          <a:xfrm xmlns:a="http://schemas.openxmlformats.org/drawingml/2006/main">
            <a:off x="11049000" y="6553200"/>
            <a:ext cx="3429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750" b="1">
                <a:solidFill>
                  <a:srgbClr val="1A3554"/>
                </a:solidFill>
                <a:latin typeface="Aptos"/>
                <a:ea typeface="Aptos"/>
                <a:cs typeface="Aptos"/>
              </a:defRPr>
            </a:pPr>
            <a:r>
              <a:rPr sz="750" b="1">
                <a:solidFill>
                  <a:srgbClr val="1A3554"/>
                </a:solidFill>
                <a:latin typeface="Aptos"/>
                <a:ea typeface="Aptos"/>
                <a:cs typeface="Aptos"/>
              </a:rPr>
              <a:t>08</a:t>
            </a:r>
          </a:p>
        </p:txBody>
      </p:sp>
    </p:spTree>
    <p:extLst>
      <p:ext uri="{BB962C8B-B14F-4D97-AF65-F5344CB8AC3E}">
        <p14:creationId xmlns:p14="http://schemas.microsoft.com/office/powerpoint/2010/main" val="477099258"/>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94A78A07-9C2A-478B-8F8F-3AA08CBEF2B9}"/>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EFE7"/>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5357D1CB-0E60-475F-AE99-D01A3ABEADF8}"/>
              </a:ext>
            </a:extLst>
          </p:cNvPr>
          <p:cNvSpPr>
            <a:spLocks xmlns:a="http://schemas.openxmlformats.org/drawingml/2006/main" noGrp="1"/>
          </p:cNvSpPr>
          <p:nvPr/>
        </p:nvSpPr>
        <p:spPr>
          <a:xfrm xmlns:a="http://schemas.openxmlformats.org/drawingml/2006/main">
            <a:off x="685800" y="49530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88" b="1">
                <a:solidFill>
                  <a:srgbClr val="E76F1D"/>
                </a:solidFill>
                <a:latin typeface="Aptos"/>
                <a:ea typeface="Aptos"/>
                <a:cs typeface="Aptos"/>
              </a:defRPr>
            </a:pPr>
            <a:r>
              <a:rPr sz="788" b="1">
                <a:solidFill>
                  <a:srgbClr val="E76F1D"/>
                </a:solidFill>
                <a:latin typeface="Aptos"/>
                <a:ea typeface="Aptos"/>
                <a:cs typeface="Aptos"/>
              </a:rPr>
              <a:t>OFFRE RECOMMANDEE</a:t>
            </a:r>
          </a:p>
        </p:txBody>
      </p:sp>
      <p:sp>
        <p:nvSpPr>
          <p:cNvPr id="3" name="">
            <a:extLst xmlns:a="http://schemas.openxmlformats.org/drawingml/2006/main">
              <a:ext uri="{FF2B5EF4-FFF2-40B4-BE49-F238E27FC236}">
                <a16:creationId xmlns:a16="http://schemas.microsoft.com/office/drawing/2014/main" id="{26E1D469-9F81-4819-B6FE-6ED3E714EE36}"/>
              </a:ext>
            </a:extLst>
          </p:cNvPr>
          <p:cNvSpPr>
            <a:spLocks xmlns:a="http://schemas.openxmlformats.org/drawingml/2006/main" noGrp="1"/>
          </p:cNvSpPr>
          <p:nvPr/>
        </p:nvSpPr>
        <p:spPr>
          <a:xfrm xmlns:a="http://schemas.openxmlformats.org/drawingml/2006/main">
            <a:off x="685800" y="819150"/>
            <a:ext cx="8001000" cy="800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550" b="1">
                <a:solidFill>
                  <a:srgbClr val="1A3554"/>
                </a:solidFill>
                <a:latin typeface="Aptos Display"/>
                <a:ea typeface="Aptos Display"/>
                <a:cs typeface="Aptos Display"/>
              </a:defRPr>
            </a:pPr>
            <a:r>
              <a:rPr sz="2550" b="1">
                <a:solidFill>
                  <a:srgbClr val="1A3554"/>
                </a:solidFill>
                <a:latin typeface="Aptos Display"/>
                <a:ea typeface="Aptos Display"/>
                <a:cs typeface="Aptos Display"/>
              </a:rPr>
              <a:t>La proposition TransferAI pour ELTON CI</a:t>
            </a:r>
          </a:p>
        </p:txBody>
      </p:sp>
      <p:sp>
        <p:nvSpPr>
          <p:cNvPr id="4" name="">
            <a:extLst xmlns:a="http://schemas.openxmlformats.org/drawingml/2006/main">
              <a:ext uri="{FF2B5EF4-FFF2-40B4-BE49-F238E27FC236}">
                <a16:creationId xmlns:a16="http://schemas.microsoft.com/office/drawing/2014/main" id="{AC7697B5-BD5C-4061-95DA-B8A961A07E3F}"/>
              </a:ext>
            </a:extLst>
          </p:cNvPr>
          <p:cNvSpPr>
            <a:spLocks xmlns:a="http://schemas.openxmlformats.org/drawingml/2006/main" noGrp="1"/>
          </p:cNvSpPr>
          <p:nvPr/>
        </p:nvSpPr>
        <p:spPr>
          <a:xfrm xmlns:a="http://schemas.openxmlformats.org/drawingml/2006/main">
            <a:off x="685800" y="1676400"/>
            <a:ext cx="92392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617086"/>
                </a:solidFill>
                <a:latin typeface="Aptos"/>
                <a:ea typeface="Aptos"/>
                <a:cs typeface="Aptos"/>
              </a:defRPr>
            </a:pPr>
            <a:r>
              <a:rPr sz="1050" b="0">
                <a:solidFill>
                  <a:srgbClr val="617086"/>
                </a:solidFill>
                <a:latin typeface="Aptos"/>
                <a:ea typeface="Aptos"/>
                <a:cs typeface="Aptos"/>
              </a:rPr>
              <a:t>Notre valeur ne vient pas d'un outil unique, mais de l'enchainement entre diagnostic, formation utile, gouvernance et premier terrain d'execution.</a:t>
            </a:r>
          </a:p>
        </p:txBody>
      </p:sp>
      <p:sp>
        <p:nvSpPr>
          <p:cNvPr id="5" name="">
            <a:extLst xmlns:a="http://schemas.openxmlformats.org/drawingml/2006/main">
              <a:ext uri="{FF2B5EF4-FFF2-40B4-BE49-F238E27FC236}">
                <a16:creationId xmlns:a16="http://schemas.microsoft.com/office/drawing/2014/main" id="{260D9AF5-2E41-4C8C-BFE9-563BE1F580CE}"/>
              </a:ext>
            </a:extLst>
          </p:cNvPr>
          <p:cNvSpPr>
            <a:spLocks xmlns:a="http://schemas.openxmlformats.org/drawingml/2006/main" noGrp="1"/>
          </p:cNvSpPr>
          <p:nvPr/>
        </p:nvSpPr>
        <p:spPr>
          <a:xfrm xmlns:a="http://schemas.openxmlformats.org/drawingml/2006/main">
            <a:off x="685800" y="2247900"/>
            <a:ext cx="5181600" cy="1333500"/>
          </a:xfrm>
          <a:prstGeom xmlns:a="http://schemas.openxmlformats.org/drawingml/2006/main" prst="rect">
            <a:avLst/>
          </a:prstGeom>
          <a:solidFill xmlns:a="http://schemas.openxmlformats.org/drawingml/2006/main">
            <a:srgbClr val="163556"/>
          </a:solidFill>
          <a:ln xmlns:a="http://schemas.openxmlformats.org/drawingml/2006/main" w="0">
            <a:solidFill>
              <a:srgbClr val="163556"/>
            </a:solidFill>
            <a:prstDash val="solid"/>
          </a:ln>
        </p:spPr>
      </p:sp>
      <p:sp>
        <p:nvSpPr>
          <p:cNvPr id="6" name="">
            <a:extLst xmlns:a="http://schemas.openxmlformats.org/drawingml/2006/main">
              <a:ext uri="{FF2B5EF4-FFF2-40B4-BE49-F238E27FC236}">
                <a16:creationId xmlns:a16="http://schemas.microsoft.com/office/drawing/2014/main" id="{4531E74B-C4CC-49C1-9075-4B39F08B41E8}"/>
              </a:ext>
            </a:extLst>
          </p:cNvPr>
          <p:cNvSpPr>
            <a:spLocks xmlns:a="http://schemas.openxmlformats.org/drawingml/2006/main" noGrp="1"/>
          </p:cNvSpPr>
          <p:nvPr/>
        </p:nvSpPr>
        <p:spPr>
          <a:xfrm xmlns:a="http://schemas.openxmlformats.org/drawingml/2006/main">
            <a:off x="857250" y="2419350"/>
            <a:ext cx="483870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1">
                <a:solidFill>
                  <a:srgbClr val="FFFFFF"/>
                </a:solidFill>
                <a:latin typeface="Aptos Display"/>
                <a:ea typeface="Aptos Display"/>
                <a:cs typeface="Aptos Display"/>
              </a:defRPr>
            </a:pPr>
            <a:r>
              <a:rPr sz="1350" b="1">
                <a:solidFill>
                  <a:srgbClr val="FFFFFF"/>
                </a:solidFill>
                <a:latin typeface="Aptos Display"/>
                <a:ea typeface="Aptos Display"/>
                <a:cs typeface="Aptos Display"/>
              </a:rPr>
              <a:t>1. Audit, cadrage et feuille de route</a:t>
            </a:r>
          </a:p>
        </p:txBody>
      </p:sp>
      <p:sp>
        <p:nvSpPr>
          <p:cNvPr id="7" name="">
            <a:extLst xmlns:a="http://schemas.openxmlformats.org/drawingml/2006/main">
              <a:ext uri="{FF2B5EF4-FFF2-40B4-BE49-F238E27FC236}">
                <a16:creationId xmlns:a16="http://schemas.microsoft.com/office/drawing/2014/main" id="{51A17245-AF48-4087-AFFF-C5120E3CECBA}"/>
              </a:ext>
            </a:extLst>
          </p:cNvPr>
          <p:cNvSpPr>
            <a:spLocks xmlns:a="http://schemas.openxmlformats.org/drawingml/2006/main" noGrp="1"/>
          </p:cNvSpPr>
          <p:nvPr/>
        </p:nvSpPr>
        <p:spPr>
          <a:xfrm xmlns:a="http://schemas.openxmlformats.org/drawingml/2006/main">
            <a:off x="857250" y="2933700"/>
            <a:ext cx="4838700" cy="476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8" b="0">
                <a:solidFill>
                  <a:srgbClr val="FFFFFF"/>
                </a:solidFill>
                <a:latin typeface="Aptos"/>
                <a:ea typeface="Aptos"/>
                <a:cs typeface="Aptos"/>
              </a:defRPr>
            </a:pPr>
            <a:r>
              <a:rPr sz="938" b="0">
                <a:solidFill>
                  <a:srgbClr val="FFFFFF"/>
                </a:solidFill>
                <a:latin typeface="Aptos"/>
                <a:ea typeface="Aptos"/>
                <a:cs typeface="Aptos"/>
              </a:rPr>
              <a:t>• priorites metier</a:t>
            </a:r>
          </a:p>
          <a:p xmlns:a="http://schemas.openxmlformats.org/drawingml/2006/main">
            <a:pPr algn="l">
              <a:defRPr sz="938" b="0">
                <a:solidFill>
                  <a:srgbClr val="FFFFFF"/>
                </a:solidFill>
                <a:latin typeface="Aptos"/>
                <a:ea typeface="Aptos"/>
                <a:cs typeface="Aptos"/>
              </a:defRPr>
            </a:pPr>
            <a:r>
              <a:rPr sz="938" b="0">
                <a:solidFill>
                  <a:srgbClr val="FFFFFF"/>
                </a:solidFill>
                <a:latin typeface="Aptos"/>
                <a:ea typeface="Aptos"/>
                <a:cs typeface="Aptos"/>
              </a:rPr>
              <a:t>• cartographie des flux</a:t>
            </a:r>
          </a:p>
          <a:p xmlns:a="http://schemas.openxmlformats.org/drawingml/2006/main">
            <a:pPr algn="l">
              <a:defRPr sz="938" b="0">
                <a:solidFill>
                  <a:srgbClr val="FFFFFF"/>
                </a:solidFill>
                <a:latin typeface="Aptos"/>
                <a:ea typeface="Aptos"/>
                <a:cs typeface="Aptos"/>
              </a:defRPr>
            </a:pPr>
            <a:r>
              <a:rPr sz="938" b="0">
                <a:solidFill>
                  <a:srgbClr val="FFFFFF"/>
                </a:solidFill>
                <a:latin typeface="Aptos"/>
                <a:ea typeface="Aptos"/>
                <a:cs typeface="Aptos"/>
              </a:rPr>
              <a:t>• KPI de preuve et conditions de pilotage</a:t>
            </a:r>
          </a:p>
        </p:txBody>
      </p:sp>
      <p:sp>
        <p:nvSpPr>
          <p:cNvPr id="8" name="">
            <a:extLst xmlns:a="http://schemas.openxmlformats.org/drawingml/2006/main">
              <a:ext uri="{FF2B5EF4-FFF2-40B4-BE49-F238E27FC236}">
                <a16:creationId xmlns:a16="http://schemas.microsoft.com/office/drawing/2014/main" id="{5D17203A-2699-4ECD-BD9C-AE1033B295FB}"/>
              </a:ext>
            </a:extLst>
          </p:cNvPr>
          <p:cNvSpPr>
            <a:spLocks xmlns:a="http://schemas.openxmlformats.org/drawingml/2006/main" noGrp="1"/>
          </p:cNvSpPr>
          <p:nvPr/>
        </p:nvSpPr>
        <p:spPr>
          <a:xfrm xmlns:a="http://schemas.openxmlformats.org/drawingml/2006/main">
            <a:off x="6096000" y="2247900"/>
            <a:ext cx="5410200" cy="1333500"/>
          </a:xfrm>
          <a:prstGeom xmlns:a="http://schemas.openxmlformats.org/drawingml/2006/main" prst="rect">
            <a:avLst/>
          </a:prstGeom>
          <a:solidFill xmlns:a="http://schemas.openxmlformats.org/drawingml/2006/main">
            <a:srgbClr val="E76F1D"/>
          </a:solidFill>
          <a:ln xmlns:a="http://schemas.openxmlformats.org/drawingml/2006/main" w="0">
            <a:solidFill>
              <a:srgbClr val="E76F1D"/>
            </a:solidFill>
            <a:prstDash val="solid"/>
          </a:ln>
        </p:spPr>
      </p:sp>
      <p:sp>
        <p:nvSpPr>
          <p:cNvPr id="9" name="">
            <a:extLst xmlns:a="http://schemas.openxmlformats.org/drawingml/2006/main">
              <a:ext uri="{FF2B5EF4-FFF2-40B4-BE49-F238E27FC236}">
                <a16:creationId xmlns:a16="http://schemas.microsoft.com/office/drawing/2014/main" id="{386DFF0B-A42B-4A77-8351-328C5A80B8DC}"/>
              </a:ext>
            </a:extLst>
          </p:cNvPr>
          <p:cNvSpPr>
            <a:spLocks xmlns:a="http://schemas.openxmlformats.org/drawingml/2006/main" noGrp="1"/>
          </p:cNvSpPr>
          <p:nvPr/>
        </p:nvSpPr>
        <p:spPr>
          <a:xfrm xmlns:a="http://schemas.openxmlformats.org/drawingml/2006/main">
            <a:off x="6267450" y="2419350"/>
            <a:ext cx="506730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1">
                <a:solidFill>
                  <a:srgbClr val="FFFFFF"/>
                </a:solidFill>
                <a:latin typeface="Aptos Display"/>
                <a:ea typeface="Aptos Display"/>
                <a:cs typeface="Aptos Display"/>
              </a:defRPr>
            </a:pPr>
            <a:r>
              <a:rPr sz="1350" b="1">
                <a:solidFill>
                  <a:srgbClr val="FFFFFF"/>
                </a:solidFill>
                <a:latin typeface="Aptos Display"/>
                <a:ea typeface="Aptos Display"/>
                <a:cs typeface="Aptos Display"/>
              </a:rPr>
              <a:t>2. Formation dirigeants et managers</a:t>
            </a:r>
          </a:p>
        </p:txBody>
      </p:sp>
      <p:sp>
        <p:nvSpPr>
          <p:cNvPr id="10" name="">
            <a:extLst xmlns:a="http://schemas.openxmlformats.org/drawingml/2006/main">
              <a:ext uri="{FF2B5EF4-FFF2-40B4-BE49-F238E27FC236}">
                <a16:creationId xmlns:a16="http://schemas.microsoft.com/office/drawing/2014/main" id="{0AB08746-3B4F-4B01-B8F9-0655B38E76FC}"/>
              </a:ext>
            </a:extLst>
          </p:cNvPr>
          <p:cNvSpPr>
            <a:spLocks xmlns:a="http://schemas.openxmlformats.org/drawingml/2006/main" noGrp="1"/>
          </p:cNvSpPr>
          <p:nvPr/>
        </p:nvSpPr>
        <p:spPr>
          <a:xfrm xmlns:a="http://schemas.openxmlformats.org/drawingml/2006/main">
            <a:off x="6267450" y="2933700"/>
            <a:ext cx="5067300" cy="476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8" b="0">
                <a:solidFill>
                  <a:srgbClr val="FFFFFF"/>
                </a:solidFill>
                <a:latin typeface="Aptos"/>
                <a:ea typeface="Aptos"/>
                <a:cs typeface="Aptos"/>
              </a:defRPr>
            </a:pPr>
            <a:r>
              <a:rPr sz="938" b="0">
                <a:solidFill>
                  <a:srgbClr val="FFFFFF"/>
                </a:solidFill>
                <a:latin typeface="Aptos"/>
                <a:ea typeface="Aptos"/>
                <a:cs typeface="Aptos"/>
              </a:rPr>
              <a:t>• lecture executive des usages IA</a:t>
            </a:r>
          </a:p>
          <a:p xmlns:a="http://schemas.openxmlformats.org/drawingml/2006/main">
            <a:pPr algn="l">
              <a:defRPr sz="938" b="0">
                <a:solidFill>
                  <a:srgbClr val="FFFFFF"/>
                </a:solidFill>
                <a:latin typeface="Aptos"/>
                <a:ea typeface="Aptos"/>
                <a:cs typeface="Aptos"/>
              </a:defRPr>
            </a:pPr>
            <a:r>
              <a:rPr sz="938" b="0">
                <a:solidFill>
                  <a:srgbClr val="FFFFFF"/>
                </a:solidFill>
                <a:latin typeface="Aptos"/>
                <a:ea typeface="Aptos"/>
                <a:cs typeface="Aptos"/>
              </a:rPr>
              <a:t>• arbitrage, gouvernance et conduite du changement</a:t>
            </a:r>
          </a:p>
        </p:txBody>
      </p:sp>
      <p:sp>
        <p:nvSpPr>
          <p:cNvPr id="11" name="">
            <a:extLst xmlns:a="http://schemas.openxmlformats.org/drawingml/2006/main">
              <a:ext uri="{FF2B5EF4-FFF2-40B4-BE49-F238E27FC236}">
                <a16:creationId xmlns:a16="http://schemas.microsoft.com/office/drawing/2014/main" id="{C35F90E8-B38E-4B10-BB35-356FBE7E7963}"/>
              </a:ext>
            </a:extLst>
          </p:cNvPr>
          <p:cNvSpPr>
            <a:spLocks xmlns:a="http://schemas.openxmlformats.org/drawingml/2006/main" noGrp="1"/>
          </p:cNvSpPr>
          <p:nvPr/>
        </p:nvSpPr>
        <p:spPr>
          <a:xfrm xmlns:a="http://schemas.openxmlformats.org/drawingml/2006/main">
            <a:off x="685800" y="3810000"/>
            <a:ext cx="5181600" cy="1333500"/>
          </a:xfrm>
          <a:prstGeom xmlns:a="http://schemas.openxmlformats.org/drawingml/2006/main" prst="rect">
            <a:avLst/>
          </a:prstGeom>
          <a:solidFill xmlns:a="http://schemas.openxmlformats.org/drawingml/2006/main">
            <a:srgbClr val="1C8A78"/>
          </a:solidFill>
          <a:ln xmlns:a="http://schemas.openxmlformats.org/drawingml/2006/main" w="0">
            <a:solidFill>
              <a:srgbClr val="1C8A78"/>
            </a:solidFill>
            <a:prstDash val="solid"/>
          </a:ln>
        </p:spPr>
      </p:sp>
      <p:sp>
        <p:nvSpPr>
          <p:cNvPr id="12" name="">
            <a:extLst xmlns:a="http://schemas.openxmlformats.org/drawingml/2006/main">
              <a:ext uri="{FF2B5EF4-FFF2-40B4-BE49-F238E27FC236}">
                <a16:creationId xmlns:a16="http://schemas.microsoft.com/office/drawing/2014/main" id="{35BF117D-A5E8-4AD2-8293-78311135CFE5}"/>
              </a:ext>
            </a:extLst>
          </p:cNvPr>
          <p:cNvSpPr>
            <a:spLocks xmlns:a="http://schemas.openxmlformats.org/drawingml/2006/main" noGrp="1"/>
          </p:cNvSpPr>
          <p:nvPr/>
        </p:nvSpPr>
        <p:spPr>
          <a:xfrm xmlns:a="http://schemas.openxmlformats.org/drawingml/2006/main">
            <a:off x="857250" y="3981450"/>
            <a:ext cx="483870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1">
                <a:solidFill>
                  <a:srgbClr val="FFFFFF"/>
                </a:solidFill>
                <a:latin typeface="Aptos Display"/>
                <a:ea typeface="Aptos Display"/>
                <a:cs typeface="Aptos Display"/>
              </a:defRPr>
            </a:pPr>
            <a:r>
              <a:rPr sz="1350" b="1">
                <a:solidFill>
                  <a:srgbClr val="FFFFFF"/>
                </a:solidFill>
                <a:latin typeface="Aptos Display"/>
                <a:ea typeface="Aptos Display"/>
                <a:cs typeface="Aptos Display"/>
              </a:rPr>
              <a:t>3. Formation equipes metier</a:t>
            </a:r>
          </a:p>
        </p:txBody>
      </p:sp>
      <p:sp>
        <p:nvSpPr>
          <p:cNvPr id="13" name="">
            <a:extLst xmlns:a="http://schemas.openxmlformats.org/drawingml/2006/main">
              <a:ext uri="{FF2B5EF4-FFF2-40B4-BE49-F238E27FC236}">
                <a16:creationId xmlns:a16="http://schemas.microsoft.com/office/drawing/2014/main" id="{1D012BCB-5EBE-4EB0-BE1A-C05EDCBDD097}"/>
              </a:ext>
            </a:extLst>
          </p:cNvPr>
          <p:cNvSpPr>
            <a:spLocks xmlns:a="http://schemas.openxmlformats.org/drawingml/2006/main" noGrp="1"/>
          </p:cNvSpPr>
          <p:nvPr/>
        </p:nvSpPr>
        <p:spPr>
          <a:xfrm xmlns:a="http://schemas.openxmlformats.org/drawingml/2006/main">
            <a:off x="857250" y="4495800"/>
            <a:ext cx="4838700" cy="476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8" b="0">
                <a:solidFill>
                  <a:srgbClr val="FFFFFF"/>
                </a:solidFill>
                <a:latin typeface="Aptos"/>
                <a:ea typeface="Aptos"/>
                <a:cs typeface="Aptos"/>
              </a:defRPr>
            </a:pPr>
            <a:r>
              <a:rPr sz="938" b="0">
                <a:solidFill>
                  <a:srgbClr val="FFFFFF"/>
                </a:solidFill>
                <a:latin typeface="Aptos"/>
                <a:ea typeface="Aptos"/>
                <a:cs typeface="Aptos"/>
              </a:rPr>
              <a:t>• comptes, flotte, relation client, support</a:t>
            </a:r>
          </a:p>
          <a:p xmlns:a="http://schemas.openxmlformats.org/drawingml/2006/main">
            <a:pPr algn="l">
              <a:defRPr sz="938" b="0">
                <a:solidFill>
                  <a:srgbClr val="FFFFFF"/>
                </a:solidFill>
                <a:latin typeface="Aptos"/>
                <a:ea typeface="Aptos"/>
                <a:cs typeface="Aptos"/>
              </a:defRPr>
            </a:pPr>
            <a:r>
              <a:rPr sz="938" b="0">
                <a:solidFill>
                  <a:srgbClr val="FFFFFF"/>
                </a:solidFill>
                <a:latin typeface="Aptos"/>
                <a:ea typeface="Aptos"/>
                <a:cs typeface="Aptos"/>
              </a:rPr>
              <a:t>• outils, scripts et routines lies aux vrais cas d'usage</a:t>
            </a:r>
          </a:p>
        </p:txBody>
      </p:sp>
      <p:sp>
        <p:nvSpPr>
          <p:cNvPr id="14" name="">
            <a:extLst xmlns:a="http://schemas.openxmlformats.org/drawingml/2006/main">
              <a:ext uri="{FF2B5EF4-FFF2-40B4-BE49-F238E27FC236}">
                <a16:creationId xmlns:a16="http://schemas.microsoft.com/office/drawing/2014/main" id="{7669ED59-4257-42E6-A15C-537BA2846FB3}"/>
              </a:ext>
            </a:extLst>
          </p:cNvPr>
          <p:cNvSpPr>
            <a:spLocks xmlns:a="http://schemas.openxmlformats.org/drawingml/2006/main" noGrp="1"/>
          </p:cNvSpPr>
          <p:nvPr/>
        </p:nvSpPr>
        <p:spPr>
          <a:xfrm xmlns:a="http://schemas.openxmlformats.org/drawingml/2006/main">
            <a:off x="6096000" y="3810000"/>
            <a:ext cx="5410200" cy="1333500"/>
          </a:xfrm>
          <a:prstGeom xmlns:a="http://schemas.openxmlformats.org/drawingml/2006/main" prst="rect">
            <a:avLst/>
          </a:prstGeom>
          <a:solidFill xmlns:a="http://schemas.openxmlformats.org/drawingml/2006/main">
            <a:srgbClr val="C88C3A"/>
          </a:solidFill>
          <a:ln xmlns:a="http://schemas.openxmlformats.org/drawingml/2006/main" w="0">
            <a:solidFill>
              <a:srgbClr val="C88C3A"/>
            </a:solidFill>
            <a:prstDash val="solid"/>
          </a:ln>
        </p:spPr>
      </p:sp>
      <p:sp>
        <p:nvSpPr>
          <p:cNvPr id="15" name="">
            <a:extLst xmlns:a="http://schemas.openxmlformats.org/drawingml/2006/main">
              <a:ext uri="{FF2B5EF4-FFF2-40B4-BE49-F238E27FC236}">
                <a16:creationId xmlns:a16="http://schemas.microsoft.com/office/drawing/2014/main" id="{E71B532F-35A7-442B-B147-5D7DA9276A1A}"/>
              </a:ext>
            </a:extLst>
          </p:cNvPr>
          <p:cNvSpPr>
            <a:spLocks xmlns:a="http://schemas.openxmlformats.org/drawingml/2006/main" noGrp="1"/>
          </p:cNvSpPr>
          <p:nvPr/>
        </p:nvSpPr>
        <p:spPr>
          <a:xfrm xmlns:a="http://schemas.openxmlformats.org/drawingml/2006/main">
            <a:off x="6267450" y="3981450"/>
            <a:ext cx="506730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1">
                <a:solidFill>
                  <a:srgbClr val="FFFFFF"/>
                </a:solidFill>
                <a:latin typeface="Aptos Display"/>
                <a:ea typeface="Aptos Display"/>
                <a:cs typeface="Aptos Display"/>
              </a:defRPr>
            </a:pPr>
            <a:r>
              <a:rPr sz="1350" b="1">
                <a:solidFill>
                  <a:srgbClr val="FFFFFF"/>
                </a:solidFill>
                <a:latin typeface="Aptos Display"/>
                <a:ea typeface="Aptos Display"/>
                <a:cs typeface="Aptos Display"/>
              </a:rPr>
              <a:t>4. Pilote metier encadre</a:t>
            </a:r>
          </a:p>
        </p:txBody>
      </p:sp>
      <p:sp>
        <p:nvSpPr>
          <p:cNvPr id="16" name="">
            <a:extLst xmlns:a="http://schemas.openxmlformats.org/drawingml/2006/main">
              <a:ext uri="{FF2B5EF4-FFF2-40B4-BE49-F238E27FC236}">
                <a16:creationId xmlns:a16="http://schemas.microsoft.com/office/drawing/2014/main" id="{24A5C0AA-9C85-454D-B93F-1314A7A584FD}"/>
              </a:ext>
            </a:extLst>
          </p:cNvPr>
          <p:cNvSpPr>
            <a:spLocks xmlns:a="http://schemas.openxmlformats.org/drawingml/2006/main" noGrp="1"/>
          </p:cNvSpPr>
          <p:nvPr/>
        </p:nvSpPr>
        <p:spPr>
          <a:xfrm xmlns:a="http://schemas.openxmlformats.org/drawingml/2006/main">
            <a:off x="6267450" y="4495800"/>
            <a:ext cx="5067300" cy="476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8" b="0">
                <a:solidFill>
                  <a:srgbClr val="FFFFFF"/>
                </a:solidFill>
                <a:latin typeface="Aptos"/>
                <a:ea typeface="Aptos"/>
                <a:cs typeface="Aptos"/>
              </a:defRPr>
            </a:pPr>
            <a:r>
              <a:rPr sz="938" b="0">
                <a:solidFill>
                  <a:srgbClr val="FFFFFF"/>
                </a:solidFill>
                <a:latin typeface="Aptos"/>
                <a:ea typeface="Aptos"/>
                <a:cs typeface="Aptos"/>
              </a:rPr>
              <a:t>• assistant cible, tableau de bord ou base interne</a:t>
            </a:r>
          </a:p>
          <a:p xmlns:a="http://schemas.openxmlformats.org/drawingml/2006/main">
            <a:pPr algn="l">
              <a:defRPr sz="938" b="0">
                <a:solidFill>
                  <a:srgbClr val="FFFFFF"/>
                </a:solidFill>
                <a:latin typeface="Aptos"/>
                <a:ea typeface="Aptos"/>
                <a:cs typeface="Aptos"/>
              </a:defRPr>
            </a:pPr>
            <a:r>
              <a:rPr sz="938" b="0">
                <a:solidFill>
                  <a:srgbClr val="FFFFFF"/>
                </a:solidFill>
                <a:latin typeface="Aptos"/>
                <a:ea typeface="Aptos"/>
                <a:cs typeface="Aptos"/>
              </a:rPr>
              <a:t>• supervision, mesure et decision d'extension</a:t>
            </a:r>
          </a:p>
        </p:txBody>
      </p:sp>
      <p:sp>
        <p:nvSpPr>
          <p:cNvPr id="17" name="">
            <a:extLst xmlns:a="http://schemas.openxmlformats.org/drawingml/2006/main">
              <a:ext uri="{FF2B5EF4-FFF2-40B4-BE49-F238E27FC236}">
                <a16:creationId xmlns:a16="http://schemas.microsoft.com/office/drawing/2014/main" id="{31F15D16-666F-4F32-8D56-D2D1E96E8EE4}"/>
              </a:ext>
            </a:extLst>
          </p:cNvPr>
          <p:cNvSpPr>
            <a:spLocks xmlns:a="http://schemas.openxmlformats.org/drawingml/2006/main" noGrp="1"/>
          </p:cNvSpPr>
          <p:nvPr/>
        </p:nvSpPr>
        <p:spPr>
          <a:xfrm xmlns:a="http://schemas.openxmlformats.org/drawingml/2006/main">
            <a:off x="685800" y="5486400"/>
            <a:ext cx="10820400" cy="628650"/>
          </a:xfrm>
          <a:prstGeom xmlns:a="http://schemas.openxmlformats.org/drawingml/2006/main" prst="rect">
            <a:avLst/>
          </a:prstGeom>
          <a:solidFill xmlns:a="http://schemas.openxmlformats.org/drawingml/2006/main">
            <a:srgbClr val="FBF5EE"/>
          </a:solidFill>
          <a:ln xmlns:a="http://schemas.openxmlformats.org/drawingml/2006/main" w="9525">
            <a:solidFill>
              <a:srgbClr val="D7CEC3"/>
            </a:solidFill>
            <a:prstDash val="solid"/>
          </a:ln>
        </p:spPr>
      </p:sp>
      <p:sp>
        <p:nvSpPr>
          <p:cNvPr id="18" name="">
            <a:extLst xmlns:a="http://schemas.openxmlformats.org/drawingml/2006/main">
              <a:ext uri="{FF2B5EF4-FFF2-40B4-BE49-F238E27FC236}">
                <a16:creationId xmlns:a16="http://schemas.microsoft.com/office/drawing/2014/main" id="{F66C2A08-467D-4477-87F1-4DAB1A9AEBC0}"/>
              </a:ext>
            </a:extLst>
          </p:cNvPr>
          <p:cNvSpPr>
            <a:spLocks xmlns:a="http://schemas.openxmlformats.org/drawingml/2006/main" noGrp="1"/>
          </p:cNvSpPr>
          <p:nvPr/>
        </p:nvSpPr>
        <p:spPr>
          <a:xfrm xmlns:a="http://schemas.openxmlformats.org/drawingml/2006/main">
            <a:off x="914400" y="5676900"/>
            <a:ext cx="171450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E76F1D"/>
                </a:solidFill>
                <a:latin typeface="Aptos"/>
                <a:ea typeface="Aptos"/>
                <a:cs typeface="Aptos"/>
              </a:defRPr>
            </a:pPr>
            <a:r>
              <a:rPr sz="750" b="1">
                <a:solidFill>
                  <a:srgbClr val="E76F1D"/>
                </a:solidFill>
                <a:latin typeface="Aptos"/>
                <a:ea typeface="Aptos"/>
                <a:cs typeface="Aptos"/>
              </a:rPr>
              <a:t>Recommandation de depart</a:t>
            </a:r>
          </a:p>
        </p:txBody>
      </p:sp>
      <p:sp>
        <p:nvSpPr>
          <p:cNvPr id="19" name="">
            <a:extLst xmlns:a="http://schemas.openxmlformats.org/drawingml/2006/main">
              <a:ext uri="{FF2B5EF4-FFF2-40B4-BE49-F238E27FC236}">
                <a16:creationId xmlns:a16="http://schemas.microsoft.com/office/drawing/2014/main" id="{045C6D88-6FD1-4300-8B2E-23184A47E704}"/>
              </a:ext>
            </a:extLst>
          </p:cNvPr>
          <p:cNvSpPr>
            <a:spLocks xmlns:a="http://schemas.openxmlformats.org/drawingml/2006/main" noGrp="1"/>
          </p:cNvSpPr>
          <p:nvPr/>
        </p:nvSpPr>
        <p:spPr>
          <a:xfrm xmlns:a="http://schemas.openxmlformats.org/drawingml/2006/main">
            <a:off x="2819400" y="5638800"/>
            <a:ext cx="82486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8" b="1">
                <a:solidFill>
                  <a:srgbClr val="1A3554"/>
                </a:solidFill>
                <a:latin typeface="Aptos"/>
                <a:ea typeface="Aptos"/>
                <a:cs typeface="Aptos"/>
              </a:defRPr>
            </a:pPr>
            <a:r>
              <a:rPr sz="938" b="1">
                <a:solidFill>
                  <a:srgbClr val="1A3554"/>
                </a:solidFill>
                <a:latin typeface="Aptos"/>
                <a:ea typeface="Aptos"/>
                <a:cs typeface="Aptos"/>
              </a:rPr>
              <a:t>Commencer par deux flux a forte lisibilite de valeur: comptes professionnels + flotte / cartes carburant. Les autres cas d'usage restent dans la feuille de route, mais n'encombrent pas le pilote initial.</a:t>
            </a:r>
          </a:p>
        </p:txBody>
      </p:sp>
      <p:sp>
        <p:nvSpPr>
          <p:cNvPr id="20" name="">
            <a:extLst xmlns:a="http://schemas.openxmlformats.org/drawingml/2006/main">
              <a:ext uri="{FF2B5EF4-FFF2-40B4-BE49-F238E27FC236}">
                <a16:creationId xmlns:a16="http://schemas.microsoft.com/office/drawing/2014/main" id="{1B84D0E9-BA25-4902-914A-672F39CA055B}"/>
              </a:ext>
            </a:extLst>
          </p:cNvPr>
          <p:cNvSpPr>
            <a:spLocks xmlns:a="http://schemas.openxmlformats.org/drawingml/2006/main" noGrp="1"/>
          </p:cNvSpPr>
          <p:nvPr/>
        </p:nvSpPr>
        <p:spPr>
          <a:xfrm xmlns:a="http://schemas.openxmlformats.org/drawingml/2006/main">
            <a:off x="647700" y="6496050"/>
            <a:ext cx="10896600" cy="9525"/>
          </a:xfrm>
          <a:prstGeom xmlns:a="http://schemas.openxmlformats.org/drawingml/2006/main" prst="rect">
            <a:avLst/>
          </a:prstGeom>
          <a:solidFill xmlns:a="http://schemas.openxmlformats.org/drawingml/2006/main">
            <a:srgbClr val="D7CEC3"/>
          </a:solidFill>
          <a:ln xmlns:a="http://schemas.openxmlformats.org/drawingml/2006/main" w="0">
            <a:solidFill>
              <a:srgbClr val="000000">
                <a:alpha val="0"/>
              </a:srgbClr>
            </a:solidFill>
            <a:prstDash val="solid"/>
          </a:ln>
        </p:spPr>
      </p:sp>
      <p:sp>
        <p:nvSpPr>
          <p:cNvPr id="21" name="">
            <a:extLst xmlns:a="http://schemas.openxmlformats.org/drawingml/2006/main">
              <a:ext uri="{FF2B5EF4-FFF2-40B4-BE49-F238E27FC236}">
                <a16:creationId xmlns:a16="http://schemas.microsoft.com/office/drawing/2014/main" id="{AF3BFF8F-8777-46DC-A233-A974BD9CCD0A}"/>
              </a:ext>
            </a:extLst>
          </p:cNvPr>
          <p:cNvSpPr>
            <a:spLocks xmlns:a="http://schemas.openxmlformats.org/drawingml/2006/main" noGrp="1"/>
          </p:cNvSpPr>
          <p:nvPr/>
        </p:nvSpPr>
        <p:spPr>
          <a:xfrm xmlns:a="http://schemas.openxmlformats.org/drawingml/2006/main">
            <a:off x="685800" y="6572250"/>
            <a:ext cx="857250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38" b="0">
                <a:solidFill>
                  <a:srgbClr val="617086"/>
                </a:solidFill>
                <a:latin typeface="Aptos"/>
                <a:ea typeface="Aptos"/>
                <a:cs typeface="Aptos"/>
              </a:defRPr>
            </a:pPr>
            <a:r>
              <a:rPr sz="638" b="0">
                <a:solidFill>
                  <a:srgbClr val="617086"/>
                </a:solidFill>
                <a:latin typeface="Aptos"/>
                <a:ea typeface="Aptos"/>
                <a:cs typeface="Aptos"/>
              </a:rPr>
              <a:t>TransferAI | Hub AI de Nettelecom CI | Proposition ciblee ELTON CI</a:t>
            </a:r>
          </a:p>
        </p:txBody>
      </p:sp>
      <p:sp>
        <p:nvSpPr>
          <p:cNvPr id="22" name="">
            <a:extLst xmlns:a="http://schemas.openxmlformats.org/drawingml/2006/main">
              <a:ext uri="{FF2B5EF4-FFF2-40B4-BE49-F238E27FC236}">
                <a16:creationId xmlns:a16="http://schemas.microsoft.com/office/drawing/2014/main" id="{F96A2DCF-7FDF-4394-86AF-626123422DF1}"/>
              </a:ext>
            </a:extLst>
          </p:cNvPr>
          <p:cNvSpPr>
            <a:spLocks xmlns:a="http://schemas.openxmlformats.org/drawingml/2006/main" noGrp="1"/>
          </p:cNvSpPr>
          <p:nvPr/>
        </p:nvSpPr>
        <p:spPr>
          <a:xfrm xmlns:a="http://schemas.openxmlformats.org/drawingml/2006/main">
            <a:off x="11049000" y="6553200"/>
            <a:ext cx="3429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750" b="1">
                <a:solidFill>
                  <a:srgbClr val="1A3554"/>
                </a:solidFill>
                <a:latin typeface="Aptos"/>
                <a:ea typeface="Aptos"/>
                <a:cs typeface="Aptos"/>
              </a:defRPr>
            </a:pPr>
            <a:r>
              <a:rPr sz="750" b="1">
                <a:solidFill>
                  <a:srgbClr val="1A3554"/>
                </a:solidFill>
                <a:latin typeface="Aptos"/>
                <a:ea typeface="Aptos"/>
                <a:cs typeface="Aptos"/>
              </a:rPr>
              <a:t>09</a:t>
            </a:r>
          </a:p>
        </p:txBody>
      </p:sp>
    </p:spTree>
    <p:extLst>
      <p:ext uri="{BB962C8B-B14F-4D97-AF65-F5344CB8AC3E}">
        <p14:creationId xmlns:p14="http://schemas.microsoft.com/office/powerpoint/2010/main" val="611830636"/>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CD9504ED-4182-4DE1-808E-8087E1E0F36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EFE7"/>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C992C5BB-1421-434C-A795-4D6EFE1EB448}"/>
              </a:ext>
            </a:extLst>
          </p:cNvPr>
          <p:cNvSpPr>
            <a:spLocks xmlns:a="http://schemas.openxmlformats.org/drawingml/2006/main" noGrp="1"/>
          </p:cNvSpPr>
          <p:nvPr/>
        </p:nvSpPr>
        <p:spPr>
          <a:xfrm xmlns:a="http://schemas.openxmlformats.org/drawingml/2006/main">
            <a:off x="685800" y="49530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88" b="1">
                <a:solidFill>
                  <a:srgbClr val="E76F1D"/>
                </a:solidFill>
                <a:latin typeface="Aptos"/>
                <a:ea typeface="Aptos"/>
                <a:cs typeface="Aptos"/>
              </a:defRPr>
            </a:pPr>
            <a:r>
              <a:rPr sz="788" b="1">
                <a:solidFill>
                  <a:srgbClr val="E76F1D"/>
                </a:solidFill>
                <a:latin typeface="Aptos"/>
                <a:ea typeface="Aptos"/>
                <a:cs typeface="Aptos"/>
              </a:rPr>
              <a:t>CONFIANCE &amp; PROCHAINE ETAPE</a:t>
            </a:r>
          </a:p>
        </p:txBody>
      </p:sp>
      <p:sp>
        <p:nvSpPr>
          <p:cNvPr id="3" name="">
            <a:extLst xmlns:a="http://schemas.openxmlformats.org/drawingml/2006/main">
              <a:ext uri="{FF2B5EF4-FFF2-40B4-BE49-F238E27FC236}">
                <a16:creationId xmlns:a16="http://schemas.microsoft.com/office/drawing/2014/main" id="{BA52997B-6E70-43B8-B6B7-60330E1EE2A6}"/>
              </a:ext>
            </a:extLst>
          </p:cNvPr>
          <p:cNvSpPr>
            <a:spLocks xmlns:a="http://schemas.openxmlformats.org/drawingml/2006/main" noGrp="1"/>
          </p:cNvSpPr>
          <p:nvPr/>
        </p:nvSpPr>
        <p:spPr>
          <a:xfrm xmlns:a="http://schemas.openxmlformats.org/drawingml/2006/main">
            <a:off x="685800" y="819150"/>
            <a:ext cx="8572500" cy="800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550" b="1">
                <a:solidFill>
                  <a:srgbClr val="1A3554"/>
                </a:solidFill>
                <a:latin typeface="Aptos Display"/>
                <a:ea typeface="Aptos Display"/>
                <a:cs typeface="Aptos Display"/>
              </a:defRPr>
            </a:pPr>
            <a:r>
              <a:rPr sz="2550" b="1">
                <a:solidFill>
                  <a:srgbClr val="1A3554"/>
                </a:solidFill>
                <a:latin typeface="Aptos Display"/>
                <a:ea typeface="Aptos Display"/>
                <a:cs typeface="Aptos Display"/>
              </a:rPr>
              <a:t>Proposer un pilote utile, gouverne et mesurable</a:t>
            </a:r>
          </a:p>
        </p:txBody>
      </p:sp>
      <p:sp>
        <p:nvSpPr>
          <p:cNvPr id="4" name="">
            <a:extLst xmlns:a="http://schemas.openxmlformats.org/drawingml/2006/main">
              <a:ext uri="{FF2B5EF4-FFF2-40B4-BE49-F238E27FC236}">
                <a16:creationId xmlns:a16="http://schemas.microsoft.com/office/drawing/2014/main" id="{65AFB67B-BB90-4C28-B9DF-41F8D5BAE96A}"/>
              </a:ext>
            </a:extLst>
          </p:cNvPr>
          <p:cNvSpPr>
            <a:spLocks xmlns:a="http://schemas.openxmlformats.org/drawingml/2006/main" noGrp="1"/>
          </p:cNvSpPr>
          <p:nvPr/>
        </p:nvSpPr>
        <p:spPr>
          <a:xfrm xmlns:a="http://schemas.openxmlformats.org/drawingml/2006/main">
            <a:off x="685800" y="1714500"/>
            <a:ext cx="4953000" cy="3714750"/>
          </a:xfrm>
          <a:prstGeom xmlns:a="http://schemas.openxmlformats.org/drawingml/2006/main" prst="rect">
            <a:avLst/>
          </a:prstGeom>
          <a:solidFill xmlns:a="http://schemas.openxmlformats.org/drawingml/2006/main">
            <a:srgbClr val="FFFDFC"/>
          </a:solidFill>
          <a:ln xmlns:a="http://schemas.openxmlformats.org/drawingml/2006/main" w="9525">
            <a:solidFill>
              <a:srgbClr val="D7CEC3"/>
            </a:solidFill>
            <a:prstDash val="solid"/>
          </a:ln>
        </p:spPr>
      </p:sp>
      <p:sp>
        <p:nvSpPr>
          <p:cNvPr id="5" name="">
            <a:extLst xmlns:a="http://schemas.openxmlformats.org/drawingml/2006/main">
              <a:ext uri="{FF2B5EF4-FFF2-40B4-BE49-F238E27FC236}">
                <a16:creationId xmlns:a16="http://schemas.microsoft.com/office/drawing/2014/main" id="{AA97D00F-EA88-483D-9C0B-4748198F21DD}"/>
              </a:ext>
            </a:extLst>
          </p:cNvPr>
          <p:cNvSpPr>
            <a:spLocks xmlns:a="http://schemas.openxmlformats.org/drawingml/2006/main" noGrp="1"/>
          </p:cNvSpPr>
          <p:nvPr/>
        </p:nvSpPr>
        <p:spPr>
          <a:xfrm xmlns:a="http://schemas.openxmlformats.org/drawingml/2006/main">
            <a:off x="895350" y="1943100"/>
            <a:ext cx="419100" cy="419100"/>
          </a:xfrm>
          <a:prstGeom xmlns:a="http://schemas.openxmlformats.org/drawingml/2006/main" prst="ellipse">
            <a:avLst/>
          </a:prstGeom>
          <a:solidFill xmlns:a="http://schemas.openxmlformats.org/drawingml/2006/main">
            <a:srgbClr val="1C8A78"/>
          </a:solidFill>
          <a:ln xmlns:a="http://schemas.openxmlformats.org/drawingml/2006/main" w="0">
            <a:solidFill>
              <a:srgbClr val="1C8A78"/>
            </a:solidFill>
            <a:prstDash val="solid"/>
          </a:ln>
        </p:spPr>
      </p:sp>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590de40005e44ec8">
            <a:extLst>
              <a:ext uri="{96DAC541-7B7A-43D3-8B79-37D633B846F1}">
                <asvg:svgBlip xmlns:asvg="http://schemas.microsoft.com/office/drawing/2016/SVG/main" r:embed="R0184d8977d694ce5"/>
              </a:ext>
            </a:extLst>
          </a:blip>
          <a:stretch xmlns:a="http://schemas.openxmlformats.org/drawingml/2006/main"/>
        </p:blipFill>
        <p:spPr>
          <a:xfrm xmlns:a="http://schemas.openxmlformats.org/drawingml/2006/main">
            <a:off x="990600" y="2038350"/>
            <a:ext cx="228600" cy="2286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F5C6F6E5-AB25-4D74-8781-DF60DFBC3E7B}"/>
              </a:ext>
            </a:extLst>
          </p:cNvPr>
          <p:cNvSpPr>
            <a:spLocks xmlns:a="http://schemas.openxmlformats.org/drawingml/2006/main" noGrp="1"/>
          </p:cNvSpPr>
          <p:nvPr/>
        </p:nvSpPr>
        <p:spPr>
          <a:xfrm xmlns:a="http://schemas.openxmlformats.org/drawingml/2006/main">
            <a:off x="1428750" y="1943100"/>
            <a:ext cx="36195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650" b="1">
                <a:solidFill>
                  <a:srgbClr val="1A3554"/>
                </a:solidFill>
                <a:latin typeface="Aptos Display"/>
                <a:ea typeface="Aptos Display"/>
                <a:cs typeface="Aptos Display"/>
              </a:defRPr>
            </a:pPr>
            <a:r>
              <a:rPr sz="1650" b="1">
                <a:solidFill>
                  <a:srgbClr val="1A3554"/>
                </a:solidFill>
                <a:latin typeface="Aptos Display"/>
                <a:ea typeface="Aptos Display"/>
                <a:cs typeface="Aptos Display"/>
              </a:rPr>
              <a:t>Le cadre de confiance a presenter a ELTON CI</a:t>
            </a:r>
          </a:p>
        </p:txBody>
      </p:sp>
      <p:sp>
        <p:nvSpPr>
          <p:cNvPr id="8" name="">
            <a:extLst xmlns:a="http://schemas.openxmlformats.org/drawingml/2006/main">
              <a:ext uri="{FF2B5EF4-FFF2-40B4-BE49-F238E27FC236}">
                <a16:creationId xmlns:a16="http://schemas.microsoft.com/office/drawing/2014/main" id="{E950B313-CDDC-45E1-AEA3-EBAF56C6BEC0}"/>
              </a:ext>
            </a:extLst>
          </p:cNvPr>
          <p:cNvSpPr>
            <a:spLocks xmlns:a="http://schemas.openxmlformats.org/drawingml/2006/main" noGrp="1"/>
          </p:cNvSpPr>
          <p:nvPr/>
        </p:nvSpPr>
        <p:spPr>
          <a:xfrm xmlns:a="http://schemas.openxmlformats.org/drawingml/2006/main">
            <a:off x="895350" y="2495550"/>
            <a:ext cx="4267200" cy="1733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60" b="0">
                <a:solidFill>
                  <a:srgbClr val="1A3554"/>
                </a:solidFill>
                <a:latin typeface="Aptos"/>
                <a:ea typeface="Aptos"/>
                <a:cs typeface="Aptos"/>
              </a:defRPr>
            </a:pPr>
            <a:r>
              <a:rPr sz="960" b="0">
                <a:solidFill>
                  <a:srgbClr val="1A3554"/>
                </a:solidFill>
                <a:latin typeface="Aptos"/>
                <a:ea typeface="Aptos"/>
                <a:cs typeface="Aptos"/>
              </a:rPr>
              <a:t>• aucune donnee sensible n'est exposee sans regles d'usage, roles et validation</a:t>
            </a:r>
          </a:p>
          <a:p xmlns:a="http://schemas.openxmlformats.org/drawingml/2006/main">
            <a:pPr algn="l">
              <a:defRPr sz="960" b="0">
                <a:solidFill>
                  <a:srgbClr val="1A3554"/>
                </a:solidFill>
                <a:latin typeface="Aptos"/>
                <a:ea typeface="Aptos"/>
                <a:cs typeface="Aptos"/>
              </a:defRPr>
            </a:pPr>
            <a:r>
              <a:rPr sz="960" b="0">
                <a:solidFill>
                  <a:srgbClr val="1A3554"/>
                </a:solidFill>
                <a:latin typeface="Aptos"/>
                <a:ea typeface="Aptos"/>
                <a:cs typeface="Aptos"/>
              </a:rPr>
              <a:t>• revue humaine avant toute automatisation critique</a:t>
            </a:r>
          </a:p>
          <a:p xmlns:a="http://schemas.openxmlformats.org/drawingml/2006/main">
            <a:pPr algn="l">
              <a:defRPr sz="960" b="0">
                <a:solidFill>
                  <a:srgbClr val="1A3554"/>
                </a:solidFill>
                <a:latin typeface="Aptos"/>
                <a:ea typeface="Aptos"/>
                <a:cs typeface="Aptos"/>
              </a:defRPr>
            </a:pPr>
            <a:r>
              <a:rPr sz="960" b="0">
                <a:solidFill>
                  <a:srgbClr val="1A3554"/>
                </a:solidFill>
                <a:latin typeface="Aptos"/>
                <a:ea typeface="Aptos"/>
                <a:cs typeface="Aptos"/>
              </a:rPr>
              <a:t>• traçabilite des acces et des sorties</a:t>
            </a:r>
          </a:p>
          <a:p xmlns:a="http://schemas.openxmlformats.org/drawingml/2006/main">
            <a:pPr algn="l">
              <a:defRPr sz="960" b="0">
                <a:solidFill>
                  <a:srgbClr val="1A3554"/>
                </a:solidFill>
                <a:latin typeface="Aptos"/>
                <a:ea typeface="Aptos"/>
                <a:cs typeface="Aptos"/>
              </a:defRPr>
            </a:pPr>
            <a:r>
              <a:rPr sz="960" b="0">
                <a:solidFill>
                  <a:srgbClr val="1A3554"/>
                </a:solidFill>
                <a:latin typeface="Aptos"/>
                <a:ea typeface="Aptos"/>
                <a:cs typeface="Aptos"/>
              </a:rPr>
              <a:t>• perimetre pilote strictement defini avant extension</a:t>
            </a:r>
          </a:p>
          <a:p xmlns:a="http://schemas.openxmlformats.org/drawingml/2006/main">
            <a:pPr algn="l">
              <a:defRPr sz="960" b="0">
                <a:solidFill>
                  <a:srgbClr val="1A3554"/>
                </a:solidFill>
                <a:latin typeface="Aptos"/>
                <a:ea typeface="Aptos"/>
                <a:cs typeface="Aptos"/>
              </a:defRPr>
            </a:pPr>
            <a:r>
              <a:rPr sz="960" b="0">
                <a:solidFill>
                  <a:srgbClr val="1A3554"/>
                </a:solidFill>
                <a:latin typeface="Aptos"/>
                <a:ea typeface="Aptos"/>
                <a:cs typeface="Aptos"/>
              </a:rPr>
              <a:t>• formation integree aux exigences de confidentialite et de supervision</a:t>
            </a:r>
          </a:p>
        </p:txBody>
      </p:sp>
      <p:sp>
        <p:nvSpPr>
          <p:cNvPr id="9" name="">
            <a:extLst xmlns:a="http://schemas.openxmlformats.org/drawingml/2006/main">
              <a:ext uri="{FF2B5EF4-FFF2-40B4-BE49-F238E27FC236}">
                <a16:creationId xmlns:a16="http://schemas.microsoft.com/office/drawing/2014/main" id="{4AF5120B-DB51-4FB0-9767-6293CA4B6267}"/>
              </a:ext>
            </a:extLst>
          </p:cNvPr>
          <p:cNvSpPr>
            <a:spLocks xmlns:a="http://schemas.openxmlformats.org/drawingml/2006/main" noGrp="1"/>
          </p:cNvSpPr>
          <p:nvPr/>
        </p:nvSpPr>
        <p:spPr>
          <a:xfrm xmlns:a="http://schemas.openxmlformats.org/drawingml/2006/main">
            <a:off x="895350" y="4343400"/>
            <a:ext cx="4343400" cy="838200"/>
          </a:xfrm>
          <a:prstGeom xmlns:a="http://schemas.openxmlformats.org/drawingml/2006/main" prst="rect">
            <a:avLst/>
          </a:prstGeom>
          <a:solidFill xmlns:a="http://schemas.openxmlformats.org/drawingml/2006/main">
            <a:srgbClr val="FBF5EE"/>
          </a:solidFill>
          <a:ln xmlns:a="http://schemas.openxmlformats.org/drawingml/2006/main" w="9525">
            <a:solidFill>
              <a:srgbClr val="D7CEC3"/>
            </a:solidFill>
            <a:prstDash val="solid"/>
          </a:ln>
        </p:spPr>
      </p:sp>
      <p:sp>
        <p:nvSpPr>
          <p:cNvPr id="10" name="">
            <a:extLst xmlns:a="http://schemas.openxmlformats.org/drawingml/2006/main">
              <a:ext uri="{FF2B5EF4-FFF2-40B4-BE49-F238E27FC236}">
                <a16:creationId xmlns:a16="http://schemas.microsoft.com/office/drawing/2014/main" id="{8780E504-C7E1-4302-86C0-E4A5ECB1591A}"/>
              </a:ext>
            </a:extLst>
          </p:cNvPr>
          <p:cNvSpPr>
            <a:spLocks xmlns:a="http://schemas.openxmlformats.org/drawingml/2006/main" noGrp="1"/>
          </p:cNvSpPr>
          <p:nvPr/>
        </p:nvSpPr>
        <p:spPr>
          <a:xfrm xmlns:a="http://schemas.openxmlformats.org/drawingml/2006/main">
            <a:off x="1085850" y="4514850"/>
            <a:ext cx="95250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E76F1D"/>
                </a:solidFill>
                <a:latin typeface="Aptos"/>
                <a:ea typeface="Aptos"/>
                <a:cs typeface="Aptos"/>
              </a:defRPr>
            </a:pPr>
            <a:r>
              <a:rPr sz="750" b="1">
                <a:solidFill>
                  <a:srgbClr val="E76F1D"/>
                </a:solidFill>
                <a:latin typeface="Aptos"/>
                <a:ea typeface="Aptos"/>
                <a:cs typeface="Aptos"/>
              </a:rPr>
              <a:t>Message fort</a:t>
            </a:r>
          </a:p>
        </p:txBody>
      </p:sp>
      <p:sp>
        <p:nvSpPr>
          <p:cNvPr id="11" name="">
            <a:extLst xmlns:a="http://schemas.openxmlformats.org/drawingml/2006/main">
              <a:ext uri="{FF2B5EF4-FFF2-40B4-BE49-F238E27FC236}">
                <a16:creationId xmlns:a16="http://schemas.microsoft.com/office/drawing/2014/main" id="{91D4AC81-582C-48A1-B455-7818304BF1AF}"/>
              </a:ext>
            </a:extLst>
          </p:cNvPr>
          <p:cNvSpPr>
            <a:spLocks xmlns:a="http://schemas.openxmlformats.org/drawingml/2006/main" noGrp="1"/>
          </p:cNvSpPr>
          <p:nvPr/>
        </p:nvSpPr>
        <p:spPr>
          <a:xfrm xmlns:a="http://schemas.openxmlformats.org/drawingml/2006/main">
            <a:off x="1085850" y="4724400"/>
            <a:ext cx="37338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1">
                <a:solidFill>
                  <a:srgbClr val="1A3554"/>
                </a:solidFill>
                <a:latin typeface="Aptos Display"/>
                <a:ea typeface="Aptos Display"/>
                <a:cs typeface="Aptos Display"/>
              </a:defRPr>
            </a:pPr>
            <a:r>
              <a:rPr sz="1350" b="1">
                <a:solidFill>
                  <a:srgbClr val="1A3554"/>
                </a:solidFill>
                <a:latin typeface="Aptos Display"/>
                <a:ea typeface="Aptos Display"/>
                <a:cs typeface="Aptos Display"/>
              </a:rPr>
              <a:t>Une IA utile, maitrisee et compatible avec vos exigences de confidentialite.</a:t>
            </a:r>
          </a:p>
        </p:txBody>
      </p:sp>
      <p:sp>
        <p:nvSpPr>
          <p:cNvPr id="12" name="">
            <a:extLst xmlns:a="http://schemas.openxmlformats.org/drawingml/2006/main">
              <a:ext uri="{FF2B5EF4-FFF2-40B4-BE49-F238E27FC236}">
                <a16:creationId xmlns:a16="http://schemas.microsoft.com/office/drawing/2014/main" id="{97FC25EA-9E37-4BE4-8C51-2ABB8C748C14}"/>
              </a:ext>
            </a:extLst>
          </p:cNvPr>
          <p:cNvSpPr>
            <a:spLocks xmlns:a="http://schemas.openxmlformats.org/drawingml/2006/main" noGrp="1"/>
          </p:cNvSpPr>
          <p:nvPr/>
        </p:nvSpPr>
        <p:spPr>
          <a:xfrm xmlns:a="http://schemas.openxmlformats.org/drawingml/2006/main">
            <a:off x="6096000" y="1714500"/>
            <a:ext cx="5410200" cy="3714750"/>
          </a:xfrm>
          <a:prstGeom xmlns:a="http://schemas.openxmlformats.org/drawingml/2006/main" prst="rect">
            <a:avLst/>
          </a:prstGeom>
          <a:solidFill xmlns:a="http://schemas.openxmlformats.org/drawingml/2006/main">
            <a:srgbClr val="163556"/>
          </a:solidFill>
          <a:ln xmlns:a="http://schemas.openxmlformats.org/drawingml/2006/main" w="0">
            <a:solidFill>
              <a:srgbClr val="163556"/>
            </a:solidFill>
            <a:prstDash val="solid"/>
          </a:ln>
        </p:spPr>
      </p:sp>
      <p:sp>
        <p:nvSpPr>
          <p:cNvPr id="13" name="">
            <a:extLst xmlns:a="http://schemas.openxmlformats.org/drawingml/2006/main">
              <a:ext uri="{FF2B5EF4-FFF2-40B4-BE49-F238E27FC236}">
                <a16:creationId xmlns:a16="http://schemas.microsoft.com/office/drawing/2014/main" id="{F38A2D99-3418-483A-A4F5-D26BC7447480}"/>
              </a:ext>
            </a:extLst>
          </p:cNvPr>
          <p:cNvSpPr>
            <a:spLocks xmlns:a="http://schemas.openxmlformats.org/drawingml/2006/main" noGrp="1"/>
          </p:cNvSpPr>
          <p:nvPr/>
        </p:nvSpPr>
        <p:spPr>
          <a:xfrm xmlns:a="http://schemas.openxmlformats.org/drawingml/2006/main">
            <a:off x="6362700" y="198120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88" b="1">
                <a:solidFill>
                  <a:srgbClr val="FFFFFF"/>
                </a:solidFill>
                <a:latin typeface="Aptos"/>
                <a:ea typeface="Aptos"/>
                <a:cs typeface="Aptos"/>
              </a:defRPr>
            </a:pPr>
            <a:r>
              <a:rPr sz="788" b="1">
                <a:solidFill>
                  <a:srgbClr val="FFFFFF"/>
                </a:solidFill>
                <a:latin typeface="Aptos"/>
                <a:ea typeface="Aptos"/>
                <a:cs typeface="Aptos"/>
              </a:rPr>
              <a:t>PROCHAINE ETAPE</a:t>
            </a:r>
          </a:p>
        </p:txBody>
      </p:sp>
      <p:sp>
        <p:nvSpPr>
          <p:cNvPr id="14" name="">
            <a:extLst xmlns:a="http://schemas.openxmlformats.org/drawingml/2006/main">
              <a:ext uri="{FF2B5EF4-FFF2-40B4-BE49-F238E27FC236}">
                <a16:creationId xmlns:a16="http://schemas.microsoft.com/office/drawing/2014/main" id="{D1A851E9-897E-44E0-93E6-BB3A00DCAFE0}"/>
              </a:ext>
            </a:extLst>
          </p:cNvPr>
          <p:cNvSpPr>
            <a:spLocks xmlns:a="http://schemas.openxmlformats.org/drawingml/2006/main" noGrp="1"/>
          </p:cNvSpPr>
          <p:nvPr/>
        </p:nvSpPr>
        <p:spPr>
          <a:xfrm xmlns:a="http://schemas.openxmlformats.org/drawingml/2006/main">
            <a:off x="6362700" y="2247900"/>
            <a:ext cx="34290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800" b="1">
                <a:solidFill>
                  <a:srgbClr val="FFFFFF"/>
                </a:solidFill>
                <a:latin typeface="Aptos Display"/>
                <a:ea typeface="Aptos Display"/>
                <a:cs typeface="Aptos Display"/>
              </a:defRPr>
            </a:pPr>
            <a:r>
              <a:rPr sz="1800" b="1">
                <a:solidFill>
                  <a:srgbClr val="FFFFFF"/>
                </a:solidFill>
                <a:latin typeface="Aptos Display"/>
                <a:ea typeface="Aptos Display"/>
                <a:cs typeface="Aptos Display"/>
              </a:rPr>
              <a:t>Sortie attendue du rendez-vous</a:t>
            </a:r>
          </a:p>
        </p:txBody>
      </p:sp>
      <p:sp>
        <p:nvSpPr>
          <p:cNvPr id="15" name="">
            <a:extLst xmlns:a="http://schemas.openxmlformats.org/drawingml/2006/main">
              <a:ext uri="{FF2B5EF4-FFF2-40B4-BE49-F238E27FC236}">
                <a16:creationId xmlns:a16="http://schemas.microsoft.com/office/drawing/2014/main" id="{B2A2F80D-92A7-4D7F-AE01-1F64CB98F49E}"/>
              </a:ext>
            </a:extLst>
          </p:cNvPr>
          <p:cNvSpPr>
            <a:spLocks xmlns:a="http://schemas.openxmlformats.org/drawingml/2006/main" noGrp="1"/>
          </p:cNvSpPr>
          <p:nvPr/>
        </p:nvSpPr>
        <p:spPr>
          <a:xfrm xmlns:a="http://schemas.openxmlformats.org/drawingml/2006/main">
            <a:off x="6362700" y="2724150"/>
            <a:ext cx="3429000" cy="1219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FFFFFF"/>
                </a:solidFill>
                <a:latin typeface="Aptos"/>
                <a:ea typeface="Aptos"/>
                <a:cs typeface="Aptos"/>
              </a:defRPr>
            </a:pPr>
            <a:r>
              <a:rPr sz="1125" b="0">
                <a:solidFill>
                  <a:srgbClr val="FFFFFF"/>
                </a:solidFill>
                <a:latin typeface="Aptos"/>
                <a:ea typeface="Aptos"/>
                <a:cs typeface="Aptos"/>
              </a:rPr>
              <a:t>1. Tenir un atelier expert de 45 minutes</a:t>
            </a:r>
          </a:p>
          <a:p xmlns:a="http://schemas.openxmlformats.org/drawingml/2006/main">
            <a:pPr algn="l">
              <a:defRPr sz="1125" b="0">
                <a:solidFill>
                  <a:srgbClr val="FFFFFF"/>
                </a:solidFill>
                <a:latin typeface="Aptos"/>
                <a:ea typeface="Aptos"/>
                <a:cs typeface="Aptos"/>
              </a:defRPr>
            </a:pPr>
            <a:r>
              <a:rPr sz="1125" b="0">
                <a:solidFill>
                  <a:srgbClr val="FFFFFF"/>
                </a:solidFill>
                <a:latin typeface="Aptos"/>
                <a:ea typeface="Aptos"/>
                <a:cs typeface="Aptos"/>
              </a:rPr>
              <a:t>2. Lancer l'audit IA gratuit</a:t>
            </a:r>
          </a:p>
          <a:p xmlns:a="http://schemas.openxmlformats.org/drawingml/2006/main">
            <a:pPr algn="l">
              <a:defRPr sz="1125" b="0">
                <a:solidFill>
                  <a:srgbClr val="FFFFFF"/>
                </a:solidFill>
                <a:latin typeface="Aptos"/>
                <a:ea typeface="Aptos"/>
                <a:cs typeface="Aptos"/>
              </a:defRPr>
            </a:pPr>
            <a:r>
              <a:rPr sz="1125" b="0">
                <a:solidFill>
                  <a:srgbClr val="FFFFFF"/>
                </a:solidFill>
                <a:latin typeface="Aptos"/>
                <a:ea typeface="Aptos"/>
                <a:cs typeface="Aptos"/>
              </a:rPr>
              <a:t>3. Recevoir une priorisation claire des cas d'usage</a:t>
            </a:r>
          </a:p>
          <a:p xmlns:a="http://schemas.openxmlformats.org/drawingml/2006/main">
            <a:pPr algn="l">
              <a:defRPr sz="1125" b="0">
                <a:solidFill>
                  <a:srgbClr val="FFFFFF"/>
                </a:solidFill>
                <a:latin typeface="Aptos"/>
                <a:ea typeface="Aptos"/>
                <a:cs typeface="Aptos"/>
              </a:defRPr>
            </a:pPr>
            <a:r>
              <a:rPr sz="1125" b="0">
                <a:solidFill>
                  <a:srgbClr val="FFFFFF"/>
                </a:solidFill>
                <a:latin typeface="Aptos"/>
                <a:ea typeface="Aptos"/>
                <a:cs typeface="Aptos"/>
              </a:rPr>
              <a:t>4. Valider un premier pilote et ses KPI</a:t>
            </a:r>
          </a:p>
        </p:txBody>
      </p:sp>
      <p:sp>
        <p:nvSpPr>
          <p:cNvPr id="16" name="">
            <a:extLst xmlns:a="http://schemas.openxmlformats.org/drawingml/2006/main">
              <a:ext uri="{FF2B5EF4-FFF2-40B4-BE49-F238E27FC236}">
                <a16:creationId xmlns:a16="http://schemas.microsoft.com/office/drawing/2014/main" id="{DE0C7AF5-163D-436E-B52B-EFB8FE32D31C}"/>
              </a:ext>
            </a:extLst>
          </p:cNvPr>
          <p:cNvSpPr>
            <a:spLocks xmlns:a="http://schemas.openxmlformats.org/drawingml/2006/main" noGrp="1"/>
          </p:cNvSpPr>
          <p:nvPr/>
        </p:nvSpPr>
        <p:spPr>
          <a:xfrm xmlns:a="http://schemas.openxmlformats.org/drawingml/2006/main">
            <a:off x="9906000" y="2400300"/>
            <a:ext cx="1219200" cy="971550"/>
          </a:xfrm>
          <a:prstGeom xmlns:a="http://schemas.openxmlformats.org/drawingml/2006/main" prst="rect">
            <a:avLst/>
          </a:prstGeom>
          <a:solidFill xmlns:a="http://schemas.openxmlformats.org/drawingml/2006/main">
            <a:srgbClr val="244667"/>
          </a:solidFill>
          <a:ln xmlns:a="http://schemas.openxmlformats.org/drawingml/2006/main" w="9525">
            <a:solidFill>
              <a:srgbClr val="244667"/>
            </a:solidFill>
            <a:prstDash val="solid"/>
          </a:ln>
        </p:spPr>
      </p:sp>
      <p:sp>
        <p:nvSpPr>
          <p:cNvPr id="17" name="">
            <a:extLst xmlns:a="http://schemas.openxmlformats.org/drawingml/2006/main">
              <a:ext uri="{FF2B5EF4-FFF2-40B4-BE49-F238E27FC236}">
                <a16:creationId xmlns:a16="http://schemas.microsoft.com/office/drawing/2014/main" id="{D4894999-287F-4244-B880-B09A2C22D95B}"/>
              </a:ext>
            </a:extLst>
          </p:cNvPr>
          <p:cNvSpPr>
            <a:spLocks xmlns:a="http://schemas.openxmlformats.org/drawingml/2006/main" noGrp="1"/>
          </p:cNvSpPr>
          <p:nvPr/>
        </p:nvSpPr>
        <p:spPr>
          <a:xfrm xmlns:a="http://schemas.openxmlformats.org/drawingml/2006/main">
            <a:off x="10077450" y="2628900"/>
            <a:ext cx="8763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800" b="1">
                <a:solidFill>
                  <a:srgbClr val="FFFFFF"/>
                </a:solidFill>
                <a:latin typeface="Aptos Display"/>
                <a:ea typeface="Aptos Display"/>
                <a:cs typeface="Aptos Display"/>
              </a:defRPr>
            </a:pPr>
            <a:r>
              <a:rPr sz="1800" b="1">
                <a:solidFill>
                  <a:srgbClr val="FFFFFF"/>
                </a:solidFill>
                <a:latin typeface="Aptos Display"/>
                <a:ea typeface="Aptos Display"/>
                <a:cs typeface="Aptos Display"/>
              </a:rPr>
              <a:t>45 min</a:t>
            </a:r>
          </a:p>
        </p:txBody>
      </p:sp>
      <p:sp>
        <p:nvSpPr>
          <p:cNvPr id="18" name="">
            <a:extLst xmlns:a="http://schemas.openxmlformats.org/drawingml/2006/main">
              <a:ext uri="{FF2B5EF4-FFF2-40B4-BE49-F238E27FC236}">
                <a16:creationId xmlns:a16="http://schemas.microsoft.com/office/drawing/2014/main" id="{B40B74ED-6189-4CC5-9CF8-2B1425CFF057}"/>
              </a:ext>
            </a:extLst>
          </p:cNvPr>
          <p:cNvSpPr>
            <a:spLocks xmlns:a="http://schemas.openxmlformats.org/drawingml/2006/main" noGrp="1"/>
          </p:cNvSpPr>
          <p:nvPr/>
        </p:nvSpPr>
        <p:spPr>
          <a:xfrm xmlns:a="http://schemas.openxmlformats.org/drawingml/2006/main">
            <a:off x="10077450" y="2933700"/>
            <a:ext cx="8763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88" b="0">
                <a:solidFill>
                  <a:srgbClr val="FFFFFF"/>
                </a:solidFill>
                <a:latin typeface="Aptos"/>
                <a:ea typeface="Aptos"/>
                <a:cs typeface="Aptos"/>
              </a:defRPr>
            </a:pPr>
            <a:r>
              <a:rPr sz="788" b="0">
                <a:solidFill>
                  <a:srgbClr val="FFFFFF"/>
                </a:solidFill>
                <a:latin typeface="Aptos"/>
                <a:ea typeface="Aptos"/>
                <a:cs typeface="Aptos"/>
              </a:rPr>
              <a:t>atelier de cadrage</a:t>
            </a:r>
          </a:p>
        </p:txBody>
      </p:sp>
      <p:sp>
        <p:nvSpPr>
          <p:cNvPr id="19" name="">
            <a:extLst xmlns:a="http://schemas.openxmlformats.org/drawingml/2006/main">
              <a:ext uri="{FF2B5EF4-FFF2-40B4-BE49-F238E27FC236}">
                <a16:creationId xmlns:a16="http://schemas.microsoft.com/office/drawing/2014/main" id="{B28F09C5-FD1C-4189-B118-72D2CAA00727}"/>
              </a:ext>
            </a:extLst>
          </p:cNvPr>
          <p:cNvSpPr>
            <a:spLocks xmlns:a="http://schemas.openxmlformats.org/drawingml/2006/main" noGrp="1"/>
          </p:cNvSpPr>
          <p:nvPr/>
        </p:nvSpPr>
        <p:spPr>
          <a:xfrm xmlns:a="http://schemas.openxmlformats.org/drawingml/2006/main">
            <a:off x="9906000" y="3524250"/>
            <a:ext cx="1219200" cy="971550"/>
          </a:xfrm>
          <a:prstGeom xmlns:a="http://schemas.openxmlformats.org/drawingml/2006/main" prst="rect">
            <a:avLst/>
          </a:prstGeom>
          <a:solidFill xmlns:a="http://schemas.openxmlformats.org/drawingml/2006/main">
            <a:srgbClr val="244667"/>
          </a:solidFill>
          <a:ln xmlns:a="http://schemas.openxmlformats.org/drawingml/2006/main" w="9525">
            <a:solidFill>
              <a:srgbClr val="244667"/>
            </a:solidFill>
            <a:prstDash val="solid"/>
          </a:ln>
        </p:spPr>
      </p:sp>
      <p:sp>
        <p:nvSpPr>
          <p:cNvPr id="20" name="">
            <a:extLst xmlns:a="http://schemas.openxmlformats.org/drawingml/2006/main">
              <a:ext uri="{FF2B5EF4-FFF2-40B4-BE49-F238E27FC236}">
                <a16:creationId xmlns:a16="http://schemas.microsoft.com/office/drawing/2014/main" id="{A420B4E7-4CDC-485C-9FB0-A055015495B1}"/>
              </a:ext>
            </a:extLst>
          </p:cNvPr>
          <p:cNvSpPr>
            <a:spLocks xmlns:a="http://schemas.openxmlformats.org/drawingml/2006/main" noGrp="1"/>
          </p:cNvSpPr>
          <p:nvPr/>
        </p:nvSpPr>
        <p:spPr>
          <a:xfrm xmlns:a="http://schemas.openxmlformats.org/drawingml/2006/main">
            <a:off x="10077450" y="3752850"/>
            <a:ext cx="8763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800" b="1">
                <a:solidFill>
                  <a:srgbClr val="FFFFFF"/>
                </a:solidFill>
                <a:latin typeface="Aptos Display"/>
                <a:ea typeface="Aptos Display"/>
                <a:cs typeface="Aptos Display"/>
              </a:defRPr>
            </a:pPr>
            <a:r>
              <a:rPr sz="1800" b="1">
                <a:solidFill>
                  <a:srgbClr val="FFFFFF"/>
                </a:solidFill>
                <a:latin typeface="Aptos Display"/>
                <a:ea typeface="Aptos Display"/>
                <a:cs typeface="Aptos Display"/>
              </a:rPr>
              <a:t>J+15</a:t>
            </a:r>
          </a:p>
        </p:txBody>
      </p:sp>
      <p:sp>
        <p:nvSpPr>
          <p:cNvPr id="21" name="">
            <a:extLst xmlns:a="http://schemas.openxmlformats.org/drawingml/2006/main">
              <a:ext uri="{FF2B5EF4-FFF2-40B4-BE49-F238E27FC236}">
                <a16:creationId xmlns:a16="http://schemas.microsoft.com/office/drawing/2014/main" id="{3AB9BA28-CB9D-4656-9FFC-2B087AF6A360}"/>
              </a:ext>
            </a:extLst>
          </p:cNvPr>
          <p:cNvSpPr>
            <a:spLocks xmlns:a="http://schemas.openxmlformats.org/drawingml/2006/main" noGrp="1"/>
          </p:cNvSpPr>
          <p:nvPr/>
        </p:nvSpPr>
        <p:spPr>
          <a:xfrm xmlns:a="http://schemas.openxmlformats.org/drawingml/2006/main">
            <a:off x="10077450" y="4057650"/>
            <a:ext cx="8763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88" b="0">
                <a:solidFill>
                  <a:srgbClr val="FFFFFF"/>
                </a:solidFill>
                <a:latin typeface="Aptos"/>
                <a:ea typeface="Aptos"/>
                <a:cs typeface="Aptos"/>
              </a:defRPr>
            </a:pPr>
            <a:r>
              <a:rPr sz="788" b="0">
                <a:solidFill>
                  <a:srgbClr val="FFFFFF"/>
                </a:solidFill>
                <a:latin typeface="Aptos"/>
                <a:ea typeface="Aptos"/>
                <a:cs typeface="Aptos"/>
              </a:rPr>
              <a:t>premier livrable</a:t>
            </a:r>
          </a:p>
        </p:txBody>
      </p:sp>
      <p:sp>
        <p:nvSpPr>
          <p:cNvPr id="22" name="">
            <a:extLst xmlns:a="http://schemas.openxmlformats.org/drawingml/2006/main">
              <a:ext uri="{FF2B5EF4-FFF2-40B4-BE49-F238E27FC236}">
                <a16:creationId xmlns:a16="http://schemas.microsoft.com/office/drawing/2014/main" id="{917F5E46-2253-4424-B58B-2E0B6672DDD6}"/>
              </a:ext>
            </a:extLst>
          </p:cNvPr>
          <p:cNvSpPr>
            <a:spLocks xmlns:a="http://schemas.openxmlformats.org/drawingml/2006/main" noGrp="1"/>
          </p:cNvSpPr>
          <p:nvPr/>
        </p:nvSpPr>
        <p:spPr>
          <a:xfrm xmlns:a="http://schemas.openxmlformats.org/drawingml/2006/main">
            <a:off x="6362700" y="4229100"/>
            <a:ext cx="4762500" cy="800100"/>
          </a:xfrm>
          <a:prstGeom xmlns:a="http://schemas.openxmlformats.org/drawingml/2006/main" prst="rect">
            <a:avLst/>
          </a:prstGeom>
          <a:solidFill xmlns:a="http://schemas.openxmlformats.org/drawingml/2006/main">
            <a:srgbClr val="244667"/>
          </a:solidFill>
          <a:ln xmlns:a="http://schemas.openxmlformats.org/drawingml/2006/main" w="9525">
            <a:solidFill>
              <a:srgbClr val="244667"/>
            </a:solidFill>
            <a:prstDash val="solid"/>
          </a:ln>
        </p:spPr>
      </p:sp>
      <p:sp>
        <p:nvSpPr>
          <p:cNvPr id="23" name="">
            <a:extLst xmlns:a="http://schemas.openxmlformats.org/drawingml/2006/main">
              <a:ext uri="{FF2B5EF4-FFF2-40B4-BE49-F238E27FC236}">
                <a16:creationId xmlns:a16="http://schemas.microsoft.com/office/drawing/2014/main" id="{8D608736-D24F-4DA7-BAC8-43CCC72E37C5}"/>
              </a:ext>
            </a:extLst>
          </p:cNvPr>
          <p:cNvSpPr>
            <a:spLocks xmlns:a="http://schemas.openxmlformats.org/drawingml/2006/main" noGrp="1"/>
          </p:cNvSpPr>
          <p:nvPr/>
        </p:nvSpPr>
        <p:spPr>
          <a:xfrm xmlns:a="http://schemas.openxmlformats.org/drawingml/2006/main">
            <a:off x="6572250" y="4438650"/>
            <a:ext cx="4343400"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63" b="0">
                <a:solidFill>
                  <a:srgbClr val="D7E5F3"/>
                </a:solidFill>
                <a:latin typeface="Aptos"/>
                <a:ea typeface="Aptos"/>
                <a:cs typeface="Aptos"/>
              </a:defRPr>
            </a:pPr>
            <a:r>
              <a:rPr sz="863" b="0">
                <a:solidFill>
                  <a:srgbClr val="D7E5F3"/>
                </a:solidFill>
                <a:latin typeface="Aptos"/>
                <a:ea typeface="Aptos"/>
                <a:cs typeface="Aptos"/>
              </a:rPr>
              <a:t>Formule courte a utiliser: TransferAI aide ELTON CI a identifier les usages les plus utiles, former les bonnes equipes et choisir la bonne suite entre pilote, accompagnement et extension.</a:t>
            </a:r>
          </a:p>
        </p:txBody>
      </p:sp>
      <p:sp>
        <p:nvSpPr>
          <p:cNvPr id="24" name="">
            <a:extLst xmlns:a="http://schemas.openxmlformats.org/drawingml/2006/main">
              <a:ext uri="{FF2B5EF4-FFF2-40B4-BE49-F238E27FC236}">
                <a16:creationId xmlns:a16="http://schemas.microsoft.com/office/drawing/2014/main" id="{0C89838D-2466-41B6-9E63-2C92158A4221}"/>
              </a:ext>
            </a:extLst>
          </p:cNvPr>
          <p:cNvSpPr>
            <a:spLocks xmlns:a="http://schemas.openxmlformats.org/drawingml/2006/main" noGrp="1"/>
          </p:cNvSpPr>
          <p:nvPr/>
        </p:nvSpPr>
        <p:spPr>
          <a:xfrm xmlns:a="http://schemas.openxmlformats.org/drawingml/2006/main">
            <a:off x="647700" y="6496050"/>
            <a:ext cx="10896600" cy="9525"/>
          </a:xfrm>
          <a:prstGeom xmlns:a="http://schemas.openxmlformats.org/drawingml/2006/main" prst="rect">
            <a:avLst/>
          </a:prstGeom>
          <a:solidFill xmlns:a="http://schemas.openxmlformats.org/drawingml/2006/main">
            <a:srgbClr val="D7CEC3"/>
          </a:solidFill>
          <a:ln xmlns:a="http://schemas.openxmlformats.org/drawingml/2006/main" w="0">
            <a:solidFill>
              <a:srgbClr val="000000">
                <a:alpha val="0"/>
              </a:srgbClr>
            </a:solidFill>
            <a:prstDash val="solid"/>
          </a:ln>
        </p:spPr>
      </p:sp>
      <p:sp>
        <p:nvSpPr>
          <p:cNvPr id="25" name="">
            <a:extLst xmlns:a="http://schemas.openxmlformats.org/drawingml/2006/main">
              <a:ext uri="{FF2B5EF4-FFF2-40B4-BE49-F238E27FC236}">
                <a16:creationId xmlns:a16="http://schemas.microsoft.com/office/drawing/2014/main" id="{D334A96C-F502-49F1-8987-FA54E08B2DBA}"/>
              </a:ext>
            </a:extLst>
          </p:cNvPr>
          <p:cNvSpPr>
            <a:spLocks xmlns:a="http://schemas.openxmlformats.org/drawingml/2006/main" noGrp="1"/>
          </p:cNvSpPr>
          <p:nvPr/>
        </p:nvSpPr>
        <p:spPr>
          <a:xfrm xmlns:a="http://schemas.openxmlformats.org/drawingml/2006/main">
            <a:off x="685800" y="6572250"/>
            <a:ext cx="857250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38" b="0">
                <a:solidFill>
                  <a:srgbClr val="617086"/>
                </a:solidFill>
                <a:latin typeface="Aptos"/>
                <a:ea typeface="Aptos"/>
                <a:cs typeface="Aptos"/>
              </a:defRPr>
            </a:pPr>
            <a:r>
              <a:rPr sz="638" b="0">
                <a:solidFill>
                  <a:srgbClr val="617086"/>
                </a:solidFill>
                <a:latin typeface="Aptos"/>
                <a:ea typeface="Aptos"/>
                <a:cs typeface="Aptos"/>
              </a:rPr>
              <a:t>TransferAI | Hub AI de Nettelecom CI | Proposition ciblee ELTON CI</a:t>
            </a:r>
          </a:p>
        </p:txBody>
      </p:sp>
      <p:sp>
        <p:nvSpPr>
          <p:cNvPr id="26" name="">
            <a:extLst xmlns:a="http://schemas.openxmlformats.org/drawingml/2006/main">
              <a:ext uri="{FF2B5EF4-FFF2-40B4-BE49-F238E27FC236}">
                <a16:creationId xmlns:a16="http://schemas.microsoft.com/office/drawing/2014/main" id="{7CF18E16-10FB-484E-BC6A-E44A9FAB0FC1}"/>
              </a:ext>
            </a:extLst>
          </p:cNvPr>
          <p:cNvSpPr>
            <a:spLocks xmlns:a="http://schemas.openxmlformats.org/drawingml/2006/main" noGrp="1"/>
          </p:cNvSpPr>
          <p:nvPr/>
        </p:nvSpPr>
        <p:spPr>
          <a:xfrm xmlns:a="http://schemas.openxmlformats.org/drawingml/2006/main">
            <a:off x="11049000" y="6553200"/>
            <a:ext cx="3429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750" b="1">
                <a:solidFill>
                  <a:srgbClr val="1A3554"/>
                </a:solidFill>
                <a:latin typeface="Aptos"/>
                <a:ea typeface="Aptos"/>
                <a:cs typeface="Aptos"/>
              </a:defRPr>
            </a:pPr>
            <a:r>
              <a:rPr sz="750" b="1">
                <a:solidFill>
                  <a:srgbClr val="1A3554"/>
                </a:solidFill>
                <a:latin typeface="Aptos"/>
                <a:ea typeface="Aptos"/>
                <a:cs typeface="Aptos"/>
              </a:rPr>
              <a:t>10</a:t>
            </a:r>
          </a:p>
        </p:txBody>
      </p:sp>
    </p:spTree>
    <p:extLst>
      <p:ext uri="{BB962C8B-B14F-4D97-AF65-F5344CB8AC3E}">
        <p14:creationId xmlns:p14="http://schemas.microsoft.com/office/powerpoint/2010/main" val="200396764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2026-05-26T16:34:42.8250000Z</dcterms:created>
  <dcterms:modified xsi:type="dcterms:W3CDTF">2026-05-26T16:34:42.8250000Z</dcterms:modified>
</coreProperties>
</file>