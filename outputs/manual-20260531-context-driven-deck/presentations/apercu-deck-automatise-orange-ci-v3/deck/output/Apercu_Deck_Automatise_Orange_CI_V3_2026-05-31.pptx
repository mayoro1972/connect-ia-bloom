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4215d6ceb749c0" /><Relationship Type="http://schemas.openxmlformats.org/officeDocument/2006/relationships/extended-properties" Target="/docProps/app.xml" Id="R75537cdafe244b00" /><Relationship Type="http://schemas.openxmlformats.org/officeDocument/2006/relationships/officeDocument" Target="/ppt/presentation.xml" Id="Rf1ff6da2cc604c7f" /></Relationships>
</file>

<file path=ppt/presentation.xml><?xml version="1.0" encoding="utf-8"?>
<p:presentation xmlns:p="http://schemas.openxmlformats.org/presentationml/2006/main">
  <p:sldMasterIdLst>
    <p:sldMasterId xmlns:r="http://schemas.openxmlformats.org/officeDocument/2006/relationships" id="2147483648" r:id="R6357c803a08d485b"/>
  </p:sldMasterIdLst>
  <p:notesMasterIdLst>
    <p:notesMasterId xmlns:r="http://schemas.openxmlformats.org/officeDocument/2006/relationships" r:id="R168aca642a0c4f6e"/>
  </p:notesMasterIdLst>
  <p:sldIdLst>
    <p:sldId xmlns:r="http://schemas.openxmlformats.org/officeDocument/2006/relationships" id="256" r:id="R0eba7cfc95f2467a"/>
    <p:sldId xmlns:r="http://schemas.openxmlformats.org/officeDocument/2006/relationships" id="257" r:id="R468f1c0003cc4c87"/>
    <p:sldId xmlns:r="http://schemas.openxmlformats.org/officeDocument/2006/relationships" id="258" r:id="R7158116d31be4ea2"/>
    <p:sldId xmlns:r="http://schemas.openxmlformats.org/officeDocument/2006/relationships" id="259" r:id="Rda9b5c24ca944706"/>
    <p:sldId xmlns:r="http://schemas.openxmlformats.org/officeDocument/2006/relationships" id="260" r:id="R8de8e031087e47e4"/>
    <p:sldId xmlns:r="http://schemas.openxmlformats.org/officeDocument/2006/relationships" id="261" r:id="Ra1defe3052b940af"/>
    <p:sldId xmlns:r="http://schemas.openxmlformats.org/officeDocument/2006/relationships" id="262" r:id="R3133e3ccffd047a7"/>
    <p:sldId xmlns:r="http://schemas.openxmlformats.org/officeDocument/2006/relationships" id="263" r:id="R87d8d3fd810c4fb3"/>
    <p:sldId xmlns:r="http://schemas.openxmlformats.org/officeDocument/2006/relationships" id="264" r:id="R2f19dfada5754d62"/>
    <p:sldId xmlns:r="http://schemas.openxmlformats.org/officeDocument/2006/relationships" id="265" r:id="R6f03175897434607"/>
    <p:sldId xmlns:r="http://schemas.openxmlformats.org/officeDocument/2006/relationships" id="266" r:id="Rc7202892947244e5"/>
    <p:sldId xmlns:r="http://schemas.openxmlformats.org/officeDocument/2006/relationships" id="267" r:id="Re810a608e27c4659"/>
    <p:sldId xmlns:r="http://schemas.openxmlformats.org/officeDocument/2006/relationships" id="268" r:id="Red9232f930f6423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6357c803a08d485b" /><Relationship Type="http://schemas.openxmlformats.org/officeDocument/2006/relationships/theme" Target="/ppt/theme/theme1.xml" Id="R9cbdce3c6cde4abb" /><Relationship Type="http://schemas.openxmlformats.org/officeDocument/2006/relationships/notesMaster" Target="/ppt/notesMasters/notesMaster1.xml" Id="R168aca642a0c4f6e" /><Relationship Type="http://schemas.openxmlformats.org/officeDocument/2006/relationships/presProps" Target="/ppt/presProps.xml" Id="R133f1538fc6b46d2" /><Relationship Type="http://schemas.openxmlformats.org/officeDocument/2006/relationships/viewProps" Target="/ppt/viewProps.xml" Id="Rbbc584a052d44fbd" /><Relationship Type="http://schemas.openxmlformats.org/officeDocument/2006/relationships/tableStyles" Target="/ppt/tableStyles.xml" Id="R5a8d27e3d94c4d07" /><Relationship Type="http://schemas.openxmlformats.org/officeDocument/2006/relationships/slide" Target="/ppt/slides/slide1.xml" Id="R0eba7cfc95f2467a" /><Relationship Type="http://schemas.openxmlformats.org/officeDocument/2006/relationships/slide" Target="/ppt/slides/slide2.xml" Id="R468f1c0003cc4c87" /><Relationship Type="http://schemas.openxmlformats.org/officeDocument/2006/relationships/slide" Target="/ppt/slides/slide3.xml" Id="R7158116d31be4ea2" /><Relationship Type="http://schemas.openxmlformats.org/officeDocument/2006/relationships/slide" Target="/ppt/slides/slide4.xml" Id="Rda9b5c24ca944706" /><Relationship Type="http://schemas.openxmlformats.org/officeDocument/2006/relationships/slide" Target="/ppt/slides/slide5.xml" Id="R8de8e031087e47e4" /><Relationship Type="http://schemas.openxmlformats.org/officeDocument/2006/relationships/slide" Target="/ppt/slides/slide6.xml" Id="Ra1defe3052b940af" /><Relationship Type="http://schemas.openxmlformats.org/officeDocument/2006/relationships/slide" Target="/ppt/slides/slide7.xml" Id="R3133e3ccffd047a7" /><Relationship Type="http://schemas.openxmlformats.org/officeDocument/2006/relationships/slide" Target="/ppt/slides/slide8.xml" Id="R87d8d3fd810c4fb3" /><Relationship Type="http://schemas.openxmlformats.org/officeDocument/2006/relationships/slide" Target="/ppt/slides/slide9.xml" Id="R2f19dfada5754d62" /><Relationship Type="http://schemas.openxmlformats.org/officeDocument/2006/relationships/slide" Target="/ppt/slides/slide10.xml" Id="R6f03175897434607" /><Relationship Type="http://schemas.openxmlformats.org/officeDocument/2006/relationships/slide" Target="/ppt/slides/slide11.xml" Id="Rc7202892947244e5" /><Relationship Type="http://schemas.openxmlformats.org/officeDocument/2006/relationships/slide" Target="/ppt/slides/slide12.xml" Id="Re810a608e27c4659" /><Relationship Type="http://schemas.openxmlformats.org/officeDocument/2006/relationships/slide" Target="/ppt/slides/slide13.xml" Id="Red9232f930f642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deede0d102940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2b07a7fb974c80" /><Relationship Type="http://schemas.openxmlformats.org/officeDocument/2006/relationships/notesMaster" Target="/ppt/notesMasters/notesMaster1.xml" Id="Rf684303190f046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c3cca1fa22474e" /><Relationship Type="http://schemas.openxmlformats.org/officeDocument/2006/relationships/notesMaster" Target="/ppt/notesMasters/notesMaster1.xml" Id="R45bef74e32864d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5f9773a564466a" /><Relationship Type="http://schemas.openxmlformats.org/officeDocument/2006/relationships/notesMaster" Target="/ppt/notesMasters/notesMaster1.xml" Id="Rcb850502117e4b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c5a589e3ed4ad4" /><Relationship Type="http://schemas.openxmlformats.org/officeDocument/2006/relationships/notesMaster" Target="/ppt/notesMasters/notesMaster1.xml" Id="R35a84f0d827944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b7c071999b437d" /><Relationship Type="http://schemas.openxmlformats.org/officeDocument/2006/relationships/notesMaster" Target="/ppt/notesMasters/notesMaster1.xml" Id="Ra9806dd39de642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7d824756bb415f" /><Relationship Type="http://schemas.openxmlformats.org/officeDocument/2006/relationships/notesMaster" Target="/ppt/notesMasters/notesMaster1.xml" Id="Reac06814c1984e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8c115bd0e142e5" /><Relationship Type="http://schemas.openxmlformats.org/officeDocument/2006/relationships/notesMaster" Target="/ppt/notesMasters/notesMaster1.xml" Id="R8a64065b386f48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4ecc05f89745c1" /><Relationship Type="http://schemas.openxmlformats.org/officeDocument/2006/relationships/notesMaster" Target="/ppt/notesMasters/notesMaster1.xml" Id="R760496c7f98546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fcaa9a16f54775" /><Relationship Type="http://schemas.openxmlformats.org/officeDocument/2006/relationships/notesMaster" Target="/ppt/notesMasters/notesMaster1.xml" Id="Rc7d6fe9cf5fb4d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3aec6a17bf4664" /><Relationship Type="http://schemas.openxmlformats.org/officeDocument/2006/relationships/notesMaster" Target="/ppt/notesMasters/notesMaster1.xml" Id="R4fe1d8d4768c49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2fdf7205b146e4" /><Relationship Type="http://schemas.openxmlformats.org/officeDocument/2006/relationships/notesMaster" Target="/ppt/notesMasters/notesMaster1.xml" Id="Rcc635d1c4d2740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e92a42a056f44e5" /><Relationship Type="http://schemas.openxmlformats.org/officeDocument/2006/relationships/notesMaster" Target="/ppt/notesMasters/notesMaster1.xml" Id="Rf1b88609be4c4a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8bd9ce992c4921" /><Relationship Type="http://schemas.openxmlformats.org/officeDocument/2006/relationships/notesMaster" Target="/ppt/notesMasters/notesMaster1.xml" Id="Rcac0103c097041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56655ab8ee4fee"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6a7aff8538c42cf" /><Relationship Type="http://schemas.openxmlformats.org/officeDocument/2006/relationships/slideLayout" Target="/ppt/slideLayouts/slideLayout2.xml" Id="R54902706ba1a49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902706ba1a49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7a8d95beb559455d" /><Relationship Type="http://schemas.openxmlformats.org/officeDocument/2006/relationships/notesSlide" Target="/ppt/notesSlides/notesSlide1.xml" Id="Raffc084bbc0548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788b34bec89443d" /><Relationship Type="http://schemas.openxmlformats.org/officeDocument/2006/relationships/notesSlide" Target="/ppt/notesSlides/notesSlide2.xml" Id="R3caf6406919547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87121372c5247b2" /><Relationship Type="http://schemas.openxmlformats.org/officeDocument/2006/relationships/notesSlide" Target="/ppt/notesSlides/notesSlide3.xml" Id="R56045dde400647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979d01a5a584a8d" /><Relationship Type="http://schemas.openxmlformats.org/officeDocument/2006/relationships/image" Target="/ppt/media/image.png" Id="R7d604934531d498b" /><Relationship Type="http://schemas.openxmlformats.org/officeDocument/2006/relationships/image" Target="/ppt/media/image.svg" Id="R114c03be352d4bf7" /><Relationship Type="http://schemas.openxmlformats.org/officeDocument/2006/relationships/image" Target="/ppt/media/image2.png" Id="Re026e261eae24aa0" /><Relationship Type="http://schemas.openxmlformats.org/officeDocument/2006/relationships/image" Target="/ppt/media/image2.svg" Id="R248e9a73157442c2" /><Relationship Type="http://schemas.openxmlformats.org/officeDocument/2006/relationships/image" Target="/ppt/media/image3.png" Id="R37b7eb4dc8714524" /><Relationship Type="http://schemas.openxmlformats.org/officeDocument/2006/relationships/image" Target="/ppt/media/image3.svg" Id="R9c572de2d93948b3" /><Relationship Type="http://schemas.openxmlformats.org/officeDocument/2006/relationships/image" Target="/ppt/media/image4.png" Id="R66bc6e561dfd4ee4" /><Relationship Type="http://schemas.openxmlformats.org/officeDocument/2006/relationships/image" Target="/ppt/media/image4.svg" Id="Rc0c10013bb9740e4" /><Relationship Type="http://schemas.openxmlformats.org/officeDocument/2006/relationships/notesSlide" Target="/ppt/notesSlides/notesSlide4.xml" Id="Rfe25e085180e43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6bd2419694a4651" /><Relationship Type="http://schemas.openxmlformats.org/officeDocument/2006/relationships/image" Target="/ppt/media/image5.png" Id="Rd88b698ad4ba4dea" /><Relationship Type="http://schemas.openxmlformats.org/officeDocument/2006/relationships/image" Target="/ppt/media/image5.svg" Id="R84d405251cc74e3b" /><Relationship Type="http://schemas.openxmlformats.org/officeDocument/2006/relationships/image" Target="/ppt/media/image6.png" Id="Reda01be2139e45d2" /><Relationship Type="http://schemas.openxmlformats.org/officeDocument/2006/relationships/image" Target="/ppt/media/image6.svg" Id="Rfcc6596bb384403e" /><Relationship Type="http://schemas.openxmlformats.org/officeDocument/2006/relationships/image" Target="/ppt/media/image7.png" Id="R3426d245ec4a4325" /><Relationship Type="http://schemas.openxmlformats.org/officeDocument/2006/relationships/image" Target="/ppt/media/image7.svg" Id="R8c4f0fbb9144421f" /><Relationship Type="http://schemas.openxmlformats.org/officeDocument/2006/relationships/image" Target="/ppt/media/image8.png" Id="R25eff951e4c949de" /><Relationship Type="http://schemas.openxmlformats.org/officeDocument/2006/relationships/image" Target="/ppt/media/image8.svg" Id="R81c847ce0dad43bb" /><Relationship Type="http://schemas.openxmlformats.org/officeDocument/2006/relationships/notesSlide" Target="/ppt/notesSlides/notesSlide5.xml" Id="R4873285d105f40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80563abf2124cd6" /><Relationship Type="http://schemas.openxmlformats.org/officeDocument/2006/relationships/notesSlide" Target="/ppt/notesSlides/notesSlide6.xml" Id="R1ac2f2384a1245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4b3f8ee51f84618" /><Relationship Type="http://schemas.openxmlformats.org/officeDocument/2006/relationships/image" Target="/ppt/media/image9.png" Id="R83498fb960344f7c" /><Relationship Type="http://schemas.openxmlformats.org/officeDocument/2006/relationships/image" Target="/ppt/media/image9.svg" Id="R9321d71e86de43d6" /><Relationship Type="http://schemas.openxmlformats.org/officeDocument/2006/relationships/image" Target="/ppt/media/image10.png" Id="Rb4a1f477771d4e40" /><Relationship Type="http://schemas.openxmlformats.org/officeDocument/2006/relationships/image" Target="/ppt/media/image10.svg" Id="R7337d35dc94141fa" /><Relationship Type="http://schemas.openxmlformats.org/officeDocument/2006/relationships/image" Target="/ppt/media/image11.png" Id="R04f6a9f2e9ed431d" /><Relationship Type="http://schemas.openxmlformats.org/officeDocument/2006/relationships/image" Target="/ppt/media/image11.svg" Id="Rc144f62f77dc48f3" /><Relationship Type="http://schemas.openxmlformats.org/officeDocument/2006/relationships/image" Target="/ppt/media/image12.png" Id="R8ab172c914b24ff3" /><Relationship Type="http://schemas.openxmlformats.org/officeDocument/2006/relationships/image" Target="/ppt/media/image12.svg" Id="Rd4bb3a297c3e4b50" /><Relationship Type="http://schemas.openxmlformats.org/officeDocument/2006/relationships/notesSlide" Target="/ppt/notesSlides/notesSlide7.xml" Id="R95121654fe3e4a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35bede56d5448f4" /><Relationship Type="http://schemas.openxmlformats.org/officeDocument/2006/relationships/notesSlide" Target="/ppt/notesSlides/notesSlide8.xml" Id="Rc8e75884084540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39372ca6da64202" /><Relationship Type="http://schemas.openxmlformats.org/officeDocument/2006/relationships/image" Target="/ppt/media/image13.png" Id="R1d48f02dd95a4c45" /><Relationship Type="http://schemas.openxmlformats.org/officeDocument/2006/relationships/image" Target="/ppt/media/image13.svg" Id="Re6ba25ccf7754ed4" /><Relationship Type="http://schemas.openxmlformats.org/officeDocument/2006/relationships/image" Target="/ppt/media/image14.png" Id="Rf721e3f1662a4a75" /><Relationship Type="http://schemas.openxmlformats.org/officeDocument/2006/relationships/image" Target="/ppt/media/image14.svg" Id="R7eeeedd1368c41fd" /><Relationship Type="http://schemas.openxmlformats.org/officeDocument/2006/relationships/notesSlide" Target="/ppt/notesSlides/notesSlide9.xml" Id="R8247fd43cc1c49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c7b9fa6a7dd4a35" /><Relationship Type="http://schemas.openxmlformats.org/officeDocument/2006/relationships/image" Target="/ppt/media/image15.png" Id="Rb57644de10c144e6" /><Relationship Type="http://schemas.openxmlformats.org/officeDocument/2006/relationships/image" Target="/ppt/media/image15.svg" Id="R71cc5f116be145cc" /><Relationship Type="http://schemas.openxmlformats.org/officeDocument/2006/relationships/image" Target="/ppt/media/image16.png" Id="Re527b2df42e74df0" /><Relationship Type="http://schemas.openxmlformats.org/officeDocument/2006/relationships/image" Target="/ppt/media/image16.svg" Id="R37905ea912d34cc0" /><Relationship Type="http://schemas.openxmlformats.org/officeDocument/2006/relationships/notesSlide" Target="/ppt/notesSlides/notesSlide10.xml" Id="Rf720048af1f148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4745d159a1304e9c" /><Relationship Type="http://schemas.openxmlformats.org/officeDocument/2006/relationships/notesSlide" Target="/ppt/notesSlides/notesSlide11.xml" Id="R47b3f2278fed43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0ac149891aeb4eea" /><Relationship Type="http://schemas.openxmlformats.org/officeDocument/2006/relationships/notesSlide" Target="/ppt/notesSlides/notesSlide12.xml" Id="R36bd2191d0e748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4f37ee7a44e24b66" /><Relationship Type="http://schemas.openxmlformats.org/officeDocument/2006/relationships/image" Target="/ppt/media/image17.png" Id="R8ff79fc4dcc947fa" /><Relationship Type="http://schemas.openxmlformats.org/officeDocument/2006/relationships/image" Target="/ppt/media/image17.svg" Id="R392a81f8179e4659" /><Relationship Type="http://schemas.openxmlformats.org/officeDocument/2006/relationships/notesSlide" Target="/ppt/notesSlides/notesSlide13.xml" Id="R632900ed34cb445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CA87D5E-6F37-4459-A374-80967896648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9F28B03-C29B-43EC-B66C-55B58B1C7C63}"/>
              </a:ext>
            </a:extLst>
          </p:cNvPr>
          <p:cNvSpPr>
            <a:spLocks xmlns:a="http://schemas.openxmlformats.org/drawingml/2006/main" noGrp="1"/>
          </p:cNvSpPr>
          <p:nvPr/>
        </p:nvSpPr>
        <p:spPr>
          <a:xfrm xmlns:a="http://schemas.openxmlformats.org/drawingml/2006/main">
            <a:off x="552450" y="781050"/>
            <a:ext cx="6438900" cy="53340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 name="">
            <a:extLst xmlns:a="http://schemas.openxmlformats.org/drawingml/2006/main">
              <a:ext uri="{FF2B5EF4-FFF2-40B4-BE49-F238E27FC236}">
                <a16:creationId xmlns:a16="http://schemas.microsoft.com/office/drawing/2014/main" id="{11D33B88-4CB2-4C40-8D2B-6895A418B836}"/>
              </a:ext>
            </a:extLst>
          </p:cNvPr>
          <p:cNvSpPr>
            <a:spLocks xmlns:a="http://schemas.openxmlformats.org/drawingml/2006/main" noGrp="1"/>
          </p:cNvSpPr>
          <p:nvPr/>
        </p:nvSpPr>
        <p:spPr>
          <a:xfrm xmlns:a="http://schemas.openxmlformats.org/drawingml/2006/main">
            <a:off x="7372350" y="781050"/>
            <a:ext cx="4267200" cy="53340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4" name="">
            <a:extLst xmlns:a="http://schemas.openxmlformats.org/drawingml/2006/main">
              <a:ext uri="{FF2B5EF4-FFF2-40B4-BE49-F238E27FC236}">
                <a16:creationId xmlns:a16="http://schemas.microsoft.com/office/drawing/2014/main" id="{671E8882-DD6F-4ED5-A531-9FF4BEDF0061}"/>
              </a:ext>
            </a:extLst>
          </p:cNvPr>
          <p:cNvSpPr>
            <a:spLocks xmlns:a="http://schemas.openxmlformats.org/drawingml/2006/main" noGrp="1"/>
          </p:cNvSpPr>
          <p:nvPr/>
        </p:nvSpPr>
        <p:spPr>
          <a:xfrm xmlns:a="http://schemas.openxmlformats.org/drawingml/2006/main">
            <a:off x="7372350" y="781050"/>
            <a:ext cx="95250" cy="53340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5" name="">
            <a:extLst xmlns:a="http://schemas.openxmlformats.org/drawingml/2006/main">
              <a:ext uri="{FF2B5EF4-FFF2-40B4-BE49-F238E27FC236}">
                <a16:creationId xmlns:a16="http://schemas.microsoft.com/office/drawing/2014/main" id="{4D30F4C1-9C3B-492B-A9A1-F7EECF7F9662}"/>
              </a:ext>
            </a:extLst>
          </p:cNvPr>
          <p:cNvSpPr>
            <a:spLocks xmlns:a="http://schemas.openxmlformats.org/drawingml/2006/main" noGrp="1"/>
          </p:cNvSpPr>
          <p:nvPr/>
        </p:nvSpPr>
        <p:spPr>
          <a:xfrm xmlns:a="http://schemas.openxmlformats.org/drawingml/2006/main">
            <a:off x="800100" y="1047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DECK AUTOMATISÉ | ENTREPRISE | TÉLÉCOMMUNICATIONS</a:t>
            </a:r>
          </a:p>
        </p:txBody>
      </p:sp>
      <p:sp>
        <p:nvSpPr>
          <p:cNvPr id="6" name="">
            <a:extLst xmlns:a="http://schemas.openxmlformats.org/drawingml/2006/main">
              <a:ext uri="{FF2B5EF4-FFF2-40B4-BE49-F238E27FC236}">
                <a16:creationId xmlns:a16="http://schemas.microsoft.com/office/drawing/2014/main" id="{11CF52AE-22A1-431A-89FB-C5AD89F08891}"/>
              </a:ext>
            </a:extLst>
          </p:cNvPr>
          <p:cNvSpPr>
            <a:spLocks xmlns:a="http://schemas.openxmlformats.org/drawingml/2006/main" noGrp="1"/>
          </p:cNvSpPr>
          <p:nvPr/>
        </p:nvSpPr>
        <p:spPr>
          <a:xfrm xmlns:a="http://schemas.openxmlformats.org/drawingml/2006/main">
            <a:off x="800100" y="1409700"/>
            <a:ext cx="5334000" cy="1466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A3554"/>
                </a:solidFill>
                <a:latin typeface="Aptos Display"/>
                <a:ea typeface="Aptos Display"/>
                <a:cs typeface="Aptos Display"/>
              </a:defRPr>
            </a:pPr>
            <a:r>
              <a:rPr sz="2925" b="1">
                <a:solidFill>
                  <a:srgbClr val="1A3554"/>
                </a:solidFill>
                <a:latin typeface="Aptos Display"/>
                <a:ea typeface="Aptos Display"/>
                <a:cs typeface="Aptos Display"/>
              </a:rPr>
              <a:t>Transformer l'IA</a:t>
            </a:r>
          </a:p>
          <a:p xmlns:a="http://schemas.openxmlformats.org/drawingml/2006/main">
            <a:pPr algn="l">
              <a:defRPr sz="2925" b="1">
                <a:solidFill>
                  <a:srgbClr val="1A3554"/>
                </a:solidFill>
                <a:latin typeface="Aptos Display"/>
                <a:ea typeface="Aptos Display"/>
                <a:cs typeface="Aptos Display"/>
              </a:defRPr>
            </a:pPr>
            <a:r>
              <a:rPr sz="2925" b="1">
                <a:solidFill>
                  <a:srgbClr val="1A3554"/>
                </a:solidFill>
                <a:latin typeface="Aptos Display"/>
                <a:ea typeface="Aptos Display"/>
                <a:cs typeface="Aptos Display"/>
              </a:rPr>
              <a:t>en gains visibles</a:t>
            </a:r>
          </a:p>
          <a:p xmlns:a="http://schemas.openxmlformats.org/drawingml/2006/main">
            <a:pPr algn="l">
              <a:defRPr sz="2925" b="1">
                <a:solidFill>
                  <a:srgbClr val="1A3554"/>
                </a:solidFill>
                <a:latin typeface="Aptos Display"/>
                <a:ea typeface="Aptos Display"/>
                <a:cs typeface="Aptos Display"/>
              </a:defRPr>
            </a:pPr>
            <a:r>
              <a:rPr sz="2925" b="1">
                <a:solidFill>
                  <a:srgbClr val="1A3554"/>
                </a:solidFill>
                <a:latin typeface="Aptos Display"/>
                <a:ea typeface="Aptos Display"/>
                <a:cs typeface="Aptos Display"/>
              </a:rPr>
              <a:t>pour Orange Côte d'Ivoire</a:t>
            </a:r>
          </a:p>
        </p:txBody>
      </p:sp>
      <p:sp>
        <p:nvSpPr>
          <p:cNvPr id="7" name="">
            <a:extLst xmlns:a="http://schemas.openxmlformats.org/drawingml/2006/main">
              <a:ext uri="{FF2B5EF4-FFF2-40B4-BE49-F238E27FC236}">
                <a16:creationId xmlns:a16="http://schemas.microsoft.com/office/drawing/2014/main" id="{B54E44CB-5852-422D-92D2-794BD374344E}"/>
              </a:ext>
            </a:extLst>
          </p:cNvPr>
          <p:cNvSpPr>
            <a:spLocks xmlns:a="http://schemas.openxmlformats.org/drawingml/2006/main" noGrp="1"/>
          </p:cNvSpPr>
          <p:nvPr/>
        </p:nvSpPr>
        <p:spPr>
          <a:xfrm xmlns:a="http://schemas.openxmlformats.org/drawingml/2006/main">
            <a:off x="800100" y="3086100"/>
            <a:ext cx="5524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17086"/>
                </a:solidFill>
                <a:latin typeface="Aptos"/>
                <a:ea typeface="Aptos"/>
                <a:cs typeface="Aptos"/>
              </a:defRPr>
            </a:pPr>
            <a:r>
              <a:rPr sz="1200" b="0">
                <a:solidFill>
                  <a:srgbClr val="617086"/>
                </a:solidFill>
                <a:latin typeface="Aptos"/>
                <a:ea typeface="Aptos"/>
                <a:cs typeface="Aptos"/>
              </a:rPr>
              <a:t>Orange Côte d'Ivoire opère des flux à fort volume où la qualité de réponse, la coordination entre canaux et la diffusion des procédures impactent directement l'expérience client et l'efficacité opérationnelle.</a:t>
            </a:r>
          </a:p>
        </p:txBody>
      </p:sp>
      <p:sp>
        <p:nvSpPr>
          <p:cNvPr id="8" name="">
            <a:extLst xmlns:a="http://schemas.openxmlformats.org/drawingml/2006/main">
              <a:ext uri="{FF2B5EF4-FFF2-40B4-BE49-F238E27FC236}">
                <a16:creationId xmlns:a16="http://schemas.microsoft.com/office/drawing/2014/main" id="{8090FE9D-779E-40FE-9D5A-7ED106A951A4}"/>
              </a:ext>
            </a:extLst>
          </p:cNvPr>
          <p:cNvSpPr>
            <a:spLocks xmlns:a="http://schemas.openxmlformats.org/drawingml/2006/main" noGrp="1"/>
          </p:cNvSpPr>
          <p:nvPr/>
        </p:nvSpPr>
        <p:spPr>
          <a:xfrm xmlns:a="http://schemas.openxmlformats.org/drawingml/2006/main">
            <a:off x="800100" y="4038600"/>
            <a:ext cx="3905250" cy="285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9" name="">
            <a:extLst xmlns:a="http://schemas.openxmlformats.org/drawingml/2006/main">
              <a:ext uri="{FF2B5EF4-FFF2-40B4-BE49-F238E27FC236}">
                <a16:creationId xmlns:a16="http://schemas.microsoft.com/office/drawing/2014/main" id="{CCFF847F-4EF7-4177-B350-390896B952B3}"/>
              </a:ext>
            </a:extLst>
          </p:cNvPr>
          <p:cNvSpPr>
            <a:spLocks xmlns:a="http://schemas.openxmlformats.org/drawingml/2006/main" noGrp="1"/>
          </p:cNvSpPr>
          <p:nvPr/>
        </p:nvSpPr>
        <p:spPr>
          <a:xfrm xmlns:a="http://schemas.openxmlformats.org/drawingml/2006/main">
            <a:off x="952500" y="4076700"/>
            <a:ext cx="3695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1A3554"/>
                </a:solidFill>
                <a:latin typeface="Aptos"/>
                <a:ea typeface="Aptos"/>
                <a:cs typeface="Aptos"/>
              </a:defRPr>
            </a:pPr>
            <a:r>
              <a:rPr sz="788" b="1">
                <a:solidFill>
                  <a:srgbClr val="1A3554"/>
                </a:solidFill>
                <a:latin typeface="Aptos"/>
                <a:ea typeface="Aptos"/>
                <a:cs typeface="Aptos"/>
              </a:rPr>
              <a:t>TransferAI est le hub IA de Nettelecom CI. Ce preview montre comment le deck se nourrit des données agrégées dans "Assemble Prospect Context".</a:t>
            </a:r>
          </a:p>
        </p:txBody>
      </p:sp>
      <p:sp>
        <p:nvSpPr>
          <p:cNvPr id="10" name="">
            <a:extLst xmlns:a="http://schemas.openxmlformats.org/drawingml/2006/main">
              <a:ext uri="{FF2B5EF4-FFF2-40B4-BE49-F238E27FC236}">
                <a16:creationId xmlns:a16="http://schemas.microsoft.com/office/drawing/2014/main" id="{6095260B-9B74-4CC3-8ADC-DE43EB6DEDD6}"/>
              </a:ext>
            </a:extLst>
          </p:cNvPr>
          <p:cNvSpPr>
            <a:spLocks xmlns:a="http://schemas.openxmlformats.org/drawingml/2006/main" noGrp="1"/>
          </p:cNvSpPr>
          <p:nvPr/>
        </p:nvSpPr>
        <p:spPr>
          <a:xfrm xmlns:a="http://schemas.openxmlformats.org/drawingml/2006/main">
            <a:off x="800100" y="443865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Point d'entrée recommandé</a:t>
            </a:r>
          </a:p>
        </p:txBody>
      </p:sp>
      <p:sp>
        <p:nvSpPr>
          <p:cNvPr id="11" name="">
            <a:extLst xmlns:a="http://schemas.openxmlformats.org/drawingml/2006/main">
              <a:ext uri="{FF2B5EF4-FFF2-40B4-BE49-F238E27FC236}">
                <a16:creationId xmlns:a16="http://schemas.microsoft.com/office/drawing/2014/main" id="{CFB1C08E-3B30-4189-97E7-A75B07087540}"/>
              </a:ext>
            </a:extLst>
          </p:cNvPr>
          <p:cNvSpPr>
            <a:spLocks xmlns:a="http://schemas.openxmlformats.org/drawingml/2006/main" noGrp="1"/>
          </p:cNvSpPr>
          <p:nvPr/>
        </p:nvSpPr>
        <p:spPr>
          <a:xfrm xmlns:a="http://schemas.openxmlformats.org/drawingml/2006/main">
            <a:off x="800100" y="4648200"/>
            <a:ext cx="52197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A3554"/>
                </a:solidFill>
                <a:latin typeface="Aptos"/>
                <a:ea typeface="Aptos"/>
                <a:cs typeface="Aptos"/>
              </a:defRPr>
            </a:pPr>
            <a:r>
              <a:rPr sz="1050" b="1">
                <a:solidFill>
                  <a:srgbClr val="1A3554"/>
                </a:solidFill>
                <a:latin typeface="Aptos"/>
                <a:ea typeface="Aptos"/>
                <a:cs typeface="Aptos"/>
              </a:rPr>
              <a:t>Planifier un audit IA gratuit suivi d'un échange de 30 minutes</a:t>
            </a:r>
          </a:p>
        </p:txBody>
      </p:sp>
      <p:sp>
        <p:nvSpPr>
          <p:cNvPr id="12" name="">
            <a:extLst xmlns:a="http://schemas.openxmlformats.org/drawingml/2006/main">
              <a:ext uri="{FF2B5EF4-FFF2-40B4-BE49-F238E27FC236}">
                <a16:creationId xmlns:a16="http://schemas.microsoft.com/office/drawing/2014/main" id="{90C1A0CB-C31A-4474-BE2D-F9BC5EDAC9C9}"/>
              </a:ext>
            </a:extLst>
          </p:cNvPr>
          <p:cNvSpPr>
            <a:spLocks xmlns:a="http://schemas.openxmlformats.org/drawingml/2006/main" noGrp="1"/>
          </p:cNvSpPr>
          <p:nvPr/>
        </p:nvSpPr>
        <p:spPr>
          <a:xfrm xmlns:a="http://schemas.openxmlformats.org/drawingml/2006/main">
            <a:off x="8001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3" name="">
            <a:extLst xmlns:a="http://schemas.openxmlformats.org/drawingml/2006/main">
              <a:ext uri="{FF2B5EF4-FFF2-40B4-BE49-F238E27FC236}">
                <a16:creationId xmlns:a16="http://schemas.microsoft.com/office/drawing/2014/main" id="{1171FB02-EB3F-41FC-8DBB-9D0BA5ABC7F3}"/>
              </a:ext>
            </a:extLst>
          </p:cNvPr>
          <p:cNvSpPr>
            <a:spLocks xmlns:a="http://schemas.openxmlformats.org/drawingml/2006/main" noGrp="1"/>
          </p:cNvSpPr>
          <p:nvPr/>
        </p:nvSpPr>
        <p:spPr>
          <a:xfrm xmlns:a="http://schemas.openxmlformats.org/drawingml/2006/main">
            <a:off x="952500" y="5314950"/>
            <a:ext cx="28575" cy="609600"/>
          </a:xfrm>
          <a:prstGeom xmlns:a="http://schemas.openxmlformats.org/drawingml/2006/main" prst="rect">
            <a:avLst/>
          </a:prstGeom>
          <a:solidFill xmlns:a="http://schemas.openxmlformats.org/drawingml/2006/main">
            <a:srgbClr val="E76F1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7BD14A7-8341-4B1E-B819-52E3E406C4E2}"/>
              </a:ext>
            </a:extLst>
          </p:cNvPr>
          <p:cNvSpPr>
            <a:spLocks xmlns:a="http://schemas.openxmlformats.org/drawingml/2006/main" noGrp="1"/>
          </p:cNvSpPr>
          <p:nvPr/>
        </p:nvSpPr>
        <p:spPr>
          <a:xfrm xmlns:a="http://schemas.openxmlformats.org/drawingml/2006/main">
            <a:off x="10858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J+15</a:t>
            </a:r>
          </a:p>
        </p:txBody>
      </p:sp>
      <p:sp>
        <p:nvSpPr>
          <p:cNvPr id="15" name="">
            <a:extLst xmlns:a="http://schemas.openxmlformats.org/drawingml/2006/main">
              <a:ext uri="{FF2B5EF4-FFF2-40B4-BE49-F238E27FC236}">
                <a16:creationId xmlns:a16="http://schemas.microsoft.com/office/drawing/2014/main" id="{48EDD264-C50C-4E32-B926-7B99E2B10AB7}"/>
              </a:ext>
            </a:extLst>
          </p:cNvPr>
          <p:cNvSpPr>
            <a:spLocks xmlns:a="http://schemas.openxmlformats.org/drawingml/2006/main" noGrp="1"/>
          </p:cNvSpPr>
          <p:nvPr/>
        </p:nvSpPr>
        <p:spPr>
          <a:xfrm xmlns:a="http://schemas.openxmlformats.org/drawingml/2006/main">
            <a:off x="10858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premier livrable</a:t>
            </a:r>
          </a:p>
        </p:txBody>
      </p:sp>
      <p:sp>
        <p:nvSpPr>
          <p:cNvPr id="16" name="">
            <a:extLst xmlns:a="http://schemas.openxmlformats.org/drawingml/2006/main">
              <a:ext uri="{FF2B5EF4-FFF2-40B4-BE49-F238E27FC236}">
                <a16:creationId xmlns:a16="http://schemas.microsoft.com/office/drawing/2014/main" id="{B3F2F088-0C2C-42D2-A5D1-55832E0E57F6}"/>
              </a:ext>
            </a:extLst>
          </p:cNvPr>
          <p:cNvSpPr>
            <a:spLocks xmlns:a="http://schemas.openxmlformats.org/drawingml/2006/main" noGrp="1"/>
          </p:cNvSpPr>
          <p:nvPr/>
        </p:nvSpPr>
        <p:spPr>
          <a:xfrm xmlns:a="http://schemas.openxmlformats.org/drawingml/2006/main">
            <a:off x="10858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assistant ou synthèse managériale pilote</a:t>
            </a:r>
          </a:p>
        </p:txBody>
      </p:sp>
      <p:sp>
        <p:nvSpPr>
          <p:cNvPr id="17" name="">
            <a:extLst xmlns:a="http://schemas.openxmlformats.org/drawingml/2006/main">
              <a:ext uri="{FF2B5EF4-FFF2-40B4-BE49-F238E27FC236}">
                <a16:creationId xmlns:a16="http://schemas.microsoft.com/office/drawing/2014/main" id="{BCA6F39C-E12B-4F95-BCCC-312FED2EFF2C}"/>
              </a:ext>
            </a:extLst>
          </p:cNvPr>
          <p:cNvSpPr>
            <a:spLocks xmlns:a="http://schemas.openxmlformats.org/drawingml/2006/main" noGrp="1"/>
          </p:cNvSpPr>
          <p:nvPr/>
        </p:nvSpPr>
        <p:spPr>
          <a:xfrm xmlns:a="http://schemas.openxmlformats.org/drawingml/2006/main">
            <a:off x="22479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8" name="">
            <a:extLst xmlns:a="http://schemas.openxmlformats.org/drawingml/2006/main">
              <a:ext uri="{FF2B5EF4-FFF2-40B4-BE49-F238E27FC236}">
                <a16:creationId xmlns:a16="http://schemas.microsoft.com/office/drawing/2014/main" id="{37535BDE-C9FF-408C-9545-A2EB3F2D4731}"/>
              </a:ext>
            </a:extLst>
          </p:cNvPr>
          <p:cNvSpPr>
            <a:spLocks xmlns:a="http://schemas.openxmlformats.org/drawingml/2006/main" noGrp="1"/>
          </p:cNvSpPr>
          <p:nvPr/>
        </p:nvSpPr>
        <p:spPr>
          <a:xfrm xmlns:a="http://schemas.openxmlformats.org/drawingml/2006/main">
            <a:off x="2400300" y="5314950"/>
            <a:ext cx="28575" cy="609600"/>
          </a:xfrm>
          <a:prstGeom xmlns:a="http://schemas.openxmlformats.org/drawingml/2006/main" prst="rect">
            <a:avLst/>
          </a:prstGeom>
          <a:solidFill xmlns:a="http://schemas.openxmlformats.org/drawingml/2006/main">
            <a:srgbClr val="1C8A78"/>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A37A3CA5-097E-4F33-8B60-E96B0CA9742E}"/>
              </a:ext>
            </a:extLst>
          </p:cNvPr>
          <p:cNvSpPr>
            <a:spLocks xmlns:a="http://schemas.openxmlformats.org/drawingml/2006/main" noGrp="1"/>
          </p:cNvSpPr>
          <p:nvPr/>
        </p:nvSpPr>
        <p:spPr>
          <a:xfrm xmlns:a="http://schemas.openxmlformats.org/drawingml/2006/main">
            <a:off x="25336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13</a:t>
            </a:r>
          </a:p>
        </p:txBody>
      </p:sp>
      <p:sp>
        <p:nvSpPr>
          <p:cNvPr id="20" name="">
            <a:extLst xmlns:a="http://schemas.openxmlformats.org/drawingml/2006/main">
              <a:ext uri="{FF2B5EF4-FFF2-40B4-BE49-F238E27FC236}">
                <a16:creationId xmlns:a16="http://schemas.microsoft.com/office/drawing/2014/main" id="{474E778A-38FC-4C79-A2A5-ABB04A74BE2B}"/>
              </a:ext>
            </a:extLst>
          </p:cNvPr>
          <p:cNvSpPr>
            <a:spLocks xmlns:a="http://schemas.openxmlformats.org/drawingml/2006/main" noGrp="1"/>
          </p:cNvSpPr>
          <p:nvPr/>
        </p:nvSpPr>
        <p:spPr>
          <a:xfrm xmlns:a="http://schemas.openxmlformats.org/drawingml/2006/main">
            <a:off x="25336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experts IA</a:t>
            </a:r>
          </a:p>
        </p:txBody>
      </p:sp>
      <p:sp>
        <p:nvSpPr>
          <p:cNvPr id="21" name="">
            <a:extLst xmlns:a="http://schemas.openxmlformats.org/drawingml/2006/main">
              <a:ext uri="{FF2B5EF4-FFF2-40B4-BE49-F238E27FC236}">
                <a16:creationId xmlns:a16="http://schemas.microsoft.com/office/drawing/2014/main" id="{87E1AB58-1731-4A2A-B527-72F9599514B4}"/>
              </a:ext>
            </a:extLst>
          </p:cNvPr>
          <p:cNvSpPr>
            <a:spLocks xmlns:a="http://schemas.openxmlformats.org/drawingml/2006/main" noGrp="1"/>
          </p:cNvSpPr>
          <p:nvPr/>
        </p:nvSpPr>
        <p:spPr>
          <a:xfrm xmlns:a="http://schemas.openxmlformats.org/drawingml/2006/main">
            <a:off x="25336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mobilisés via TransferAI</a:t>
            </a:r>
          </a:p>
        </p:txBody>
      </p:sp>
      <p:sp>
        <p:nvSpPr>
          <p:cNvPr id="22" name="">
            <a:extLst xmlns:a="http://schemas.openxmlformats.org/drawingml/2006/main">
              <a:ext uri="{FF2B5EF4-FFF2-40B4-BE49-F238E27FC236}">
                <a16:creationId xmlns:a16="http://schemas.microsoft.com/office/drawing/2014/main" id="{36DFF37E-230E-450E-8143-A51A63C55CF5}"/>
              </a:ext>
            </a:extLst>
          </p:cNvPr>
          <p:cNvSpPr>
            <a:spLocks xmlns:a="http://schemas.openxmlformats.org/drawingml/2006/main" noGrp="1"/>
          </p:cNvSpPr>
          <p:nvPr/>
        </p:nvSpPr>
        <p:spPr>
          <a:xfrm xmlns:a="http://schemas.openxmlformats.org/drawingml/2006/main">
            <a:off x="36957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3" name="">
            <a:extLst xmlns:a="http://schemas.openxmlformats.org/drawingml/2006/main">
              <a:ext uri="{FF2B5EF4-FFF2-40B4-BE49-F238E27FC236}">
                <a16:creationId xmlns:a16="http://schemas.microsoft.com/office/drawing/2014/main" id="{43CE3B39-93E6-4876-99F7-58BC694B3F06}"/>
              </a:ext>
            </a:extLst>
          </p:cNvPr>
          <p:cNvSpPr>
            <a:spLocks xmlns:a="http://schemas.openxmlformats.org/drawingml/2006/main" noGrp="1"/>
          </p:cNvSpPr>
          <p:nvPr/>
        </p:nvSpPr>
        <p:spPr>
          <a:xfrm xmlns:a="http://schemas.openxmlformats.org/drawingml/2006/main">
            <a:off x="3848100" y="5314950"/>
            <a:ext cx="28575" cy="609600"/>
          </a:xfrm>
          <a:prstGeom xmlns:a="http://schemas.openxmlformats.org/drawingml/2006/main" prst="rect">
            <a:avLst/>
          </a:prstGeom>
          <a:solidFill xmlns:a="http://schemas.openxmlformats.org/drawingml/2006/main">
            <a:srgbClr val="163556"/>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474B3474-6B61-4A4D-B05F-F127A32D9A8F}"/>
              </a:ext>
            </a:extLst>
          </p:cNvPr>
          <p:cNvSpPr>
            <a:spLocks xmlns:a="http://schemas.openxmlformats.org/drawingml/2006/main" noGrp="1"/>
          </p:cNvSpPr>
          <p:nvPr/>
        </p:nvSpPr>
        <p:spPr>
          <a:xfrm xmlns:a="http://schemas.openxmlformats.org/drawingml/2006/main">
            <a:off x="39814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-35 %</a:t>
            </a:r>
          </a:p>
        </p:txBody>
      </p:sp>
      <p:sp>
        <p:nvSpPr>
          <p:cNvPr id="25" name="">
            <a:extLst xmlns:a="http://schemas.openxmlformats.org/drawingml/2006/main">
              <a:ext uri="{FF2B5EF4-FFF2-40B4-BE49-F238E27FC236}">
                <a16:creationId xmlns:a16="http://schemas.microsoft.com/office/drawing/2014/main" id="{E0F32231-8796-430A-8235-18120662A115}"/>
              </a:ext>
            </a:extLst>
          </p:cNvPr>
          <p:cNvSpPr>
            <a:spLocks xmlns:a="http://schemas.openxmlformats.org/drawingml/2006/main" noGrp="1"/>
          </p:cNvSpPr>
          <p:nvPr/>
        </p:nvSpPr>
        <p:spPr>
          <a:xfrm xmlns:a="http://schemas.openxmlformats.org/drawingml/2006/main">
            <a:off x="39814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temps de réponse</a:t>
            </a:r>
          </a:p>
        </p:txBody>
      </p:sp>
      <p:sp>
        <p:nvSpPr>
          <p:cNvPr id="26" name="">
            <a:extLst xmlns:a="http://schemas.openxmlformats.org/drawingml/2006/main">
              <a:ext uri="{FF2B5EF4-FFF2-40B4-BE49-F238E27FC236}">
                <a16:creationId xmlns:a16="http://schemas.microsoft.com/office/drawing/2014/main" id="{83E640EA-3D68-47E3-9EA5-5D674C3F9214}"/>
              </a:ext>
            </a:extLst>
          </p:cNvPr>
          <p:cNvSpPr>
            <a:spLocks xmlns:a="http://schemas.openxmlformats.org/drawingml/2006/main" noGrp="1"/>
          </p:cNvSpPr>
          <p:nvPr/>
        </p:nvSpPr>
        <p:spPr>
          <a:xfrm xmlns:a="http://schemas.openxmlformats.org/drawingml/2006/main">
            <a:off x="39814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sur demandes récurrentes et qualification simple</a:t>
            </a:r>
          </a:p>
        </p:txBody>
      </p:sp>
      <p:sp>
        <p:nvSpPr>
          <p:cNvPr id="27" name="">
            <a:extLst xmlns:a="http://schemas.openxmlformats.org/drawingml/2006/main">
              <a:ext uri="{FF2B5EF4-FFF2-40B4-BE49-F238E27FC236}">
                <a16:creationId xmlns:a16="http://schemas.microsoft.com/office/drawing/2014/main" id="{BF3EB0B3-6917-436D-985E-E213148C4B9D}"/>
              </a:ext>
            </a:extLst>
          </p:cNvPr>
          <p:cNvSpPr>
            <a:spLocks xmlns:a="http://schemas.openxmlformats.org/drawingml/2006/main" noGrp="1"/>
          </p:cNvSpPr>
          <p:nvPr/>
        </p:nvSpPr>
        <p:spPr>
          <a:xfrm xmlns:a="http://schemas.openxmlformats.org/drawingml/2006/main">
            <a:off x="51435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8" name="">
            <a:extLst xmlns:a="http://schemas.openxmlformats.org/drawingml/2006/main">
              <a:ext uri="{FF2B5EF4-FFF2-40B4-BE49-F238E27FC236}">
                <a16:creationId xmlns:a16="http://schemas.microsoft.com/office/drawing/2014/main" id="{7C74AF6C-5B47-4465-BA2F-306E012A1F07}"/>
              </a:ext>
            </a:extLst>
          </p:cNvPr>
          <p:cNvSpPr>
            <a:spLocks xmlns:a="http://schemas.openxmlformats.org/drawingml/2006/main" noGrp="1"/>
          </p:cNvSpPr>
          <p:nvPr/>
        </p:nvSpPr>
        <p:spPr>
          <a:xfrm xmlns:a="http://schemas.openxmlformats.org/drawingml/2006/main">
            <a:off x="5295900" y="5314950"/>
            <a:ext cx="28575" cy="609600"/>
          </a:xfrm>
          <a:prstGeom xmlns:a="http://schemas.openxmlformats.org/drawingml/2006/main" prst="rect">
            <a:avLst/>
          </a:prstGeom>
          <a:solidFill xmlns:a="http://schemas.openxmlformats.org/drawingml/2006/main">
            <a:srgbClr val="C88C3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7F704681-1196-4820-A6BA-8CB76CEBA955}"/>
              </a:ext>
            </a:extLst>
          </p:cNvPr>
          <p:cNvSpPr>
            <a:spLocks xmlns:a="http://schemas.openxmlformats.org/drawingml/2006/main" noGrp="1"/>
          </p:cNvSpPr>
          <p:nvPr/>
        </p:nvSpPr>
        <p:spPr>
          <a:xfrm xmlns:a="http://schemas.openxmlformats.org/drawingml/2006/main">
            <a:off x="54292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-50 %</a:t>
            </a:r>
          </a:p>
        </p:txBody>
      </p:sp>
      <p:sp>
        <p:nvSpPr>
          <p:cNvPr id="30" name="">
            <a:extLst xmlns:a="http://schemas.openxmlformats.org/drawingml/2006/main">
              <a:ext uri="{FF2B5EF4-FFF2-40B4-BE49-F238E27FC236}">
                <a16:creationId xmlns:a16="http://schemas.microsoft.com/office/drawing/2014/main" id="{C9BC7EE1-319D-4243-9D91-4332BCE2DBCA}"/>
              </a:ext>
            </a:extLst>
          </p:cNvPr>
          <p:cNvSpPr>
            <a:spLocks xmlns:a="http://schemas.openxmlformats.org/drawingml/2006/main" noGrp="1"/>
          </p:cNvSpPr>
          <p:nvPr/>
        </p:nvSpPr>
        <p:spPr>
          <a:xfrm xmlns:a="http://schemas.openxmlformats.org/drawingml/2006/main">
            <a:off x="54292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temps de reporting</a:t>
            </a:r>
          </a:p>
        </p:txBody>
      </p:sp>
      <p:sp>
        <p:nvSpPr>
          <p:cNvPr id="31" name="">
            <a:extLst xmlns:a="http://schemas.openxmlformats.org/drawingml/2006/main">
              <a:ext uri="{FF2B5EF4-FFF2-40B4-BE49-F238E27FC236}">
                <a16:creationId xmlns:a16="http://schemas.microsoft.com/office/drawing/2014/main" id="{EE2E4F67-2E95-475B-BAC0-AAD09D7347F4}"/>
              </a:ext>
            </a:extLst>
          </p:cNvPr>
          <p:cNvSpPr>
            <a:spLocks xmlns:a="http://schemas.openxmlformats.org/drawingml/2006/main" noGrp="1"/>
          </p:cNvSpPr>
          <p:nvPr/>
        </p:nvSpPr>
        <p:spPr>
          <a:xfrm xmlns:a="http://schemas.openxmlformats.org/drawingml/2006/main">
            <a:off x="54292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sur synthèses service client et incidents</a:t>
            </a:r>
          </a:p>
        </p:txBody>
      </p:sp>
      <p:sp>
        <p:nvSpPr>
          <p:cNvPr id="32" name="">
            <a:extLst xmlns:a="http://schemas.openxmlformats.org/drawingml/2006/main">
              <a:ext uri="{FF2B5EF4-FFF2-40B4-BE49-F238E27FC236}">
                <a16:creationId xmlns:a16="http://schemas.microsoft.com/office/drawing/2014/main" id="{364AE4CF-514E-4B2B-9836-0F67357869F8}"/>
              </a:ext>
            </a:extLst>
          </p:cNvPr>
          <p:cNvSpPr>
            <a:spLocks xmlns:a="http://schemas.openxmlformats.org/drawingml/2006/main" noGrp="1"/>
          </p:cNvSpPr>
          <p:nvPr/>
        </p:nvSpPr>
        <p:spPr>
          <a:xfrm xmlns:a="http://schemas.openxmlformats.org/drawingml/2006/main">
            <a:off x="7734300" y="1162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CE QUE NOUS PROPOSONS</a:t>
            </a:r>
          </a:p>
        </p:txBody>
      </p:sp>
      <p:sp>
        <p:nvSpPr>
          <p:cNvPr id="33" name="">
            <a:extLst xmlns:a="http://schemas.openxmlformats.org/drawingml/2006/main">
              <a:ext uri="{FF2B5EF4-FFF2-40B4-BE49-F238E27FC236}">
                <a16:creationId xmlns:a16="http://schemas.microsoft.com/office/drawing/2014/main" id="{B324F344-4EE4-4B54-AD07-93B43A829B37}"/>
              </a:ext>
            </a:extLst>
          </p:cNvPr>
          <p:cNvSpPr>
            <a:spLocks xmlns:a="http://schemas.openxmlformats.org/drawingml/2006/main" noGrp="1"/>
          </p:cNvSpPr>
          <p:nvPr/>
        </p:nvSpPr>
        <p:spPr>
          <a:xfrm xmlns:a="http://schemas.openxmlformats.org/drawingml/2006/main">
            <a:off x="7734300" y="1466850"/>
            <a:ext cx="3238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Une lecture prospect,</a:t>
            </a:r>
          </a:p>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métier et mesurable.</a:t>
            </a:r>
          </a:p>
        </p:txBody>
      </p:sp>
      <p:sp>
        <p:nvSpPr>
          <p:cNvPr id="34" name="">
            <a:extLst xmlns:a="http://schemas.openxmlformats.org/drawingml/2006/main">
              <a:ext uri="{FF2B5EF4-FFF2-40B4-BE49-F238E27FC236}">
                <a16:creationId xmlns:a16="http://schemas.microsoft.com/office/drawing/2014/main" id="{B7E4D37B-6AB2-47AA-B58C-C3BFC8C32B5F}"/>
              </a:ext>
            </a:extLst>
          </p:cNvPr>
          <p:cNvSpPr>
            <a:spLocks xmlns:a="http://schemas.openxmlformats.org/drawingml/2006/main" noGrp="1"/>
          </p:cNvSpPr>
          <p:nvPr/>
        </p:nvSpPr>
        <p:spPr>
          <a:xfrm xmlns:a="http://schemas.openxmlformats.org/drawingml/2006/main">
            <a:off x="7734300" y="2628900"/>
            <a:ext cx="3219450" cy="1371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C9D4E1"/>
                </a:solidFill>
                <a:latin typeface="Aptos"/>
                <a:ea typeface="Aptos"/>
                <a:cs typeface="Aptos"/>
              </a:defRPr>
            </a:pPr>
            <a:r>
              <a:rPr sz="1050" b="0">
                <a:solidFill>
                  <a:srgbClr val="C9D4E1"/>
                </a:solidFill>
                <a:latin typeface="Aptos"/>
                <a:ea typeface="Aptos"/>
                <a:cs typeface="Aptos"/>
              </a:rPr>
              <a:t>• Partir des flux client à fort volume plutôt que d'un catalogue de solutions</a:t>
            </a:r>
          </a:p>
          <a:p xmlns:a="http://schemas.openxmlformats.org/drawingml/2006/main">
            <a:pPr algn="l">
              <a:defRPr sz="1050" b="0">
                <a:solidFill>
                  <a:srgbClr val="C9D4E1"/>
                </a:solidFill>
                <a:latin typeface="Aptos"/>
                <a:ea typeface="Aptos"/>
                <a:cs typeface="Aptos"/>
              </a:defRPr>
            </a:pPr>
            <a:r>
              <a:rPr sz="1050" b="0">
                <a:solidFill>
                  <a:srgbClr val="C9D4E1"/>
                </a:solidFill>
                <a:latin typeface="Aptos"/>
                <a:ea typeface="Aptos"/>
                <a:cs typeface="Aptos"/>
              </a:rPr>
              <a:t>• Créer rapidement des gains visibles pour la direction et les équipes front</a:t>
            </a:r>
          </a:p>
          <a:p xmlns:a="http://schemas.openxmlformats.org/drawingml/2006/main">
            <a:pPr algn="l">
              <a:defRPr sz="1050" b="0">
                <a:solidFill>
                  <a:srgbClr val="C9D4E1"/>
                </a:solidFill>
                <a:latin typeface="Aptos"/>
                <a:ea typeface="Aptos"/>
                <a:cs typeface="Aptos"/>
              </a:defRPr>
            </a:pPr>
            <a:r>
              <a:rPr sz="1050" b="0">
                <a:solidFill>
                  <a:srgbClr val="C9D4E1"/>
                </a:solidFill>
                <a:latin typeface="Aptos"/>
                <a:ea typeface="Aptos"/>
                <a:cs typeface="Aptos"/>
              </a:rPr>
              <a:t>• Structurer un premier pilote simple, mesurable et gouverné</a:t>
            </a:r>
          </a:p>
          <a:p xmlns:a="http://schemas.openxmlformats.org/drawingml/2006/main">
            <a:pPr algn="l">
              <a:defRPr sz="1050" b="0">
                <a:solidFill>
                  <a:srgbClr val="C9D4E1"/>
                </a:solidFill>
                <a:latin typeface="Aptos"/>
                <a:ea typeface="Aptos"/>
                <a:cs typeface="Aptos"/>
              </a:defRPr>
            </a:pPr>
            <a:r>
              <a:rPr sz="1050" b="0">
                <a:solidFill>
                  <a:srgbClr val="C9D4E1"/>
                </a:solidFill>
                <a:latin typeface="Aptos"/>
                <a:ea typeface="Aptos"/>
                <a:cs typeface="Aptos"/>
              </a:rPr>
              <a:t>• Former les équipes sur les cas d'usage réellement utiles au quotidien</a:t>
            </a:r>
          </a:p>
        </p:txBody>
      </p:sp>
      <p:sp>
        <p:nvSpPr>
          <p:cNvPr id="35" name="">
            <a:extLst xmlns:a="http://schemas.openxmlformats.org/drawingml/2006/main">
              <a:ext uri="{FF2B5EF4-FFF2-40B4-BE49-F238E27FC236}">
                <a16:creationId xmlns:a16="http://schemas.microsoft.com/office/drawing/2014/main" id="{FEC2D349-14F1-472A-ADD0-DD5C0FE14ED0}"/>
              </a:ext>
            </a:extLst>
          </p:cNvPr>
          <p:cNvSpPr>
            <a:spLocks xmlns:a="http://schemas.openxmlformats.org/drawingml/2006/main" noGrp="1"/>
          </p:cNvSpPr>
          <p:nvPr/>
        </p:nvSpPr>
        <p:spPr>
          <a:xfrm xmlns:a="http://schemas.openxmlformats.org/drawingml/2006/main">
            <a:off x="7734300" y="4095750"/>
            <a:ext cx="314325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36" name="">
            <a:extLst xmlns:a="http://schemas.openxmlformats.org/drawingml/2006/main">
              <a:ext uri="{FF2B5EF4-FFF2-40B4-BE49-F238E27FC236}">
                <a16:creationId xmlns:a16="http://schemas.microsoft.com/office/drawing/2014/main" id="{D1214EFD-451D-40F3-BDA3-6CB73D16D08E}"/>
              </a:ext>
            </a:extLst>
          </p:cNvPr>
          <p:cNvSpPr>
            <a:spLocks xmlns:a="http://schemas.openxmlformats.org/drawingml/2006/main" noGrp="1"/>
          </p:cNvSpPr>
          <p:nvPr/>
        </p:nvSpPr>
        <p:spPr>
          <a:xfrm xmlns:a="http://schemas.openxmlformats.org/drawingml/2006/main">
            <a:off x="7943850" y="4267200"/>
            <a:ext cx="857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D7E5F3"/>
                </a:solidFill>
                <a:latin typeface="Aptos"/>
                <a:ea typeface="Aptos"/>
                <a:cs typeface="Aptos"/>
              </a:defRPr>
            </a:pPr>
            <a:r>
              <a:rPr sz="713" b="1">
                <a:solidFill>
                  <a:srgbClr val="D7E5F3"/>
                </a:solidFill>
                <a:latin typeface="Aptos"/>
                <a:ea typeface="Aptos"/>
                <a:cs typeface="Aptos"/>
              </a:rPr>
              <a:t>Promesse</a:t>
            </a:r>
          </a:p>
        </p:txBody>
      </p:sp>
      <p:sp>
        <p:nvSpPr>
          <p:cNvPr id="37" name="">
            <a:extLst xmlns:a="http://schemas.openxmlformats.org/drawingml/2006/main">
              <a:ext uri="{FF2B5EF4-FFF2-40B4-BE49-F238E27FC236}">
                <a16:creationId xmlns:a16="http://schemas.microsoft.com/office/drawing/2014/main" id="{4315AD28-F6A3-4401-AF0A-4FD00FD18A25}"/>
              </a:ext>
            </a:extLst>
          </p:cNvPr>
          <p:cNvSpPr>
            <a:spLocks xmlns:a="http://schemas.openxmlformats.org/drawingml/2006/main" noGrp="1"/>
          </p:cNvSpPr>
          <p:nvPr/>
        </p:nvSpPr>
        <p:spPr>
          <a:xfrm xmlns:a="http://schemas.openxmlformats.org/drawingml/2006/main">
            <a:off x="7943850" y="4476750"/>
            <a:ext cx="27241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Transformer l'IA en gains visibles pour Orange Côte d'Ivoire.</a:t>
            </a:r>
          </a:p>
        </p:txBody>
      </p:sp>
      <p:sp>
        <p:nvSpPr>
          <p:cNvPr id="38" name="">
            <a:extLst xmlns:a="http://schemas.openxmlformats.org/drawingml/2006/main">
              <a:ext uri="{FF2B5EF4-FFF2-40B4-BE49-F238E27FC236}">
                <a16:creationId xmlns:a16="http://schemas.microsoft.com/office/drawing/2014/main" id="{A6462FB2-3F95-4A26-B76C-9BC314125651}"/>
              </a:ext>
            </a:extLst>
          </p:cNvPr>
          <p:cNvSpPr>
            <a:spLocks xmlns:a="http://schemas.openxmlformats.org/drawingml/2006/main" noGrp="1"/>
          </p:cNvSpPr>
          <p:nvPr/>
        </p:nvSpPr>
        <p:spPr>
          <a:xfrm xmlns:a="http://schemas.openxmlformats.org/drawingml/2006/main">
            <a:off x="7734300" y="5200650"/>
            <a:ext cx="3143250" cy="819150"/>
          </a:xfrm>
          <a:prstGeom xmlns:a="http://schemas.openxmlformats.org/drawingml/2006/main" prst="rect">
            <a:avLst/>
          </a:prstGeom>
          <a:solidFill xmlns:a="http://schemas.openxmlformats.org/drawingml/2006/main">
            <a:srgbClr val="10263F"/>
          </a:solidFill>
          <a:ln xmlns:a="http://schemas.openxmlformats.org/drawingml/2006/main" w="9525">
            <a:solidFill>
              <a:srgbClr val="2F587F"/>
            </a:solidFill>
            <a:prstDash val="solid"/>
          </a:ln>
        </p:spPr>
      </p:sp>
      <p:sp>
        <p:nvSpPr>
          <p:cNvPr id="39" name="">
            <a:extLst xmlns:a="http://schemas.openxmlformats.org/drawingml/2006/main">
              <a:ext uri="{FF2B5EF4-FFF2-40B4-BE49-F238E27FC236}">
                <a16:creationId xmlns:a16="http://schemas.microsoft.com/office/drawing/2014/main" id="{4B01B9B4-C692-45AA-A294-DAECCBBE0082}"/>
              </a:ext>
            </a:extLst>
          </p:cNvPr>
          <p:cNvSpPr>
            <a:spLocks xmlns:a="http://schemas.openxmlformats.org/drawingml/2006/main" noGrp="1"/>
          </p:cNvSpPr>
          <p:nvPr/>
        </p:nvSpPr>
        <p:spPr>
          <a:xfrm xmlns:a="http://schemas.openxmlformats.org/drawingml/2006/main">
            <a:off x="7924800" y="5353050"/>
            <a:ext cx="27813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D7E5F3"/>
                </a:solidFill>
                <a:latin typeface="Aptos"/>
                <a:ea typeface="Aptos"/>
                <a:cs typeface="Aptos"/>
              </a:defRPr>
            </a:pPr>
            <a:r>
              <a:rPr sz="788" b="0">
                <a:solidFill>
                  <a:srgbClr val="D7E5F3"/>
                </a:solidFill>
                <a:latin typeface="Aptos"/>
                <a:ea typeface="Aptos"/>
                <a:cs typeface="Aptos"/>
              </a:rPr>
              <a:t>Important : les chiffres de ROI affichés dans ce deck sont des benchmarks de référence TransferAI, à confirmer sur les données du prospect pendant l'audit.</a:t>
            </a:r>
          </a:p>
        </p:txBody>
      </p:sp>
      <p:sp>
        <p:nvSpPr>
          <p:cNvPr id="40" name="">
            <a:extLst xmlns:a="http://schemas.openxmlformats.org/drawingml/2006/main">
              <a:ext uri="{FF2B5EF4-FFF2-40B4-BE49-F238E27FC236}">
                <a16:creationId xmlns:a16="http://schemas.microsoft.com/office/drawing/2014/main" id="{744593D7-A48B-4195-81E2-78896D79F95A}"/>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B900B890-4A70-44A7-A9F5-3E2E6E1DD93E}"/>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Aperçu deck automatisé depuis Assemble Prospect Context</a:t>
            </a:r>
          </a:p>
        </p:txBody>
      </p:sp>
      <p:sp>
        <p:nvSpPr>
          <p:cNvPr id="42" name="">
            <a:extLst xmlns:a="http://schemas.openxmlformats.org/drawingml/2006/main">
              <a:ext uri="{FF2B5EF4-FFF2-40B4-BE49-F238E27FC236}">
                <a16:creationId xmlns:a16="http://schemas.microsoft.com/office/drawing/2014/main" id="{821C1E69-720D-4DDF-94C9-8B8508770BBA}"/>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01</a:t>
            </a:r>
          </a:p>
        </p:txBody>
      </p:sp>
    </p:spTree>
    <p:extLst>
      <p:ext uri="{BB962C8B-B14F-4D97-AF65-F5344CB8AC3E}">
        <p14:creationId xmlns:p14="http://schemas.microsoft.com/office/powerpoint/2010/main" val="170611037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24F7AE-C302-4CA1-9F32-E2E183A84E1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E3ED43A-4DF8-43A3-95EA-67CC2BCF2878}"/>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SOMMAIRE</a:t>
            </a:r>
          </a:p>
        </p:txBody>
      </p:sp>
      <p:sp>
        <p:nvSpPr>
          <p:cNvPr id="3" name="">
            <a:extLst xmlns:a="http://schemas.openxmlformats.org/drawingml/2006/main">
              <a:ext uri="{FF2B5EF4-FFF2-40B4-BE49-F238E27FC236}">
                <a16:creationId xmlns:a16="http://schemas.microsoft.com/office/drawing/2014/main" id="{1061BB16-17BF-4A99-A6E6-AC1026653D94}"/>
              </a:ext>
            </a:extLst>
          </p:cNvPr>
          <p:cNvSpPr>
            <a:spLocks xmlns:a="http://schemas.openxmlformats.org/drawingml/2006/main" noGrp="1"/>
          </p:cNvSpPr>
          <p:nvPr/>
        </p:nvSpPr>
        <p:spPr>
          <a:xfrm xmlns:a="http://schemas.openxmlformats.org/drawingml/2006/main">
            <a:off x="685800" y="819150"/>
            <a:ext cx="9334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 parcours de lecture recommandé pour un deck automatisé télécommunications</a:t>
            </a:r>
          </a:p>
        </p:txBody>
      </p:sp>
      <p:sp>
        <p:nvSpPr>
          <p:cNvPr id="4" name="">
            <a:extLst xmlns:a="http://schemas.openxmlformats.org/drawingml/2006/main">
              <a:ext uri="{FF2B5EF4-FFF2-40B4-BE49-F238E27FC236}">
                <a16:creationId xmlns:a16="http://schemas.microsoft.com/office/drawing/2014/main" id="{A0727DB1-9CCC-440E-9AB6-C0970E47BD6E}"/>
              </a:ext>
            </a:extLst>
          </p:cNvPr>
          <p:cNvSpPr>
            <a:spLocks xmlns:a="http://schemas.openxmlformats.org/drawingml/2006/main" noGrp="1"/>
          </p:cNvSpPr>
          <p:nvPr/>
        </p:nvSpPr>
        <p:spPr>
          <a:xfrm xmlns:a="http://schemas.openxmlformats.org/drawingml/2006/main">
            <a:off x="685800" y="1676400"/>
            <a:ext cx="914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Le sommaire rassure la direction, structure la lecture en PDF et prépare les deux temps forts du deck : ce que nous avons compris chez Orange Côte d'Ivoire, puis ce que nous recommandons à partir des signaux collectés.</a:t>
            </a:r>
          </a:p>
        </p:txBody>
      </p:sp>
      <p:sp>
        <p:nvSpPr>
          <p:cNvPr id="5" name="">
            <a:extLst xmlns:a="http://schemas.openxmlformats.org/drawingml/2006/main">
              <a:ext uri="{FF2B5EF4-FFF2-40B4-BE49-F238E27FC236}">
                <a16:creationId xmlns:a16="http://schemas.microsoft.com/office/drawing/2014/main" id="{64FC0617-4FB8-412E-A6D9-333584102BD6}"/>
              </a:ext>
            </a:extLst>
          </p:cNvPr>
          <p:cNvSpPr>
            <a:spLocks xmlns:a="http://schemas.openxmlformats.org/drawingml/2006/main" noGrp="1"/>
          </p:cNvSpPr>
          <p:nvPr/>
        </p:nvSpPr>
        <p:spPr>
          <a:xfrm xmlns:a="http://schemas.openxmlformats.org/drawingml/2006/main">
            <a:off x="685800" y="2324100"/>
            <a:ext cx="5448300" cy="3162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79C46C42-29D2-44DE-B93C-18298AA2D0C4}"/>
              </a:ext>
            </a:extLst>
          </p:cNvPr>
          <p:cNvSpPr>
            <a:spLocks xmlns:a="http://schemas.openxmlformats.org/drawingml/2006/main" noGrp="1"/>
          </p:cNvSpPr>
          <p:nvPr/>
        </p:nvSpPr>
        <p:spPr>
          <a:xfrm xmlns:a="http://schemas.openxmlformats.org/drawingml/2006/main">
            <a:off x="914400" y="2552700"/>
            <a:ext cx="1524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Chemin de lecture</a:t>
            </a:r>
          </a:p>
        </p:txBody>
      </p:sp>
      <p:sp>
        <p:nvSpPr>
          <p:cNvPr id="7" name="">
            <a:extLst xmlns:a="http://schemas.openxmlformats.org/drawingml/2006/main">
              <a:ext uri="{FF2B5EF4-FFF2-40B4-BE49-F238E27FC236}">
                <a16:creationId xmlns:a16="http://schemas.microsoft.com/office/drawing/2014/main" id="{29843221-B72A-4B00-882B-517B0433F113}"/>
              </a:ext>
            </a:extLst>
          </p:cNvPr>
          <p:cNvSpPr>
            <a:spLocks xmlns:a="http://schemas.openxmlformats.org/drawingml/2006/main" noGrp="1"/>
          </p:cNvSpPr>
          <p:nvPr/>
        </p:nvSpPr>
        <p:spPr>
          <a:xfrm xmlns:a="http://schemas.openxmlformats.org/drawingml/2006/main">
            <a:off x="876300" y="2914650"/>
            <a:ext cx="342900" cy="3429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sp>
        <p:nvSpPr>
          <p:cNvPr id="8" name="">
            <a:extLst xmlns:a="http://schemas.openxmlformats.org/drawingml/2006/main">
              <a:ext uri="{FF2B5EF4-FFF2-40B4-BE49-F238E27FC236}">
                <a16:creationId xmlns:a16="http://schemas.microsoft.com/office/drawing/2014/main" id="{F1B445B6-AD2E-42FF-A5E2-468BCA013615}"/>
              </a:ext>
            </a:extLst>
          </p:cNvPr>
          <p:cNvSpPr>
            <a:spLocks xmlns:a="http://schemas.openxmlformats.org/drawingml/2006/main" noGrp="1"/>
          </p:cNvSpPr>
          <p:nvPr/>
        </p:nvSpPr>
        <p:spPr>
          <a:xfrm xmlns:a="http://schemas.openxmlformats.org/drawingml/2006/main">
            <a:off x="876300" y="299085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E3232ADD-2F60-4C95-A734-9BE7FCABC9EC}"/>
              </a:ext>
            </a:extLst>
          </p:cNvPr>
          <p:cNvSpPr>
            <a:spLocks xmlns:a="http://schemas.openxmlformats.org/drawingml/2006/main" noGrp="1"/>
          </p:cNvSpPr>
          <p:nvPr/>
        </p:nvSpPr>
        <p:spPr>
          <a:xfrm xmlns:a="http://schemas.openxmlformats.org/drawingml/2006/main">
            <a:off x="1390650" y="2876550"/>
            <a:ext cx="4476750" cy="457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0" name="">
            <a:extLst xmlns:a="http://schemas.openxmlformats.org/drawingml/2006/main">
              <a:ext uri="{FF2B5EF4-FFF2-40B4-BE49-F238E27FC236}">
                <a16:creationId xmlns:a16="http://schemas.microsoft.com/office/drawing/2014/main" id="{885865DE-0BCC-44A8-AF44-5C4A417EF1F9}"/>
              </a:ext>
            </a:extLst>
          </p:cNvPr>
          <p:cNvSpPr>
            <a:spLocks xmlns:a="http://schemas.openxmlformats.org/drawingml/2006/main" noGrp="1"/>
          </p:cNvSpPr>
          <p:nvPr/>
        </p:nvSpPr>
        <p:spPr>
          <a:xfrm xmlns:a="http://schemas.openxmlformats.org/drawingml/2006/main">
            <a:off x="1581150" y="297180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Contexte et promesse</a:t>
            </a:r>
          </a:p>
        </p:txBody>
      </p:sp>
      <p:sp>
        <p:nvSpPr>
          <p:cNvPr id="11" name="">
            <a:extLst xmlns:a="http://schemas.openxmlformats.org/drawingml/2006/main">
              <a:ext uri="{FF2B5EF4-FFF2-40B4-BE49-F238E27FC236}">
                <a16:creationId xmlns:a16="http://schemas.microsoft.com/office/drawing/2014/main" id="{4DA7FB58-8E60-47A0-962B-3E4CEE6C6B47}"/>
              </a:ext>
            </a:extLst>
          </p:cNvPr>
          <p:cNvSpPr>
            <a:spLocks xmlns:a="http://schemas.openxmlformats.org/drawingml/2006/main" noGrp="1"/>
          </p:cNvSpPr>
          <p:nvPr/>
        </p:nvSpPr>
        <p:spPr>
          <a:xfrm xmlns:a="http://schemas.openxmlformats.org/drawingml/2006/main">
            <a:off x="3733800" y="297180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ce que l'on cherche à débloquer</a:t>
            </a:r>
          </a:p>
        </p:txBody>
      </p:sp>
      <p:sp>
        <p:nvSpPr>
          <p:cNvPr id="12" name="">
            <a:extLst xmlns:a="http://schemas.openxmlformats.org/drawingml/2006/main">
              <a:ext uri="{FF2B5EF4-FFF2-40B4-BE49-F238E27FC236}">
                <a16:creationId xmlns:a16="http://schemas.microsoft.com/office/drawing/2014/main" id="{2F699406-B45D-4500-88B1-5CFD4E9B658F}"/>
              </a:ext>
            </a:extLst>
          </p:cNvPr>
          <p:cNvSpPr>
            <a:spLocks xmlns:a="http://schemas.openxmlformats.org/drawingml/2006/main" noGrp="1"/>
          </p:cNvSpPr>
          <p:nvPr/>
        </p:nvSpPr>
        <p:spPr>
          <a:xfrm xmlns:a="http://schemas.openxmlformats.org/drawingml/2006/main">
            <a:off x="876300" y="3467100"/>
            <a:ext cx="342900" cy="3429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sp>
        <p:nvSpPr>
          <p:cNvPr id="13" name="">
            <a:extLst xmlns:a="http://schemas.openxmlformats.org/drawingml/2006/main">
              <a:ext uri="{FF2B5EF4-FFF2-40B4-BE49-F238E27FC236}">
                <a16:creationId xmlns:a16="http://schemas.microsoft.com/office/drawing/2014/main" id="{A4FFFBD3-2391-41FC-8F0C-663A5E65933C}"/>
              </a:ext>
            </a:extLst>
          </p:cNvPr>
          <p:cNvSpPr>
            <a:spLocks xmlns:a="http://schemas.openxmlformats.org/drawingml/2006/main" noGrp="1"/>
          </p:cNvSpPr>
          <p:nvPr/>
        </p:nvSpPr>
        <p:spPr>
          <a:xfrm xmlns:a="http://schemas.openxmlformats.org/drawingml/2006/main">
            <a:off x="876300" y="354330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E17252D0-067A-41BB-89F4-B3EC3BC3EF77}"/>
              </a:ext>
            </a:extLst>
          </p:cNvPr>
          <p:cNvSpPr>
            <a:spLocks xmlns:a="http://schemas.openxmlformats.org/drawingml/2006/main" noGrp="1"/>
          </p:cNvSpPr>
          <p:nvPr/>
        </p:nvSpPr>
        <p:spPr>
          <a:xfrm xmlns:a="http://schemas.openxmlformats.org/drawingml/2006/main">
            <a:off x="1390650" y="342900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5" name="">
            <a:extLst xmlns:a="http://schemas.openxmlformats.org/drawingml/2006/main">
              <a:ext uri="{FF2B5EF4-FFF2-40B4-BE49-F238E27FC236}">
                <a16:creationId xmlns:a16="http://schemas.microsoft.com/office/drawing/2014/main" id="{8D2CB3EA-1D82-429B-A3BB-F809F7456646}"/>
              </a:ext>
            </a:extLst>
          </p:cNvPr>
          <p:cNvSpPr>
            <a:spLocks xmlns:a="http://schemas.openxmlformats.org/drawingml/2006/main" noGrp="1"/>
          </p:cNvSpPr>
          <p:nvPr/>
        </p:nvSpPr>
        <p:spPr>
          <a:xfrm xmlns:a="http://schemas.openxmlformats.org/drawingml/2006/main">
            <a:off x="1581150" y="352425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Crédibilité TransferAI</a:t>
            </a:r>
          </a:p>
        </p:txBody>
      </p:sp>
      <p:sp>
        <p:nvSpPr>
          <p:cNvPr id="16" name="">
            <a:extLst xmlns:a="http://schemas.openxmlformats.org/drawingml/2006/main">
              <a:ext uri="{FF2B5EF4-FFF2-40B4-BE49-F238E27FC236}">
                <a16:creationId xmlns:a16="http://schemas.microsoft.com/office/drawing/2014/main" id="{C5659B2D-5A0D-4BD5-AF97-770F58C330BA}"/>
              </a:ext>
            </a:extLst>
          </p:cNvPr>
          <p:cNvSpPr>
            <a:spLocks xmlns:a="http://schemas.openxmlformats.org/drawingml/2006/main" noGrp="1"/>
          </p:cNvSpPr>
          <p:nvPr/>
        </p:nvSpPr>
        <p:spPr>
          <a:xfrm xmlns:a="http://schemas.openxmlformats.org/drawingml/2006/main">
            <a:off x="3733800" y="352425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qui porte l'exécution</a:t>
            </a:r>
          </a:p>
        </p:txBody>
      </p:sp>
      <p:sp>
        <p:nvSpPr>
          <p:cNvPr id="17" name="">
            <a:extLst xmlns:a="http://schemas.openxmlformats.org/drawingml/2006/main">
              <a:ext uri="{FF2B5EF4-FFF2-40B4-BE49-F238E27FC236}">
                <a16:creationId xmlns:a16="http://schemas.microsoft.com/office/drawing/2014/main" id="{FEF0FDC4-12C8-4D24-95B9-212C7716EA8E}"/>
              </a:ext>
            </a:extLst>
          </p:cNvPr>
          <p:cNvSpPr>
            <a:spLocks xmlns:a="http://schemas.openxmlformats.org/drawingml/2006/main" noGrp="1"/>
          </p:cNvSpPr>
          <p:nvPr/>
        </p:nvSpPr>
        <p:spPr>
          <a:xfrm xmlns:a="http://schemas.openxmlformats.org/drawingml/2006/main">
            <a:off x="876300" y="4019550"/>
            <a:ext cx="342900" cy="3429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sp>
        <p:nvSpPr>
          <p:cNvPr id="18" name="">
            <a:extLst xmlns:a="http://schemas.openxmlformats.org/drawingml/2006/main">
              <a:ext uri="{FF2B5EF4-FFF2-40B4-BE49-F238E27FC236}">
                <a16:creationId xmlns:a16="http://schemas.microsoft.com/office/drawing/2014/main" id="{95D04731-5543-4288-8624-84D185AF9EFF}"/>
              </a:ext>
            </a:extLst>
          </p:cNvPr>
          <p:cNvSpPr>
            <a:spLocks xmlns:a="http://schemas.openxmlformats.org/drawingml/2006/main" noGrp="1"/>
          </p:cNvSpPr>
          <p:nvPr/>
        </p:nvSpPr>
        <p:spPr>
          <a:xfrm xmlns:a="http://schemas.openxmlformats.org/drawingml/2006/main">
            <a:off x="876300" y="409575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03</a:t>
            </a:r>
          </a:p>
        </p:txBody>
      </p:sp>
      <p:sp>
        <p:nvSpPr>
          <p:cNvPr id="19" name="">
            <a:extLst xmlns:a="http://schemas.openxmlformats.org/drawingml/2006/main">
              <a:ext uri="{FF2B5EF4-FFF2-40B4-BE49-F238E27FC236}">
                <a16:creationId xmlns:a16="http://schemas.microsoft.com/office/drawing/2014/main" id="{87AA63EA-EF6C-4521-B1A6-1CA63633CF8E}"/>
              </a:ext>
            </a:extLst>
          </p:cNvPr>
          <p:cNvSpPr>
            <a:spLocks xmlns:a="http://schemas.openxmlformats.org/drawingml/2006/main" noGrp="1"/>
          </p:cNvSpPr>
          <p:nvPr/>
        </p:nvSpPr>
        <p:spPr>
          <a:xfrm xmlns:a="http://schemas.openxmlformats.org/drawingml/2006/main">
            <a:off x="1390650" y="398145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0" name="">
            <a:extLst xmlns:a="http://schemas.openxmlformats.org/drawingml/2006/main">
              <a:ext uri="{FF2B5EF4-FFF2-40B4-BE49-F238E27FC236}">
                <a16:creationId xmlns:a16="http://schemas.microsoft.com/office/drawing/2014/main" id="{BC07487F-9F89-46FF-80AD-7AF342D7F610}"/>
              </a:ext>
            </a:extLst>
          </p:cNvPr>
          <p:cNvSpPr>
            <a:spLocks xmlns:a="http://schemas.openxmlformats.org/drawingml/2006/main" noGrp="1"/>
          </p:cNvSpPr>
          <p:nvPr/>
        </p:nvSpPr>
        <p:spPr>
          <a:xfrm xmlns:a="http://schemas.openxmlformats.org/drawingml/2006/main">
            <a:off x="1581150" y="407670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Priorités métier et ROI</a:t>
            </a:r>
          </a:p>
        </p:txBody>
      </p:sp>
      <p:sp>
        <p:nvSpPr>
          <p:cNvPr id="21" name="">
            <a:extLst xmlns:a="http://schemas.openxmlformats.org/drawingml/2006/main">
              <a:ext uri="{FF2B5EF4-FFF2-40B4-BE49-F238E27FC236}">
                <a16:creationId xmlns:a16="http://schemas.microsoft.com/office/drawing/2014/main" id="{DFD42419-12F4-4287-A1BF-B614EA6C1658}"/>
              </a:ext>
            </a:extLst>
          </p:cNvPr>
          <p:cNvSpPr>
            <a:spLocks xmlns:a="http://schemas.openxmlformats.org/drawingml/2006/main" noGrp="1"/>
          </p:cNvSpPr>
          <p:nvPr/>
        </p:nvSpPr>
        <p:spPr>
          <a:xfrm xmlns:a="http://schemas.openxmlformats.org/drawingml/2006/main">
            <a:off x="3733800" y="407670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où la valeur devient visible</a:t>
            </a:r>
          </a:p>
        </p:txBody>
      </p:sp>
      <p:sp>
        <p:nvSpPr>
          <p:cNvPr id="22" name="">
            <a:extLst xmlns:a="http://schemas.openxmlformats.org/drawingml/2006/main">
              <a:ext uri="{FF2B5EF4-FFF2-40B4-BE49-F238E27FC236}">
                <a16:creationId xmlns:a16="http://schemas.microsoft.com/office/drawing/2014/main" id="{4A117D2E-BFE1-4662-859A-1FEBC5828D5D}"/>
              </a:ext>
            </a:extLst>
          </p:cNvPr>
          <p:cNvSpPr>
            <a:spLocks xmlns:a="http://schemas.openxmlformats.org/drawingml/2006/main" noGrp="1"/>
          </p:cNvSpPr>
          <p:nvPr/>
        </p:nvSpPr>
        <p:spPr>
          <a:xfrm xmlns:a="http://schemas.openxmlformats.org/drawingml/2006/main">
            <a:off x="876300" y="4572000"/>
            <a:ext cx="342900" cy="3429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sp>
        <p:nvSpPr>
          <p:cNvPr id="23" name="">
            <a:extLst xmlns:a="http://schemas.openxmlformats.org/drawingml/2006/main">
              <a:ext uri="{FF2B5EF4-FFF2-40B4-BE49-F238E27FC236}">
                <a16:creationId xmlns:a16="http://schemas.microsoft.com/office/drawing/2014/main" id="{B9A94B23-FB29-4279-A9D9-4CCFF4B1E048}"/>
              </a:ext>
            </a:extLst>
          </p:cNvPr>
          <p:cNvSpPr>
            <a:spLocks xmlns:a="http://schemas.openxmlformats.org/drawingml/2006/main" noGrp="1"/>
          </p:cNvSpPr>
          <p:nvPr/>
        </p:nvSpPr>
        <p:spPr>
          <a:xfrm xmlns:a="http://schemas.openxmlformats.org/drawingml/2006/main">
            <a:off x="876300" y="464820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4DA6576E-FBC6-42FA-A0E1-DAD8AB84EBED}"/>
              </a:ext>
            </a:extLst>
          </p:cNvPr>
          <p:cNvSpPr>
            <a:spLocks xmlns:a="http://schemas.openxmlformats.org/drawingml/2006/main" noGrp="1"/>
          </p:cNvSpPr>
          <p:nvPr/>
        </p:nvSpPr>
        <p:spPr>
          <a:xfrm xmlns:a="http://schemas.openxmlformats.org/drawingml/2006/main">
            <a:off x="1390650" y="453390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5" name="">
            <a:extLst xmlns:a="http://schemas.openxmlformats.org/drawingml/2006/main">
              <a:ext uri="{FF2B5EF4-FFF2-40B4-BE49-F238E27FC236}">
                <a16:creationId xmlns:a16="http://schemas.microsoft.com/office/drawing/2014/main" id="{353EBB54-837F-46E3-B08C-1617039D38DF}"/>
              </a:ext>
            </a:extLst>
          </p:cNvPr>
          <p:cNvSpPr>
            <a:spLocks xmlns:a="http://schemas.openxmlformats.org/drawingml/2006/main" noGrp="1"/>
          </p:cNvSpPr>
          <p:nvPr/>
        </p:nvSpPr>
        <p:spPr>
          <a:xfrm xmlns:a="http://schemas.openxmlformats.org/drawingml/2006/main">
            <a:off x="1581150" y="462915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Cas d'usage prioritaires</a:t>
            </a:r>
          </a:p>
        </p:txBody>
      </p:sp>
      <p:sp>
        <p:nvSpPr>
          <p:cNvPr id="26" name="">
            <a:extLst xmlns:a="http://schemas.openxmlformats.org/drawingml/2006/main">
              <a:ext uri="{FF2B5EF4-FFF2-40B4-BE49-F238E27FC236}">
                <a16:creationId xmlns:a16="http://schemas.microsoft.com/office/drawing/2014/main" id="{66F23B84-CBE5-4159-B0C9-3FF43103EB7D}"/>
              </a:ext>
            </a:extLst>
          </p:cNvPr>
          <p:cNvSpPr>
            <a:spLocks xmlns:a="http://schemas.openxmlformats.org/drawingml/2006/main" noGrp="1"/>
          </p:cNvSpPr>
          <p:nvPr/>
        </p:nvSpPr>
        <p:spPr>
          <a:xfrm xmlns:a="http://schemas.openxmlformats.org/drawingml/2006/main">
            <a:off x="3733800" y="462915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ce qu'il faut mesurer</a:t>
            </a:r>
          </a:p>
        </p:txBody>
      </p:sp>
      <p:sp>
        <p:nvSpPr>
          <p:cNvPr id="27" name="">
            <a:extLst xmlns:a="http://schemas.openxmlformats.org/drawingml/2006/main">
              <a:ext uri="{FF2B5EF4-FFF2-40B4-BE49-F238E27FC236}">
                <a16:creationId xmlns:a16="http://schemas.microsoft.com/office/drawing/2014/main" id="{EED39748-BBB6-4EA3-96D5-5CA7F80EA4F7}"/>
              </a:ext>
            </a:extLst>
          </p:cNvPr>
          <p:cNvSpPr>
            <a:spLocks xmlns:a="http://schemas.openxmlformats.org/drawingml/2006/main" noGrp="1"/>
          </p:cNvSpPr>
          <p:nvPr/>
        </p:nvSpPr>
        <p:spPr>
          <a:xfrm xmlns:a="http://schemas.openxmlformats.org/drawingml/2006/main">
            <a:off x="876300" y="5124450"/>
            <a:ext cx="342900" cy="3429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sp>
        <p:nvSpPr>
          <p:cNvPr id="28" name="">
            <a:extLst xmlns:a="http://schemas.openxmlformats.org/drawingml/2006/main">
              <a:ext uri="{FF2B5EF4-FFF2-40B4-BE49-F238E27FC236}">
                <a16:creationId xmlns:a16="http://schemas.microsoft.com/office/drawing/2014/main" id="{790DBB6C-D757-407E-B614-5C5006EC858D}"/>
              </a:ext>
            </a:extLst>
          </p:cNvPr>
          <p:cNvSpPr>
            <a:spLocks xmlns:a="http://schemas.openxmlformats.org/drawingml/2006/main" noGrp="1"/>
          </p:cNvSpPr>
          <p:nvPr/>
        </p:nvSpPr>
        <p:spPr>
          <a:xfrm xmlns:a="http://schemas.openxmlformats.org/drawingml/2006/main">
            <a:off x="876300" y="520065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05</a:t>
            </a:r>
          </a:p>
        </p:txBody>
      </p:sp>
      <p:sp>
        <p:nvSpPr>
          <p:cNvPr id="29" name="">
            <a:extLst xmlns:a="http://schemas.openxmlformats.org/drawingml/2006/main">
              <a:ext uri="{FF2B5EF4-FFF2-40B4-BE49-F238E27FC236}">
                <a16:creationId xmlns:a16="http://schemas.microsoft.com/office/drawing/2014/main" id="{504FEA9A-0EA9-49A9-A515-2EF3E2637049}"/>
              </a:ext>
            </a:extLst>
          </p:cNvPr>
          <p:cNvSpPr>
            <a:spLocks xmlns:a="http://schemas.openxmlformats.org/drawingml/2006/main" noGrp="1"/>
          </p:cNvSpPr>
          <p:nvPr/>
        </p:nvSpPr>
        <p:spPr>
          <a:xfrm xmlns:a="http://schemas.openxmlformats.org/drawingml/2006/main">
            <a:off x="1390650" y="508635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0" name="">
            <a:extLst xmlns:a="http://schemas.openxmlformats.org/drawingml/2006/main">
              <a:ext uri="{FF2B5EF4-FFF2-40B4-BE49-F238E27FC236}">
                <a16:creationId xmlns:a16="http://schemas.microsoft.com/office/drawing/2014/main" id="{DCFC4DB0-FED7-433D-9912-2B414F37BC94}"/>
              </a:ext>
            </a:extLst>
          </p:cNvPr>
          <p:cNvSpPr>
            <a:spLocks xmlns:a="http://schemas.openxmlformats.org/drawingml/2006/main" noGrp="1"/>
          </p:cNvSpPr>
          <p:nvPr/>
        </p:nvSpPr>
        <p:spPr>
          <a:xfrm xmlns:a="http://schemas.openxmlformats.org/drawingml/2006/main">
            <a:off x="1581150" y="518160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Parcours et prochaine étape</a:t>
            </a:r>
          </a:p>
        </p:txBody>
      </p:sp>
      <p:sp>
        <p:nvSpPr>
          <p:cNvPr id="31" name="">
            <a:extLst xmlns:a="http://schemas.openxmlformats.org/drawingml/2006/main">
              <a:ext uri="{FF2B5EF4-FFF2-40B4-BE49-F238E27FC236}">
                <a16:creationId xmlns:a16="http://schemas.microsoft.com/office/drawing/2014/main" id="{6CD7F530-14B8-4950-89A7-8E1BF8719214}"/>
              </a:ext>
            </a:extLst>
          </p:cNvPr>
          <p:cNvSpPr>
            <a:spLocks xmlns:a="http://schemas.openxmlformats.org/drawingml/2006/main" noGrp="1"/>
          </p:cNvSpPr>
          <p:nvPr/>
        </p:nvSpPr>
        <p:spPr>
          <a:xfrm xmlns:a="http://schemas.openxmlformats.org/drawingml/2006/main">
            <a:off x="3733800" y="518160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ce que l'on recommande</a:t>
            </a:r>
          </a:p>
        </p:txBody>
      </p:sp>
      <p:sp>
        <p:nvSpPr>
          <p:cNvPr id="32" name="">
            <a:extLst xmlns:a="http://schemas.openxmlformats.org/drawingml/2006/main">
              <a:ext uri="{FF2B5EF4-FFF2-40B4-BE49-F238E27FC236}">
                <a16:creationId xmlns:a16="http://schemas.microsoft.com/office/drawing/2014/main" id="{DEE97534-A1FC-4215-B5D2-2E2D58BD6828}"/>
              </a:ext>
            </a:extLst>
          </p:cNvPr>
          <p:cNvSpPr>
            <a:spLocks xmlns:a="http://schemas.openxmlformats.org/drawingml/2006/main" noGrp="1"/>
          </p:cNvSpPr>
          <p:nvPr/>
        </p:nvSpPr>
        <p:spPr>
          <a:xfrm xmlns:a="http://schemas.openxmlformats.org/drawingml/2006/main">
            <a:off x="6610350" y="2324100"/>
            <a:ext cx="4895850" cy="31623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3" name="">
            <a:extLst xmlns:a="http://schemas.openxmlformats.org/drawingml/2006/main">
              <a:ext uri="{FF2B5EF4-FFF2-40B4-BE49-F238E27FC236}">
                <a16:creationId xmlns:a16="http://schemas.microsoft.com/office/drawing/2014/main" id="{D1521F14-DEC3-48D1-867B-46FFABFD86BD}"/>
              </a:ext>
            </a:extLst>
          </p:cNvPr>
          <p:cNvSpPr>
            <a:spLocks xmlns:a="http://schemas.openxmlformats.org/drawingml/2006/main" noGrp="1"/>
          </p:cNvSpPr>
          <p:nvPr/>
        </p:nvSpPr>
        <p:spPr>
          <a:xfrm xmlns:a="http://schemas.openxmlformats.org/drawingml/2006/main">
            <a:off x="6896100" y="25908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LECTURE DÉCISIONNELLE</a:t>
            </a:r>
          </a:p>
        </p:txBody>
      </p:sp>
      <p:sp>
        <p:nvSpPr>
          <p:cNvPr id="34" name="">
            <a:extLst xmlns:a="http://schemas.openxmlformats.org/drawingml/2006/main">
              <a:ext uri="{FF2B5EF4-FFF2-40B4-BE49-F238E27FC236}">
                <a16:creationId xmlns:a16="http://schemas.microsoft.com/office/drawing/2014/main" id="{EE015917-E0E5-4C4B-A208-6D347E342B47}"/>
              </a:ext>
            </a:extLst>
          </p:cNvPr>
          <p:cNvSpPr>
            <a:spLocks xmlns:a="http://schemas.openxmlformats.org/drawingml/2006/main" noGrp="1"/>
          </p:cNvSpPr>
          <p:nvPr/>
        </p:nvSpPr>
        <p:spPr>
          <a:xfrm xmlns:a="http://schemas.openxmlformats.org/drawingml/2006/main">
            <a:off x="6896100" y="2895600"/>
            <a:ext cx="28575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Un deck court,</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mais guidé comme</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une décision.</a:t>
            </a:r>
          </a:p>
        </p:txBody>
      </p:sp>
      <p:sp>
        <p:nvSpPr>
          <p:cNvPr id="35" name="">
            <a:extLst xmlns:a="http://schemas.openxmlformats.org/drawingml/2006/main">
              <a:ext uri="{FF2B5EF4-FFF2-40B4-BE49-F238E27FC236}">
                <a16:creationId xmlns:a16="http://schemas.microsoft.com/office/drawing/2014/main" id="{24FC90E7-9B30-4382-9FC9-C953557A4586}"/>
              </a:ext>
            </a:extLst>
          </p:cNvPr>
          <p:cNvSpPr>
            <a:spLocks xmlns:a="http://schemas.openxmlformats.org/drawingml/2006/main" noGrp="1"/>
          </p:cNvSpPr>
          <p:nvPr/>
        </p:nvSpPr>
        <p:spPr>
          <a:xfrm xmlns:a="http://schemas.openxmlformats.org/drawingml/2006/main">
            <a:off x="6896100" y="4133850"/>
            <a:ext cx="29146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1. Comprendre les irritants métier.</a:t>
            </a:r>
          </a:p>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2. Donner un benchmark ROI crédible.</a:t>
            </a:r>
          </a:p>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3. Recommander un premier pilote mesurable.</a:t>
            </a:r>
          </a:p>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4. Finir sur une prochaine étape simple : audit IA + échange expert de 30 minutes.</a:t>
            </a:r>
          </a:p>
        </p:txBody>
      </p:sp>
      <p:sp>
        <p:nvSpPr>
          <p:cNvPr id="36" name="">
            <a:extLst xmlns:a="http://schemas.openxmlformats.org/drawingml/2006/main">
              <a:ext uri="{FF2B5EF4-FFF2-40B4-BE49-F238E27FC236}">
                <a16:creationId xmlns:a16="http://schemas.microsoft.com/office/drawing/2014/main" id="{86B30CD2-C9C1-400D-BD58-AB181333094C}"/>
              </a:ext>
            </a:extLst>
          </p:cNvPr>
          <p:cNvSpPr>
            <a:spLocks xmlns:a="http://schemas.openxmlformats.org/drawingml/2006/main" noGrp="1"/>
          </p:cNvSpPr>
          <p:nvPr/>
        </p:nvSpPr>
        <p:spPr>
          <a:xfrm xmlns:a="http://schemas.openxmlformats.org/drawingml/2006/main">
            <a:off x="9925050" y="2895600"/>
            <a:ext cx="1257300" cy="91440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37" name="">
            <a:extLst xmlns:a="http://schemas.openxmlformats.org/drawingml/2006/main">
              <a:ext uri="{FF2B5EF4-FFF2-40B4-BE49-F238E27FC236}">
                <a16:creationId xmlns:a16="http://schemas.microsoft.com/office/drawing/2014/main" id="{DC227265-3280-425E-B94D-C61433FBDE3D}"/>
              </a:ext>
            </a:extLst>
          </p:cNvPr>
          <p:cNvSpPr>
            <a:spLocks xmlns:a="http://schemas.openxmlformats.org/drawingml/2006/main" noGrp="1"/>
          </p:cNvSpPr>
          <p:nvPr/>
        </p:nvSpPr>
        <p:spPr>
          <a:xfrm xmlns:a="http://schemas.openxmlformats.org/drawingml/2006/main">
            <a:off x="10096500" y="3181350"/>
            <a:ext cx="914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PDF ready</a:t>
            </a:r>
          </a:p>
        </p:txBody>
      </p:sp>
      <p:sp>
        <p:nvSpPr>
          <p:cNvPr id="38" name="">
            <a:extLst xmlns:a="http://schemas.openxmlformats.org/drawingml/2006/main">
              <a:ext uri="{FF2B5EF4-FFF2-40B4-BE49-F238E27FC236}">
                <a16:creationId xmlns:a16="http://schemas.microsoft.com/office/drawing/2014/main" id="{B3DD1FAA-7755-4DA9-9876-D27FA6D332F8}"/>
              </a:ext>
            </a:extLst>
          </p:cNvPr>
          <p:cNvSpPr>
            <a:spLocks xmlns:a="http://schemas.openxmlformats.org/drawingml/2006/main" noGrp="1"/>
          </p:cNvSpPr>
          <p:nvPr/>
        </p:nvSpPr>
        <p:spPr>
          <a:xfrm xmlns:a="http://schemas.openxmlformats.org/drawingml/2006/main">
            <a:off x="10077450" y="3429000"/>
            <a:ext cx="95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lecture rapide DG</a:t>
            </a:r>
          </a:p>
        </p:txBody>
      </p:sp>
      <p:sp>
        <p:nvSpPr>
          <p:cNvPr id="39" name="">
            <a:extLst xmlns:a="http://schemas.openxmlformats.org/drawingml/2006/main">
              <a:ext uri="{FF2B5EF4-FFF2-40B4-BE49-F238E27FC236}">
                <a16:creationId xmlns:a16="http://schemas.microsoft.com/office/drawing/2014/main" id="{EC396534-DE5C-4E72-8906-4BE6FF3254A9}"/>
              </a:ext>
            </a:extLst>
          </p:cNvPr>
          <p:cNvSpPr>
            <a:spLocks xmlns:a="http://schemas.openxmlformats.org/drawingml/2006/main" noGrp="1"/>
          </p:cNvSpPr>
          <p:nvPr/>
        </p:nvSpPr>
        <p:spPr>
          <a:xfrm xmlns:a="http://schemas.openxmlformats.org/drawingml/2006/main">
            <a:off x="9925050" y="3981450"/>
            <a:ext cx="1257300" cy="91440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40" name="">
            <a:extLst xmlns:a="http://schemas.openxmlformats.org/drawingml/2006/main">
              <a:ext uri="{FF2B5EF4-FFF2-40B4-BE49-F238E27FC236}">
                <a16:creationId xmlns:a16="http://schemas.microsoft.com/office/drawing/2014/main" id="{FFFD0AC6-F8F1-4DAC-B1B6-2A4A8C2BFA20}"/>
              </a:ext>
            </a:extLst>
          </p:cNvPr>
          <p:cNvSpPr>
            <a:spLocks xmlns:a="http://schemas.openxmlformats.org/drawingml/2006/main" noGrp="1"/>
          </p:cNvSpPr>
          <p:nvPr/>
        </p:nvSpPr>
        <p:spPr>
          <a:xfrm xmlns:a="http://schemas.openxmlformats.org/drawingml/2006/main">
            <a:off x="10096500" y="4267200"/>
            <a:ext cx="914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2 temps</a:t>
            </a:r>
          </a:p>
        </p:txBody>
      </p:sp>
      <p:sp>
        <p:nvSpPr>
          <p:cNvPr id="41" name="">
            <a:extLst xmlns:a="http://schemas.openxmlformats.org/drawingml/2006/main">
              <a:ext uri="{FF2B5EF4-FFF2-40B4-BE49-F238E27FC236}">
                <a16:creationId xmlns:a16="http://schemas.microsoft.com/office/drawing/2014/main" id="{7DB01E98-FA11-4008-93E2-6067B43DF559}"/>
              </a:ext>
            </a:extLst>
          </p:cNvPr>
          <p:cNvSpPr>
            <a:spLocks xmlns:a="http://schemas.openxmlformats.org/drawingml/2006/main" noGrp="1"/>
          </p:cNvSpPr>
          <p:nvPr/>
        </p:nvSpPr>
        <p:spPr>
          <a:xfrm xmlns:a="http://schemas.openxmlformats.org/drawingml/2006/main">
            <a:off x="10020300" y="4514850"/>
            <a:ext cx="1066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comprendre puis recommander</a:t>
            </a:r>
          </a:p>
        </p:txBody>
      </p:sp>
      <p:sp>
        <p:nvSpPr>
          <p:cNvPr id="42" name="">
            <a:extLst xmlns:a="http://schemas.openxmlformats.org/drawingml/2006/main">
              <a:ext uri="{FF2B5EF4-FFF2-40B4-BE49-F238E27FC236}">
                <a16:creationId xmlns:a16="http://schemas.microsoft.com/office/drawing/2014/main" id="{C520060B-9794-4080-B417-7387A094DBFD}"/>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5E135543-7786-44BF-9267-823AB4AB0BA1}"/>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Aperçu deck automatisé depuis Assemble Prospect Context</a:t>
            </a:r>
          </a:p>
        </p:txBody>
      </p:sp>
      <p:sp>
        <p:nvSpPr>
          <p:cNvPr id="44" name="">
            <a:extLst xmlns:a="http://schemas.openxmlformats.org/drawingml/2006/main">
              <a:ext uri="{FF2B5EF4-FFF2-40B4-BE49-F238E27FC236}">
                <a16:creationId xmlns:a16="http://schemas.microsoft.com/office/drawing/2014/main" id="{9ADA86C9-17F0-4C20-9ABE-50AF5A82B81D}"/>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02</a:t>
            </a:r>
          </a:p>
        </p:txBody>
      </p:sp>
    </p:spTree>
    <p:extLst>
      <p:ext uri="{BB962C8B-B14F-4D97-AF65-F5344CB8AC3E}">
        <p14:creationId xmlns:p14="http://schemas.microsoft.com/office/powerpoint/2010/main" val="167342070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FE6139-3ABF-43F0-A1FD-61D573E153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4A621A1-5F31-4921-A731-BFD2875F1E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 name="">
            <a:extLst xmlns:a="http://schemas.openxmlformats.org/drawingml/2006/main">
              <a:ext uri="{FF2B5EF4-FFF2-40B4-BE49-F238E27FC236}">
                <a16:creationId xmlns:a16="http://schemas.microsoft.com/office/drawing/2014/main" id="{315D820C-DF6A-4CFB-8373-E23787C764DB}"/>
              </a:ext>
            </a:extLst>
          </p:cNvPr>
          <p:cNvSpPr>
            <a:spLocks xmlns:a="http://schemas.openxmlformats.org/drawingml/2006/main" noGrp="1"/>
          </p:cNvSpPr>
          <p:nvPr/>
        </p:nvSpPr>
        <p:spPr>
          <a:xfrm xmlns:a="http://schemas.openxmlformats.org/drawingml/2006/main">
            <a:off x="685800" y="1066800"/>
            <a:ext cx="76200" cy="4324350"/>
          </a:xfrm>
          <a:prstGeom xmlns:a="http://schemas.openxmlformats.org/drawingml/2006/main" prst="rect">
            <a:avLst/>
          </a:prstGeom>
          <a:solidFill xmlns:a="http://schemas.openxmlformats.org/drawingml/2006/main">
            <a:srgbClr val="E76F1D"/>
          </a:solidFill>
          <a:ln xmlns:a="http://schemas.openxmlformats.org/drawingml/2006/main" w="0">
            <a:solidFill>
              <a:srgbClr val="E76F1D"/>
            </a:solidFill>
            <a:prstDash val="solid"/>
          </a:ln>
        </p:spPr>
      </p:sp>
      <p:sp>
        <p:nvSpPr>
          <p:cNvPr id="4" name="">
            <a:extLst xmlns:a="http://schemas.openxmlformats.org/drawingml/2006/main">
              <a:ext uri="{FF2B5EF4-FFF2-40B4-BE49-F238E27FC236}">
                <a16:creationId xmlns:a16="http://schemas.microsoft.com/office/drawing/2014/main" id="{18DD416B-FE20-4C54-8236-2FA87CF2C687}"/>
              </a:ext>
            </a:extLst>
          </p:cNvPr>
          <p:cNvSpPr>
            <a:spLocks xmlns:a="http://schemas.openxmlformats.org/drawingml/2006/main" noGrp="1"/>
          </p:cNvSpPr>
          <p:nvPr/>
        </p:nvSpPr>
        <p:spPr>
          <a:xfrm xmlns:a="http://schemas.openxmlformats.org/drawingml/2006/main">
            <a:off x="990600" y="1162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CE QUE NOUS AVONS COMPRIS</a:t>
            </a:r>
          </a:p>
        </p:txBody>
      </p:sp>
      <p:sp>
        <p:nvSpPr>
          <p:cNvPr id="5" name="">
            <a:extLst xmlns:a="http://schemas.openxmlformats.org/drawingml/2006/main">
              <a:ext uri="{FF2B5EF4-FFF2-40B4-BE49-F238E27FC236}">
                <a16:creationId xmlns:a16="http://schemas.microsoft.com/office/drawing/2014/main" id="{1C0870D0-15B0-44BC-A4DC-2A8A9C6395C5}"/>
              </a:ext>
            </a:extLst>
          </p:cNvPr>
          <p:cNvSpPr>
            <a:spLocks xmlns:a="http://schemas.openxmlformats.org/drawingml/2006/main" noGrp="1"/>
          </p:cNvSpPr>
          <p:nvPr/>
        </p:nvSpPr>
        <p:spPr>
          <a:xfrm xmlns:a="http://schemas.openxmlformats.org/drawingml/2006/main">
            <a:off x="990600" y="1524000"/>
            <a:ext cx="60960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slides qui cadrent</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enjeux business</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avant de parler solution.</a:t>
            </a:r>
          </a:p>
        </p:txBody>
      </p:sp>
      <p:sp>
        <p:nvSpPr>
          <p:cNvPr id="6" name="">
            <a:extLst xmlns:a="http://schemas.openxmlformats.org/drawingml/2006/main">
              <a:ext uri="{FF2B5EF4-FFF2-40B4-BE49-F238E27FC236}">
                <a16:creationId xmlns:a16="http://schemas.microsoft.com/office/drawing/2014/main" id="{2E1F2AE6-5CB4-42FA-A558-982258041B1A}"/>
              </a:ext>
            </a:extLst>
          </p:cNvPr>
          <p:cNvSpPr>
            <a:spLocks xmlns:a="http://schemas.openxmlformats.org/drawingml/2006/main" noGrp="1"/>
          </p:cNvSpPr>
          <p:nvPr/>
        </p:nvSpPr>
        <p:spPr>
          <a:xfrm xmlns:a="http://schemas.openxmlformats.org/drawingml/2006/main">
            <a:off x="990600" y="3086100"/>
            <a:ext cx="5334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7E5F3"/>
                </a:solidFill>
                <a:latin typeface="Aptos"/>
                <a:ea typeface="Aptos"/>
                <a:cs typeface="Aptos"/>
              </a:defRPr>
            </a:pPr>
            <a:r>
              <a:rPr sz="1200" b="0">
                <a:solidFill>
                  <a:srgbClr val="D7E5F3"/>
                </a:solidFill>
                <a:latin typeface="Aptos"/>
                <a:ea typeface="Aptos"/>
                <a:cs typeface="Aptos"/>
              </a:rPr>
              <a:t>Cette première partie du deck doit montrer que nous comprenons les priorités métier, les irritants business visibles et les KPI qui feront foi pour la direction.</a:t>
            </a:r>
          </a:p>
        </p:txBody>
      </p:sp>
      <p:sp>
        <p:nvSpPr>
          <p:cNvPr id="7" name="">
            <a:extLst xmlns:a="http://schemas.openxmlformats.org/drawingml/2006/main">
              <a:ext uri="{FF2B5EF4-FFF2-40B4-BE49-F238E27FC236}">
                <a16:creationId xmlns:a16="http://schemas.microsoft.com/office/drawing/2014/main" id="{64F4765A-A1C8-46A0-AC8E-D3C83C69C90F}"/>
              </a:ext>
            </a:extLst>
          </p:cNvPr>
          <p:cNvSpPr>
            <a:spLocks xmlns:a="http://schemas.openxmlformats.org/drawingml/2006/main" noGrp="1"/>
          </p:cNvSpPr>
          <p:nvPr/>
        </p:nvSpPr>
        <p:spPr>
          <a:xfrm xmlns:a="http://schemas.openxmlformats.org/drawingml/2006/main">
            <a:off x="7410450" y="1257300"/>
            <a:ext cx="3752850" cy="16192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8" name="">
            <a:extLst xmlns:a="http://schemas.openxmlformats.org/drawingml/2006/main">
              <a:ext uri="{FF2B5EF4-FFF2-40B4-BE49-F238E27FC236}">
                <a16:creationId xmlns:a16="http://schemas.microsoft.com/office/drawing/2014/main" id="{AB12AE70-FD7D-4309-A7D5-03D0AA587CCF}"/>
              </a:ext>
            </a:extLst>
          </p:cNvPr>
          <p:cNvSpPr>
            <a:spLocks xmlns:a="http://schemas.openxmlformats.org/drawingml/2006/main" noGrp="1"/>
          </p:cNvSpPr>
          <p:nvPr/>
        </p:nvSpPr>
        <p:spPr>
          <a:xfrm xmlns:a="http://schemas.openxmlformats.org/drawingml/2006/main">
            <a:off x="7658100" y="148590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7E5F3"/>
                </a:solidFill>
                <a:latin typeface="Aptos"/>
                <a:ea typeface="Aptos"/>
                <a:cs typeface="Aptos"/>
              </a:defRPr>
            </a:pPr>
            <a:r>
              <a:rPr sz="750" b="1">
                <a:solidFill>
                  <a:srgbClr val="D7E5F3"/>
                </a:solidFill>
                <a:latin typeface="Aptos"/>
                <a:ea typeface="Aptos"/>
                <a:cs typeface="Aptos"/>
              </a:rPr>
              <a:t>Cette section doit prouver</a:t>
            </a:r>
          </a:p>
        </p:txBody>
      </p:sp>
      <p:sp>
        <p:nvSpPr>
          <p:cNvPr id="9" name="">
            <a:extLst xmlns:a="http://schemas.openxmlformats.org/drawingml/2006/main">
              <a:ext uri="{FF2B5EF4-FFF2-40B4-BE49-F238E27FC236}">
                <a16:creationId xmlns:a16="http://schemas.microsoft.com/office/drawing/2014/main" id="{940A58B4-3FE9-4303-B844-1903863A265A}"/>
              </a:ext>
            </a:extLst>
          </p:cNvPr>
          <p:cNvSpPr>
            <a:spLocks xmlns:a="http://schemas.openxmlformats.org/drawingml/2006/main" noGrp="1"/>
          </p:cNvSpPr>
          <p:nvPr/>
        </p:nvSpPr>
        <p:spPr>
          <a:xfrm xmlns:a="http://schemas.openxmlformats.org/drawingml/2006/main">
            <a:off x="7658100" y="1733550"/>
            <a:ext cx="32575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Nous ne venons pas avec un catalogue. Nous partons des flux qui coûtent déjà du temps, de la rigueur et de la qualité de service.</a:t>
            </a:r>
          </a:p>
        </p:txBody>
      </p:sp>
      <p:sp>
        <p:nvSpPr>
          <p:cNvPr id="10" name="">
            <a:extLst xmlns:a="http://schemas.openxmlformats.org/drawingml/2006/main">
              <a:ext uri="{FF2B5EF4-FFF2-40B4-BE49-F238E27FC236}">
                <a16:creationId xmlns:a16="http://schemas.microsoft.com/office/drawing/2014/main" id="{875F4EDD-D985-4499-91FE-391797BB7E7C}"/>
              </a:ext>
            </a:extLst>
          </p:cNvPr>
          <p:cNvSpPr>
            <a:spLocks xmlns:a="http://schemas.openxmlformats.org/drawingml/2006/main" noGrp="1"/>
          </p:cNvSpPr>
          <p:nvPr/>
        </p:nvSpPr>
        <p:spPr>
          <a:xfrm xmlns:a="http://schemas.openxmlformats.org/drawingml/2006/main">
            <a:off x="7410450" y="3200400"/>
            <a:ext cx="3752850" cy="1695450"/>
          </a:xfrm>
          <a:prstGeom xmlns:a="http://schemas.openxmlformats.org/drawingml/2006/main" prst="rect">
            <a:avLst/>
          </a:prstGeom>
          <a:solidFill xmlns:a="http://schemas.openxmlformats.org/drawingml/2006/main">
            <a:srgbClr val="10263F"/>
          </a:solidFill>
          <a:ln xmlns:a="http://schemas.openxmlformats.org/drawingml/2006/main" w="9525">
            <a:solidFill>
              <a:srgbClr val="2F587F"/>
            </a:solidFill>
            <a:prstDash val="solid"/>
          </a:ln>
        </p:spPr>
      </p:sp>
      <p:sp>
        <p:nvSpPr>
          <p:cNvPr id="11" name="">
            <a:extLst xmlns:a="http://schemas.openxmlformats.org/drawingml/2006/main">
              <a:ext uri="{FF2B5EF4-FFF2-40B4-BE49-F238E27FC236}">
                <a16:creationId xmlns:a16="http://schemas.microsoft.com/office/drawing/2014/main" id="{1DBA0431-8034-4520-A77D-14C7D79735CD}"/>
              </a:ext>
            </a:extLst>
          </p:cNvPr>
          <p:cNvSpPr>
            <a:spLocks xmlns:a="http://schemas.openxmlformats.org/drawingml/2006/main" noGrp="1"/>
          </p:cNvSpPr>
          <p:nvPr/>
        </p:nvSpPr>
        <p:spPr>
          <a:xfrm xmlns:a="http://schemas.openxmlformats.org/drawingml/2006/main">
            <a:off x="7658100" y="34290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Promesse de lecture</a:t>
            </a:r>
          </a:p>
        </p:txBody>
      </p:sp>
      <p:sp>
        <p:nvSpPr>
          <p:cNvPr id="12" name="">
            <a:extLst xmlns:a="http://schemas.openxmlformats.org/drawingml/2006/main">
              <a:ext uri="{FF2B5EF4-FFF2-40B4-BE49-F238E27FC236}">
                <a16:creationId xmlns:a16="http://schemas.microsoft.com/office/drawing/2014/main" id="{379AE1A2-37A3-4EC4-A792-9A04E073A7E4}"/>
              </a:ext>
            </a:extLst>
          </p:cNvPr>
          <p:cNvSpPr>
            <a:spLocks xmlns:a="http://schemas.openxmlformats.org/drawingml/2006/main" noGrp="1"/>
          </p:cNvSpPr>
          <p:nvPr/>
        </p:nvSpPr>
        <p:spPr>
          <a:xfrm xmlns:a="http://schemas.openxmlformats.org/drawingml/2006/main">
            <a:off x="7658100" y="3714750"/>
            <a:ext cx="31051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Comprendre avant de recommander.</a:t>
            </a:r>
          </a:p>
        </p:txBody>
      </p:sp>
      <p:sp>
        <p:nvSpPr>
          <p:cNvPr id="13" name="">
            <a:extLst xmlns:a="http://schemas.openxmlformats.org/drawingml/2006/main">
              <a:ext uri="{FF2B5EF4-FFF2-40B4-BE49-F238E27FC236}">
                <a16:creationId xmlns:a16="http://schemas.microsoft.com/office/drawing/2014/main" id="{C085CC78-DAE2-44D7-AA9F-CDCA789D3246}"/>
              </a:ext>
            </a:extLst>
          </p:cNvPr>
          <p:cNvSpPr>
            <a:spLocks xmlns:a="http://schemas.openxmlformats.org/drawingml/2006/main" noGrp="1"/>
          </p:cNvSpPr>
          <p:nvPr/>
        </p:nvSpPr>
        <p:spPr>
          <a:xfrm xmlns:a="http://schemas.openxmlformats.org/drawingml/2006/main">
            <a:off x="7658100" y="4305300"/>
            <a:ext cx="3200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7E5F3"/>
                </a:solidFill>
                <a:latin typeface="Aptos"/>
                <a:ea typeface="Aptos"/>
                <a:cs typeface="Aptos"/>
              </a:defRPr>
            </a:pPr>
            <a:r>
              <a:rPr sz="900" b="0">
                <a:solidFill>
                  <a:srgbClr val="D7E5F3"/>
                </a:solidFill>
                <a:latin typeface="Aptos"/>
                <a:ea typeface="Aptos"/>
                <a:cs typeface="Aptos"/>
              </a:rPr>
              <a:t>La crédibilité commerciale se joue ici : ancrage local, preuve d'exécution et lecture métier nette.</a:t>
            </a:r>
          </a:p>
        </p:txBody>
      </p:sp>
      <p:sp>
        <p:nvSpPr>
          <p:cNvPr id="14" name="">
            <a:extLst xmlns:a="http://schemas.openxmlformats.org/drawingml/2006/main">
              <a:ext uri="{FF2B5EF4-FFF2-40B4-BE49-F238E27FC236}">
                <a16:creationId xmlns:a16="http://schemas.microsoft.com/office/drawing/2014/main" id="{B84BF4A7-5421-43E5-97BC-7DD70B509F08}"/>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E83C1AFB-0898-42E7-A7FD-A740AB7426AD}"/>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Aperçu deck automatisé depuis Assemble Prospect Context</a:t>
            </a:r>
          </a:p>
        </p:txBody>
      </p:sp>
      <p:sp>
        <p:nvSpPr>
          <p:cNvPr id="16" name="">
            <a:extLst xmlns:a="http://schemas.openxmlformats.org/drawingml/2006/main">
              <a:ext uri="{FF2B5EF4-FFF2-40B4-BE49-F238E27FC236}">
                <a16:creationId xmlns:a16="http://schemas.microsoft.com/office/drawing/2014/main" id="{821D9705-BD65-47A9-844B-945DF17AB73A}"/>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03</a:t>
            </a:r>
          </a:p>
        </p:txBody>
      </p:sp>
    </p:spTree>
    <p:extLst>
      <p:ext uri="{BB962C8B-B14F-4D97-AF65-F5344CB8AC3E}">
        <p14:creationId xmlns:p14="http://schemas.microsoft.com/office/powerpoint/2010/main" val="6741939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ACCE034-02F6-4062-A9CB-7D4A20FFB13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7D01926-C02D-4178-8023-A52838BA01BA}"/>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QUI SOMMES-NOUS</a:t>
            </a:r>
          </a:p>
        </p:txBody>
      </p:sp>
      <p:sp>
        <p:nvSpPr>
          <p:cNvPr id="3" name="">
            <a:extLst xmlns:a="http://schemas.openxmlformats.org/drawingml/2006/main">
              <a:ext uri="{FF2B5EF4-FFF2-40B4-BE49-F238E27FC236}">
                <a16:creationId xmlns:a16="http://schemas.microsoft.com/office/drawing/2014/main" id="{E8543F7B-6AEB-4012-9868-E7D7C800C1D8}"/>
              </a:ext>
            </a:extLst>
          </p:cNvPr>
          <p:cNvSpPr>
            <a:spLocks xmlns:a="http://schemas.openxmlformats.org/drawingml/2006/main" noGrp="1"/>
          </p:cNvSpPr>
          <p:nvPr/>
        </p:nvSpPr>
        <p:spPr>
          <a:xfrm xmlns:a="http://schemas.openxmlformats.org/drawingml/2006/main">
            <a:off x="685800" y="819150"/>
            <a:ext cx="8191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TransferAI, le hub IA de Nettelecom CI</a:t>
            </a:r>
          </a:p>
        </p:txBody>
      </p:sp>
      <p:sp>
        <p:nvSpPr>
          <p:cNvPr id="4" name="">
            <a:extLst xmlns:a="http://schemas.openxmlformats.org/drawingml/2006/main">
              <a:ext uri="{FF2B5EF4-FFF2-40B4-BE49-F238E27FC236}">
                <a16:creationId xmlns:a16="http://schemas.microsoft.com/office/drawing/2014/main" id="{D0A753D6-A741-40A6-A66A-6B5F5F67E25B}"/>
              </a:ext>
            </a:extLst>
          </p:cNvPr>
          <p:cNvSpPr>
            <a:spLocks xmlns:a="http://schemas.openxmlformats.org/drawingml/2006/main" noGrp="1"/>
          </p:cNvSpPr>
          <p:nvPr/>
        </p:nvSpPr>
        <p:spPr>
          <a:xfrm xmlns:a="http://schemas.openxmlformats.org/drawingml/2006/main">
            <a:off x="685800" y="1676400"/>
            <a:ext cx="923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La proposition gagne en crédibilité si nous expliquons clairement qui porte l'offre, avec quelle profondeur d'expertise et dans quel cadre d'exécution.</a:t>
            </a:r>
          </a:p>
        </p:txBody>
      </p:sp>
      <p:sp>
        <p:nvSpPr>
          <p:cNvPr id="5" name="">
            <a:extLst xmlns:a="http://schemas.openxmlformats.org/drawingml/2006/main">
              <a:ext uri="{FF2B5EF4-FFF2-40B4-BE49-F238E27FC236}">
                <a16:creationId xmlns:a16="http://schemas.microsoft.com/office/drawing/2014/main" id="{AD30CDD0-E1D7-4EDE-BAEE-1DAB2AE265DF}"/>
              </a:ext>
            </a:extLst>
          </p:cNvPr>
          <p:cNvSpPr>
            <a:spLocks xmlns:a="http://schemas.openxmlformats.org/drawingml/2006/main" noGrp="1"/>
          </p:cNvSpPr>
          <p:nvPr/>
        </p:nvSpPr>
        <p:spPr>
          <a:xfrm xmlns:a="http://schemas.openxmlformats.org/drawingml/2006/main">
            <a:off x="685800" y="2171700"/>
            <a:ext cx="4114800" cy="32385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6" name="">
            <a:extLst xmlns:a="http://schemas.openxmlformats.org/drawingml/2006/main">
              <a:ext uri="{FF2B5EF4-FFF2-40B4-BE49-F238E27FC236}">
                <a16:creationId xmlns:a16="http://schemas.microsoft.com/office/drawing/2014/main" id="{C1636ADF-4FDB-4C58-BE21-4BA6B9B068A6}"/>
              </a:ext>
            </a:extLst>
          </p:cNvPr>
          <p:cNvSpPr>
            <a:spLocks xmlns:a="http://schemas.openxmlformats.org/drawingml/2006/main" noGrp="1"/>
          </p:cNvSpPr>
          <p:nvPr/>
        </p:nvSpPr>
        <p:spPr>
          <a:xfrm xmlns:a="http://schemas.openxmlformats.org/drawingml/2006/main">
            <a:off x="933450" y="2400300"/>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D7E5F3"/>
                </a:solidFill>
                <a:latin typeface="Aptos"/>
                <a:ea typeface="Aptos"/>
                <a:cs typeface="Aptos"/>
              </a:defRPr>
            </a:pPr>
            <a:r>
              <a:rPr sz="825" b="1">
                <a:solidFill>
                  <a:srgbClr val="D7E5F3"/>
                </a:solidFill>
                <a:latin typeface="Aptos"/>
                <a:ea typeface="Aptos"/>
                <a:cs typeface="Aptos"/>
              </a:rPr>
              <a:t>TransferAI</a:t>
            </a:r>
          </a:p>
        </p:txBody>
      </p:sp>
      <p:sp>
        <p:nvSpPr>
          <p:cNvPr id="7" name="">
            <a:extLst xmlns:a="http://schemas.openxmlformats.org/drawingml/2006/main">
              <a:ext uri="{FF2B5EF4-FFF2-40B4-BE49-F238E27FC236}">
                <a16:creationId xmlns:a16="http://schemas.microsoft.com/office/drawing/2014/main" id="{8E78B303-6D45-4747-9191-9F71C57FB9D1}"/>
              </a:ext>
            </a:extLst>
          </p:cNvPr>
          <p:cNvSpPr>
            <a:spLocks xmlns:a="http://schemas.openxmlformats.org/drawingml/2006/main" noGrp="1"/>
          </p:cNvSpPr>
          <p:nvPr/>
        </p:nvSpPr>
        <p:spPr>
          <a:xfrm xmlns:a="http://schemas.openxmlformats.org/drawingml/2006/main">
            <a:off x="933450" y="2724150"/>
            <a:ext cx="257175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Le hub IA</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opérationnel de</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Nettelecom CI</a:t>
            </a:r>
          </a:p>
        </p:txBody>
      </p:sp>
      <p:sp>
        <p:nvSpPr>
          <p:cNvPr id="8" name="">
            <a:extLst xmlns:a="http://schemas.openxmlformats.org/drawingml/2006/main">
              <a:ext uri="{FF2B5EF4-FFF2-40B4-BE49-F238E27FC236}">
                <a16:creationId xmlns:a16="http://schemas.microsoft.com/office/drawing/2014/main" id="{85334954-547E-46CE-8FA9-13692E8E315B}"/>
              </a:ext>
            </a:extLst>
          </p:cNvPr>
          <p:cNvSpPr>
            <a:spLocks xmlns:a="http://schemas.openxmlformats.org/drawingml/2006/main" noGrp="1"/>
          </p:cNvSpPr>
          <p:nvPr/>
        </p:nvSpPr>
        <p:spPr>
          <a:xfrm xmlns:a="http://schemas.openxmlformats.org/drawingml/2006/main">
            <a:off x="933450" y="3886200"/>
            <a:ext cx="27241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D7E5F3"/>
                </a:solidFill>
                <a:latin typeface="Aptos"/>
                <a:ea typeface="Aptos"/>
                <a:cs typeface="Aptos"/>
              </a:defRPr>
            </a:pPr>
            <a:r>
              <a:rPr sz="1013" b="0">
                <a:solidFill>
                  <a:srgbClr val="D7E5F3"/>
                </a:solidFill>
                <a:latin typeface="Aptos"/>
                <a:ea typeface="Aptos"/>
                <a:cs typeface="Aptos"/>
              </a:rPr>
              <a:t>Nous positionnons TransferAI comme la structure qui relie stratégie, automatisation, data, formation et gouvernance pour transformer l'IA en exécution métier.</a:t>
            </a:r>
          </a:p>
        </p:txBody>
      </p:sp>
      <p:sp>
        <p:nvSpPr>
          <p:cNvPr id="9" name="">
            <a:extLst xmlns:a="http://schemas.openxmlformats.org/drawingml/2006/main">
              <a:ext uri="{FF2B5EF4-FFF2-40B4-BE49-F238E27FC236}">
                <a16:creationId xmlns:a16="http://schemas.microsoft.com/office/drawing/2014/main" id="{FD30F038-EFAC-4528-A7AF-CB35EAE167A7}"/>
              </a:ext>
            </a:extLst>
          </p:cNvPr>
          <p:cNvSpPr>
            <a:spLocks xmlns:a="http://schemas.openxmlformats.org/drawingml/2006/main" noGrp="1"/>
          </p:cNvSpPr>
          <p:nvPr/>
        </p:nvSpPr>
        <p:spPr>
          <a:xfrm xmlns:a="http://schemas.openxmlformats.org/drawingml/2006/main">
            <a:off x="933450" y="4876800"/>
            <a:ext cx="2762250" cy="4000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10" name="">
            <a:extLst xmlns:a="http://schemas.openxmlformats.org/drawingml/2006/main">
              <a:ext uri="{FF2B5EF4-FFF2-40B4-BE49-F238E27FC236}">
                <a16:creationId xmlns:a16="http://schemas.microsoft.com/office/drawing/2014/main" id="{AFCE405C-7C01-4A67-BE08-F5441C462ECB}"/>
              </a:ext>
            </a:extLst>
          </p:cNvPr>
          <p:cNvSpPr>
            <a:spLocks xmlns:a="http://schemas.openxmlformats.org/drawingml/2006/main" noGrp="1"/>
          </p:cNvSpPr>
          <p:nvPr/>
        </p:nvSpPr>
        <p:spPr>
          <a:xfrm xmlns:a="http://schemas.openxmlformats.org/drawingml/2006/main">
            <a:off x="1085850" y="4991100"/>
            <a:ext cx="2457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Pour le prospect : un interlocuteur IA structuré, pas un simple catalogue.</a:t>
            </a:r>
          </a:p>
        </p:txBody>
      </p:sp>
      <p:sp>
        <p:nvSpPr>
          <p:cNvPr id="11" name="">
            <a:extLst xmlns:a="http://schemas.openxmlformats.org/drawingml/2006/main">
              <a:ext uri="{FF2B5EF4-FFF2-40B4-BE49-F238E27FC236}">
                <a16:creationId xmlns:a16="http://schemas.microsoft.com/office/drawing/2014/main" id="{4A38EE03-53A5-4ACE-BC17-91880718C72E}"/>
              </a:ext>
            </a:extLst>
          </p:cNvPr>
          <p:cNvSpPr>
            <a:spLocks xmlns:a="http://schemas.openxmlformats.org/drawingml/2006/main" noGrp="1"/>
          </p:cNvSpPr>
          <p:nvPr/>
        </p:nvSpPr>
        <p:spPr>
          <a:xfrm xmlns:a="http://schemas.openxmlformats.org/drawingml/2006/main">
            <a:off x="5086350" y="2171700"/>
            <a:ext cx="28575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2" name="">
            <a:extLst xmlns:a="http://schemas.openxmlformats.org/drawingml/2006/main">
              <a:ext uri="{FF2B5EF4-FFF2-40B4-BE49-F238E27FC236}">
                <a16:creationId xmlns:a16="http://schemas.microsoft.com/office/drawing/2014/main" id="{A85D8A2C-A294-4DAC-93D4-0D6D28049635}"/>
              </a:ext>
            </a:extLst>
          </p:cNvPr>
          <p:cNvSpPr>
            <a:spLocks xmlns:a="http://schemas.openxmlformats.org/drawingml/2006/main" noGrp="1"/>
          </p:cNvSpPr>
          <p:nvPr/>
        </p:nvSpPr>
        <p:spPr>
          <a:xfrm xmlns:a="http://schemas.openxmlformats.org/drawingml/2006/main">
            <a:off x="5295900" y="238125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d604934531d498b">
            <a:extLst>
              <a:ext uri="{96DAC541-7B7A-43D3-8B79-37D633B846F1}">
                <asvg:svgBlip xmlns:asvg="http://schemas.microsoft.com/office/drawing/2016/SVG/main" r:embed="R114c03be352d4bf7"/>
              </a:ext>
            </a:extLst>
          </a:blip>
          <a:stretch xmlns:a="http://schemas.openxmlformats.org/drawingml/2006/main"/>
        </p:blipFill>
        <p:spPr>
          <a:xfrm xmlns:a="http://schemas.openxmlformats.org/drawingml/2006/main">
            <a:off x="5391150" y="2476500"/>
            <a:ext cx="228600" cy="2286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6E5F8077-15E6-4ED6-A38B-289BFB4E7C3D}"/>
              </a:ext>
            </a:extLst>
          </p:cNvPr>
          <p:cNvSpPr>
            <a:spLocks xmlns:a="http://schemas.openxmlformats.org/drawingml/2006/main" noGrp="1"/>
          </p:cNvSpPr>
          <p:nvPr/>
        </p:nvSpPr>
        <p:spPr>
          <a:xfrm xmlns:a="http://schemas.openxmlformats.org/drawingml/2006/main">
            <a:off x="5829300" y="238125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13 experts en IA</a:t>
            </a:r>
          </a:p>
        </p:txBody>
      </p:sp>
      <p:sp>
        <p:nvSpPr>
          <p:cNvPr id="15" name="">
            <a:extLst xmlns:a="http://schemas.openxmlformats.org/drawingml/2006/main">
              <a:ext uri="{FF2B5EF4-FFF2-40B4-BE49-F238E27FC236}">
                <a16:creationId xmlns:a16="http://schemas.microsoft.com/office/drawing/2014/main" id="{F01DE4D2-5120-465E-8982-A91713883BA9}"/>
              </a:ext>
            </a:extLst>
          </p:cNvPr>
          <p:cNvSpPr>
            <a:spLocks xmlns:a="http://schemas.openxmlformats.org/drawingml/2006/main" noGrp="1"/>
          </p:cNvSpPr>
          <p:nvPr/>
        </p:nvSpPr>
        <p:spPr>
          <a:xfrm xmlns:a="http://schemas.openxmlformats.org/drawingml/2006/main">
            <a:off x="5295900" y="2857500"/>
            <a:ext cx="22479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Une équipe de 13 experts en IA, mobilisable sur des enjeux de diagnostic, d'automatisation, de pilotage, de formation et de gouvernance.</a:t>
            </a:r>
          </a:p>
        </p:txBody>
      </p:sp>
      <p:sp>
        <p:nvSpPr>
          <p:cNvPr id="16" name="">
            <a:extLst xmlns:a="http://schemas.openxmlformats.org/drawingml/2006/main">
              <a:ext uri="{FF2B5EF4-FFF2-40B4-BE49-F238E27FC236}">
                <a16:creationId xmlns:a16="http://schemas.microsoft.com/office/drawing/2014/main" id="{F80E46AC-73FA-44DC-B204-7E64109A83B7}"/>
              </a:ext>
            </a:extLst>
          </p:cNvPr>
          <p:cNvSpPr>
            <a:spLocks xmlns:a="http://schemas.openxmlformats.org/drawingml/2006/main" noGrp="1"/>
          </p:cNvSpPr>
          <p:nvPr/>
        </p:nvSpPr>
        <p:spPr>
          <a:xfrm xmlns:a="http://schemas.openxmlformats.org/drawingml/2006/main">
            <a:off x="8153400" y="2171700"/>
            <a:ext cx="33528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7" name="">
            <a:extLst xmlns:a="http://schemas.openxmlformats.org/drawingml/2006/main">
              <a:ext uri="{FF2B5EF4-FFF2-40B4-BE49-F238E27FC236}">
                <a16:creationId xmlns:a16="http://schemas.microsoft.com/office/drawing/2014/main" id="{7B7F5B83-651B-498F-A060-0E55E494EC00}"/>
              </a:ext>
            </a:extLst>
          </p:cNvPr>
          <p:cNvSpPr>
            <a:spLocks xmlns:a="http://schemas.openxmlformats.org/drawingml/2006/main" noGrp="1"/>
          </p:cNvSpPr>
          <p:nvPr/>
        </p:nvSpPr>
        <p:spPr>
          <a:xfrm xmlns:a="http://schemas.openxmlformats.org/drawingml/2006/main">
            <a:off x="8362950" y="238125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026e261eae24aa0">
            <a:extLst>
              <a:ext uri="{96DAC541-7B7A-43D3-8B79-37D633B846F1}">
                <asvg:svgBlip xmlns:asvg="http://schemas.microsoft.com/office/drawing/2016/SVG/main" r:embed="R248e9a73157442c2"/>
              </a:ext>
            </a:extLst>
          </a:blip>
          <a:stretch xmlns:a="http://schemas.openxmlformats.org/drawingml/2006/main"/>
        </p:blipFill>
        <p:spPr>
          <a:xfrm xmlns:a="http://schemas.openxmlformats.org/drawingml/2006/main">
            <a:off x="8458200" y="2476500"/>
            <a:ext cx="228600" cy="2286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66ADF3AB-FC71-43B4-A15B-68E2533CF95B}"/>
              </a:ext>
            </a:extLst>
          </p:cNvPr>
          <p:cNvSpPr>
            <a:spLocks xmlns:a="http://schemas.openxmlformats.org/drawingml/2006/main" noGrp="1"/>
          </p:cNvSpPr>
          <p:nvPr/>
        </p:nvSpPr>
        <p:spPr>
          <a:xfrm xmlns:a="http://schemas.openxmlformats.org/drawingml/2006/main">
            <a:off x="8896350" y="2381250"/>
            <a:ext cx="2190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Différents secteurs couverts</a:t>
            </a:r>
          </a:p>
        </p:txBody>
      </p:sp>
      <p:sp>
        <p:nvSpPr>
          <p:cNvPr id="20" name="">
            <a:extLst xmlns:a="http://schemas.openxmlformats.org/drawingml/2006/main">
              <a:ext uri="{FF2B5EF4-FFF2-40B4-BE49-F238E27FC236}">
                <a16:creationId xmlns:a16="http://schemas.microsoft.com/office/drawing/2014/main" id="{77DD06EB-2B57-4A4A-8269-AD4996006000}"/>
              </a:ext>
            </a:extLst>
          </p:cNvPr>
          <p:cNvSpPr>
            <a:spLocks xmlns:a="http://schemas.openxmlformats.org/drawingml/2006/main" noGrp="1"/>
          </p:cNvSpPr>
          <p:nvPr/>
        </p:nvSpPr>
        <p:spPr>
          <a:xfrm xmlns:a="http://schemas.openxmlformats.org/drawingml/2006/main">
            <a:off x="8362950" y="2857500"/>
            <a:ext cx="27432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TransferAI rassemble des expertises IA appliquées dans différents secteurs d'activité, ce qui permet de relier les usages technologiques aux contraintes métier.</a:t>
            </a:r>
          </a:p>
        </p:txBody>
      </p:sp>
      <p:sp>
        <p:nvSpPr>
          <p:cNvPr id="21" name="">
            <a:extLst xmlns:a="http://schemas.openxmlformats.org/drawingml/2006/main">
              <a:ext uri="{FF2B5EF4-FFF2-40B4-BE49-F238E27FC236}">
                <a16:creationId xmlns:a16="http://schemas.microsoft.com/office/drawing/2014/main" id="{61F74B9F-4122-441A-AAB1-1C003334A8AE}"/>
              </a:ext>
            </a:extLst>
          </p:cNvPr>
          <p:cNvSpPr>
            <a:spLocks xmlns:a="http://schemas.openxmlformats.org/drawingml/2006/main" noGrp="1"/>
          </p:cNvSpPr>
          <p:nvPr/>
        </p:nvSpPr>
        <p:spPr>
          <a:xfrm xmlns:a="http://schemas.openxmlformats.org/drawingml/2006/main">
            <a:off x="5086350" y="3790950"/>
            <a:ext cx="28575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2" name="">
            <a:extLst xmlns:a="http://schemas.openxmlformats.org/drawingml/2006/main">
              <a:ext uri="{FF2B5EF4-FFF2-40B4-BE49-F238E27FC236}">
                <a16:creationId xmlns:a16="http://schemas.microsoft.com/office/drawing/2014/main" id="{E0657FA8-EF57-41DA-9DF2-6B46F76E7E70}"/>
              </a:ext>
            </a:extLst>
          </p:cNvPr>
          <p:cNvSpPr>
            <a:spLocks xmlns:a="http://schemas.openxmlformats.org/drawingml/2006/main" noGrp="1"/>
          </p:cNvSpPr>
          <p:nvPr/>
        </p:nvSpPr>
        <p:spPr>
          <a:xfrm xmlns:a="http://schemas.openxmlformats.org/drawingml/2006/main">
            <a:off x="5295900" y="400050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7b7eb4dc8714524">
            <a:extLst>
              <a:ext uri="{96DAC541-7B7A-43D3-8B79-37D633B846F1}">
                <asvg:svgBlip xmlns:asvg="http://schemas.microsoft.com/office/drawing/2016/SVG/main" r:embed="R9c572de2d93948b3"/>
              </a:ext>
            </a:extLst>
          </a:blip>
          <a:stretch xmlns:a="http://schemas.openxmlformats.org/drawingml/2006/main"/>
        </p:blipFill>
        <p:spPr>
          <a:xfrm xmlns:a="http://schemas.openxmlformats.org/drawingml/2006/main">
            <a:off x="5391150" y="4095750"/>
            <a:ext cx="228600" cy="228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4F0B01F8-54A1-4DA9-B5A1-284A6FDBC345}"/>
              </a:ext>
            </a:extLst>
          </p:cNvPr>
          <p:cNvSpPr>
            <a:spLocks xmlns:a="http://schemas.openxmlformats.org/drawingml/2006/main" noGrp="1"/>
          </p:cNvSpPr>
          <p:nvPr/>
        </p:nvSpPr>
        <p:spPr>
          <a:xfrm xmlns:a="http://schemas.openxmlformats.org/drawingml/2006/main">
            <a:off x="5829300" y="40005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Une logique d'exécution</a:t>
            </a:r>
          </a:p>
        </p:txBody>
      </p:sp>
      <p:sp>
        <p:nvSpPr>
          <p:cNvPr id="25" name="">
            <a:extLst xmlns:a="http://schemas.openxmlformats.org/drawingml/2006/main">
              <a:ext uri="{FF2B5EF4-FFF2-40B4-BE49-F238E27FC236}">
                <a16:creationId xmlns:a16="http://schemas.microsoft.com/office/drawing/2014/main" id="{909919B7-47D7-4CF0-A7AF-9FCCC26FD85D}"/>
              </a:ext>
            </a:extLst>
          </p:cNvPr>
          <p:cNvSpPr>
            <a:spLocks xmlns:a="http://schemas.openxmlformats.org/drawingml/2006/main" noGrp="1"/>
          </p:cNvSpPr>
          <p:nvPr/>
        </p:nvSpPr>
        <p:spPr>
          <a:xfrm xmlns:a="http://schemas.openxmlformats.org/drawingml/2006/main">
            <a:off x="5295900" y="4476750"/>
            <a:ext cx="22479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Notre rôle n'est pas seulement de présenter l'IA. Nous cadrons, priorisons, formons et transformons un besoin flou en pilote métier mesurable.</a:t>
            </a:r>
          </a:p>
        </p:txBody>
      </p:sp>
      <p:sp>
        <p:nvSpPr>
          <p:cNvPr id="26" name="">
            <a:extLst xmlns:a="http://schemas.openxmlformats.org/drawingml/2006/main">
              <a:ext uri="{FF2B5EF4-FFF2-40B4-BE49-F238E27FC236}">
                <a16:creationId xmlns:a16="http://schemas.microsoft.com/office/drawing/2014/main" id="{88B9842C-1DA0-4385-9047-61383FFE9879}"/>
              </a:ext>
            </a:extLst>
          </p:cNvPr>
          <p:cNvSpPr>
            <a:spLocks xmlns:a="http://schemas.openxmlformats.org/drawingml/2006/main" noGrp="1"/>
          </p:cNvSpPr>
          <p:nvPr/>
        </p:nvSpPr>
        <p:spPr>
          <a:xfrm xmlns:a="http://schemas.openxmlformats.org/drawingml/2006/main">
            <a:off x="8153400" y="3790950"/>
            <a:ext cx="33528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7" name="">
            <a:extLst xmlns:a="http://schemas.openxmlformats.org/drawingml/2006/main">
              <a:ext uri="{FF2B5EF4-FFF2-40B4-BE49-F238E27FC236}">
                <a16:creationId xmlns:a16="http://schemas.microsoft.com/office/drawing/2014/main" id="{9087B472-B0C8-40F9-AE07-CC890803B0F3}"/>
              </a:ext>
            </a:extLst>
          </p:cNvPr>
          <p:cNvSpPr>
            <a:spLocks xmlns:a="http://schemas.openxmlformats.org/drawingml/2006/main" noGrp="1"/>
          </p:cNvSpPr>
          <p:nvPr/>
        </p:nvSpPr>
        <p:spPr>
          <a:xfrm xmlns:a="http://schemas.openxmlformats.org/drawingml/2006/main">
            <a:off x="8362950" y="400050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6bc6e561dfd4ee4">
            <a:extLst>
              <a:ext uri="{96DAC541-7B7A-43D3-8B79-37D633B846F1}">
                <asvg:svgBlip xmlns:asvg="http://schemas.microsoft.com/office/drawing/2016/SVG/main" r:embed="Rc0c10013bb9740e4"/>
              </a:ext>
            </a:extLst>
          </a:blip>
          <a:stretch xmlns:a="http://schemas.openxmlformats.org/drawingml/2006/main"/>
        </p:blipFill>
        <p:spPr>
          <a:xfrm xmlns:a="http://schemas.openxmlformats.org/drawingml/2006/main">
            <a:off x="8458200" y="4095750"/>
            <a:ext cx="228600" cy="2286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91476A0C-9AAE-4D1E-B5A8-ACEB83BF7670}"/>
              </a:ext>
            </a:extLst>
          </p:cNvPr>
          <p:cNvSpPr>
            <a:spLocks xmlns:a="http://schemas.openxmlformats.org/drawingml/2006/main" noGrp="1"/>
          </p:cNvSpPr>
          <p:nvPr/>
        </p:nvSpPr>
        <p:spPr>
          <a:xfrm xmlns:a="http://schemas.openxmlformats.org/drawingml/2006/main">
            <a:off x="8896350" y="4000500"/>
            <a:ext cx="2286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Un cadre compatible entreprise</a:t>
            </a:r>
          </a:p>
        </p:txBody>
      </p:sp>
      <p:sp>
        <p:nvSpPr>
          <p:cNvPr id="30" name="">
            <a:extLst xmlns:a="http://schemas.openxmlformats.org/drawingml/2006/main">
              <a:ext uri="{FF2B5EF4-FFF2-40B4-BE49-F238E27FC236}">
                <a16:creationId xmlns:a16="http://schemas.microsoft.com/office/drawing/2014/main" id="{D30E64CD-57C3-457B-9949-487DD4007494}"/>
              </a:ext>
            </a:extLst>
          </p:cNvPr>
          <p:cNvSpPr>
            <a:spLocks xmlns:a="http://schemas.openxmlformats.org/drawingml/2006/main" noGrp="1"/>
          </p:cNvSpPr>
          <p:nvPr/>
        </p:nvSpPr>
        <p:spPr>
          <a:xfrm xmlns:a="http://schemas.openxmlformats.org/drawingml/2006/main">
            <a:off x="8362950" y="4476750"/>
            <a:ext cx="27432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Adossé à Nettelecom CI, TransferAI porte une approche sérieuse de la confidentialité, de la gouvernance des usages et de la supervision des pilotes.</a:t>
            </a:r>
          </a:p>
        </p:txBody>
      </p:sp>
      <p:sp>
        <p:nvSpPr>
          <p:cNvPr id="31" name="">
            <a:extLst xmlns:a="http://schemas.openxmlformats.org/drawingml/2006/main">
              <a:ext uri="{FF2B5EF4-FFF2-40B4-BE49-F238E27FC236}">
                <a16:creationId xmlns:a16="http://schemas.microsoft.com/office/drawing/2014/main" id="{9A0E10B3-6298-41FA-8706-8BEB4FC5642E}"/>
              </a:ext>
            </a:extLst>
          </p:cNvPr>
          <p:cNvSpPr>
            <a:spLocks xmlns:a="http://schemas.openxmlformats.org/drawingml/2006/main" noGrp="1"/>
          </p:cNvSpPr>
          <p:nvPr/>
        </p:nvSpPr>
        <p:spPr>
          <a:xfrm xmlns:a="http://schemas.openxmlformats.org/drawingml/2006/main">
            <a:off x="685800" y="5638800"/>
            <a:ext cx="10820400" cy="4762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2" name="">
            <a:extLst xmlns:a="http://schemas.openxmlformats.org/drawingml/2006/main">
              <a:ext uri="{FF2B5EF4-FFF2-40B4-BE49-F238E27FC236}">
                <a16:creationId xmlns:a16="http://schemas.microsoft.com/office/drawing/2014/main" id="{78F843C7-683F-47E6-B9CC-5A25DCA3B31A}"/>
              </a:ext>
            </a:extLst>
          </p:cNvPr>
          <p:cNvSpPr>
            <a:spLocks xmlns:a="http://schemas.openxmlformats.org/drawingml/2006/main" noGrp="1"/>
          </p:cNvSpPr>
          <p:nvPr/>
        </p:nvSpPr>
        <p:spPr>
          <a:xfrm xmlns:a="http://schemas.openxmlformats.org/drawingml/2006/main">
            <a:off x="895350" y="581025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Pourquoi l'ajouter tôt dans le deck</a:t>
            </a:r>
          </a:p>
        </p:txBody>
      </p:sp>
      <p:sp>
        <p:nvSpPr>
          <p:cNvPr id="33" name="">
            <a:extLst xmlns:a="http://schemas.openxmlformats.org/drawingml/2006/main">
              <a:ext uri="{FF2B5EF4-FFF2-40B4-BE49-F238E27FC236}">
                <a16:creationId xmlns:a16="http://schemas.microsoft.com/office/drawing/2014/main" id="{7753748F-9164-43E2-B735-D605C70C1F18}"/>
              </a:ext>
            </a:extLst>
          </p:cNvPr>
          <p:cNvSpPr>
            <a:spLocks xmlns:a="http://schemas.openxmlformats.org/drawingml/2006/main" noGrp="1"/>
          </p:cNvSpPr>
          <p:nvPr/>
        </p:nvSpPr>
        <p:spPr>
          <a:xfrm xmlns:a="http://schemas.openxmlformats.org/drawingml/2006/main">
            <a:off x="2952750" y="5772150"/>
            <a:ext cx="819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Avant de parler ROI et cas d'usage, le prospect doit voir que TransferAI est une entité crédible, portée par Nettelecom CI et soutenue par 13 experts IA.</a:t>
            </a:r>
          </a:p>
        </p:txBody>
      </p:sp>
      <p:sp>
        <p:nvSpPr>
          <p:cNvPr id="34" name="">
            <a:extLst xmlns:a="http://schemas.openxmlformats.org/drawingml/2006/main">
              <a:ext uri="{FF2B5EF4-FFF2-40B4-BE49-F238E27FC236}">
                <a16:creationId xmlns:a16="http://schemas.microsoft.com/office/drawing/2014/main" id="{B3175380-2B5B-4A1A-832A-597DCBD13A9B}"/>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44422334-6424-49F0-935B-FAF2635C0C6A}"/>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Aperçu deck automatisé depuis Assemble Prospect Context</a:t>
            </a:r>
          </a:p>
        </p:txBody>
      </p:sp>
      <p:sp>
        <p:nvSpPr>
          <p:cNvPr id="36" name="">
            <a:extLst xmlns:a="http://schemas.openxmlformats.org/drawingml/2006/main">
              <a:ext uri="{FF2B5EF4-FFF2-40B4-BE49-F238E27FC236}">
                <a16:creationId xmlns:a16="http://schemas.microsoft.com/office/drawing/2014/main" id="{1D50CCC2-FFE6-4656-83AB-4BE5268E85E7}"/>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04</a:t>
            </a:r>
          </a:p>
        </p:txBody>
      </p:sp>
    </p:spTree>
    <p:extLst>
      <p:ext uri="{BB962C8B-B14F-4D97-AF65-F5344CB8AC3E}">
        <p14:creationId xmlns:p14="http://schemas.microsoft.com/office/powerpoint/2010/main" val="144936816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19A556-25DE-4367-8654-632571C3B7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E8DAC09-6EB1-47B2-8E95-B342B572C3D0}"/>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CONTEXTE PROSPECT</a:t>
            </a:r>
          </a:p>
        </p:txBody>
      </p:sp>
      <p:sp>
        <p:nvSpPr>
          <p:cNvPr id="3" name="">
            <a:extLst xmlns:a="http://schemas.openxmlformats.org/drawingml/2006/main">
              <a:ext uri="{FF2B5EF4-FFF2-40B4-BE49-F238E27FC236}">
                <a16:creationId xmlns:a16="http://schemas.microsoft.com/office/drawing/2014/main" id="{5E2F6A92-2209-4EDE-9916-4AF81DBCA4F0}"/>
              </a:ext>
            </a:extLst>
          </p:cNvPr>
          <p:cNvSpPr>
            <a:spLocks xmlns:a="http://schemas.openxmlformats.org/drawingml/2006/main" noGrp="1"/>
          </p:cNvSpPr>
          <p:nvPr/>
        </p:nvSpPr>
        <p:spPr>
          <a:xfrm xmlns:a="http://schemas.openxmlformats.org/drawingml/2006/main">
            <a:off x="685800" y="819150"/>
            <a:ext cx="9334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Pourquoi cette proposition est adaptée au contexte de Orange Côte d'Ivoire</a:t>
            </a:r>
          </a:p>
        </p:txBody>
      </p:sp>
      <p:sp>
        <p:nvSpPr>
          <p:cNvPr id="4" name="">
            <a:extLst xmlns:a="http://schemas.openxmlformats.org/drawingml/2006/main">
              <a:ext uri="{FF2B5EF4-FFF2-40B4-BE49-F238E27FC236}">
                <a16:creationId xmlns:a16="http://schemas.microsoft.com/office/drawing/2014/main" id="{071823F6-B518-48E3-9159-B3DE7EB9C338}"/>
              </a:ext>
            </a:extLst>
          </p:cNvPr>
          <p:cNvSpPr>
            <a:spLocks xmlns:a="http://schemas.openxmlformats.org/drawingml/2006/main" noGrp="1"/>
          </p:cNvSpPr>
          <p:nvPr/>
        </p:nvSpPr>
        <p:spPr>
          <a:xfrm xmlns:a="http://schemas.openxmlformats.org/drawingml/2006/main">
            <a:off x="685800" y="1676400"/>
            <a:ext cx="9048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L'objectif n'est pas d'ajouter un outil de plus. Il s'agit de mieux piloter, mieux coordonner et mieux diffuser l'information utile dans des flux télécommunications qui coûtent déjà du temps, de la discipline et de la qualité de service.</a:t>
            </a:r>
          </a:p>
        </p:txBody>
      </p:sp>
      <p:sp>
        <p:nvSpPr>
          <p:cNvPr id="5" name="">
            <a:extLst xmlns:a="http://schemas.openxmlformats.org/drawingml/2006/main">
              <a:ext uri="{FF2B5EF4-FFF2-40B4-BE49-F238E27FC236}">
                <a16:creationId xmlns:a16="http://schemas.microsoft.com/office/drawing/2014/main" id="{6833539F-D312-4A8A-9B2D-FAB0BCD180EA}"/>
              </a:ext>
            </a:extLst>
          </p:cNvPr>
          <p:cNvSpPr>
            <a:spLocks xmlns:a="http://schemas.openxmlformats.org/drawingml/2006/main" noGrp="1"/>
          </p:cNvSpPr>
          <p:nvPr/>
        </p:nvSpPr>
        <p:spPr>
          <a:xfrm xmlns:a="http://schemas.openxmlformats.org/drawingml/2006/main">
            <a:off x="68580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8870C9BF-D653-4571-A8DA-80AA2022E952}"/>
              </a:ext>
            </a:extLst>
          </p:cNvPr>
          <p:cNvSpPr>
            <a:spLocks xmlns:a="http://schemas.openxmlformats.org/drawingml/2006/main" noGrp="1"/>
          </p:cNvSpPr>
          <p:nvPr/>
        </p:nvSpPr>
        <p:spPr>
          <a:xfrm xmlns:a="http://schemas.openxmlformats.org/drawingml/2006/main">
            <a:off x="857250" y="253365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88b698ad4ba4dea">
            <a:extLst>
              <a:ext uri="{96DAC541-7B7A-43D3-8B79-37D633B846F1}">
                <asvg:svgBlip xmlns:asvg="http://schemas.microsoft.com/office/drawing/2016/SVG/main" r:embed="R84d405251cc74e3b"/>
              </a:ext>
            </a:extLst>
          </a:blip>
          <a:stretch xmlns:a="http://schemas.openxmlformats.org/drawingml/2006/main"/>
        </p:blipFill>
        <p:spPr>
          <a:xfrm xmlns:a="http://schemas.openxmlformats.org/drawingml/2006/main">
            <a:off x="952500" y="262890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7388FFA-FF6D-4722-8034-BB51444B0EED}"/>
              </a:ext>
            </a:extLst>
          </p:cNvPr>
          <p:cNvSpPr>
            <a:spLocks xmlns:a="http://schemas.openxmlformats.org/drawingml/2006/main" noGrp="1"/>
          </p:cNvSpPr>
          <p:nvPr/>
        </p:nvSpPr>
        <p:spPr>
          <a:xfrm xmlns:a="http://schemas.openxmlformats.org/drawingml/2006/main">
            <a:off x="140970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Copilote service client multicanal</a:t>
            </a:r>
          </a:p>
        </p:txBody>
      </p:sp>
      <p:sp>
        <p:nvSpPr>
          <p:cNvPr id="9" name="">
            <a:extLst xmlns:a="http://schemas.openxmlformats.org/drawingml/2006/main">
              <a:ext uri="{FF2B5EF4-FFF2-40B4-BE49-F238E27FC236}">
                <a16:creationId xmlns:a16="http://schemas.microsoft.com/office/drawing/2014/main" id="{65BAADFE-3779-425E-A0C0-86A7D6022007}"/>
              </a:ext>
            </a:extLst>
          </p:cNvPr>
          <p:cNvSpPr>
            <a:spLocks xmlns:a="http://schemas.openxmlformats.org/drawingml/2006/main" noGrp="1"/>
          </p:cNvSpPr>
          <p:nvPr/>
        </p:nvSpPr>
        <p:spPr>
          <a:xfrm xmlns:a="http://schemas.openxmlformats.org/drawingml/2006/main">
            <a:off x="89535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59A8188E-A045-41E1-AC06-8D8A5C1C06FC}"/>
              </a:ext>
            </a:extLst>
          </p:cNvPr>
          <p:cNvSpPr>
            <a:spLocks xmlns:a="http://schemas.openxmlformats.org/drawingml/2006/main" noGrp="1"/>
          </p:cNvSpPr>
          <p:nvPr/>
        </p:nvSpPr>
        <p:spPr>
          <a:xfrm xmlns:a="http://schemas.openxmlformats.org/drawingml/2006/main">
            <a:off x="895350" y="3162300"/>
            <a:ext cx="2152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Demandes récurrentes réparties entre plusieurs canaux avec réponses hétérogènes.</a:t>
            </a:r>
          </a:p>
        </p:txBody>
      </p:sp>
      <p:sp>
        <p:nvSpPr>
          <p:cNvPr id="11" name="">
            <a:extLst xmlns:a="http://schemas.openxmlformats.org/drawingml/2006/main">
              <a:ext uri="{FF2B5EF4-FFF2-40B4-BE49-F238E27FC236}">
                <a16:creationId xmlns:a16="http://schemas.microsoft.com/office/drawing/2014/main" id="{804A7810-8AAC-433F-8709-49789A665D81}"/>
              </a:ext>
            </a:extLst>
          </p:cNvPr>
          <p:cNvSpPr>
            <a:spLocks xmlns:a="http://schemas.openxmlformats.org/drawingml/2006/main" noGrp="1"/>
          </p:cNvSpPr>
          <p:nvPr/>
        </p:nvSpPr>
        <p:spPr>
          <a:xfrm xmlns:a="http://schemas.openxmlformats.org/drawingml/2006/main">
            <a:off x="89535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12" name="">
            <a:extLst xmlns:a="http://schemas.openxmlformats.org/drawingml/2006/main">
              <a:ext uri="{FF2B5EF4-FFF2-40B4-BE49-F238E27FC236}">
                <a16:creationId xmlns:a16="http://schemas.microsoft.com/office/drawing/2014/main" id="{4D2D1FBA-1DFC-44F5-9563-BB8DB426CA39}"/>
              </a:ext>
            </a:extLst>
          </p:cNvPr>
          <p:cNvSpPr>
            <a:spLocks xmlns:a="http://schemas.openxmlformats.org/drawingml/2006/main" noGrp="1"/>
          </p:cNvSpPr>
          <p:nvPr/>
        </p:nvSpPr>
        <p:spPr>
          <a:xfrm xmlns:a="http://schemas.openxmlformats.org/drawingml/2006/main">
            <a:off x="895350" y="3771900"/>
            <a:ext cx="2152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Copilote de réponse, résumés d'interactions et meilleure continuité de traitement.</a:t>
            </a:r>
          </a:p>
        </p:txBody>
      </p:sp>
      <p:sp>
        <p:nvSpPr>
          <p:cNvPr id="13" name="">
            <a:extLst xmlns:a="http://schemas.openxmlformats.org/drawingml/2006/main">
              <a:ext uri="{FF2B5EF4-FFF2-40B4-BE49-F238E27FC236}">
                <a16:creationId xmlns:a16="http://schemas.microsoft.com/office/drawing/2014/main" id="{EC423969-05EE-4E41-A3DE-5829499EC20A}"/>
              </a:ext>
            </a:extLst>
          </p:cNvPr>
          <p:cNvSpPr>
            <a:spLocks xmlns:a="http://schemas.openxmlformats.org/drawingml/2006/main" noGrp="1"/>
          </p:cNvSpPr>
          <p:nvPr/>
        </p:nvSpPr>
        <p:spPr>
          <a:xfrm xmlns:a="http://schemas.openxmlformats.org/drawingml/2006/main">
            <a:off x="344805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7E6CD807-CB47-4311-ABA6-B01CD3538846}"/>
              </a:ext>
            </a:extLst>
          </p:cNvPr>
          <p:cNvSpPr>
            <a:spLocks xmlns:a="http://schemas.openxmlformats.org/drawingml/2006/main" noGrp="1"/>
          </p:cNvSpPr>
          <p:nvPr/>
        </p:nvSpPr>
        <p:spPr>
          <a:xfrm xmlns:a="http://schemas.openxmlformats.org/drawingml/2006/main">
            <a:off x="3619500" y="253365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da01be2139e45d2">
            <a:extLst>
              <a:ext uri="{96DAC541-7B7A-43D3-8B79-37D633B846F1}">
                <asvg:svgBlip xmlns:asvg="http://schemas.microsoft.com/office/drawing/2016/SVG/main" r:embed="Rfcc6596bb384403e"/>
              </a:ext>
            </a:extLst>
          </a:blip>
          <a:stretch xmlns:a="http://schemas.openxmlformats.org/drawingml/2006/main"/>
        </p:blipFill>
        <p:spPr>
          <a:xfrm xmlns:a="http://schemas.openxmlformats.org/drawingml/2006/main">
            <a:off x="3714750" y="262890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1E5615F6-5667-4A76-A903-3FA18BF66677}"/>
              </a:ext>
            </a:extLst>
          </p:cNvPr>
          <p:cNvSpPr>
            <a:spLocks xmlns:a="http://schemas.openxmlformats.org/drawingml/2006/main" noGrp="1"/>
          </p:cNvSpPr>
          <p:nvPr/>
        </p:nvSpPr>
        <p:spPr>
          <a:xfrm xmlns:a="http://schemas.openxmlformats.org/drawingml/2006/main">
            <a:off x="417195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Synthèse tickets et incidents</a:t>
            </a:r>
          </a:p>
        </p:txBody>
      </p:sp>
      <p:sp>
        <p:nvSpPr>
          <p:cNvPr id="17" name="">
            <a:extLst xmlns:a="http://schemas.openxmlformats.org/drawingml/2006/main">
              <a:ext uri="{FF2B5EF4-FFF2-40B4-BE49-F238E27FC236}">
                <a16:creationId xmlns:a16="http://schemas.microsoft.com/office/drawing/2014/main" id="{DF79B9A2-583E-4BF0-BFE3-B373BABD9C0D}"/>
              </a:ext>
            </a:extLst>
          </p:cNvPr>
          <p:cNvSpPr>
            <a:spLocks xmlns:a="http://schemas.openxmlformats.org/drawingml/2006/main" noGrp="1"/>
          </p:cNvSpPr>
          <p:nvPr/>
        </p:nvSpPr>
        <p:spPr>
          <a:xfrm xmlns:a="http://schemas.openxmlformats.org/drawingml/2006/main">
            <a:off x="365760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8" name="">
            <a:extLst xmlns:a="http://schemas.openxmlformats.org/drawingml/2006/main">
              <a:ext uri="{FF2B5EF4-FFF2-40B4-BE49-F238E27FC236}">
                <a16:creationId xmlns:a16="http://schemas.microsoft.com/office/drawing/2014/main" id="{AB5717B7-726D-4B4D-B7FD-E8015BA603A5}"/>
              </a:ext>
            </a:extLst>
          </p:cNvPr>
          <p:cNvSpPr>
            <a:spLocks xmlns:a="http://schemas.openxmlformats.org/drawingml/2006/main" noGrp="1"/>
          </p:cNvSpPr>
          <p:nvPr/>
        </p:nvSpPr>
        <p:spPr>
          <a:xfrm xmlns:a="http://schemas.openxmlformats.org/drawingml/2006/main">
            <a:off x="3657600" y="3162300"/>
            <a:ext cx="2152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Analyse manuelle des tickets et reporting lent pour les managers.</a:t>
            </a:r>
          </a:p>
        </p:txBody>
      </p:sp>
      <p:sp>
        <p:nvSpPr>
          <p:cNvPr id="19" name="">
            <a:extLst xmlns:a="http://schemas.openxmlformats.org/drawingml/2006/main">
              <a:ext uri="{FF2B5EF4-FFF2-40B4-BE49-F238E27FC236}">
                <a16:creationId xmlns:a16="http://schemas.microsoft.com/office/drawing/2014/main" id="{188BBC9B-DBF3-4F78-A542-71FD0F897E72}"/>
              </a:ext>
            </a:extLst>
          </p:cNvPr>
          <p:cNvSpPr>
            <a:spLocks xmlns:a="http://schemas.openxmlformats.org/drawingml/2006/main" noGrp="1"/>
          </p:cNvSpPr>
          <p:nvPr/>
        </p:nvSpPr>
        <p:spPr>
          <a:xfrm xmlns:a="http://schemas.openxmlformats.org/drawingml/2006/main">
            <a:off x="365760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0" name="">
            <a:extLst xmlns:a="http://schemas.openxmlformats.org/drawingml/2006/main">
              <a:ext uri="{FF2B5EF4-FFF2-40B4-BE49-F238E27FC236}">
                <a16:creationId xmlns:a16="http://schemas.microsoft.com/office/drawing/2014/main" id="{CB7CCB47-FBA1-4F03-8402-427025C95628}"/>
              </a:ext>
            </a:extLst>
          </p:cNvPr>
          <p:cNvSpPr>
            <a:spLocks xmlns:a="http://schemas.openxmlformats.org/drawingml/2006/main" noGrp="1"/>
          </p:cNvSpPr>
          <p:nvPr/>
        </p:nvSpPr>
        <p:spPr>
          <a:xfrm xmlns:a="http://schemas.openxmlformats.org/drawingml/2006/main">
            <a:off x="3657600" y="3771900"/>
            <a:ext cx="2152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Synthèses automatiques, regroupement des motifs récurrents et alertes plus lisibles.</a:t>
            </a:r>
          </a:p>
        </p:txBody>
      </p:sp>
      <p:sp>
        <p:nvSpPr>
          <p:cNvPr id="21" name="">
            <a:extLst xmlns:a="http://schemas.openxmlformats.org/drawingml/2006/main">
              <a:ext uri="{FF2B5EF4-FFF2-40B4-BE49-F238E27FC236}">
                <a16:creationId xmlns:a16="http://schemas.microsoft.com/office/drawing/2014/main" id="{57096A08-0AED-454B-BEB6-F18457C27463}"/>
              </a:ext>
            </a:extLst>
          </p:cNvPr>
          <p:cNvSpPr>
            <a:spLocks xmlns:a="http://schemas.openxmlformats.org/drawingml/2006/main" noGrp="1"/>
          </p:cNvSpPr>
          <p:nvPr/>
        </p:nvSpPr>
        <p:spPr>
          <a:xfrm xmlns:a="http://schemas.openxmlformats.org/drawingml/2006/main">
            <a:off x="621030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2" name="">
            <a:extLst xmlns:a="http://schemas.openxmlformats.org/drawingml/2006/main">
              <a:ext uri="{FF2B5EF4-FFF2-40B4-BE49-F238E27FC236}">
                <a16:creationId xmlns:a16="http://schemas.microsoft.com/office/drawing/2014/main" id="{82918AA2-E164-470D-8A92-36F791AE510A}"/>
              </a:ext>
            </a:extLst>
          </p:cNvPr>
          <p:cNvSpPr>
            <a:spLocks xmlns:a="http://schemas.openxmlformats.org/drawingml/2006/main" noGrp="1"/>
          </p:cNvSpPr>
          <p:nvPr/>
        </p:nvSpPr>
        <p:spPr>
          <a:xfrm xmlns:a="http://schemas.openxmlformats.org/drawingml/2006/main">
            <a:off x="6381750" y="253365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426d245ec4a4325">
            <a:extLst>
              <a:ext uri="{96DAC541-7B7A-43D3-8B79-37D633B846F1}">
                <asvg:svgBlip xmlns:asvg="http://schemas.microsoft.com/office/drawing/2016/SVG/main" r:embed="R8c4f0fbb9144421f"/>
              </a:ext>
            </a:extLst>
          </a:blip>
          <a:stretch xmlns:a="http://schemas.openxmlformats.org/drawingml/2006/main"/>
        </p:blipFill>
        <p:spPr>
          <a:xfrm xmlns:a="http://schemas.openxmlformats.org/drawingml/2006/main">
            <a:off x="6477000" y="2628900"/>
            <a:ext cx="228600" cy="228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EAD1FC6D-AD7E-47D0-B50B-61E8556EC788}"/>
              </a:ext>
            </a:extLst>
          </p:cNvPr>
          <p:cNvSpPr>
            <a:spLocks xmlns:a="http://schemas.openxmlformats.org/drawingml/2006/main" noGrp="1"/>
          </p:cNvSpPr>
          <p:nvPr/>
        </p:nvSpPr>
        <p:spPr>
          <a:xfrm xmlns:a="http://schemas.openxmlformats.org/drawingml/2006/main">
            <a:off x="693420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Base procédures et scripts terrain</a:t>
            </a:r>
          </a:p>
        </p:txBody>
      </p:sp>
      <p:sp>
        <p:nvSpPr>
          <p:cNvPr id="25" name="">
            <a:extLst xmlns:a="http://schemas.openxmlformats.org/drawingml/2006/main">
              <a:ext uri="{FF2B5EF4-FFF2-40B4-BE49-F238E27FC236}">
                <a16:creationId xmlns:a16="http://schemas.microsoft.com/office/drawing/2014/main" id="{8837E40A-27BF-4D83-B38E-1A8708AB7FC3}"/>
              </a:ext>
            </a:extLst>
          </p:cNvPr>
          <p:cNvSpPr>
            <a:spLocks xmlns:a="http://schemas.openxmlformats.org/drawingml/2006/main" noGrp="1"/>
          </p:cNvSpPr>
          <p:nvPr/>
        </p:nvSpPr>
        <p:spPr>
          <a:xfrm xmlns:a="http://schemas.openxmlformats.org/drawingml/2006/main">
            <a:off x="641985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26" name="">
            <a:extLst xmlns:a="http://schemas.openxmlformats.org/drawingml/2006/main">
              <a:ext uri="{FF2B5EF4-FFF2-40B4-BE49-F238E27FC236}">
                <a16:creationId xmlns:a16="http://schemas.microsoft.com/office/drawing/2014/main" id="{9B02A9F3-168E-41E8-8309-EBEC5778413B}"/>
              </a:ext>
            </a:extLst>
          </p:cNvPr>
          <p:cNvSpPr>
            <a:spLocks xmlns:a="http://schemas.openxmlformats.org/drawingml/2006/main" noGrp="1"/>
          </p:cNvSpPr>
          <p:nvPr/>
        </p:nvSpPr>
        <p:spPr>
          <a:xfrm xmlns:a="http://schemas.openxmlformats.org/drawingml/2006/main">
            <a:off x="6419850" y="3162300"/>
            <a:ext cx="2152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Réponses et procédures dispersées selon les équipes et les documents.</a:t>
            </a:r>
          </a:p>
        </p:txBody>
      </p:sp>
      <p:sp>
        <p:nvSpPr>
          <p:cNvPr id="27" name="">
            <a:extLst xmlns:a="http://schemas.openxmlformats.org/drawingml/2006/main">
              <a:ext uri="{FF2B5EF4-FFF2-40B4-BE49-F238E27FC236}">
                <a16:creationId xmlns:a16="http://schemas.microsoft.com/office/drawing/2014/main" id="{80E252E7-EBE0-4675-AE90-2B4171926691}"/>
              </a:ext>
            </a:extLst>
          </p:cNvPr>
          <p:cNvSpPr>
            <a:spLocks xmlns:a="http://schemas.openxmlformats.org/drawingml/2006/main" noGrp="1"/>
          </p:cNvSpPr>
          <p:nvPr/>
        </p:nvSpPr>
        <p:spPr>
          <a:xfrm xmlns:a="http://schemas.openxmlformats.org/drawingml/2006/main">
            <a:off x="641985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8" name="">
            <a:extLst xmlns:a="http://schemas.openxmlformats.org/drawingml/2006/main">
              <a:ext uri="{FF2B5EF4-FFF2-40B4-BE49-F238E27FC236}">
                <a16:creationId xmlns:a16="http://schemas.microsoft.com/office/drawing/2014/main" id="{3ED304F5-F428-4295-BD16-60DE848BEEB2}"/>
              </a:ext>
            </a:extLst>
          </p:cNvPr>
          <p:cNvSpPr>
            <a:spLocks xmlns:a="http://schemas.openxmlformats.org/drawingml/2006/main" noGrp="1"/>
          </p:cNvSpPr>
          <p:nvPr/>
        </p:nvSpPr>
        <p:spPr>
          <a:xfrm xmlns:a="http://schemas.openxmlformats.org/drawingml/2006/main">
            <a:off x="6419850" y="3771900"/>
            <a:ext cx="2152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Base de connaissances assistée pour scripts, contrôles et bonnes réponses.</a:t>
            </a:r>
          </a:p>
        </p:txBody>
      </p:sp>
      <p:sp>
        <p:nvSpPr>
          <p:cNvPr id="29" name="">
            <a:extLst xmlns:a="http://schemas.openxmlformats.org/drawingml/2006/main">
              <a:ext uri="{FF2B5EF4-FFF2-40B4-BE49-F238E27FC236}">
                <a16:creationId xmlns:a16="http://schemas.microsoft.com/office/drawing/2014/main" id="{F1DBBC9E-C20B-4E9E-B392-55B8BED11AB9}"/>
              </a:ext>
            </a:extLst>
          </p:cNvPr>
          <p:cNvSpPr>
            <a:spLocks xmlns:a="http://schemas.openxmlformats.org/drawingml/2006/main" noGrp="1"/>
          </p:cNvSpPr>
          <p:nvPr/>
        </p:nvSpPr>
        <p:spPr>
          <a:xfrm xmlns:a="http://schemas.openxmlformats.org/drawingml/2006/main">
            <a:off x="8972550" y="2362200"/>
            <a:ext cx="25336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0" name="">
            <a:extLst xmlns:a="http://schemas.openxmlformats.org/drawingml/2006/main">
              <a:ext uri="{FF2B5EF4-FFF2-40B4-BE49-F238E27FC236}">
                <a16:creationId xmlns:a16="http://schemas.microsoft.com/office/drawing/2014/main" id="{C34D1642-7CD2-4328-A5D5-61E1ABE3D5C4}"/>
              </a:ext>
            </a:extLst>
          </p:cNvPr>
          <p:cNvSpPr>
            <a:spLocks xmlns:a="http://schemas.openxmlformats.org/drawingml/2006/main" noGrp="1"/>
          </p:cNvSpPr>
          <p:nvPr/>
        </p:nvSpPr>
        <p:spPr>
          <a:xfrm xmlns:a="http://schemas.openxmlformats.org/drawingml/2006/main">
            <a:off x="9144000" y="253365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5eff951e4c949de">
            <a:extLst>
              <a:ext uri="{96DAC541-7B7A-43D3-8B79-37D633B846F1}">
                <asvg:svgBlip xmlns:asvg="http://schemas.microsoft.com/office/drawing/2016/SVG/main" r:embed="R81c847ce0dad43bb"/>
              </a:ext>
            </a:extLst>
          </a:blip>
          <a:stretch xmlns:a="http://schemas.openxmlformats.org/drawingml/2006/main"/>
        </p:blipFill>
        <p:spPr>
          <a:xfrm xmlns:a="http://schemas.openxmlformats.org/drawingml/2006/main">
            <a:off x="9239250" y="2628900"/>
            <a:ext cx="228600" cy="2286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33216BE2-1BBC-4C61-9359-741DE1D4E25C}"/>
              </a:ext>
            </a:extLst>
          </p:cNvPr>
          <p:cNvSpPr>
            <a:spLocks xmlns:a="http://schemas.openxmlformats.org/drawingml/2006/main" noGrp="1"/>
          </p:cNvSpPr>
          <p:nvPr/>
        </p:nvSpPr>
        <p:spPr>
          <a:xfrm xmlns:a="http://schemas.openxmlformats.org/drawingml/2006/main">
            <a:off x="9696450" y="25717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Commentaire IA du pilotage qualité</a:t>
            </a:r>
          </a:p>
        </p:txBody>
      </p:sp>
      <p:sp>
        <p:nvSpPr>
          <p:cNvPr id="33" name="">
            <a:extLst xmlns:a="http://schemas.openxmlformats.org/drawingml/2006/main">
              <a:ext uri="{FF2B5EF4-FFF2-40B4-BE49-F238E27FC236}">
                <a16:creationId xmlns:a16="http://schemas.microsoft.com/office/drawing/2014/main" id="{F5E1DFF2-301C-41EF-9005-24073A25E139}"/>
              </a:ext>
            </a:extLst>
          </p:cNvPr>
          <p:cNvSpPr>
            <a:spLocks xmlns:a="http://schemas.openxmlformats.org/drawingml/2006/main" noGrp="1"/>
          </p:cNvSpPr>
          <p:nvPr/>
        </p:nvSpPr>
        <p:spPr>
          <a:xfrm xmlns:a="http://schemas.openxmlformats.org/drawingml/2006/main">
            <a:off x="918210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34" name="">
            <a:extLst xmlns:a="http://schemas.openxmlformats.org/drawingml/2006/main">
              <a:ext uri="{FF2B5EF4-FFF2-40B4-BE49-F238E27FC236}">
                <a16:creationId xmlns:a16="http://schemas.microsoft.com/office/drawing/2014/main" id="{6B331842-EB88-41C7-8ABC-E429A5814F2D}"/>
              </a:ext>
            </a:extLst>
          </p:cNvPr>
          <p:cNvSpPr>
            <a:spLocks xmlns:a="http://schemas.openxmlformats.org/drawingml/2006/main" noGrp="1"/>
          </p:cNvSpPr>
          <p:nvPr/>
        </p:nvSpPr>
        <p:spPr>
          <a:xfrm xmlns:a="http://schemas.openxmlformats.org/drawingml/2006/main">
            <a:off x="9182100" y="3162300"/>
            <a:ext cx="2114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Les indicateurs existent mais sont peu commentés et difficiles à exploiter rapidement.</a:t>
            </a:r>
          </a:p>
        </p:txBody>
      </p:sp>
      <p:sp>
        <p:nvSpPr>
          <p:cNvPr id="35" name="">
            <a:extLst xmlns:a="http://schemas.openxmlformats.org/drawingml/2006/main">
              <a:ext uri="{FF2B5EF4-FFF2-40B4-BE49-F238E27FC236}">
                <a16:creationId xmlns:a16="http://schemas.microsoft.com/office/drawing/2014/main" id="{53D4E57A-BCEC-44D8-9403-F066891087CA}"/>
              </a:ext>
            </a:extLst>
          </p:cNvPr>
          <p:cNvSpPr>
            <a:spLocks xmlns:a="http://schemas.openxmlformats.org/drawingml/2006/main" noGrp="1"/>
          </p:cNvSpPr>
          <p:nvPr/>
        </p:nvSpPr>
        <p:spPr>
          <a:xfrm xmlns:a="http://schemas.openxmlformats.org/drawingml/2006/main">
            <a:off x="918210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36" name="">
            <a:extLst xmlns:a="http://schemas.openxmlformats.org/drawingml/2006/main">
              <a:ext uri="{FF2B5EF4-FFF2-40B4-BE49-F238E27FC236}">
                <a16:creationId xmlns:a16="http://schemas.microsoft.com/office/drawing/2014/main" id="{DF2831BF-1859-4A84-9E00-91A0E836D41B}"/>
              </a:ext>
            </a:extLst>
          </p:cNvPr>
          <p:cNvSpPr>
            <a:spLocks xmlns:a="http://schemas.openxmlformats.org/drawingml/2006/main" noGrp="1"/>
          </p:cNvSpPr>
          <p:nvPr/>
        </p:nvSpPr>
        <p:spPr>
          <a:xfrm xmlns:a="http://schemas.openxmlformats.org/drawingml/2006/main">
            <a:off x="9182100" y="3771900"/>
            <a:ext cx="2114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Commentaires automatiques des écarts, synthèses managers et meilleurs arbitrages.</a:t>
            </a:r>
          </a:p>
        </p:txBody>
      </p:sp>
      <p:sp>
        <p:nvSpPr>
          <p:cNvPr id="37" name="">
            <a:extLst xmlns:a="http://schemas.openxmlformats.org/drawingml/2006/main">
              <a:ext uri="{FF2B5EF4-FFF2-40B4-BE49-F238E27FC236}">
                <a16:creationId xmlns:a16="http://schemas.microsoft.com/office/drawing/2014/main" id="{52F541F4-B907-4A80-B711-371E63E5CC53}"/>
              </a:ext>
            </a:extLst>
          </p:cNvPr>
          <p:cNvSpPr>
            <a:spLocks xmlns:a="http://schemas.openxmlformats.org/drawingml/2006/main" noGrp="1"/>
          </p:cNvSpPr>
          <p:nvPr/>
        </p:nvSpPr>
        <p:spPr>
          <a:xfrm xmlns:a="http://schemas.openxmlformats.org/drawingml/2006/main">
            <a:off x="685800" y="4438650"/>
            <a:ext cx="10820400" cy="12954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8" name="">
            <a:extLst xmlns:a="http://schemas.openxmlformats.org/drawingml/2006/main">
              <a:ext uri="{FF2B5EF4-FFF2-40B4-BE49-F238E27FC236}">
                <a16:creationId xmlns:a16="http://schemas.microsoft.com/office/drawing/2014/main" id="{8A2BB66C-4A41-4767-9C1A-5628080A40C8}"/>
              </a:ext>
            </a:extLst>
          </p:cNvPr>
          <p:cNvSpPr>
            <a:spLocks xmlns:a="http://schemas.openxmlformats.org/drawingml/2006/main" noGrp="1"/>
          </p:cNvSpPr>
          <p:nvPr/>
        </p:nvSpPr>
        <p:spPr>
          <a:xfrm xmlns:a="http://schemas.openxmlformats.org/drawingml/2006/main">
            <a:off x="933450" y="46863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Le bon angle commercial</a:t>
            </a:r>
          </a:p>
        </p:txBody>
      </p:sp>
      <p:sp>
        <p:nvSpPr>
          <p:cNvPr id="39" name="">
            <a:extLst xmlns:a="http://schemas.openxmlformats.org/drawingml/2006/main">
              <a:ext uri="{FF2B5EF4-FFF2-40B4-BE49-F238E27FC236}">
                <a16:creationId xmlns:a16="http://schemas.microsoft.com/office/drawing/2014/main" id="{6FA05756-263A-41BB-9362-915871566CFD}"/>
              </a:ext>
            </a:extLst>
          </p:cNvPr>
          <p:cNvSpPr>
            <a:spLocks xmlns:a="http://schemas.openxmlformats.org/drawingml/2006/main" noGrp="1"/>
          </p:cNvSpPr>
          <p:nvPr/>
        </p:nvSpPr>
        <p:spPr>
          <a:xfrm xmlns:a="http://schemas.openxmlformats.org/drawingml/2006/main">
            <a:off x="933450" y="4953000"/>
            <a:ext cx="5334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Partir des flux métier qui freinent déjà l'exécution.</a:t>
            </a:r>
          </a:p>
        </p:txBody>
      </p:sp>
      <p:sp>
        <p:nvSpPr>
          <p:cNvPr id="40" name="">
            <a:extLst xmlns:a="http://schemas.openxmlformats.org/drawingml/2006/main">
              <a:ext uri="{FF2B5EF4-FFF2-40B4-BE49-F238E27FC236}">
                <a16:creationId xmlns:a16="http://schemas.microsoft.com/office/drawing/2014/main" id="{F81DAE85-D1EB-426B-8E8C-4BDF73CBFD72}"/>
              </a:ext>
            </a:extLst>
          </p:cNvPr>
          <p:cNvSpPr>
            <a:spLocks xmlns:a="http://schemas.openxmlformats.org/drawingml/2006/main" noGrp="1"/>
          </p:cNvSpPr>
          <p:nvPr/>
        </p:nvSpPr>
        <p:spPr>
          <a:xfrm xmlns:a="http://schemas.openxmlformats.org/drawingml/2006/main">
            <a:off x="6477000" y="4819650"/>
            <a:ext cx="47625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D7E5F3"/>
                </a:solidFill>
                <a:latin typeface="Aptos"/>
                <a:ea typeface="Aptos"/>
                <a:cs typeface="Aptos"/>
              </a:defRPr>
            </a:pPr>
            <a:r>
              <a:rPr sz="975" b="0">
                <a:solidFill>
                  <a:srgbClr val="D7E5F3"/>
                </a:solidFill>
                <a:latin typeface="Aptos"/>
                <a:ea typeface="Aptos"/>
                <a:cs typeface="Aptos"/>
              </a:rPr>
              <a:t>La crédibilité ne viendra pas d'un catalogue. Elle viendra d'une proposition qui relie Mieux traiter les demandes récurrentes sur plusieurs canaux et Réduire le temps de préparation des synthèses de pilotage, puis les convertit en cas d'usage, gouvernance, formation ciblée et premiers gains visibles.</a:t>
            </a:r>
          </a:p>
        </p:txBody>
      </p:sp>
      <p:sp>
        <p:nvSpPr>
          <p:cNvPr id="41" name="">
            <a:extLst xmlns:a="http://schemas.openxmlformats.org/drawingml/2006/main">
              <a:ext uri="{FF2B5EF4-FFF2-40B4-BE49-F238E27FC236}">
                <a16:creationId xmlns:a16="http://schemas.microsoft.com/office/drawing/2014/main" id="{4DA1F2EA-DE81-468A-AACF-8DCCD038BCB4}"/>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725107BE-BBA9-4AD0-A11C-B4BA97734340}"/>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Aperçu deck automatisé depuis Assemble Prospect Context</a:t>
            </a:r>
          </a:p>
        </p:txBody>
      </p:sp>
      <p:sp>
        <p:nvSpPr>
          <p:cNvPr id="43" name="">
            <a:extLst xmlns:a="http://schemas.openxmlformats.org/drawingml/2006/main">
              <a:ext uri="{FF2B5EF4-FFF2-40B4-BE49-F238E27FC236}">
                <a16:creationId xmlns:a16="http://schemas.microsoft.com/office/drawing/2014/main" id="{7D7C20BC-8630-4842-B6AA-889DAD40C3C6}"/>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05</a:t>
            </a:r>
          </a:p>
        </p:txBody>
      </p:sp>
    </p:spTree>
    <p:extLst>
      <p:ext uri="{BB962C8B-B14F-4D97-AF65-F5344CB8AC3E}">
        <p14:creationId xmlns:p14="http://schemas.microsoft.com/office/powerpoint/2010/main" val="170878014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F2CE74-1612-45C5-8D21-9106A1E59C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68CCC83-B176-4E3A-99CF-F45F0FCAFC99}"/>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 name="">
            <a:extLst xmlns:a="http://schemas.openxmlformats.org/drawingml/2006/main">
              <a:ext uri="{FF2B5EF4-FFF2-40B4-BE49-F238E27FC236}">
                <a16:creationId xmlns:a16="http://schemas.microsoft.com/office/drawing/2014/main" id="{7B74A864-8BB2-4305-A764-C9B231DE2542}"/>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ROI DE RÉFÉRENCE</a:t>
            </a:r>
          </a:p>
        </p:txBody>
      </p:sp>
      <p:sp>
        <p:nvSpPr>
          <p:cNvPr id="4" name="">
            <a:extLst xmlns:a="http://schemas.openxmlformats.org/drawingml/2006/main">
              <a:ext uri="{FF2B5EF4-FFF2-40B4-BE49-F238E27FC236}">
                <a16:creationId xmlns:a16="http://schemas.microsoft.com/office/drawing/2014/main" id="{C38416F0-374F-48A4-B007-21A4DF9E8452}"/>
              </a:ext>
            </a:extLst>
          </p:cNvPr>
          <p:cNvSpPr>
            <a:spLocks xmlns:a="http://schemas.openxmlformats.org/drawingml/2006/main" noGrp="1"/>
          </p:cNvSpPr>
          <p:nvPr/>
        </p:nvSpPr>
        <p:spPr>
          <a:xfrm xmlns:a="http://schemas.openxmlformats.org/drawingml/2006/main">
            <a:off x="685800" y="723900"/>
            <a:ext cx="10382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Le ROI devient utile seulement s'il est traduit dans le contexte de Orange Côte d'Ivoire</a:t>
            </a:r>
          </a:p>
        </p:txBody>
      </p:sp>
      <p:sp>
        <p:nvSpPr>
          <p:cNvPr id="5" name="">
            <a:extLst xmlns:a="http://schemas.openxmlformats.org/drawingml/2006/main">
              <a:ext uri="{FF2B5EF4-FFF2-40B4-BE49-F238E27FC236}">
                <a16:creationId xmlns:a16="http://schemas.microsoft.com/office/drawing/2014/main" id="{0E40390C-AF46-45D8-ADB5-CC4760C55AC9}"/>
              </a:ext>
            </a:extLst>
          </p:cNvPr>
          <p:cNvSpPr>
            <a:spLocks xmlns:a="http://schemas.openxmlformats.org/drawingml/2006/main" noGrp="1"/>
          </p:cNvSpPr>
          <p:nvPr/>
        </p:nvSpPr>
        <p:spPr>
          <a:xfrm xmlns:a="http://schemas.openxmlformats.org/drawingml/2006/main">
            <a:off x="685800" y="1409700"/>
            <a:ext cx="2514600" cy="11049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6" name="">
            <a:extLst xmlns:a="http://schemas.openxmlformats.org/drawingml/2006/main">
              <a:ext uri="{FF2B5EF4-FFF2-40B4-BE49-F238E27FC236}">
                <a16:creationId xmlns:a16="http://schemas.microsoft.com/office/drawing/2014/main" id="{CAA9E524-C20A-43F8-8CF3-19B4D99C5442}"/>
              </a:ext>
            </a:extLst>
          </p:cNvPr>
          <p:cNvSpPr>
            <a:spLocks xmlns:a="http://schemas.openxmlformats.org/drawingml/2006/main" noGrp="1"/>
          </p:cNvSpPr>
          <p:nvPr/>
        </p:nvSpPr>
        <p:spPr>
          <a:xfrm xmlns:a="http://schemas.openxmlformats.org/drawingml/2006/main">
            <a:off x="8572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-35 %</a:t>
            </a:r>
          </a:p>
        </p:txBody>
      </p:sp>
      <p:sp>
        <p:nvSpPr>
          <p:cNvPr id="7" name="">
            <a:extLst xmlns:a="http://schemas.openxmlformats.org/drawingml/2006/main">
              <a:ext uri="{FF2B5EF4-FFF2-40B4-BE49-F238E27FC236}">
                <a16:creationId xmlns:a16="http://schemas.microsoft.com/office/drawing/2014/main" id="{59359944-C87E-405E-B96C-1273D8E3F49F}"/>
              </a:ext>
            </a:extLst>
          </p:cNvPr>
          <p:cNvSpPr>
            <a:spLocks xmlns:a="http://schemas.openxmlformats.org/drawingml/2006/main" noGrp="1"/>
          </p:cNvSpPr>
          <p:nvPr/>
        </p:nvSpPr>
        <p:spPr>
          <a:xfrm xmlns:a="http://schemas.openxmlformats.org/drawingml/2006/main">
            <a:off x="8572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temps de réponse</a:t>
            </a:r>
          </a:p>
        </p:txBody>
      </p:sp>
      <p:sp>
        <p:nvSpPr>
          <p:cNvPr id="8" name="">
            <a:extLst xmlns:a="http://schemas.openxmlformats.org/drawingml/2006/main">
              <a:ext uri="{FF2B5EF4-FFF2-40B4-BE49-F238E27FC236}">
                <a16:creationId xmlns:a16="http://schemas.microsoft.com/office/drawing/2014/main" id="{F86B72B2-C382-4DC4-A833-159296F85291}"/>
              </a:ext>
            </a:extLst>
          </p:cNvPr>
          <p:cNvSpPr>
            <a:spLocks xmlns:a="http://schemas.openxmlformats.org/drawingml/2006/main" noGrp="1"/>
          </p:cNvSpPr>
          <p:nvPr/>
        </p:nvSpPr>
        <p:spPr>
          <a:xfrm xmlns:a="http://schemas.openxmlformats.org/drawingml/2006/main">
            <a:off x="8572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sur demandes récurrentes et qualification simple</a:t>
            </a:r>
          </a:p>
        </p:txBody>
      </p:sp>
      <p:sp>
        <p:nvSpPr>
          <p:cNvPr id="9" name="">
            <a:extLst xmlns:a="http://schemas.openxmlformats.org/drawingml/2006/main">
              <a:ext uri="{FF2B5EF4-FFF2-40B4-BE49-F238E27FC236}">
                <a16:creationId xmlns:a16="http://schemas.microsoft.com/office/drawing/2014/main" id="{15C203E7-BFB1-4ED6-89F2-5FE17F9561EA}"/>
              </a:ext>
            </a:extLst>
          </p:cNvPr>
          <p:cNvSpPr>
            <a:spLocks xmlns:a="http://schemas.openxmlformats.org/drawingml/2006/main" noGrp="1"/>
          </p:cNvSpPr>
          <p:nvPr/>
        </p:nvSpPr>
        <p:spPr>
          <a:xfrm xmlns:a="http://schemas.openxmlformats.org/drawingml/2006/main">
            <a:off x="3390900" y="1409700"/>
            <a:ext cx="2514600" cy="11049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10" name="">
            <a:extLst xmlns:a="http://schemas.openxmlformats.org/drawingml/2006/main">
              <a:ext uri="{FF2B5EF4-FFF2-40B4-BE49-F238E27FC236}">
                <a16:creationId xmlns:a16="http://schemas.microsoft.com/office/drawing/2014/main" id="{BFDF330A-015F-4DA0-87CC-42CC839E0BD8}"/>
              </a:ext>
            </a:extLst>
          </p:cNvPr>
          <p:cNvSpPr>
            <a:spLocks xmlns:a="http://schemas.openxmlformats.org/drawingml/2006/main" noGrp="1"/>
          </p:cNvSpPr>
          <p:nvPr/>
        </p:nvSpPr>
        <p:spPr>
          <a:xfrm xmlns:a="http://schemas.openxmlformats.org/drawingml/2006/main">
            <a:off x="35623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-50 %</a:t>
            </a:r>
          </a:p>
        </p:txBody>
      </p:sp>
      <p:sp>
        <p:nvSpPr>
          <p:cNvPr id="11" name="">
            <a:extLst xmlns:a="http://schemas.openxmlformats.org/drawingml/2006/main">
              <a:ext uri="{FF2B5EF4-FFF2-40B4-BE49-F238E27FC236}">
                <a16:creationId xmlns:a16="http://schemas.microsoft.com/office/drawing/2014/main" id="{AE92D7D0-765B-48A1-9F15-0F6C3F1A53F8}"/>
              </a:ext>
            </a:extLst>
          </p:cNvPr>
          <p:cNvSpPr>
            <a:spLocks xmlns:a="http://schemas.openxmlformats.org/drawingml/2006/main" noGrp="1"/>
          </p:cNvSpPr>
          <p:nvPr/>
        </p:nvSpPr>
        <p:spPr>
          <a:xfrm xmlns:a="http://schemas.openxmlformats.org/drawingml/2006/main">
            <a:off x="35623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temps de reporting</a:t>
            </a:r>
          </a:p>
        </p:txBody>
      </p:sp>
      <p:sp>
        <p:nvSpPr>
          <p:cNvPr id="12" name="">
            <a:extLst xmlns:a="http://schemas.openxmlformats.org/drawingml/2006/main">
              <a:ext uri="{FF2B5EF4-FFF2-40B4-BE49-F238E27FC236}">
                <a16:creationId xmlns:a16="http://schemas.microsoft.com/office/drawing/2014/main" id="{6105026A-0A63-4879-9DDE-8E08481255D1}"/>
              </a:ext>
            </a:extLst>
          </p:cNvPr>
          <p:cNvSpPr>
            <a:spLocks xmlns:a="http://schemas.openxmlformats.org/drawingml/2006/main" noGrp="1"/>
          </p:cNvSpPr>
          <p:nvPr/>
        </p:nvSpPr>
        <p:spPr>
          <a:xfrm xmlns:a="http://schemas.openxmlformats.org/drawingml/2006/main">
            <a:off x="35623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sur synthèses service client et incidents</a:t>
            </a:r>
          </a:p>
        </p:txBody>
      </p:sp>
      <p:sp>
        <p:nvSpPr>
          <p:cNvPr id="13" name="">
            <a:extLst xmlns:a="http://schemas.openxmlformats.org/drawingml/2006/main">
              <a:ext uri="{FF2B5EF4-FFF2-40B4-BE49-F238E27FC236}">
                <a16:creationId xmlns:a16="http://schemas.microsoft.com/office/drawing/2014/main" id="{C81855A1-D64C-44B3-BCBF-CB27CD3647D8}"/>
              </a:ext>
            </a:extLst>
          </p:cNvPr>
          <p:cNvSpPr>
            <a:spLocks xmlns:a="http://schemas.openxmlformats.org/drawingml/2006/main" noGrp="1"/>
          </p:cNvSpPr>
          <p:nvPr/>
        </p:nvSpPr>
        <p:spPr>
          <a:xfrm xmlns:a="http://schemas.openxmlformats.org/drawingml/2006/main">
            <a:off x="6096000" y="1409700"/>
            <a:ext cx="2514600" cy="1104900"/>
          </a:xfrm>
          <a:prstGeom xmlns:a="http://schemas.openxmlformats.org/drawingml/2006/main" prst="rect">
            <a:avLst/>
          </a:prstGeom>
          <a:solidFill xmlns:a="http://schemas.openxmlformats.org/drawingml/2006/main">
            <a:srgbClr val="E76F1D"/>
          </a:solidFill>
          <a:ln xmlns:a="http://schemas.openxmlformats.org/drawingml/2006/main" w="0">
            <a:solidFill>
              <a:srgbClr val="E76F1D"/>
            </a:solidFill>
            <a:prstDash val="solid"/>
          </a:ln>
        </p:spPr>
      </p:sp>
      <p:sp>
        <p:nvSpPr>
          <p:cNvPr id="14" name="">
            <a:extLst xmlns:a="http://schemas.openxmlformats.org/drawingml/2006/main">
              <a:ext uri="{FF2B5EF4-FFF2-40B4-BE49-F238E27FC236}">
                <a16:creationId xmlns:a16="http://schemas.microsoft.com/office/drawing/2014/main" id="{4E6A970C-60D4-4736-9E88-A23773A39E14}"/>
              </a:ext>
            </a:extLst>
          </p:cNvPr>
          <p:cNvSpPr>
            <a:spLocks xmlns:a="http://schemas.openxmlformats.org/drawingml/2006/main" noGrp="1"/>
          </p:cNvSpPr>
          <p:nvPr/>
        </p:nvSpPr>
        <p:spPr>
          <a:xfrm xmlns:a="http://schemas.openxmlformats.org/drawingml/2006/main">
            <a:off x="62674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J+15</a:t>
            </a:r>
          </a:p>
        </p:txBody>
      </p:sp>
      <p:sp>
        <p:nvSpPr>
          <p:cNvPr id="15" name="">
            <a:extLst xmlns:a="http://schemas.openxmlformats.org/drawingml/2006/main">
              <a:ext uri="{FF2B5EF4-FFF2-40B4-BE49-F238E27FC236}">
                <a16:creationId xmlns:a16="http://schemas.microsoft.com/office/drawing/2014/main" id="{546D83F2-6394-489E-8464-3A6FA13A2338}"/>
              </a:ext>
            </a:extLst>
          </p:cNvPr>
          <p:cNvSpPr>
            <a:spLocks xmlns:a="http://schemas.openxmlformats.org/drawingml/2006/main" noGrp="1"/>
          </p:cNvSpPr>
          <p:nvPr/>
        </p:nvSpPr>
        <p:spPr>
          <a:xfrm xmlns:a="http://schemas.openxmlformats.org/drawingml/2006/main">
            <a:off x="62674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premier livrable</a:t>
            </a:r>
          </a:p>
        </p:txBody>
      </p:sp>
      <p:sp>
        <p:nvSpPr>
          <p:cNvPr id="16" name="">
            <a:extLst xmlns:a="http://schemas.openxmlformats.org/drawingml/2006/main">
              <a:ext uri="{FF2B5EF4-FFF2-40B4-BE49-F238E27FC236}">
                <a16:creationId xmlns:a16="http://schemas.microsoft.com/office/drawing/2014/main" id="{721CD425-7BDD-4242-A780-AF35E963C821}"/>
              </a:ext>
            </a:extLst>
          </p:cNvPr>
          <p:cNvSpPr>
            <a:spLocks xmlns:a="http://schemas.openxmlformats.org/drawingml/2006/main" noGrp="1"/>
          </p:cNvSpPr>
          <p:nvPr/>
        </p:nvSpPr>
        <p:spPr>
          <a:xfrm xmlns:a="http://schemas.openxmlformats.org/drawingml/2006/main">
            <a:off x="62674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assistant ou synthèse managériale pilote</a:t>
            </a:r>
          </a:p>
        </p:txBody>
      </p:sp>
      <p:sp>
        <p:nvSpPr>
          <p:cNvPr id="17" name="">
            <a:extLst xmlns:a="http://schemas.openxmlformats.org/drawingml/2006/main">
              <a:ext uri="{FF2B5EF4-FFF2-40B4-BE49-F238E27FC236}">
                <a16:creationId xmlns:a16="http://schemas.microsoft.com/office/drawing/2014/main" id="{7A80BD7A-4718-4A48-8937-61CDDDD57915}"/>
              </a:ext>
            </a:extLst>
          </p:cNvPr>
          <p:cNvSpPr>
            <a:spLocks xmlns:a="http://schemas.openxmlformats.org/drawingml/2006/main" noGrp="1"/>
          </p:cNvSpPr>
          <p:nvPr/>
        </p:nvSpPr>
        <p:spPr>
          <a:xfrm xmlns:a="http://schemas.openxmlformats.org/drawingml/2006/main">
            <a:off x="8801100" y="1409700"/>
            <a:ext cx="2705100" cy="1104900"/>
          </a:xfrm>
          <a:prstGeom xmlns:a="http://schemas.openxmlformats.org/drawingml/2006/main" prst="rect">
            <a:avLst/>
          </a:prstGeom>
          <a:solidFill xmlns:a="http://schemas.openxmlformats.org/drawingml/2006/main">
            <a:srgbClr val="C88C3A"/>
          </a:solidFill>
          <a:ln xmlns:a="http://schemas.openxmlformats.org/drawingml/2006/main" w="0">
            <a:solidFill>
              <a:srgbClr val="C88C3A"/>
            </a:solidFill>
            <a:prstDash val="solid"/>
          </a:ln>
        </p:spPr>
      </p:sp>
      <p:sp>
        <p:nvSpPr>
          <p:cNvPr id="18" name="">
            <a:extLst xmlns:a="http://schemas.openxmlformats.org/drawingml/2006/main">
              <a:ext uri="{FF2B5EF4-FFF2-40B4-BE49-F238E27FC236}">
                <a16:creationId xmlns:a16="http://schemas.microsoft.com/office/drawing/2014/main" id="{FAADCF0F-429C-4712-8659-B285F52F4311}"/>
              </a:ext>
            </a:extLst>
          </p:cNvPr>
          <p:cNvSpPr>
            <a:spLocks xmlns:a="http://schemas.openxmlformats.org/drawingml/2006/main" noGrp="1"/>
          </p:cNvSpPr>
          <p:nvPr/>
        </p:nvSpPr>
        <p:spPr>
          <a:xfrm xmlns:a="http://schemas.openxmlformats.org/drawingml/2006/main">
            <a:off x="8972550" y="1581150"/>
            <a:ext cx="23622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+20 %</a:t>
            </a:r>
          </a:p>
        </p:txBody>
      </p:sp>
      <p:sp>
        <p:nvSpPr>
          <p:cNvPr id="19" name="">
            <a:extLst xmlns:a="http://schemas.openxmlformats.org/drawingml/2006/main">
              <a:ext uri="{FF2B5EF4-FFF2-40B4-BE49-F238E27FC236}">
                <a16:creationId xmlns:a16="http://schemas.microsoft.com/office/drawing/2014/main" id="{624863A2-3D5A-4F47-8633-84DA59AB98FE}"/>
              </a:ext>
            </a:extLst>
          </p:cNvPr>
          <p:cNvSpPr>
            <a:spLocks xmlns:a="http://schemas.openxmlformats.org/drawingml/2006/main" noGrp="1"/>
          </p:cNvSpPr>
          <p:nvPr/>
        </p:nvSpPr>
        <p:spPr>
          <a:xfrm xmlns:a="http://schemas.openxmlformats.org/drawingml/2006/main">
            <a:off x="8972550" y="2019300"/>
            <a:ext cx="2362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cohérence des réponses</a:t>
            </a:r>
          </a:p>
        </p:txBody>
      </p:sp>
      <p:sp>
        <p:nvSpPr>
          <p:cNvPr id="20" name="">
            <a:extLst xmlns:a="http://schemas.openxmlformats.org/drawingml/2006/main">
              <a:ext uri="{FF2B5EF4-FFF2-40B4-BE49-F238E27FC236}">
                <a16:creationId xmlns:a16="http://schemas.microsoft.com/office/drawing/2014/main" id="{C2A38AB9-2565-447A-BABF-8F78BDD044DD}"/>
              </a:ext>
            </a:extLst>
          </p:cNvPr>
          <p:cNvSpPr>
            <a:spLocks xmlns:a="http://schemas.openxmlformats.org/drawingml/2006/main" noGrp="1"/>
          </p:cNvSpPr>
          <p:nvPr/>
        </p:nvSpPr>
        <p:spPr>
          <a:xfrm xmlns:a="http://schemas.openxmlformats.org/drawingml/2006/main">
            <a:off x="8972550" y="2228850"/>
            <a:ext cx="2362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benchmark à confirmer sur pilote ciblé</a:t>
            </a:r>
          </a:p>
        </p:txBody>
      </p:sp>
      <p:sp>
        <p:nvSpPr>
          <p:cNvPr id="21" name="">
            <a:extLst xmlns:a="http://schemas.openxmlformats.org/drawingml/2006/main">
              <a:ext uri="{FF2B5EF4-FFF2-40B4-BE49-F238E27FC236}">
                <a16:creationId xmlns:a16="http://schemas.microsoft.com/office/drawing/2014/main" id="{0FC06090-EBAA-43E7-BBC3-7F3972F565B7}"/>
              </a:ext>
            </a:extLst>
          </p:cNvPr>
          <p:cNvSpPr>
            <a:spLocks xmlns:a="http://schemas.openxmlformats.org/drawingml/2006/main" noGrp="1"/>
          </p:cNvSpPr>
          <p:nvPr/>
        </p:nvSpPr>
        <p:spPr>
          <a:xfrm xmlns:a="http://schemas.openxmlformats.org/drawingml/2006/main">
            <a:off x="685800" y="3048000"/>
            <a:ext cx="47625" cy="457200"/>
          </a:xfrm>
          <a:prstGeom xmlns:a="http://schemas.openxmlformats.org/drawingml/2006/main" prst="rect">
            <a:avLst/>
          </a:prstGeom>
          <a:solidFill xmlns:a="http://schemas.openxmlformats.org/drawingml/2006/main">
            <a:srgbClr val="E76F1D"/>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A3CF0DB1-CB53-4CFC-AD2B-B8AC0882BEE7}"/>
              </a:ext>
            </a:extLst>
          </p:cNvPr>
          <p:cNvSpPr>
            <a:spLocks xmlns:a="http://schemas.openxmlformats.org/drawingml/2006/main" noGrp="1"/>
          </p:cNvSpPr>
          <p:nvPr/>
        </p:nvSpPr>
        <p:spPr>
          <a:xfrm xmlns:a="http://schemas.openxmlformats.org/drawingml/2006/main">
            <a:off x="876300" y="29527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Copilote service client multicanal</a:t>
            </a:r>
          </a:p>
        </p:txBody>
      </p:sp>
      <p:sp>
        <p:nvSpPr>
          <p:cNvPr id="23" name="">
            <a:extLst xmlns:a="http://schemas.openxmlformats.org/drawingml/2006/main">
              <a:ext uri="{FF2B5EF4-FFF2-40B4-BE49-F238E27FC236}">
                <a16:creationId xmlns:a16="http://schemas.microsoft.com/office/drawing/2014/main" id="{EE957F4F-9D82-438D-A776-C7B541F5341E}"/>
              </a:ext>
            </a:extLst>
          </p:cNvPr>
          <p:cNvSpPr>
            <a:spLocks xmlns:a="http://schemas.openxmlformats.org/drawingml/2006/main" noGrp="1"/>
          </p:cNvSpPr>
          <p:nvPr/>
        </p:nvSpPr>
        <p:spPr>
          <a:xfrm xmlns:a="http://schemas.openxmlformats.org/drawingml/2006/main">
            <a:off x="876300" y="320040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Copilote de réponse, résumés d'interactions et meilleure continuité de traitement.</a:t>
            </a:r>
          </a:p>
        </p:txBody>
      </p:sp>
      <p:sp>
        <p:nvSpPr>
          <p:cNvPr id="24" name="">
            <a:extLst xmlns:a="http://schemas.openxmlformats.org/drawingml/2006/main">
              <a:ext uri="{FF2B5EF4-FFF2-40B4-BE49-F238E27FC236}">
                <a16:creationId xmlns:a16="http://schemas.microsoft.com/office/drawing/2014/main" id="{615E04D5-B34A-4D2C-9CB9-3DAAFC70C03C}"/>
              </a:ext>
            </a:extLst>
          </p:cNvPr>
          <p:cNvSpPr>
            <a:spLocks xmlns:a="http://schemas.openxmlformats.org/drawingml/2006/main" noGrp="1"/>
          </p:cNvSpPr>
          <p:nvPr/>
        </p:nvSpPr>
        <p:spPr>
          <a:xfrm xmlns:a="http://schemas.openxmlformats.org/drawingml/2006/main">
            <a:off x="6096000" y="293370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5" name="">
            <a:extLst xmlns:a="http://schemas.openxmlformats.org/drawingml/2006/main">
              <a:ext uri="{FF2B5EF4-FFF2-40B4-BE49-F238E27FC236}">
                <a16:creationId xmlns:a16="http://schemas.microsoft.com/office/drawing/2014/main" id="{8FB72F60-2FD9-40BE-8059-EB1A21CD125E}"/>
              </a:ext>
            </a:extLst>
          </p:cNvPr>
          <p:cNvSpPr>
            <a:spLocks xmlns:a="http://schemas.openxmlformats.org/drawingml/2006/main" noGrp="1"/>
          </p:cNvSpPr>
          <p:nvPr/>
        </p:nvSpPr>
        <p:spPr>
          <a:xfrm xmlns:a="http://schemas.openxmlformats.org/drawingml/2006/main">
            <a:off x="6305550" y="30480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26" name="">
            <a:extLst xmlns:a="http://schemas.openxmlformats.org/drawingml/2006/main">
              <a:ext uri="{FF2B5EF4-FFF2-40B4-BE49-F238E27FC236}">
                <a16:creationId xmlns:a16="http://schemas.microsoft.com/office/drawing/2014/main" id="{075AF364-8644-4C4F-8971-77E64D8A9979}"/>
              </a:ext>
            </a:extLst>
          </p:cNvPr>
          <p:cNvSpPr>
            <a:spLocks xmlns:a="http://schemas.openxmlformats.org/drawingml/2006/main" noGrp="1"/>
          </p:cNvSpPr>
          <p:nvPr/>
        </p:nvSpPr>
        <p:spPr>
          <a:xfrm xmlns:a="http://schemas.openxmlformats.org/drawingml/2006/main">
            <a:off x="6305550" y="321945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délai moyen de réponse | taux de résolution au premier contact</a:t>
            </a:r>
          </a:p>
        </p:txBody>
      </p:sp>
      <p:sp>
        <p:nvSpPr>
          <p:cNvPr id="27" name="">
            <a:extLst xmlns:a="http://schemas.openxmlformats.org/drawingml/2006/main">
              <a:ext uri="{FF2B5EF4-FFF2-40B4-BE49-F238E27FC236}">
                <a16:creationId xmlns:a16="http://schemas.microsoft.com/office/drawing/2014/main" id="{7EB85124-3536-4C99-BDF1-456303F0579F}"/>
              </a:ext>
            </a:extLst>
          </p:cNvPr>
          <p:cNvSpPr>
            <a:spLocks xmlns:a="http://schemas.openxmlformats.org/drawingml/2006/main" noGrp="1"/>
          </p:cNvSpPr>
          <p:nvPr/>
        </p:nvSpPr>
        <p:spPr>
          <a:xfrm xmlns:a="http://schemas.openxmlformats.org/drawingml/2006/main">
            <a:off x="685800" y="3829050"/>
            <a:ext cx="47625" cy="457200"/>
          </a:xfrm>
          <a:prstGeom xmlns:a="http://schemas.openxmlformats.org/drawingml/2006/main" prst="rect">
            <a:avLst/>
          </a:prstGeom>
          <a:solidFill xmlns:a="http://schemas.openxmlformats.org/drawingml/2006/main">
            <a:srgbClr val="1C8A78"/>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337219D-9C58-46FE-80FF-CD8BD8804175}"/>
              </a:ext>
            </a:extLst>
          </p:cNvPr>
          <p:cNvSpPr>
            <a:spLocks xmlns:a="http://schemas.openxmlformats.org/drawingml/2006/main" noGrp="1"/>
          </p:cNvSpPr>
          <p:nvPr/>
        </p:nvSpPr>
        <p:spPr>
          <a:xfrm xmlns:a="http://schemas.openxmlformats.org/drawingml/2006/main">
            <a:off x="876300" y="373380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Synthèse tickets et incidents</a:t>
            </a:r>
          </a:p>
        </p:txBody>
      </p:sp>
      <p:sp>
        <p:nvSpPr>
          <p:cNvPr id="29" name="">
            <a:extLst xmlns:a="http://schemas.openxmlformats.org/drawingml/2006/main">
              <a:ext uri="{FF2B5EF4-FFF2-40B4-BE49-F238E27FC236}">
                <a16:creationId xmlns:a16="http://schemas.microsoft.com/office/drawing/2014/main" id="{9503E673-3880-42C3-A138-860267971C7E}"/>
              </a:ext>
            </a:extLst>
          </p:cNvPr>
          <p:cNvSpPr>
            <a:spLocks xmlns:a="http://schemas.openxmlformats.org/drawingml/2006/main" noGrp="1"/>
          </p:cNvSpPr>
          <p:nvPr/>
        </p:nvSpPr>
        <p:spPr>
          <a:xfrm xmlns:a="http://schemas.openxmlformats.org/drawingml/2006/main">
            <a:off x="876300" y="398145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Synthèses automatiques, regroupement des motifs récurrents et alertes plus lisibles.</a:t>
            </a:r>
          </a:p>
        </p:txBody>
      </p:sp>
      <p:sp>
        <p:nvSpPr>
          <p:cNvPr id="30" name="">
            <a:extLst xmlns:a="http://schemas.openxmlformats.org/drawingml/2006/main">
              <a:ext uri="{FF2B5EF4-FFF2-40B4-BE49-F238E27FC236}">
                <a16:creationId xmlns:a16="http://schemas.microsoft.com/office/drawing/2014/main" id="{E18B93D6-BD56-40D9-9181-EECE90B548E5}"/>
              </a:ext>
            </a:extLst>
          </p:cNvPr>
          <p:cNvSpPr>
            <a:spLocks xmlns:a="http://schemas.openxmlformats.org/drawingml/2006/main" noGrp="1"/>
          </p:cNvSpPr>
          <p:nvPr/>
        </p:nvSpPr>
        <p:spPr>
          <a:xfrm xmlns:a="http://schemas.openxmlformats.org/drawingml/2006/main">
            <a:off x="6096000" y="371475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1" name="">
            <a:extLst xmlns:a="http://schemas.openxmlformats.org/drawingml/2006/main">
              <a:ext uri="{FF2B5EF4-FFF2-40B4-BE49-F238E27FC236}">
                <a16:creationId xmlns:a16="http://schemas.microsoft.com/office/drawing/2014/main" id="{9BAF609A-1D19-4135-A50D-FD6DCB6A40F2}"/>
              </a:ext>
            </a:extLst>
          </p:cNvPr>
          <p:cNvSpPr>
            <a:spLocks xmlns:a="http://schemas.openxmlformats.org/drawingml/2006/main" noGrp="1"/>
          </p:cNvSpPr>
          <p:nvPr/>
        </p:nvSpPr>
        <p:spPr>
          <a:xfrm xmlns:a="http://schemas.openxmlformats.org/drawingml/2006/main">
            <a:off x="6305550" y="38290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32" name="">
            <a:extLst xmlns:a="http://schemas.openxmlformats.org/drawingml/2006/main">
              <a:ext uri="{FF2B5EF4-FFF2-40B4-BE49-F238E27FC236}">
                <a16:creationId xmlns:a16="http://schemas.microsoft.com/office/drawing/2014/main" id="{04865F68-4AEF-498E-9F9C-2E407AA4E983}"/>
              </a:ext>
            </a:extLst>
          </p:cNvPr>
          <p:cNvSpPr>
            <a:spLocks xmlns:a="http://schemas.openxmlformats.org/drawingml/2006/main" noGrp="1"/>
          </p:cNvSpPr>
          <p:nvPr/>
        </p:nvSpPr>
        <p:spPr>
          <a:xfrm xmlns:a="http://schemas.openxmlformats.org/drawingml/2006/main">
            <a:off x="6305550" y="400050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temps de préparation du reporting | délai d'escalade</a:t>
            </a:r>
          </a:p>
        </p:txBody>
      </p:sp>
      <p:sp>
        <p:nvSpPr>
          <p:cNvPr id="33" name="">
            <a:extLst xmlns:a="http://schemas.openxmlformats.org/drawingml/2006/main">
              <a:ext uri="{FF2B5EF4-FFF2-40B4-BE49-F238E27FC236}">
                <a16:creationId xmlns:a16="http://schemas.microsoft.com/office/drawing/2014/main" id="{4AD515C6-5BE7-4D93-B5CC-AB1FE0E52711}"/>
              </a:ext>
            </a:extLst>
          </p:cNvPr>
          <p:cNvSpPr>
            <a:spLocks xmlns:a="http://schemas.openxmlformats.org/drawingml/2006/main" noGrp="1"/>
          </p:cNvSpPr>
          <p:nvPr/>
        </p:nvSpPr>
        <p:spPr>
          <a:xfrm xmlns:a="http://schemas.openxmlformats.org/drawingml/2006/main">
            <a:off x="685800" y="4610100"/>
            <a:ext cx="47625" cy="457200"/>
          </a:xfrm>
          <a:prstGeom xmlns:a="http://schemas.openxmlformats.org/drawingml/2006/main" prst="rect">
            <a:avLst/>
          </a:prstGeom>
          <a:solidFill xmlns:a="http://schemas.openxmlformats.org/drawingml/2006/main">
            <a:srgbClr val="163556"/>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3C1D0715-FD91-4DA1-AA4F-8E93AD1306D3}"/>
              </a:ext>
            </a:extLst>
          </p:cNvPr>
          <p:cNvSpPr>
            <a:spLocks xmlns:a="http://schemas.openxmlformats.org/drawingml/2006/main" noGrp="1"/>
          </p:cNvSpPr>
          <p:nvPr/>
        </p:nvSpPr>
        <p:spPr>
          <a:xfrm xmlns:a="http://schemas.openxmlformats.org/drawingml/2006/main">
            <a:off x="876300" y="45148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Base procédures et scripts terrain</a:t>
            </a:r>
          </a:p>
        </p:txBody>
      </p:sp>
      <p:sp>
        <p:nvSpPr>
          <p:cNvPr id="35" name="">
            <a:extLst xmlns:a="http://schemas.openxmlformats.org/drawingml/2006/main">
              <a:ext uri="{FF2B5EF4-FFF2-40B4-BE49-F238E27FC236}">
                <a16:creationId xmlns:a16="http://schemas.microsoft.com/office/drawing/2014/main" id="{78D99B3B-FF62-467B-8CFD-2F557EDBDF99}"/>
              </a:ext>
            </a:extLst>
          </p:cNvPr>
          <p:cNvSpPr>
            <a:spLocks xmlns:a="http://schemas.openxmlformats.org/drawingml/2006/main" noGrp="1"/>
          </p:cNvSpPr>
          <p:nvPr/>
        </p:nvSpPr>
        <p:spPr>
          <a:xfrm xmlns:a="http://schemas.openxmlformats.org/drawingml/2006/main">
            <a:off x="876300" y="476250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Base de connaissances assistée pour scripts, contrôles et bonnes réponses.</a:t>
            </a:r>
          </a:p>
        </p:txBody>
      </p:sp>
      <p:sp>
        <p:nvSpPr>
          <p:cNvPr id="36" name="">
            <a:extLst xmlns:a="http://schemas.openxmlformats.org/drawingml/2006/main">
              <a:ext uri="{FF2B5EF4-FFF2-40B4-BE49-F238E27FC236}">
                <a16:creationId xmlns:a16="http://schemas.microsoft.com/office/drawing/2014/main" id="{DAE50BC9-D820-4113-B873-3F4CC3F6B793}"/>
              </a:ext>
            </a:extLst>
          </p:cNvPr>
          <p:cNvSpPr>
            <a:spLocks xmlns:a="http://schemas.openxmlformats.org/drawingml/2006/main" noGrp="1"/>
          </p:cNvSpPr>
          <p:nvPr/>
        </p:nvSpPr>
        <p:spPr>
          <a:xfrm xmlns:a="http://schemas.openxmlformats.org/drawingml/2006/main">
            <a:off x="6096000" y="449580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7" name="">
            <a:extLst xmlns:a="http://schemas.openxmlformats.org/drawingml/2006/main">
              <a:ext uri="{FF2B5EF4-FFF2-40B4-BE49-F238E27FC236}">
                <a16:creationId xmlns:a16="http://schemas.microsoft.com/office/drawing/2014/main" id="{A62D935D-9D50-48F0-80EC-B128840A35E3}"/>
              </a:ext>
            </a:extLst>
          </p:cNvPr>
          <p:cNvSpPr>
            <a:spLocks xmlns:a="http://schemas.openxmlformats.org/drawingml/2006/main" noGrp="1"/>
          </p:cNvSpPr>
          <p:nvPr/>
        </p:nvSpPr>
        <p:spPr>
          <a:xfrm xmlns:a="http://schemas.openxmlformats.org/drawingml/2006/main">
            <a:off x="6305550" y="46101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38" name="">
            <a:extLst xmlns:a="http://schemas.openxmlformats.org/drawingml/2006/main">
              <a:ext uri="{FF2B5EF4-FFF2-40B4-BE49-F238E27FC236}">
                <a16:creationId xmlns:a16="http://schemas.microsoft.com/office/drawing/2014/main" id="{F373A797-FAD0-49B4-989F-B0A55C45D834}"/>
              </a:ext>
            </a:extLst>
          </p:cNvPr>
          <p:cNvSpPr>
            <a:spLocks xmlns:a="http://schemas.openxmlformats.org/drawingml/2006/main" noGrp="1"/>
          </p:cNvSpPr>
          <p:nvPr/>
        </p:nvSpPr>
        <p:spPr>
          <a:xfrm xmlns:a="http://schemas.openxmlformats.org/drawingml/2006/main">
            <a:off x="6305550" y="478155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temps de recherche d'information | temps d'onboarding</a:t>
            </a:r>
          </a:p>
        </p:txBody>
      </p:sp>
      <p:sp>
        <p:nvSpPr>
          <p:cNvPr id="39" name="">
            <a:extLst xmlns:a="http://schemas.openxmlformats.org/drawingml/2006/main">
              <a:ext uri="{FF2B5EF4-FFF2-40B4-BE49-F238E27FC236}">
                <a16:creationId xmlns:a16="http://schemas.microsoft.com/office/drawing/2014/main" id="{BA0F5254-D6FD-4973-9855-70AFCFCDFD29}"/>
              </a:ext>
            </a:extLst>
          </p:cNvPr>
          <p:cNvSpPr>
            <a:spLocks xmlns:a="http://schemas.openxmlformats.org/drawingml/2006/main" noGrp="1"/>
          </p:cNvSpPr>
          <p:nvPr/>
        </p:nvSpPr>
        <p:spPr>
          <a:xfrm xmlns:a="http://schemas.openxmlformats.org/drawingml/2006/main">
            <a:off x="685800" y="5562600"/>
            <a:ext cx="10820400" cy="5143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40" name="">
            <a:extLst xmlns:a="http://schemas.openxmlformats.org/drawingml/2006/main">
              <a:ext uri="{FF2B5EF4-FFF2-40B4-BE49-F238E27FC236}">
                <a16:creationId xmlns:a16="http://schemas.microsoft.com/office/drawing/2014/main" id="{3C0FF252-55BD-4ED3-B58D-E9DF5E9FDDCE}"/>
              </a:ext>
            </a:extLst>
          </p:cNvPr>
          <p:cNvSpPr>
            <a:spLocks xmlns:a="http://schemas.openxmlformats.org/drawingml/2006/main" noGrp="1"/>
          </p:cNvSpPr>
          <p:nvPr/>
        </p:nvSpPr>
        <p:spPr>
          <a:xfrm xmlns:a="http://schemas.openxmlformats.org/drawingml/2006/main">
            <a:off x="895350" y="5734050"/>
            <a:ext cx="857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Important</a:t>
            </a:r>
          </a:p>
        </p:txBody>
      </p:sp>
      <p:sp>
        <p:nvSpPr>
          <p:cNvPr id="41" name="">
            <a:extLst xmlns:a="http://schemas.openxmlformats.org/drawingml/2006/main">
              <a:ext uri="{FF2B5EF4-FFF2-40B4-BE49-F238E27FC236}">
                <a16:creationId xmlns:a16="http://schemas.microsoft.com/office/drawing/2014/main" id="{DB0A30F7-A54C-4C14-8531-285B426E98EF}"/>
              </a:ext>
            </a:extLst>
          </p:cNvPr>
          <p:cNvSpPr>
            <a:spLocks xmlns:a="http://schemas.openxmlformats.org/drawingml/2006/main" noGrp="1"/>
          </p:cNvSpPr>
          <p:nvPr/>
        </p:nvSpPr>
        <p:spPr>
          <a:xfrm xmlns:a="http://schemas.openxmlformats.org/drawingml/2006/main">
            <a:off x="1790700" y="5695950"/>
            <a:ext cx="933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Les chiffres affichés ci-dessus sont un référentiel ROI TransferAI sur des déploiements comparables. Les gains réels seront calibrés sur les volumes, les processus et les données du prospect pendant l'audit initial.</a:t>
            </a:r>
          </a:p>
        </p:txBody>
      </p:sp>
      <p:sp>
        <p:nvSpPr>
          <p:cNvPr id="42" name="">
            <a:extLst xmlns:a="http://schemas.openxmlformats.org/drawingml/2006/main">
              <a:ext uri="{FF2B5EF4-FFF2-40B4-BE49-F238E27FC236}">
                <a16:creationId xmlns:a16="http://schemas.microsoft.com/office/drawing/2014/main" id="{D60B3E11-A444-4831-8E26-6F87421E9B86}"/>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B977619E-194D-4771-A954-B897BD231848}"/>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Aperçu deck automatisé depuis Assemble Prospect Context</a:t>
            </a:r>
          </a:p>
        </p:txBody>
      </p:sp>
      <p:sp>
        <p:nvSpPr>
          <p:cNvPr id="44" name="">
            <a:extLst xmlns:a="http://schemas.openxmlformats.org/drawingml/2006/main">
              <a:ext uri="{FF2B5EF4-FFF2-40B4-BE49-F238E27FC236}">
                <a16:creationId xmlns:a16="http://schemas.microsoft.com/office/drawing/2014/main" id="{4EBC93E1-289A-4CAC-8D8F-ACCCAE4937EF}"/>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06</a:t>
            </a:r>
          </a:p>
        </p:txBody>
      </p:sp>
    </p:spTree>
    <p:extLst>
      <p:ext uri="{BB962C8B-B14F-4D97-AF65-F5344CB8AC3E}">
        <p14:creationId xmlns:p14="http://schemas.microsoft.com/office/powerpoint/2010/main" val="168743978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1D4EFC0-B13A-405D-8561-DB5EB2B783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4732F48-B950-4312-918E-10413D08B85E}"/>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CAS D'USAGE PRIORITAIRES</a:t>
            </a:r>
          </a:p>
        </p:txBody>
      </p:sp>
      <p:sp>
        <p:nvSpPr>
          <p:cNvPr id="3" name="">
            <a:extLst xmlns:a="http://schemas.openxmlformats.org/drawingml/2006/main">
              <a:ext uri="{FF2B5EF4-FFF2-40B4-BE49-F238E27FC236}">
                <a16:creationId xmlns:a16="http://schemas.microsoft.com/office/drawing/2014/main" id="{D16CD190-66F5-44C4-B8F9-2A69F9068B76}"/>
              </a:ext>
            </a:extLst>
          </p:cNvPr>
          <p:cNvSpPr>
            <a:spLocks xmlns:a="http://schemas.openxmlformats.org/drawingml/2006/main" noGrp="1"/>
          </p:cNvSpPr>
          <p:nvPr/>
        </p:nvSpPr>
        <p:spPr>
          <a:xfrm xmlns:a="http://schemas.openxmlformats.org/drawingml/2006/main">
            <a:off x="685800" y="819150"/>
            <a:ext cx="10096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4 cas d'usage à mettre au centre de la proposition pour Orange Côte d'Ivoire</a:t>
            </a:r>
          </a:p>
        </p:txBody>
      </p:sp>
      <p:sp>
        <p:nvSpPr>
          <p:cNvPr id="4" name="">
            <a:extLst xmlns:a="http://schemas.openxmlformats.org/drawingml/2006/main">
              <a:ext uri="{FF2B5EF4-FFF2-40B4-BE49-F238E27FC236}">
                <a16:creationId xmlns:a16="http://schemas.microsoft.com/office/drawing/2014/main" id="{9E31D2BC-0445-48B8-BD5C-592DFD91EC4D}"/>
              </a:ext>
            </a:extLst>
          </p:cNvPr>
          <p:cNvSpPr>
            <a:spLocks xmlns:a="http://schemas.openxmlformats.org/drawingml/2006/main" noGrp="1"/>
          </p:cNvSpPr>
          <p:nvPr/>
        </p:nvSpPr>
        <p:spPr>
          <a:xfrm xmlns:a="http://schemas.openxmlformats.org/drawingml/2006/main">
            <a:off x="685800" y="1676400"/>
            <a:ext cx="876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Chaque cas d'usage est alimenté ici par le contexte prospect, puis présenté comme un flux métier visible avec un avant, un après et des KPI de validation.</a:t>
            </a:r>
          </a:p>
        </p:txBody>
      </p:sp>
      <p:sp>
        <p:nvSpPr>
          <p:cNvPr id="5" name="">
            <a:extLst xmlns:a="http://schemas.openxmlformats.org/drawingml/2006/main">
              <a:ext uri="{FF2B5EF4-FFF2-40B4-BE49-F238E27FC236}">
                <a16:creationId xmlns:a16="http://schemas.microsoft.com/office/drawing/2014/main" id="{194673BC-8F57-4BFF-AD83-BF61342F71B7}"/>
              </a:ext>
            </a:extLst>
          </p:cNvPr>
          <p:cNvSpPr>
            <a:spLocks xmlns:a="http://schemas.openxmlformats.org/drawingml/2006/main" noGrp="1"/>
          </p:cNvSpPr>
          <p:nvPr/>
        </p:nvSpPr>
        <p:spPr>
          <a:xfrm xmlns:a="http://schemas.openxmlformats.org/drawingml/2006/main">
            <a:off x="685800" y="2171700"/>
            <a:ext cx="51435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F202753D-3E64-4493-8B05-F242DC1B9430}"/>
              </a:ext>
            </a:extLst>
          </p:cNvPr>
          <p:cNvSpPr>
            <a:spLocks xmlns:a="http://schemas.openxmlformats.org/drawingml/2006/main" noGrp="1"/>
          </p:cNvSpPr>
          <p:nvPr/>
        </p:nvSpPr>
        <p:spPr>
          <a:xfrm xmlns:a="http://schemas.openxmlformats.org/drawingml/2006/main">
            <a:off x="857250" y="234315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3498fb960344f7c">
            <a:extLst>
              <a:ext uri="{96DAC541-7B7A-43D3-8B79-37D633B846F1}">
                <asvg:svgBlip xmlns:asvg="http://schemas.microsoft.com/office/drawing/2016/SVG/main" r:embed="R9321d71e86de43d6"/>
              </a:ext>
            </a:extLst>
          </a:blip>
          <a:stretch xmlns:a="http://schemas.openxmlformats.org/drawingml/2006/main"/>
        </p:blipFill>
        <p:spPr>
          <a:xfrm xmlns:a="http://schemas.openxmlformats.org/drawingml/2006/main">
            <a:off x="952500" y="243840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23D5F2D-37D0-42E4-870E-44576FE47782}"/>
              </a:ext>
            </a:extLst>
          </p:cNvPr>
          <p:cNvSpPr>
            <a:spLocks xmlns:a="http://schemas.openxmlformats.org/drawingml/2006/main" noGrp="1"/>
          </p:cNvSpPr>
          <p:nvPr/>
        </p:nvSpPr>
        <p:spPr>
          <a:xfrm xmlns:a="http://schemas.openxmlformats.org/drawingml/2006/main">
            <a:off x="1409700" y="2381250"/>
            <a:ext cx="422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1. Copilote service client multicanal</a:t>
            </a:r>
          </a:p>
        </p:txBody>
      </p:sp>
      <p:sp>
        <p:nvSpPr>
          <p:cNvPr id="9" name="">
            <a:extLst xmlns:a="http://schemas.openxmlformats.org/drawingml/2006/main">
              <a:ext uri="{FF2B5EF4-FFF2-40B4-BE49-F238E27FC236}">
                <a16:creationId xmlns:a16="http://schemas.microsoft.com/office/drawing/2014/main" id="{6FA107D0-B38C-487D-9C38-E4630F1538AA}"/>
              </a:ext>
            </a:extLst>
          </p:cNvPr>
          <p:cNvSpPr>
            <a:spLocks xmlns:a="http://schemas.openxmlformats.org/drawingml/2006/main" noGrp="1"/>
          </p:cNvSpPr>
          <p:nvPr/>
        </p:nvSpPr>
        <p:spPr>
          <a:xfrm xmlns:a="http://schemas.openxmlformats.org/drawingml/2006/main">
            <a:off x="895350" y="28003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594FAEDC-9237-44F1-BBEA-C99A55CB51CB}"/>
              </a:ext>
            </a:extLst>
          </p:cNvPr>
          <p:cNvSpPr>
            <a:spLocks xmlns:a="http://schemas.openxmlformats.org/drawingml/2006/main" noGrp="1"/>
          </p:cNvSpPr>
          <p:nvPr/>
        </p:nvSpPr>
        <p:spPr>
          <a:xfrm xmlns:a="http://schemas.openxmlformats.org/drawingml/2006/main">
            <a:off x="895350" y="2971800"/>
            <a:ext cx="4724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Demandes récurrentes réparties entre plusieurs canaux avec réponses hétérogènes.</a:t>
            </a:r>
          </a:p>
        </p:txBody>
      </p:sp>
      <p:sp>
        <p:nvSpPr>
          <p:cNvPr id="11" name="">
            <a:extLst xmlns:a="http://schemas.openxmlformats.org/drawingml/2006/main">
              <a:ext uri="{FF2B5EF4-FFF2-40B4-BE49-F238E27FC236}">
                <a16:creationId xmlns:a16="http://schemas.microsoft.com/office/drawing/2014/main" id="{E26580FC-8A42-491E-BABD-346A6B8B8B2C}"/>
              </a:ext>
            </a:extLst>
          </p:cNvPr>
          <p:cNvSpPr>
            <a:spLocks xmlns:a="http://schemas.openxmlformats.org/drawingml/2006/main" noGrp="1"/>
          </p:cNvSpPr>
          <p:nvPr/>
        </p:nvSpPr>
        <p:spPr>
          <a:xfrm xmlns:a="http://schemas.openxmlformats.org/drawingml/2006/main">
            <a:off x="895350" y="34099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12" name="">
            <a:extLst xmlns:a="http://schemas.openxmlformats.org/drawingml/2006/main">
              <a:ext uri="{FF2B5EF4-FFF2-40B4-BE49-F238E27FC236}">
                <a16:creationId xmlns:a16="http://schemas.microsoft.com/office/drawing/2014/main" id="{F2AA0881-A7F7-4363-B2C6-C23BE8C26A25}"/>
              </a:ext>
            </a:extLst>
          </p:cNvPr>
          <p:cNvSpPr>
            <a:spLocks xmlns:a="http://schemas.openxmlformats.org/drawingml/2006/main" noGrp="1"/>
          </p:cNvSpPr>
          <p:nvPr/>
        </p:nvSpPr>
        <p:spPr>
          <a:xfrm xmlns:a="http://schemas.openxmlformats.org/drawingml/2006/main">
            <a:off x="895350" y="3581400"/>
            <a:ext cx="4724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Copilote de réponse, résumés d'interactions et meilleure continuité de traitement.</a:t>
            </a:r>
          </a:p>
        </p:txBody>
      </p:sp>
      <p:sp>
        <p:nvSpPr>
          <p:cNvPr id="13" name="">
            <a:extLst xmlns:a="http://schemas.openxmlformats.org/drawingml/2006/main">
              <a:ext uri="{FF2B5EF4-FFF2-40B4-BE49-F238E27FC236}">
                <a16:creationId xmlns:a16="http://schemas.microsoft.com/office/drawing/2014/main" id="{0C73FD72-51B0-441B-AC5C-A602BEA43C66}"/>
              </a:ext>
            </a:extLst>
          </p:cNvPr>
          <p:cNvSpPr>
            <a:spLocks xmlns:a="http://schemas.openxmlformats.org/drawingml/2006/main" noGrp="1"/>
          </p:cNvSpPr>
          <p:nvPr/>
        </p:nvSpPr>
        <p:spPr>
          <a:xfrm xmlns:a="http://schemas.openxmlformats.org/drawingml/2006/main">
            <a:off x="6096000" y="2171700"/>
            <a:ext cx="54102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02CF85DC-6E60-451C-B0C7-19D488E48793}"/>
              </a:ext>
            </a:extLst>
          </p:cNvPr>
          <p:cNvSpPr>
            <a:spLocks xmlns:a="http://schemas.openxmlformats.org/drawingml/2006/main" noGrp="1"/>
          </p:cNvSpPr>
          <p:nvPr/>
        </p:nvSpPr>
        <p:spPr>
          <a:xfrm xmlns:a="http://schemas.openxmlformats.org/drawingml/2006/main">
            <a:off x="6267450" y="234315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4a1f477771d4e40">
            <a:extLst>
              <a:ext uri="{96DAC541-7B7A-43D3-8B79-37D633B846F1}">
                <asvg:svgBlip xmlns:asvg="http://schemas.microsoft.com/office/drawing/2016/SVG/main" r:embed="R7337d35dc94141fa"/>
              </a:ext>
            </a:extLst>
          </a:blip>
          <a:stretch xmlns:a="http://schemas.openxmlformats.org/drawingml/2006/main"/>
        </p:blipFill>
        <p:spPr>
          <a:xfrm xmlns:a="http://schemas.openxmlformats.org/drawingml/2006/main">
            <a:off x="6362700" y="243840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54BDC68-1FFD-40AB-B8F5-8FC4D3EAFC38}"/>
              </a:ext>
            </a:extLst>
          </p:cNvPr>
          <p:cNvSpPr>
            <a:spLocks xmlns:a="http://schemas.openxmlformats.org/drawingml/2006/main" noGrp="1"/>
          </p:cNvSpPr>
          <p:nvPr/>
        </p:nvSpPr>
        <p:spPr>
          <a:xfrm xmlns:a="http://schemas.openxmlformats.org/drawingml/2006/main">
            <a:off x="6819900" y="2381250"/>
            <a:ext cx="449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2. Synthèse tickets et incidents</a:t>
            </a:r>
          </a:p>
        </p:txBody>
      </p:sp>
      <p:sp>
        <p:nvSpPr>
          <p:cNvPr id="17" name="">
            <a:extLst xmlns:a="http://schemas.openxmlformats.org/drawingml/2006/main">
              <a:ext uri="{FF2B5EF4-FFF2-40B4-BE49-F238E27FC236}">
                <a16:creationId xmlns:a16="http://schemas.microsoft.com/office/drawing/2014/main" id="{7FE8A7BC-B0A3-4851-B796-0A40C317E131}"/>
              </a:ext>
            </a:extLst>
          </p:cNvPr>
          <p:cNvSpPr>
            <a:spLocks xmlns:a="http://schemas.openxmlformats.org/drawingml/2006/main" noGrp="1"/>
          </p:cNvSpPr>
          <p:nvPr/>
        </p:nvSpPr>
        <p:spPr>
          <a:xfrm xmlns:a="http://schemas.openxmlformats.org/drawingml/2006/main">
            <a:off x="6305550" y="28003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8" name="">
            <a:extLst xmlns:a="http://schemas.openxmlformats.org/drawingml/2006/main">
              <a:ext uri="{FF2B5EF4-FFF2-40B4-BE49-F238E27FC236}">
                <a16:creationId xmlns:a16="http://schemas.microsoft.com/office/drawing/2014/main" id="{E66CB882-B696-4F4B-9C35-DBD65FB86DF6}"/>
              </a:ext>
            </a:extLst>
          </p:cNvPr>
          <p:cNvSpPr>
            <a:spLocks xmlns:a="http://schemas.openxmlformats.org/drawingml/2006/main" noGrp="1"/>
          </p:cNvSpPr>
          <p:nvPr/>
        </p:nvSpPr>
        <p:spPr>
          <a:xfrm xmlns:a="http://schemas.openxmlformats.org/drawingml/2006/main">
            <a:off x="6305550" y="2971800"/>
            <a:ext cx="4991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Analyse manuelle des tickets et reporting lent pour les managers.</a:t>
            </a:r>
          </a:p>
        </p:txBody>
      </p:sp>
      <p:sp>
        <p:nvSpPr>
          <p:cNvPr id="19" name="">
            <a:extLst xmlns:a="http://schemas.openxmlformats.org/drawingml/2006/main">
              <a:ext uri="{FF2B5EF4-FFF2-40B4-BE49-F238E27FC236}">
                <a16:creationId xmlns:a16="http://schemas.microsoft.com/office/drawing/2014/main" id="{55633DFC-9500-4543-83CE-7A4280F9E711}"/>
              </a:ext>
            </a:extLst>
          </p:cNvPr>
          <p:cNvSpPr>
            <a:spLocks xmlns:a="http://schemas.openxmlformats.org/drawingml/2006/main" noGrp="1"/>
          </p:cNvSpPr>
          <p:nvPr/>
        </p:nvSpPr>
        <p:spPr>
          <a:xfrm xmlns:a="http://schemas.openxmlformats.org/drawingml/2006/main">
            <a:off x="6305550" y="34099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0" name="">
            <a:extLst xmlns:a="http://schemas.openxmlformats.org/drawingml/2006/main">
              <a:ext uri="{FF2B5EF4-FFF2-40B4-BE49-F238E27FC236}">
                <a16:creationId xmlns:a16="http://schemas.microsoft.com/office/drawing/2014/main" id="{BDB5873E-5B2D-4B04-9A66-13127FCB313C}"/>
              </a:ext>
            </a:extLst>
          </p:cNvPr>
          <p:cNvSpPr>
            <a:spLocks xmlns:a="http://schemas.openxmlformats.org/drawingml/2006/main" noGrp="1"/>
          </p:cNvSpPr>
          <p:nvPr/>
        </p:nvSpPr>
        <p:spPr>
          <a:xfrm xmlns:a="http://schemas.openxmlformats.org/drawingml/2006/main">
            <a:off x="6305550" y="3581400"/>
            <a:ext cx="49911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Synthèses automatiques, regroupement des motifs récurrents et alertes plus lisibles.</a:t>
            </a:r>
          </a:p>
        </p:txBody>
      </p:sp>
      <p:sp>
        <p:nvSpPr>
          <p:cNvPr id="21" name="">
            <a:extLst xmlns:a="http://schemas.openxmlformats.org/drawingml/2006/main">
              <a:ext uri="{FF2B5EF4-FFF2-40B4-BE49-F238E27FC236}">
                <a16:creationId xmlns:a16="http://schemas.microsoft.com/office/drawing/2014/main" id="{DB429080-6A0E-44C9-81AC-03D7062F6E3E}"/>
              </a:ext>
            </a:extLst>
          </p:cNvPr>
          <p:cNvSpPr>
            <a:spLocks xmlns:a="http://schemas.openxmlformats.org/drawingml/2006/main" noGrp="1"/>
          </p:cNvSpPr>
          <p:nvPr/>
        </p:nvSpPr>
        <p:spPr>
          <a:xfrm xmlns:a="http://schemas.openxmlformats.org/drawingml/2006/main">
            <a:off x="685800" y="4038600"/>
            <a:ext cx="51435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2" name="">
            <a:extLst xmlns:a="http://schemas.openxmlformats.org/drawingml/2006/main">
              <a:ext uri="{FF2B5EF4-FFF2-40B4-BE49-F238E27FC236}">
                <a16:creationId xmlns:a16="http://schemas.microsoft.com/office/drawing/2014/main" id="{52071012-F134-410D-9D5C-46B9DD8D005A}"/>
              </a:ext>
            </a:extLst>
          </p:cNvPr>
          <p:cNvSpPr>
            <a:spLocks xmlns:a="http://schemas.openxmlformats.org/drawingml/2006/main" noGrp="1"/>
          </p:cNvSpPr>
          <p:nvPr/>
        </p:nvSpPr>
        <p:spPr>
          <a:xfrm xmlns:a="http://schemas.openxmlformats.org/drawingml/2006/main">
            <a:off x="857250" y="421005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4f6a9f2e9ed431d">
            <a:extLst>
              <a:ext uri="{96DAC541-7B7A-43D3-8B79-37D633B846F1}">
                <asvg:svgBlip xmlns:asvg="http://schemas.microsoft.com/office/drawing/2016/SVG/main" r:embed="Rc144f62f77dc48f3"/>
              </a:ext>
            </a:extLst>
          </a:blip>
          <a:stretch xmlns:a="http://schemas.openxmlformats.org/drawingml/2006/main"/>
        </p:blipFill>
        <p:spPr>
          <a:xfrm xmlns:a="http://schemas.openxmlformats.org/drawingml/2006/main">
            <a:off x="952500" y="4305300"/>
            <a:ext cx="228600" cy="228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63C6F9CD-2EC6-4A19-A2F1-8F2932F97156}"/>
              </a:ext>
            </a:extLst>
          </p:cNvPr>
          <p:cNvSpPr>
            <a:spLocks xmlns:a="http://schemas.openxmlformats.org/drawingml/2006/main" noGrp="1"/>
          </p:cNvSpPr>
          <p:nvPr/>
        </p:nvSpPr>
        <p:spPr>
          <a:xfrm xmlns:a="http://schemas.openxmlformats.org/drawingml/2006/main">
            <a:off x="1409700" y="4248150"/>
            <a:ext cx="422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3. Base procédures et scripts terrain</a:t>
            </a:r>
          </a:p>
        </p:txBody>
      </p:sp>
      <p:sp>
        <p:nvSpPr>
          <p:cNvPr id="25" name="">
            <a:extLst xmlns:a="http://schemas.openxmlformats.org/drawingml/2006/main">
              <a:ext uri="{FF2B5EF4-FFF2-40B4-BE49-F238E27FC236}">
                <a16:creationId xmlns:a16="http://schemas.microsoft.com/office/drawing/2014/main" id="{9581F436-0CE7-4492-A8A1-7E66E9F94BE9}"/>
              </a:ext>
            </a:extLst>
          </p:cNvPr>
          <p:cNvSpPr>
            <a:spLocks xmlns:a="http://schemas.openxmlformats.org/drawingml/2006/main" noGrp="1"/>
          </p:cNvSpPr>
          <p:nvPr/>
        </p:nvSpPr>
        <p:spPr>
          <a:xfrm xmlns:a="http://schemas.openxmlformats.org/drawingml/2006/main">
            <a:off x="895350" y="46672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26" name="">
            <a:extLst xmlns:a="http://schemas.openxmlformats.org/drawingml/2006/main">
              <a:ext uri="{FF2B5EF4-FFF2-40B4-BE49-F238E27FC236}">
                <a16:creationId xmlns:a16="http://schemas.microsoft.com/office/drawing/2014/main" id="{E0E396F7-F4DA-43F3-8579-F26B3E29EE2C}"/>
              </a:ext>
            </a:extLst>
          </p:cNvPr>
          <p:cNvSpPr>
            <a:spLocks xmlns:a="http://schemas.openxmlformats.org/drawingml/2006/main" noGrp="1"/>
          </p:cNvSpPr>
          <p:nvPr/>
        </p:nvSpPr>
        <p:spPr>
          <a:xfrm xmlns:a="http://schemas.openxmlformats.org/drawingml/2006/main">
            <a:off x="895350" y="4838700"/>
            <a:ext cx="4724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Réponses et procédures dispersées selon les équipes et les documents.</a:t>
            </a:r>
          </a:p>
        </p:txBody>
      </p:sp>
      <p:sp>
        <p:nvSpPr>
          <p:cNvPr id="27" name="">
            <a:extLst xmlns:a="http://schemas.openxmlformats.org/drawingml/2006/main">
              <a:ext uri="{FF2B5EF4-FFF2-40B4-BE49-F238E27FC236}">
                <a16:creationId xmlns:a16="http://schemas.microsoft.com/office/drawing/2014/main" id="{B7077FC9-59E8-4056-9D77-6BB6DA8F264B}"/>
              </a:ext>
            </a:extLst>
          </p:cNvPr>
          <p:cNvSpPr>
            <a:spLocks xmlns:a="http://schemas.openxmlformats.org/drawingml/2006/main" noGrp="1"/>
          </p:cNvSpPr>
          <p:nvPr/>
        </p:nvSpPr>
        <p:spPr>
          <a:xfrm xmlns:a="http://schemas.openxmlformats.org/drawingml/2006/main">
            <a:off x="895350" y="5276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8" name="">
            <a:extLst xmlns:a="http://schemas.openxmlformats.org/drawingml/2006/main">
              <a:ext uri="{FF2B5EF4-FFF2-40B4-BE49-F238E27FC236}">
                <a16:creationId xmlns:a16="http://schemas.microsoft.com/office/drawing/2014/main" id="{C2DEA274-EE08-477E-8F5A-1A9AF1712A35}"/>
              </a:ext>
            </a:extLst>
          </p:cNvPr>
          <p:cNvSpPr>
            <a:spLocks xmlns:a="http://schemas.openxmlformats.org/drawingml/2006/main" noGrp="1"/>
          </p:cNvSpPr>
          <p:nvPr/>
        </p:nvSpPr>
        <p:spPr>
          <a:xfrm xmlns:a="http://schemas.openxmlformats.org/drawingml/2006/main">
            <a:off x="895350" y="5448300"/>
            <a:ext cx="4724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Base de connaissances assistée pour scripts, contrôles et bonnes réponses.</a:t>
            </a:r>
          </a:p>
        </p:txBody>
      </p:sp>
      <p:sp>
        <p:nvSpPr>
          <p:cNvPr id="29" name="">
            <a:extLst xmlns:a="http://schemas.openxmlformats.org/drawingml/2006/main">
              <a:ext uri="{FF2B5EF4-FFF2-40B4-BE49-F238E27FC236}">
                <a16:creationId xmlns:a16="http://schemas.microsoft.com/office/drawing/2014/main" id="{A25B6D2C-A495-4941-AD73-4ED0F33C2924}"/>
              </a:ext>
            </a:extLst>
          </p:cNvPr>
          <p:cNvSpPr>
            <a:spLocks xmlns:a="http://schemas.openxmlformats.org/drawingml/2006/main" noGrp="1"/>
          </p:cNvSpPr>
          <p:nvPr/>
        </p:nvSpPr>
        <p:spPr>
          <a:xfrm xmlns:a="http://schemas.openxmlformats.org/drawingml/2006/main">
            <a:off x="6096000" y="4038600"/>
            <a:ext cx="54102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0" name="">
            <a:extLst xmlns:a="http://schemas.openxmlformats.org/drawingml/2006/main">
              <a:ext uri="{FF2B5EF4-FFF2-40B4-BE49-F238E27FC236}">
                <a16:creationId xmlns:a16="http://schemas.microsoft.com/office/drawing/2014/main" id="{B2667CEE-0336-4D32-AAF1-E4A69F3F86AF}"/>
              </a:ext>
            </a:extLst>
          </p:cNvPr>
          <p:cNvSpPr>
            <a:spLocks xmlns:a="http://schemas.openxmlformats.org/drawingml/2006/main" noGrp="1"/>
          </p:cNvSpPr>
          <p:nvPr/>
        </p:nvSpPr>
        <p:spPr>
          <a:xfrm xmlns:a="http://schemas.openxmlformats.org/drawingml/2006/main">
            <a:off x="6267450" y="421005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8ab172c914b24ff3">
            <a:extLst>
              <a:ext uri="{96DAC541-7B7A-43D3-8B79-37D633B846F1}">
                <asvg:svgBlip xmlns:asvg="http://schemas.microsoft.com/office/drawing/2016/SVG/main" r:embed="Rd4bb3a297c3e4b50"/>
              </a:ext>
            </a:extLst>
          </a:blip>
          <a:stretch xmlns:a="http://schemas.openxmlformats.org/drawingml/2006/main"/>
        </p:blipFill>
        <p:spPr>
          <a:xfrm xmlns:a="http://schemas.openxmlformats.org/drawingml/2006/main">
            <a:off x="6362700" y="4305300"/>
            <a:ext cx="228600" cy="2286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94B0B75C-AEF2-4775-9108-F9972C85F89D}"/>
              </a:ext>
            </a:extLst>
          </p:cNvPr>
          <p:cNvSpPr>
            <a:spLocks xmlns:a="http://schemas.openxmlformats.org/drawingml/2006/main" noGrp="1"/>
          </p:cNvSpPr>
          <p:nvPr/>
        </p:nvSpPr>
        <p:spPr>
          <a:xfrm xmlns:a="http://schemas.openxmlformats.org/drawingml/2006/main">
            <a:off x="6819900" y="4248150"/>
            <a:ext cx="449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4. Commentaire IA du pilotage qualité</a:t>
            </a:r>
          </a:p>
        </p:txBody>
      </p:sp>
      <p:sp>
        <p:nvSpPr>
          <p:cNvPr id="33" name="">
            <a:extLst xmlns:a="http://schemas.openxmlformats.org/drawingml/2006/main">
              <a:ext uri="{FF2B5EF4-FFF2-40B4-BE49-F238E27FC236}">
                <a16:creationId xmlns:a16="http://schemas.microsoft.com/office/drawing/2014/main" id="{7E8BD494-9829-4B1C-89A4-F5E73986B25B}"/>
              </a:ext>
            </a:extLst>
          </p:cNvPr>
          <p:cNvSpPr>
            <a:spLocks xmlns:a="http://schemas.openxmlformats.org/drawingml/2006/main" noGrp="1"/>
          </p:cNvSpPr>
          <p:nvPr/>
        </p:nvSpPr>
        <p:spPr>
          <a:xfrm xmlns:a="http://schemas.openxmlformats.org/drawingml/2006/main">
            <a:off x="6305550" y="46672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34" name="">
            <a:extLst xmlns:a="http://schemas.openxmlformats.org/drawingml/2006/main">
              <a:ext uri="{FF2B5EF4-FFF2-40B4-BE49-F238E27FC236}">
                <a16:creationId xmlns:a16="http://schemas.microsoft.com/office/drawing/2014/main" id="{DB47A595-7B02-4889-A87E-C270EA3ED04C}"/>
              </a:ext>
            </a:extLst>
          </p:cNvPr>
          <p:cNvSpPr>
            <a:spLocks xmlns:a="http://schemas.openxmlformats.org/drawingml/2006/main" noGrp="1"/>
          </p:cNvSpPr>
          <p:nvPr/>
        </p:nvSpPr>
        <p:spPr>
          <a:xfrm xmlns:a="http://schemas.openxmlformats.org/drawingml/2006/main">
            <a:off x="6305550" y="4838700"/>
            <a:ext cx="4991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Les indicateurs existent mais sont peu commentés et difficiles à exploiter rapidement.</a:t>
            </a:r>
          </a:p>
        </p:txBody>
      </p:sp>
      <p:sp>
        <p:nvSpPr>
          <p:cNvPr id="35" name="">
            <a:extLst xmlns:a="http://schemas.openxmlformats.org/drawingml/2006/main">
              <a:ext uri="{FF2B5EF4-FFF2-40B4-BE49-F238E27FC236}">
                <a16:creationId xmlns:a16="http://schemas.microsoft.com/office/drawing/2014/main" id="{33C26EFA-077E-4224-9ABA-6744102F9B5B}"/>
              </a:ext>
            </a:extLst>
          </p:cNvPr>
          <p:cNvSpPr>
            <a:spLocks xmlns:a="http://schemas.openxmlformats.org/drawingml/2006/main" noGrp="1"/>
          </p:cNvSpPr>
          <p:nvPr/>
        </p:nvSpPr>
        <p:spPr>
          <a:xfrm xmlns:a="http://schemas.openxmlformats.org/drawingml/2006/main">
            <a:off x="6305550" y="5276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36" name="">
            <a:extLst xmlns:a="http://schemas.openxmlformats.org/drawingml/2006/main">
              <a:ext uri="{FF2B5EF4-FFF2-40B4-BE49-F238E27FC236}">
                <a16:creationId xmlns:a16="http://schemas.microsoft.com/office/drawing/2014/main" id="{D0740BDE-BD46-4DBB-BB87-722D9C48C391}"/>
              </a:ext>
            </a:extLst>
          </p:cNvPr>
          <p:cNvSpPr>
            <a:spLocks xmlns:a="http://schemas.openxmlformats.org/drawingml/2006/main" noGrp="1"/>
          </p:cNvSpPr>
          <p:nvPr/>
        </p:nvSpPr>
        <p:spPr>
          <a:xfrm xmlns:a="http://schemas.openxmlformats.org/drawingml/2006/main">
            <a:off x="6305550" y="5448300"/>
            <a:ext cx="49911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Commentaires automatiques des écarts, synthèses managers et meilleurs arbitrages.</a:t>
            </a:r>
          </a:p>
        </p:txBody>
      </p:sp>
      <p:sp>
        <p:nvSpPr>
          <p:cNvPr id="37" name="">
            <a:extLst xmlns:a="http://schemas.openxmlformats.org/drawingml/2006/main">
              <a:ext uri="{FF2B5EF4-FFF2-40B4-BE49-F238E27FC236}">
                <a16:creationId xmlns:a16="http://schemas.microsoft.com/office/drawing/2014/main" id="{6AFAFA13-BE4D-4442-89FD-F94B5AE34C1D}"/>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FF73D1E3-48AE-4755-9731-7CE99EC6B118}"/>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Aperçu deck automatisé depuis Assemble Prospect Context</a:t>
            </a:r>
          </a:p>
        </p:txBody>
      </p:sp>
      <p:sp>
        <p:nvSpPr>
          <p:cNvPr id="39" name="">
            <a:extLst xmlns:a="http://schemas.openxmlformats.org/drawingml/2006/main">
              <a:ext uri="{FF2B5EF4-FFF2-40B4-BE49-F238E27FC236}">
                <a16:creationId xmlns:a16="http://schemas.microsoft.com/office/drawing/2014/main" id="{B18C9FE0-25CF-4A8E-AD49-8A74DD8D493F}"/>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07</a:t>
            </a:r>
          </a:p>
        </p:txBody>
      </p:sp>
    </p:spTree>
    <p:extLst>
      <p:ext uri="{BB962C8B-B14F-4D97-AF65-F5344CB8AC3E}">
        <p14:creationId xmlns:p14="http://schemas.microsoft.com/office/powerpoint/2010/main" val="151709739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3D2A45-4935-434B-8997-C93FCDEB75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CAD84BD-4AD1-4E3F-BF1F-BA5F67337A3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 name="">
            <a:extLst xmlns:a="http://schemas.openxmlformats.org/drawingml/2006/main">
              <a:ext uri="{FF2B5EF4-FFF2-40B4-BE49-F238E27FC236}">
                <a16:creationId xmlns:a16="http://schemas.microsoft.com/office/drawing/2014/main" id="{32CD4A02-82CD-4BA3-BB72-879E96BE13C0}"/>
              </a:ext>
            </a:extLst>
          </p:cNvPr>
          <p:cNvSpPr>
            <a:spLocks xmlns:a="http://schemas.openxmlformats.org/drawingml/2006/main" noGrp="1"/>
          </p:cNvSpPr>
          <p:nvPr/>
        </p:nvSpPr>
        <p:spPr>
          <a:xfrm xmlns:a="http://schemas.openxmlformats.org/drawingml/2006/main">
            <a:off x="685800" y="1066800"/>
            <a:ext cx="76200" cy="432435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4" name="">
            <a:extLst xmlns:a="http://schemas.openxmlformats.org/drawingml/2006/main">
              <a:ext uri="{FF2B5EF4-FFF2-40B4-BE49-F238E27FC236}">
                <a16:creationId xmlns:a16="http://schemas.microsoft.com/office/drawing/2014/main" id="{A76AA52D-B042-4BCA-AF77-B1ECE3E55FFE}"/>
              </a:ext>
            </a:extLst>
          </p:cNvPr>
          <p:cNvSpPr>
            <a:spLocks xmlns:a="http://schemas.openxmlformats.org/drawingml/2006/main" noGrp="1"/>
          </p:cNvSpPr>
          <p:nvPr/>
        </p:nvSpPr>
        <p:spPr>
          <a:xfrm xmlns:a="http://schemas.openxmlformats.org/drawingml/2006/main">
            <a:off x="990600" y="1162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CE QUE NOUS RECOMMANDONS</a:t>
            </a:r>
          </a:p>
        </p:txBody>
      </p:sp>
      <p:sp>
        <p:nvSpPr>
          <p:cNvPr id="5" name="">
            <a:extLst xmlns:a="http://schemas.openxmlformats.org/drawingml/2006/main">
              <a:ext uri="{FF2B5EF4-FFF2-40B4-BE49-F238E27FC236}">
                <a16:creationId xmlns:a16="http://schemas.microsoft.com/office/drawing/2014/main" id="{4BCFE849-C6EA-4CE2-B02C-3A9A2683545A}"/>
              </a:ext>
            </a:extLst>
          </p:cNvPr>
          <p:cNvSpPr>
            <a:spLocks xmlns:a="http://schemas.openxmlformats.org/drawingml/2006/main" noGrp="1"/>
          </p:cNvSpPr>
          <p:nvPr/>
        </p:nvSpPr>
        <p:spPr>
          <a:xfrm xmlns:a="http://schemas.openxmlformats.org/drawingml/2006/main">
            <a:off x="990600" y="1524000"/>
            <a:ext cx="60960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slides qui transforment</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irritants en valeur</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mesurable.</a:t>
            </a:r>
          </a:p>
        </p:txBody>
      </p:sp>
      <p:sp>
        <p:nvSpPr>
          <p:cNvPr id="6" name="">
            <a:extLst xmlns:a="http://schemas.openxmlformats.org/drawingml/2006/main">
              <a:ext uri="{FF2B5EF4-FFF2-40B4-BE49-F238E27FC236}">
                <a16:creationId xmlns:a16="http://schemas.microsoft.com/office/drawing/2014/main" id="{B08F26A3-6F78-4E54-A879-33BD5A44AB27}"/>
              </a:ext>
            </a:extLst>
          </p:cNvPr>
          <p:cNvSpPr>
            <a:spLocks xmlns:a="http://schemas.openxmlformats.org/drawingml/2006/main" noGrp="1"/>
          </p:cNvSpPr>
          <p:nvPr/>
        </p:nvSpPr>
        <p:spPr>
          <a:xfrm xmlns:a="http://schemas.openxmlformats.org/drawingml/2006/main">
            <a:off x="990600" y="3086100"/>
            <a:ext cx="5334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7E5F3"/>
                </a:solidFill>
                <a:latin typeface="Aptos"/>
                <a:ea typeface="Aptos"/>
                <a:cs typeface="Aptos"/>
              </a:defRPr>
            </a:pPr>
            <a:r>
              <a:rPr sz="1200" b="0">
                <a:solidFill>
                  <a:srgbClr val="D7E5F3"/>
                </a:solidFill>
                <a:latin typeface="Aptos"/>
                <a:ea typeface="Aptos"/>
                <a:cs typeface="Aptos"/>
              </a:rPr>
              <a:t>Cette deuxième partie du deck convertit les cas d'usage en feuille de route, en gouvernance et en prochaine étape commerciale simple.</a:t>
            </a:r>
          </a:p>
        </p:txBody>
      </p:sp>
      <p:sp>
        <p:nvSpPr>
          <p:cNvPr id="7" name="">
            <a:extLst xmlns:a="http://schemas.openxmlformats.org/drawingml/2006/main">
              <a:ext uri="{FF2B5EF4-FFF2-40B4-BE49-F238E27FC236}">
                <a16:creationId xmlns:a16="http://schemas.microsoft.com/office/drawing/2014/main" id="{96BABD20-8CCA-42A8-BAD4-494932CE9820}"/>
              </a:ext>
            </a:extLst>
          </p:cNvPr>
          <p:cNvSpPr>
            <a:spLocks xmlns:a="http://schemas.openxmlformats.org/drawingml/2006/main" noGrp="1"/>
          </p:cNvSpPr>
          <p:nvPr/>
        </p:nvSpPr>
        <p:spPr>
          <a:xfrm xmlns:a="http://schemas.openxmlformats.org/drawingml/2006/main">
            <a:off x="7410450" y="1257300"/>
            <a:ext cx="3752850" cy="16192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8" name="">
            <a:extLst xmlns:a="http://schemas.openxmlformats.org/drawingml/2006/main">
              <a:ext uri="{FF2B5EF4-FFF2-40B4-BE49-F238E27FC236}">
                <a16:creationId xmlns:a16="http://schemas.microsoft.com/office/drawing/2014/main" id="{EF8DF9C1-8F36-4B4B-99C8-843B9844588F}"/>
              </a:ext>
            </a:extLst>
          </p:cNvPr>
          <p:cNvSpPr>
            <a:spLocks xmlns:a="http://schemas.openxmlformats.org/drawingml/2006/main" noGrp="1"/>
          </p:cNvSpPr>
          <p:nvPr/>
        </p:nvSpPr>
        <p:spPr>
          <a:xfrm xmlns:a="http://schemas.openxmlformats.org/drawingml/2006/main">
            <a:off x="7658100" y="148590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7E5F3"/>
                </a:solidFill>
                <a:latin typeface="Aptos"/>
                <a:ea typeface="Aptos"/>
                <a:cs typeface="Aptos"/>
              </a:defRPr>
            </a:pPr>
            <a:r>
              <a:rPr sz="750" b="1">
                <a:solidFill>
                  <a:srgbClr val="D7E5F3"/>
                </a:solidFill>
                <a:latin typeface="Aptos"/>
                <a:ea typeface="Aptos"/>
                <a:cs typeface="Aptos"/>
              </a:rPr>
              <a:t>Ce que le prospect doit retenir</a:t>
            </a:r>
          </a:p>
        </p:txBody>
      </p:sp>
      <p:sp>
        <p:nvSpPr>
          <p:cNvPr id="9" name="">
            <a:extLst xmlns:a="http://schemas.openxmlformats.org/drawingml/2006/main">
              <a:ext uri="{FF2B5EF4-FFF2-40B4-BE49-F238E27FC236}">
                <a16:creationId xmlns:a16="http://schemas.microsoft.com/office/drawing/2014/main" id="{7E8F323F-EE37-4315-B083-0B69A6842B80}"/>
              </a:ext>
            </a:extLst>
          </p:cNvPr>
          <p:cNvSpPr>
            <a:spLocks xmlns:a="http://schemas.openxmlformats.org/drawingml/2006/main" noGrp="1"/>
          </p:cNvSpPr>
          <p:nvPr/>
        </p:nvSpPr>
        <p:spPr>
          <a:xfrm xmlns:a="http://schemas.openxmlformats.org/drawingml/2006/main">
            <a:off x="7658100" y="1733550"/>
            <a:ext cx="32575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TransferAI aide à choisir un premier terrain, à cadrer le pilote, à former les bonnes équipes et à mesurer si l'extension est justifiée.</a:t>
            </a:r>
          </a:p>
        </p:txBody>
      </p:sp>
      <p:sp>
        <p:nvSpPr>
          <p:cNvPr id="10" name="">
            <a:extLst xmlns:a="http://schemas.openxmlformats.org/drawingml/2006/main">
              <a:ext uri="{FF2B5EF4-FFF2-40B4-BE49-F238E27FC236}">
                <a16:creationId xmlns:a16="http://schemas.microsoft.com/office/drawing/2014/main" id="{3185538E-E858-4967-B7B7-662AC4091DB3}"/>
              </a:ext>
            </a:extLst>
          </p:cNvPr>
          <p:cNvSpPr>
            <a:spLocks xmlns:a="http://schemas.openxmlformats.org/drawingml/2006/main" noGrp="1"/>
          </p:cNvSpPr>
          <p:nvPr/>
        </p:nvSpPr>
        <p:spPr>
          <a:xfrm xmlns:a="http://schemas.openxmlformats.org/drawingml/2006/main">
            <a:off x="7410450" y="3200400"/>
            <a:ext cx="3752850" cy="1695450"/>
          </a:xfrm>
          <a:prstGeom xmlns:a="http://schemas.openxmlformats.org/drawingml/2006/main" prst="rect">
            <a:avLst/>
          </a:prstGeom>
          <a:solidFill xmlns:a="http://schemas.openxmlformats.org/drawingml/2006/main">
            <a:srgbClr val="10263F"/>
          </a:solidFill>
          <a:ln xmlns:a="http://schemas.openxmlformats.org/drawingml/2006/main" w="9525">
            <a:solidFill>
              <a:srgbClr val="2F587F"/>
            </a:solidFill>
            <a:prstDash val="solid"/>
          </a:ln>
        </p:spPr>
      </p:sp>
      <p:sp>
        <p:nvSpPr>
          <p:cNvPr id="11" name="">
            <a:extLst xmlns:a="http://schemas.openxmlformats.org/drawingml/2006/main">
              <a:ext uri="{FF2B5EF4-FFF2-40B4-BE49-F238E27FC236}">
                <a16:creationId xmlns:a16="http://schemas.microsoft.com/office/drawing/2014/main" id="{EC67791B-6E33-4A87-8677-89090691F1B4}"/>
              </a:ext>
            </a:extLst>
          </p:cNvPr>
          <p:cNvSpPr>
            <a:spLocks xmlns:a="http://schemas.openxmlformats.org/drawingml/2006/main" noGrp="1"/>
          </p:cNvSpPr>
          <p:nvPr/>
        </p:nvSpPr>
        <p:spPr>
          <a:xfrm xmlns:a="http://schemas.openxmlformats.org/drawingml/2006/main">
            <a:off x="7658100" y="34290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Fil conducteur</a:t>
            </a:r>
          </a:p>
        </p:txBody>
      </p:sp>
      <p:sp>
        <p:nvSpPr>
          <p:cNvPr id="12" name="">
            <a:extLst xmlns:a="http://schemas.openxmlformats.org/drawingml/2006/main">
              <a:ext uri="{FF2B5EF4-FFF2-40B4-BE49-F238E27FC236}">
                <a16:creationId xmlns:a16="http://schemas.microsoft.com/office/drawing/2014/main" id="{FEC99E37-0260-4F87-A348-4A754BFDECD8}"/>
              </a:ext>
            </a:extLst>
          </p:cNvPr>
          <p:cNvSpPr>
            <a:spLocks xmlns:a="http://schemas.openxmlformats.org/drawingml/2006/main" noGrp="1"/>
          </p:cNvSpPr>
          <p:nvPr/>
        </p:nvSpPr>
        <p:spPr>
          <a:xfrm xmlns:a="http://schemas.openxmlformats.org/drawingml/2006/main">
            <a:off x="7658100" y="3714750"/>
            <a:ext cx="31051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Recommander sans surpromettre.</a:t>
            </a:r>
          </a:p>
        </p:txBody>
      </p:sp>
      <p:sp>
        <p:nvSpPr>
          <p:cNvPr id="13" name="">
            <a:extLst xmlns:a="http://schemas.openxmlformats.org/drawingml/2006/main">
              <a:ext uri="{FF2B5EF4-FFF2-40B4-BE49-F238E27FC236}">
                <a16:creationId xmlns:a16="http://schemas.microsoft.com/office/drawing/2014/main" id="{44A07BA7-705B-4D85-9DD8-57AD068EF2EC}"/>
              </a:ext>
            </a:extLst>
          </p:cNvPr>
          <p:cNvSpPr>
            <a:spLocks xmlns:a="http://schemas.openxmlformats.org/drawingml/2006/main" noGrp="1"/>
          </p:cNvSpPr>
          <p:nvPr/>
        </p:nvSpPr>
        <p:spPr>
          <a:xfrm xmlns:a="http://schemas.openxmlformats.org/drawingml/2006/main">
            <a:off x="7658100" y="4305300"/>
            <a:ext cx="3200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7E5F3"/>
                </a:solidFill>
                <a:latin typeface="Aptos"/>
                <a:ea typeface="Aptos"/>
                <a:cs typeface="Aptos"/>
              </a:defRPr>
            </a:pPr>
            <a:r>
              <a:rPr sz="900" b="0">
                <a:solidFill>
                  <a:srgbClr val="D7E5F3"/>
                </a:solidFill>
                <a:latin typeface="Aptos"/>
                <a:ea typeface="Aptos"/>
                <a:cs typeface="Aptos"/>
              </a:rPr>
              <a:t>Un pilote utile, encadré et lisible vaut mieux qu'un grand plan flou ou trop large dès le départ.</a:t>
            </a:r>
          </a:p>
        </p:txBody>
      </p:sp>
      <p:sp>
        <p:nvSpPr>
          <p:cNvPr id="14" name="">
            <a:extLst xmlns:a="http://schemas.openxmlformats.org/drawingml/2006/main">
              <a:ext uri="{FF2B5EF4-FFF2-40B4-BE49-F238E27FC236}">
                <a16:creationId xmlns:a16="http://schemas.microsoft.com/office/drawing/2014/main" id="{E7F5318D-5747-4512-A305-550D626C77A7}"/>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47FA3A97-358B-4BB2-B406-D7D25B694D46}"/>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Aperçu deck automatisé depuis Assemble Prospect Context</a:t>
            </a:r>
          </a:p>
        </p:txBody>
      </p:sp>
      <p:sp>
        <p:nvSpPr>
          <p:cNvPr id="16" name="">
            <a:extLst xmlns:a="http://schemas.openxmlformats.org/drawingml/2006/main">
              <a:ext uri="{FF2B5EF4-FFF2-40B4-BE49-F238E27FC236}">
                <a16:creationId xmlns:a16="http://schemas.microsoft.com/office/drawing/2014/main" id="{A472E358-7DE7-44D9-952C-EBE62892D678}"/>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08</a:t>
            </a:r>
          </a:p>
        </p:txBody>
      </p:sp>
    </p:spTree>
    <p:extLst>
      <p:ext uri="{BB962C8B-B14F-4D97-AF65-F5344CB8AC3E}">
        <p14:creationId xmlns:p14="http://schemas.microsoft.com/office/powerpoint/2010/main" val="25311933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7D70D5-0536-4CF8-987A-AC7C974331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DC7EC11-3ED1-4828-926E-96A0F3217AD0}"/>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DÉTAIL DES CAS D'USAGE</a:t>
            </a:r>
          </a:p>
        </p:txBody>
      </p:sp>
      <p:sp>
        <p:nvSpPr>
          <p:cNvPr id="3" name="">
            <a:extLst xmlns:a="http://schemas.openxmlformats.org/drawingml/2006/main">
              <a:ext uri="{FF2B5EF4-FFF2-40B4-BE49-F238E27FC236}">
                <a16:creationId xmlns:a16="http://schemas.microsoft.com/office/drawing/2014/main" id="{8BBEED1B-C61E-4DAA-BF8E-552B4F6A7D64}"/>
              </a:ext>
            </a:extLst>
          </p:cNvPr>
          <p:cNvSpPr>
            <a:spLocks xmlns:a="http://schemas.openxmlformats.org/drawingml/2006/main" noGrp="1"/>
          </p:cNvSpPr>
          <p:nvPr/>
        </p:nvSpPr>
        <p:spPr>
          <a:xfrm xmlns:a="http://schemas.openxmlformats.org/drawingml/2006/main">
            <a:off x="685800" y="819150"/>
            <a:ext cx="8001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deux premiers terrains à lancer rapidement</a:t>
            </a:r>
          </a:p>
        </p:txBody>
      </p:sp>
      <p:sp>
        <p:nvSpPr>
          <p:cNvPr id="4" name="">
            <a:extLst xmlns:a="http://schemas.openxmlformats.org/drawingml/2006/main">
              <a:ext uri="{FF2B5EF4-FFF2-40B4-BE49-F238E27FC236}">
                <a16:creationId xmlns:a16="http://schemas.microsoft.com/office/drawing/2014/main" id="{E9F60478-8A7B-460D-828B-E653E36B55DA}"/>
              </a:ext>
            </a:extLst>
          </p:cNvPr>
          <p:cNvSpPr>
            <a:spLocks xmlns:a="http://schemas.openxmlformats.org/drawingml/2006/main" noGrp="1"/>
          </p:cNvSpPr>
          <p:nvPr/>
        </p:nvSpPr>
        <p:spPr>
          <a:xfrm xmlns:a="http://schemas.openxmlformats.org/drawingml/2006/main">
            <a:off x="685800" y="1676400"/>
            <a:ext cx="876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Nous recommandons de démarrer par deux flux où la valeur est plus facile à rendre visible pour la direction : copilote service client multicanal et synthèse tickets et incidents.</a:t>
            </a:r>
          </a:p>
        </p:txBody>
      </p:sp>
      <p:sp>
        <p:nvSpPr>
          <p:cNvPr id="5" name="">
            <a:extLst xmlns:a="http://schemas.openxmlformats.org/drawingml/2006/main">
              <a:ext uri="{FF2B5EF4-FFF2-40B4-BE49-F238E27FC236}">
                <a16:creationId xmlns:a16="http://schemas.microsoft.com/office/drawing/2014/main" id="{4B3294BF-C1D5-4134-B82A-FC61F23FCF1C}"/>
              </a:ext>
            </a:extLst>
          </p:cNvPr>
          <p:cNvSpPr>
            <a:spLocks xmlns:a="http://schemas.openxmlformats.org/drawingml/2006/main" noGrp="1"/>
          </p:cNvSpPr>
          <p:nvPr/>
        </p:nvSpPr>
        <p:spPr>
          <a:xfrm xmlns:a="http://schemas.openxmlformats.org/drawingml/2006/main">
            <a:off x="685800" y="2171700"/>
            <a:ext cx="5143500" cy="31051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ABD2309F-AF60-4980-8011-B5D9D210ECE4}"/>
              </a:ext>
            </a:extLst>
          </p:cNvPr>
          <p:cNvSpPr>
            <a:spLocks xmlns:a="http://schemas.openxmlformats.org/drawingml/2006/main" noGrp="1"/>
          </p:cNvSpPr>
          <p:nvPr/>
        </p:nvSpPr>
        <p:spPr>
          <a:xfrm xmlns:a="http://schemas.openxmlformats.org/drawingml/2006/main">
            <a:off x="895350" y="236220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d48f02dd95a4c45">
            <a:extLst>
              <a:ext uri="{96DAC541-7B7A-43D3-8B79-37D633B846F1}">
                <asvg:svgBlip xmlns:asvg="http://schemas.microsoft.com/office/drawing/2016/SVG/main" r:embed="Re6ba25ccf7754ed4"/>
              </a:ext>
            </a:extLst>
          </a:blip>
          <a:stretch xmlns:a="http://schemas.openxmlformats.org/drawingml/2006/main"/>
        </p:blipFill>
        <p:spPr>
          <a:xfrm xmlns:a="http://schemas.openxmlformats.org/drawingml/2006/main">
            <a:off x="990600" y="245745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C2E4BFA-06A5-41D3-BCC8-21BDB2A57A69}"/>
              </a:ext>
            </a:extLst>
          </p:cNvPr>
          <p:cNvSpPr>
            <a:spLocks xmlns:a="http://schemas.openxmlformats.org/drawingml/2006/main" noGrp="1"/>
          </p:cNvSpPr>
          <p:nvPr/>
        </p:nvSpPr>
        <p:spPr>
          <a:xfrm xmlns:a="http://schemas.openxmlformats.org/drawingml/2006/main">
            <a:off x="1428750" y="2362200"/>
            <a:ext cx="3905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Copilote service client multicanal</a:t>
            </a:r>
          </a:p>
        </p:txBody>
      </p:sp>
      <p:sp>
        <p:nvSpPr>
          <p:cNvPr id="9" name="">
            <a:extLst xmlns:a="http://schemas.openxmlformats.org/drawingml/2006/main">
              <a:ext uri="{FF2B5EF4-FFF2-40B4-BE49-F238E27FC236}">
                <a16:creationId xmlns:a16="http://schemas.microsoft.com/office/drawing/2014/main" id="{949C5D55-9D37-421D-9E16-4018A0917F0E}"/>
              </a:ext>
            </a:extLst>
          </p:cNvPr>
          <p:cNvSpPr>
            <a:spLocks xmlns:a="http://schemas.openxmlformats.org/drawingml/2006/main" noGrp="1"/>
          </p:cNvSpPr>
          <p:nvPr/>
        </p:nvSpPr>
        <p:spPr>
          <a:xfrm xmlns:a="http://schemas.openxmlformats.org/drawingml/2006/main">
            <a:off x="895350" y="285750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8B8A4D92-A0B1-4BD8-835C-AB24F24CEE74}"/>
              </a:ext>
            </a:extLst>
          </p:cNvPr>
          <p:cNvSpPr>
            <a:spLocks xmlns:a="http://schemas.openxmlformats.org/drawingml/2006/main" noGrp="1"/>
          </p:cNvSpPr>
          <p:nvPr/>
        </p:nvSpPr>
        <p:spPr>
          <a:xfrm xmlns:a="http://schemas.openxmlformats.org/drawingml/2006/main">
            <a:off x="895350" y="308610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Demandes récurrentes réparties entre plusieurs canaux avec réponses hétérogènes.</a:t>
            </a:r>
          </a:p>
        </p:txBody>
      </p:sp>
      <p:sp>
        <p:nvSpPr>
          <p:cNvPr id="11" name="">
            <a:extLst xmlns:a="http://schemas.openxmlformats.org/drawingml/2006/main">
              <a:ext uri="{FF2B5EF4-FFF2-40B4-BE49-F238E27FC236}">
                <a16:creationId xmlns:a16="http://schemas.microsoft.com/office/drawing/2014/main" id="{54C233FE-1757-4C71-BA98-21AC5E4127D2}"/>
              </a:ext>
            </a:extLst>
          </p:cNvPr>
          <p:cNvSpPr>
            <a:spLocks xmlns:a="http://schemas.openxmlformats.org/drawingml/2006/main" noGrp="1"/>
          </p:cNvSpPr>
          <p:nvPr/>
        </p:nvSpPr>
        <p:spPr>
          <a:xfrm xmlns:a="http://schemas.openxmlformats.org/drawingml/2006/main">
            <a:off x="895350" y="398145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C8A78"/>
                </a:solidFill>
                <a:latin typeface="Aptos"/>
                <a:ea typeface="Aptos"/>
                <a:cs typeface="Aptos"/>
              </a:defRPr>
            </a:pPr>
            <a:r>
              <a:rPr sz="750" b="1">
                <a:solidFill>
                  <a:srgbClr val="1C8A78"/>
                </a:solidFill>
                <a:latin typeface="Aptos"/>
                <a:ea typeface="Aptos"/>
                <a:cs typeface="Aptos"/>
              </a:rPr>
              <a:t>APRÈS</a:t>
            </a:r>
          </a:p>
        </p:txBody>
      </p:sp>
      <p:sp>
        <p:nvSpPr>
          <p:cNvPr id="12" name="">
            <a:extLst xmlns:a="http://schemas.openxmlformats.org/drawingml/2006/main">
              <a:ext uri="{FF2B5EF4-FFF2-40B4-BE49-F238E27FC236}">
                <a16:creationId xmlns:a16="http://schemas.microsoft.com/office/drawing/2014/main" id="{85AB1379-97A5-4D24-9823-861E13FCF10E}"/>
              </a:ext>
            </a:extLst>
          </p:cNvPr>
          <p:cNvSpPr>
            <a:spLocks xmlns:a="http://schemas.openxmlformats.org/drawingml/2006/main" noGrp="1"/>
          </p:cNvSpPr>
          <p:nvPr/>
        </p:nvSpPr>
        <p:spPr>
          <a:xfrm xmlns:a="http://schemas.openxmlformats.org/drawingml/2006/main">
            <a:off x="895350" y="421005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Copilote de réponse, résumés d'interactions et meilleure continuité de traitement.</a:t>
            </a:r>
          </a:p>
        </p:txBody>
      </p:sp>
      <p:sp>
        <p:nvSpPr>
          <p:cNvPr id="13" name="">
            <a:extLst xmlns:a="http://schemas.openxmlformats.org/drawingml/2006/main">
              <a:ext uri="{FF2B5EF4-FFF2-40B4-BE49-F238E27FC236}">
                <a16:creationId xmlns:a16="http://schemas.microsoft.com/office/drawing/2014/main" id="{F89CA154-5A03-4F8B-AA86-626101898632}"/>
              </a:ext>
            </a:extLst>
          </p:cNvPr>
          <p:cNvSpPr>
            <a:spLocks xmlns:a="http://schemas.openxmlformats.org/drawingml/2006/main" noGrp="1"/>
          </p:cNvSpPr>
          <p:nvPr/>
        </p:nvSpPr>
        <p:spPr>
          <a:xfrm xmlns:a="http://schemas.openxmlformats.org/drawingml/2006/main">
            <a:off x="895350" y="4972050"/>
            <a:ext cx="4667250" cy="3810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192BF1AF-B4A5-4B23-9C85-7D609788F9AD}"/>
              </a:ext>
            </a:extLst>
          </p:cNvPr>
          <p:cNvSpPr>
            <a:spLocks xmlns:a="http://schemas.openxmlformats.org/drawingml/2006/main" noGrp="1"/>
          </p:cNvSpPr>
          <p:nvPr/>
        </p:nvSpPr>
        <p:spPr>
          <a:xfrm xmlns:a="http://schemas.openxmlformats.org/drawingml/2006/main">
            <a:off x="1047750" y="5086350"/>
            <a:ext cx="4343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délai moyen de réponse | taux de résolution au premier contact</a:t>
            </a:r>
          </a:p>
        </p:txBody>
      </p:sp>
      <p:sp>
        <p:nvSpPr>
          <p:cNvPr id="15" name="">
            <a:extLst xmlns:a="http://schemas.openxmlformats.org/drawingml/2006/main">
              <a:ext uri="{FF2B5EF4-FFF2-40B4-BE49-F238E27FC236}">
                <a16:creationId xmlns:a16="http://schemas.microsoft.com/office/drawing/2014/main" id="{5376DD96-D90E-4D55-BB40-A2D93460BBC5}"/>
              </a:ext>
            </a:extLst>
          </p:cNvPr>
          <p:cNvSpPr>
            <a:spLocks xmlns:a="http://schemas.openxmlformats.org/drawingml/2006/main" noGrp="1"/>
          </p:cNvSpPr>
          <p:nvPr/>
        </p:nvSpPr>
        <p:spPr>
          <a:xfrm xmlns:a="http://schemas.openxmlformats.org/drawingml/2006/main">
            <a:off x="6096000" y="2171700"/>
            <a:ext cx="5410200" cy="31051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6" name="">
            <a:extLst xmlns:a="http://schemas.openxmlformats.org/drawingml/2006/main">
              <a:ext uri="{FF2B5EF4-FFF2-40B4-BE49-F238E27FC236}">
                <a16:creationId xmlns:a16="http://schemas.microsoft.com/office/drawing/2014/main" id="{E8751034-B55F-41D4-9BAF-FF3344567199}"/>
              </a:ext>
            </a:extLst>
          </p:cNvPr>
          <p:cNvSpPr>
            <a:spLocks xmlns:a="http://schemas.openxmlformats.org/drawingml/2006/main" noGrp="1"/>
          </p:cNvSpPr>
          <p:nvPr/>
        </p:nvSpPr>
        <p:spPr>
          <a:xfrm xmlns:a="http://schemas.openxmlformats.org/drawingml/2006/main">
            <a:off x="6305550" y="236220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721e3f1662a4a75">
            <a:extLst>
              <a:ext uri="{96DAC541-7B7A-43D3-8B79-37D633B846F1}">
                <asvg:svgBlip xmlns:asvg="http://schemas.microsoft.com/office/drawing/2016/SVG/main" r:embed="R7eeeedd1368c41fd"/>
              </a:ext>
            </a:extLst>
          </a:blip>
          <a:stretch xmlns:a="http://schemas.openxmlformats.org/drawingml/2006/main"/>
        </p:blipFill>
        <p:spPr>
          <a:xfrm xmlns:a="http://schemas.openxmlformats.org/drawingml/2006/main">
            <a:off x="6400800" y="2457450"/>
            <a:ext cx="228600" cy="2286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C13683F4-B4F5-47A5-9106-140919EC8A41}"/>
              </a:ext>
            </a:extLst>
          </p:cNvPr>
          <p:cNvSpPr>
            <a:spLocks xmlns:a="http://schemas.openxmlformats.org/drawingml/2006/main" noGrp="1"/>
          </p:cNvSpPr>
          <p:nvPr/>
        </p:nvSpPr>
        <p:spPr>
          <a:xfrm xmlns:a="http://schemas.openxmlformats.org/drawingml/2006/main">
            <a:off x="6838950" y="2362200"/>
            <a:ext cx="400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Synthèse tickets et incidents</a:t>
            </a:r>
          </a:p>
        </p:txBody>
      </p:sp>
      <p:sp>
        <p:nvSpPr>
          <p:cNvPr id="19" name="">
            <a:extLst xmlns:a="http://schemas.openxmlformats.org/drawingml/2006/main">
              <a:ext uri="{FF2B5EF4-FFF2-40B4-BE49-F238E27FC236}">
                <a16:creationId xmlns:a16="http://schemas.microsoft.com/office/drawing/2014/main" id="{958B3AB6-7B97-4B95-99C9-5196F41F3734}"/>
              </a:ext>
            </a:extLst>
          </p:cNvPr>
          <p:cNvSpPr>
            <a:spLocks xmlns:a="http://schemas.openxmlformats.org/drawingml/2006/main" noGrp="1"/>
          </p:cNvSpPr>
          <p:nvPr/>
        </p:nvSpPr>
        <p:spPr>
          <a:xfrm xmlns:a="http://schemas.openxmlformats.org/drawingml/2006/main">
            <a:off x="6305550" y="285750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AVANT</a:t>
            </a:r>
          </a:p>
        </p:txBody>
      </p:sp>
      <p:sp>
        <p:nvSpPr>
          <p:cNvPr id="20" name="">
            <a:extLst xmlns:a="http://schemas.openxmlformats.org/drawingml/2006/main">
              <a:ext uri="{FF2B5EF4-FFF2-40B4-BE49-F238E27FC236}">
                <a16:creationId xmlns:a16="http://schemas.microsoft.com/office/drawing/2014/main" id="{D0D05CA4-7E04-48BE-BC7C-02189A8CDBC9}"/>
              </a:ext>
            </a:extLst>
          </p:cNvPr>
          <p:cNvSpPr>
            <a:spLocks xmlns:a="http://schemas.openxmlformats.org/drawingml/2006/main" noGrp="1"/>
          </p:cNvSpPr>
          <p:nvPr/>
        </p:nvSpPr>
        <p:spPr>
          <a:xfrm xmlns:a="http://schemas.openxmlformats.org/drawingml/2006/main">
            <a:off x="6305550" y="3086100"/>
            <a:ext cx="47434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Analyse manuelle des tickets et reporting lent pour les managers.</a:t>
            </a:r>
          </a:p>
        </p:txBody>
      </p:sp>
      <p:sp>
        <p:nvSpPr>
          <p:cNvPr id="21" name="">
            <a:extLst xmlns:a="http://schemas.openxmlformats.org/drawingml/2006/main">
              <a:ext uri="{FF2B5EF4-FFF2-40B4-BE49-F238E27FC236}">
                <a16:creationId xmlns:a16="http://schemas.microsoft.com/office/drawing/2014/main" id="{F0CC943C-A067-4DB5-AFF9-D33ACE553E20}"/>
              </a:ext>
            </a:extLst>
          </p:cNvPr>
          <p:cNvSpPr>
            <a:spLocks xmlns:a="http://schemas.openxmlformats.org/drawingml/2006/main" noGrp="1"/>
          </p:cNvSpPr>
          <p:nvPr/>
        </p:nvSpPr>
        <p:spPr>
          <a:xfrm xmlns:a="http://schemas.openxmlformats.org/drawingml/2006/main">
            <a:off x="6305550" y="398145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C8A78"/>
                </a:solidFill>
                <a:latin typeface="Aptos"/>
                <a:ea typeface="Aptos"/>
                <a:cs typeface="Aptos"/>
              </a:defRPr>
            </a:pPr>
            <a:r>
              <a:rPr sz="750" b="1">
                <a:solidFill>
                  <a:srgbClr val="1C8A78"/>
                </a:solidFill>
                <a:latin typeface="Aptos"/>
                <a:ea typeface="Aptos"/>
                <a:cs typeface="Aptos"/>
              </a:rPr>
              <a:t>APRÈS</a:t>
            </a:r>
          </a:p>
        </p:txBody>
      </p:sp>
      <p:sp>
        <p:nvSpPr>
          <p:cNvPr id="22" name="">
            <a:extLst xmlns:a="http://schemas.openxmlformats.org/drawingml/2006/main">
              <a:ext uri="{FF2B5EF4-FFF2-40B4-BE49-F238E27FC236}">
                <a16:creationId xmlns:a16="http://schemas.microsoft.com/office/drawing/2014/main" id="{9F1760E7-6AF9-43DD-8D62-27E3D73BEEB4}"/>
              </a:ext>
            </a:extLst>
          </p:cNvPr>
          <p:cNvSpPr>
            <a:spLocks xmlns:a="http://schemas.openxmlformats.org/drawingml/2006/main" noGrp="1"/>
          </p:cNvSpPr>
          <p:nvPr/>
        </p:nvSpPr>
        <p:spPr>
          <a:xfrm xmlns:a="http://schemas.openxmlformats.org/drawingml/2006/main">
            <a:off x="6305550" y="4210050"/>
            <a:ext cx="47434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Synthèses automatiques, regroupement des motifs récurrents et alertes plus lisibles.</a:t>
            </a:r>
          </a:p>
        </p:txBody>
      </p:sp>
      <p:sp>
        <p:nvSpPr>
          <p:cNvPr id="23" name="">
            <a:extLst xmlns:a="http://schemas.openxmlformats.org/drawingml/2006/main">
              <a:ext uri="{FF2B5EF4-FFF2-40B4-BE49-F238E27FC236}">
                <a16:creationId xmlns:a16="http://schemas.microsoft.com/office/drawing/2014/main" id="{FC84E7C7-F345-41B4-9595-36A602DAD25E}"/>
              </a:ext>
            </a:extLst>
          </p:cNvPr>
          <p:cNvSpPr>
            <a:spLocks xmlns:a="http://schemas.openxmlformats.org/drawingml/2006/main" noGrp="1"/>
          </p:cNvSpPr>
          <p:nvPr/>
        </p:nvSpPr>
        <p:spPr>
          <a:xfrm xmlns:a="http://schemas.openxmlformats.org/drawingml/2006/main">
            <a:off x="6305550" y="4972050"/>
            <a:ext cx="4743450" cy="3810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4" name="">
            <a:extLst xmlns:a="http://schemas.openxmlformats.org/drawingml/2006/main">
              <a:ext uri="{FF2B5EF4-FFF2-40B4-BE49-F238E27FC236}">
                <a16:creationId xmlns:a16="http://schemas.microsoft.com/office/drawing/2014/main" id="{E0197B30-DDD3-4211-BCB7-39B6BC3047DD}"/>
              </a:ext>
            </a:extLst>
          </p:cNvPr>
          <p:cNvSpPr>
            <a:spLocks xmlns:a="http://schemas.openxmlformats.org/drawingml/2006/main" noGrp="1"/>
          </p:cNvSpPr>
          <p:nvPr/>
        </p:nvSpPr>
        <p:spPr>
          <a:xfrm xmlns:a="http://schemas.openxmlformats.org/drawingml/2006/main">
            <a:off x="6457950" y="5086350"/>
            <a:ext cx="44386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temps de préparation du reporting | délai d'escalade</a:t>
            </a:r>
          </a:p>
        </p:txBody>
      </p:sp>
      <p:sp>
        <p:nvSpPr>
          <p:cNvPr id="25" name="">
            <a:extLst xmlns:a="http://schemas.openxmlformats.org/drawingml/2006/main">
              <a:ext uri="{FF2B5EF4-FFF2-40B4-BE49-F238E27FC236}">
                <a16:creationId xmlns:a16="http://schemas.microsoft.com/office/drawing/2014/main" id="{73AE6E7E-DFF5-467B-8A61-7D1EFCA678C6}"/>
              </a:ext>
            </a:extLst>
          </p:cNvPr>
          <p:cNvSpPr>
            <a:spLocks xmlns:a="http://schemas.openxmlformats.org/drawingml/2006/main" noGrp="1"/>
          </p:cNvSpPr>
          <p:nvPr/>
        </p:nvSpPr>
        <p:spPr>
          <a:xfrm xmlns:a="http://schemas.openxmlformats.org/drawingml/2006/main">
            <a:off x="685800" y="5619750"/>
            <a:ext cx="10820400" cy="5143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26" name="">
            <a:extLst xmlns:a="http://schemas.openxmlformats.org/drawingml/2006/main">
              <a:ext uri="{FF2B5EF4-FFF2-40B4-BE49-F238E27FC236}">
                <a16:creationId xmlns:a16="http://schemas.microsoft.com/office/drawing/2014/main" id="{E84733E2-4213-49AA-96D4-3BF7C0D6862F}"/>
              </a:ext>
            </a:extLst>
          </p:cNvPr>
          <p:cNvSpPr>
            <a:spLocks xmlns:a="http://schemas.openxmlformats.org/drawingml/2006/main" noGrp="1"/>
          </p:cNvSpPr>
          <p:nvPr/>
        </p:nvSpPr>
        <p:spPr>
          <a:xfrm xmlns:a="http://schemas.openxmlformats.org/drawingml/2006/main">
            <a:off x="914400" y="5772150"/>
            <a:ext cx="1036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Ces deux flux ont un avantage : ils parlent à la fois à la direction, aux opérations et aux équipes métier. Ils permettent donc de montrer très vite une valeur concrète, sans promettre une transformation trop large dès le départ.</a:t>
            </a:r>
          </a:p>
        </p:txBody>
      </p:sp>
      <p:sp>
        <p:nvSpPr>
          <p:cNvPr id="27" name="">
            <a:extLst xmlns:a="http://schemas.openxmlformats.org/drawingml/2006/main">
              <a:ext uri="{FF2B5EF4-FFF2-40B4-BE49-F238E27FC236}">
                <a16:creationId xmlns:a16="http://schemas.microsoft.com/office/drawing/2014/main" id="{3FBB3717-158B-4FF1-9873-D22E233D1D7F}"/>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FD95F8D4-F837-4B9F-902B-270FB2F71503}"/>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Aperçu deck automatisé depuis Assemble Prospect Context</a:t>
            </a:r>
          </a:p>
        </p:txBody>
      </p:sp>
      <p:sp>
        <p:nvSpPr>
          <p:cNvPr id="29" name="">
            <a:extLst xmlns:a="http://schemas.openxmlformats.org/drawingml/2006/main">
              <a:ext uri="{FF2B5EF4-FFF2-40B4-BE49-F238E27FC236}">
                <a16:creationId xmlns:a16="http://schemas.microsoft.com/office/drawing/2014/main" id="{58EA67DD-8B70-4927-8DEC-B822F3ADF8E6}"/>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09</a:t>
            </a:r>
          </a:p>
        </p:txBody>
      </p:sp>
    </p:spTree>
    <p:extLst>
      <p:ext uri="{BB962C8B-B14F-4D97-AF65-F5344CB8AC3E}">
        <p14:creationId xmlns:p14="http://schemas.microsoft.com/office/powerpoint/2010/main" val="118040093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75CD4AE-4C70-45E1-B58B-CC669B9E57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D33C817-A108-4DAB-B390-29353FECEC3C}"/>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DÉTAIL DES CAS D'USAGE</a:t>
            </a:r>
          </a:p>
        </p:txBody>
      </p:sp>
      <p:sp>
        <p:nvSpPr>
          <p:cNvPr id="3" name="">
            <a:extLst xmlns:a="http://schemas.openxmlformats.org/drawingml/2006/main">
              <a:ext uri="{FF2B5EF4-FFF2-40B4-BE49-F238E27FC236}">
                <a16:creationId xmlns:a16="http://schemas.microsoft.com/office/drawing/2014/main" id="{650C1B80-9094-4198-AD38-069B6360B755}"/>
              </a:ext>
            </a:extLst>
          </p:cNvPr>
          <p:cNvSpPr>
            <a:spLocks xmlns:a="http://schemas.openxmlformats.org/drawingml/2006/main" noGrp="1"/>
          </p:cNvSpPr>
          <p:nvPr/>
        </p:nvSpPr>
        <p:spPr>
          <a:xfrm xmlns:a="http://schemas.openxmlformats.org/drawingml/2006/main">
            <a:off x="685800" y="819150"/>
            <a:ext cx="9334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cas d'usage qui renforcent la qualité de service et la standardisation</a:t>
            </a:r>
          </a:p>
        </p:txBody>
      </p:sp>
      <p:sp>
        <p:nvSpPr>
          <p:cNvPr id="4" name="">
            <a:extLst xmlns:a="http://schemas.openxmlformats.org/drawingml/2006/main">
              <a:ext uri="{FF2B5EF4-FFF2-40B4-BE49-F238E27FC236}">
                <a16:creationId xmlns:a16="http://schemas.microsoft.com/office/drawing/2014/main" id="{E73AF136-0A53-4FED-A9A1-653BE659FBB1}"/>
              </a:ext>
            </a:extLst>
          </p:cNvPr>
          <p:cNvSpPr>
            <a:spLocks xmlns:a="http://schemas.openxmlformats.org/drawingml/2006/main" noGrp="1"/>
          </p:cNvSpPr>
          <p:nvPr/>
        </p:nvSpPr>
        <p:spPr>
          <a:xfrm xmlns:a="http://schemas.openxmlformats.org/drawingml/2006/main">
            <a:off x="685800" y="1676400"/>
            <a:ext cx="914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Ces deux usages rendent aussi la formation plus crédible : on apprend sur des situations réelles chez Orange Côte d'Ivoire, pas sur des exemples génériques.</a:t>
            </a:r>
          </a:p>
        </p:txBody>
      </p:sp>
      <p:sp>
        <p:nvSpPr>
          <p:cNvPr id="5" name="">
            <a:extLst xmlns:a="http://schemas.openxmlformats.org/drawingml/2006/main">
              <a:ext uri="{FF2B5EF4-FFF2-40B4-BE49-F238E27FC236}">
                <a16:creationId xmlns:a16="http://schemas.microsoft.com/office/drawing/2014/main" id="{18A871D8-635D-456D-B54C-0BDA6E2D7E12}"/>
              </a:ext>
            </a:extLst>
          </p:cNvPr>
          <p:cNvSpPr>
            <a:spLocks xmlns:a="http://schemas.openxmlformats.org/drawingml/2006/main" noGrp="1"/>
          </p:cNvSpPr>
          <p:nvPr/>
        </p:nvSpPr>
        <p:spPr>
          <a:xfrm xmlns:a="http://schemas.openxmlformats.org/drawingml/2006/main">
            <a:off x="685800" y="2171700"/>
            <a:ext cx="5143500" cy="2933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39DBD1C0-1A0F-41CD-BA1C-9C486E90F8A2}"/>
              </a:ext>
            </a:extLst>
          </p:cNvPr>
          <p:cNvSpPr>
            <a:spLocks xmlns:a="http://schemas.openxmlformats.org/drawingml/2006/main" noGrp="1"/>
          </p:cNvSpPr>
          <p:nvPr/>
        </p:nvSpPr>
        <p:spPr>
          <a:xfrm xmlns:a="http://schemas.openxmlformats.org/drawingml/2006/main">
            <a:off x="895350" y="236220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57644de10c144e6">
            <a:extLst>
              <a:ext uri="{96DAC541-7B7A-43D3-8B79-37D633B846F1}">
                <asvg:svgBlip xmlns:asvg="http://schemas.microsoft.com/office/drawing/2016/SVG/main" r:embed="R71cc5f116be145cc"/>
              </a:ext>
            </a:extLst>
          </a:blip>
          <a:stretch xmlns:a="http://schemas.openxmlformats.org/drawingml/2006/main"/>
        </p:blipFill>
        <p:spPr>
          <a:xfrm xmlns:a="http://schemas.openxmlformats.org/drawingml/2006/main">
            <a:off x="990600" y="245745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D6B7242-8C3B-4804-AF8A-EF825881A855}"/>
              </a:ext>
            </a:extLst>
          </p:cNvPr>
          <p:cNvSpPr>
            <a:spLocks xmlns:a="http://schemas.openxmlformats.org/drawingml/2006/main" noGrp="1"/>
          </p:cNvSpPr>
          <p:nvPr/>
        </p:nvSpPr>
        <p:spPr>
          <a:xfrm xmlns:a="http://schemas.openxmlformats.org/drawingml/2006/main">
            <a:off x="1428750" y="2362200"/>
            <a:ext cx="3714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Base procédures et scripts terrain</a:t>
            </a:r>
          </a:p>
        </p:txBody>
      </p:sp>
      <p:sp>
        <p:nvSpPr>
          <p:cNvPr id="9" name="">
            <a:extLst xmlns:a="http://schemas.openxmlformats.org/drawingml/2006/main">
              <a:ext uri="{FF2B5EF4-FFF2-40B4-BE49-F238E27FC236}">
                <a16:creationId xmlns:a16="http://schemas.microsoft.com/office/drawing/2014/main" id="{DFDED826-15C4-4C7E-BA0C-6EB592ABD998}"/>
              </a:ext>
            </a:extLst>
          </p:cNvPr>
          <p:cNvSpPr>
            <a:spLocks xmlns:a="http://schemas.openxmlformats.org/drawingml/2006/main" noGrp="1"/>
          </p:cNvSpPr>
          <p:nvPr/>
        </p:nvSpPr>
        <p:spPr>
          <a:xfrm xmlns:a="http://schemas.openxmlformats.org/drawingml/2006/main">
            <a:off x="895350" y="2857500"/>
            <a:ext cx="1143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Usages proposés</a:t>
            </a:r>
          </a:p>
        </p:txBody>
      </p:sp>
      <p:sp>
        <p:nvSpPr>
          <p:cNvPr id="10" name="">
            <a:extLst xmlns:a="http://schemas.openxmlformats.org/drawingml/2006/main">
              <a:ext uri="{FF2B5EF4-FFF2-40B4-BE49-F238E27FC236}">
                <a16:creationId xmlns:a16="http://schemas.microsoft.com/office/drawing/2014/main" id="{4D01E688-B8C6-49DB-B3B6-DA78B2EB4E73}"/>
              </a:ext>
            </a:extLst>
          </p:cNvPr>
          <p:cNvSpPr>
            <a:spLocks xmlns:a="http://schemas.openxmlformats.org/drawingml/2006/main" noGrp="1"/>
          </p:cNvSpPr>
          <p:nvPr/>
        </p:nvSpPr>
        <p:spPr>
          <a:xfrm xmlns:a="http://schemas.openxmlformats.org/drawingml/2006/main">
            <a:off x="895350" y="3086100"/>
            <a:ext cx="4343400" cy="1009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Base de connaissances assistée pour scripts, contrôles et bonnes réponses.</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KPI cible : temps de recherche d'information | temps d'onboarding</a:t>
            </a:r>
          </a:p>
        </p:txBody>
      </p:sp>
      <p:sp>
        <p:nvSpPr>
          <p:cNvPr id="11" name="">
            <a:extLst xmlns:a="http://schemas.openxmlformats.org/drawingml/2006/main">
              <a:ext uri="{FF2B5EF4-FFF2-40B4-BE49-F238E27FC236}">
                <a16:creationId xmlns:a16="http://schemas.microsoft.com/office/drawing/2014/main" id="{507BB4B3-CF4F-4930-BB02-E5D30265E1CF}"/>
              </a:ext>
            </a:extLst>
          </p:cNvPr>
          <p:cNvSpPr>
            <a:spLocks xmlns:a="http://schemas.openxmlformats.org/drawingml/2006/main" noGrp="1"/>
          </p:cNvSpPr>
          <p:nvPr/>
        </p:nvSpPr>
        <p:spPr>
          <a:xfrm xmlns:a="http://schemas.openxmlformats.org/drawingml/2006/main">
            <a:off x="895350" y="4114800"/>
            <a:ext cx="4667250" cy="8001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2" name="">
            <a:extLst xmlns:a="http://schemas.openxmlformats.org/drawingml/2006/main">
              <a:ext uri="{FF2B5EF4-FFF2-40B4-BE49-F238E27FC236}">
                <a16:creationId xmlns:a16="http://schemas.microsoft.com/office/drawing/2014/main" id="{233011C3-C636-46C4-9222-2B15FC16FFB2}"/>
              </a:ext>
            </a:extLst>
          </p:cNvPr>
          <p:cNvSpPr>
            <a:spLocks xmlns:a="http://schemas.openxmlformats.org/drawingml/2006/main" noGrp="1"/>
          </p:cNvSpPr>
          <p:nvPr/>
        </p:nvSpPr>
        <p:spPr>
          <a:xfrm xmlns:a="http://schemas.openxmlformats.org/drawingml/2006/main">
            <a:off x="1066800" y="4362450"/>
            <a:ext cx="4286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temps de recherche d'information | temps d'onboarding</a:t>
            </a:r>
          </a:p>
        </p:txBody>
      </p:sp>
      <p:sp>
        <p:nvSpPr>
          <p:cNvPr id="13" name="">
            <a:extLst xmlns:a="http://schemas.openxmlformats.org/drawingml/2006/main">
              <a:ext uri="{FF2B5EF4-FFF2-40B4-BE49-F238E27FC236}">
                <a16:creationId xmlns:a16="http://schemas.microsoft.com/office/drawing/2014/main" id="{47B2BC17-06D6-4B05-99F1-162E8946ECE6}"/>
              </a:ext>
            </a:extLst>
          </p:cNvPr>
          <p:cNvSpPr>
            <a:spLocks xmlns:a="http://schemas.openxmlformats.org/drawingml/2006/main" noGrp="1"/>
          </p:cNvSpPr>
          <p:nvPr/>
        </p:nvSpPr>
        <p:spPr>
          <a:xfrm xmlns:a="http://schemas.openxmlformats.org/drawingml/2006/main">
            <a:off x="6096000" y="2171700"/>
            <a:ext cx="5410200" cy="2933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BC372C05-45BE-4969-8E7E-296251B3E53C}"/>
              </a:ext>
            </a:extLst>
          </p:cNvPr>
          <p:cNvSpPr>
            <a:spLocks xmlns:a="http://schemas.openxmlformats.org/drawingml/2006/main" noGrp="1"/>
          </p:cNvSpPr>
          <p:nvPr/>
        </p:nvSpPr>
        <p:spPr>
          <a:xfrm xmlns:a="http://schemas.openxmlformats.org/drawingml/2006/main">
            <a:off x="6305550" y="236220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527b2df42e74df0">
            <a:extLst>
              <a:ext uri="{96DAC541-7B7A-43D3-8B79-37D633B846F1}">
                <asvg:svgBlip xmlns:asvg="http://schemas.microsoft.com/office/drawing/2016/SVG/main" r:embed="R37905ea912d34cc0"/>
              </a:ext>
            </a:extLst>
          </a:blip>
          <a:stretch xmlns:a="http://schemas.openxmlformats.org/drawingml/2006/main"/>
        </p:blipFill>
        <p:spPr>
          <a:xfrm xmlns:a="http://schemas.openxmlformats.org/drawingml/2006/main">
            <a:off x="6400800" y="245745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9C4567B-6F2C-4C7A-BFA0-154BD32F41F6}"/>
              </a:ext>
            </a:extLst>
          </p:cNvPr>
          <p:cNvSpPr>
            <a:spLocks xmlns:a="http://schemas.openxmlformats.org/drawingml/2006/main" noGrp="1"/>
          </p:cNvSpPr>
          <p:nvPr/>
        </p:nvSpPr>
        <p:spPr>
          <a:xfrm xmlns:a="http://schemas.openxmlformats.org/drawingml/2006/main">
            <a:off x="6838950" y="2362200"/>
            <a:ext cx="4114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Commentaire IA du pilotage qualité</a:t>
            </a:r>
          </a:p>
        </p:txBody>
      </p:sp>
      <p:sp>
        <p:nvSpPr>
          <p:cNvPr id="17" name="">
            <a:extLst xmlns:a="http://schemas.openxmlformats.org/drawingml/2006/main">
              <a:ext uri="{FF2B5EF4-FFF2-40B4-BE49-F238E27FC236}">
                <a16:creationId xmlns:a16="http://schemas.microsoft.com/office/drawing/2014/main" id="{DAA077CF-A89F-447F-9D4B-5058FBD450FD}"/>
              </a:ext>
            </a:extLst>
          </p:cNvPr>
          <p:cNvSpPr>
            <a:spLocks xmlns:a="http://schemas.openxmlformats.org/drawingml/2006/main" noGrp="1"/>
          </p:cNvSpPr>
          <p:nvPr/>
        </p:nvSpPr>
        <p:spPr>
          <a:xfrm xmlns:a="http://schemas.openxmlformats.org/drawingml/2006/main">
            <a:off x="6305550" y="2857500"/>
            <a:ext cx="1143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Usages proposés</a:t>
            </a:r>
          </a:p>
        </p:txBody>
      </p:sp>
      <p:sp>
        <p:nvSpPr>
          <p:cNvPr id="18" name="">
            <a:extLst xmlns:a="http://schemas.openxmlformats.org/drawingml/2006/main">
              <a:ext uri="{FF2B5EF4-FFF2-40B4-BE49-F238E27FC236}">
                <a16:creationId xmlns:a16="http://schemas.microsoft.com/office/drawing/2014/main" id="{27E281E3-BE6C-4042-BC51-6F2EE37EB3F2}"/>
              </a:ext>
            </a:extLst>
          </p:cNvPr>
          <p:cNvSpPr>
            <a:spLocks xmlns:a="http://schemas.openxmlformats.org/drawingml/2006/main" noGrp="1"/>
          </p:cNvSpPr>
          <p:nvPr/>
        </p:nvSpPr>
        <p:spPr>
          <a:xfrm xmlns:a="http://schemas.openxmlformats.org/drawingml/2006/main">
            <a:off x="6305550" y="3086100"/>
            <a:ext cx="4667250" cy="1009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Commentaires automatiques des écarts, synthèses managers et meilleurs arbitrages.</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KPI cible : temps de lecture des KPI | réactivité de pilotage</a:t>
            </a:r>
          </a:p>
        </p:txBody>
      </p:sp>
      <p:sp>
        <p:nvSpPr>
          <p:cNvPr id="19" name="">
            <a:extLst xmlns:a="http://schemas.openxmlformats.org/drawingml/2006/main">
              <a:ext uri="{FF2B5EF4-FFF2-40B4-BE49-F238E27FC236}">
                <a16:creationId xmlns:a16="http://schemas.microsoft.com/office/drawing/2014/main" id="{D7B601DC-5AFA-485E-AD0B-CD6688122618}"/>
              </a:ext>
            </a:extLst>
          </p:cNvPr>
          <p:cNvSpPr>
            <a:spLocks xmlns:a="http://schemas.openxmlformats.org/drawingml/2006/main" noGrp="1"/>
          </p:cNvSpPr>
          <p:nvPr/>
        </p:nvSpPr>
        <p:spPr>
          <a:xfrm xmlns:a="http://schemas.openxmlformats.org/drawingml/2006/main">
            <a:off x="6305550" y="4114800"/>
            <a:ext cx="4743450" cy="8001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0" name="">
            <a:extLst xmlns:a="http://schemas.openxmlformats.org/drawingml/2006/main">
              <a:ext uri="{FF2B5EF4-FFF2-40B4-BE49-F238E27FC236}">
                <a16:creationId xmlns:a16="http://schemas.microsoft.com/office/drawing/2014/main" id="{31C0B2E9-4F2B-4029-BF65-C025D9DBB108}"/>
              </a:ext>
            </a:extLst>
          </p:cNvPr>
          <p:cNvSpPr>
            <a:spLocks xmlns:a="http://schemas.openxmlformats.org/drawingml/2006/main" noGrp="1"/>
          </p:cNvSpPr>
          <p:nvPr/>
        </p:nvSpPr>
        <p:spPr>
          <a:xfrm xmlns:a="http://schemas.openxmlformats.org/drawingml/2006/main">
            <a:off x="6477000" y="4362450"/>
            <a:ext cx="4381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temps de lecture des KPI | réactivité de pilotage</a:t>
            </a:r>
          </a:p>
        </p:txBody>
      </p:sp>
      <p:sp>
        <p:nvSpPr>
          <p:cNvPr id="21" name="">
            <a:extLst xmlns:a="http://schemas.openxmlformats.org/drawingml/2006/main">
              <a:ext uri="{FF2B5EF4-FFF2-40B4-BE49-F238E27FC236}">
                <a16:creationId xmlns:a16="http://schemas.microsoft.com/office/drawing/2014/main" id="{0C9FC0A5-DD89-4EAE-85B2-35E2EBC0A9D8}"/>
              </a:ext>
            </a:extLst>
          </p:cNvPr>
          <p:cNvSpPr>
            <a:spLocks xmlns:a="http://schemas.openxmlformats.org/drawingml/2006/main" noGrp="1"/>
          </p:cNvSpPr>
          <p:nvPr/>
        </p:nvSpPr>
        <p:spPr>
          <a:xfrm xmlns:a="http://schemas.openxmlformats.org/drawingml/2006/main">
            <a:off x="685800" y="5391150"/>
            <a:ext cx="10820400" cy="7620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22" name="">
            <a:extLst xmlns:a="http://schemas.openxmlformats.org/drawingml/2006/main">
              <a:ext uri="{FF2B5EF4-FFF2-40B4-BE49-F238E27FC236}">
                <a16:creationId xmlns:a16="http://schemas.microsoft.com/office/drawing/2014/main" id="{109C5021-A8A5-4EC6-9E47-F41F903325AE}"/>
              </a:ext>
            </a:extLst>
          </p:cNvPr>
          <p:cNvSpPr>
            <a:spLocks xmlns:a="http://schemas.openxmlformats.org/drawingml/2006/main" noGrp="1"/>
          </p:cNvSpPr>
          <p:nvPr/>
        </p:nvSpPr>
        <p:spPr>
          <a:xfrm xmlns:a="http://schemas.openxmlformats.org/drawingml/2006/main">
            <a:off x="914400" y="5581650"/>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DF5EF"/>
                </a:solidFill>
                <a:latin typeface="Aptos"/>
                <a:ea typeface="Aptos"/>
                <a:cs typeface="Aptos"/>
              </a:defRPr>
            </a:pPr>
            <a:r>
              <a:rPr sz="750" b="1">
                <a:solidFill>
                  <a:srgbClr val="DDF5EF"/>
                </a:solidFill>
                <a:latin typeface="Aptos"/>
                <a:ea typeface="Aptos"/>
                <a:cs typeface="Aptos"/>
              </a:rPr>
              <a:t>Pourquoi cette slide compte</a:t>
            </a:r>
          </a:p>
        </p:txBody>
      </p:sp>
      <p:sp>
        <p:nvSpPr>
          <p:cNvPr id="23" name="">
            <a:extLst xmlns:a="http://schemas.openxmlformats.org/drawingml/2006/main">
              <a:ext uri="{FF2B5EF4-FFF2-40B4-BE49-F238E27FC236}">
                <a16:creationId xmlns:a16="http://schemas.microsoft.com/office/drawing/2014/main" id="{5ED9136C-2D3B-45AE-B676-65461D9FAF72}"/>
              </a:ext>
            </a:extLst>
          </p:cNvPr>
          <p:cNvSpPr>
            <a:spLocks xmlns:a="http://schemas.openxmlformats.org/drawingml/2006/main" noGrp="1"/>
          </p:cNvSpPr>
          <p:nvPr/>
        </p:nvSpPr>
        <p:spPr>
          <a:xfrm xmlns:a="http://schemas.openxmlformats.org/drawingml/2006/main">
            <a:off x="914400" y="5791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La formation devient crédible quand elle prépare des usages visibles.</a:t>
            </a:r>
          </a:p>
        </p:txBody>
      </p:sp>
      <p:sp>
        <p:nvSpPr>
          <p:cNvPr id="24" name="">
            <a:extLst xmlns:a="http://schemas.openxmlformats.org/drawingml/2006/main">
              <a:ext uri="{FF2B5EF4-FFF2-40B4-BE49-F238E27FC236}">
                <a16:creationId xmlns:a16="http://schemas.microsoft.com/office/drawing/2014/main" id="{A73474D8-7DCF-4050-BCE1-6F364878C07F}"/>
              </a:ext>
            </a:extLst>
          </p:cNvPr>
          <p:cNvSpPr>
            <a:spLocks xmlns:a="http://schemas.openxmlformats.org/drawingml/2006/main" noGrp="1"/>
          </p:cNvSpPr>
          <p:nvPr/>
        </p:nvSpPr>
        <p:spPr>
          <a:xfrm xmlns:a="http://schemas.openxmlformats.org/drawingml/2006/main">
            <a:off x="6667500" y="5657850"/>
            <a:ext cx="4476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FFFFFF"/>
                </a:solidFill>
                <a:latin typeface="Aptos"/>
                <a:ea typeface="Aptos"/>
                <a:cs typeface="Aptos"/>
              </a:defRPr>
            </a:pPr>
            <a:r>
              <a:rPr sz="900" b="0">
                <a:solidFill>
                  <a:srgbClr val="FFFFFF"/>
                </a:solidFill>
                <a:latin typeface="Aptos"/>
                <a:ea typeface="Aptos"/>
                <a:cs typeface="Aptos"/>
              </a:rPr>
              <a:t>Cela permet d'éviter un discours abstrait : les équipes voient tout de suite sur quels gestes métier l'IA doit les aider, ici usage quotidien du copilote de réponse</a:t>
            </a:r>
          </a:p>
          <a:p xmlns:a="http://schemas.openxmlformats.org/drawingml/2006/main">
            <a:pPr algn="l">
              <a:defRPr sz="900" b="0">
                <a:solidFill>
                  <a:srgbClr val="FFFFFF"/>
                </a:solidFill>
                <a:latin typeface="Aptos"/>
                <a:ea typeface="Aptos"/>
                <a:cs typeface="Aptos"/>
              </a:defRPr>
            </a:pPr>
            <a:r>
              <a:rPr sz="900" b="0">
                <a:solidFill>
                  <a:srgbClr val="FFFFFF"/>
                </a:solidFill>
                <a:latin typeface="Aptos"/>
                <a:ea typeface="Aptos"/>
                <a:cs typeface="Aptos"/>
              </a:rPr>
              <a:t>lecture et validation des synthèses ia.</a:t>
            </a:r>
          </a:p>
        </p:txBody>
      </p:sp>
      <p:sp>
        <p:nvSpPr>
          <p:cNvPr id="25" name="">
            <a:extLst xmlns:a="http://schemas.openxmlformats.org/drawingml/2006/main">
              <a:ext uri="{FF2B5EF4-FFF2-40B4-BE49-F238E27FC236}">
                <a16:creationId xmlns:a16="http://schemas.microsoft.com/office/drawing/2014/main" id="{A6724D43-F2D0-480F-B391-231A565D6678}"/>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03B29352-13BB-4607-9C42-F7F27815ECE5}"/>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Aperçu deck automatisé depuis Assemble Prospect Context</a:t>
            </a:r>
          </a:p>
        </p:txBody>
      </p:sp>
      <p:sp>
        <p:nvSpPr>
          <p:cNvPr id="27" name="">
            <a:extLst xmlns:a="http://schemas.openxmlformats.org/drawingml/2006/main">
              <a:ext uri="{FF2B5EF4-FFF2-40B4-BE49-F238E27FC236}">
                <a16:creationId xmlns:a16="http://schemas.microsoft.com/office/drawing/2014/main" id="{BA3C8AD8-558D-48F4-A0C0-764EECB90E6F}"/>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10</a:t>
            </a:r>
          </a:p>
        </p:txBody>
      </p:sp>
    </p:spTree>
    <p:extLst>
      <p:ext uri="{BB962C8B-B14F-4D97-AF65-F5344CB8AC3E}">
        <p14:creationId xmlns:p14="http://schemas.microsoft.com/office/powerpoint/2010/main" val="47721693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2DAA80-3BB5-4B6F-8094-C05795ACA1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B75001D-5520-404F-8087-7372AAC21058}"/>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PARCOURS 90 JOURS</a:t>
            </a:r>
          </a:p>
        </p:txBody>
      </p:sp>
      <p:sp>
        <p:nvSpPr>
          <p:cNvPr id="3" name="">
            <a:extLst xmlns:a="http://schemas.openxmlformats.org/drawingml/2006/main">
              <a:ext uri="{FF2B5EF4-FFF2-40B4-BE49-F238E27FC236}">
                <a16:creationId xmlns:a16="http://schemas.microsoft.com/office/drawing/2014/main" id="{292BBFEE-0224-4194-A507-B8DB7EF3FB65}"/>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La séquence recommandée pour passer du cadrage au pilote</a:t>
            </a:r>
          </a:p>
        </p:txBody>
      </p:sp>
      <p:sp>
        <p:nvSpPr>
          <p:cNvPr id="4" name="">
            <a:extLst xmlns:a="http://schemas.openxmlformats.org/drawingml/2006/main">
              <a:ext uri="{FF2B5EF4-FFF2-40B4-BE49-F238E27FC236}">
                <a16:creationId xmlns:a16="http://schemas.microsoft.com/office/drawing/2014/main" id="{40C9F713-50EC-4685-8E38-1C6854D63910}"/>
              </a:ext>
            </a:extLst>
          </p:cNvPr>
          <p:cNvSpPr>
            <a:spLocks xmlns:a="http://schemas.openxmlformats.org/drawingml/2006/main" noGrp="1"/>
          </p:cNvSpPr>
          <p:nvPr/>
        </p:nvSpPr>
        <p:spPr>
          <a:xfrm xmlns:a="http://schemas.openxmlformats.org/drawingml/2006/main">
            <a:off x="685800" y="1676400"/>
            <a:ext cx="8953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Le bon scénario n'est pas de tout vendre d'un bloc, mais d'enchaîner les étapes utiles dans le bon ordre, avec validation à chaque palier.</a:t>
            </a:r>
          </a:p>
        </p:txBody>
      </p:sp>
      <p:sp>
        <p:nvSpPr>
          <p:cNvPr id="5" name="">
            <a:extLst xmlns:a="http://schemas.openxmlformats.org/drawingml/2006/main">
              <a:ext uri="{FF2B5EF4-FFF2-40B4-BE49-F238E27FC236}">
                <a16:creationId xmlns:a16="http://schemas.microsoft.com/office/drawing/2014/main" id="{68884F0A-DB4C-40FC-98FF-B263D41672B1}"/>
              </a:ext>
            </a:extLst>
          </p:cNvPr>
          <p:cNvSpPr>
            <a:spLocks xmlns:a="http://schemas.openxmlformats.org/drawingml/2006/main" noGrp="1"/>
          </p:cNvSpPr>
          <p:nvPr/>
        </p:nvSpPr>
        <p:spPr>
          <a:xfrm xmlns:a="http://schemas.openxmlformats.org/drawingml/2006/main">
            <a:off x="685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EFA098D9-440F-4A69-9A41-0E8003B6A06A}"/>
              </a:ext>
            </a:extLst>
          </p:cNvPr>
          <p:cNvSpPr>
            <a:spLocks xmlns:a="http://schemas.openxmlformats.org/drawingml/2006/main" noGrp="1"/>
          </p:cNvSpPr>
          <p:nvPr/>
        </p:nvSpPr>
        <p:spPr>
          <a:xfrm xmlns:a="http://schemas.openxmlformats.org/drawingml/2006/main">
            <a:off x="857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E76F1D"/>
                </a:solidFill>
                <a:latin typeface="Aptos Display"/>
                <a:ea typeface="Aptos Display"/>
                <a:cs typeface="Aptos Display"/>
              </a:defRPr>
            </a:pPr>
            <a:r>
              <a:rPr sz="1500" b="1">
                <a:solidFill>
                  <a:srgbClr val="E76F1D"/>
                </a:solidFill>
                <a:latin typeface="Aptos Display"/>
                <a:ea typeface="Aptos Display"/>
                <a:cs typeface="Aptos Display"/>
              </a:rPr>
              <a:t>01</a:t>
            </a:r>
          </a:p>
        </p:txBody>
      </p:sp>
      <p:sp>
        <p:nvSpPr>
          <p:cNvPr id="7" name="">
            <a:extLst xmlns:a="http://schemas.openxmlformats.org/drawingml/2006/main">
              <a:ext uri="{FF2B5EF4-FFF2-40B4-BE49-F238E27FC236}">
                <a16:creationId xmlns:a16="http://schemas.microsoft.com/office/drawing/2014/main" id="{A64B84A6-2844-4BFB-AE61-3C5B554C12C4}"/>
              </a:ext>
            </a:extLst>
          </p:cNvPr>
          <p:cNvSpPr>
            <a:spLocks xmlns:a="http://schemas.openxmlformats.org/drawingml/2006/main" noGrp="1"/>
          </p:cNvSpPr>
          <p:nvPr/>
        </p:nvSpPr>
        <p:spPr>
          <a:xfrm xmlns:a="http://schemas.openxmlformats.org/drawingml/2006/main">
            <a:off x="857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J+0 | Audit et cadrage</a:t>
            </a:r>
          </a:p>
        </p:txBody>
      </p:sp>
      <p:sp>
        <p:nvSpPr>
          <p:cNvPr id="8" name="">
            <a:extLst xmlns:a="http://schemas.openxmlformats.org/drawingml/2006/main">
              <a:ext uri="{FF2B5EF4-FFF2-40B4-BE49-F238E27FC236}">
                <a16:creationId xmlns:a16="http://schemas.microsoft.com/office/drawing/2014/main" id="{086B61FB-3ED3-4F81-A848-088205661FCE}"/>
              </a:ext>
            </a:extLst>
          </p:cNvPr>
          <p:cNvSpPr>
            <a:spLocks xmlns:a="http://schemas.openxmlformats.org/drawingml/2006/main" noGrp="1"/>
          </p:cNvSpPr>
          <p:nvPr/>
        </p:nvSpPr>
        <p:spPr>
          <a:xfrm xmlns:a="http://schemas.openxmlformats.org/drawingml/2006/main">
            <a:off x="857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J+0 Audit et cadrage des flux service client et pilotage</a:t>
            </a:r>
          </a:p>
        </p:txBody>
      </p:sp>
      <p:sp>
        <p:nvSpPr>
          <p:cNvPr id="9" name="">
            <a:extLst xmlns:a="http://schemas.openxmlformats.org/drawingml/2006/main">
              <a:ext uri="{FF2B5EF4-FFF2-40B4-BE49-F238E27FC236}">
                <a16:creationId xmlns:a16="http://schemas.microsoft.com/office/drawing/2014/main" id="{D2353D73-A0AB-41D7-ABE6-15CCB777E56B}"/>
              </a:ext>
            </a:extLst>
          </p:cNvPr>
          <p:cNvSpPr>
            <a:spLocks xmlns:a="http://schemas.openxmlformats.org/drawingml/2006/main" noGrp="1"/>
          </p:cNvSpPr>
          <p:nvPr/>
        </p:nvSpPr>
        <p:spPr>
          <a:xfrm xmlns:a="http://schemas.openxmlformats.org/drawingml/2006/main">
            <a:off x="3352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0" name="">
            <a:extLst xmlns:a="http://schemas.openxmlformats.org/drawingml/2006/main">
              <a:ext uri="{FF2B5EF4-FFF2-40B4-BE49-F238E27FC236}">
                <a16:creationId xmlns:a16="http://schemas.microsoft.com/office/drawing/2014/main" id="{3BE24A5B-100E-4281-A6D0-2EE5730D027E}"/>
              </a:ext>
            </a:extLst>
          </p:cNvPr>
          <p:cNvSpPr>
            <a:spLocks xmlns:a="http://schemas.openxmlformats.org/drawingml/2006/main" noGrp="1"/>
          </p:cNvSpPr>
          <p:nvPr/>
        </p:nvSpPr>
        <p:spPr>
          <a:xfrm xmlns:a="http://schemas.openxmlformats.org/drawingml/2006/main">
            <a:off x="3524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C8A78"/>
                </a:solidFill>
                <a:latin typeface="Aptos Display"/>
                <a:ea typeface="Aptos Display"/>
                <a:cs typeface="Aptos Display"/>
              </a:defRPr>
            </a:pPr>
            <a:r>
              <a:rPr sz="1500" b="1">
                <a:solidFill>
                  <a:srgbClr val="1C8A78"/>
                </a:solidFill>
                <a:latin typeface="Aptos Display"/>
                <a:ea typeface="Aptos Display"/>
                <a:cs typeface="Aptos Display"/>
              </a:rPr>
              <a:t>02</a:t>
            </a:r>
          </a:p>
        </p:txBody>
      </p:sp>
      <p:sp>
        <p:nvSpPr>
          <p:cNvPr id="11" name="">
            <a:extLst xmlns:a="http://schemas.openxmlformats.org/drawingml/2006/main">
              <a:ext uri="{FF2B5EF4-FFF2-40B4-BE49-F238E27FC236}">
                <a16:creationId xmlns:a16="http://schemas.microsoft.com/office/drawing/2014/main" id="{E216E46E-49C8-4200-A84D-538FC985D303}"/>
              </a:ext>
            </a:extLst>
          </p:cNvPr>
          <p:cNvSpPr>
            <a:spLocks xmlns:a="http://schemas.openxmlformats.org/drawingml/2006/main" noGrp="1"/>
          </p:cNvSpPr>
          <p:nvPr/>
        </p:nvSpPr>
        <p:spPr>
          <a:xfrm xmlns:a="http://schemas.openxmlformats.org/drawingml/2006/main">
            <a:off x="3524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J+15 | Prototype ciblé</a:t>
            </a:r>
          </a:p>
        </p:txBody>
      </p:sp>
      <p:sp>
        <p:nvSpPr>
          <p:cNvPr id="12" name="">
            <a:extLst xmlns:a="http://schemas.openxmlformats.org/drawingml/2006/main">
              <a:ext uri="{FF2B5EF4-FFF2-40B4-BE49-F238E27FC236}">
                <a16:creationId xmlns:a16="http://schemas.microsoft.com/office/drawing/2014/main" id="{B4A0FB2B-B655-418C-983B-899C704B4C8A}"/>
              </a:ext>
            </a:extLst>
          </p:cNvPr>
          <p:cNvSpPr>
            <a:spLocks xmlns:a="http://schemas.openxmlformats.org/drawingml/2006/main" noGrp="1"/>
          </p:cNvSpPr>
          <p:nvPr/>
        </p:nvSpPr>
        <p:spPr>
          <a:xfrm xmlns:a="http://schemas.openxmlformats.org/drawingml/2006/main">
            <a:off x="3524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J+15 Premier copilote ou première synthèse automatisée</a:t>
            </a:r>
          </a:p>
        </p:txBody>
      </p:sp>
      <p:sp>
        <p:nvSpPr>
          <p:cNvPr id="13" name="">
            <a:extLst xmlns:a="http://schemas.openxmlformats.org/drawingml/2006/main">
              <a:ext uri="{FF2B5EF4-FFF2-40B4-BE49-F238E27FC236}">
                <a16:creationId xmlns:a16="http://schemas.microsoft.com/office/drawing/2014/main" id="{79226794-D138-4AF7-A459-93B85C32BD3E}"/>
              </a:ext>
            </a:extLst>
          </p:cNvPr>
          <p:cNvSpPr>
            <a:spLocks xmlns:a="http://schemas.openxmlformats.org/drawingml/2006/main" noGrp="1"/>
          </p:cNvSpPr>
          <p:nvPr/>
        </p:nvSpPr>
        <p:spPr>
          <a:xfrm xmlns:a="http://schemas.openxmlformats.org/drawingml/2006/main">
            <a:off x="6019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C1DDB560-BE04-4625-8138-2B4F8D793D1D}"/>
              </a:ext>
            </a:extLst>
          </p:cNvPr>
          <p:cNvSpPr>
            <a:spLocks xmlns:a="http://schemas.openxmlformats.org/drawingml/2006/main" noGrp="1"/>
          </p:cNvSpPr>
          <p:nvPr/>
        </p:nvSpPr>
        <p:spPr>
          <a:xfrm xmlns:a="http://schemas.openxmlformats.org/drawingml/2006/main">
            <a:off x="6191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63556"/>
                </a:solidFill>
                <a:latin typeface="Aptos Display"/>
                <a:ea typeface="Aptos Display"/>
                <a:cs typeface="Aptos Display"/>
              </a:defRPr>
            </a:pPr>
            <a:r>
              <a:rPr sz="1500" b="1">
                <a:solidFill>
                  <a:srgbClr val="163556"/>
                </a:solidFill>
                <a:latin typeface="Aptos Display"/>
                <a:ea typeface="Aptos Display"/>
                <a:cs typeface="Aptos Display"/>
              </a:rPr>
              <a:t>03</a:t>
            </a:r>
          </a:p>
        </p:txBody>
      </p:sp>
      <p:sp>
        <p:nvSpPr>
          <p:cNvPr id="15" name="">
            <a:extLst xmlns:a="http://schemas.openxmlformats.org/drawingml/2006/main">
              <a:ext uri="{FF2B5EF4-FFF2-40B4-BE49-F238E27FC236}">
                <a16:creationId xmlns:a16="http://schemas.microsoft.com/office/drawing/2014/main" id="{8895470D-92DE-41F8-80FB-B0A1F791FFF2}"/>
              </a:ext>
            </a:extLst>
          </p:cNvPr>
          <p:cNvSpPr>
            <a:spLocks xmlns:a="http://schemas.openxmlformats.org/drawingml/2006/main" noGrp="1"/>
          </p:cNvSpPr>
          <p:nvPr/>
        </p:nvSpPr>
        <p:spPr>
          <a:xfrm xmlns:a="http://schemas.openxmlformats.org/drawingml/2006/main">
            <a:off x="6191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J+45 | Formation et pilote</a:t>
            </a:r>
          </a:p>
        </p:txBody>
      </p:sp>
      <p:sp>
        <p:nvSpPr>
          <p:cNvPr id="16" name="">
            <a:extLst xmlns:a="http://schemas.openxmlformats.org/drawingml/2006/main">
              <a:ext uri="{FF2B5EF4-FFF2-40B4-BE49-F238E27FC236}">
                <a16:creationId xmlns:a16="http://schemas.microsoft.com/office/drawing/2014/main" id="{580F09D1-AD27-4C77-9288-5B803D010729}"/>
              </a:ext>
            </a:extLst>
          </p:cNvPr>
          <p:cNvSpPr>
            <a:spLocks xmlns:a="http://schemas.openxmlformats.org/drawingml/2006/main" noGrp="1"/>
          </p:cNvSpPr>
          <p:nvPr/>
        </p:nvSpPr>
        <p:spPr>
          <a:xfrm xmlns:a="http://schemas.openxmlformats.org/drawingml/2006/main">
            <a:off x="6191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J+45 Formation ciblée et lancement du pilote</a:t>
            </a:r>
          </a:p>
        </p:txBody>
      </p:sp>
      <p:sp>
        <p:nvSpPr>
          <p:cNvPr id="17" name="">
            <a:extLst xmlns:a="http://schemas.openxmlformats.org/drawingml/2006/main">
              <a:ext uri="{FF2B5EF4-FFF2-40B4-BE49-F238E27FC236}">
                <a16:creationId xmlns:a16="http://schemas.microsoft.com/office/drawing/2014/main" id="{9F062DEF-38EB-4E10-B0BD-A9E06422F45B}"/>
              </a:ext>
            </a:extLst>
          </p:cNvPr>
          <p:cNvSpPr>
            <a:spLocks xmlns:a="http://schemas.openxmlformats.org/drawingml/2006/main" noGrp="1"/>
          </p:cNvSpPr>
          <p:nvPr/>
        </p:nvSpPr>
        <p:spPr>
          <a:xfrm xmlns:a="http://schemas.openxmlformats.org/drawingml/2006/main">
            <a:off x="8686800" y="2247900"/>
            <a:ext cx="2819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8" name="">
            <a:extLst xmlns:a="http://schemas.openxmlformats.org/drawingml/2006/main">
              <a:ext uri="{FF2B5EF4-FFF2-40B4-BE49-F238E27FC236}">
                <a16:creationId xmlns:a16="http://schemas.microsoft.com/office/drawing/2014/main" id="{EB50A78C-1FAC-4BE1-8E05-06E526731979}"/>
              </a:ext>
            </a:extLst>
          </p:cNvPr>
          <p:cNvSpPr>
            <a:spLocks xmlns:a="http://schemas.openxmlformats.org/drawingml/2006/main" noGrp="1"/>
          </p:cNvSpPr>
          <p:nvPr/>
        </p:nvSpPr>
        <p:spPr>
          <a:xfrm xmlns:a="http://schemas.openxmlformats.org/drawingml/2006/main">
            <a:off x="8858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C88C3A"/>
                </a:solidFill>
                <a:latin typeface="Aptos Display"/>
                <a:ea typeface="Aptos Display"/>
                <a:cs typeface="Aptos Display"/>
              </a:defRPr>
            </a:pPr>
            <a:r>
              <a:rPr sz="1500" b="1">
                <a:solidFill>
                  <a:srgbClr val="C88C3A"/>
                </a:solidFill>
                <a:latin typeface="Aptos Display"/>
                <a:ea typeface="Aptos Display"/>
                <a:cs typeface="Aptos Display"/>
              </a:rPr>
              <a:t>04</a:t>
            </a:r>
          </a:p>
        </p:txBody>
      </p:sp>
      <p:sp>
        <p:nvSpPr>
          <p:cNvPr id="19" name="">
            <a:extLst xmlns:a="http://schemas.openxmlformats.org/drawingml/2006/main">
              <a:ext uri="{FF2B5EF4-FFF2-40B4-BE49-F238E27FC236}">
                <a16:creationId xmlns:a16="http://schemas.microsoft.com/office/drawing/2014/main" id="{65D1E705-3651-45B9-AFFB-DB6322139CBA}"/>
              </a:ext>
            </a:extLst>
          </p:cNvPr>
          <p:cNvSpPr>
            <a:spLocks xmlns:a="http://schemas.openxmlformats.org/drawingml/2006/main" noGrp="1"/>
          </p:cNvSpPr>
          <p:nvPr/>
        </p:nvSpPr>
        <p:spPr>
          <a:xfrm xmlns:a="http://schemas.openxmlformats.org/drawingml/2006/main">
            <a:off x="8858250" y="2762250"/>
            <a:ext cx="2476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J+90 | ROI et extension</a:t>
            </a:r>
          </a:p>
        </p:txBody>
      </p:sp>
      <p:sp>
        <p:nvSpPr>
          <p:cNvPr id="20" name="">
            <a:extLst xmlns:a="http://schemas.openxmlformats.org/drawingml/2006/main">
              <a:ext uri="{FF2B5EF4-FFF2-40B4-BE49-F238E27FC236}">
                <a16:creationId xmlns:a16="http://schemas.microsoft.com/office/drawing/2014/main" id="{055C4C28-87B9-4DBB-BB9D-E6C4EB91D2E4}"/>
              </a:ext>
            </a:extLst>
          </p:cNvPr>
          <p:cNvSpPr>
            <a:spLocks xmlns:a="http://schemas.openxmlformats.org/drawingml/2006/main" noGrp="1"/>
          </p:cNvSpPr>
          <p:nvPr/>
        </p:nvSpPr>
        <p:spPr>
          <a:xfrm xmlns:a="http://schemas.openxmlformats.org/drawingml/2006/main">
            <a:off x="8858250" y="3333750"/>
            <a:ext cx="247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J+90 Mesure des résultats et décision d'extension</a:t>
            </a:r>
          </a:p>
        </p:txBody>
      </p:sp>
      <p:sp>
        <p:nvSpPr>
          <p:cNvPr id="21" name="">
            <a:extLst xmlns:a="http://schemas.openxmlformats.org/drawingml/2006/main">
              <a:ext uri="{FF2B5EF4-FFF2-40B4-BE49-F238E27FC236}">
                <a16:creationId xmlns:a16="http://schemas.microsoft.com/office/drawing/2014/main" id="{DB13DB5F-BD78-4910-861F-46F0C5F0C8E4}"/>
              </a:ext>
            </a:extLst>
          </p:cNvPr>
          <p:cNvSpPr>
            <a:spLocks xmlns:a="http://schemas.openxmlformats.org/drawingml/2006/main" noGrp="1"/>
          </p:cNvSpPr>
          <p:nvPr/>
        </p:nvSpPr>
        <p:spPr>
          <a:xfrm xmlns:a="http://schemas.openxmlformats.org/drawingml/2006/main">
            <a:off x="685800" y="4953000"/>
            <a:ext cx="10820400" cy="10668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22" name="">
            <a:extLst xmlns:a="http://schemas.openxmlformats.org/drawingml/2006/main">
              <a:ext uri="{FF2B5EF4-FFF2-40B4-BE49-F238E27FC236}">
                <a16:creationId xmlns:a16="http://schemas.microsoft.com/office/drawing/2014/main" id="{D851BAD9-8415-4890-A107-39CBAE928C11}"/>
              </a:ext>
            </a:extLst>
          </p:cNvPr>
          <p:cNvSpPr>
            <a:spLocks xmlns:a="http://schemas.openxmlformats.org/drawingml/2006/main" noGrp="1"/>
          </p:cNvSpPr>
          <p:nvPr/>
        </p:nvSpPr>
        <p:spPr>
          <a:xfrm xmlns:a="http://schemas.openxmlformats.org/drawingml/2006/main">
            <a:off x="914400" y="5162550"/>
            <a:ext cx="2762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Ce que l'organisation obtient à chaque étape</a:t>
            </a:r>
          </a:p>
        </p:txBody>
      </p:sp>
      <p:sp>
        <p:nvSpPr>
          <p:cNvPr id="23" name="">
            <a:extLst xmlns:a="http://schemas.openxmlformats.org/drawingml/2006/main">
              <a:ext uri="{FF2B5EF4-FFF2-40B4-BE49-F238E27FC236}">
                <a16:creationId xmlns:a16="http://schemas.microsoft.com/office/drawing/2014/main" id="{E3D6C6EF-6BB2-4148-BC07-3AB5A5022F7F}"/>
              </a:ext>
            </a:extLst>
          </p:cNvPr>
          <p:cNvSpPr>
            <a:spLocks xmlns:a="http://schemas.openxmlformats.org/drawingml/2006/main" noGrp="1"/>
          </p:cNvSpPr>
          <p:nvPr/>
        </p:nvSpPr>
        <p:spPr>
          <a:xfrm xmlns:a="http://schemas.openxmlformats.org/drawingml/2006/main">
            <a:off x="914400" y="5391150"/>
            <a:ext cx="2476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FFFFFF"/>
                </a:solidFill>
                <a:latin typeface="Aptos"/>
                <a:ea typeface="Aptos"/>
                <a:cs typeface="Aptos"/>
              </a:defRPr>
            </a:pPr>
            <a:r>
              <a:rPr sz="825" b="0">
                <a:solidFill>
                  <a:srgbClr val="FFFFFF"/>
                </a:solidFill>
                <a:latin typeface="Aptos"/>
                <a:ea typeface="Aptos"/>
                <a:cs typeface="Aptos"/>
              </a:rPr>
              <a:t>• priorités mieux choisies</a:t>
            </a:r>
          </a:p>
          <a:p xmlns:a="http://schemas.openxmlformats.org/drawingml/2006/main">
            <a:pPr algn="l">
              <a:defRPr sz="825" b="0">
                <a:solidFill>
                  <a:srgbClr val="FFFFFF"/>
                </a:solidFill>
                <a:latin typeface="Aptos"/>
                <a:ea typeface="Aptos"/>
                <a:cs typeface="Aptos"/>
              </a:defRPr>
            </a:pPr>
            <a:r>
              <a:rPr sz="825" b="0">
                <a:solidFill>
                  <a:srgbClr val="FFFFFF"/>
                </a:solidFill>
                <a:latin typeface="Aptos"/>
                <a:ea typeface="Aptos"/>
                <a:cs typeface="Aptos"/>
              </a:rPr>
              <a:t>• cas d'usage mieux qualifiés</a:t>
            </a:r>
          </a:p>
          <a:p xmlns:a="http://schemas.openxmlformats.org/drawingml/2006/main">
            <a:pPr algn="l">
              <a:defRPr sz="825" b="0">
                <a:solidFill>
                  <a:srgbClr val="FFFFFF"/>
                </a:solidFill>
                <a:latin typeface="Aptos"/>
                <a:ea typeface="Aptos"/>
                <a:cs typeface="Aptos"/>
              </a:defRPr>
            </a:pPr>
            <a:r>
              <a:rPr sz="825" b="0">
                <a:solidFill>
                  <a:srgbClr val="FFFFFF"/>
                </a:solidFill>
                <a:latin typeface="Aptos"/>
                <a:ea typeface="Aptos"/>
                <a:cs typeface="Aptos"/>
              </a:rPr>
              <a:t>• formation plus ciblée</a:t>
            </a:r>
          </a:p>
          <a:p xmlns:a="http://schemas.openxmlformats.org/drawingml/2006/main">
            <a:pPr algn="l">
              <a:defRPr sz="825" b="0">
                <a:solidFill>
                  <a:srgbClr val="FFFFFF"/>
                </a:solidFill>
                <a:latin typeface="Aptos"/>
                <a:ea typeface="Aptos"/>
                <a:cs typeface="Aptos"/>
              </a:defRPr>
            </a:pPr>
            <a:r>
              <a:rPr sz="825" b="0">
                <a:solidFill>
                  <a:srgbClr val="FFFFFF"/>
                </a:solidFill>
                <a:latin typeface="Aptos"/>
                <a:ea typeface="Aptos"/>
                <a:cs typeface="Aptos"/>
              </a:rPr>
              <a:t>• accompagnement post-formation visible</a:t>
            </a:r>
          </a:p>
          <a:p xmlns:a="http://schemas.openxmlformats.org/drawingml/2006/main">
            <a:pPr algn="l">
              <a:defRPr sz="825" b="0">
                <a:solidFill>
                  <a:srgbClr val="FFFFFF"/>
                </a:solidFill>
                <a:latin typeface="Aptos"/>
                <a:ea typeface="Aptos"/>
                <a:cs typeface="Aptos"/>
              </a:defRPr>
            </a:pPr>
            <a:r>
              <a:rPr sz="825" b="0">
                <a:solidFill>
                  <a:srgbClr val="FFFFFF"/>
                </a:solidFill>
                <a:latin typeface="Aptos"/>
                <a:ea typeface="Aptos"/>
                <a:cs typeface="Aptos"/>
              </a:rPr>
              <a:t>• décision plus simple sur le passage à l'échelle</a:t>
            </a:r>
          </a:p>
        </p:txBody>
      </p:sp>
      <p:sp>
        <p:nvSpPr>
          <p:cNvPr id="24" name="">
            <a:extLst xmlns:a="http://schemas.openxmlformats.org/drawingml/2006/main">
              <a:ext uri="{FF2B5EF4-FFF2-40B4-BE49-F238E27FC236}">
                <a16:creationId xmlns:a16="http://schemas.microsoft.com/office/drawing/2014/main" id="{9D92AB26-E68B-4672-921B-51FEA566CB64}"/>
              </a:ext>
            </a:extLst>
          </p:cNvPr>
          <p:cNvSpPr>
            <a:spLocks xmlns:a="http://schemas.openxmlformats.org/drawingml/2006/main" noGrp="1"/>
          </p:cNvSpPr>
          <p:nvPr/>
        </p:nvSpPr>
        <p:spPr>
          <a:xfrm xmlns:a="http://schemas.openxmlformats.org/drawingml/2006/main">
            <a:off x="3943350" y="5448300"/>
            <a:ext cx="70104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D7E5F3"/>
                </a:solidFill>
                <a:latin typeface="Aptos"/>
                <a:ea typeface="Aptos"/>
                <a:cs typeface="Aptos"/>
              </a:defRPr>
            </a:pPr>
            <a:r>
              <a:rPr sz="900" b="1">
                <a:solidFill>
                  <a:srgbClr val="D7E5F3"/>
                </a:solidFill>
                <a:latin typeface="Aptos"/>
                <a:ea typeface="Aptos"/>
                <a:cs typeface="Aptos"/>
              </a:rPr>
              <a:t>Principe de gouvernance : aucun passage à l'étape suivante sans validation des livrables, des accès, des usages autorisés et du plan d'accompagnement sur 90 jours.</a:t>
            </a:r>
          </a:p>
        </p:txBody>
      </p:sp>
      <p:sp>
        <p:nvSpPr>
          <p:cNvPr id="25" name="">
            <a:extLst xmlns:a="http://schemas.openxmlformats.org/drawingml/2006/main">
              <a:ext uri="{FF2B5EF4-FFF2-40B4-BE49-F238E27FC236}">
                <a16:creationId xmlns:a16="http://schemas.microsoft.com/office/drawing/2014/main" id="{BE6784A4-6AB4-44F5-9EF1-1E0BBF6EF26F}"/>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B6CDBBD-E4D7-484E-AFBC-1E1CC6C46125}"/>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Aperçu deck automatisé depuis Assemble Prospect Context</a:t>
            </a:r>
          </a:p>
        </p:txBody>
      </p:sp>
      <p:sp>
        <p:nvSpPr>
          <p:cNvPr id="27" name="">
            <a:extLst xmlns:a="http://schemas.openxmlformats.org/drawingml/2006/main">
              <a:ext uri="{FF2B5EF4-FFF2-40B4-BE49-F238E27FC236}">
                <a16:creationId xmlns:a16="http://schemas.microsoft.com/office/drawing/2014/main" id="{43753BDB-48C8-4C1F-8570-7ED2377A67B8}"/>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11</a:t>
            </a:r>
          </a:p>
        </p:txBody>
      </p:sp>
    </p:spTree>
    <p:extLst>
      <p:ext uri="{BB962C8B-B14F-4D97-AF65-F5344CB8AC3E}">
        <p14:creationId xmlns:p14="http://schemas.microsoft.com/office/powerpoint/2010/main" val="148731085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E0000C-CA10-4EF0-A3BA-6ED4A12DD2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401DEB5-6DE6-47C6-BECE-32DA4BA2B40E}"/>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OFFRE RECOMMANDÉE</a:t>
            </a:r>
          </a:p>
        </p:txBody>
      </p:sp>
      <p:sp>
        <p:nvSpPr>
          <p:cNvPr id="3" name="">
            <a:extLst xmlns:a="http://schemas.openxmlformats.org/drawingml/2006/main">
              <a:ext uri="{FF2B5EF4-FFF2-40B4-BE49-F238E27FC236}">
                <a16:creationId xmlns:a16="http://schemas.microsoft.com/office/drawing/2014/main" id="{1563C2C1-8AD5-4536-B45C-110AFAC01A62}"/>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La proposition TransferAI pour Orange Côte d'Ivoire</a:t>
            </a:r>
          </a:p>
        </p:txBody>
      </p:sp>
      <p:sp>
        <p:nvSpPr>
          <p:cNvPr id="4" name="">
            <a:extLst xmlns:a="http://schemas.openxmlformats.org/drawingml/2006/main">
              <a:ext uri="{FF2B5EF4-FFF2-40B4-BE49-F238E27FC236}">
                <a16:creationId xmlns:a16="http://schemas.microsoft.com/office/drawing/2014/main" id="{58F7A9DB-D23C-452E-93D5-EAE4D8CA4DD0}"/>
              </a:ext>
            </a:extLst>
          </p:cNvPr>
          <p:cNvSpPr>
            <a:spLocks xmlns:a="http://schemas.openxmlformats.org/drawingml/2006/main" noGrp="1"/>
          </p:cNvSpPr>
          <p:nvPr/>
        </p:nvSpPr>
        <p:spPr>
          <a:xfrm xmlns:a="http://schemas.openxmlformats.org/drawingml/2006/main">
            <a:off x="685800" y="1676400"/>
            <a:ext cx="923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Notre valeur ne vient pas d'un outil unique, mais de l'enchaînement entre diagnostic, formation utile, accompagnement 90 jours, gouvernance et premier terrain d'exécution.</a:t>
            </a:r>
          </a:p>
        </p:txBody>
      </p:sp>
      <p:sp>
        <p:nvSpPr>
          <p:cNvPr id="5" name="">
            <a:extLst xmlns:a="http://schemas.openxmlformats.org/drawingml/2006/main">
              <a:ext uri="{FF2B5EF4-FFF2-40B4-BE49-F238E27FC236}">
                <a16:creationId xmlns:a16="http://schemas.microsoft.com/office/drawing/2014/main" id="{24831C54-D990-48E8-ABFE-6D15CDEBB01F}"/>
              </a:ext>
            </a:extLst>
          </p:cNvPr>
          <p:cNvSpPr>
            <a:spLocks xmlns:a="http://schemas.openxmlformats.org/drawingml/2006/main" noGrp="1"/>
          </p:cNvSpPr>
          <p:nvPr/>
        </p:nvSpPr>
        <p:spPr>
          <a:xfrm xmlns:a="http://schemas.openxmlformats.org/drawingml/2006/main">
            <a:off x="685800" y="2247900"/>
            <a:ext cx="5181600" cy="13335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6" name="">
            <a:extLst xmlns:a="http://schemas.openxmlformats.org/drawingml/2006/main">
              <a:ext uri="{FF2B5EF4-FFF2-40B4-BE49-F238E27FC236}">
                <a16:creationId xmlns:a16="http://schemas.microsoft.com/office/drawing/2014/main" id="{4B2B3547-52DB-489B-A152-7071223CF32D}"/>
              </a:ext>
            </a:extLst>
          </p:cNvPr>
          <p:cNvSpPr>
            <a:spLocks xmlns:a="http://schemas.openxmlformats.org/drawingml/2006/main" noGrp="1"/>
          </p:cNvSpPr>
          <p:nvPr/>
        </p:nvSpPr>
        <p:spPr>
          <a:xfrm xmlns:a="http://schemas.openxmlformats.org/drawingml/2006/main">
            <a:off x="857250" y="2419350"/>
            <a:ext cx="48387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1. Audit, cadrage et feuille de route</a:t>
            </a:r>
          </a:p>
        </p:txBody>
      </p:sp>
      <p:sp>
        <p:nvSpPr>
          <p:cNvPr id="7" name="">
            <a:extLst xmlns:a="http://schemas.openxmlformats.org/drawingml/2006/main">
              <a:ext uri="{FF2B5EF4-FFF2-40B4-BE49-F238E27FC236}">
                <a16:creationId xmlns:a16="http://schemas.microsoft.com/office/drawing/2014/main" id="{BDC190C6-B88C-4581-BCC3-8DDB691168C3}"/>
              </a:ext>
            </a:extLst>
          </p:cNvPr>
          <p:cNvSpPr>
            <a:spLocks xmlns:a="http://schemas.openxmlformats.org/drawingml/2006/main" noGrp="1"/>
          </p:cNvSpPr>
          <p:nvPr/>
        </p:nvSpPr>
        <p:spPr>
          <a:xfrm xmlns:a="http://schemas.openxmlformats.org/drawingml/2006/main">
            <a:off x="857250" y="2933700"/>
            <a:ext cx="4838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priorités métier</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cartographie des flux</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KPI de preuve et conditions de pilotage</a:t>
            </a:r>
          </a:p>
        </p:txBody>
      </p:sp>
      <p:sp>
        <p:nvSpPr>
          <p:cNvPr id="8" name="">
            <a:extLst xmlns:a="http://schemas.openxmlformats.org/drawingml/2006/main">
              <a:ext uri="{FF2B5EF4-FFF2-40B4-BE49-F238E27FC236}">
                <a16:creationId xmlns:a16="http://schemas.microsoft.com/office/drawing/2014/main" id="{6C49BD34-049F-4ACE-8117-08B357828250}"/>
              </a:ext>
            </a:extLst>
          </p:cNvPr>
          <p:cNvSpPr>
            <a:spLocks xmlns:a="http://schemas.openxmlformats.org/drawingml/2006/main" noGrp="1"/>
          </p:cNvSpPr>
          <p:nvPr/>
        </p:nvSpPr>
        <p:spPr>
          <a:xfrm xmlns:a="http://schemas.openxmlformats.org/drawingml/2006/main">
            <a:off x="6096000" y="2247900"/>
            <a:ext cx="5410200" cy="1333500"/>
          </a:xfrm>
          <a:prstGeom xmlns:a="http://schemas.openxmlformats.org/drawingml/2006/main" prst="rect">
            <a:avLst/>
          </a:prstGeom>
          <a:solidFill xmlns:a="http://schemas.openxmlformats.org/drawingml/2006/main">
            <a:srgbClr val="E76F1D"/>
          </a:solidFill>
          <a:ln xmlns:a="http://schemas.openxmlformats.org/drawingml/2006/main" w="0">
            <a:solidFill>
              <a:srgbClr val="E76F1D"/>
            </a:solidFill>
            <a:prstDash val="solid"/>
          </a:ln>
        </p:spPr>
      </p:sp>
      <p:sp>
        <p:nvSpPr>
          <p:cNvPr id="9" name="">
            <a:extLst xmlns:a="http://schemas.openxmlformats.org/drawingml/2006/main">
              <a:ext uri="{FF2B5EF4-FFF2-40B4-BE49-F238E27FC236}">
                <a16:creationId xmlns:a16="http://schemas.microsoft.com/office/drawing/2014/main" id="{556A7461-DF04-4156-83E0-85FB7B0FB926}"/>
              </a:ext>
            </a:extLst>
          </p:cNvPr>
          <p:cNvSpPr>
            <a:spLocks xmlns:a="http://schemas.openxmlformats.org/drawingml/2006/main" noGrp="1"/>
          </p:cNvSpPr>
          <p:nvPr/>
        </p:nvSpPr>
        <p:spPr>
          <a:xfrm xmlns:a="http://schemas.openxmlformats.org/drawingml/2006/main">
            <a:off x="6267450" y="2419350"/>
            <a:ext cx="5067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2. Formation dirigeants et managers</a:t>
            </a:r>
          </a:p>
        </p:txBody>
      </p:sp>
      <p:sp>
        <p:nvSpPr>
          <p:cNvPr id="10" name="">
            <a:extLst xmlns:a="http://schemas.openxmlformats.org/drawingml/2006/main">
              <a:ext uri="{FF2B5EF4-FFF2-40B4-BE49-F238E27FC236}">
                <a16:creationId xmlns:a16="http://schemas.microsoft.com/office/drawing/2014/main" id="{0A16D358-0D35-49CB-A559-DC5179DBAF8A}"/>
              </a:ext>
            </a:extLst>
          </p:cNvPr>
          <p:cNvSpPr>
            <a:spLocks xmlns:a="http://schemas.openxmlformats.org/drawingml/2006/main" noGrp="1"/>
          </p:cNvSpPr>
          <p:nvPr/>
        </p:nvSpPr>
        <p:spPr>
          <a:xfrm xmlns:a="http://schemas.openxmlformats.org/drawingml/2006/main">
            <a:off x="6267450" y="2933700"/>
            <a:ext cx="50673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lecture exécutive des usages IA</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arbitrage, gouvernance et conduite du changement</a:t>
            </a:r>
          </a:p>
        </p:txBody>
      </p:sp>
      <p:sp>
        <p:nvSpPr>
          <p:cNvPr id="11" name="">
            <a:extLst xmlns:a="http://schemas.openxmlformats.org/drawingml/2006/main">
              <a:ext uri="{FF2B5EF4-FFF2-40B4-BE49-F238E27FC236}">
                <a16:creationId xmlns:a16="http://schemas.microsoft.com/office/drawing/2014/main" id="{4A9CFB04-883A-4F14-A57C-460C0E487876}"/>
              </a:ext>
            </a:extLst>
          </p:cNvPr>
          <p:cNvSpPr>
            <a:spLocks xmlns:a="http://schemas.openxmlformats.org/drawingml/2006/main" noGrp="1"/>
          </p:cNvSpPr>
          <p:nvPr/>
        </p:nvSpPr>
        <p:spPr>
          <a:xfrm xmlns:a="http://schemas.openxmlformats.org/drawingml/2006/main">
            <a:off x="685800" y="3810000"/>
            <a:ext cx="5181600" cy="13335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12" name="">
            <a:extLst xmlns:a="http://schemas.openxmlformats.org/drawingml/2006/main">
              <a:ext uri="{FF2B5EF4-FFF2-40B4-BE49-F238E27FC236}">
                <a16:creationId xmlns:a16="http://schemas.microsoft.com/office/drawing/2014/main" id="{1BFC9FA5-C796-4AB3-96B0-948275A155FC}"/>
              </a:ext>
            </a:extLst>
          </p:cNvPr>
          <p:cNvSpPr>
            <a:spLocks xmlns:a="http://schemas.openxmlformats.org/drawingml/2006/main" noGrp="1"/>
          </p:cNvSpPr>
          <p:nvPr/>
        </p:nvSpPr>
        <p:spPr>
          <a:xfrm xmlns:a="http://schemas.openxmlformats.org/drawingml/2006/main">
            <a:off x="857250" y="3981450"/>
            <a:ext cx="48387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3. Formation équipes métier</a:t>
            </a:r>
          </a:p>
        </p:txBody>
      </p:sp>
      <p:sp>
        <p:nvSpPr>
          <p:cNvPr id="13" name="">
            <a:extLst xmlns:a="http://schemas.openxmlformats.org/drawingml/2006/main">
              <a:ext uri="{FF2B5EF4-FFF2-40B4-BE49-F238E27FC236}">
                <a16:creationId xmlns:a16="http://schemas.microsoft.com/office/drawing/2014/main" id="{5B0B55CF-56A5-4477-9E44-8C06381BD4F4}"/>
              </a:ext>
            </a:extLst>
          </p:cNvPr>
          <p:cNvSpPr>
            <a:spLocks xmlns:a="http://schemas.openxmlformats.org/drawingml/2006/main" noGrp="1"/>
          </p:cNvSpPr>
          <p:nvPr/>
        </p:nvSpPr>
        <p:spPr>
          <a:xfrm xmlns:a="http://schemas.openxmlformats.org/drawingml/2006/main">
            <a:off x="857250" y="4495800"/>
            <a:ext cx="4838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usage quotidien du copilote de réponse</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lecture et validation des synthèses IA</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gouvernance des réponses et supervision humaine</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mise à jour des scripts et procédures</a:t>
            </a:r>
          </a:p>
        </p:txBody>
      </p:sp>
      <p:sp>
        <p:nvSpPr>
          <p:cNvPr id="14" name="">
            <a:extLst xmlns:a="http://schemas.openxmlformats.org/drawingml/2006/main">
              <a:ext uri="{FF2B5EF4-FFF2-40B4-BE49-F238E27FC236}">
                <a16:creationId xmlns:a16="http://schemas.microsoft.com/office/drawing/2014/main" id="{F3E2E32E-07C0-4023-8D78-43CCD9CE5E47}"/>
              </a:ext>
            </a:extLst>
          </p:cNvPr>
          <p:cNvSpPr>
            <a:spLocks xmlns:a="http://schemas.openxmlformats.org/drawingml/2006/main" noGrp="1"/>
          </p:cNvSpPr>
          <p:nvPr/>
        </p:nvSpPr>
        <p:spPr>
          <a:xfrm xmlns:a="http://schemas.openxmlformats.org/drawingml/2006/main">
            <a:off x="6096000" y="3810000"/>
            <a:ext cx="5410200" cy="1333500"/>
          </a:xfrm>
          <a:prstGeom xmlns:a="http://schemas.openxmlformats.org/drawingml/2006/main" prst="rect">
            <a:avLst/>
          </a:prstGeom>
          <a:solidFill xmlns:a="http://schemas.openxmlformats.org/drawingml/2006/main">
            <a:srgbClr val="C88C3A"/>
          </a:solidFill>
          <a:ln xmlns:a="http://schemas.openxmlformats.org/drawingml/2006/main" w="0">
            <a:solidFill>
              <a:srgbClr val="C88C3A"/>
            </a:solidFill>
            <a:prstDash val="solid"/>
          </a:ln>
        </p:spPr>
      </p:sp>
      <p:sp>
        <p:nvSpPr>
          <p:cNvPr id="15" name="">
            <a:extLst xmlns:a="http://schemas.openxmlformats.org/drawingml/2006/main">
              <a:ext uri="{FF2B5EF4-FFF2-40B4-BE49-F238E27FC236}">
                <a16:creationId xmlns:a16="http://schemas.microsoft.com/office/drawing/2014/main" id="{932AACFE-AF94-4D4E-8943-353AEAFCE765}"/>
              </a:ext>
            </a:extLst>
          </p:cNvPr>
          <p:cNvSpPr>
            <a:spLocks xmlns:a="http://schemas.openxmlformats.org/drawingml/2006/main" noGrp="1"/>
          </p:cNvSpPr>
          <p:nvPr/>
        </p:nvSpPr>
        <p:spPr>
          <a:xfrm xmlns:a="http://schemas.openxmlformats.org/drawingml/2006/main">
            <a:off x="6267450" y="3981450"/>
            <a:ext cx="5067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4. Accompagnement 90 jours et pilote</a:t>
            </a:r>
          </a:p>
        </p:txBody>
      </p:sp>
      <p:sp>
        <p:nvSpPr>
          <p:cNvPr id="16" name="">
            <a:extLst xmlns:a="http://schemas.openxmlformats.org/drawingml/2006/main">
              <a:ext uri="{FF2B5EF4-FFF2-40B4-BE49-F238E27FC236}">
                <a16:creationId xmlns:a16="http://schemas.microsoft.com/office/drawing/2014/main" id="{A202E52F-918E-4CFE-AF1D-25FA7C9753E0}"/>
              </a:ext>
            </a:extLst>
          </p:cNvPr>
          <p:cNvSpPr>
            <a:spLocks xmlns:a="http://schemas.openxmlformats.org/drawingml/2006/main" noGrp="1"/>
          </p:cNvSpPr>
          <p:nvPr/>
        </p:nvSpPr>
        <p:spPr>
          <a:xfrm xmlns:a="http://schemas.openxmlformats.org/drawingml/2006/main">
            <a:off x="6267450" y="4495800"/>
            <a:ext cx="50673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points de suivi d'usage et de pilotage</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revue de cas réels et blocages terrain</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ajustement des prompts, scripts et procédures</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lecture des premiers KPI et arbitrage d'extension</a:t>
            </a:r>
          </a:p>
        </p:txBody>
      </p:sp>
      <p:sp>
        <p:nvSpPr>
          <p:cNvPr id="17" name="">
            <a:extLst xmlns:a="http://schemas.openxmlformats.org/drawingml/2006/main">
              <a:ext uri="{FF2B5EF4-FFF2-40B4-BE49-F238E27FC236}">
                <a16:creationId xmlns:a16="http://schemas.microsoft.com/office/drawing/2014/main" id="{8C83D633-9C77-4E23-9A2A-18C58C831B00}"/>
              </a:ext>
            </a:extLst>
          </p:cNvPr>
          <p:cNvSpPr>
            <a:spLocks xmlns:a="http://schemas.openxmlformats.org/drawingml/2006/main" noGrp="1"/>
          </p:cNvSpPr>
          <p:nvPr/>
        </p:nvSpPr>
        <p:spPr>
          <a:xfrm xmlns:a="http://schemas.openxmlformats.org/drawingml/2006/main">
            <a:off x="685800" y="5486400"/>
            <a:ext cx="10820400" cy="6286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8" name="">
            <a:extLst xmlns:a="http://schemas.openxmlformats.org/drawingml/2006/main">
              <a:ext uri="{FF2B5EF4-FFF2-40B4-BE49-F238E27FC236}">
                <a16:creationId xmlns:a16="http://schemas.microsoft.com/office/drawing/2014/main" id="{0A9DC42C-C563-46E7-A4EC-0DAE6805F187}"/>
              </a:ext>
            </a:extLst>
          </p:cNvPr>
          <p:cNvSpPr>
            <a:spLocks xmlns:a="http://schemas.openxmlformats.org/drawingml/2006/main" noGrp="1"/>
          </p:cNvSpPr>
          <p:nvPr/>
        </p:nvSpPr>
        <p:spPr>
          <a:xfrm xmlns:a="http://schemas.openxmlformats.org/drawingml/2006/main">
            <a:off x="914400" y="56769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Recommandation de départ</a:t>
            </a:r>
          </a:p>
        </p:txBody>
      </p:sp>
      <p:sp>
        <p:nvSpPr>
          <p:cNvPr id="19" name="">
            <a:extLst xmlns:a="http://schemas.openxmlformats.org/drawingml/2006/main">
              <a:ext uri="{FF2B5EF4-FFF2-40B4-BE49-F238E27FC236}">
                <a16:creationId xmlns:a16="http://schemas.microsoft.com/office/drawing/2014/main" id="{CA8D3108-4D15-4D45-A4F5-E768F4BE90BE}"/>
              </a:ext>
            </a:extLst>
          </p:cNvPr>
          <p:cNvSpPr>
            <a:spLocks xmlns:a="http://schemas.openxmlformats.org/drawingml/2006/main" noGrp="1"/>
          </p:cNvSpPr>
          <p:nvPr/>
        </p:nvSpPr>
        <p:spPr>
          <a:xfrm xmlns:a="http://schemas.openxmlformats.org/drawingml/2006/main">
            <a:off x="2819400" y="5600700"/>
            <a:ext cx="82486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A3554"/>
                </a:solidFill>
                <a:latin typeface="Aptos"/>
                <a:ea typeface="Aptos"/>
                <a:cs typeface="Aptos"/>
              </a:defRPr>
            </a:pPr>
            <a:r>
              <a:rPr sz="900" b="1">
                <a:solidFill>
                  <a:srgbClr val="1A3554"/>
                </a:solidFill>
                <a:latin typeface="Aptos"/>
                <a:ea typeface="Aptos"/>
                <a:cs typeface="Aptos"/>
              </a:rPr>
              <a:t>Commencer par deux flux à forte lisibilité de valeur : copilote service client multicanal + synthèse tickets et incidents. La différence TransferAI n'est pas seulement la formation : c'est l'accompagnement structuré sur 90 jours pour transformer les acquis en usage durable.</a:t>
            </a:r>
          </a:p>
        </p:txBody>
      </p:sp>
      <p:sp>
        <p:nvSpPr>
          <p:cNvPr id="20" name="">
            <a:extLst xmlns:a="http://schemas.openxmlformats.org/drawingml/2006/main">
              <a:ext uri="{FF2B5EF4-FFF2-40B4-BE49-F238E27FC236}">
                <a16:creationId xmlns:a16="http://schemas.microsoft.com/office/drawing/2014/main" id="{45FA06D8-3A07-4A16-95D7-A0363F9B3AAA}"/>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2708942E-CE33-4600-BDCC-10BB5E88D1B6}"/>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Aperçu deck automatisé depuis Assemble Prospect Context</a:t>
            </a:r>
          </a:p>
        </p:txBody>
      </p:sp>
      <p:sp>
        <p:nvSpPr>
          <p:cNvPr id="22" name="">
            <a:extLst xmlns:a="http://schemas.openxmlformats.org/drawingml/2006/main">
              <a:ext uri="{FF2B5EF4-FFF2-40B4-BE49-F238E27FC236}">
                <a16:creationId xmlns:a16="http://schemas.microsoft.com/office/drawing/2014/main" id="{AA514EED-A864-4E9F-9A61-1255EBB39877}"/>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12</a:t>
            </a:r>
          </a:p>
        </p:txBody>
      </p:sp>
    </p:spTree>
    <p:extLst>
      <p:ext uri="{BB962C8B-B14F-4D97-AF65-F5344CB8AC3E}">
        <p14:creationId xmlns:p14="http://schemas.microsoft.com/office/powerpoint/2010/main" val="30340062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7399D3-E8B5-4354-9411-47CB589B23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9065BCF-1FA6-4A8F-9517-F10A2D747442}"/>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CONFIANCE ET PROCHAINE ÉTAPE</a:t>
            </a:r>
          </a:p>
        </p:txBody>
      </p:sp>
      <p:sp>
        <p:nvSpPr>
          <p:cNvPr id="3" name="">
            <a:extLst xmlns:a="http://schemas.openxmlformats.org/drawingml/2006/main">
              <a:ext uri="{FF2B5EF4-FFF2-40B4-BE49-F238E27FC236}">
                <a16:creationId xmlns:a16="http://schemas.microsoft.com/office/drawing/2014/main" id="{96AAC8BB-6FB2-4227-8DDB-4BA0BA731AAE}"/>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Proposer un pilote utile, gouverné et mesurable</a:t>
            </a:r>
          </a:p>
        </p:txBody>
      </p:sp>
      <p:sp>
        <p:nvSpPr>
          <p:cNvPr id="4" name="">
            <a:extLst xmlns:a="http://schemas.openxmlformats.org/drawingml/2006/main">
              <a:ext uri="{FF2B5EF4-FFF2-40B4-BE49-F238E27FC236}">
                <a16:creationId xmlns:a16="http://schemas.microsoft.com/office/drawing/2014/main" id="{868E1E7C-860B-48C0-AA81-BCCB5E7B4B17}"/>
              </a:ext>
            </a:extLst>
          </p:cNvPr>
          <p:cNvSpPr>
            <a:spLocks xmlns:a="http://schemas.openxmlformats.org/drawingml/2006/main" noGrp="1"/>
          </p:cNvSpPr>
          <p:nvPr/>
        </p:nvSpPr>
        <p:spPr>
          <a:xfrm xmlns:a="http://schemas.openxmlformats.org/drawingml/2006/main">
            <a:off x="685800" y="1714500"/>
            <a:ext cx="4953000" cy="37147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5" name="">
            <a:extLst xmlns:a="http://schemas.openxmlformats.org/drawingml/2006/main">
              <a:ext uri="{FF2B5EF4-FFF2-40B4-BE49-F238E27FC236}">
                <a16:creationId xmlns:a16="http://schemas.microsoft.com/office/drawing/2014/main" id="{EA3D57EA-7F35-4264-A21B-D486328E33F5}"/>
              </a:ext>
            </a:extLst>
          </p:cNvPr>
          <p:cNvSpPr>
            <a:spLocks xmlns:a="http://schemas.openxmlformats.org/drawingml/2006/main" noGrp="1"/>
          </p:cNvSpPr>
          <p:nvPr/>
        </p:nvSpPr>
        <p:spPr>
          <a:xfrm xmlns:a="http://schemas.openxmlformats.org/drawingml/2006/main">
            <a:off x="895350" y="194310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ff79fc4dcc947fa">
            <a:extLst>
              <a:ext uri="{96DAC541-7B7A-43D3-8B79-37D633B846F1}">
                <asvg:svgBlip xmlns:asvg="http://schemas.microsoft.com/office/drawing/2016/SVG/main" r:embed="R392a81f8179e4659"/>
              </a:ext>
            </a:extLst>
          </a:blip>
          <a:stretch xmlns:a="http://schemas.openxmlformats.org/drawingml/2006/main"/>
        </p:blipFill>
        <p:spPr>
          <a:xfrm xmlns:a="http://schemas.openxmlformats.org/drawingml/2006/main">
            <a:off x="990600" y="2038350"/>
            <a:ext cx="228600" cy="2286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6E9A574-BF95-4FCB-944B-5F9D1B085A86}"/>
              </a:ext>
            </a:extLst>
          </p:cNvPr>
          <p:cNvSpPr>
            <a:spLocks xmlns:a="http://schemas.openxmlformats.org/drawingml/2006/main" noGrp="1"/>
          </p:cNvSpPr>
          <p:nvPr/>
        </p:nvSpPr>
        <p:spPr>
          <a:xfrm xmlns:a="http://schemas.openxmlformats.org/drawingml/2006/main">
            <a:off x="1428750" y="1943100"/>
            <a:ext cx="3619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Le cadre de confiance à présenter au prospect</a:t>
            </a:r>
          </a:p>
        </p:txBody>
      </p:sp>
      <p:sp>
        <p:nvSpPr>
          <p:cNvPr id="8" name="">
            <a:extLst xmlns:a="http://schemas.openxmlformats.org/drawingml/2006/main">
              <a:ext uri="{FF2B5EF4-FFF2-40B4-BE49-F238E27FC236}">
                <a16:creationId xmlns:a16="http://schemas.microsoft.com/office/drawing/2014/main" id="{826BD01F-C2DC-4564-9559-DEA1D0128A32}"/>
              </a:ext>
            </a:extLst>
          </p:cNvPr>
          <p:cNvSpPr>
            <a:spLocks xmlns:a="http://schemas.openxmlformats.org/drawingml/2006/main" noGrp="1"/>
          </p:cNvSpPr>
          <p:nvPr/>
        </p:nvSpPr>
        <p:spPr>
          <a:xfrm xmlns:a="http://schemas.openxmlformats.org/drawingml/2006/main">
            <a:off x="895350" y="2495550"/>
            <a:ext cx="4267200" cy="1943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0" b="0">
                <a:solidFill>
                  <a:srgbClr val="1A3554"/>
                </a:solidFill>
                <a:latin typeface="Aptos"/>
                <a:ea typeface="Aptos"/>
                <a:cs typeface="Aptos"/>
              </a:defRPr>
            </a:pPr>
            <a:r>
              <a:rPr sz="930" b="0">
                <a:solidFill>
                  <a:srgbClr val="1A3554"/>
                </a:solidFill>
                <a:latin typeface="Aptos"/>
                <a:ea typeface="Aptos"/>
                <a:cs typeface="Aptos"/>
              </a:rPr>
              <a:t>• aucune donnée sensible n'est exposée sans règles d'usage, rôles et validation</a:t>
            </a:r>
          </a:p>
          <a:p xmlns:a="http://schemas.openxmlformats.org/drawingml/2006/main">
            <a:pPr algn="l">
              <a:defRPr sz="930" b="0">
                <a:solidFill>
                  <a:srgbClr val="1A3554"/>
                </a:solidFill>
                <a:latin typeface="Aptos"/>
                <a:ea typeface="Aptos"/>
                <a:cs typeface="Aptos"/>
              </a:defRPr>
            </a:pPr>
            <a:r>
              <a:rPr sz="930" b="0">
                <a:solidFill>
                  <a:srgbClr val="1A3554"/>
                </a:solidFill>
                <a:latin typeface="Aptos"/>
                <a:ea typeface="Aptos"/>
                <a:cs typeface="Aptos"/>
              </a:rPr>
              <a:t>• revue humaine avant toute automatisation critique</a:t>
            </a:r>
          </a:p>
          <a:p xmlns:a="http://schemas.openxmlformats.org/drawingml/2006/main">
            <a:pPr algn="l">
              <a:defRPr sz="930" b="0">
                <a:solidFill>
                  <a:srgbClr val="1A3554"/>
                </a:solidFill>
                <a:latin typeface="Aptos"/>
                <a:ea typeface="Aptos"/>
                <a:cs typeface="Aptos"/>
              </a:defRPr>
            </a:pPr>
            <a:r>
              <a:rPr sz="930" b="0">
                <a:solidFill>
                  <a:srgbClr val="1A3554"/>
                </a:solidFill>
                <a:latin typeface="Aptos"/>
                <a:ea typeface="Aptos"/>
                <a:cs typeface="Aptos"/>
              </a:rPr>
              <a:t>• traçabilité des accès et des sorties</a:t>
            </a:r>
          </a:p>
          <a:p xmlns:a="http://schemas.openxmlformats.org/drawingml/2006/main">
            <a:pPr algn="l">
              <a:defRPr sz="930" b="0">
                <a:solidFill>
                  <a:srgbClr val="1A3554"/>
                </a:solidFill>
                <a:latin typeface="Aptos"/>
                <a:ea typeface="Aptos"/>
                <a:cs typeface="Aptos"/>
              </a:defRPr>
            </a:pPr>
            <a:r>
              <a:rPr sz="930" b="0">
                <a:solidFill>
                  <a:srgbClr val="1A3554"/>
                </a:solidFill>
                <a:latin typeface="Aptos"/>
                <a:ea typeface="Aptos"/>
                <a:cs typeface="Aptos"/>
              </a:rPr>
              <a:t>• périmètre pilote strictement défini avant extension</a:t>
            </a:r>
          </a:p>
          <a:p xmlns:a="http://schemas.openxmlformats.org/drawingml/2006/main">
            <a:pPr algn="l">
              <a:defRPr sz="930" b="0">
                <a:solidFill>
                  <a:srgbClr val="1A3554"/>
                </a:solidFill>
                <a:latin typeface="Aptos"/>
                <a:ea typeface="Aptos"/>
                <a:cs typeface="Aptos"/>
              </a:defRPr>
            </a:pPr>
            <a:r>
              <a:rPr sz="930" b="0">
                <a:solidFill>
                  <a:srgbClr val="1A3554"/>
                </a:solidFill>
                <a:latin typeface="Aptos"/>
                <a:ea typeface="Aptos"/>
                <a:cs typeface="Aptos"/>
              </a:rPr>
              <a:t>• formation intégrée aux exigences de confidentialité et de supervision</a:t>
            </a:r>
          </a:p>
          <a:p xmlns:a="http://schemas.openxmlformats.org/drawingml/2006/main">
            <a:pPr algn="l">
              <a:defRPr sz="930" b="0">
                <a:solidFill>
                  <a:srgbClr val="1A3554"/>
                </a:solidFill>
                <a:latin typeface="Aptos"/>
                <a:ea typeface="Aptos"/>
                <a:cs typeface="Aptos"/>
              </a:defRPr>
            </a:pPr>
            <a:r>
              <a:rPr sz="930" b="0">
                <a:solidFill>
                  <a:srgbClr val="1A3554"/>
                </a:solidFill>
                <a:latin typeface="Aptos"/>
                <a:ea typeface="Aptos"/>
                <a:cs typeface="Aptos"/>
              </a:rPr>
              <a:t>• accompagnement 90 jours pour sécuriser l'adoption réelle</a:t>
            </a:r>
          </a:p>
        </p:txBody>
      </p:sp>
      <p:sp>
        <p:nvSpPr>
          <p:cNvPr id="9" name="">
            <a:extLst xmlns:a="http://schemas.openxmlformats.org/drawingml/2006/main">
              <a:ext uri="{FF2B5EF4-FFF2-40B4-BE49-F238E27FC236}">
                <a16:creationId xmlns:a16="http://schemas.microsoft.com/office/drawing/2014/main" id="{88F6B732-A518-49DE-8EC3-9287C721DD9B}"/>
              </a:ext>
            </a:extLst>
          </p:cNvPr>
          <p:cNvSpPr>
            <a:spLocks xmlns:a="http://schemas.openxmlformats.org/drawingml/2006/main" noGrp="1"/>
          </p:cNvSpPr>
          <p:nvPr/>
        </p:nvSpPr>
        <p:spPr>
          <a:xfrm xmlns:a="http://schemas.openxmlformats.org/drawingml/2006/main">
            <a:off x="895350" y="4343400"/>
            <a:ext cx="4343400" cy="838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0" name="">
            <a:extLst xmlns:a="http://schemas.openxmlformats.org/drawingml/2006/main">
              <a:ext uri="{FF2B5EF4-FFF2-40B4-BE49-F238E27FC236}">
                <a16:creationId xmlns:a16="http://schemas.microsoft.com/office/drawing/2014/main" id="{EF45835C-40F0-418F-A574-9AF004584371}"/>
              </a:ext>
            </a:extLst>
          </p:cNvPr>
          <p:cNvSpPr>
            <a:spLocks xmlns:a="http://schemas.openxmlformats.org/drawingml/2006/main" noGrp="1"/>
          </p:cNvSpPr>
          <p:nvPr/>
        </p:nvSpPr>
        <p:spPr>
          <a:xfrm xmlns:a="http://schemas.openxmlformats.org/drawingml/2006/main">
            <a:off x="1085850" y="4514850"/>
            <a:ext cx="95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Message fort</a:t>
            </a:r>
          </a:p>
        </p:txBody>
      </p:sp>
      <p:sp>
        <p:nvSpPr>
          <p:cNvPr id="11" name="">
            <a:extLst xmlns:a="http://schemas.openxmlformats.org/drawingml/2006/main">
              <a:ext uri="{FF2B5EF4-FFF2-40B4-BE49-F238E27FC236}">
                <a16:creationId xmlns:a16="http://schemas.microsoft.com/office/drawing/2014/main" id="{1CDB6B73-DBE1-4CF9-A5DC-02C3DB79BFA5}"/>
              </a:ext>
            </a:extLst>
          </p:cNvPr>
          <p:cNvSpPr>
            <a:spLocks xmlns:a="http://schemas.openxmlformats.org/drawingml/2006/main" noGrp="1"/>
          </p:cNvSpPr>
          <p:nvPr/>
        </p:nvSpPr>
        <p:spPr>
          <a:xfrm xmlns:a="http://schemas.openxmlformats.org/drawingml/2006/main">
            <a:off x="1085850" y="4724400"/>
            <a:ext cx="3733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Une IA utile, maîtrisée et compatible avec vos exigences de confidentialité.</a:t>
            </a:r>
          </a:p>
        </p:txBody>
      </p:sp>
      <p:sp>
        <p:nvSpPr>
          <p:cNvPr id="12" name="">
            <a:extLst xmlns:a="http://schemas.openxmlformats.org/drawingml/2006/main">
              <a:ext uri="{FF2B5EF4-FFF2-40B4-BE49-F238E27FC236}">
                <a16:creationId xmlns:a16="http://schemas.microsoft.com/office/drawing/2014/main" id="{4CFA1D08-184C-42C1-A7D4-D61587EE7329}"/>
              </a:ext>
            </a:extLst>
          </p:cNvPr>
          <p:cNvSpPr>
            <a:spLocks xmlns:a="http://schemas.openxmlformats.org/drawingml/2006/main" noGrp="1"/>
          </p:cNvSpPr>
          <p:nvPr/>
        </p:nvSpPr>
        <p:spPr>
          <a:xfrm xmlns:a="http://schemas.openxmlformats.org/drawingml/2006/main">
            <a:off x="6096000" y="1714500"/>
            <a:ext cx="5410200" cy="37147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13" name="">
            <a:extLst xmlns:a="http://schemas.openxmlformats.org/drawingml/2006/main">
              <a:ext uri="{FF2B5EF4-FFF2-40B4-BE49-F238E27FC236}">
                <a16:creationId xmlns:a16="http://schemas.microsoft.com/office/drawing/2014/main" id="{47BAAADE-8A28-477B-B4E9-0AB26665AD65}"/>
              </a:ext>
            </a:extLst>
          </p:cNvPr>
          <p:cNvSpPr>
            <a:spLocks xmlns:a="http://schemas.openxmlformats.org/drawingml/2006/main" noGrp="1"/>
          </p:cNvSpPr>
          <p:nvPr/>
        </p:nvSpPr>
        <p:spPr>
          <a:xfrm xmlns:a="http://schemas.openxmlformats.org/drawingml/2006/main">
            <a:off x="6362700" y="19812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PROCHAINE ÉTAPE</a:t>
            </a:r>
          </a:p>
        </p:txBody>
      </p:sp>
      <p:sp>
        <p:nvSpPr>
          <p:cNvPr id="14" name="">
            <a:extLst xmlns:a="http://schemas.openxmlformats.org/drawingml/2006/main">
              <a:ext uri="{FF2B5EF4-FFF2-40B4-BE49-F238E27FC236}">
                <a16:creationId xmlns:a16="http://schemas.microsoft.com/office/drawing/2014/main" id="{F062B3B6-B3DD-4FDE-B147-8A1908332F3C}"/>
              </a:ext>
            </a:extLst>
          </p:cNvPr>
          <p:cNvSpPr>
            <a:spLocks xmlns:a="http://schemas.openxmlformats.org/drawingml/2006/main" noGrp="1"/>
          </p:cNvSpPr>
          <p:nvPr/>
        </p:nvSpPr>
        <p:spPr>
          <a:xfrm xmlns:a="http://schemas.openxmlformats.org/drawingml/2006/main">
            <a:off x="6362700" y="224790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Sortie attendue du rendez-vous</a:t>
            </a:r>
          </a:p>
        </p:txBody>
      </p:sp>
      <p:sp>
        <p:nvSpPr>
          <p:cNvPr id="15" name="">
            <a:extLst xmlns:a="http://schemas.openxmlformats.org/drawingml/2006/main">
              <a:ext uri="{FF2B5EF4-FFF2-40B4-BE49-F238E27FC236}">
                <a16:creationId xmlns:a16="http://schemas.microsoft.com/office/drawing/2014/main" id="{0BFF571A-7167-41EB-9A22-AB3A94C0AA47}"/>
              </a:ext>
            </a:extLst>
          </p:cNvPr>
          <p:cNvSpPr>
            <a:spLocks xmlns:a="http://schemas.openxmlformats.org/drawingml/2006/main" noGrp="1"/>
          </p:cNvSpPr>
          <p:nvPr/>
        </p:nvSpPr>
        <p:spPr>
          <a:xfrm xmlns:a="http://schemas.openxmlformats.org/drawingml/2006/main">
            <a:off x="6362700" y="2724150"/>
            <a:ext cx="342900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1. Tenir un échange expert de 30 minutes</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2. Remplir ou envoyer le formulaire d'audit IA</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3. Recevoir une priorisation claire des cas d'usage télécommunications</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4. Valider un premier pilote, sa formation associée et son accompagnement 90 jours</a:t>
            </a:r>
          </a:p>
        </p:txBody>
      </p:sp>
      <p:sp>
        <p:nvSpPr>
          <p:cNvPr id="16" name="">
            <a:extLst xmlns:a="http://schemas.openxmlformats.org/drawingml/2006/main">
              <a:ext uri="{FF2B5EF4-FFF2-40B4-BE49-F238E27FC236}">
                <a16:creationId xmlns:a16="http://schemas.microsoft.com/office/drawing/2014/main" id="{AF27D93B-769B-4A47-82F0-96027ED2BDB1}"/>
              </a:ext>
            </a:extLst>
          </p:cNvPr>
          <p:cNvSpPr>
            <a:spLocks xmlns:a="http://schemas.openxmlformats.org/drawingml/2006/main" noGrp="1"/>
          </p:cNvSpPr>
          <p:nvPr/>
        </p:nvSpPr>
        <p:spPr>
          <a:xfrm xmlns:a="http://schemas.openxmlformats.org/drawingml/2006/main">
            <a:off x="9906000" y="2400300"/>
            <a:ext cx="121920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17" name="">
            <a:extLst xmlns:a="http://schemas.openxmlformats.org/drawingml/2006/main">
              <a:ext uri="{FF2B5EF4-FFF2-40B4-BE49-F238E27FC236}">
                <a16:creationId xmlns:a16="http://schemas.microsoft.com/office/drawing/2014/main" id="{CF774454-6340-4650-92B2-C282DAAD3B9C}"/>
              </a:ext>
            </a:extLst>
          </p:cNvPr>
          <p:cNvSpPr>
            <a:spLocks xmlns:a="http://schemas.openxmlformats.org/drawingml/2006/main" noGrp="1"/>
          </p:cNvSpPr>
          <p:nvPr/>
        </p:nvSpPr>
        <p:spPr>
          <a:xfrm xmlns:a="http://schemas.openxmlformats.org/drawingml/2006/main">
            <a:off x="10077450" y="262890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30 min</a:t>
            </a:r>
          </a:p>
        </p:txBody>
      </p:sp>
      <p:sp>
        <p:nvSpPr>
          <p:cNvPr id="18" name="">
            <a:extLst xmlns:a="http://schemas.openxmlformats.org/drawingml/2006/main">
              <a:ext uri="{FF2B5EF4-FFF2-40B4-BE49-F238E27FC236}">
                <a16:creationId xmlns:a16="http://schemas.microsoft.com/office/drawing/2014/main" id="{E5F5FD23-37D1-4E62-B2A5-0855BDE6A020}"/>
              </a:ext>
            </a:extLst>
          </p:cNvPr>
          <p:cNvSpPr>
            <a:spLocks xmlns:a="http://schemas.openxmlformats.org/drawingml/2006/main" noGrp="1"/>
          </p:cNvSpPr>
          <p:nvPr/>
        </p:nvSpPr>
        <p:spPr>
          <a:xfrm xmlns:a="http://schemas.openxmlformats.org/drawingml/2006/main">
            <a:off x="10077450" y="2933700"/>
            <a:ext cx="876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échange expert</a:t>
            </a:r>
          </a:p>
        </p:txBody>
      </p:sp>
      <p:sp>
        <p:nvSpPr>
          <p:cNvPr id="19" name="">
            <a:extLst xmlns:a="http://schemas.openxmlformats.org/drawingml/2006/main">
              <a:ext uri="{FF2B5EF4-FFF2-40B4-BE49-F238E27FC236}">
                <a16:creationId xmlns:a16="http://schemas.microsoft.com/office/drawing/2014/main" id="{7DDEE8CF-253D-45C6-B377-4EEF30274437}"/>
              </a:ext>
            </a:extLst>
          </p:cNvPr>
          <p:cNvSpPr>
            <a:spLocks xmlns:a="http://schemas.openxmlformats.org/drawingml/2006/main" noGrp="1"/>
          </p:cNvSpPr>
          <p:nvPr/>
        </p:nvSpPr>
        <p:spPr>
          <a:xfrm xmlns:a="http://schemas.openxmlformats.org/drawingml/2006/main">
            <a:off x="9906000" y="3524250"/>
            <a:ext cx="121920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20" name="">
            <a:extLst xmlns:a="http://schemas.openxmlformats.org/drawingml/2006/main">
              <a:ext uri="{FF2B5EF4-FFF2-40B4-BE49-F238E27FC236}">
                <a16:creationId xmlns:a16="http://schemas.microsoft.com/office/drawing/2014/main" id="{DE28BA1A-6CF4-4585-A626-615EAFCBA1C0}"/>
              </a:ext>
            </a:extLst>
          </p:cNvPr>
          <p:cNvSpPr>
            <a:spLocks xmlns:a="http://schemas.openxmlformats.org/drawingml/2006/main" noGrp="1"/>
          </p:cNvSpPr>
          <p:nvPr/>
        </p:nvSpPr>
        <p:spPr>
          <a:xfrm xmlns:a="http://schemas.openxmlformats.org/drawingml/2006/main">
            <a:off x="10077450" y="37528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J+15</a:t>
            </a:r>
          </a:p>
        </p:txBody>
      </p:sp>
      <p:sp>
        <p:nvSpPr>
          <p:cNvPr id="21" name="">
            <a:extLst xmlns:a="http://schemas.openxmlformats.org/drawingml/2006/main">
              <a:ext uri="{FF2B5EF4-FFF2-40B4-BE49-F238E27FC236}">
                <a16:creationId xmlns:a16="http://schemas.microsoft.com/office/drawing/2014/main" id="{199D14DC-43FF-4362-A5DA-B82D424193D0}"/>
              </a:ext>
            </a:extLst>
          </p:cNvPr>
          <p:cNvSpPr>
            <a:spLocks xmlns:a="http://schemas.openxmlformats.org/drawingml/2006/main" noGrp="1"/>
          </p:cNvSpPr>
          <p:nvPr/>
        </p:nvSpPr>
        <p:spPr>
          <a:xfrm xmlns:a="http://schemas.openxmlformats.org/drawingml/2006/main">
            <a:off x="10077450" y="4057650"/>
            <a:ext cx="876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premier livrable</a:t>
            </a:r>
          </a:p>
        </p:txBody>
      </p:sp>
      <p:sp>
        <p:nvSpPr>
          <p:cNvPr id="22" name="">
            <a:extLst xmlns:a="http://schemas.openxmlformats.org/drawingml/2006/main">
              <a:ext uri="{FF2B5EF4-FFF2-40B4-BE49-F238E27FC236}">
                <a16:creationId xmlns:a16="http://schemas.microsoft.com/office/drawing/2014/main" id="{C063F228-7470-4572-BC38-8179D5C844C9}"/>
              </a:ext>
            </a:extLst>
          </p:cNvPr>
          <p:cNvSpPr>
            <a:spLocks xmlns:a="http://schemas.openxmlformats.org/drawingml/2006/main" noGrp="1"/>
          </p:cNvSpPr>
          <p:nvPr/>
        </p:nvSpPr>
        <p:spPr>
          <a:xfrm xmlns:a="http://schemas.openxmlformats.org/drawingml/2006/main">
            <a:off x="6362700" y="4229100"/>
            <a:ext cx="4762500" cy="80010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23" name="">
            <a:extLst xmlns:a="http://schemas.openxmlformats.org/drawingml/2006/main">
              <a:ext uri="{FF2B5EF4-FFF2-40B4-BE49-F238E27FC236}">
                <a16:creationId xmlns:a16="http://schemas.microsoft.com/office/drawing/2014/main" id="{060F7B2D-EF1E-4612-ADD0-7D926CE7FE21}"/>
              </a:ext>
            </a:extLst>
          </p:cNvPr>
          <p:cNvSpPr>
            <a:spLocks xmlns:a="http://schemas.openxmlformats.org/drawingml/2006/main" noGrp="1"/>
          </p:cNvSpPr>
          <p:nvPr/>
        </p:nvSpPr>
        <p:spPr>
          <a:xfrm xmlns:a="http://schemas.openxmlformats.org/drawingml/2006/main">
            <a:off x="6572250" y="4438650"/>
            <a:ext cx="43434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D7E5F3"/>
                </a:solidFill>
                <a:latin typeface="Aptos"/>
                <a:ea typeface="Aptos"/>
                <a:cs typeface="Aptos"/>
              </a:defRPr>
            </a:pPr>
            <a:r>
              <a:rPr sz="863" b="0">
                <a:solidFill>
                  <a:srgbClr val="D7E5F3"/>
                </a:solidFill>
                <a:latin typeface="Aptos"/>
                <a:ea typeface="Aptos"/>
                <a:cs typeface="Aptos"/>
              </a:rPr>
              <a:t>Formule courte à utiliser : TransferAI aide Orange Côte d'Ivoire à identifier les usages les plus utiles, à former les bonnes équipes, puis à accompagner leur mise en pratique sur 90 jours avant toute extension. Formulaire d'audit : www.transferai.ci/formulaire-audit-ia/index.html</a:t>
            </a:r>
          </a:p>
        </p:txBody>
      </p:sp>
      <p:sp>
        <p:nvSpPr>
          <p:cNvPr id="24" name="">
            <a:extLst xmlns:a="http://schemas.openxmlformats.org/drawingml/2006/main">
              <a:ext uri="{FF2B5EF4-FFF2-40B4-BE49-F238E27FC236}">
                <a16:creationId xmlns:a16="http://schemas.microsoft.com/office/drawing/2014/main" id="{F1253F3A-A118-4291-A3BC-98D7385637B3}"/>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2DFC9F84-3402-48F9-983E-865AD1423B55}"/>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Aperçu deck automatisé depuis Assemble Prospect Context</a:t>
            </a:r>
          </a:p>
        </p:txBody>
      </p:sp>
      <p:sp>
        <p:nvSpPr>
          <p:cNvPr id="26" name="">
            <a:extLst xmlns:a="http://schemas.openxmlformats.org/drawingml/2006/main">
              <a:ext uri="{FF2B5EF4-FFF2-40B4-BE49-F238E27FC236}">
                <a16:creationId xmlns:a16="http://schemas.microsoft.com/office/drawing/2014/main" id="{3BF6F6CC-CA32-4F96-98D9-835D1774DD0D}"/>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13</a:t>
            </a:r>
          </a:p>
        </p:txBody>
      </p:sp>
    </p:spTree>
    <p:extLst>
      <p:ext uri="{BB962C8B-B14F-4D97-AF65-F5344CB8AC3E}">
        <p14:creationId xmlns:p14="http://schemas.microsoft.com/office/powerpoint/2010/main" val="4113721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2026-05-31T12:13:53.7260000Z</dcterms:created>
  <dcterms:modified xsi:type="dcterms:W3CDTF">2026-05-31T12:13:53.7260000Z</dcterms:modified>
</coreProperties>
</file>