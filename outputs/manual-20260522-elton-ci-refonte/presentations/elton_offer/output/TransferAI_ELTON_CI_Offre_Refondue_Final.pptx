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8"/>
  </p:normalViewPr>
  <p:slideViewPr>
    <p:cSldViewPr snapToGrid="0">
      <p:cViewPr varScale="1">
        <p:scale>
          <a:sx n="133" d="100"/>
          <a:sy n="133" d="100"/>
        </p:scale>
        <p:origin x="3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CB4D273-4E35-4D37-BA87-0EA49445C6CD}"/>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B71633CF-F5D3-4152-BFB0-EAE243870E58}"/>
              </a:ext>
            </a:extLst>
          </p:cNvPr>
          <p:cNvSpPr>
            <a:spLocks noGrp="1"/>
          </p:cNvSpPr>
          <p:nvPr/>
        </p:nvSpPr>
        <p:spPr>
          <a:xfrm>
            <a:off x="552450" y="609600"/>
            <a:ext cx="57150" cy="5524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340273BF-87B9-451C-B8A6-EED0584561FB}"/>
              </a:ext>
            </a:extLst>
          </p:cNvPr>
          <p:cNvSpPr>
            <a:spLocks noGrp="1"/>
          </p:cNvSpPr>
          <p:nvPr/>
        </p:nvSpPr>
        <p:spPr>
          <a:xfrm>
            <a:off x="781050" y="628650"/>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5C6777"/>
                </a:solidFill>
                <a:latin typeface="Avenir Next"/>
                <a:ea typeface="Avenir Next"/>
                <a:cs typeface="Avenir Next"/>
              </a:defRPr>
            </a:pPr>
            <a:r>
              <a:rPr sz="750" b="1">
                <a:solidFill>
                  <a:srgbClr val="5C6777"/>
                </a:solidFill>
                <a:latin typeface="Avenir Next"/>
                <a:ea typeface="Avenir Next"/>
                <a:cs typeface="Avenir Next"/>
              </a:rPr>
              <a:t>PROPOSITION CIBLÉE | DOCUMENT DE TRAVAIL</a:t>
            </a:r>
          </a:p>
        </p:txBody>
      </p:sp>
      <p:sp>
        <p:nvSpPr>
          <p:cNvPr id="4" name="Rectangle 3">
            <a:extLst>
              <a:ext uri="{FF2B5EF4-FFF2-40B4-BE49-F238E27FC236}">
                <a16:creationId xmlns:a16="http://schemas.microsoft.com/office/drawing/2014/main" id="{EAD4586D-8046-48A0-9196-49AB85E844D6}"/>
              </a:ext>
            </a:extLst>
          </p:cNvPr>
          <p:cNvSpPr>
            <a:spLocks noGrp="1"/>
          </p:cNvSpPr>
          <p:nvPr/>
        </p:nvSpPr>
        <p:spPr>
          <a:xfrm>
            <a:off x="781050" y="876300"/>
            <a:ext cx="3238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5C6777"/>
                </a:solidFill>
                <a:latin typeface="Avenir Next"/>
                <a:ea typeface="Avenir Next"/>
                <a:cs typeface="Avenir Next"/>
              </a:defRPr>
            </a:pPr>
            <a:r>
              <a:rPr sz="750" b="0">
                <a:solidFill>
                  <a:srgbClr val="5C6777"/>
                </a:solidFill>
                <a:latin typeface="Avenir Next"/>
                <a:ea typeface="Avenir Next"/>
                <a:cs typeface="Avenir Next"/>
              </a:rPr>
              <a:t>TransferAI Africa x ELTON Oil CI</a:t>
            </a:r>
          </a:p>
        </p:txBody>
      </p:sp>
      <p:sp>
        <p:nvSpPr>
          <p:cNvPr id="5" name="Rectangle 4">
            <a:extLst>
              <a:ext uri="{FF2B5EF4-FFF2-40B4-BE49-F238E27FC236}">
                <a16:creationId xmlns:a16="http://schemas.microsoft.com/office/drawing/2014/main" id="{C0CC6AD6-1F59-43D7-A660-2E8974BD2DF3}"/>
              </a:ext>
            </a:extLst>
          </p:cNvPr>
          <p:cNvSpPr>
            <a:spLocks noGrp="1"/>
          </p:cNvSpPr>
          <p:nvPr/>
        </p:nvSpPr>
        <p:spPr>
          <a:xfrm>
            <a:off x="552450" y="1485900"/>
            <a:ext cx="6381750" cy="1619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7263E"/>
                </a:solidFill>
                <a:latin typeface="Georgia"/>
                <a:ea typeface="Georgia"/>
                <a:cs typeface="Georgia"/>
              </a:defRPr>
            </a:pPr>
            <a:r>
              <a:rPr sz="2100" b="1" dirty="0">
                <a:solidFill>
                  <a:srgbClr val="17263E"/>
                </a:solidFill>
                <a:latin typeface="Georgia"/>
                <a:ea typeface="Georgia"/>
                <a:cs typeface="Georgia"/>
              </a:rPr>
              <a:t>Faire de </a:t>
            </a:r>
            <a:r>
              <a:rPr sz="2100" b="1" dirty="0" err="1">
                <a:solidFill>
                  <a:srgbClr val="17263E"/>
                </a:solidFill>
                <a:latin typeface="Georgia"/>
                <a:ea typeface="Georgia"/>
                <a:cs typeface="Georgia"/>
              </a:rPr>
              <a:t>l'IA</a:t>
            </a:r>
            <a:r>
              <a:rPr sz="2100" b="1" dirty="0">
                <a:solidFill>
                  <a:srgbClr val="17263E"/>
                </a:solidFill>
                <a:latin typeface="Georgia"/>
                <a:ea typeface="Georgia"/>
                <a:cs typeface="Georgia"/>
              </a:rPr>
              <a:t> un levier </a:t>
            </a:r>
            <a:r>
              <a:rPr sz="2100" b="1" dirty="0" err="1">
                <a:solidFill>
                  <a:srgbClr val="17263E"/>
                </a:solidFill>
                <a:latin typeface="Georgia"/>
                <a:ea typeface="Georgia"/>
                <a:cs typeface="Georgia"/>
              </a:rPr>
              <a:t>opérationnel</a:t>
            </a:r>
            <a:r>
              <a:rPr sz="2100" b="1" dirty="0">
                <a:solidFill>
                  <a:srgbClr val="17263E"/>
                </a:solidFill>
                <a:latin typeface="Georgia"/>
                <a:ea typeface="Georgia"/>
                <a:cs typeface="Georgia"/>
              </a:rPr>
              <a:t> utile pour ELTON Oil CI, sans </a:t>
            </a:r>
            <a:r>
              <a:rPr sz="2100" b="1" dirty="0" err="1">
                <a:solidFill>
                  <a:srgbClr val="17263E"/>
                </a:solidFill>
                <a:latin typeface="Georgia"/>
                <a:ea typeface="Georgia"/>
                <a:cs typeface="Georgia"/>
              </a:rPr>
              <a:t>effet</a:t>
            </a:r>
            <a:r>
              <a:rPr sz="2100" b="1" dirty="0">
                <a:solidFill>
                  <a:srgbClr val="17263E"/>
                </a:solidFill>
                <a:latin typeface="Georgia"/>
                <a:ea typeface="Georgia"/>
                <a:cs typeface="Georgia"/>
              </a:rPr>
              <a:t> </a:t>
            </a:r>
            <a:r>
              <a:rPr sz="2100" b="1" dirty="0" err="1">
                <a:solidFill>
                  <a:srgbClr val="17263E"/>
                </a:solidFill>
                <a:latin typeface="Georgia"/>
                <a:ea typeface="Georgia"/>
                <a:cs typeface="Georgia"/>
              </a:rPr>
              <a:t>d'annonce</a:t>
            </a:r>
            <a:r>
              <a:rPr sz="2100" b="1" dirty="0">
                <a:solidFill>
                  <a:srgbClr val="17263E"/>
                </a:solidFill>
                <a:latin typeface="Georgia"/>
                <a:ea typeface="Georgia"/>
                <a:cs typeface="Georgia"/>
              </a:rPr>
              <a:t> </a:t>
            </a:r>
            <a:r>
              <a:rPr sz="2100" b="1" dirty="0" err="1">
                <a:solidFill>
                  <a:srgbClr val="17263E"/>
                </a:solidFill>
                <a:latin typeface="Georgia"/>
                <a:ea typeface="Georgia"/>
                <a:cs typeface="Georgia"/>
              </a:rPr>
              <a:t>ni</a:t>
            </a:r>
            <a:r>
              <a:rPr sz="2100" b="1" dirty="0">
                <a:solidFill>
                  <a:srgbClr val="17263E"/>
                </a:solidFill>
                <a:latin typeface="Georgia"/>
                <a:ea typeface="Georgia"/>
                <a:cs typeface="Georgia"/>
              </a:rPr>
              <a:t> </a:t>
            </a:r>
            <a:r>
              <a:rPr sz="2100" b="1" dirty="0" err="1">
                <a:solidFill>
                  <a:srgbClr val="17263E"/>
                </a:solidFill>
                <a:latin typeface="Georgia"/>
                <a:ea typeface="Georgia"/>
                <a:cs typeface="Georgia"/>
              </a:rPr>
              <a:t>déploiement</a:t>
            </a:r>
            <a:r>
              <a:rPr sz="2100" b="1" dirty="0">
                <a:solidFill>
                  <a:srgbClr val="17263E"/>
                </a:solidFill>
                <a:latin typeface="Georgia"/>
                <a:ea typeface="Georgia"/>
                <a:cs typeface="Georgia"/>
              </a:rPr>
              <a:t> </a:t>
            </a:r>
            <a:r>
              <a:rPr sz="2100" b="1" dirty="0" err="1">
                <a:solidFill>
                  <a:srgbClr val="17263E"/>
                </a:solidFill>
                <a:latin typeface="Georgia"/>
                <a:ea typeface="Georgia"/>
                <a:cs typeface="Georgia"/>
              </a:rPr>
              <a:t>prématuré</a:t>
            </a:r>
            <a:r>
              <a:rPr sz="2100" b="1" dirty="0">
                <a:solidFill>
                  <a:srgbClr val="17263E"/>
                </a:solidFill>
                <a:latin typeface="Georgia"/>
                <a:ea typeface="Georgia"/>
                <a:cs typeface="Georgia"/>
              </a:rPr>
              <a:t>.</a:t>
            </a:r>
          </a:p>
        </p:txBody>
      </p:sp>
      <p:sp>
        <p:nvSpPr>
          <p:cNvPr id="6" name="Rectangle 5">
            <a:extLst>
              <a:ext uri="{FF2B5EF4-FFF2-40B4-BE49-F238E27FC236}">
                <a16:creationId xmlns:a16="http://schemas.microsoft.com/office/drawing/2014/main" id="{BDC0866C-FD9B-485A-8124-EB6480F4565B}"/>
              </a:ext>
            </a:extLst>
          </p:cNvPr>
          <p:cNvSpPr>
            <a:spLocks noGrp="1"/>
          </p:cNvSpPr>
          <p:nvPr/>
        </p:nvSpPr>
        <p:spPr>
          <a:xfrm>
            <a:off x="552450" y="3295650"/>
            <a:ext cx="58102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C6777"/>
                </a:solidFill>
                <a:latin typeface="Avenir Next"/>
                <a:ea typeface="Avenir Next"/>
                <a:cs typeface="Avenir Next"/>
              </a:defRPr>
            </a:pPr>
            <a:r>
              <a:rPr sz="1125" b="0" dirty="0">
                <a:solidFill>
                  <a:srgbClr val="5C6777"/>
                </a:solidFill>
                <a:latin typeface="Avenir Next"/>
                <a:ea typeface="Avenir Next"/>
                <a:cs typeface="Avenir Next"/>
              </a:rPr>
              <a:t>Notre </a:t>
            </a:r>
            <a:r>
              <a:rPr sz="1125" b="0" dirty="0" err="1">
                <a:solidFill>
                  <a:srgbClr val="5C6777"/>
                </a:solidFill>
                <a:latin typeface="Avenir Next"/>
                <a:ea typeface="Avenir Next"/>
                <a:cs typeface="Avenir Next"/>
              </a:rPr>
              <a:t>recommandation</a:t>
            </a:r>
            <a:r>
              <a:rPr sz="1125" b="0" dirty="0">
                <a:solidFill>
                  <a:srgbClr val="5C6777"/>
                </a:solidFill>
                <a:latin typeface="Avenir Next"/>
                <a:ea typeface="Avenir Next"/>
                <a:cs typeface="Avenir Next"/>
              </a:rPr>
              <a:t> : commencer par un audit </a:t>
            </a:r>
            <a:r>
              <a:rPr sz="1125" b="0" dirty="0" err="1">
                <a:solidFill>
                  <a:srgbClr val="5C6777"/>
                </a:solidFill>
                <a:latin typeface="Avenir Next"/>
                <a:ea typeface="Avenir Next"/>
                <a:cs typeface="Avenir Next"/>
              </a:rPr>
              <a:t>ciblé</a:t>
            </a:r>
            <a:r>
              <a:rPr sz="1125" b="0" dirty="0">
                <a:solidFill>
                  <a:srgbClr val="5C6777"/>
                </a:solidFill>
                <a:latin typeface="Avenir Next"/>
                <a:ea typeface="Avenir Next"/>
                <a:cs typeface="Avenir Next"/>
              </a:rPr>
              <a:t>, former les </a:t>
            </a:r>
            <a:r>
              <a:rPr sz="1125" b="0" dirty="0" err="1">
                <a:solidFill>
                  <a:srgbClr val="5C6777"/>
                </a:solidFill>
                <a:latin typeface="Avenir Next"/>
                <a:ea typeface="Avenir Next"/>
                <a:cs typeface="Avenir Next"/>
              </a:rPr>
              <a:t>bonnes</a:t>
            </a:r>
            <a:r>
              <a:rPr sz="1125" b="0" dirty="0">
                <a:solidFill>
                  <a:srgbClr val="5C6777"/>
                </a:solidFill>
                <a:latin typeface="Avenir Next"/>
                <a:ea typeface="Avenir Next"/>
                <a:cs typeface="Avenir Next"/>
              </a:rPr>
              <a:t> populations, </a:t>
            </a:r>
            <a:r>
              <a:rPr sz="1125" b="0" dirty="0" err="1">
                <a:solidFill>
                  <a:srgbClr val="5C6777"/>
                </a:solidFill>
                <a:latin typeface="Avenir Next"/>
                <a:ea typeface="Avenir Next"/>
                <a:cs typeface="Avenir Next"/>
              </a:rPr>
              <a:t>puis</a:t>
            </a:r>
            <a:r>
              <a:rPr sz="1125" b="0" dirty="0">
                <a:solidFill>
                  <a:srgbClr val="5C6777"/>
                </a:solidFill>
                <a:latin typeface="Avenir Next"/>
                <a:ea typeface="Avenir Next"/>
                <a:cs typeface="Avenir Next"/>
              </a:rPr>
              <a:t> lancer un premier </a:t>
            </a:r>
            <a:r>
              <a:rPr sz="1125" b="0" dirty="0" err="1">
                <a:solidFill>
                  <a:srgbClr val="5C6777"/>
                </a:solidFill>
                <a:latin typeface="Avenir Next"/>
                <a:ea typeface="Avenir Next"/>
                <a:cs typeface="Avenir Next"/>
              </a:rPr>
              <a:t>pilote</a:t>
            </a:r>
            <a:r>
              <a:rPr sz="1125" b="0" dirty="0">
                <a:solidFill>
                  <a:srgbClr val="5C6777"/>
                </a:solidFill>
                <a:latin typeface="Avenir Next"/>
                <a:ea typeface="Avenir Next"/>
                <a:cs typeface="Avenir Next"/>
              </a:rPr>
              <a:t> sur des </a:t>
            </a:r>
            <a:r>
              <a:rPr sz="1125" b="0" dirty="0" err="1">
                <a:solidFill>
                  <a:srgbClr val="5C6777"/>
                </a:solidFill>
                <a:latin typeface="Avenir Next"/>
                <a:ea typeface="Avenir Next"/>
                <a:cs typeface="Avenir Next"/>
              </a:rPr>
              <a:t>sujets</a:t>
            </a:r>
            <a:r>
              <a:rPr sz="1125" b="0" dirty="0">
                <a:solidFill>
                  <a:srgbClr val="5C6777"/>
                </a:solidFill>
                <a:latin typeface="Avenir Next"/>
                <a:ea typeface="Avenir Next"/>
                <a:cs typeface="Avenir Next"/>
              </a:rPr>
              <a:t> </a:t>
            </a:r>
            <a:r>
              <a:rPr sz="1125" b="0" dirty="0" err="1">
                <a:solidFill>
                  <a:srgbClr val="5C6777"/>
                </a:solidFill>
                <a:latin typeface="Avenir Next"/>
                <a:ea typeface="Avenir Next"/>
                <a:cs typeface="Avenir Next"/>
              </a:rPr>
              <a:t>directement</a:t>
            </a:r>
            <a:r>
              <a:rPr sz="1125" b="0" dirty="0">
                <a:solidFill>
                  <a:srgbClr val="5C6777"/>
                </a:solidFill>
                <a:latin typeface="Avenir Next"/>
                <a:ea typeface="Avenir Next"/>
                <a:cs typeface="Avenir Next"/>
              </a:rPr>
              <a:t> </a:t>
            </a:r>
            <a:r>
              <a:rPr sz="1125" b="0" dirty="0" err="1">
                <a:solidFill>
                  <a:srgbClr val="5C6777"/>
                </a:solidFill>
                <a:latin typeface="Avenir Next"/>
                <a:ea typeface="Avenir Next"/>
                <a:cs typeface="Avenir Next"/>
              </a:rPr>
              <a:t>liés</a:t>
            </a:r>
            <a:r>
              <a:rPr sz="1125" b="0" dirty="0">
                <a:solidFill>
                  <a:srgbClr val="5C6777"/>
                </a:solidFill>
                <a:latin typeface="Avenir Next"/>
                <a:ea typeface="Avenir Next"/>
                <a:cs typeface="Avenir Next"/>
              </a:rPr>
              <a:t> aux </a:t>
            </a:r>
            <a:r>
              <a:rPr sz="1125" b="0" dirty="0" err="1">
                <a:solidFill>
                  <a:srgbClr val="5C6777"/>
                </a:solidFill>
                <a:latin typeface="Avenir Next"/>
                <a:ea typeface="Avenir Next"/>
                <a:cs typeface="Avenir Next"/>
              </a:rPr>
              <a:t>comptes</a:t>
            </a:r>
            <a:r>
              <a:rPr sz="1125" b="0" dirty="0">
                <a:solidFill>
                  <a:srgbClr val="5C6777"/>
                </a:solidFill>
                <a:latin typeface="Avenir Next"/>
                <a:ea typeface="Avenir Next"/>
                <a:cs typeface="Avenir Next"/>
              </a:rPr>
              <a:t> </a:t>
            </a:r>
            <a:r>
              <a:rPr sz="1125" b="0" dirty="0" err="1">
                <a:solidFill>
                  <a:srgbClr val="5C6777"/>
                </a:solidFill>
                <a:latin typeface="Avenir Next"/>
                <a:ea typeface="Avenir Next"/>
                <a:cs typeface="Avenir Next"/>
              </a:rPr>
              <a:t>professionnels</a:t>
            </a:r>
            <a:r>
              <a:rPr sz="1125" b="0" dirty="0">
                <a:solidFill>
                  <a:srgbClr val="5C6777"/>
                </a:solidFill>
                <a:latin typeface="Avenir Next"/>
                <a:ea typeface="Avenir Next"/>
                <a:cs typeface="Avenir Next"/>
              </a:rPr>
              <a:t>, à la </a:t>
            </a:r>
            <a:r>
              <a:rPr sz="1125" b="0" dirty="0" err="1">
                <a:solidFill>
                  <a:srgbClr val="5C6777"/>
                </a:solidFill>
                <a:latin typeface="Avenir Next"/>
                <a:ea typeface="Avenir Next"/>
                <a:cs typeface="Avenir Next"/>
              </a:rPr>
              <a:t>flotte</a:t>
            </a:r>
            <a:r>
              <a:rPr sz="1125" b="0" dirty="0">
                <a:solidFill>
                  <a:srgbClr val="5C6777"/>
                </a:solidFill>
                <a:latin typeface="Avenir Next"/>
                <a:ea typeface="Avenir Next"/>
                <a:cs typeface="Avenir Next"/>
              </a:rPr>
              <a:t>, à la relation client et au reporting.</a:t>
            </a:r>
          </a:p>
        </p:txBody>
      </p:sp>
      <p:sp>
        <p:nvSpPr>
          <p:cNvPr id="7" name="Rectangle 6">
            <a:extLst>
              <a:ext uri="{FF2B5EF4-FFF2-40B4-BE49-F238E27FC236}">
                <a16:creationId xmlns:a16="http://schemas.microsoft.com/office/drawing/2014/main" id="{A2DB8E7F-900C-49F1-9FC6-A0311E19E739}"/>
              </a:ext>
            </a:extLst>
          </p:cNvPr>
          <p:cNvSpPr>
            <a:spLocks noGrp="1"/>
          </p:cNvSpPr>
          <p:nvPr/>
        </p:nvSpPr>
        <p:spPr>
          <a:xfrm>
            <a:off x="552450" y="4305300"/>
            <a:ext cx="581025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7263E"/>
                </a:solidFill>
                <a:latin typeface="Avenir Next"/>
                <a:ea typeface="Avenir Next"/>
                <a:cs typeface="Avenir Next"/>
              </a:defRPr>
            </a:pPr>
            <a:r>
              <a:rPr sz="1013" b="1">
                <a:solidFill>
                  <a:srgbClr val="17263E"/>
                </a:solidFill>
                <a:latin typeface="Avenir Next"/>
                <a:ea typeface="Avenir Next"/>
                <a:cs typeface="Avenir Next"/>
              </a:rPr>
              <a:t>Ce que la direction doit obtenir rapidement : des priorités claires, des cas d'usage crédibles, une trajectoire de déploiement maîtrisée et des critères simples pour décider de la suite.</a:t>
            </a:r>
          </a:p>
        </p:txBody>
      </p:sp>
      <p:sp>
        <p:nvSpPr>
          <p:cNvPr id="8" name="Rectangle 7">
            <a:extLst>
              <a:ext uri="{FF2B5EF4-FFF2-40B4-BE49-F238E27FC236}">
                <a16:creationId xmlns:a16="http://schemas.microsoft.com/office/drawing/2014/main" id="{B52A41C0-9D43-4BAF-BDD8-4B11FA227BB3}"/>
              </a:ext>
            </a:extLst>
          </p:cNvPr>
          <p:cNvSpPr>
            <a:spLocks noGrp="1"/>
          </p:cNvSpPr>
          <p:nvPr/>
        </p:nvSpPr>
        <p:spPr>
          <a:xfrm>
            <a:off x="7277100" y="800100"/>
            <a:ext cx="4095750" cy="4286250"/>
          </a:xfrm>
          <a:prstGeom prst="rect">
            <a:avLst/>
          </a:prstGeom>
          <a:solidFill>
            <a:srgbClr val="102338"/>
          </a:solidFill>
          <a:ln w="9525">
            <a:solidFill>
              <a:srgbClr val="102338"/>
            </a:solidFill>
            <a:prstDash val="solid"/>
          </a:ln>
        </p:spPr>
      </p:sp>
      <p:sp>
        <p:nvSpPr>
          <p:cNvPr id="9" name="Rectangle 8">
            <a:extLst>
              <a:ext uri="{FF2B5EF4-FFF2-40B4-BE49-F238E27FC236}">
                <a16:creationId xmlns:a16="http://schemas.microsoft.com/office/drawing/2014/main" id="{3B536CC2-C7FE-4073-9E16-E7D50A1B4F72}"/>
              </a:ext>
            </a:extLst>
          </p:cNvPr>
          <p:cNvSpPr>
            <a:spLocks noGrp="1"/>
          </p:cNvSpPr>
          <p:nvPr/>
        </p:nvSpPr>
        <p:spPr>
          <a:xfrm>
            <a:off x="7639050" y="1143000"/>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D7E1EE"/>
                </a:solidFill>
                <a:latin typeface="Avenir Next"/>
                <a:ea typeface="Avenir Next"/>
                <a:cs typeface="Avenir Next"/>
              </a:defRPr>
            </a:pPr>
            <a:r>
              <a:rPr sz="750" b="1">
                <a:solidFill>
                  <a:srgbClr val="D7E1EE"/>
                </a:solidFill>
                <a:latin typeface="Avenir Next"/>
                <a:ea typeface="Avenir Next"/>
                <a:cs typeface="Avenir Next"/>
              </a:rPr>
              <a:t>THÈSE</a:t>
            </a:r>
          </a:p>
        </p:txBody>
      </p:sp>
      <p:sp>
        <p:nvSpPr>
          <p:cNvPr id="10" name="Rectangle 9">
            <a:extLst>
              <a:ext uri="{FF2B5EF4-FFF2-40B4-BE49-F238E27FC236}">
                <a16:creationId xmlns:a16="http://schemas.microsoft.com/office/drawing/2014/main" id="{08792825-73C0-4B19-AE54-2DC341D33F12}"/>
              </a:ext>
            </a:extLst>
          </p:cNvPr>
          <p:cNvSpPr>
            <a:spLocks noGrp="1"/>
          </p:cNvSpPr>
          <p:nvPr/>
        </p:nvSpPr>
        <p:spPr>
          <a:xfrm>
            <a:off x="7639050" y="1524000"/>
            <a:ext cx="3238500" cy="1352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FFFFF"/>
                </a:solidFill>
                <a:latin typeface="Georgia"/>
                <a:ea typeface="Georgia"/>
                <a:cs typeface="Georgia"/>
              </a:defRPr>
            </a:pPr>
            <a:r>
              <a:rPr sz="1575" b="1">
                <a:solidFill>
                  <a:srgbClr val="FFFFFF"/>
                </a:solidFill>
                <a:latin typeface="Georgia"/>
                <a:ea typeface="Georgia"/>
                <a:cs typeface="Georgia"/>
              </a:rPr>
              <a:t>L'offre la plus crédible pour ELTON n'est pas un catalogue de formations. C'est une démarche courte, cadrée et utile qui relie diagnostic, compétences, gouvernance et premier terrain d'exécution.</a:t>
            </a:r>
          </a:p>
        </p:txBody>
      </p:sp>
      <p:sp>
        <p:nvSpPr>
          <p:cNvPr id="11" name="Rectangle 10">
            <a:extLst>
              <a:ext uri="{FF2B5EF4-FFF2-40B4-BE49-F238E27FC236}">
                <a16:creationId xmlns:a16="http://schemas.microsoft.com/office/drawing/2014/main" id="{9610F1B3-C6F4-4E58-BDC9-1C28D6D81271}"/>
              </a:ext>
            </a:extLst>
          </p:cNvPr>
          <p:cNvSpPr>
            <a:spLocks noGrp="1"/>
          </p:cNvSpPr>
          <p:nvPr/>
        </p:nvSpPr>
        <p:spPr>
          <a:xfrm>
            <a:off x="7639050" y="3314700"/>
            <a:ext cx="32385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D7E1EE"/>
                </a:solidFill>
                <a:latin typeface="Avenir Next"/>
                <a:ea typeface="Avenir Next"/>
                <a:cs typeface="Avenir Next"/>
              </a:defRPr>
            </a:pPr>
            <a:r>
              <a:rPr sz="975" b="0" dirty="0" err="1">
                <a:solidFill>
                  <a:srgbClr val="D7E1EE"/>
                </a:solidFill>
                <a:latin typeface="Avenir Next"/>
                <a:ea typeface="Avenir Next"/>
                <a:cs typeface="Avenir Next"/>
              </a:rPr>
              <a:t>Pourquoi</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cette</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approche</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tient</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mieux</a:t>
            </a:r>
            <a:r>
              <a:rPr sz="975" b="0" dirty="0">
                <a:solidFill>
                  <a:srgbClr val="D7E1EE"/>
                </a:solidFill>
                <a:latin typeface="Avenir Next"/>
                <a:ea typeface="Avenir Next"/>
                <a:cs typeface="Avenir Next"/>
              </a:rPr>
              <a:t> face à un DG : </a:t>
            </a:r>
            <a:r>
              <a:rPr sz="975" b="0" dirty="0" err="1">
                <a:solidFill>
                  <a:srgbClr val="D7E1EE"/>
                </a:solidFill>
                <a:latin typeface="Avenir Next"/>
                <a:ea typeface="Avenir Next"/>
                <a:cs typeface="Avenir Next"/>
              </a:rPr>
              <a:t>elle</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évite</a:t>
            </a:r>
            <a:r>
              <a:rPr sz="975" b="0" dirty="0">
                <a:solidFill>
                  <a:srgbClr val="D7E1EE"/>
                </a:solidFill>
                <a:latin typeface="Avenir Next"/>
                <a:ea typeface="Avenir Next"/>
                <a:cs typeface="Avenir Next"/>
              </a:rPr>
              <a:t> les </a:t>
            </a:r>
            <a:r>
              <a:rPr sz="975" b="0" dirty="0" err="1">
                <a:solidFill>
                  <a:srgbClr val="D7E1EE"/>
                </a:solidFill>
                <a:latin typeface="Avenir Next"/>
                <a:ea typeface="Avenir Next"/>
                <a:cs typeface="Avenir Next"/>
              </a:rPr>
              <a:t>promesses</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vagues</a:t>
            </a:r>
            <a:r>
              <a:rPr sz="975" b="0" dirty="0">
                <a:solidFill>
                  <a:srgbClr val="D7E1EE"/>
                </a:solidFill>
                <a:latin typeface="Avenir Next"/>
                <a:ea typeface="Avenir Next"/>
                <a:cs typeface="Avenir Next"/>
              </a:rPr>
              <a:t>, part des </a:t>
            </a:r>
            <a:r>
              <a:rPr sz="975" b="0" dirty="0" err="1">
                <a:solidFill>
                  <a:srgbClr val="D7E1EE"/>
                </a:solidFill>
                <a:latin typeface="Avenir Next"/>
                <a:ea typeface="Avenir Next"/>
                <a:cs typeface="Avenir Next"/>
              </a:rPr>
              <a:t>priorités</a:t>
            </a:r>
            <a:r>
              <a:rPr sz="975" b="0" dirty="0">
                <a:solidFill>
                  <a:srgbClr val="D7E1EE"/>
                </a:solidFill>
                <a:latin typeface="Avenir Next"/>
                <a:ea typeface="Avenir Next"/>
                <a:cs typeface="Avenir Next"/>
              </a:rPr>
              <a:t> métier, et </a:t>
            </a:r>
            <a:r>
              <a:rPr sz="975" b="0" dirty="0" err="1">
                <a:solidFill>
                  <a:srgbClr val="D7E1EE"/>
                </a:solidFill>
                <a:latin typeface="Avenir Next"/>
                <a:ea typeface="Avenir Next"/>
                <a:cs typeface="Avenir Next"/>
              </a:rPr>
              <a:t>prépare</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une</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décision</a:t>
            </a:r>
            <a:r>
              <a:rPr sz="975" b="0" dirty="0">
                <a:solidFill>
                  <a:srgbClr val="D7E1EE"/>
                </a:solidFill>
                <a:latin typeface="Avenir Next"/>
                <a:ea typeface="Avenir Next"/>
                <a:cs typeface="Avenir Next"/>
              </a:rPr>
              <a:t> </a:t>
            </a:r>
            <a:r>
              <a:rPr sz="975" b="0" dirty="0" err="1">
                <a:solidFill>
                  <a:srgbClr val="D7E1EE"/>
                </a:solidFill>
                <a:latin typeface="Avenir Next"/>
                <a:ea typeface="Avenir Next"/>
                <a:cs typeface="Avenir Next"/>
              </a:rPr>
              <a:t>d'investissement</a:t>
            </a:r>
            <a:r>
              <a:rPr sz="975" b="0" dirty="0">
                <a:solidFill>
                  <a:srgbClr val="D7E1EE"/>
                </a:solidFill>
                <a:latin typeface="Avenir Next"/>
                <a:ea typeface="Avenir Next"/>
                <a:cs typeface="Avenir Next"/>
              </a:rPr>
              <a:t> sur des bases observables.</a:t>
            </a:r>
          </a:p>
        </p:txBody>
      </p:sp>
      <p:sp>
        <p:nvSpPr>
          <p:cNvPr id="12" name="Rectangle 11">
            <a:extLst>
              <a:ext uri="{FF2B5EF4-FFF2-40B4-BE49-F238E27FC236}">
                <a16:creationId xmlns:a16="http://schemas.microsoft.com/office/drawing/2014/main" id="{8742B15E-6649-46AB-9DDA-539206BE446E}"/>
              </a:ext>
            </a:extLst>
          </p:cNvPr>
          <p:cNvSpPr>
            <a:spLocks noGrp="1"/>
          </p:cNvSpPr>
          <p:nvPr/>
        </p:nvSpPr>
        <p:spPr>
          <a:xfrm>
            <a:off x="7639050" y="4210050"/>
            <a:ext cx="2857500" cy="19050"/>
          </a:xfrm>
          <a:prstGeom prst="rect">
            <a:avLst/>
          </a:prstGeom>
          <a:solidFill>
            <a:srgbClr val="1D8A78"/>
          </a:solidFill>
          <a:ln w="0">
            <a:solidFill>
              <a:srgbClr val="000000">
                <a:alpha val="0"/>
              </a:srgbClr>
            </a:solidFill>
            <a:prstDash val="solid"/>
          </a:ln>
        </p:spPr>
      </p:sp>
      <p:sp>
        <p:nvSpPr>
          <p:cNvPr id="13" name="Rectangle 12">
            <a:extLst>
              <a:ext uri="{FF2B5EF4-FFF2-40B4-BE49-F238E27FC236}">
                <a16:creationId xmlns:a16="http://schemas.microsoft.com/office/drawing/2014/main" id="{08D63644-7E8D-49E7-9CE0-7A8695CE0276}"/>
              </a:ext>
            </a:extLst>
          </p:cNvPr>
          <p:cNvSpPr>
            <a:spLocks noGrp="1"/>
          </p:cNvSpPr>
          <p:nvPr/>
        </p:nvSpPr>
        <p:spPr>
          <a:xfrm>
            <a:off x="7639050" y="4362450"/>
            <a:ext cx="30480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FFFFFF"/>
                </a:solidFill>
                <a:latin typeface="Avenir Next"/>
                <a:ea typeface="Avenir Next"/>
                <a:cs typeface="Avenir Next"/>
              </a:defRPr>
            </a:pPr>
            <a:r>
              <a:rPr sz="938" b="1">
                <a:solidFill>
                  <a:srgbClr val="FFFFFF"/>
                </a:solidFill>
                <a:latin typeface="Avenir Next"/>
                <a:ea typeface="Avenir Next"/>
                <a:cs typeface="Avenir Next"/>
              </a:rPr>
              <a:t>Audit d'entrée, formation ciblée, cadre de confiance, puis pilote seulement si le terrain le justifie.</a:t>
            </a:r>
          </a:p>
        </p:txBody>
      </p:sp>
      <p:sp>
        <p:nvSpPr>
          <p:cNvPr id="14" name="Rectangle 13">
            <a:extLst>
              <a:ext uri="{FF2B5EF4-FFF2-40B4-BE49-F238E27FC236}">
                <a16:creationId xmlns:a16="http://schemas.microsoft.com/office/drawing/2014/main" id="{48BBBAA2-7D26-455A-9F55-A403E1E6DC94}"/>
              </a:ext>
            </a:extLst>
          </p:cNvPr>
          <p:cNvSpPr>
            <a:spLocks noGrp="1"/>
          </p:cNvSpPr>
          <p:nvPr/>
        </p:nvSpPr>
        <p:spPr>
          <a:xfrm>
            <a:off x="552450" y="5391150"/>
            <a:ext cx="9525" cy="571500"/>
          </a:xfrm>
          <a:prstGeom prst="rect">
            <a:avLst/>
          </a:prstGeom>
          <a:solidFill>
            <a:srgbClr val="DE6A1F"/>
          </a:solidFill>
          <a:ln w="0">
            <a:solidFill>
              <a:srgbClr val="000000">
                <a:alpha val="0"/>
              </a:srgbClr>
            </a:solidFill>
            <a:prstDash val="solid"/>
          </a:ln>
        </p:spPr>
      </p:sp>
      <p:sp>
        <p:nvSpPr>
          <p:cNvPr id="15" name="Rectangle 14">
            <a:extLst>
              <a:ext uri="{FF2B5EF4-FFF2-40B4-BE49-F238E27FC236}">
                <a16:creationId xmlns:a16="http://schemas.microsoft.com/office/drawing/2014/main" id="{D2EAF63D-A877-48CB-A174-52F390B91287}"/>
              </a:ext>
            </a:extLst>
          </p:cNvPr>
          <p:cNvSpPr>
            <a:spLocks noGrp="1"/>
          </p:cNvSpPr>
          <p:nvPr/>
        </p:nvSpPr>
        <p:spPr>
          <a:xfrm>
            <a:off x="704850" y="544830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dirty="0">
                <a:solidFill>
                  <a:srgbClr val="17263E"/>
                </a:solidFill>
                <a:latin typeface="Georgia"/>
                <a:ea typeface="Georgia"/>
                <a:cs typeface="Georgia"/>
              </a:rPr>
              <a:t>0 FCFA</a:t>
            </a:r>
          </a:p>
        </p:txBody>
      </p:sp>
      <p:sp>
        <p:nvSpPr>
          <p:cNvPr id="16" name="Rectangle 15">
            <a:extLst>
              <a:ext uri="{FF2B5EF4-FFF2-40B4-BE49-F238E27FC236}">
                <a16:creationId xmlns:a16="http://schemas.microsoft.com/office/drawing/2014/main" id="{E2029F78-FDA7-49EA-9EB4-D32211756957}"/>
              </a:ext>
            </a:extLst>
          </p:cNvPr>
          <p:cNvSpPr>
            <a:spLocks noGrp="1"/>
          </p:cNvSpPr>
          <p:nvPr/>
        </p:nvSpPr>
        <p:spPr>
          <a:xfrm>
            <a:off x="704850" y="582930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Audit d'entrée</a:t>
            </a:r>
          </a:p>
        </p:txBody>
      </p:sp>
      <p:sp>
        <p:nvSpPr>
          <p:cNvPr id="17" name="Rectangle 16">
            <a:extLst>
              <a:ext uri="{FF2B5EF4-FFF2-40B4-BE49-F238E27FC236}">
                <a16:creationId xmlns:a16="http://schemas.microsoft.com/office/drawing/2014/main" id="{B763DEF2-7288-4272-8444-E4F9E64F2F13}"/>
              </a:ext>
            </a:extLst>
          </p:cNvPr>
          <p:cNvSpPr>
            <a:spLocks noGrp="1"/>
          </p:cNvSpPr>
          <p:nvPr/>
        </p:nvSpPr>
        <p:spPr>
          <a:xfrm>
            <a:off x="704850" y="60007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point de départ recommandé</a:t>
            </a:r>
          </a:p>
        </p:txBody>
      </p:sp>
      <p:sp>
        <p:nvSpPr>
          <p:cNvPr id="18" name="Rectangle 17">
            <a:extLst>
              <a:ext uri="{FF2B5EF4-FFF2-40B4-BE49-F238E27FC236}">
                <a16:creationId xmlns:a16="http://schemas.microsoft.com/office/drawing/2014/main" id="{890AAD53-B109-4A12-89AC-1CEA404ABCD5}"/>
              </a:ext>
            </a:extLst>
          </p:cNvPr>
          <p:cNvSpPr>
            <a:spLocks noGrp="1"/>
          </p:cNvSpPr>
          <p:nvPr/>
        </p:nvSpPr>
        <p:spPr>
          <a:xfrm>
            <a:off x="3238500" y="5391150"/>
            <a:ext cx="9525" cy="571500"/>
          </a:xfrm>
          <a:prstGeom prst="rect">
            <a:avLst/>
          </a:prstGeom>
          <a:solidFill>
            <a:srgbClr val="1D8A78"/>
          </a:solidFill>
          <a:ln w="0">
            <a:solidFill>
              <a:srgbClr val="000000">
                <a:alpha val="0"/>
              </a:srgbClr>
            </a:solidFill>
            <a:prstDash val="solid"/>
          </a:ln>
        </p:spPr>
      </p:sp>
      <p:sp>
        <p:nvSpPr>
          <p:cNvPr id="19" name="Rectangle 18">
            <a:extLst>
              <a:ext uri="{FF2B5EF4-FFF2-40B4-BE49-F238E27FC236}">
                <a16:creationId xmlns:a16="http://schemas.microsoft.com/office/drawing/2014/main" id="{3E20872B-53DC-48F2-AAE1-0EC915BEC9BE}"/>
              </a:ext>
            </a:extLst>
          </p:cNvPr>
          <p:cNvSpPr>
            <a:spLocks noGrp="1"/>
          </p:cNvSpPr>
          <p:nvPr/>
        </p:nvSpPr>
        <p:spPr>
          <a:xfrm>
            <a:off x="3390900" y="544830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a:solidFill>
                  <a:srgbClr val="17263E"/>
                </a:solidFill>
                <a:latin typeface="Georgia"/>
                <a:ea typeface="Georgia"/>
                <a:cs typeface="Georgia"/>
              </a:rPr>
              <a:t>45 min</a:t>
            </a:r>
          </a:p>
        </p:txBody>
      </p:sp>
      <p:sp>
        <p:nvSpPr>
          <p:cNvPr id="20" name="Rectangle 19">
            <a:extLst>
              <a:ext uri="{FF2B5EF4-FFF2-40B4-BE49-F238E27FC236}">
                <a16:creationId xmlns:a16="http://schemas.microsoft.com/office/drawing/2014/main" id="{329888FF-3A3B-4EAC-990B-93FEA0C84CE4}"/>
              </a:ext>
            </a:extLst>
          </p:cNvPr>
          <p:cNvSpPr>
            <a:spLocks noGrp="1"/>
          </p:cNvSpPr>
          <p:nvPr/>
        </p:nvSpPr>
        <p:spPr>
          <a:xfrm>
            <a:off x="3390900" y="582930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Échange de cadrage</a:t>
            </a:r>
          </a:p>
        </p:txBody>
      </p:sp>
      <p:sp>
        <p:nvSpPr>
          <p:cNvPr id="21" name="Rectangle 20">
            <a:extLst>
              <a:ext uri="{FF2B5EF4-FFF2-40B4-BE49-F238E27FC236}">
                <a16:creationId xmlns:a16="http://schemas.microsoft.com/office/drawing/2014/main" id="{A996AA51-3BC2-46DD-9128-A42E584A2D7D}"/>
              </a:ext>
            </a:extLst>
          </p:cNvPr>
          <p:cNvSpPr>
            <a:spLocks noGrp="1"/>
          </p:cNvSpPr>
          <p:nvPr/>
        </p:nvSpPr>
        <p:spPr>
          <a:xfrm>
            <a:off x="3390900" y="60007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avec la direction ou son représentant</a:t>
            </a:r>
          </a:p>
        </p:txBody>
      </p:sp>
      <p:sp>
        <p:nvSpPr>
          <p:cNvPr id="22" name="Rectangle 21">
            <a:extLst>
              <a:ext uri="{FF2B5EF4-FFF2-40B4-BE49-F238E27FC236}">
                <a16:creationId xmlns:a16="http://schemas.microsoft.com/office/drawing/2014/main" id="{F2AAE3BC-8C31-4394-92BC-9AFA6811BBA2}"/>
              </a:ext>
            </a:extLst>
          </p:cNvPr>
          <p:cNvSpPr>
            <a:spLocks noGrp="1"/>
          </p:cNvSpPr>
          <p:nvPr/>
        </p:nvSpPr>
        <p:spPr>
          <a:xfrm>
            <a:off x="5924550" y="5391150"/>
            <a:ext cx="9525" cy="571500"/>
          </a:xfrm>
          <a:prstGeom prst="rect">
            <a:avLst/>
          </a:prstGeom>
          <a:solidFill>
            <a:srgbClr val="DE6A1F"/>
          </a:solidFill>
          <a:ln w="0">
            <a:solidFill>
              <a:srgbClr val="000000">
                <a:alpha val="0"/>
              </a:srgbClr>
            </a:solidFill>
            <a:prstDash val="solid"/>
          </a:ln>
        </p:spPr>
      </p:sp>
      <p:sp>
        <p:nvSpPr>
          <p:cNvPr id="23" name="Rectangle 22">
            <a:extLst>
              <a:ext uri="{FF2B5EF4-FFF2-40B4-BE49-F238E27FC236}">
                <a16:creationId xmlns:a16="http://schemas.microsoft.com/office/drawing/2014/main" id="{1C3DFC82-8127-4D85-AC48-69EE82B800AD}"/>
              </a:ext>
            </a:extLst>
          </p:cNvPr>
          <p:cNvSpPr>
            <a:spLocks noGrp="1"/>
          </p:cNvSpPr>
          <p:nvPr/>
        </p:nvSpPr>
        <p:spPr>
          <a:xfrm>
            <a:off x="6076950" y="544830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a:solidFill>
                  <a:srgbClr val="17263E"/>
                </a:solidFill>
                <a:latin typeface="Georgia"/>
                <a:ea typeface="Georgia"/>
                <a:cs typeface="Georgia"/>
              </a:rPr>
              <a:t>4</a:t>
            </a:r>
          </a:p>
        </p:txBody>
      </p:sp>
      <p:sp>
        <p:nvSpPr>
          <p:cNvPr id="24" name="Rectangle 23">
            <a:extLst>
              <a:ext uri="{FF2B5EF4-FFF2-40B4-BE49-F238E27FC236}">
                <a16:creationId xmlns:a16="http://schemas.microsoft.com/office/drawing/2014/main" id="{9FAA601D-A5B9-41B3-95AD-832E202B48F3}"/>
              </a:ext>
            </a:extLst>
          </p:cNvPr>
          <p:cNvSpPr>
            <a:spLocks noGrp="1"/>
          </p:cNvSpPr>
          <p:nvPr/>
        </p:nvSpPr>
        <p:spPr>
          <a:xfrm>
            <a:off x="6076950" y="582930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Chantiers prioritaires</a:t>
            </a:r>
          </a:p>
        </p:txBody>
      </p:sp>
      <p:sp>
        <p:nvSpPr>
          <p:cNvPr id="25" name="Rectangle 24">
            <a:extLst>
              <a:ext uri="{FF2B5EF4-FFF2-40B4-BE49-F238E27FC236}">
                <a16:creationId xmlns:a16="http://schemas.microsoft.com/office/drawing/2014/main" id="{1FFE29D9-78A5-4645-B50A-109A7A70B3E2}"/>
              </a:ext>
            </a:extLst>
          </p:cNvPr>
          <p:cNvSpPr>
            <a:spLocks noGrp="1"/>
          </p:cNvSpPr>
          <p:nvPr/>
        </p:nvSpPr>
        <p:spPr>
          <a:xfrm>
            <a:off x="6076950" y="60007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comptes pro, flotte, service, reporting</a:t>
            </a:r>
          </a:p>
        </p:txBody>
      </p:sp>
      <p:sp>
        <p:nvSpPr>
          <p:cNvPr id="26" name="Rectangle 25">
            <a:extLst>
              <a:ext uri="{FF2B5EF4-FFF2-40B4-BE49-F238E27FC236}">
                <a16:creationId xmlns:a16="http://schemas.microsoft.com/office/drawing/2014/main" id="{137D348C-F95C-4DCB-B87A-D4676518169D}"/>
              </a:ext>
            </a:extLst>
          </p:cNvPr>
          <p:cNvSpPr>
            <a:spLocks noGrp="1"/>
          </p:cNvSpPr>
          <p:nvPr/>
        </p:nvSpPr>
        <p:spPr>
          <a:xfrm>
            <a:off x="8610600" y="5391150"/>
            <a:ext cx="9525" cy="571500"/>
          </a:xfrm>
          <a:prstGeom prst="rect">
            <a:avLst/>
          </a:prstGeom>
          <a:solidFill>
            <a:srgbClr val="1D8A78"/>
          </a:solidFill>
          <a:ln w="0">
            <a:solidFill>
              <a:srgbClr val="000000">
                <a:alpha val="0"/>
              </a:srgbClr>
            </a:solidFill>
            <a:prstDash val="solid"/>
          </a:ln>
        </p:spPr>
      </p:sp>
      <p:sp>
        <p:nvSpPr>
          <p:cNvPr id="27" name="Rectangle 26">
            <a:extLst>
              <a:ext uri="{FF2B5EF4-FFF2-40B4-BE49-F238E27FC236}">
                <a16:creationId xmlns:a16="http://schemas.microsoft.com/office/drawing/2014/main" id="{ACF782A3-4732-4A8F-B559-6A5E1B80C9AB}"/>
              </a:ext>
            </a:extLst>
          </p:cNvPr>
          <p:cNvSpPr>
            <a:spLocks noGrp="1"/>
          </p:cNvSpPr>
          <p:nvPr/>
        </p:nvSpPr>
        <p:spPr>
          <a:xfrm>
            <a:off x="8763000" y="544830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a:solidFill>
                  <a:srgbClr val="17263E"/>
                </a:solidFill>
                <a:latin typeface="Georgia"/>
                <a:ea typeface="Georgia"/>
                <a:cs typeface="Georgia"/>
              </a:rPr>
              <a:t>1</a:t>
            </a:r>
          </a:p>
        </p:txBody>
      </p:sp>
      <p:sp>
        <p:nvSpPr>
          <p:cNvPr id="28" name="Rectangle 27">
            <a:extLst>
              <a:ext uri="{FF2B5EF4-FFF2-40B4-BE49-F238E27FC236}">
                <a16:creationId xmlns:a16="http://schemas.microsoft.com/office/drawing/2014/main" id="{832731B0-C00D-4DBE-9BE0-EBB0D64D920A}"/>
              </a:ext>
            </a:extLst>
          </p:cNvPr>
          <p:cNvSpPr>
            <a:spLocks noGrp="1"/>
          </p:cNvSpPr>
          <p:nvPr/>
        </p:nvSpPr>
        <p:spPr>
          <a:xfrm>
            <a:off x="8763000" y="582930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Feuille de route</a:t>
            </a:r>
          </a:p>
        </p:txBody>
      </p:sp>
      <p:sp>
        <p:nvSpPr>
          <p:cNvPr id="29" name="Rectangle 28">
            <a:extLst>
              <a:ext uri="{FF2B5EF4-FFF2-40B4-BE49-F238E27FC236}">
                <a16:creationId xmlns:a16="http://schemas.microsoft.com/office/drawing/2014/main" id="{ED26EB18-EFB8-4B6B-90AA-6537DFE95320}"/>
              </a:ext>
            </a:extLst>
          </p:cNvPr>
          <p:cNvSpPr>
            <a:spLocks noGrp="1"/>
          </p:cNvSpPr>
          <p:nvPr/>
        </p:nvSpPr>
        <p:spPr>
          <a:xfrm>
            <a:off x="8763000" y="600075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orientée décision et exécution</a:t>
            </a:r>
          </a:p>
        </p:txBody>
      </p:sp>
      <p:sp>
        <p:nvSpPr>
          <p:cNvPr id="30" name="Rectangle 29">
            <a:extLst>
              <a:ext uri="{FF2B5EF4-FFF2-40B4-BE49-F238E27FC236}">
                <a16:creationId xmlns:a16="http://schemas.microsoft.com/office/drawing/2014/main" id="{E2C41650-3CC7-4D3C-96D6-9AB9B889A723}"/>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31" name="Rectangle 30">
            <a:extLst>
              <a:ext uri="{FF2B5EF4-FFF2-40B4-BE49-F238E27FC236}">
                <a16:creationId xmlns:a16="http://schemas.microsoft.com/office/drawing/2014/main" id="{A55E6471-CC15-484F-8927-B81003624ACC}"/>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Couverture</a:t>
            </a:r>
          </a:p>
        </p:txBody>
      </p:sp>
      <p:sp>
        <p:nvSpPr>
          <p:cNvPr id="32" name="Rectangle 31">
            <a:extLst>
              <a:ext uri="{FF2B5EF4-FFF2-40B4-BE49-F238E27FC236}">
                <a16:creationId xmlns:a16="http://schemas.microsoft.com/office/drawing/2014/main" id="{D2447346-159B-4891-81BC-C33D6CC8AFBA}"/>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01</a:t>
            </a:r>
          </a:p>
        </p:txBody>
      </p:sp>
    </p:spTree>
    <p:extLst>
      <p:ext uri="{BB962C8B-B14F-4D97-AF65-F5344CB8AC3E}">
        <p14:creationId xmlns:p14="http://schemas.microsoft.com/office/powerpoint/2010/main" val="675243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8315D3B-86CE-415B-B817-95B0EC19971F}"/>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10E30E3B-4799-4390-925D-498EAF3378D2}"/>
              </a:ext>
            </a:extLst>
          </p:cNvPr>
          <p:cNvSpPr>
            <a:spLocks noGrp="1"/>
          </p:cNvSpPr>
          <p:nvPr/>
        </p:nvSpPr>
        <p:spPr>
          <a:xfrm>
            <a:off x="552450" y="485775"/>
            <a:ext cx="95250" cy="952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5083C3CA-6902-4057-964B-889AB0521FED}"/>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E N J E U X   P R I O R I T A I R E S</a:t>
            </a:r>
          </a:p>
        </p:txBody>
      </p:sp>
      <p:sp>
        <p:nvSpPr>
          <p:cNvPr id="4" name="Rectangle 3">
            <a:extLst>
              <a:ext uri="{FF2B5EF4-FFF2-40B4-BE49-F238E27FC236}">
                <a16:creationId xmlns:a16="http://schemas.microsoft.com/office/drawing/2014/main" id="{8698AE92-4A91-41EF-84B3-74AB6440D0CC}"/>
              </a:ext>
            </a:extLst>
          </p:cNvPr>
          <p:cNvSpPr>
            <a:spLocks noGrp="1"/>
          </p:cNvSpPr>
          <p:nvPr/>
        </p:nvSpPr>
        <p:spPr>
          <a:xfrm>
            <a:off x="552450" y="800100"/>
            <a:ext cx="85725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7263E"/>
                </a:solidFill>
                <a:latin typeface="Georgia"/>
                <a:ea typeface="Georgia"/>
                <a:cs typeface="Georgia"/>
              </a:defRPr>
            </a:pPr>
            <a:r>
              <a:rPr sz="2475" b="1">
                <a:solidFill>
                  <a:srgbClr val="17263E"/>
                </a:solidFill>
                <a:latin typeface="Georgia"/>
                <a:ea typeface="Georgia"/>
                <a:cs typeface="Georgia"/>
              </a:rPr>
              <a:t>Les enjeux à traiter chez ELTON sont d'abord opérationnels, pas technologiques.</a:t>
            </a:r>
          </a:p>
        </p:txBody>
      </p:sp>
      <p:sp>
        <p:nvSpPr>
          <p:cNvPr id="5" name="Rectangle 4">
            <a:extLst>
              <a:ext uri="{FF2B5EF4-FFF2-40B4-BE49-F238E27FC236}">
                <a16:creationId xmlns:a16="http://schemas.microsoft.com/office/drawing/2014/main" id="{E6EAEC16-E1C8-4B31-8A48-D03639283B56}"/>
              </a:ext>
            </a:extLst>
          </p:cNvPr>
          <p:cNvSpPr>
            <a:spLocks noGrp="1"/>
          </p:cNvSpPr>
          <p:nvPr/>
        </p:nvSpPr>
        <p:spPr>
          <a:xfrm>
            <a:off x="552450" y="1676400"/>
            <a:ext cx="80010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C6777"/>
                </a:solidFill>
                <a:latin typeface="Avenir Next"/>
                <a:ea typeface="Avenir Next"/>
                <a:cs typeface="Avenir Next"/>
              </a:defRPr>
            </a:pPr>
            <a:r>
              <a:rPr sz="1050" b="0">
                <a:solidFill>
                  <a:srgbClr val="5C6777"/>
                </a:solidFill>
                <a:latin typeface="Avenir Next"/>
                <a:ea typeface="Avenir Next"/>
                <a:cs typeface="Avenir Next"/>
              </a:rPr>
              <a:t>Le bon discours commercial n'est donc pas “voici notre IA”, mais “voici où nous pouvons vous aider à mieux décider, mieux exécuter et mieux former vos équipes”.</a:t>
            </a:r>
          </a:p>
        </p:txBody>
      </p:sp>
      <p:sp>
        <p:nvSpPr>
          <p:cNvPr id="6" name="Rectangle 5">
            <a:extLst>
              <a:ext uri="{FF2B5EF4-FFF2-40B4-BE49-F238E27FC236}">
                <a16:creationId xmlns:a16="http://schemas.microsoft.com/office/drawing/2014/main" id="{C4F51B9E-C128-4460-B9A7-1F8DD7D17570}"/>
              </a:ext>
            </a:extLst>
          </p:cNvPr>
          <p:cNvSpPr>
            <a:spLocks noGrp="1"/>
          </p:cNvSpPr>
          <p:nvPr/>
        </p:nvSpPr>
        <p:spPr>
          <a:xfrm>
            <a:off x="552450" y="2476500"/>
            <a:ext cx="5105400" cy="1619250"/>
          </a:xfrm>
          <a:prstGeom prst="rect">
            <a:avLst/>
          </a:prstGeom>
          <a:solidFill>
            <a:srgbClr val="FFFDFC"/>
          </a:solidFill>
          <a:ln w="9525">
            <a:solidFill>
              <a:srgbClr val="D9D1C6"/>
            </a:solidFill>
            <a:prstDash val="solid"/>
          </a:ln>
        </p:spPr>
      </p:sp>
      <p:sp>
        <p:nvSpPr>
          <p:cNvPr id="7" name="Rectangle 6">
            <a:extLst>
              <a:ext uri="{FF2B5EF4-FFF2-40B4-BE49-F238E27FC236}">
                <a16:creationId xmlns:a16="http://schemas.microsoft.com/office/drawing/2014/main" id="{F7298D12-5FFE-46DD-BBC5-5287485D37F2}"/>
              </a:ext>
            </a:extLst>
          </p:cNvPr>
          <p:cNvSpPr>
            <a:spLocks noGrp="1"/>
          </p:cNvSpPr>
          <p:nvPr/>
        </p:nvSpPr>
        <p:spPr>
          <a:xfrm>
            <a:off x="552450" y="2476500"/>
            <a:ext cx="76200" cy="1619250"/>
          </a:xfrm>
          <a:prstGeom prst="rect">
            <a:avLst/>
          </a:prstGeom>
          <a:solidFill>
            <a:srgbClr val="DE6A1F"/>
          </a:solidFill>
          <a:ln w="0">
            <a:solidFill>
              <a:srgbClr val="000000">
                <a:alpha val="0"/>
              </a:srgbClr>
            </a:solidFill>
            <a:prstDash val="solid"/>
          </a:ln>
        </p:spPr>
      </p:sp>
      <p:sp>
        <p:nvSpPr>
          <p:cNvPr id="8" name="Rectangle 7">
            <a:extLst>
              <a:ext uri="{FF2B5EF4-FFF2-40B4-BE49-F238E27FC236}">
                <a16:creationId xmlns:a16="http://schemas.microsoft.com/office/drawing/2014/main" id="{7CD9B9BB-0276-4CB6-864F-3F641E553B30}"/>
              </a:ext>
            </a:extLst>
          </p:cNvPr>
          <p:cNvSpPr>
            <a:spLocks noGrp="1"/>
          </p:cNvSpPr>
          <p:nvPr/>
        </p:nvSpPr>
        <p:spPr>
          <a:xfrm>
            <a:off x="819150" y="2686050"/>
            <a:ext cx="3143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63E"/>
                </a:solidFill>
                <a:latin typeface="Georgia"/>
                <a:ea typeface="Georgia"/>
                <a:cs typeface="Georgia"/>
              </a:defRPr>
            </a:pPr>
            <a:r>
              <a:rPr sz="1650" b="1">
                <a:solidFill>
                  <a:srgbClr val="17263E"/>
                </a:solidFill>
                <a:latin typeface="Georgia"/>
                <a:ea typeface="Georgia"/>
                <a:cs typeface="Georgia"/>
              </a:rPr>
              <a:t>Comptes professionnels</a:t>
            </a:r>
          </a:p>
        </p:txBody>
      </p:sp>
      <p:sp>
        <p:nvSpPr>
          <p:cNvPr id="9" name="Rectangle 8">
            <a:extLst>
              <a:ext uri="{FF2B5EF4-FFF2-40B4-BE49-F238E27FC236}">
                <a16:creationId xmlns:a16="http://schemas.microsoft.com/office/drawing/2014/main" id="{446C2FB7-89BF-4765-A9C6-74614F34F2A0}"/>
              </a:ext>
            </a:extLst>
          </p:cNvPr>
          <p:cNvSpPr>
            <a:spLocks noGrp="1"/>
          </p:cNvSpPr>
          <p:nvPr/>
        </p:nvSpPr>
        <p:spPr>
          <a:xfrm>
            <a:off x="819150" y="3105150"/>
            <a:ext cx="43053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dirty="0">
                <a:solidFill>
                  <a:srgbClr val="5C6777"/>
                </a:solidFill>
                <a:latin typeface="Avenir Next"/>
                <a:ea typeface="Avenir Next"/>
                <a:cs typeface="Avenir Next"/>
              </a:rPr>
              <a:t>• </a:t>
            </a:r>
            <a:r>
              <a:rPr sz="938" b="0" dirty="0" err="1">
                <a:solidFill>
                  <a:srgbClr val="5C6777"/>
                </a:solidFill>
                <a:latin typeface="Avenir Next"/>
                <a:ea typeface="Avenir Next"/>
                <a:cs typeface="Avenir Next"/>
              </a:rPr>
              <a:t>mieux</a:t>
            </a:r>
            <a:r>
              <a:rPr sz="938" b="0" dirty="0">
                <a:solidFill>
                  <a:srgbClr val="5C6777"/>
                </a:solidFill>
                <a:latin typeface="Avenir Next"/>
                <a:ea typeface="Avenir Next"/>
                <a:cs typeface="Avenir Next"/>
              </a:rPr>
              <a:t> </a:t>
            </a:r>
            <a:r>
              <a:rPr sz="938" b="0" dirty="0" err="1">
                <a:solidFill>
                  <a:srgbClr val="5C6777"/>
                </a:solidFill>
                <a:latin typeface="Avenir Next"/>
                <a:ea typeface="Avenir Next"/>
                <a:cs typeface="Avenir Next"/>
              </a:rPr>
              <a:t>suivre</a:t>
            </a:r>
            <a:r>
              <a:rPr sz="938" b="0" dirty="0">
                <a:solidFill>
                  <a:srgbClr val="5C6777"/>
                </a:solidFill>
                <a:latin typeface="Avenir Next"/>
                <a:ea typeface="Avenir Next"/>
                <a:cs typeface="Avenir Next"/>
              </a:rPr>
              <a:t> les </a:t>
            </a:r>
            <a:r>
              <a:rPr sz="938" b="0" dirty="0" err="1">
                <a:solidFill>
                  <a:srgbClr val="5C6777"/>
                </a:solidFill>
                <a:latin typeface="Avenir Next"/>
                <a:ea typeface="Avenir Next"/>
                <a:cs typeface="Avenir Next"/>
              </a:rPr>
              <a:t>échéances</a:t>
            </a:r>
            <a:r>
              <a:rPr sz="938" b="0" dirty="0">
                <a:solidFill>
                  <a:srgbClr val="5C6777"/>
                </a:solidFill>
                <a:latin typeface="Avenir Next"/>
                <a:ea typeface="Avenir Next"/>
                <a:cs typeface="Avenir Next"/>
              </a:rPr>
              <a:t>, relances et revues de </a:t>
            </a:r>
            <a:r>
              <a:rPr sz="938" b="0" dirty="0" err="1">
                <a:solidFill>
                  <a:srgbClr val="5C6777"/>
                </a:solidFill>
                <a:latin typeface="Avenir Next"/>
                <a:ea typeface="Avenir Next"/>
                <a:cs typeface="Avenir Next"/>
              </a:rPr>
              <a:t>portefeuille</a:t>
            </a:r>
            <a:endParaRPr sz="938" b="0" dirty="0">
              <a:solidFill>
                <a:srgbClr val="5C6777"/>
              </a:solidFill>
              <a:latin typeface="Avenir Next"/>
              <a:ea typeface="Avenir Next"/>
              <a:cs typeface="Avenir Next"/>
            </a:endParaRPr>
          </a:p>
          <a:p>
            <a:pPr algn="l">
              <a:defRPr sz="938" b="0">
                <a:solidFill>
                  <a:srgbClr val="5C6777"/>
                </a:solidFill>
                <a:latin typeface="Avenir Next"/>
                <a:ea typeface="Avenir Next"/>
                <a:cs typeface="Avenir Next"/>
              </a:defRPr>
            </a:pPr>
            <a:r>
              <a:rPr sz="938" b="0" dirty="0">
                <a:solidFill>
                  <a:srgbClr val="5C6777"/>
                </a:solidFill>
                <a:latin typeface="Avenir Next"/>
                <a:ea typeface="Avenir Next"/>
                <a:cs typeface="Avenir Next"/>
              </a:rPr>
              <a:t>• </a:t>
            </a:r>
            <a:r>
              <a:rPr sz="938" b="0" dirty="0" err="1">
                <a:solidFill>
                  <a:srgbClr val="5C6777"/>
                </a:solidFill>
                <a:latin typeface="Avenir Next"/>
                <a:ea typeface="Avenir Next"/>
                <a:cs typeface="Avenir Next"/>
              </a:rPr>
              <a:t>fiabiliser</a:t>
            </a:r>
            <a:r>
              <a:rPr sz="938" b="0" dirty="0">
                <a:solidFill>
                  <a:srgbClr val="5C6777"/>
                </a:solidFill>
                <a:latin typeface="Avenir Next"/>
                <a:ea typeface="Avenir Next"/>
                <a:cs typeface="Avenir Next"/>
              </a:rPr>
              <a:t> la circulation de </a:t>
            </a:r>
            <a:r>
              <a:rPr sz="938" b="0" dirty="0" err="1">
                <a:solidFill>
                  <a:srgbClr val="5C6777"/>
                </a:solidFill>
                <a:latin typeface="Avenir Next"/>
                <a:ea typeface="Avenir Next"/>
                <a:cs typeface="Avenir Next"/>
              </a:rPr>
              <a:t>l'information</a:t>
            </a:r>
            <a:r>
              <a:rPr sz="938" b="0" dirty="0">
                <a:solidFill>
                  <a:srgbClr val="5C6777"/>
                </a:solidFill>
                <a:latin typeface="Avenir Next"/>
                <a:ea typeface="Avenir Next"/>
                <a:cs typeface="Avenir Next"/>
              </a:rPr>
              <a:t> </a:t>
            </a:r>
            <a:r>
              <a:rPr sz="938" b="0" dirty="0" err="1">
                <a:solidFill>
                  <a:srgbClr val="5C6777"/>
                </a:solidFill>
                <a:latin typeface="Avenir Next"/>
                <a:ea typeface="Avenir Next"/>
                <a:cs typeface="Avenir Next"/>
              </a:rPr>
              <a:t>commerciale</a:t>
            </a:r>
            <a:r>
              <a:rPr sz="938" b="0" dirty="0">
                <a:solidFill>
                  <a:srgbClr val="5C6777"/>
                </a:solidFill>
                <a:latin typeface="Avenir Next"/>
                <a:ea typeface="Avenir Next"/>
                <a:cs typeface="Avenir Next"/>
              </a:rPr>
              <a:t> et administrative</a:t>
            </a:r>
          </a:p>
        </p:txBody>
      </p:sp>
      <p:sp>
        <p:nvSpPr>
          <p:cNvPr id="10" name="Rectangle 9">
            <a:extLst>
              <a:ext uri="{FF2B5EF4-FFF2-40B4-BE49-F238E27FC236}">
                <a16:creationId xmlns:a16="http://schemas.microsoft.com/office/drawing/2014/main" id="{36004CB1-B708-47E7-8D8A-9267C0F5886F}"/>
              </a:ext>
            </a:extLst>
          </p:cNvPr>
          <p:cNvSpPr>
            <a:spLocks noGrp="1"/>
          </p:cNvSpPr>
          <p:nvPr/>
        </p:nvSpPr>
        <p:spPr>
          <a:xfrm>
            <a:off x="819150" y="3733800"/>
            <a:ext cx="3810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E6A1F"/>
                </a:solidFill>
                <a:latin typeface="Avenir Next"/>
                <a:ea typeface="Avenir Next"/>
                <a:cs typeface="Avenir Next"/>
              </a:defRPr>
            </a:pPr>
            <a:r>
              <a:rPr sz="713" b="1">
                <a:solidFill>
                  <a:srgbClr val="DE6A1F"/>
                </a:solidFill>
                <a:latin typeface="Avenir Next"/>
                <a:ea typeface="Avenir Next"/>
                <a:cs typeface="Avenir Next"/>
              </a:rPr>
              <a:t>enjeu DG : visibilité et qualité de pilotage</a:t>
            </a:r>
          </a:p>
        </p:txBody>
      </p:sp>
      <p:sp>
        <p:nvSpPr>
          <p:cNvPr id="11" name="Rectangle 10">
            <a:extLst>
              <a:ext uri="{FF2B5EF4-FFF2-40B4-BE49-F238E27FC236}">
                <a16:creationId xmlns:a16="http://schemas.microsoft.com/office/drawing/2014/main" id="{D61B59F2-B7BC-4CC9-A182-853199598815}"/>
              </a:ext>
            </a:extLst>
          </p:cNvPr>
          <p:cNvSpPr>
            <a:spLocks noGrp="1"/>
          </p:cNvSpPr>
          <p:nvPr/>
        </p:nvSpPr>
        <p:spPr>
          <a:xfrm>
            <a:off x="6153150" y="2476500"/>
            <a:ext cx="5105400" cy="1619250"/>
          </a:xfrm>
          <a:prstGeom prst="rect">
            <a:avLst/>
          </a:prstGeom>
          <a:solidFill>
            <a:srgbClr val="FFFDFC"/>
          </a:solidFill>
          <a:ln w="9525">
            <a:solidFill>
              <a:srgbClr val="D9D1C6"/>
            </a:solidFill>
            <a:prstDash val="solid"/>
          </a:ln>
        </p:spPr>
      </p:sp>
      <p:sp>
        <p:nvSpPr>
          <p:cNvPr id="12" name="Rectangle 11">
            <a:extLst>
              <a:ext uri="{FF2B5EF4-FFF2-40B4-BE49-F238E27FC236}">
                <a16:creationId xmlns:a16="http://schemas.microsoft.com/office/drawing/2014/main" id="{7AD42919-3DD9-4854-89C2-D30445090358}"/>
              </a:ext>
            </a:extLst>
          </p:cNvPr>
          <p:cNvSpPr>
            <a:spLocks noGrp="1"/>
          </p:cNvSpPr>
          <p:nvPr/>
        </p:nvSpPr>
        <p:spPr>
          <a:xfrm>
            <a:off x="6153150" y="2476500"/>
            <a:ext cx="76200" cy="1619250"/>
          </a:xfrm>
          <a:prstGeom prst="rect">
            <a:avLst/>
          </a:prstGeom>
          <a:solidFill>
            <a:srgbClr val="1D8A78"/>
          </a:solidFill>
          <a:ln w="0">
            <a:solidFill>
              <a:srgbClr val="000000">
                <a:alpha val="0"/>
              </a:srgbClr>
            </a:solidFill>
            <a:prstDash val="solid"/>
          </a:ln>
        </p:spPr>
      </p:sp>
      <p:sp>
        <p:nvSpPr>
          <p:cNvPr id="13" name="Rectangle 12">
            <a:extLst>
              <a:ext uri="{FF2B5EF4-FFF2-40B4-BE49-F238E27FC236}">
                <a16:creationId xmlns:a16="http://schemas.microsoft.com/office/drawing/2014/main" id="{BB566907-12FD-490E-A3DE-66CA95958362}"/>
              </a:ext>
            </a:extLst>
          </p:cNvPr>
          <p:cNvSpPr>
            <a:spLocks noGrp="1"/>
          </p:cNvSpPr>
          <p:nvPr/>
        </p:nvSpPr>
        <p:spPr>
          <a:xfrm>
            <a:off x="6419850" y="2686050"/>
            <a:ext cx="3143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63E"/>
                </a:solidFill>
                <a:latin typeface="Georgia"/>
                <a:ea typeface="Georgia"/>
                <a:cs typeface="Georgia"/>
              </a:defRPr>
            </a:pPr>
            <a:r>
              <a:rPr sz="1650" b="1" dirty="0">
                <a:solidFill>
                  <a:srgbClr val="17263E"/>
                </a:solidFill>
                <a:latin typeface="Georgia"/>
                <a:ea typeface="Georgia"/>
                <a:cs typeface="Georgia"/>
              </a:rPr>
              <a:t>Flotte et </a:t>
            </a:r>
            <a:r>
              <a:rPr sz="1650" b="1" dirty="0" err="1">
                <a:solidFill>
                  <a:srgbClr val="17263E"/>
                </a:solidFill>
                <a:latin typeface="Georgia"/>
                <a:ea typeface="Georgia"/>
                <a:cs typeface="Georgia"/>
              </a:rPr>
              <a:t>cartes</a:t>
            </a:r>
            <a:r>
              <a:rPr sz="1650" b="1" dirty="0">
                <a:solidFill>
                  <a:srgbClr val="17263E"/>
                </a:solidFill>
                <a:latin typeface="Georgia"/>
                <a:ea typeface="Georgia"/>
                <a:cs typeface="Georgia"/>
              </a:rPr>
              <a:t> carburant</a:t>
            </a:r>
          </a:p>
        </p:txBody>
      </p:sp>
      <p:sp>
        <p:nvSpPr>
          <p:cNvPr id="14" name="Rectangle 13">
            <a:extLst>
              <a:ext uri="{FF2B5EF4-FFF2-40B4-BE49-F238E27FC236}">
                <a16:creationId xmlns:a16="http://schemas.microsoft.com/office/drawing/2014/main" id="{C5B5B445-B641-41E9-8DF6-A5819871354C}"/>
              </a:ext>
            </a:extLst>
          </p:cNvPr>
          <p:cNvSpPr>
            <a:spLocks noGrp="1"/>
          </p:cNvSpPr>
          <p:nvPr/>
        </p:nvSpPr>
        <p:spPr>
          <a:xfrm>
            <a:off x="6419850" y="3105150"/>
            <a:ext cx="43053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mieux exploiter les données de consommation, d'usage et d'écarts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préparer des alertes et tableaux de bord réellement lisibles</a:t>
            </a:r>
          </a:p>
        </p:txBody>
      </p:sp>
      <p:sp>
        <p:nvSpPr>
          <p:cNvPr id="15" name="Rectangle 14">
            <a:extLst>
              <a:ext uri="{FF2B5EF4-FFF2-40B4-BE49-F238E27FC236}">
                <a16:creationId xmlns:a16="http://schemas.microsoft.com/office/drawing/2014/main" id="{182F8197-A355-4997-ADD7-41098FE237FA}"/>
              </a:ext>
            </a:extLst>
          </p:cNvPr>
          <p:cNvSpPr>
            <a:spLocks noGrp="1"/>
          </p:cNvSpPr>
          <p:nvPr/>
        </p:nvSpPr>
        <p:spPr>
          <a:xfrm>
            <a:off x="6419850" y="3733800"/>
            <a:ext cx="3810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1D8A78"/>
                </a:solidFill>
                <a:latin typeface="Avenir Next"/>
                <a:ea typeface="Avenir Next"/>
                <a:cs typeface="Avenir Next"/>
              </a:defRPr>
            </a:pPr>
            <a:r>
              <a:rPr sz="713" b="1">
                <a:solidFill>
                  <a:srgbClr val="1D8A78"/>
                </a:solidFill>
                <a:latin typeface="Avenir Next"/>
                <a:ea typeface="Avenir Next"/>
                <a:cs typeface="Avenir Next"/>
              </a:rPr>
              <a:t>enjeu DG : contrôle et lecture des anomalies</a:t>
            </a:r>
          </a:p>
        </p:txBody>
      </p:sp>
      <p:sp>
        <p:nvSpPr>
          <p:cNvPr id="16" name="Rectangle 15">
            <a:extLst>
              <a:ext uri="{FF2B5EF4-FFF2-40B4-BE49-F238E27FC236}">
                <a16:creationId xmlns:a16="http://schemas.microsoft.com/office/drawing/2014/main" id="{9BAB7878-7218-4AA0-8EC5-3E53B0FB6308}"/>
              </a:ext>
            </a:extLst>
          </p:cNvPr>
          <p:cNvSpPr>
            <a:spLocks noGrp="1"/>
          </p:cNvSpPr>
          <p:nvPr/>
        </p:nvSpPr>
        <p:spPr>
          <a:xfrm>
            <a:off x="552450" y="4495800"/>
            <a:ext cx="5105400" cy="1619250"/>
          </a:xfrm>
          <a:prstGeom prst="rect">
            <a:avLst/>
          </a:prstGeom>
          <a:solidFill>
            <a:srgbClr val="FFFDFC"/>
          </a:solidFill>
          <a:ln w="9525">
            <a:solidFill>
              <a:srgbClr val="D9D1C6"/>
            </a:solidFill>
            <a:prstDash val="solid"/>
          </a:ln>
        </p:spPr>
      </p:sp>
      <p:sp>
        <p:nvSpPr>
          <p:cNvPr id="17" name="Rectangle 16">
            <a:extLst>
              <a:ext uri="{FF2B5EF4-FFF2-40B4-BE49-F238E27FC236}">
                <a16:creationId xmlns:a16="http://schemas.microsoft.com/office/drawing/2014/main" id="{1C9997E7-FDE9-4D46-A5F1-1B1C6F128647}"/>
              </a:ext>
            </a:extLst>
          </p:cNvPr>
          <p:cNvSpPr>
            <a:spLocks noGrp="1"/>
          </p:cNvSpPr>
          <p:nvPr/>
        </p:nvSpPr>
        <p:spPr>
          <a:xfrm>
            <a:off x="552450" y="4495800"/>
            <a:ext cx="76200" cy="1619250"/>
          </a:xfrm>
          <a:prstGeom prst="rect">
            <a:avLst/>
          </a:prstGeom>
          <a:solidFill>
            <a:srgbClr val="17263E"/>
          </a:solidFill>
          <a:ln w="0">
            <a:solidFill>
              <a:srgbClr val="000000">
                <a:alpha val="0"/>
              </a:srgbClr>
            </a:solidFill>
            <a:prstDash val="solid"/>
          </a:ln>
        </p:spPr>
      </p:sp>
      <p:sp>
        <p:nvSpPr>
          <p:cNvPr id="18" name="Rectangle 17">
            <a:extLst>
              <a:ext uri="{FF2B5EF4-FFF2-40B4-BE49-F238E27FC236}">
                <a16:creationId xmlns:a16="http://schemas.microsoft.com/office/drawing/2014/main" id="{02A0F533-3F9E-464A-92A1-B9E03C355F93}"/>
              </a:ext>
            </a:extLst>
          </p:cNvPr>
          <p:cNvSpPr>
            <a:spLocks noGrp="1"/>
          </p:cNvSpPr>
          <p:nvPr/>
        </p:nvSpPr>
        <p:spPr>
          <a:xfrm>
            <a:off x="819150" y="4705350"/>
            <a:ext cx="3143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63E"/>
                </a:solidFill>
                <a:latin typeface="Georgia"/>
                <a:ea typeface="Georgia"/>
                <a:cs typeface="Georgia"/>
              </a:defRPr>
            </a:pPr>
            <a:r>
              <a:rPr sz="1650" b="1">
                <a:solidFill>
                  <a:srgbClr val="17263E"/>
                </a:solidFill>
                <a:latin typeface="Georgia"/>
                <a:ea typeface="Georgia"/>
                <a:cs typeface="Georgia"/>
              </a:rPr>
              <a:t>Service client et service auto</a:t>
            </a:r>
          </a:p>
        </p:txBody>
      </p:sp>
      <p:sp>
        <p:nvSpPr>
          <p:cNvPr id="19" name="Rectangle 18">
            <a:extLst>
              <a:ext uri="{FF2B5EF4-FFF2-40B4-BE49-F238E27FC236}">
                <a16:creationId xmlns:a16="http://schemas.microsoft.com/office/drawing/2014/main" id="{A4C18978-32A4-448C-BA25-01EC563C594A}"/>
              </a:ext>
            </a:extLst>
          </p:cNvPr>
          <p:cNvSpPr>
            <a:spLocks noGrp="1"/>
          </p:cNvSpPr>
          <p:nvPr/>
        </p:nvSpPr>
        <p:spPr>
          <a:xfrm>
            <a:off x="819150" y="5124450"/>
            <a:ext cx="43053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réduire le temps de réponse et améliorer le suivi des demandes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mieux structurer les rappels, comptes rendus et historiques</a:t>
            </a:r>
          </a:p>
        </p:txBody>
      </p:sp>
      <p:sp>
        <p:nvSpPr>
          <p:cNvPr id="20" name="Rectangle 19">
            <a:extLst>
              <a:ext uri="{FF2B5EF4-FFF2-40B4-BE49-F238E27FC236}">
                <a16:creationId xmlns:a16="http://schemas.microsoft.com/office/drawing/2014/main" id="{72B14343-BAE3-4593-9676-6F13DE2CBD24}"/>
              </a:ext>
            </a:extLst>
          </p:cNvPr>
          <p:cNvSpPr>
            <a:spLocks noGrp="1"/>
          </p:cNvSpPr>
          <p:nvPr/>
        </p:nvSpPr>
        <p:spPr>
          <a:xfrm>
            <a:off x="819150" y="5753100"/>
            <a:ext cx="3810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17263E"/>
                </a:solidFill>
                <a:latin typeface="Avenir Next"/>
                <a:ea typeface="Avenir Next"/>
                <a:cs typeface="Avenir Next"/>
              </a:defRPr>
            </a:pPr>
            <a:r>
              <a:rPr sz="713" b="1">
                <a:solidFill>
                  <a:srgbClr val="17263E"/>
                </a:solidFill>
                <a:latin typeface="Avenir Next"/>
                <a:ea typeface="Avenir Next"/>
                <a:cs typeface="Avenir Next"/>
              </a:rPr>
              <a:t>enjeu DG : qualité de service et cohérence de traitement</a:t>
            </a:r>
          </a:p>
        </p:txBody>
      </p:sp>
      <p:sp>
        <p:nvSpPr>
          <p:cNvPr id="21" name="Rectangle 20">
            <a:extLst>
              <a:ext uri="{FF2B5EF4-FFF2-40B4-BE49-F238E27FC236}">
                <a16:creationId xmlns:a16="http://schemas.microsoft.com/office/drawing/2014/main" id="{0CB85A71-8824-4296-8D99-4D67A20CD988}"/>
              </a:ext>
            </a:extLst>
          </p:cNvPr>
          <p:cNvSpPr>
            <a:spLocks noGrp="1"/>
          </p:cNvSpPr>
          <p:nvPr/>
        </p:nvSpPr>
        <p:spPr>
          <a:xfrm>
            <a:off x="6153150" y="4495800"/>
            <a:ext cx="5105400" cy="1619250"/>
          </a:xfrm>
          <a:prstGeom prst="rect">
            <a:avLst/>
          </a:prstGeom>
          <a:solidFill>
            <a:srgbClr val="FFFDFC"/>
          </a:solidFill>
          <a:ln w="9525">
            <a:solidFill>
              <a:srgbClr val="D9D1C6"/>
            </a:solidFill>
            <a:prstDash val="solid"/>
          </a:ln>
        </p:spPr>
      </p:sp>
      <p:sp>
        <p:nvSpPr>
          <p:cNvPr id="22" name="Rectangle 21">
            <a:extLst>
              <a:ext uri="{FF2B5EF4-FFF2-40B4-BE49-F238E27FC236}">
                <a16:creationId xmlns:a16="http://schemas.microsoft.com/office/drawing/2014/main" id="{EF5EA7C0-5CDF-4409-9CC8-967CBC230DAE}"/>
              </a:ext>
            </a:extLst>
          </p:cNvPr>
          <p:cNvSpPr>
            <a:spLocks noGrp="1"/>
          </p:cNvSpPr>
          <p:nvPr/>
        </p:nvSpPr>
        <p:spPr>
          <a:xfrm>
            <a:off x="6153150" y="4495800"/>
            <a:ext cx="76200" cy="1619250"/>
          </a:xfrm>
          <a:prstGeom prst="rect">
            <a:avLst/>
          </a:prstGeom>
          <a:solidFill>
            <a:srgbClr val="DE6A1F"/>
          </a:solidFill>
          <a:ln w="0">
            <a:solidFill>
              <a:srgbClr val="000000">
                <a:alpha val="0"/>
              </a:srgbClr>
            </a:solidFill>
            <a:prstDash val="solid"/>
          </a:ln>
        </p:spPr>
      </p:sp>
      <p:sp>
        <p:nvSpPr>
          <p:cNvPr id="23" name="Rectangle 22">
            <a:extLst>
              <a:ext uri="{FF2B5EF4-FFF2-40B4-BE49-F238E27FC236}">
                <a16:creationId xmlns:a16="http://schemas.microsoft.com/office/drawing/2014/main" id="{6208F0E3-3722-46AA-BA30-05666258ED59}"/>
              </a:ext>
            </a:extLst>
          </p:cNvPr>
          <p:cNvSpPr>
            <a:spLocks noGrp="1"/>
          </p:cNvSpPr>
          <p:nvPr/>
        </p:nvSpPr>
        <p:spPr>
          <a:xfrm>
            <a:off x="6419850" y="4705350"/>
            <a:ext cx="3143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63E"/>
                </a:solidFill>
                <a:latin typeface="Georgia"/>
                <a:ea typeface="Georgia"/>
                <a:cs typeface="Georgia"/>
              </a:defRPr>
            </a:pPr>
            <a:r>
              <a:rPr sz="1650" b="1">
                <a:solidFill>
                  <a:srgbClr val="17263E"/>
                </a:solidFill>
                <a:latin typeface="Georgia"/>
                <a:ea typeface="Georgia"/>
                <a:cs typeface="Georgia"/>
              </a:rPr>
              <a:t>Procédures et reporting</a:t>
            </a:r>
          </a:p>
        </p:txBody>
      </p:sp>
      <p:sp>
        <p:nvSpPr>
          <p:cNvPr id="24" name="Rectangle 23">
            <a:extLst>
              <a:ext uri="{FF2B5EF4-FFF2-40B4-BE49-F238E27FC236}">
                <a16:creationId xmlns:a16="http://schemas.microsoft.com/office/drawing/2014/main" id="{0A99E2F8-0B9C-4A2B-A3CC-29D2CEB9F9FD}"/>
              </a:ext>
            </a:extLst>
          </p:cNvPr>
          <p:cNvSpPr>
            <a:spLocks noGrp="1"/>
          </p:cNvSpPr>
          <p:nvPr/>
        </p:nvSpPr>
        <p:spPr>
          <a:xfrm>
            <a:off x="6419850" y="5124450"/>
            <a:ext cx="43053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diffuser plus vite les bonnes pratiques et informations utiles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réduire la dépendance à la mémoire individuelle pour exécuter et reporter</a:t>
            </a:r>
          </a:p>
        </p:txBody>
      </p:sp>
      <p:sp>
        <p:nvSpPr>
          <p:cNvPr id="25" name="Rectangle 24">
            <a:extLst>
              <a:ext uri="{FF2B5EF4-FFF2-40B4-BE49-F238E27FC236}">
                <a16:creationId xmlns:a16="http://schemas.microsoft.com/office/drawing/2014/main" id="{2C0A9A7C-EAD7-4272-A90A-6FE64F10336A}"/>
              </a:ext>
            </a:extLst>
          </p:cNvPr>
          <p:cNvSpPr>
            <a:spLocks noGrp="1"/>
          </p:cNvSpPr>
          <p:nvPr/>
        </p:nvSpPr>
        <p:spPr>
          <a:xfrm>
            <a:off x="6419850" y="5753100"/>
            <a:ext cx="3810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E6A1F"/>
                </a:solidFill>
                <a:latin typeface="Avenir Next"/>
                <a:ea typeface="Avenir Next"/>
                <a:cs typeface="Avenir Next"/>
              </a:defRPr>
            </a:pPr>
            <a:r>
              <a:rPr sz="713" b="1">
                <a:solidFill>
                  <a:srgbClr val="DE6A1F"/>
                </a:solidFill>
                <a:latin typeface="Avenir Next"/>
                <a:ea typeface="Avenir Next"/>
                <a:cs typeface="Avenir Next"/>
              </a:rPr>
              <a:t>enjeu DG : standardisation et montée en compétence</a:t>
            </a:r>
          </a:p>
        </p:txBody>
      </p:sp>
      <p:sp>
        <p:nvSpPr>
          <p:cNvPr id="26" name="Rectangle 25">
            <a:extLst>
              <a:ext uri="{FF2B5EF4-FFF2-40B4-BE49-F238E27FC236}">
                <a16:creationId xmlns:a16="http://schemas.microsoft.com/office/drawing/2014/main" id="{633759B3-2B3B-4F62-B9FB-2A485CE8D75D}"/>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27" name="Rectangle 26">
            <a:extLst>
              <a:ext uri="{FF2B5EF4-FFF2-40B4-BE49-F238E27FC236}">
                <a16:creationId xmlns:a16="http://schemas.microsoft.com/office/drawing/2014/main" id="{0F5C5141-65D8-4BCC-A7F0-6137EB72F854}"/>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Enjeux</a:t>
            </a:r>
          </a:p>
        </p:txBody>
      </p:sp>
      <p:sp>
        <p:nvSpPr>
          <p:cNvPr id="28" name="Rectangle 27">
            <a:extLst>
              <a:ext uri="{FF2B5EF4-FFF2-40B4-BE49-F238E27FC236}">
                <a16:creationId xmlns:a16="http://schemas.microsoft.com/office/drawing/2014/main" id="{8A419F70-D6C7-4161-A09F-B5162F0B568F}"/>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02</a:t>
            </a:r>
          </a:p>
        </p:txBody>
      </p:sp>
    </p:spTree>
    <p:extLst>
      <p:ext uri="{BB962C8B-B14F-4D97-AF65-F5344CB8AC3E}">
        <p14:creationId xmlns:p14="http://schemas.microsoft.com/office/powerpoint/2010/main" val="466673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AD24C9F-FFDC-4803-B2BF-57379EEFDEFB}"/>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38E2BB5A-60B7-4432-8262-197E036AD3E8}"/>
              </a:ext>
            </a:extLst>
          </p:cNvPr>
          <p:cNvSpPr>
            <a:spLocks noGrp="1"/>
          </p:cNvSpPr>
          <p:nvPr/>
        </p:nvSpPr>
        <p:spPr>
          <a:xfrm>
            <a:off x="552450" y="485775"/>
            <a:ext cx="95250" cy="952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B81F3856-2354-4DFB-8CCE-CA12A4E1B113}"/>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C A S   D ' U S A G E</a:t>
            </a:r>
          </a:p>
        </p:txBody>
      </p:sp>
      <p:sp>
        <p:nvSpPr>
          <p:cNvPr id="4" name="Rectangle 3">
            <a:extLst>
              <a:ext uri="{FF2B5EF4-FFF2-40B4-BE49-F238E27FC236}">
                <a16:creationId xmlns:a16="http://schemas.microsoft.com/office/drawing/2014/main" id="{749822E9-6EB5-4218-BA1E-BBB3F3546A47}"/>
              </a:ext>
            </a:extLst>
          </p:cNvPr>
          <p:cNvSpPr>
            <a:spLocks noGrp="1"/>
          </p:cNvSpPr>
          <p:nvPr/>
        </p:nvSpPr>
        <p:spPr>
          <a:xfrm>
            <a:off x="552450" y="800100"/>
            <a:ext cx="93345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7263E"/>
                </a:solidFill>
                <a:latin typeface="Georgia"/>
                <a:ea typeface="Georgia"/>
                <a:cs typeface="Georgia"/>
              </a:defRPr>
            </a:pPr>
            <a:r>
              <a:rPr sz="2475" b="1">
                <a:solidFill>
                  <a:srgbClr val="17263E"/>
                </a:solidFill>
                <a:latin typeface="Georgia"/>
                <a:ea typeface="Georgia"/>
                <a:cs typeface="Georgia"/>
              </a:rPr>
              <a:t>Quatre cas d'usage où l'IA peut aider ELTON sans perturber l'exploitation.</a:t>
            </a:r>
          </a:p>
        </p:txBody>
      </p:sp>
      <p:sp>
        <p:nvSpPr>
          <p:cNvPr id="5" name="Rectangle 4">
            <a:extLst>
              <a:ext uri="{FF2B5EF4-FFF2-40B4-BE49-F238E27FC236}">
                <a16:creationId xmlns:a16="http://schemas.microsoft.com/office/drawing/2014/main" id="{38E2715E-9984-4833-BB54-431C70B564FD}"/>
              </a:ext>
            </a:extLst>
          </p:cNvPr>
          <p:cNvSpPr>
            <a:spLocks noGrp="1"/>
          </p:cNvSpPr>
          <p:nvPr/>
        </p:nvSpPr>
        <p:spPr>
          <a:xfrm>
            <a:off x="552450" y="1676400"/>
            <a:ext cx="93345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C6777"/>
                </a:solidFill>
                <a:latin typeface="Avenir Next"/>
                <a:ea typeface="Avenir Next"/>
                <a:cs typeface="Avenir Next"/>
              </a:defRPr>
            </a:pPr>
            <a:r>
              <a:rPr sz="1050" b="0">
                <a:solidFill>
                  <a:srgbClr val="5C6777"/>
                </a:solidFill>
                <a:latin typeface="Avenir Next"/>
                <a:ea typeface="Avenir Next"/>
                <a:cs typeface="Avenir Next"/>
              </a:rPr>
              <a:t>La bonne logique n'est pas de tout automatiser. Elle consiste à choisir quelques terrains où la donnée existe déjà, où le besoin métier est clair, et où la valeur peut être mesurée.</a:t>
            </a:r>
          </a:p>
        </p:txBody>
      </p:sp>
      <p:sp>
        <p:nvSpPr>
          <p:cNvPr id="6" name="Rectangle 5">
            <a:extLst>
              <a:ext uri="{FF2B5EF4-FFF2-40B4-BE49-F238E27FC236}">
                <a16:creationId xmlns:a16="http://schemas.microsoft.com/office/drawing/2014/main" id="{4CA05D18-7DAC-478F-9BA9-B64E7A85D363}"/>
              </a:ext>
            </a:extLst>
          </p:cNvPr>
          <p:cNvSpPr>
            <a:spLocks noGrp="1"/>
          </p:cNvSpPr>
          <p:nvPr/>
        </p:nvSpPr>
        <p:spPr>
          <a:xfrm>
            <a:off x="552450" y="2476500"/>
            <a:ext cx="2533650" cy="3143250"/>
          </a:xfrm>
          <a:prstGeom prst="rect">
            <a:avLst/>
          </a:prstGeom>
          <a:solidFill>
            <a:srgbClr val="FFFDFC"/>
          </a:solidFill>
          <a:ln w="9525">
            <a:solidFill>
              <a:srgbClr val="D9D1C6"/>
            </a:solidFill>
            <a:prstDash val="solid"/>
          </a:ln>
        </p:spPr>
      </p:sp>
      <p:sp>
        <p:nvSpPr>
          <p:cNvPr id="7" name="Rectangle 6">
            <a:extLst>
              <a:ext uri="{FF2B5EF4-FFF2-40B4-BE49-F238E27FC236}">
                <a16:creationId xmlns:a16="http://schemas.microsoft.com/office/drawing/2014/main" id="{2C68FF3C-48EA-4EFD-BE51-32CD6EC8F986}"/>
              </a:ext>
            </a:extLst>
          </p:cNvPr>
          <p:cNvSpPr>
            <a:spLocks noGrp="1"/>
          </p:cNvSpPr>
          <p:nvPr/>
        </p:nvSpPr>
        <p:spPr>
          <a:xfrm>
            <a:off x="552450" y="2476500"/>
            <a:ext cx="2533650" cy="95250"/>
          </a:xfrm>
          <a:prstGeom prst="rect">
            <a:avLst/>
          </a:prstGeom>
          <a:solidFill>
            <a:srgbClr val="DE6A1F"/>
          </a:solidFill>
          <a:ln w="9525">
            <a:solidFill>
              <a:srgbClr val="DE6A1F"/>
            </a:solidFill>
            <a:prstDash val="solid"/>
          </a:ln>
        </p:spPr>
      </p:sp>
      <p:sp>
        <p:nvSpPr>
          <p:cNvPr id="8" name="Rectangle 7">
            <a:extLst>
              <a:ext uri="{FF2B5EF4-FFF2-40B4-BE49-F238E27FC236}">
                <a16:creationId xmlns:a16="http://schemas.microsoft.com/office/drawing/2014/main" id="{9EA95BCE-AAD6-42D4-B9C5-3A5769EEE523}"/>
              </a:ext>
            </a:extLst>
          </p:cNvPr>
          <p:cNvSpPr>
            <a:spLocks noGrp="1"/>
          </p:cNvSpPr>
          <p:nvPr/>
        </p:nvSpPr>
        <p:spPr>
          <a:xfrm>
            <a:off x="723900" y="2743200"/>
            <a:ext cx="2095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63E"/>
                </a:solidFill>
                <a:latin typeface="Georgia"/>
                <a:ea typeface="Georgia"/>
                <a:cs typeface="Georgia"/>
              </a:defRPr>
            </a:pPr>
            <a:r>
              <a:rPr sz="1350" b="1">
                <a:solidFill>
                  <a:srgbClr val="17263E"/>
                </a:solidFill>
                <a:latin typeface="Georgia"/>
                <a:ea typeface="Georgia"/>
                <a:cs typeface="Georgia"/>
              </a:rPr>
              <a:t>Comptes pro et recouvrement</a:t>
            </a:r>
          </a:p>
        </p:txBody>
      </p:sp>
      <p:sp>
        <p:nvSpPr>
          <p:cNvPr id="9" name="Rectangle 8">
            <a:extLst>
              <a:ext uri="{FF2B5EF4-FFF2-40B4-BE49-F238E27FC236}">
                <a16:creationId xmlns:a16="http://schemas.microsoft.com/office/drawing/2014/main" id="{78D26A5D-6519-4B99-967F-A704B2861E0C}"/>
              </a:ext>
            </a:extLst>
          </p:cNvPr>
          <p:cNvSpPr>
            <a:spLocks noGrp="1"/>
          </p:cNvSpPr>
          <p:nvPr/>
        </p:nvSpPr>
        <p:spPr>
          <a:xfrm>
            <a:off x="723900" y="339090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E6A1F"/>
                </a:solidFill>
                <a:latin typeface="Avenir Next"/>
                <a:ea typeface="Avenir Next"/>
                <a:cs typeface="Avenir Next"/>
              </a:defRPr>
            </a:pPr>
            <a:r>
              <a:rPr sz="713" b="1">
                <a:solidFill>
                  <a:srgbClr val="DE6A1F"/>
                </a:solidFill>
                <a:latin typeface="Avenir Next"/>
                <a:ea typeface="Avenir Next"/>
                <a:cs typeface="Avenir Next"/>
              </a:rPr>
              <a:t>Point de friction</a:t>
            </a:r>
          </a:p>
        </p:txBody>
      </p:sp>
      <p:sp>
        <p:nvSpPr>
          <p:cNvPr id="10" name="Rectangle 9">
            <a:extLst>
              <a:ext uri="{FF2B5EF4-FFF2-40B4-BE49-F238E27FC236}">
                <a16:creationId xmlns:a16="http://schemas.microsoft.com/office/drawing/2014/main" id="{B68CCAB0-D85A-45AE-AB6F-F03FE8EFA257}"/>
              </a:ext>
            </a:extLst>
          </p:cNvPr>
          <p:cNvSpPr>
            <a:spLocks noGrp="1"/>
          </p:cNvSpPr>
          <p:nvPr/>
        </p:nvSpPr>
        <p:spPr>
          <a:xfrm>
            <a:off x="723900" y="360045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C6777"/>
                </a:solidFill>
                <a:latin typeface="Avenir Next"/>
                <a:ea typeface="Avenir Next"/>
                <a:cs typeface="Avenir Next"/>
              </a:defRPr>
            </a:pPr>
            <a:r>
              <a:rPr sz="863" b="0">
                <a:solidFill>
                  <a:srgbClr val="5C6777"/>
                </a:solidFill>
                <a:latin typeface="Avenir Next"/>
                <a:ea typeface="Avenir Next"/>
                <a:cs typeface="Avenir Next"/>
              </a:rPr>
              <a:t>données dispersées, relances irrégulières, faible lisibilité portefeuille</a:t>
            </a:r>
          </a:p>
        </p:txBody>
      </p:sp>
      <p:sp>
        <p:nvSpPr>
          <p:cNvPr id="11" name="Rectangle 10">
            <a:extLst>
              <a:ext uri="{FF2B5EF4-FFF2-40B4-BE49-F238E27FC236}">
                <a16:creationId xmlns:a16="http://schemas.microsoft.com/office/drawing/2014/main" id="{0C5A68C0-D68B-4436-841F-4F4F4D915CB3}"/>
              </a:ext>
            </a:extLst>
          </p:cNvPr>
          <p:cNvSpPr>
            <a:spLocks noGrp="1"/>
          </p:cNvSpPr>
          <p:nvPr/>
        </p:nvSpPr>
        <p:spPr>
          <a:xfrm>
            <a:off x="723900" y="4267200"/>
            <a:ext cx="1333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E6A1F"/>
                </a:solidFill>
                <a:latin typeface="Avenir Next"/>
                <a:ea typeface="Avenir Next"/>
                <a:cs typeface="Avenir Next"/>
              </a:defRPr>
            </a:pPr>
            <a:r>
              <a:rPr sz="713" b="1">
                <a:solidFill>
                  <a:srgbClr val="DE6A1F"/>
                </a:solidFill>
                <a:latin typeface="Avenir Next"/>
                <a:ea typeface="Avenir Next"/>
                <a:cs typeface="Avenir Next"/>
              </a:rPr>
              <a:t>Réponse possible</a:t>
            </a:r>
          </a:p>
        </p:txBody>
      </p:sp>
      <p:sp>
        <p:nvSpPr>
          <p:cNvPr id="12" name="Rectangle 11">
            <a:extLst>
              <a:ext uri="{FF2B5EF4-FFF2-40B4-BE49-F238E27FC236}">
                <a16:creationId xmlns:a16="http://schemas.microsoft.com/office/drawing/2014/main" id="{1EA55338-5D9A-47B1-90FD-E371DA7407F0}"/>
              </a:ext>
            </a:extLst>
          </p:cNvPr>
          <p:cNvSpPr>
            <a:spLocks noGrp="1"/>
          </p:cNvSpPr>
          <p:nvPr/>
        </p:nvSpPr>
        <p:spPr>
          <a:xfrm>
            <a:off x="723900" y="4476750"/>
            <a:ext cx="21336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63E"/>
                </a:solidFill>
                <a:latin typeface="Avenir Next"/>
                <a:ea typeface="Avenir Next"/>
                <a:cs typeface="Avenir Next"/>
              </a:defRPr>
            </a:pPr>
            <a:r>
              <a:rPr sz="863" b="0">
                <a:solidFill>
                  <a:srgbClr val="17263E"/>
                </a:solidFill>
                <a:latin typeface="Avenir Next"/>
                <a:ea typeface="Avenir Next"/>
                <a:cs typeface="Avenir Next"/>
              </a:rPr>
              <a:t>assistant de suivi, synthèse des comptes, aide à la priorisation des relances</a:t>
            </a:r>
          </a:p>
        </p:txBody>
      </p:sp>
      <p:sp>
        <p:nvSpPr>
          <p:cNvPr id="13" name="Rectangle 12">
            <a:extLst>
              <a:ext uri="{FF2B5EF4-FFF2-40B4-BE49-F238E27FC236}">
                <a16:creationId xmlns:a16="http://schemas.microsoft.com/office/drawing/2014/main" id="{17BA4342-96C9-47F8-9CF2-5D13008D5A07}"/>
              </a:ext>
            </a:extLst>
          </p:cNvPr>
          <p:cNvSpPr>
            <a:spLocks noGrp="1"/>
          </p:cNvSpPr>
          <p:nvPr/>
        </p:nvSpPr>
        <p:spPr>
          <a:xfrm>
            <a:off x="723900" y="5219700"/>
            <a:ext cx="2133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KPI à suivre : délai de relance, encours à risque, temps de revue portefeuille</a:t>
            </a:r>
          </a:p>
        </p:txBody>
      </p:sp>
      <p:sp>
        <p:nvSpPr>
          <p:cNvPr id="14" name="Rectangle 13">
            <a:extLst>
              <a:ext uri="{FF2B5EF4-FFF2-40B4-BE49-F238E27FC236}">
                <a16:creationId xmlns:a16="http://schemas.microsoft.com/office/drawing/2014/main" id="{C22DD000-23A8-4D1C-81CC-BCD563B794F5}"/>
              </a:ext>
            </a:extLst>
          </p:cNvPr>
          <p:cNvSpPr>
            <a:spLocks noGrp="1"/>
          </p:cNvSpPr>
          <p:nvPr/>
        </p:nvSpPr>
        <p:spPr>
          <a:xfrm>
            <a:off x="3352800" y="2476500"/>
            <a:ext cx="2533650" cy="3143250"/>
          </a:xfrm>
          <a:prstGeom prst="rect">
            <a:avLst/>
          </a:prstGeom>
          <a:solidFill>
            <a:srgbClr val="FFFDFC"/>
          </a:solidFill>
          <a:ln w="9525">
            <a:solidFill>
              <a:srgbClr val="D9D1C6"/>
            </a:solidFill>
            <a:prstDash val="solid"/>
          </a:ln>
        </p:spPr>
      </p:sp>
      <p:sp>
        <p:nvSpPr>
          <p:cNvPr id="15" name="Rectangle 14">
            <a:extLst>
              <a:ext uri="{FF2B5EF4-FFF2-40B4-BE49-F238E27FC236}">
                <a16:creationId xmlns:a16="http://schemas.microsoft.com/office/drawing/2014/main" id="{C8869878-7CA5-49E3-A7F6-B3C0DA06E9D9}"/>
              </a:ext>
            </a:extLst>
          </p:cNvPr>
          <p:cNvSpPr>
            <a:spLocks noGrp="1"/>
          </p:cNvSpPr>
          <p:nvPr/>
        </p:nvSpPr>
        <p:spPr>
          <a:xfrm>
            <a:off x="3352800" y="2476500"/>
            <a:ext cx="2533650" cy="95250"/>
          </a:xfrm>
          <a:prstGeom prst="rect">
            <a:avLst/>
          </a:prstGeom>
          <a:solidFill>
            <a:srgbClr val="1D8A78"/>
          </a:solidFill>
          <a:ln w="9525">
            <a:solidFill>
              <a:srgbClr val="1D8A78"/>
            </a:solidFill>
            <a:prstDash val="solid"/>
          </a:ln>
        </p:spPr>
      </p:sp>
      <p:sp>
        <p:nvSpPr>
          <p:cNvPr id="16" name="Rectangle 15">
            <a:extLst>
              <a:ext uri="{FF2B5EF4-FFF2-40B4-BE49-F238E27FC236}">
                <a16:creationId xmlns:a16="http://schemas.microsoft.com/office/drawing/2014/main" id="{5B9E1DC9-BC0E-41E3-B3DF-35DBCE7AE70B}"/>
              </a:ext>
            </a:extLst>
          </p:cNvPr>
          <p:cNvSpPr>
            <a:spLocks noGrp="1"/>
          </p:cNvSpPr>
          <p:nvPr/>
        </p:nvSpPr>
        <p:spPr>
          <a:xfrm>
            <a:off x="3524250" y="2743200"/>
            <a:ext cx="2095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63E"/>
                </a:solidFill>
                <a:latin typeface="Georgia"/>
                <a:ea typeface="Georgia"/>
                <a:cs typeface="Georgia"/>
              </a:defRPr>
            </a:pPr>
            <a:r>
              <a:rPr sz="1350" b="1">
                <a:solidFill>
                  <a:srgbClr val="17263E"/>
                </a:solidFill>
                <a:latin typeface="Georgia"/>
                <a:ea typeface="Georgia"/>
                <a:cs typeface="Georgia"/>
              </a:rPr>
              <a:t>Flotte et cartes carburant</a:t>
            </a:r>
          </a:p>
        </p:txBody>
      </p:sp>
      <p:sp>
        <p:nvSpPr>
          <p:cNvPr id="17" name="Rectangle 16">
            <a:extLst>
              <a:ext uri="{FF2B5EF4-FFF2-40B4-BE49-F238E27FC236}">
                <a16:creationId xmlns:a16="http://schemas.microsoft.com/office/drawing/2014/main" id="{3E06F712-71A7-4CC0-9D87-F19F7CEB4D84}"/>
              </a:ext>
            </a:extLst>
          </p:cNvPr>
          <p:cNvSpPr>
            <a:spLocks noGrp="1"/>
          </p:cNvSpPr>
          <p:nvPr/>
        </p:nvSpPr>
        <p:spPr>
          <a:xfrm>
            <a:off x="3524250" y="339090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1D8A78"/>
                </a:solidFill>
                <a:latin typeface="Avenir Next"/>
                <a:ea typeface="Avenir Next"/>
                <a:cs typeface="Avenir Next"/>
              </a:defRPr>
            </a:pPr>
            <a:r>
              <a:rPr sz="713" b="1">
                <a:solidFill>
                  <a:srgbClr val="1D8A78"/>
                </a:solidFill>
                <a:latin typeface="Avenir Next"/>
                <a:ea typeface="Avenir Next"/>
                <a:cs typeface="Avenir Next"/>
              </a:rPr>
              <a:t>Point de friction</a:t>
            </a:r>
          </a:p>
        </p:txBody>
      </p:sp>
      <p:sp>
        <p:nvSpPr>
          <p:cNvPr id="18" name="Rectangle 17">
            <a:extLst>
              <a:ext uri="{FF2B5EF4-FFF2-40B4-BE49-F238E27FC236}">
                <a16:creationId xmlns:a16="http://schemas.microsoft.com/office/drawing/2014/main" id="{FB450ABD-B81C-4859-B851-B64B4B66B6C2}"/>
              </a:ext>
            </a:extLst>
          </p:cNvPr>
          <p:cNvSpPr>
            <a:spLocks noGrp="1"/>
          </p:cNvSpPr>
          <p:nvPr/>
        </p:nvSpPr>
        <p:spPr>
          <a:xfrm>
            <a:off x="3524250" y="360045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C6777"/>
                </a:solidFill>
                <a:latin typeface="Avenir Next"/>
                <a:ea typeface="Avenir Next"/>
                <a:cs typeface="Avenir Next"/>
              </a:defRPr>
            </a:pPr>
            <a:r>
              <a:rPr sz="863" b="0">
                <a:solidFill>
                  <a:srgbClr val="5C6777"/>
                </a:solidFill>
                <a:latin typeface="Avenir Next"/>
                <a:ea typeface="Avenir Next"/>
                <a:cs typeface="Avenir Next"/>
              </a:rPr>
              <a:t>lecture manuelle des consommations, anomalies difficiles à consolider</a:t>
            </a:r>
          </a:p>
        </p:txBody>
      </p:sp>
      <p:sp>
        <p:nvSpPr>
          <p:cNvPr id="19" name="Rectangle 18">
            <a:extLst>
              <a:ext uri="{FF2B5EF4-FFF2-40B4-BE49-F238E27FC236}">
                <a16:creationId xmlns:a16="http://schemas.microsoft.com/office/drawing/2014/main" id="{7E68BB24-FC3D-4C23-95B3-A33EDBE56F47}"/>
              </a:ext>
            </a:extLst>
          </p:cNvPr>
          <p:cNvSpPr>
            <a:spLocks noGrp="1"/>
          </p:cNvSpPr>
          <p:nvPr/>
        </p:nvSpPr>
        <p:spPr>
          <a:xfrm>
            <a:off x="3524250" y="4267200"/>
            <a:ext cx="1333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1D8A78"/>
                </a:solidFill>
                <a:latin typeface="Avenir Next"/>
                <a:ea typeface="Avenir Next"/>
                <a:cs typeface="Avenir Next"/>
              </a:defRPr>
            </a:pPr>
            <a:r>
              <a:rPr sz="713" b="1">
                <a:solidFill>
                  <a:srgbClr val="1D8A78"/>
                </a:solidFill>
                <a:latin typeface="Avenir Next"/>
                <a:ea typeface="Avenir Next"/>
                <a:cs typeface="Avenir Next"/>
              </a:rPr>
              <a:t>Réponse possible</a:t>
            </a:r>
          </a:p>
        </p:txBody>
      </p:sp>
      <p:sp>
        <p:nvSpPr>
          <p:cNvPr id="20" name="Rectangle 19">
            <a:extLst>
              <a:ext uri="{FF2B5EF4-FFF2-40B4-BE49-F238E27FC236}">
                <a16:creationId xmlns:a16="http://schemas.microsoft.com/office/drawing/2014/main" id="{2152BEF1-FA67-4E32-8EB3-432501A4EE32}"/>
              </a:ext>
            </a:extLst>
          </p:cNvPr>
          <p:cNvSpPr>
            <a:spLocks noGrp="1"/>
          </p:cNvSpPr>
          <p:nvPr/>
        </p:nvSpPr>
        <p:spPr>
          <a:xfrm>
            <a:off x="3524250" y="4476750"/>
            <a:ext cx="21336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63E"/>
                </a:solidFill>
                <a:latin typeface="Avenir Next"/>
                <a:ea typeface="Avenir Next"/>
                <a:cs typeface="Avenir Next"/>
              </a:defRPr>
            </a:pPr>
            <a:r>
              <a:rPr sz="863" b="0">
                <a:solidFill>
                  <a:srgbClr val="17263E"/>
                </a:solidFill>
                <a:latin typeface="Avenir Next"/>
                <a:ea typeface="Avenir Next"/>
                <a:cs typeface="Avenir Next"/>
              </a:rPr>
              <a:t>analyse assistée des écarts, alertes sur cas atypiques, tableau de bord lisible</a:t>
            </a:r>
          </a:p>
        </p:txBody>
      </p:sp>
      <p:sp>
        <p:nvSpPr>
          <p:cNvPr id="21" name="Rectangle 20">
            <a:extLst>
              <a:ext uri="{FF2B5EF4-FFF2-40B4-BE49-F238E27FC236}">
                <a16:creationId xmlns:a16="http://schemas.microsoft.com/office/drawing/2014/main" id="{83C3C06D-C796-44DD-BABA-8870610C5475}"/>
              </a:ext>
            </a:extLst>
          </p:cNvPr>
          <p:cNvSpPr>
            <a:spLocks noGrp="1"/>
          </p:cNvSpPr>
          <p:nvPr/>
        </p:nvSpPr>
        <p:spPr>
          <a:xfrm>
            <a:off x="3524250" y="5219700"/>
            <a:ext cx="2133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KPI à suivre : temps d'analyse, anomalies remontées, fréquence des écarts</a:t>
            </a:r>
          </a:p>
        </p:txBody>
      </p:sp>
      <p:sp>
        <p:nvSpPr>
          <p:cNvPr id="22" name="Rectangle 21">
            <a:extLst>
              <a:ext uri="{FF2B5EF4-FFF2-40B4-BE49-F238E27FC236}">
                <a16:creationId xmlns:a16="http://schemas.microsoft.com/office/drawing/2014/main" id="{F39422C5-3659-409A-9784-760FE8DC18A4}"/>
              </a:ext>
            </a:extLst>
          </p:cNvPr>
          <p:cNvSpPr>
            <a:spLocks noGrp="1"/>
          </p:cNvSpPr>
          <p:nvPr/>
        </p:nvSpPr>
        <p:spPr>
          <a:xfrm>
            <a:off x="6153150" y="2476500"/>
            <a:ext cx="2533650" cy="3143250"/>
          </a:xfrm>
          <a:prstGeom prst="rect">
            <a:avLst/>
          </a:prstGeom>
          <a:solidFill>
            <a:srgbClr val="FFFDFC"/>
          </a:solidFill>
          <a:ln w="9525">
            <a:solidFill>
              <a:srgbClr val="D9D1C6"/>
            </a:solidFill>
            <a:prstDash val="solid"/>
          </a:ln>
        </p:spPr>
      </p:sp>
      <p:sp>
        <p:nvSpPr>
          <p:cNvPr id="23" name="Rectangle 22">
            <a:extLst>
              <a:ext uri="{FF2B5EF4-FFF2-40B4-BE49-F238E27FC236}">
                <a16:creationId xmlns:a16="http://schemas.microsoft.com/office/drawing/2014/main" id="{303C972A-6E92-4FAD-98B2-67CE00C103B8}"/>
              </a:ext>
            </a:extLst>
          </p:cNvPr>
          <p:cNvSpPr>
            <a:spLocks noGrp="1"/>
          </p:cNvSpPr>
          <p:nvPr/>
        </p:nvSpPr>
        <p:spPr>
          <a:xfrm>
            <a:off x="6153150" y="2476500"/>
            <a:ext cx="2533650" cy="95250"/>
          </a:xfrm>
          <a:prstGeom prst="rect">
            <a:avLst/>
          </a:prstGeom>
          <a:solidFill>
            <a:srgbClr val="17263E"/>
          </a:solidFill>
          <a:ln w="9525">
            <a:solidFill>
              <a:srgbClr val="17263E"/>
            </a:solidFill>
            <a:prstDash val="solid"/>
          </a:ln>
        </p:spPr>
      </p:sp>
      <p:sp>
        <p:nvSpPr>
          <p:cNvPr id="24" name="Rectangle 23">
            <a:extLst>
              <a:ext uri="{FF2B5EF4-FFF2-40B4-BE49-F238E27FC236}">
                <a16:creationId xmlns:a16="http://schemas.microsoft.com/office/drawing/2014/main" id="{DEDF91BE-2A96-42F4-8478-126C37736987}"/>
              </a:ext>
            </a:extLst>
          </p:cNvPr>
          <p:cNvSpPr>
            <a:spLocks noGrp="1"/>
          </p:cNvSpPr>
          <p:nvPr/>
        </p:nvSpPr>
        <p:spPr>
          <a:xfrm>
            <a:off x="6324600" y="2743200"/>
            <a:ext cx="2095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63E"/>
                </a:solidFill>
                <a:latin typeface="Georgia"/>
                <a:ea typeface="Georgia"/>
                <a:cs typeface="Georgia"/>
              </a:defRPr>
            </a:pPr>
            <a:r>
              <a:rPr sz="1350" b="1">
                <a:solidFill>
                  <a:srgbClr val="17263E"/>
                </a:solidFill>
                <a:latin typeface="Georgia"/>
                <a:ea typeface="Georgia"/>
                <a:cs typeface="Georgia"/>
              </a:rPr>
              <a:t>Relation client et service auto</a:t>
            </a:r>
          </a:p>
        </p:txBody>
      </p:sp>
      <p:sp>
        <p:nvSpPr>
          <p:cNvPr id="25" name="Rectangle 24">
            <a:extLst>
              <a:ext uri="{FF2B5EF4-FFF2-40B4-BE49-F238E27FC236}">
                <a16:creationId xmlns:a16="http://schemas.microsoft.com/office/drawing/2014/main" id="{D72EF3E5-529A-4223-9AB0-68B28A4FD657}"/>
              </a:ext>
            </a:extLst>
          </p:cNvPr>
          <p:cNvSpPr>
            <a:spLocks noGrp="1"/>
          </p:cNvSpPr>
          <p:nvPr/>
        </p:nvSpPr>
        <p:spPr>
          <a:xfrm>
            <a:off x="6324600" y="339090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17263E"/>
                </a:solidFill>
                <a:latin typeface="Avenir Next"/>
                <a:ea typeface="Avenir Next"/>
                <a:cs typeface="Avenir Next"/>
              </a:defRPr>
            </a:pPr>
            <a:r>
              <a:rPr sz="713" b="1">
                <a:solidFill>
                  <a:srgbClr val="17263E"/>
                </a:solidFill>
                <a:latin typeface="Avenir Next"/>
                <a:ea typeface="Avenir Next"/>
                <a:cs typeface="Avenir Next"/>
              </a:rPr>
              <a:t>Point de friction</a:t>
            </a:r>
          </a:p>
        </p:txBody>
      </p:sp>
      <p:sp>
        <p:nvSpPr>
          <p:cNvPr id="26" name="Rectangle 25">
            <a:extLst>
              <a:ext uri="{FF2B5EF4-FFF2-40B4-BE49-F238E27FC236}">
                <a16:creationId xmlns:a16="http://schemas.microsoft.com/office/drawing/2014/main" id="{386517D2-F88D-42B2-80DA-9B77D513C8A1}"/>
              </a:ext>
            </a:extLst>
          </p:cNvPr>
          <p:cNvSpPr>
            <a:spLocks noGrp="1"/>
          </p:cNvSpPr>
          <p:nvPr/>
        </p:nvSpPr>
        <p:spPr>
          <a:xfrm>
            <a:off x="6324600" y="360045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C6777"/>
                </a:solidFill>
                <a:latin typeface="Avenir Next"/>
                <a:ea typeface="Avenir Next"/>
                <a:cs typeface="Avenir Next"/>
              </a:defRPr>
            </a:pPr>
            <a:r>
              <a:rPr sz="863" b="0">
                <a:solidFill>
                  <a:srgbClr val="5C6777"/>
                </a:solidFill>
                <a:latin typeface="Avenir Next"/>
                <a:ea typeface="Avenir Next"/>
                <a:cs typeface="Avenir Next"/>
              </a:rPr>
              <a:t>suivi d'interactions hétérogène, réponses lentes, rappels non homogènes</a:t>
            </a:r>
          </a:p>
        </p:txBody>
      </p:sp>
      <p:sp>
        <p:nvSpPr>
          <p:cNvPr id="27" name="Rectangle 26">
            <a:extLst>
              <a:ext uri="{FF2B5EF4-FFF2-40B4-BE49-F238E27FC236}">
                <a16:creationId xmlns:a16="http://schemas.microsoft.com/office/drawing/2014/main" id="{FB89FCBC-B390-40B9-A989-6BAECB4E3A3A}"/>
              </a:ext>
            </a:extLst>
          </p:cNvPr>
          <p:cNvSpPr>
            <a:spLocks noGrp="1"/>
          </p:cNvSpPr>
          <p:nvPr/>
        </p:nvSpPr>
        <p:spPr>
          <a:xfrm>
            <a:off x="6324600" y="4267200"/>
            <a:ext cx="1333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17263E"/>
                </a:solidFill>
                <a:latin typeface="Avenir Next"/>
                <a:ea typeface="Avenir Next"/>
                <a:cs typeface="Avenir Next"/>
              </a:defRPr>
            </a:pPr>
            <a:r>
              <a:rPr sz="713" b="1">
                <a:solidFill>
                  <a:srgbClr val="17263E"/>
                </a:solidFill>
                <a:latin typeface="Avenir Next"/>
                <a:ea typeface="Avenir Next"/>
                <a:cs typeface="Avenir Next"/>
              </a:rPr>
              <a:t>Réponse possible</a:t>
            </a:r>
          </a:p>
        </p:txBody>
      </p:sp>
      <p:sp>
        <p:nvSpPr>
          <p:cNvPr id="28" name="Rectangle 27">
            <a:extLst>
              <a:ext uri="{FF2B5EF4-FFF2-40B4-BE49-F238E27FC236}">
                <a16:creationId xmlns:a16="http://schemas.microsoft.com/office/drawing/2014/main" id="{95571E41-BE39-4FD3-8283-C9423EF84D25}"/>
              </a:ext>
            </a:extLst>
          </p:cNvPr>
          <p:cNvSpPr>
            <a:spLocks noGrp="1"/>
          </p:cNvSpPr>
          <p:nvPr/>
        </p:nvSpPr>
        <p:spPr>
          <a:xfrm>
            <a:off x="6324600" y="4476750"/>
            <a:ext cx="21336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63E"/>
                </a:solidFill>
                <a:latin typeface="Avenir Next"/>
                <a:ea typeface="Avenir Next"/>
                <a:cs typeface="Avenir Next"/>
              </a:defRPr>
            </a:pPr>
            <a:r>
              <a:rPr sz="863" b="0">
                <a:solidFill>
                  <a:srgbClr val="17263E"/>
                </a:solidFill>
                <a:latin typeface="Avenir Next"/>
                <a:ea typeface="Avenir Next"/>
                <a:cs typeface="Avenir Next"/>
              </a:rPr>
              <a:t>support à la rédaction, structuration des réponses, journal simple des interactions</a:t>
            </a:r>
          </a:p>
        </p:txBody>
      </p:sp>
      <p:sp>
        <p:nvSpPr>
          <p:cNvPr id="29" name="Rectangle 28">
            <a:extLst>
              <a:ext uri="{FF2B5EF4-FFF2-40B4-BE49-F238E27FC236}">
                <a16:creationId xmlns:a16="http://schemas.microsoft.com/office/drawing/2014/main" id="{723DCA0C-602F-4127-82ED-07B023DD5602}"/>
              </a:ext>
            </a:extLst>
          </p:cNvPr>
          <p:cNvSpPr>
            <a:spLocks noGrp="1"/>
          </p:cNvSpPr>
          <p:nvPr/>
        </p:nvSpPr>
        <p:spPr>
          <a:xfrm>
            <a:off x="6324600" y="5219700"/>
            <a:ext cx="2133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KPI à suivre : délai de réponse, volume en attente, satisfaction client</a:t>
            </a:r>
          </a:p>
        </p:txBody>
      </p:sp>
      <p:sp>
        <p:nvSpPr>
          <p:cNvPr id="30" name="Rectangle 29">
            <a:extLst>
              <a:ext uri="{FF2B5EF4-FFF2-40B4-BE49-F238E27FC236}">
                <a16:creationId xmlns:a16="http://schemas.microsoft.com/office/drawing/2014/main" id="{F4AAC741-5745-4022-9E55-04B6E4E3300C}"/>
              </a:ext>
            </a:extLst>
          </p:cNvPr>
          <p:cNvSpPr>
            <a:spLocks noGrp="1"/>
          </p:cNvSpPr>
          <p:nvPr/>
        </p:nvSpPr>
        <p:spPr>
          <a:xfrm>
            <a:off x="8953500" y="2476500"/>
            <a:ext cx="2533650" cy="3143250"/>
          </a:xfrm>
          <a:prstGeom prst="rect">
            <a:avLst/>
          </a:prstGeom>
          <a:solidFill>
            <a:srgbClr val="FFFDFC"/>
          </a:solidFill>
          <a:ln w="9525">
            <a:solidFill>
              <a:srgbClr val="D9D1C6"/>
            </a:solidFill>
            <a:prstDash val="solid"/>
          </a:ln>
        </p:spPr>
      </p:sp>
      <p:sp>
        <p:nvSpPr>
          <p:cNvPr id="31" name="Rectangle 30">
            <a:extLst>
              <a:ext uri="{FF2B5EF4-FFF2-40B4-BE49-F238E27FC236}">
                <a16:creationId xmlns:a16="http://schemas.microsoft.com/office/drawing/2014/main" id="{EE7993F8-57E5-4D2F-A37D-EF3444C4B865}"/>
              </a:ext>
            </a:extLst>
          </p:cNvPr>
          <p:cNvSpPr>
            <a:spLocks noGrp="1"/>
          </p:cNvSpPr>
          <p:nvPr/>
        </p:nvSpPr>
        <p:spPr>
          <a:xfrm>
            <a:off x="8953500" y="2476500"/>
            <a:ext cx="2533650" cy="95250"/>
          </a:xfrm>
          <a:prstGeom prst="rect">
            <a:avLst/>
          </a:prstGeom>
          <a:solidFill>
            <a:srgbClr val="DE6A1F"/>
          </a:solidFill>
          <a:ln w="9525">
            <a:solidFill>
              <a:srgbClr val="DE6A1F"/>
            </a:solidFill>
            <a:prstDash val="solid"/>
          </a:ln>
        </p:spPr>
      </p:sp>
      <p:sp>
        <p:nvSpPr>
          <p:cNvPr id="32" name="Rectangle 31">
            <a:extLst>
              <a:ext uri="{FF2B5EF4-FFF2-40B4-BE49-F238E27FC236}">
                <a16:creationId xmlns:a16="http://schemas.microsoft.com/office/drawing/2014/main" id="{8CF73038-B43B-4C6C-948F-906139442D88}"/>
              </a:ext>
            </a:extLst>
          </p:cNvPr>
          <p:cNvSpPr>
            <a:spLocks noGrp="1"/>
          </p:cNvSpPr>
          <p:nvPr/>
        </p:nvSpPr>
        <p:spPr>
          <a:xfrm>
            <a:off x="9124950" y="2743200"/>
            <a:ext cx="2095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63E"/>
                </a:solidFill>
                <a:latin typeface="Georgia"/>
                <a:ea typeface="Georgia"/>
                <a:cs typeface="Georgia"/>
              </a:defRPr>
            </a:pPr>
            <a:r>
              <a:rPr sz="1350" b="1">
                <a:solidFill>
                  <a:srgbClr val="17263E"/>
                </a:solidFill>
                <a:latin typeface="Georgia"/>
                <a:ea typeface="Georgia"/>
                <a:cs typeface="Georgia"/>
              </a:rPr>
              <a:t>Procédures et knowledge base interne</a:t>
            </a:r>
          </a:p>
        </p:txBody>
      </p:sp>
      <p:sp>
        <p:nvSpPr>
          <p:cNvPr id="33" name="Rectangle 32">
            <a:extLst>
              <a:ext uri="{FF2B5EF4-FFF2-40B4-BE49-F238E27FC236}">
                <a16:creationId xmlns:a16="http://schemas.microsoft.com/office/drawing/2014/main" id="{A585EEC9-7966-49AD-B2A0-10D967D57992}"/>
              </a:ext>
            </a:extLst>
          </p:cNvPr>
          <p:cNvSpPr>
            <a:spLocks noGrp="1"/>
          </p:cNvSpPr>
          <p:nvPr/>
        </p:nvSpPr>
        <p:spPr>
          <a:xfrm>
            <a:off x="9124950" y="339090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E6A1F"/>
                </a:solidFill>
                <a:latin typeface="Avenir Next"/>
                <a:ea typeface="Avenir Next"/>
                <a:cs typeface="Avenir Next"/>
              </a:defRPr>
            </a:pPr>
            <a:r>
              <a:rPr sz="713" b="1">
                <a:solidFill>
                  <a:srgbClr val="DE6A1F"/>
                </a:solidFill>
                <a:latin typeface="Avenir Next"/>
                <a:ea typeface="Avenir Next"/>
                <a:cs typeface="Avenir Next"/>
              </a:rPr>
              <a:t>Point de friction</a:t>
            </a:r>
          </a:p>
        </p:txBody>
      </p:sp>
      <p:sp>
        <p:nvSpPr>
          <p:cNvPr id="34" name="Rectangle 33">
            <a:extLst>
              <a:ext uri="{FF2B5EF4-FFF2-40B4-BE49-F238E27FC236}">
                <a16:creationId xmlns:a16="http://schemas.microsoft.com/office/drawing/2014/main" id="{BF548457-2375-430F-BAEA-6367E5135673}"/>
              </a:ext>
            </a:extLst>
          </p:cNvPr>
          <p:cNvSpPr>
            <a:spLocks noGrp="1"/>
          </p:cNvSpPr>
          <p:nvPr/>
        </p:nvSpPr>
        <p:spPr>
          <a:xfrm>
            <a:off x="9124950" y="3600450"/>
            <a:ext cx="2133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5C6777"/>
                </a:solidFill>
                <a:latin typeface="Avenir Next"/>
                <a:ea typeface="Avenir Next"/>
                <a:cs typeface="Avenir Next"/>
              </a:defRPr>
            </a:pPr>
            <a:r>
              <a:rPr sz="863" b="0">
                <a:solidFill>
                  <a:srgbClr val="5C6777"/>
                </a:solidFill>
                <a:latin typeface="Avenir Next"/>
                <a:ea typeface="Avenir Next"/>
                <a:cs typeface="Avenir Next"/>
              </a:rPr>
              <a:t>information utile difficile à retrouver, dépendance à quelques personnes-clés</a:t>
            </a:r>
          </a:p>
        </p:txBody>
      </p:sp>
      <p:sp>
        <p:nvSpPr>
          <p:cNvPr id="35" name="Rectangle 34">
            <a:extLst>
              <a:ext uri="{FF2B5EF4-FFF2-40B4-BE49-F238E27FC236}">
                <a16:creationId xmlns:a16="http://schemas.microsoft.com/office/drawing/2014/main" id="{6D8306A0-04CE-4CA2-91B0-7863F966EC4D}"/>
              </a:ext>
            </a:extLst>
          </p:cNvPr>
          <p:cNvSpPr>
            <a:spLocks noGrp="1"/>
          </p:cNvSpPr>
          <p:nvPr/>
        </p:nvSpPr>
        <p:spPr>
          <a:xfrm>
            <a:off x="9124950" y="4267200"/>
            <a:ext cx="1333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DE6A1F"/>
                </a:solidFill>
                <a:latin typeface="Avenir Next"/>
                <a:ea typeface="Avenir Next"/>
                <a:cs typeface="Avenir Next"/>
              </a:defRPr>
            </a:pPr>
            <a:r>
              <a:rPr sz="713" b="1">
                <a:solidFill>
                  <a:srgbClr val="DE6A1F"/>
                </a:solidFill>
                <a:latin typeface="Avenir Next"/>
                <a:ea typeface="Avenir Next"/>
                <a:cs typeface="Avenir Next"/>
              </a:rPr>
              <a:t>Réponse possible</a:t>
            </a:r>
          </a:p>
        </p:txBody>
      </p:sp>
      <p:sp>
        <p:nvSpPr>
          <p:cNvPr id="36" name="Rectangle 35">
            <a:extLst>
              <a:ext uri="{FF2B5EF4-FFF2-40B4-BE49-F238E27FC236}">
                <a16:creationId xmlns:a16="http://schemas.microsoft.com/office/drawing/2014/main" id="{2AA1CFB3-B3E8-4C65-85DC-6157422F959A}"/>
              </a:ext>
            </a:extLst>
          </p:cNvPr>
          <p:cNvSpPr>
            <a:spLocks noGrp="1"/>
          </p:cNvSpPr>
          <p:nvPr/>
        </p:nvSpPr>
        <p:spPr>
          <a:xfrm>
            <a:off x="9124950" y="4476750"/>
            <a:ext cx="21336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17263E"/>
                </a:solidFill>
                <a:latin typeface="Avenir Next"/>
                <a:ea typeface="Avenir Next"/>
                <a:cs typeface="Avenir Next"/>
              </a:defRPr>
            </a:pPr>
            <a:r>
              <a:rPr sz="863" b="0">
                <a:solidFill>
                  <a:srgbClr val="17263E"/>
                </a:solidFill>
                <a:latin typeface="Avenir Next"/>
                <a:ea typeface="Avenir Next"/>
                <a:cs typeface="Avenir Next"/>
              </a:rPr>
              <a:t>base interne de réponses, diffusion guidée des procédures et bonnes pratiques</a:t>
            </a:r>
          </a:p>
        </p:txBody>
      </p:sp>
      <p:sp>
        <p:nvSpPr>
          <p:cNvPr id="37" name="Rectangle 36">
            <a:extLst>
              <a:ext uri="{FF2B5EF4-FFF2-40B4-BE49-F238E27FC236}">
                <a16:creationId xmlns:a16="http://schemas.microsoft.com/office/drawing/2014/main" id="{0CD41292-11C8-4F4F-B4E6-DDA57697EDDC}"/>
              </a:ext>
            </a:extLst>
          </p:cNvPr>
          <p:cNvSpPr>
            <a:spLocks noGrp="1"/>
          </p:cNvSpPr>
          <p:nvPr/>
        </p:nvSpPr>
        <p:spPr>
          <a:xfrm>
            <a:off x="9124950" y="5219700"/>
            <a:ext cx="2133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KPI à suivre : temps de recherche, taux de conformité, qualité de l'onboarding</a:t>
            </a:r>
          </a:p>
        </p:txBody>
      </p:sp>
      <p:sp>
        <p:nvSpPr>
          <p:cNvPr id="38" name="Rectangle 37">
            <a:extLst>
              <a:ext uri="{FF2B5EF4-FFF2-40B4-BE49-F238E27FC236}">
                <a16:creationId xmlns:a16="http://schemas.microsoft.com/office/drawing/2014/main" id="{1C0727CE-B7FF-4B95-A4E1-60641EC2F3BA}"/>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39" name="Rectangle 38">
            <a:extLst>
              <a:ext uri="{FF2B5EF4-FFF2-40B4-BE49-F238E27FC236}">
                <a16:creationId xmlns:a16="http://schemas.microsoft.com/office/drawing/2014/main" id="{C434FE50-8336-4710-A789-34B4EDF34ED4}"/>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Cas d'usage</a:t>
            </a:r>
          </a:p>
        </p:txBody>
      </p:sp>
      <p:sp>
        <p:nvSpPr>
          <p:cNvPr id="40" name="Rectangle 39">
            <a:extLst>
              <a:ext uri="{FF2B5EF4-FFF2-40B4-BE49-F238E27FC236}">
                <a16:creationId xmlns:a16="http://schemas.microsoft.com/office/drawing/2014/main" id="{62787F09-9567-45B4-AB67-DCCD253DF64B}"/>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03</a:t>
            </a:r>
          </a:p>
        </p:txBody>
      </p:sp>
    </p:spTree>
    <p:extLst>
      <p:ext uri="{BB962C8B-B14F-4D97-AF65-F5344CB8AC3E}">
        <p14:creationId xmlns:p14="http://schemas.microsoft.com/office/powerpoint/2010/main" val="1277072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691F888-6DC6-4062-9E4D-F22FF9BC0496}"/>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9FEBDD71-9DF1-4462-85EE-A890E00D2EB6}"/>
              </a:ext>
            </a:extLst>
          </p:cNvPr>
          <p:cNvSpPr>
            <a:spLocks noGrp="1"/>
          </p:cNvSpPr>
          <p:nvPr/>
        </p:nvSpPr>
        <p:spPr>
          <a:xfrm>
            <a:off x="552450" y="485775"/>
            <a:ext cx="95250" cy="952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A61F765C-9FA3-4EA9-9625-47F76FF9420B}"/>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A U D I T   R E C O M M A N D É</a:t>
            </a:r>
          </a:p>
        </p:txBody>
      </p:sp>
      <p:sp>
        <p:nvSpPr>
          <p:cNvPr id="4" name="Rectangle 3">
            <a:extLst>
              <a:ext uri="{FF2B5EF4-FFF2-40B4-BE49-F238E27FC236}">
                <a16:creationId xmlns:a16="http://schemas.microsoft.com/office/drawing/2014/main" id="{6DA60329-DFF4-4729-BE46-8DDB98A80EFD}"/>
              </a:ext>
            </a:extLst>
          </p:cNvPr>
          <p:cNvSpPr>
            <a:spLocks noGrp="1"/>
          </p:cNvSpPr>
          <p:nvPr/>
        </p:nvSpPr>
        <p:spPr>
          <a:xfrm>
            <a:off x="552450" y="800100"/>
            <a:ext cx="85725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7263E"/>
                </a:solidFill>
                <a:latin typeface="Georgia"/>
                <a:ea typeface="Georgia"/>
                <a:cs typeface="Georgia"/>
              </a:defRPr>
            </a:pPr>
            <a:r>
              <a:rPr sz="2475" b="1">
                <a:solidFill>
                  <a:srgbClr val="17263E"/>
                </a:solidFill>
                <a:latin typeface="Georgia"/>
                <a:ea typeface="Georgia"/>
                <a:cs typeface="Georgia"/>
              </a:rPr>
              <a:t>La bonne porte d'entrée est un audit court avec des livrables précis.</a:t>
            </a:r>
          </a:p>
        </p:txBody>
      </p:sp>
      <p:sp>
        <p:nvSpPr>
          <p:cNvPr id="5" name="Rectangle 4">
            <a:extLst>
              <a:ext uri="{FF2B5EF4-FFF2-40B4-BE49-F238E27FC236}">
                <a16:creationId xmlns:a16="http://schemas.microsoft.com/office/drawing/2014/main" id="{D24EA6BE-DFB2-44CA-91CD-B556B8D6E0D7}"/>
              </a:ext>
            </a:extLst>
          </p:cNvPr>
          <p:cNvSpPr>
            <a:spLocks noGrp="1"/>
          </p:cNvSpPr>
          <p:nvPr/>
        </p:nvSpPr>
        <p:spPr>
          <a:xfrm>
            <a:off x="552450" y="1676400"/>
            <a:ext cx="9525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C6777"/>
                </a:solidFill>
                <a:latin typeface="Avenir Next"/>
                <a:ea typeface="Avenir Next"/>
                <a:cs typeface="Avenir Next"/>
              </a:defRPr>
            </a:pPr>
            <a:r>
              <a:rPr sz="1050" b="0">
                <a:solidFill>
                  <a:srgbClr val="5C6777"/>
                </a:solidFill>
                <a:latin typeface="Avenir Next"/>
                <a:ea typeface="Avenir Next"/>
                <a:cs typeface="Avenir Next"/>
              </a:rPr>
              <a:t>Le rôle de cet audit n'est pas de vendre plus. Il est de qualifier la bonne suite : formation ciblée, accompagnement de déploiement, pilote restreint, ou simple feuille de route à reprendre plus tard.</a:t>
            </a:r>
          </a:p>
        </p:txBody>
      </p:sp>
      <p:sp>
        <p:nvSpPr>
          <p:cNvPr id="6" name="Rectangle 5">
            <a:extLst>
              <a:ext uri="{FF2B5EF4-FFF2-40B4-BE49-F238E27FC236}">
                <a16:creationId xmlns:a16="http://schemas.microsoft.com/office/drawing/2014/main" id="{DEEB7696-788B-4C69-8305-D91315DB5407}"/>
              </a:ext>
            </a:extLst>
          </p:cNvPr>
          <p:cNvSpPr>
            <a:spLocks noGrp="1"/>
          </p:cNvSpPr>
          <p:nvPr/>
        </p:nvSpPr>
        <p:spPr>
          <a:xfrm>
            <a:off x="1123950" y="3562350"/>
            <a:ext cx="9715500" cy="19050"/>
          </a:xfrm>
          <a:prstGeom prst="rect">
            <a:avLst/>
          </a:prstGeom>
          <a:solidFill>
            <a:srgbClr val="D9D1C6"/>
          </a:solidFill>
          <a:ln w="0">
            <a:solidFill>
              <a:srgbClr val="000000">
                <a:alpha val="0"/>
              </a:srgbClr>
            </a:solidFill>
            <a:prstDash val="solid"/>
          </a:ln>
        </p:spPr>
      </p:sp>
      <p:sp>
        <p:nvSpPr>
          <p:cNvPr id="7" name="Rectangle 6">
            <a:extLst>
              <a:ext uri="{FF2B5EF4-FFF2-40B4-BE49-F238E27FC236}">
                <a16:creationId xmlns:a16="http://schemas.microsoft.com/office/drawing/2014/main" id="{AF755EE2-79E2-4898-9625-C2259D66398B}"/>
              </a:ext>
            </a:extLst>
          </p:cNvPr>
          <p:cNvSpPr>
            <a:spLocks noGrp="1"/>
          </p:cNvSpPr>
          <p:nvPr/>
        </p:nvSpPr>
        <p:spPr>
          <a:xfrm>
            <a:off x="1695450" y="3448050"/>
            <a:ext cx="247650" cy="247650"/>
          </a:xfrm>
          <a:prstGeom prst="rect">
            <a:avLst/>
          </a:prstGeom>
          <a:solidFill>
            <a:srgbClr val="DE6A1F"/>
          </a:solidFill>
          <a:ln w="9525">
            <a:solidFill>
              <a:srgbClr val="DE6A1F"/>
            </a:solidFill>
            <a:prstDash val="solid"/>
          </a:ln>
        </p:spPr>
      </p:sp>
      <p:sp>
        <p:nvSpPr>
          <p:cNvPr id="8" name="Rectangle 7">
            <a:extLst>
              <a:ext uri="{FF2B5EF4-FFF2-40B4-BE49-F238E27FC236}">
                <a16:creationId xmlns:a16="http://schemas.microsoft.com/office/drawing/2014/main" id="{B902FE6B-3462-44B2-9C9E-282A77B5AB62}"/>
              </a:ext>
            </a:extLst>
          </p:cNvPr>
          <p:cNvSpPr>
            <a:spLocks noGrp="1"/>
          </p:cNvSpPr>
          <p:nvPr/>
        </p:nvSpPr>
        <p:spPr>
          <a:xfrm>
            <a:off x="1762125" y="3486150"/>
            <a:ext cx="11430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50" b="1">
                <a:solidFill>
                  <a:srgbClr val="FFFFFF"/>
                </a:solidFill>
                <a:latin typeface="Avenir Next"/>
                <a:ea typeface="Avenir Next"/>
                <a:cs typeface="Avenir Next"/>
              </a:defRPr>
            </a:pPr>
            <a:r>
              <a:rPr sz="750" b="1">
                <a:solidFill>
                  <a:srgbClr val="FFFFFF"/>
                </a:solidFill>
                <a:latin typeface="Avenir Next"/>
                <a:ea typeface="Avenir Next"/>
                <a:cs typeface="Avenir Next"/>
              </a:rPr>
              <a:t>1</a:t>
            </a:r>
          </a:p>
        </p:txBody>
      </p:sp>
      <p:sp>
        <p:nvSpPr>
          <p:cNvPr id="9" name="Rectangle 8">
            <a:extLst>
              <a:ext uri="{FF2B5EF4-FFF2-40B4-BE49-F238E27FC236}">
                <a16:creationId xmlns:a16="http://schemas.microsoft.com/office/drawing/2014/main" id="{F8CAFCB1-6AE1-4DB0-8328-6DE8566B172E}"/>
              </a:ext>
            </a:extLst>
          </p:cNvPr>
          <p:cNvSpPr>
            <a:spLocks noGrp="1"/>
          </p:cNvSpPr>
          <p:nvPr/>
        </p:nvSpPr>
        <p:spPr>
          <a:xfrm>
            <a:off x="742950" y="25717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DE6A1F"/>
                </a:solidFill>
                <a:latin typeface="Avenir Next"/>
                <a:ea typeface="Avenir Next"/>
                <a:cs typeface="Avenir Next"/>
              </a:defRPr>
            </a:pPr>
            <a:r>
              <a:rPr sz="750" b="1">
                <a:solidFill>
                  <a:srgbClr val="DE6A1F"/>
                </a:solidFill>
                <a:latin typeface="Avenir Next"/>
                <a:ea typeface="Avenir Next"/>
                <a:cs typeface="Avenir Next"/>
              </a:rPr>
              <a:t>Semaine 1</a:t>
            </a:r>
          </a:p>
        </p:txBody>
      </p:sp>
      <p:sp>
        <p:nvSpPr>
          <p:cNvPr id="10" name="Rectangle 9">
            <a:extLst>
              <a:ext uri="{FF2B5EF4-FFF2-40B4-BE49-F238E27FC236}">
                <a16:creationId xmlns:a16="http://schemas.microsoft.com/office/drawing/2014/main" id="{2B992ADF-B667-446C-BEDB-85223825213E}"/>
              </a:ext>
            </a:extLst>
          </p:cNvPr>
          <p:cNvSpPr>
            <a:spLocks noGrp="1"/>
          </p:cNvSpPr>
          <p:nvPr/>
        </p:nvSpPr>
        <p:spPr>
          <a:xfrm>
            <a:off x="742950" y="2838450"/>
            <a:ext cx="2286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7263E"/>
                </a:solidFill>
                <a:latin typeface="Georgia"/>
                <a:ea typeface="Georgia"/>
                <a:cs typeface="Georgia"/>
              </a:defRPr>
            </a:pPr>
            <a:r>
              <a:rPr sz="1500" b="1">
                <a:solidFill>
                  <a:srgbClr val="17263E"/>
                </a:solidFill>
                <a:latin typeface="Georgia"/>
                <a:ea typeface="Georgia"/>
                <a:cs typeface="Georgia"/>
              </a:rPr>
              <a:t>Cadrage et sélection des priorités</a:t>
            </a:r>
          </a:p>
        </p:txBody>
      </p:sp>
      <p:sp>
        <p:nvSpPr>
          <p:cNvPr id="11" name="Rectangle 10">
            <a:extLst>
              <a:ext uri="{FF2B5EF4-FFF2-40B4-BE49-F238E27FC236}">
                <a16:creationId xmlns:a16="http://schemas.microsoft.com/office/drawing/2014/main" id="{CBE5F7EC-AF53-4DDE-9E9B-892DBA16DEB9}"/>
              </a:ext>
            </a:extLst>
          </p:cNvPr>
          <p:cNvSpPr>
            <a:spLocks noGrp="1"/>
          </p:cNvSpPr>
          <p:nvPr/>
        </p:nvSpPr>
        <p:spPr>
          <a:xfrm>
            <a:off x="742950" y="3867150"/>
            <a:ext cx="2362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échange de 45 minutes, clarification du périmètre et choix de 2 à 3 sujets à creuser</a:t>
            </a:r>
          </a:p>
        </p:txBody>
      </p:sp>
      <p:sp>
        <p:nvSpPr>
          <p:cNvPr id="12" name="Rectangle 11">
            <a:extLst>
              <a:ext uri="{FF2B5EF4-FFF2-40B4-BE49-F238E27FC236}">
                <a16:creationId xmlns:a16="http://schemas.microsoft.com/office/drawing/2014/main" id="{E1CDD545-7D2D-45C4-AABB-108E08A2B987}"/>
              </a:ext>
            </a:extLst>
          </p:cNvPr>
          <p:cNvSpPr>
            <a:spLocks noGrp="1"/>
          </p:cNvSpPr>
          <p:nvPr/>
        </p:nvSpPr>
        <p:spPr>
          <a:xfrm>
            <a:off x="5257800" y="3448050"/>
            <a:ext cx="247650" cy="247650"/>
          </a:xfrm>
          <a:prstGeom prst="rect">
            <a:avLst/>
          </a:prstGeom>
          <a:solidFill>
            <a:srgbClr val="1D8A78"/>
          </a:solidFill>
          <a:ln w="9525">
            <a:solidFill>
              <a:srgbClr val="1D8A78"/>
            </a:solidFill>
            <a:prstDash val="solid"/>
          </a:ln>
        </p:spPr>
      </p:sp>
      <p:sp>
        <p:nvSpPr>
          <p:cNvPr id="13" name="Rectangle 12">
            <a:extLst>
              <a:ext uri="{FF2B5EF4-FFF2-40B4-BE49-F238E27FC236}">
                <a16:creationId xmlns:a16="http://schemas.microsoft.com/office/drawing/2014/main" id="{D05E2A59-ADA8-4787-AC85-373F7A9C4DFC}"/>
              </a:ext>
            </a:extLst>
          </p:cNvPr>
          <p:cNvSpPr>
            <a:spLocks noGrp="1"/>
          </p:cNvSpPr>
          <p:nvPr/>
        </p:nvSpPr>
        <p:spPr>
          <a:xfrm>
            <a:off x="5324475" y="3486150"/>
            <a:ext cx="11430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50" b="1">
                <a:solidFill>
                  <a:srgbClr val="FFFFFF"/>
                </a:solidFill>
                <a:latin typeface="Avenir Next"/>
                <a:ea typeface="Avenir Next"/>
                <a:cs typeface="Avenir Next"/>
              </a:defRPr>
            </a:pPr>
            <a:r>
              <a:rPr sz="750" b="1">
                <a:solidFill>
                  <a:srgbClr val="FFFFFF"/>
                </a:solidFill>
                <a:latin typeface="Avenir Next"/>
                <a:ea typeface="Avenir Next"/>
                <a:cs typeface="Avenir Next"/>
              </a:rPr>
              <a:t>2</a:t>
            </a:r>
          </a:p>
        </p:txBody>
      </p:sp>
      <p:sp>
        <p:nvSpPr>
          <p:cNvPr id="14" name="Rectangle 13">
            <a:extLst>
              <a:ext uri="{FF2B5EF4-FFF2-40B4-BE49-F238E27FC236}">
                <a16:creationId xmlns:a16="http://schemas.microsoft.com/office/drawing/2014/main" id="{F35B1111-068C-424C-BD3C-CDF322A51BDE}"/>
              </a:ext>
            </a:extLst>
          </p:cNvPr>
          <p:cNvSpPr>
            <a:spLocks noGrp="1"/>
          </p:cNvSpPr>
          <p:nvPr/>
        </p:nvSpPr>
        <p:spPr>
          <a:xfrm>
            <a:off x="4305300" y="25717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1D8A78"/>
                </a:solidFill>
                <a:latin typeface="Avenir Next"/>
                <a:ea typeface="Avenir Next"/>
                <a:cs typeface="Avenir Next"/>
              </a:defRPr>
            </a:pPr>
            <a:r>
              <a:rPr sz="750" b="1">
                <a:solidFill>
                  <a:srgbClr val="1D8A78"/>
                </a:solidFill>
                <a:latin typeface="Avenir Next"/>
                <a:ea typeface="Avenir Next"/>
                <a:cs typeface="Avenir Next"/>
              </a:rPr>
              <a:t>Semaine 2</a:t>
            </a:r>
          </a:p>
        </p:txBody>
      </p:sp>
      <p:sp>
        <p:nvSpPr>
          <p:cNvPr id="15" name="Rectangle 14">
            <a:extLst>
              <a:ext uri="{FF2B5EF4-FFF2-40B4-BE49-F238E27FC236}">
                <a16:creationId xmlns:a16="http://schemas.microsoft.com/office/drawing/2014/main" id="{99C2DA08-2025-4CA9-A13C-C7E1793B2548}"/>
              </a:ext>
            </a:extLst>
          </p:cNvPr>
          <p:cNvSpPr>
            <a:spLocks noGrp="1"/>
          </p:cNvSpPr>
          <p:nvPr/>
        </p:nvSpPr>
        <p:spPr>
          <a:xfrm>
            <a:off x="4305300" y="2838450"/>
            <a:ext cx="2286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7263E"/>
                </a:solidFill>
                <a:latin typeface="Georgia"/>
                <a:ea typeface="Georgia"/>
                <a:cs typeface="Georgia"/>
              </a:defRPr>
            </a:pPr>
            <a:r>
              <a:rPr sz="1500" b="1">
                <a:solidFill>
                  <a:srgbClr val="17263E"/>
                </a:solidFill>
                <a:latin typeface="Georgia"/>
                <a:ea typeface="Georgia"/>
                <a:cs typeface="Georgia"/>
              </a:rPr>
              <a:t>Diagnostic ciblé</a:t>
            </a:r>
          </a:p>
        </p:txBody>
      </p:sp>
      <p:sp>
        <p:nvSpPr>
          <p:cNvPr id="16" name="Rectangle 15">
            <a:extLst>
              <a:ext uri="{FF2B5EF4-FFF2-40B4-BE49-F238E27FC236}">
                <a16:creationId xmlns:a16="http://schemas.microsoft.com/office/drawing/2014/main" id="{43F5B1D0-20FA-48A6-86CF-71240CC025AD}"/>
              </a:ext>
            </a:extLst>
          </p:cNvPr>
          <p:cNvSpPr>
            <a:spLocks noGrp="1"/>
          </p:cNvSpPr>
          <p:nvPr/>
        </p:nvSpPr>
        <p:spPr>
          <a:xfrm>
            <a:off x="4305300" y="3867150"/>
            <a:ext cx="2362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cartographie légère des flux, identification des frictions, lecture des données et contraintes</a:t>
            </a:r>
          </a:p>
        </p:txBody>
      </p:sp>
      <p:sp>
        <p:nvSpPr>
          <p:cNvPr id="17" name="Rectangle 16">
            <a:extLst>
              <a:ext uri="{FF2B5EF4-FFF2-40B4-BE49-F238E27FC236}">
                <a16:creationId xmlns:a16="http://schemas.microsoft.com/office/drawing/2014/main" id="{04AEF4C9-EB8F-48F6-8D76-F9C0FE413061}"/>
              </a:ext>
            </a:extLst>
          </p:cNvPr>
          <p:cNvSpPr>
            <a:spLocks noGrp="1"/>
          </p:cNvSpPr>
          <p:nvPr/>
        </p:nvSpPr>
        <p:spPr>
          <a:xfrm>
            <a:off x="8820150" y="3448050"/>
            <a:ext cx="247650" cy="247650"/>
          </a:xfrm>
          <a:prstGeom prst="rect">
            <a:avLst/>
          </a:prstGeom>
          <a:solidFill>
            <a:srgbClr val="DE6A1F"/>
          </a:solidFill>
          <a:ln w="9525">
            <a:solidFill>
              <a:srgbClr val="DE6A1F"/>
            </a:solidFill>
            <a:prstDash val="solid"/>
          </a:ln>
        </p:spPr>
      </p:sp>
      <p:sp>
        <p:nvSpPr>
          <p:cNvPr id="18" name="Rectangle 17">
            <a:extLst>
              <a:ext uri="{FF2B5EF4-FFF2-40B4-BE49-F238E27FC236}">
                <a16:creationId xmlns:a16="http://schemas.microsoft.com/office/drawing/2014/main" id="{42905661-62DB-498B-86A1-92D860CA23F1}"/>
              </a:ext>
            </a:extLst>
          </p:cNvPr>
          <p:cNvSpPr>
            <a:spLocks noGrp="1"/>
          </p:cNvSpPr>
          <p:nvPr/>
        </p:nvSpPr>
        <p:spPr>
          <a:xfrm>
            <a:off x="8886825" y="3486150"/>
            <a:ext cx="11430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50" b="1">
                <a:solidFill>
                  <a:srgbClr val="FFFFFF"/>
                </a:solidFill>
                <a:latin typeface="Avenir Next"/>
                <a:ea typeface="Avenir Next"/>
                <a:cs typeface="Avenir Next"/>
              </a:defRPr>
            </a:pPr>
            <a:r>
              <a:rPr sz="750" b="1">
                <a:solidFill>
                  <a:srgbClr val="FFFFFF"/>
                </a:solidFill>
                <a:latin typeface="Avenir Next"/>
                <a:ea typeface="Avenir Next"/>
                <a:cs typeface="Avenir Next"/>
              </a:rPr>
              <a:t>3</a:t>
            </a:r>
          </a:p>
        </p:txBody>
      </p:sp>
      <p:sp>
        <p:nvSpPr>
          <p:cNvPr id="19" name="Rectangle 18">
            <a:extLst>
              <a:ext uri="{FF2B5EF4-FFF2-40B4-BE49-F238E27FC236}">
                <a16:creationId xmlns:a16="http://schemas.microsoft.com/office/drawing/2014/main" id="{241826D8-DFFF-4DB5-9EF5-6B2C5B69D0E7}"/>
              </a:ext>
            </a:extLst>
          </p:cNvPr>
          <p:cNvSpPr>
            <a:spLocks noGrp="1"/>
          </p:cNvSpPr>
          <p:nvPr/>
        </p:nvSpPr>
        <p:spPr>
          <a:xfrm>
            <a:off x="7867650" y="25717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DE6A1F"/>
                </a:solidFill>
                <a:latin typeface="Avenir Next"/>
                <a:ea typeface="Avenir Next"/>
                <a:cs typeface="Avenir Next"/>
              </a:defRPr>
            </a:pPr>
            <a:r>
              <a:rPr sz="750" b="1">
                <a:solidFill>
                  <a:srgbClr val="DE6A1F"/>
                </a:solidFill>
                <a:latin typeface="Avenir Next"/>
                <a:ea typeface="Avenir Next"/>
                <a:cs typeface="Avenir Next"/>
              </a:rPr>
              <a:t>Semaine 3</a:t>
            </a:r>
          </a:p>
        </p:txBody>
      </p:sp>
      <p:sp>
        <p:nvSpPr>
          <p:cNvPr id="20" name="Rectangle 19">
            <a:extLst>
              <a:ext uri="{FF2B5EF4-FFF2-40B4-BE49-F238E27FC236}">
                <a16:creationId xmlns:a16="http://schemas.microsoft.com/office/drawing/2014/main" id="{F852F477-FDB7-499F-8F31-2FAE48260DE2}"/>
              </a:ext>
            </a:extLst>
          </p:cNvPr>
          <p:cNvSpPr>
            <a:spLocks noGrp="1"/>
          </p:cNvSpPr>
          <p:nvPr/>
        </p:nvSpPr>
        <p:spPr>
          <a:xfrm>
            <a:off x="7867650" y="2838450"/>
            <a:ext cx="22860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7263E"/>
                </a:solidFill>
                <a:latin typeface="Georgia"/>
                <a:ea typeface="Georgia"/>
                <a:cs typeface="Georgia"/>
              </a:defRPr>
            </a:pPr>
            <a:r>
              <a:rPr sz="1500" b="1">
                <a:solidFill>
                  <a:srgbClr val="17263E"/>
                </a:solidFill>
                <a:latin typeface="Georgia"/>
                <a:ea typeface="Georgia"/>
                <a:cs typeface="Georgia"/>
              </a:rPr>
              <a:t>Restitution et orientation</a:t>
            </a:r>
          </a:p>
        </p:txBody>
      </p:sp>
      <p:sp>
        <p:nvSpPr>
          <p:cNvPr id="21" name="Rectangle 20">
            <a:extLst>
              <a:ext uri="{FF2B5EF4-FFF2-40B4-BE49-F238E27FC236}">
                <a16:creationId xmlns:a16="http://schemas.microsoft.com/office/drawing/2014/main" id="{EF6554C7-B5AA-45EB-8C2A-CEECCB71E112}"/>
              </a:ext>
            </a:extLst>
          </p:cNvPr>
          <p:cNvSpPr>
            <a:spLocks noGrp="1"/>
          </p:cNvSpPr>
          <p:nvPr/>
        </p:nvSpPr>
        <p:spPr>
          <a:xfrm>
            <a:off x="7867650" y="3867150"/>
            <a:ext cx="2362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note de recommandations, quick wins, besoins de formation et trajectoire de mise en œuvre</a:t>
            </a:r>
          </a:p>
        </p:txBody>
      </p:sp>
      <p:sp>
        <p:nvSpPr>
          <p:cNvPr id="22" name="Rectangle 21">
            <a:extLst>
              <a:ext uri="{FF2B5EF4-FFF2-40B4-BE49-F238E27FC236}">
                <a16:creationId xmlns:a16="http://schemas.microsoft.com/office/drawing/2014/main" id="{690529F8-AEFA-45DD-ABB4-408DC7142190}"/>
              </a:ext>
            </a:extLst>
          </p:cNvPr>
          <p:cNvSpPr>
            <a:spLocks noGrp="1"/>
          </p:cNvSpPr>
          <p:nvPr/>
        </p:nvSpPr>
        <p:spPr>
          <a:xfrm>
            <a:off x="552450" y="5334000"/>
            <a:ext cx="10858500" cy="838200"/>
          </a:xfrm>
          <a:prstGeom prst="rect">
            <a:avLst/>
          </a:prstGeom>
          <a:solidFill>
            <a:srgbClr val="102338"/>
          </a:solidFill>
          <a:ln w="9525">
            <a:solidFill>
              <a:srgbClr val="102338"/>
            </a:solidFill>
            <a:prstDash val="solid"/>
          </a:ln>
        </p:spPr>
      </p:sp>
      <p:sp>
        <p:nvSpPr>
          <p:cNvPr id="23" name="Rectangle 22">
            <a:extLst>
              <a:ext uri="{FF2B5EF4-FFF2-40B4-BE49-F238E27FC236}">
                <a16:creationId xmlns:a16="http://schemas.microsoft.com/office/drawing/2014/main" id="{51DB9FF5-5BA3-46F7-A93F-423D84D30E52}"/>
              </a:ext>
            </a:extLst>
          </p:cNvPr>
          <p:cNvSpPr>
            <a:spLocks noGrp="1"/>
          </p:cNvSpPr>
          <p:nvPr/>
        </p:nvSpPr>
        <p:spPr>
          <a:xfrm>
            <a:off x="819150" y="5543550"/>
            <a:ext cx="2286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D7E1EE"/>
                </a:solidFill>
                <a:latin typeface="Avenir Next"/>
                <a:ea typeface="Avenir Next"/>
                <a:cs typeface="Avenir Next"/>
              </a:defRPr>
            </a:pPr>
            <a:r>
              <a:rPr sz="750" b="1">
                <a:solidFill>
                  <a:srgbClr val="D7E1EE"/>
                </a:solidFill>
                <a:latin typeface="Avenir Next"/>
                <a:ea typeface="Avenir Next"/>
                <a:cs typeface="Avenir Next"/>
              </a:rPr>
              <a:t>Livrables remis à la direction</a:t>
            </a:r>
          </a:p>
        </p:txBody>
      </p:sp>
      <p:sp>
        <p:nvSpPr>
          <p:cNvPr id="24" name="Rectangle 23">
            <a:extLst>
              <a:ext uri="{FF2B5EF4-FFF2-40B4-BE49-F238E27FC236}">
                <a16:creationId xmlns:a16="http://schemas.microsoft.com/office/drawing/2014/main" id="{FB014F2A-1CF0-4670-B724-20815FED92BE}"/>
              </a:ext>
            </a:extLst>
          </p:cNvPr>
          <p:cNvSpPr>
            <a:spLocks noGrp="1"/>
          </p:cNvSpPr>
          <p:nvPr/>
        </p:nvSpPr>
        <p:spPr>
          <a:xfrm>
            <a:off x="819150" y="5772150"/>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1. une lecture claire des priorités ; 2. des cas d'usage à arbitrer ; 3. les populations à former en premier ; 4. les conditions minimales de gouvernance et de déploiement.</a:t>
            </a:r>
          </a:p>
        </p:txBody>
      </p:sp>
      <p:sp>
        <p:nvSpPr>
          <p:cNvPr id="25" name="Rectangle 24">
            <a:extLst>
              <a:ext uri="{FF2B5EF4-FFF2-40B4-BE49-F238E27FC236}">
                <a16:creationId xmlns:a16="http://schemas.microsoft.com/office/drawing/2014/main" id="{82C22507-DBA4-4344-9248-E449C0058035}"/>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26" name="Rectangle 25">
            <a:extLst>
              <a:ext uri="{FF2B5EF4-FFF2-40B4-BE49-F238E27FC236}">
                <a16:creationId xmlns:a16="http://schemas.microsoft.com/office/drawing/2014/main" id="{46768D26-2A5B-4F99-9135-32974D04E96D}"/>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Audit</a:t>
            </a:r>
          </a:p>
        </p:txBody>
      </p:sp>
      <p:sp>
        <p:nvSpPr>
          <p:cNvPr id="27" name="Rectangle 26">
            <a:extLst>
              <a:ext uri="{FF2B5EF4-FFF2-40B4-BE49-F238E27FC236}">
                <a16:creationId xmlns:a16="http://schemas.microsoft.com/office/drawing/2014/main" id="{3BEFC05B-DAFC-4C85-96BE-7F161C0E00AC}"/>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04</a:t>
            </a:r>
          </a:p>
        </p:txBody>
      </p:sp>
    </p:spTree>
    <p:extLst>
      <p:ext uri="{BB962C8B-B14F-4D97-AF65-F5344CB8AC3E}">
        <p14:creationId xmlns:p14="http://schemas.microsoft.com/office/powerpoint/2010/main" val="384405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DA630DE-AA69-41CA-911D-48959B55DD11}"/>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50CC6B86-0F6F-4D4B-A3CE-4C5EF7EF501C}"/>
              </a:ext>
            </a:extLst>
          </p:cNvPr>
          <p:cNvSpPr>
            <a:spLocks noGrp="1"/>
          </p:cNvSpPr>
          <p:nvPr/>
        </p:nvSpPr>
        <p:spPr>
          <a:xfrm>
            <a:off x="552450" y="485775"/>
            <a:ext cx="95250" cy="952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55468C9B-FA22-4784-8D72-50A500F6C196}"/>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A R C H I T E C T U R E   D ' O F F R E</a:t>
            </a:r>
          </a:p>
        </p:txBody>
      </p:sp>
      <p:sp>
        <p:nvSpPr>
          <p:cNvPr id="4" name="Rectangle 3">
            <a:extLst>
              <a:ext uri="{FF2B5EF4-FFF2-40B4-BE49-F238E27FC236}">
                <a16:creationId xmlns:a16="http://schemas.microsoft.com/office/drawing/2014/main" id="{29A2E7E3-DBF8-43BA-8B6B-1234AA7388A6}"/>
              </a:ext>
            </a:extLst>
          </p:cNvPr>
          <p:cNvSpPr>
            <a:spLocks noGrp="1"/>
          </p:cNvSpPr>
          <p:nvPr/>
        </p:nvSpPr>
        <p:spPr>
          <a:xfrm>
            <a:off x="552450" y="800100"/>
            <a:ext cx="85725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7263E"/>
                </a:solidFill>
                <a:latin typeface="Georgia"/>
                <a:ea typeface="Georgia"/>
                <a:cs typeface="Georgia"/>
              </a:defRPr>
            </a:pPr>
            <a:r>
              <a:rPr sz="2475" b="1">
                <a:solidFill>
                  <a:srgbClr val="17263E"/>
                </a:solidFill>
                <a:latin typeface="Georgia"/>
                <a:ea typeface="Georgia"/>
                <a:cs typeface="Georgia"/>
              </a:rPr>
              <a:t>L'offre complète relie diagnostic, compétences et mise en œuvre.</a:t>
            </a:r>
          </a:p>
        </p:txBody>
      </p:sp>
      <p:sp>
        <p:nvSpPr>
          <p:cNvPr id="5" name="Rectangle 4">
            <a:extLst>
              <a:ext uri="{FF2B5EF4-FFF2-40B4-BE49-F238E27FC236}">
                <a16:creationId xmlns:a16="http://schemas.microsoft.com/office/drawing/2014/main" id="{B51E86C0-9667-45F9-8637-ED8C86171508}"/>
              </a:ext>
            </a:extLst>
          </p:cNvPr>
          <p:cNvSpPr>
            <a:spLocks noGrp="1"/>
          </p:cNvSpPr>
          <p:nvPr/>
        </p:nvSpPr>
        <p:spPr>
          <a:xfrm>
            <a:off x="552450" y="1676400"/>
            <a:ext cx="9334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C6777"/>
                </a:solidFill>
                <a:latin typeface="Avenir Next"/>
                <a:ea typeface="Avenir Next"/>
                <a:cs typeface="Avenir Next"/>
              </a:defRPr>
            </a:pPr>
            <a:r>
              <a:rPr sz="1050" b="0">
                <a:solidFill>
                  <a:srgbClr val="5C6777"/>
                </a:solidFill>
                <a:latin typeface="Avenir Next"/>
                <a:ea typeface="Avenir Next"/>
                <a:cs typeface="Avenir Next"/>
              </a:rPr>
              <a:t>La proposition gagne en crédibilité quand elle montre clairement que la valeur ne vient pas d'un outil isolé, mais de la combinaison entre priorisation, formation utile, cadre de confiance et premier terrain d'exécution.</a:t>
            </a:r>
          </a:p>
        </p:txBody>
      </p:sp>
      <p:sp>
        <p:nvSpPr>
          <p:cNvPr id="6" name="Rectangle 5">
            <a:extLst>
              <a:ext uri="{FF2B5EF4-FFF2-40B4-BE49-F238E27FC236}">
                <a16:creationId xmlns:a16="http://schemas.microsoft.com/office/drawing/2014/main" id="{8A4AEFE2-F9DF-4841-9993-7937EE218E8A}"/>
              </a:ext>
            </a:extLst>
          </p:cNvPr>
          <p:cNvSpPr>
            <a:spLocks noGrp="1"/>
          </p:cNvSpPr>
          <p:nvPr/>
        </p:nvSpPr>
        <p:spPr>
          <a:xfrm>
            <a:off x="552450" y="2457450"/>
            <a:ext cx="5143500" cy="1485900"/>
          </a:xfrm>
          <a:prstGeom prst="rect">
            <a:avLst/>
          </a:prstGeom>
          <a:solidFill>
            <a:srgbClr val="FFFDFC"/>
          </a:solidFill>
          <a:ln w="9525">
            <a:solidFill>
              <a:srgbClr val="D9D1C6"/>
            </a:solidFill>
            <a:prstDash val="solid"/>
          </a:ln>
        </p:spPr>
      </p:sp>
      <p:sp>
        <p:nvSpPr>
          <p:cNvPr id="7" name="Rectangle 6">
            <a:extLst>
              <a:ext uri="{FF2B5EF4-FFF2-40B4-BE49-F238E27FC236}">
                <a16:creationId xmlns:a16="http://schemas.microsoft.com/office/drawing/2014/main" id="{7124A99D-8ADE-4912-8CC2-E5597303152A}"/>
              </a:ext>
            </a:extLst>
          </p:cNvPr>
          <p:cNvSpPr>
            <a:spLocks noGrp="1"/>
          </p:cNvSpPr>
          <p:nvPr/>
        </p:nvSpPr>
        <p:spPr>
          <a:xfrm>
            <a:off x="552450" y="2457450"/>
            <a:ext cx="76200" cy="1485900"/>
          </a:xfrm>
          <a:prstGeom prst="rect">
            <a:avLst/>
          </a:prstGeom>
          <a:solidFill>
            <a:srgbClr val="DE6A1F"/>
          </a:solidFill>
          <a:ln w="0">
            <a:solidFill>
              <a:srgbClr val="000000">
                <a:alpha val="0"/>
              </a:srgbClr>
            </a:solidFill>
            <a:prstDash val="solid"/>
          </a:ln>
        </p:spPr>
      </p:sp>
      <p:sp>
        <p:nvSpPr>
          <p:cNvPr id="8" name="Rectangle 7">
            <a:extLst>
              <a:ext uri="{FF2B5EF4-FFF2-40B4-BE49-F238E27FC236}">
                <a16:creationId xmlns:a16="http://schemas.microsoft.com/office/drawing/2014/main" id="{7A557E09-FD67-4272-9551-1600A6496F5C}"/>
              </a:ext>
            </a:extLst>
          </p:cNvPr>
          <p:cNvSpPr>
            <a:spLocks noGrp="1"/>
          </p:cNvSpPr>
          <p:nvPr/>
        </p:nvSpPr>
        <p:spPr>
          <a:xfrm>
            <a:off x="819150" y="2686050"/>
            <a:ext cx="47244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63E"/>
                </a:solidFill>
                <a:latin typeface="Georgia"/>
                <a:ea typeface="Georgia"/>
                <a:cs typeface="Georgia"/>
              </a:defRPr>
            </a:pPr>
            <a:r>
              <a:rPr sz="1650" b="1">
                <a:solidFill>
                  <a:srgbClr val="17263E"/>
                </a:solidFill>
                <a:latin typeface="Georgia"/>
                <a:ea typeface="Georgia"/>
                <a:cs typeface="Georgia"/>
              </a:rPr>
              <a:t>Audit, cadrage et feuille de route</a:t>
            </a:r>
          </a:p>
        </p:txBody>
      </p:sp>
      <p:sp>
        <p:nvSpPr>
          <p:cNvPr id="9" name="Rectangle 8">
            <a:extLst>
              <a:ext uri="{FF2B5EF4-FFF2-40B4-BE49-F238E27FC236}">
                <a16:creationId xmlns:a16="http://schemas.microsoft.com/office/drawing/2014/main" id="{947ACF69-788B-4314-9C9E-B34D54BF56C5}"/>
              </a:ext>
            </a:extLst>
          </p:cNvPr>
          <p:cNvSpPr>
            <a:spLocks noGrp="1"/>
          </p:cNvSpPr>
          <p:nvPr/>
        </p:nvSpPr>
        <p:spPr>
          <a:xfrm>
            <a:off x="819150" y="3257550"/>
            <a:ext cx="46482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diagnostic des points de friction critiques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lecture simple des gains rapides et des prérequis</a:t>
            </a:r>
          </a:p>
        </p:txBody>
      </p:sp>
      <p:sp>
        <p:nvSpPr>
          <p:cNvPr id="10" name="Rectangle 9">
            <a:extLst>
              <a:ext uri="{FF2B5EF4-FFF2-40B4-BE49-F238E27FC236}">
                <a16:creationId xmlns:a16="http://schemas.microsoft.com/office/drawing/2014/main" id="{0341685C-0189-46A4-B175-752DC9D97A68}"/>
              </a:ext>
            </a:extLst>
          </p:cNvPr>
          <p:cNvSpPr>
            <a:spLocks noGrp="1"/>
          </p:cNvSpPr>
          <p:nvPr/>
        </p:nvSpPr>
        <p:spPr>
          <a:xfrm>
            <a:off x="6115050" y="2457450"/>
            <a:ext cx="4724400" cy="1485900"/>
          </a:xfrm>
          <a:prstGeom prst="rect">
            <a:avLst/>
          </a:prstGeom>
          <a:solidFill>
            <a:srgbClr val="DE6A1F"/>
          </a:solidFill>
          <a:ln w="9525">
            <a:solidFill>
              <a:srgbClr val="DE6A1F"/>
            </a:solidFill>
            <a:prstDash val="solid"/>
          </a:ln>
        </p:spPr>
      </p:sp>
      <p:sp>
        <p:nvSpPr>
          <p:cNvPr id="11" name="Rectangle 10">
            <a:extLst>
              <a:ext uri="{FF2B5EF4-FFF2-40B4-BE49-F238E27FC236}">
                <a16:creationId xmlns:a16="http://schemas.microsoft.com/office/drawing/2014/main" id="{F8E1482D-FCD3-4CFA-8537-E9FC4054FD63}"/>
              </a:ext>
            </a:extLst>
          </p:cNvPr>
          <p:cNvSpPr>
            <a:spLocks noGrp="1"/>
          </p:cNvSpPr>
          <p:nvPr/>
        </p:nvSpPr>
        <p:spPr>
          <a:xfrm>
            <a:off x="6115050" y="2457450"/>
            <a:ext cx="76200" cy="1485900"/>
          </a:xfrm>
          <a:prstGeom prst="rect">
            <a:avLst/>
          </a:prstGeom>
          <a:solidFill>
            <a:srgbClr val="DE6A1F"/>
          </a:solidFill>
          <a:ln w="0">
            <a:solidFill>
              <a:srgbClr val="000000">
                <a:alpha val="0"/>
              </a:srgbClr>
            </a:solidFill>
            <a:prstDash val="solid"/>
          </a:ln>
        </p:spPr>
      </p:sp>
      <p:sp>
        <p:nvSpPr>
          <p:cNvPr id="12" name="Rectangle 11">
            <a:extLst>
              <a:ext uri="{FF2B5EF4-FFF2-40B4-BE49-F238E27FC236}">
                <a16:creationId xmlns:a16="http://schemas.microsoft.com/office/drawing/2014/main" id="{9C24FC2C-FF10-47ED-87F4-9EA4F8A375EA}"/>
              </a:ext>
            </a:extLst>
          </p:cNvPr>
          <p:cNvSpPr>
            <a:spLocks noGrp="1"/>
          </p:cNvSpPr>
          <p:nvPr/>
        </p:nvSpPr>
        <p:spPr>
          <a:xfrm>
            <a:off x="6381750" y="2686050"/>
            <a:ext cx="4305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FFFFFF"/>
                </a:solidFill>
                <a:latin typeface="Georgia"/>
                <a:ea typeface="Georgia"/>
                <a:cs typeface="Georgia"/>
              </a:defRPr>
            </a:pPr>
            <a:r>
              <a:rPr sz="1650" b="1">
                <a:solidFill>
                  <a:srgbClr val="FFFFFF"/>
                </a:solidFill>
                <a:latin typeface="Georgia"/>
                <a:ea typeface="Georgia"/>
                <a:cs typeface="Georgia"/>
              </a:rPr>
              <a:t>Formation dirigeants et managers</a:t>
            </a:r>
          </a:p>
        </p:txBody>
      </p:sp>
      <p:sp>
        <p:nvSpPr>
          <p:cNvPr id="13" name="Rectangle 12">
            <a:extLst>
              <a:ext uri="{FF2B5EF4-FFF2-40B4-BE49-F238E27FC236}">
                <a16:creationId xmlns:a16="http://schemas.microsoft.com/office/drawing/2014/main" id="{8DFC4007-A078-4FF8-BFF2-2861656EBE20}"/>
              </a:ext>
            </a:extLst>
          </p:cNvPr>
          <p:cNvSpPr>
            <a:spLocks noGrp="1"/>
          </p:cNvSpPr>
          <p:nvPr/>
        </p:nvSpPr>
        <p:spPr>
          <a:xfrm>
            <a:off x="6381750" y="3257550"/>
            <a:ext cx="42291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F8E7D8"/>
                </a:solidFill>
                <a:latin typeface="Avenir Next"/>
                <a:ea typeface="Avenir Next"/>
                <a:cs typeface="Avenir Next"/>
              </a:defRPr>
            </a:pPr>
            <a:r>
              <a:rPr sz="938" b="0">
                <a:solidFill>
                  <a:srgbClr val="F8E7D8"/>
                </a:solidFill>
                <a:latin typeface="Avenir Next"/>
                <a:ea typeface="Avenir Next"/>
                <a:cs typeface="Avenir Next"/>
              </a:rPr>
              <a:t>• vision, arbitrage et gouvernance de l'IA</a:t>
            </a:r>
          </a:p>
          <a:p>
            <a:pPr algn="l">
              <a:defRPr sz="938" b="0">
                <a:solidFill>
                  <a:srgbClr val="F8E7D8"/>
                </a:solidFill>
                <a:latin typeface="Avenir Next"/>
                <a:ea typeface="Avenir Next"/>
                <a:cs typeface="Avenir Next"/>
              </a:defRPr>
            </a:pPr>
            <a:r>
              <a:rPr sz="938" b="0">
                <a:solidFill>
                  <a:srgbClr val="F8E7D8"/>
                </a:solidFill>
                <a:latin typeface="Avenir Next"/>
                <a:ea typeface="Avenir Next"/>
                <a:cs typeface="Avenir Next"/>
              </a:rPr>
              <a:t>• conduite du changement et lecture des risques</a:t>
            </a:r>
          </a:p>
        </p:txBody>
      </p:sp>
      <p:sp>
        <p:nvSpPr>
          <p:cNvPr id="14" name="Rectangle 13">
            <a:extLst>
              <a:ext uri="{FF2B5EF4-FFF2-40B4-BE49-F238E27FC236}">
                <a16:creationId xmlns:a16="http://schemas.microsoft.com/office/drawing/2014/main" id="{32D12004-2204-4D73-95EF-D6635467093F}"/>
              </a:ext>
            </a:extLst>
          </p:cNvPr>
          <p:cNvSpPr>
            <a:spLocks noGrp="1"/>
          </p:cNvSpPr>
          <p:nvPr/>
        </p:nvSpPr>
        <p:spPr>
          <a:xfrm>
            <a:off x="552450" y="4152900"/>
            <a:ext cx="5143500" cy="1485900"/>
          </a:xfrm>
          <a:prstGeom prst="rect">
            <a:avLst/>
          </a:prstGeom>
          <a:solidFill>
            <a:srgbClr val="FFFDFC"/>
          </a:solidFill>
          <a:ln w="9525">
            <a:solidFill>
              <a:srgbClr val="D9D1C6"/>
            </a:solidFill>
            <a:prstDash val="solid"/>
          </a:ln>
        </p:spPr>
      </p:sp>
      <p:sp>
        <p:nvSpPr>
          <p:cNvPr id="15" name="Rectangle 14">
            <a:extLst>
              <a:ext uri="{FF2B5EF4-FFF2-40B4-BE49-F238E27FC236}">
                <a16:creationId xmlns:a16="http://schemas.microsoft.com/office/drawing/2014/main" id="{1A7918D9-12B0-4178-8DA1-C73BEC194D5F}"/>
              </a:ext>
            </a:extLst>
          </p:cNvPr>
          <p:cNvSpPr>
            <a:spLocks noGrp="1"/>
          </p:cNvSpPr>
          <p:nvPr/>
        </p:nvSpPr>
        <p:spPr>
          <a:xfrm>
            <a:off x="552450" y="4152900"/>
            <a:ext cx="76200" cy="1485900"/>
          </a:xfrm>
          <a:prstGeom prst="rect">
            <a:avLst/>
          </a:prstGeom>
          <a:solidFill>
            <a:srgbClr val="1D8A78"/>
          </a:solidFill>
          <a:ln w="0">
            <a:solidFill>
              <a:srgbClr val="000000">
                <a:alpha val="0"/>
              </a:srgbClr>
            </a:solidFill>
            <a:prstDash val="solid"/>
          </a:ln>
        </p:spPr>
      </p:sp>
      <p:sp>
        <p:nvSpPr>
          <p:cNvPr id="16" name="Rectangle 15">
            <a:extLst>
              <a:ext uri="{FF2B5EF4-FFF2-40B4-BE49-F238E27FC236}">
                <a16:creationId xmlns:a16="http://schemas.microsoft.com/office/drawing/2014/main" id="{ECE40A3A-E103-4713-8665-0ACCFB357700}"/>
              </a:ext>
            </a:extLst>
          </p:cNvPr>
          <p:cNvSpPr>
            <a:spLocks noGrp="1"/>
          </p:cNvSpPr>
          <p:nvPr/>
        </p:nvSpPr>
        <p:spPr>
          <a:xfrm>
            <a:off x="819150" y="4381500"/>
            <a:ext cx="47244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63E"/>
                </a:solidFill>
                <a:latin typeface="Georgia"/>
                <a:ea typeface="Georgia"/>
                <a:cs typeface="Georgia"/>
              </a:defRPr>
            </a:pPr>
            <a:r>
              <a:rPr sz="1650" b="1">
                <a:solidFill>
                  <a:srgbClr val="17263E"/>
                </a:solidFill>
                <a:latin typeface="Georgia"/>
                <a:ea typeface="Georgia"/>
                <a:cs typeface="Georgia"/>
              </a:rPr>
              <a:t>Formation équipes métier</a:t>
            </a:r>
          </a:p>
        </p:txBody>
      </p:sp>
      <p:sp>
        <p:nvSpPr>
          <p:cNvPr id="17" name="Rectangle 16">
            <a:extLst>
              <a:ext uri="{FF2B5EF4-FFF2-40B4-BE49-F238E27FC236}">
                <a16:creationId xmlns:a16="http://schemas.microsoft.com/office/drawing/2014/main" id="{A3ABCA15-98F2-457C-BE2F-432B78ECC180}"/>
              </a:ext>
            </a:extLst>
          </p:cNvPr>
          <p:cNvSpPr>
            <a:spLocks noGrp="1"/>
          </p:cNvSpPr>
          <p:nvPr/>
        </p:nvSpPr>
        <p:spPr>
          <a:xfrm>
            <a:off x="819150" y="4953000"/>
            <a:ext cx="46482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reporting, rédaction, synthèse et exploitation de l'information</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service client, flotte, opérations, fonctions support</a:t>
            </a:r>
          </a:p>
        </p:txBody>
      </p:sp>
      <p:sp>
        <p:nvSpPr>
          <p:cNvPr id="18" name="Rectangle 17">
            <a:extLst>
              <a:ext uri="{FF2B5EF4-FFF2-40B4-BE49-F238E27FC236}">
                <a16:creationId xmlns:a16="http://schemas.microsoft.com/office/drawing/2014/main" id="{56F33D0A-F853-47A5-A5F8-F6579EC1EEB4}"/>
              </a:ext>
            </a:extLst>
          </p:cNvPr>
          <p:cNvSpPr>
            <a:spLocks noGrp="1"/>
          </p:cNvSpPr>
          <p:nvPr/>
        </p:nvSpPr>
        <p:spPr>
          <a:xfrm>
            <a:off x="6115050" y="4152900"/>
            <a:ext cx="4724400" cy="1485900"/>
          </a:xfrm>
          <a:prstGeom prst="rect">
            <a:avLst/>
          </a:prstGeom>
          <a:solidFill>
            <a:srgbClr val="FFFDFC"/>
          </a:solidFill>
          <a:ln w="9525">
            <a:solidFill>
              <a:srgbClr val="D9D1C6"/>
            </a:solidFill>
            <a:prstDash val="solid"/>
          </a:ln>
        </p:spPr>
      </p:sp>
      <p:sp>
        <p:nvSpPr>
          <p:cNvPr id="19" name="Rectangle 18">
            <a:extLst>
              <a:ext uri="{FF2B5EF4-FFF2-40B4-BE49-F238E27FC236}">
                <a16:creationId xmlns:a16="http://schemas.microsoft.com/office/drawing/2014/main" id="{3F268669-2AFB-4373-95BB-6D5F5F5B1468}"/>
              </a:ext>
            </a:extLst>
          </p:cNvPr>
          <p:cNvSpPr>
            <a:spLocks noGrp="1"/>
          </p:cNvSpPr>
          <p:nvPr/>
        </p:nvSpPr>
        <p:spPr>
          <a:xfrm>
            <a:off x="6115050" y="4152900"/>
            <a:ext cx="76200" cy="1485900"/>
          </a:xfrm>
          <a:prstGeom prst="rect">
            <a:avLst/>
          </a:prstGeom>
          <a:solidFill>
            <a:srgbClr val="17263E"/>
          </a:solidFill>
          <a:ln w="0">
            <a:solidFill>
              <a:srgbClr val="000000">
                <a:alpha val="0"/>
              </a:srgbClr>
            </a:solidFill>
            <a:prstDash val="solid"/>
          </a:ln>
        </p:spPr>
      </p:sp>
      <p:sp>
        <p:nvSpPr>
          <p:cNvPr id="20" name="Rectangle 19">
            <a:extLst>
              <a:ext uri="{FF2B5EF4-FFF2-40B4-BE49-F238E27FC236}">
                <a16:creationId xmlns:a16="http://schemas.microsoft.com/office/drawing/2014/main" id="{FE8E794B-22DE-41AA-8A4D-415CC45E9228}"/>
              </a:ext>
            </a:extLst>
          </p:cNvPr>
          <p:cNvSpPr>
            <a:spLocks noGrp="1"/>
          </p:cNvSpPr>
          <p:nvPr/>
        </p:nvSpPr>
        <p:spPr>
          <a:xfrm>
            <a:off x="6381750" y="4381500"/>
            <a:ext cx="4305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7263E"/>
                </a:solidFill>
                <a:latin typeface="Georgia"/>
                <a:ea typeface="Georgia"/>
                <a:cs typeface="Georgia"/>
              </a:defRPr>
            </a:pPr>
            <a:r>
              <a:rPr sz="1650" b="1">
                <a:solidFill>
                  <a:srgbClr val="17263E"/>
                </a:solidFill>
                <a:latin typeface="Georgia"/>
                <a:ea typeface="Georgia"/>
                <a:cs typeface="Georgia"/>
              </a:rPr>
              <a:t>Pilote et accompagnement de mise en œuvre</a:t>
            </a:r>
          </a:p>
        </p:txBody>
      </p:sp>
      <p:sp>
        <p:nvSpPr>
          <p:cNvPr id="21" name="Rectangle 20">
            <a:extLst>
              <a:ext uri="{FF2B5EF4-FFF2-40B4-BE49-F238E27FC236}">
                <a16:creationId xmlns:a16="http://schemas.microsoft.com/office/drawing/2014/main" id="{A2848FEA-30F2-4131-BE85-A7BC48563293}"/>
              </a:ext>
            </a:extLst>
          </p:cNvPr>
          <p:cNvSpPr>
            <a:spLocks noGrp="1"/>
          </p:cNvSpPr>
          <p:nvPr/>
        </p:nvSpPr>
        <p:spPr>
          <a:xfrm>
            <a:off x="6381750" y="4953000"/>
            <a:ext cx="42291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assistant métier ciblé, tableau de bord ou base interne</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mise en place progressive avec validation humaine</a:t>
            </a:r>
          </a:p>
        </p:txBody>
      </p:sp>
      <p:sp>
        <p:nvSpPr>
          <p:cNvPr id="22" name="Rectangle 21">
            <a:extLst>
              <a:ext uri="{FF2B5EF4-FFF2-40B4-BE49-F238E27FC236}">
                <a16:creationId xmlns:a16="http://schemas.microsoft.com/office/drawing/2014/main" id="{F8F6990D-CFB5-4661-9C99-00777BF47B9B}"/>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23" name="Rectangle 22">
            <a:extLst>
              <a:ext uri="{FF2B5EF4-FFF2-40B4-BE49-F238E27FC236}">
                <a16:creationId xmlns:a16="http://schemas.microsoft.com/office/drawing/2014/main" id="{0DEAA4EC-70B1-45C7-B1B8-01F03A261F1C}"/>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Architecture d'offre</a:t>
            </a:r>
          </a:p>
        </p:txBody>
      </p:sp>
      <p:sp>
        <p:nvSpPr>
          <p:cNvPr id="24" name="Rectangle 23">
            <a:extLst>
              <a:ext uri="{FF2B5EF4-FFF2-40B4-BE49-F238E27FC236}">
                <a16:creationId xmlns:a16="http://schemas.microsoft.com/office/drawing/2014/main" id="{CF06DC95-CBD3-4CB6-80D4-0B59156E1C7F}"/>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05</a:t>
            </a:r>
          </a:p>
        </p:txBody>
      </p:sp>
    </p:spTree>
    <p:extLst>
      <p:ext uri="{BB962C8B-B14F-4D97-AF65-F5344CB8AC3E}">
        <p14:creationId xmlns:p14="http://schemas.microsoft.com/office/powerpoint/2010/main" val="576363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E1EF668-A3CD-4E10-923F-8A729B62CEBD}"/>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D3ED9B40-0268-4B97-BD6D-297E30B1D9C0}"/>
              </a:ext>
            </a:extLst>
          </p:cNvPr>
          <p:cNvSpPr>
            <a:spLocks noGrp="1"/>
          </p:cNvSpPr>
          <p:nvPr/>
        </p:nvSpPr>
        <p:spPr>
          <a:xfrm>
            <a:off x="552450" y="485775"/>
            <a:ext cx="95250" cy="952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E293F2AF-9F43-4E17-9897-51911649F1DE}"/>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F O R M A T I O N   C I B L É E</a:t>
            </a:r>
          </a:p>
        </p:txBody>
      </p:sp>
      <p:sp>
        <p:nvSpPr>
          <p:cNvPr id="4" name="Rectangle 3">
            <a:extLst>
              <a:ext uri="{FF2B5EF4-FFF2-40B4-BE49-F238E27FC236}">
                <a16:creationId xmlns:a16="http://schemas.microsoft.com/office/drawing/2014/main" id="{7E508741-B0B8-4A3C-9153-8C468917CD61}"/>
              </a:ext>
            </a:extLst>
          </p:cNvPr>
          <p:cNvSpPr>
            <a:spLocks noGrp="1"/>
          </p:cNvSpPr>
          <p:nvPr/>
        </p:nvSpPr>
        <p:spPr>
          <a:xfrm>
            <a:off x="552450" y="800100"/>
            <a:ext cx="8763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7263E"/>
                </a:solidFill>
                <a:latin typeface="Georgia"/>
                <a:ea typeface="Georgia"/>
                <a:cs typeface="Georgia"/>
              </a:defRPr>
            </a:pPr>
            <a:r>
              <a:rPr sz="2475" b="1">
                <a:solidFill>
                  <a:srgbClr val="17263E"/>
                </a:solidFill>
                <a:latin typeface="Georgia"/>
                <a:ea typeface="Georgia"/>
                <a:cs typeface="Georgia"/>
              </a:rPr>
              <a:t>La formation n'a de valeur que si elle correspond à chaque population.</a:t>
            </a:r>
          </a:p>
        </p:txBody>
      </p:sp>
      <p:sp>
        <p:nvSpPr>
          <p:cNvPr id="5" name="Rectangle 4">
            <a:extLst>
              <a:ext uri="{FF2B5EF4-FFF2-40B4-BE49-F238E27FC236}">
                <a16:creationId xmlns:a16="http://schemas.microsoft.com/office/drawing/2014/main" id="{2B5CDC6F-6B21-4161-8BE1-52E3EDF4ACD3}"/>
              </a:ext>
            </a:extLst>
          </p:cNvPr>
          <p:cNvSpPr>
            <a:spLocks noGrp="1"/>
          </p:cNvSpPr>
          <p:nvPr/>
        </p:nvSpPr>
        <p:spPr>
          <a:xfrm>
            <a:off x="552450" y="1676400"/>
            <a:ext cx="9334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C6777"/>
                </a:solidFill>
                <a:latin typeface="Avenir Next"/>
                <a:ea typeface="Avenir Next"/>
                <a:cs typeface="Avenir Next"/>
              </a:defRPr>
            </a:pPr>
            <a:r>
              <a:rPr sz="1050" b="0">
                <a:solidFill>
                  <a:srgbClr val="5C6777"/>
                </a:solidFill>
                <a:latin typeface="Avenir Next"/>
                <a:ea typeface="Avenir Next"/>
                <a:cs typeface="Avenir Next"/>
              </a:rPr>
              <a:t>Le catalogue doit être présenté comme un outil de ciblage commercial. Pour ELTON, l'important n'est pas le nombre de modules disponibles, mais le bon module pour la bonne équipe au bon moment.</a:t>
            </a:r>
          </a:p>
        </p:txBody>
      </p:sp>
      <p:sp>
        <p:nvSpPr>
          <p:cNvPr id="6" name="Rectangle 5">
            <a:extLst>
              <a:ext uri="{FF2B5EF4-FFF2-40B4-BE49-F238E27FC236}">
                <a16:creationId xmlns:a16="http://schemas.microsoft.com/office/drawing/2014/main" id="{751561EF-F0C4-40C2-BFC7-17C0D6095015}"/>
              </a:ext>
            </a:extLst>
          </p:cNvPr>
          <p:cNvSpPr>
            <a:spLocks noGrp="1"/>
          </p:cNvSpPr>
          <p:nvPr/>
        </p:nvSpPr>
        <p:spPr>
          <a:xfrm>
            <a:off x="552450" y="2457450"/>
            <a:ext cx="4686300" cy="1466850"/>
          </a:xfrm>
          <a:prstGeom prst="rect">
            <a:avLst/>
          </a:prstGeom>
          <a:solidFill>
            <a:srgbClr val="FFFDFC"/>
          </a:solidFill>
          <a:ln w="9525">
            <a:solidFill>
              <a:srgbClr val="D9D1C6"/>
            </a:solidFill>
            <a:prstDash val="solid"/>
          </a:ln>
        </p:spPr>
      </p:sp>
      <p:sp>
        <p:nvSpPr>
          <p:cNvPr id="7" name="Rectangle 6">
            <a:extLst>
              <a:ext uri="{FF2B5EF4-FFF2-40B4-BE49-F238E27FC236}">
                <a16:creationId xmlns:a16="http://schemas.microsoft.com/office/drawing/2014/main" id="{DE2741EF-9593-4EAB-AE4A-03E2BEC00D22}"/>
              </a:ext>
            </a:extLst>
          </p:cNvPr>
          <p:cNvSpPr>
            <a:spLocks noGrp="1"/>
          </p:cNvSpPr>
          <p:nvPr/>
        </p:nvSpPr>
        <p:spPr>
          <a:xfrm>
            <a:off x="552450" y="2457450"/>
            <a:ext cx="76200" cy="1466850"/>
          </a:xfrm>
          <a:prstGeom prst="rect">
            <a:avLst/>
          </a:prstGeom>
          <a:solidFill>
            <a:srgbClr val="DE6A1F"/>
          </a:solidFill>
          <a:ln w="0">
            <a:solidFill>
              <a:srgbClr val="000000">
                <a:alpha val="0"/>
              </a:srgbClr>
            </a:solidFill>
            <a:prstDash val="solid"/>
          </a:ln>
        </p:spPr>
      </p:sp>
      <p:sp>
        <p:nvSpPr>
          <p:cNvPr id="8" name="Rectangle 7">
            <a:extLst>
              <a:ext uri="{FF2B5EF4-FFF2-40B4-BE49-F238E27FC236}">
                <a16:creationId xmlns:a16="http://schemas.microsoft.com/office/drawing/2014/main" id="{74CB00D1-2578-478E-A749-B8ED9D6A430B}"/>
              </a:ext>
            </a:extLst>
          </p:cNvPr>
          <p:cNvSpPr>
            <a:spLocks noGrp="1"/>
          </p:cNvSpPr>
          <p:nvPr/>
        </p:nvSpPr>
        <p:spPr>
          <a:xfrm>
            <a:off x="819150" y="2686050"/>
            <a:ext cx="3790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17263E"/>
                </a:solidFill>
                <a:latin typeface="Georgia"/>
                <a:ea typeface="Georgia"/>
                <a:cs typeface="Georgia"/>
              </a:defRPr>
            </a:pPr>
            <a:r>
              <a:rPr sz="1575" b="1">
                <a:solidFill>
                  <a:srgbClr val="17263E"/>
                </a:solidFill>
                <a:latin typeface="Georgia"/>
                <a:ea typeface="Georgia"/>
                <a:cs typeface="Georgia"/>
              </a:rPr>
              <a:t>Direction générale et CODIR</a:t>
            </a:r>
          </a:p>
        </p:txBody>
      </p:sp>
      <p:sp>
        <p:nvSpPr>
          <p:cNvPr id="9" name="Rectangle 8">
            <a:extLst>
              <a:ext uri="{FF2B5EF4-FFF2-40B4-BE49-F238E27FC236}">
                <a16:creationId xmlns:a16="http://schemas.microsoft.com/office/drawing/2014/main" id="{9219501B-F03A-49D5-B929-C7B38A74CEBB}"/>
              </a:ext>
            </a:extLst>
          </p:cNvPr>
          <p:cNvSpPr>
            <a:spLocks noGrp="1"/>
          </p:cNvSpPr>
          <p:nvPr/>
        </p:nvSpPr>
        <p:spPr>
          <a:xfrm>
            <a:off x="819150" y="314325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vision et stratégie IA</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gouvernance des usages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décision assistée et priorisation</a:t>
            </a:r>
          </a:p>
        </p:txBody>
      </p:sp>
      <p:sp>
        <p:nvSpPr>
          <p:cNvPr id="10" name="Rectangle 9">
            <a:extLst>
              <a:ext uri="{FF2B5EF4-FFF2-40B4-BE49-F238E27FC236}">
                <a16:creationId xmlns:a16="http://schemas.microsoft.com/office/drawing/2014/main" id="{5A4A8E93-06A7-4585-A3DF-A74A939A78D9}"/>
              </a:ext>
            </a:extLst>
          </p:cNvPr>
          <p:cNvSpPr>
            <a:spLocks noGrp="1"/>
          </p:cNvSpPr>
          <p:nvPr/>
        </p:nvSpPr>
        <p:spPr>
          <a:xfrm>
            <a:off x="6153150" y="2457450"/>
            <a:ext cx="4686300" cy="1466850"/>
          </a:xfrm>
          <a:prstGeom prst="rect">
            <a:avLst/>
          </a:prstGeom>
          <a:solidFill>
            <a:srgbClr val="FFFDFC"/>
          </a:solidFill>
          <a:ln w="9525">
            <a:solidFill>
              <a:srgbClr val="D9D1C6"/>
            </a:solidFill>
            <a:prstDash val="solid"/>
          </a:ln>
        </p:spPr>
      </p:sp>
      <p:sp>
        <p:nvSpPr>
          <p:cNvPr id="11" name="Rectangle 10">
            <a:extLst>
              <a:ext uri="{FF2B5EF4-FFF2-40B4-BE49-F238E27FC236}">
                <a16:creationId xmlns:a16="http://schemas.microsoft.com/office/drawing/2014/main" id="{BBF791BD-D2E0-4895-A7B5-510804A7C5CA}"/>
              </a:ext>
            </a:extLst>
          </p:cNvPr>
          <p:cNvSpPr>
            <a:spLocks noGrp="1"/>
          </p:cNvSpPr>
          <p:nvPr/>
        </p:nvSpPr>
        <p:spPr>
          <a:xfrm>
            <a:off x="6153150" y="2457450"/>
            <a:ext cx="76200" cy="1466850"/>
          </a:xfrm>
          <a:prstGeom prst="rect">
            <a:avLst/>
          </a:prstGeom>
          <a:solidFill>
            <a:srgbClr val="1D8A78"/>
          </a:solidFill>
          <a:ln w="0">
            <a:solidFill>
              <a:srgbClr val="000000">
                <a:alpha val="0"/>
              </a:srgbClr>
            </a:solidFill>
            <a:prstDash val="solid"/>
          </a:ln>
        </p:spPr>
      </p:sp>
      <p:sp>
        <p:nvSpPr>
          <p:cNvPr id="12" name="Rectangle 11">
            <a:extLst>
              <a:ext uri="{FF2B5EF4-FFF2-40B4-BE49-F238E27FC236}">
                <a16:creationId xmlns:a16="http://schemas.microsoft.com/office/drawing/2014/main" id="{C95D5024-F3EF-47A2-92AC-01C2D1977B67}"/>
              </a:ext>
            </a:extLst>
          </p:cNvPr>
          <p:cNvSpPr>
            <a:spLocks noGrp="1"/>
          </p:cNvSpPr>
          <p:nvPr/>
        </p:nvSpPr>
        <p:spPr>
          <a:xfrm>
            <a:off x="6419850" y="2686050"/>
            <a:ext cx="3790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17263E"/>
                </a:solidFill>
                <a:latin typeface="Georgia"/>
                <a:ea typeface="Georgia"/>
                <a:cs typeface="Georgia"/>
              </a:defRPr>
            </a:pPr>
            <a:r>
              <a:rPr sz="1575" b="1">
                <a:solidFill>
                  <a:srgbClr val="17263E"/>
                </a:solidFill>
                <a:latin typeface="Georgia"/>
                <a:ea typeface="Georgia"/>
                <a:cs typeface="Georgia"/>
              </a:rPr>
              <a:t>Finance, administratif et commercial</a:t>
            </a:r>
          </a:p>
        </p:txBody>
      </p:sp>
      <p:sp>
        <p:nvSpPr>
          <p:cNvPr id="13" name="Rectangle 12">
            <a:extLst>
              <a:ext uri="{FF2B5EF4-FFF2-40B4-BE49-F238E27FC236}">
                <a16:creationId xmlns:a16="http://schemas.microsoft.com/office/drawing/2014/main" id="{9B524569-CE6C-4F99-AB18-C387D18C238F}"/>
              </a:ext>
            </a:extLst>
          </p:cNvPr>
          <p:cNvSpPr>
            <a:spLocks noGrp="1"/>
          </p:cNvSpPr>
          <p:nvPr/>
        </p:nvSpPr>
        <p:spPr>
          <a:xfrm>
            <a:off x="6419850" y="314325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reporting assisté</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analyse documentaire</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rédaction et synthèse opérationnelles</a:t>
            </a:r>
          </a:p>
        </p:txBody>
      </p:sp>
      <p:sp>
        <p:nvSpPr>
          <p:cNvPr id="14" name="Rectangle 13">
            <a:extLst>
              <a:ext uri="{FF2B5EF4-FFF2-40B4-BE49-F238E27FC236}">
                <a16:creationId xmlns:a16="http://schemas.microsoft.com/office/drawing/2014/main" id="{E5F18CD3-C2B6-4CC8-A492-B02FFEC58F02}"/>
              </a:ext>
            </a:extLst>
          </p:cNvPr>
          <p:cNvSpPr>
            <a:spLocks noGrp="1"/>
          </p:cNvSpPr>
          <p:nvPr/>
        </p:nvSpPr>
        <p:spPr>
          <a:xfrm>
            <a:off x="552450" y="4248150"/>
            <a:ext cx="4686300" cy="1466850"/>
          </a:xfrm>
          <a:prstGeom prst="rect">
            <a:avLst/>
          </a:prstGeom>
          <a:solidFill>
            <a:srgbClr val="FFFDFC"/>
          </a:solidFill>
          <a:ln w="9525">
            <a:solidFill>
              <a:srgbClr val="D9D1C6"/>
            </a:solidFill>
            <a:prstDash val="solid"/>
          </a:ln>
        </p:spPr>
      </p:sp>
      <p:sp>
        <p:nvSpPr>
          <p:cNvPr id="15" name="Rectangle 14">
            <a:extLst>
              <a:ext uri="{FF2B5EF4-FFF2-40B4-BE49-F238E27FC236}">
                <a16:creationId xmlns:a16="http://schemas.microsoft.com/office/drawing/2014/main" id="{EBC2F990-8CC5-4D36-98F9-4502B0C6E4F3}"/>
              </a:ext>
            </a:extLst>
          </p:cNvPr>
          <p:cNvSpPr>
            <a:spLocks noGrp="1"/>
          </p:cNvSpPr>
          <p:nvPr/>
        </p:nvSpPr>
        <p:spPr>
          <a:xfrm>
            <a:off x="552450" y="4248150"/>
            <a:ext cx="76200" cy="1466850"/>
          </a:xfrm>
          <a:prstGeom prst="rect">
            <a:avLst/>
          </a:prstGeom>
          <a:solidFill>
            <a:srgbClr val="17263E"/>
          </a:solidFill>
          <a:ln w="0">
            <a:solidFill>
              <a:srgbClr val="000000">
                <a:alpha val="0"/>
              </a:srgbClr>
            </a:solidFill>
            <a:prstDash val="solid"/>
          </a:ln>
        </p:spPr>
      </p:sp>
      <p:sp>
        <p:nvSpPr>
          <p:cNvPr id="16" name="Rectangle 15">
            <a:extLst>
              <a:ext uri="{FF2B5EF4-FFF2-40B4-BE49-F238E27FC236}">
                <a16:creationId xmlns:a16="http://schemas.microsoft.com/office/drawing/2014/main" id="{2DA0954D-85E0-4C7F-B616-E4444C0ED7A7}"/>
              </a:ext>
            </a:extLst>
          </p:cNvPr>
          <p:cNvSpPr>
            <a:spLocks noGrp="1"/>
          </p:cNvSpPr>
          <p:nvPr/>
        </p:nvSpPr>
        <p:spPr>
          <a:xfrm>
            <a:off x="819150" y="4476750"/>
            <a:ext cx="3790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17263E"/>
                </a:solidFill>
                <a:latin typeface="Georgia"/>
                <a:ea typeface="Georgia"/>
                <a:cs typeface="Georgia"/>
              </a:defRPr>
            </a:pPr>
            <a:r>
              <a:rPr sz="1575" b="1">
                <a:solidFill>
                  <a:srgbClr val="17263E"/>
                </a:solidFill>
                <a:latin typeface="Georgia"/>
                <a:ea typeface="Georgia"/>
                <a:cs typeface="Georgia"/>
              </a:rPr>
              <a:t>Opérations, flotte et relation client</a:t>
            </a:r>
          </a:p>
        </p:txBody>
      </p:sp>
      <p:sp>
        <p:nvSpPr>
          <p:cNvPr id="17" name="Rectangle 16">
            <a:extLst>
              <a:ext uri="{FF2B5EF4-FFF2-40B4-BE49-F238E27FC236}">
                <a16:creationId xmlns:a16="http://schemas.microsoft.com/office/drawing/2014/main" id="{75218906-2D78-4228-8655-CD1765F4F39C}"/>
              </a:ext>
            </a:extLst>
          </p:cNvPr>
          <p:cNvSpPr>
            <a:spLocks noGrp="1"/>
          </p:cNvSpPr>
          <p:nvPr/>
        </p:nvSpPr>
        <p:spPr>
          <a:xfrm>
            <a:off x="819150" y="493395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procédures et FAQ internes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qualité de réponse</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suivi des demandes et exploitation des données</a:t>
            </a:r>
          </a:p>
        </p:txBody>
      </p:sp>
      <p:sp>
        <p:nvSpPr>
          <p:cNvPr id="18" name="Rectangle 17">
            <a:extLst>
              <a:ext uri="{FF2B5EF4-FFF2-40B4-BE49-F238E27FC236}">
                <a16:creationId xmlns:a16="http://schemas.microsoft.com/office/drawing/2014/main" id="{4E86241C-69E5-42CB-BF12-49C6E4B3A551}"/>
              </a:ext>
            </a:extLst>
          </p:cNvPr>
          <p:cNvSpPr>
            <a:spLocks noGrp="1"/>
          </p:cNvSpPr>
          <p:nvPr/>
        </p:nvSpPr>
        <p:spPr>
          <a:xfrm>
            <a:off x="6153150" y="4248150"/>
            <a:ext cx="4686300" cy="1466850"/>
          </a:xfrm>
          <a:prstGeom prst="rect">
            <a:avLst/>
          </a:prstGeom>
          <a:solidFill>
            <a:srgbClr val="FFFDFC"/>
          </a:solidFill>
          <a:ln w="9525">
            <a:solidFill>
              <a:srgbClr val="D9D1C6"/>
            </a:solidFill>
            <a:prstDash val="solid"/>
          </a:ln>
        </p:spPr>
      </p:sp>
      <p:sp>
        <p:nvSpPr>
          <p:cNvPr id="19" name="Rectangle 18">
            <a:extLst>
              <a:ext uri="{FF2B5EF4-FFF2-40B4-BE49-F238E27FC236}">
                <a16:creationId xmlns:a16="http://schemas.microsoft.com/office/drawing/2014/main" id="{15955380-D7DB-474B-9FB5-1FBD4C593877}"/>
              </a:ext>
            </a:extLst>
          </p:cNvPr>
          <p:cNvSpPr>
            <a:spLocks noGrp="1"/>
          </p:cNvSpPr>
          <p:nvPr/>
        </p:nvSpPr>
        <p:spPr>
          <a:xfrm>
            <a:off x="6153150" y="4248150"/>
            <a:ext cx="76200" cy="1466850"/>
          </a:xfrm>
          <a:prstGeom prst="rect">
            <a:avLst/>
          </a:prstGeom>
          <a:solidFill>
            <a:srgbClr val="DE6A1F"/>
          </a:solidFill>
          <a:ln w="0">
            <a:solidFill>
              <a:srgbClr val="000000">
                <a:alpha val="0"/>
              </a:srgbClr>
            </a:solidFill>
            <a:prstDash val="solid"/>
          </a:ln>
        </p:spPr>
      </p:sp>
      <p:sp>
        <p:nvSpPr>
          <p:cNvPr id="20" name="Rectangle 19">
            <a:extLst>
              <a:ext uri="{FF2B5EF4-FFF2-40B4-BE49-F238E27FC236}">
                <a16:creationId xmlns:a16="http://schemas.microsoft.com/office/drawing/2014/main" id="{97036BCC-6DFA-4033-924C-38D5E902F761}"/>
              </a:ext>
            </a:extLst>
          </p:cNvPr>
          <p:cNvSpPr>
            <a:spLocks noGrp="1"/>
          </p:cNvSpPr>
          <p:nvPr/>
        </p:nvSpPr>
        <p:spPr>
          <a:xfrm>
            <a:off x="6419850" y="4476750"/>
            <a:ext cx="3790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17263E"/>
                </a:solidFill>
                <a:latin typeface="Georgia"/>
                <a:ea typeface="Georgia"/>
                <a:cs typeface="Georgia"/>
              </a:defRPr>
            </a:pPr>
            <a:r>
              <a:rPr sz="1575" b="1">
                <a:solidFill>
                  <a:srgbClr val="17263E"/>
                </a:solidFill>
                <a:latin typeface="Georgia"/>
                <a:ea typeface="Georgia"/>
                <a:cs typeface="Georgia"/>
              </a:rPr>
              <a:t>IT, data et transformation</a:t>
            </a:r>
          </a:p>
        </p:txBody>
      </p:sp>
      <p:sp>
        <p:nvSpPr>
          <p:cNvPr id="21" name="Rectangle 20">
            <a:extLst>
              <a:ext uri="{FF2B5EF4-FFF2-40B4-BE49-F238E27FC236}">
                <a16:creationId xmlns:a16="http://schemas.microsoft.com/office/drawing/2014/main" id="{9B0F3AA2-7E0F-4403-88AC-A05FCA221111}"/>
              </a:ext>
            </a:extLst>
          </p:cNvPr>
          <p:cNvSpPr>
            <a:spLocks noGrp="1"/>
          </p:cNvSpPr>
          <p:nvPr/>
        </p:nvSpPr>
        <p:spPr>
          <a:xfrm>
            <a:off x="6419850" y="4933950"/>
            <a:ext cx="4000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intégration des outils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sécurité et rôles</a:t>
            </a:r>
          </a:p>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 pilotage et gouvernance du dispositif</a:t>
            </a:r>
          </a:p>
        </p:txBody>
      </p:sp>
      <p:sp>
        <p:nvSpPr>
          <p:cNvPr id="22" name="Rectangle 21">
            <a:extLst>
              <a:ext uri="{FF2B5EF4-FFF2-40B4-BE49-F238E27FC236}">
                <a16:creationId xmlns:a16="http://schemas.microsoft.com/office/drawing/2014/main" id="{E627F1C0-17B0-4DA1-82DA-6405073C86E4}"/>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23" name="Rectangle 22">
            <a:extLst>
              <a:ext uri="{FF2B5EF4-FFF2-40B4-BE49-F238E27FC236}">
                <a16:creationId xmlns:a16="http://schemas.microsoft.com/office/drawing/2014/main" id="{FAB8D758-BA08-439C-A324-2E72D7A496B9}"/>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Formation</a:t>
            </a:r>
          </a:p>
        </p:txBody>
      </p:sp>
      <p:sp>
        <p:nvSpPr>
          <p:cNvPr id="24" name="Rectangle 23">
            <a:extLst>
              <a:ext uri="{FF2B5EF4-FFF2-40B4-BE49-F238E27FC236}">
                <a16:creationId xmlns:a16="http://schemas.microsoft.com/office/drawing/2014/main" id="{B0DBBDDC-738D-4919-874E-AAAACE66DA5D}"/>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06</a:t>
            </a:r>
          </a:p>
        </p:txBody>
      </p:sp>
    </p:spTree>
    <p:extLst>
      <p:ext uri="{BB962C8B-B14F-4D97-AF65-F5344CB8AC3E}">
        <p14:creationId xmlns:p14="http://schemas.microsoft.com/office/powerpoint/2010/main" val="1868474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934FD2D-EE2F-417D-A0D5-0C454AD6ACFE}"/>
              </a:ext>
            </a:extLst>
          </p:cNvPr>
          <p:cNvSpPr>
            <a:spLocks noGrp="1"/>
          </p:cNvSpPr>
          <p:nvPr/>
        </p:nvSpPr>
        <p:spPr>
          <a:xfrm>
            <a:off x="0" y="0"/>
            <a:ext cx="12192000" cy="6858000"/>
          </a:xfrm>
          <a:prstGeom prst="rect">
            <a:avLst/>
          </a:prstGeom>
          <a:solidFill>
            <a:srgbClr val="102338"/>
          </a:solidFill>
          <a:ln w="0">
            <a:solidFill>
              <a:srgbClr val="000000">
                <a:alpha val="0"/>
              </a:srgbClr>
            </a:solidFill>
            <a:prstDash val="solid"/>
          </a:ln>
        </p:spPr>
      </p:sp>
      <p:sp>
        <p:nvSpPr>
          <p:cNvPr id="2" name="Rectangle 1">
            <a:extLst>
              <a:ext uri="{FF2B5EF4-FFF2-40B4-BE49-F238E27FC236}">
                <a16:creationId xmlns:a16="http://schemas.microsoft.com/office/drawing/2014/main" id="{470A10F9-1FDF-449E-BA3B-0E979610E30A}"/>
              </a:ext>
            </a:extLst>
          </p:cNvPr>
          <p:cNvSpPr>
            <a:spLocks noGrp="1"/>
          </p:cNvSpPr>
          <p:nvPr/>
        </p:nvSpPr>
        <p:spPr>
          <a:xfrm>
            <a:off x="552450" y="485775"/>
            <a:ext cx="95250" cy="95250"/>
          </a:xfrm>
          <a:prstGeom prst="rect">
            <a:avLst/>
          </a:prstGeom>
          <a:solidFill>
            <a:srgbClr val="1D8A78"/>
          </a:solidFill>
          <a:ln w="0">
            <a:solidFill>
              <a:srgbClr val="000000">
                <a:alpha val="0"/>
              </a:srgbClr>
            </a:solidFill>
            <a:prstDash val="solid"/>
          </a:ln>
        </p:spPr>
      </p:sp>
      <p:sp>
        <p:nvSpPr>
          <p:cNvPr id="3" name="Rectangle 2">
            <a:extLst>
              <a:ext uri="{FF2B5EF4-FFF2-40B4-BE49-F238E27FC236}">
                <a16:creationId xmlns:a16="http://schemas.microsoft.com/office/drawing/2014/main" id="{A5E37A6A-C235-4AE3-B963-F1706F064F86}"/>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C A D R E   D E   C O N F I A N C E</a:t>
            </a:r>
          </a:p>
        </p:txBody>
      </p:sp>
      <p:sp>
        <p:nvSpPr>
          <p:cNvPr id="4" name="Rectangle 3">
            <a:extLst>
              <a:ext uri="{FF2B5EF4-FFF2-40B4-BE49-F238E27FC236}">
                <a16:creationId xmlns:a16="http://schemas.microsoft.com/office/drawing/2014/main" id="{486C31DD-9559-43DC-B363-1B5793BD75ED}"/>
              </a:ext>
            </a:extLst>
          </p:cNvPr>
          <p:cNvSpPr>
            <a:spLocks noGrp="1"/>
          </p:cNvSpPr>
          <p:nvPr/>
        </p:nvSpPr>
        <p:spPr>
          <a:xfrm>
            <a:off x="552450" y="800100"/>
            <a:ext cx="81915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FFFFF"/>
                </a:solidFill>
                <a:latin typeface="Georgia"/>
                <a:ea typeface="Georgia"/>
                <a:cs typeface="Georgia"/>
              </a:defRPr>
            </a:pPr>
            <a:r>
              <a:rPr sz="2475" b="1">
                <a:solidFill>
                  <a:srgbClr val="FFFFFF"/>
                </a:solidFill>
                <a:latin typeface="Georgia"/>
                <a:ea typeface="Georgia"/>
                <a:cs typeface="Georgia"/>
              </a:rPr>
              <a:t>La confiance doit être pensée dès le départ, pas ajoutée après coup.</a:t>
            </a:r>
          </a:p>
        </p:txBody>
      </p:sp>
      <p:sp>
        <p:nvSpPr>
          <p:cNvPr id="5" name="Rectangle 4">
            <a:extLst>
              <a:ext uri="{FF2B5EF4-FFF2-40B4-BE49-F238E27FC236}">
                <a16:creationId xmlns:a16="http://schemas.microsoft.com/office/drawing/2014/main" id="{C55CF75A-FB7E-43EA-B9C3-36510E87140B}"/>
              </a:ext>
            </a:extLst>
          </p:cNvPr>
          <p:cNvSpPr>
            <a:spLocks noGrp="1"/>
          </p:cNvSpPr>
          <p:nvPr/>
        </p:nvSpPr>
        <p:spPr>
          <a:xfrm>
            <a:off x="552450" y="1676400"/>
            <a:ext cx="8572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D7E1EE"/>
                </a:solidFill>
                <a:latin typeface="Avenir Next"/>
                <a:ea typeface="Avenir Next"/>
                <a:cs typeface="Avenir Next"/>
              </a:defRPr>
            </a:pPr>
            <a:r>
              <a:rPr sz="1050" b="0">
                <a:solidFill>
                  <a:srgbClr val="D7E1EE"/>
                </a:solidFill>
                <a:latin typeface="Avenir Next"/>
                <a:ea typeface="Avenir Next"/>
                <a:cs typeface="Avenir Next"/>
              </a:rPr>
              <a:t>Sur ce type d'offre, la crédibilité vient autant du cadre de déploiement que des cas d'usage eux-mêmes. C'est un vrai différenciateur vis-à-vis d'une IA générique ou mal gouvernée.</a:t>
            </a:r>
          </a:p>
        </p:txBody>
      </p:sp>
      <p:sp>
        <p:nvSpPr>
          <p:cNvPr id="6" name="Rectangle 5">
            <a:extLst>
              <a:ext uri="{FF2B5EF4-FFF2-40B4-BE49-F238E27FC236}">
                <a16:creationId xmlns:a16="http://schemas.microsoft.com/office/drawing/2014/main" id="{8CDB0C6C-EAEF-4856-9078-C3EA5A03D9B0}"/>
              </a:ext>
            </a:extLst>
          </p:cNvPr>
          <p:cNvSpPr>
            <a:spLocks noGrp="1"/>
          </p:cNvSpPr>
          <p:nvPr/>
        </p:nvSpPr>
        <p:spPr>
          <a:xfrm>
            <a:off x="552450" y="2724150"/>
            <a:ext cx="2495550" cy="2362200"/>
          </a:xfrm>
          <a:prstGeom prst="rect">
            <a:avLst/>
          </a:prstGeom>
          <a:solidFill>
            <a:srgbClr val="173049"/>
          </a:solidFill>
          <a:ln w="9525">
            <a:solidFill>
              <a:srgbClr val="2B4C66"/>
            </a:solidFill>
            <a:prstDash val="solid"/>
          </a:ln>
        </p:spPr>
      </p:sp>
      <p:sp>
        <p:nvSpPr>
          <p:cNvPr id="7" name="Rectangle 6">
            <a:extLst>
              <a:ext uri="{FF2B5EF4-FFF2-40B4-BE49-F238E27FC236}">
                <a16:creationId xmlns:a16="http://schemas.microsoft.com/office/drawing/2014/main" id="{7F10B33E-CF9E-42AE-B5FD-68E06EDC95B7}"/>
              </a:ext>
            </a:extLst>
          </p:cNvPr>
          <p:cNvSpPr>
            <a:spLocks noGrp="1"/>
          </p:cNvSpPr>
          <p:nvPr/>
        </p:nvSpPr>
        <p:spPr>
          <a:xfrm>
            <a:off x="781050" y="2990850"/>
            <a:ext cx="361950" cy="19050"/>
          </a:xfrm>
          <a:prstGeom prst="rect">
            <a:avLst/>
          </a:prstGeom>
          <a:solidFill>
            <a:srgbClr val="DE6A1F"/>
          </a:solidFill>
          <a:ln w="0">
            <a:solidFill>
              <a:srgbClr val="000000">
                <a:alpha val="0"/>
              </a:srgbClr>
            </a:solidFill>
            <a:prstDash val="solid"/>
          </a:ln>
        </p:spPr>
      </p:sp>
      <p:sp>
        <p:nvSpPr>
          <p:cNvPr id="8" name="Rectangle 7">
            <a:extLst>
              <a:ext uri="{FF2B5EF4-FFF2-40B4-BE49-F238E27FC236}">
                <a16:creationId xmlns:a16="http://schemas.microsoft.com/office/drawing/2014/main" id="{6360AF14-30DF-4B2F-B3C5-B71693805D7C}"/>
              </a:ext>
            </a:extLst>
          </p:cNvPr>
          <p:cNvSpPr>
            <a:spLocks noGrp="1"/>
          </p:cNvSpPr>
          <p:nvPr/>
        </p:nvSpPr>
        <p:spPr>
          <a:xfrm>
            <a:off x="781050" y="3181350"/>
            <a:ext cx="17335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Georgia"/>
                <a:ea typeface="Georgia"/>
                <a:cs typeface="Georgia"/>
              </a:defRPr>
            </a:pPr>
            <a:r>
              <a:rPr sz="1500" b="1">
                <a:solidFill>
                  <a:srgbClr val="FFFFFF"/>
                </a:solidFill>
                <a:latin typeface="Georgia"/>
                <a:ea typeface="Georgia"/>
                <a:cs typeface="Georgia"/>
              </a:rPr>
              <a:t>Confidentialité</a:t>
            </a:r>
          </a:p>
        </p:txBody>
      </p:sp>
      <p:sp>
        <p:nvSpPr>
          <p:cNvPr id="9" name="Rectangle 8">
            <a:extLst>
              <a:ext uri="{FF2B5EF4-FFF2-40B4-BE49-F238E27FC236}">
                <a16:creationId xmlns:a16="http://schemas.microsoft.com/office/drawing/2014/main" id="{412DBB1A-D430-45BD-A0C8-865D049AE4C8}"/>
              </a:ext>
            </a:extLst>
          </p:cNvPr>
          <p:cNvSpPr>
            <a:spLocks noGrp="1"/>
          </p:cNvSpPr>
          <p:nvPr/>
        </p:nvSpPr>
        <p:spPr>
          <a:xfrm>
            <a:off x="781050" y="3638550"/>
            <a:ext cx="1962150" cy="971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D7E1EE"/>
                </a:solidFill>
                <a:latin typeface="Avenir Next"/>
                <a:ea typeface="Avenir Next"/>
                <a:cs typeface="Avenir Next"/>
              </a:defRPr>
            </a:pPr>
            <a:r>
              <a:rPr sz="938" b="0">
                <a:solidFill>
                  <a:srgbClr val="D7E1EE"/>
                </a:solidFill>
                <a:latin typeface="Avenir Next"/>
                <a:ea typeface="Avenir Next"/>
                <a:cs typeface="Avenir Next"/>
              </a:rPr>
              <a:t>aucune donnée sensible exposée sans règles claires, périmètre défini et validation de l'entreprise</a:t>
            </a:r>
          </a:p>
        </p:txBody>
      </p:sp>
      <p:sp>
        <p:nvSpPr>
          <p:cNvPr id="10" name="Rectangle 9">
            <a:extLst>
              <a:ext uri="{FF2B5EF4-FFF2-40B4-BE49-F238E27FC236}">
                <a16:creationId xmlns:a16="http://schemas.microsoft.com/office/drawing/2014/main" id="{A0DD453B-E67F-440B-BE74-EE423F11A30C}"/>
              </a:ext>
            </a:extLst>
          </p:cNvPr>
          <p:cNvSpPr>
            <a:spLocks noGrp="1"/>
          </p:cNvSpPr>
          <p:nvPr/>
        </p:nvSpPr>
        <p:spPr>
          <a:xfrm>
            <a:off x="3314700" y="2724150"/>
            <a:ext cx="2495550" cy="2362200"/>
          </a:xfrm>
          <a:prstGeom prst="rect">
            <a:avLst/>
          </a:prstGeom>
          <a:solidFill>
            <a:srgbClr val="16324B"/>
          </a:solidFill>
          <a:ln w="9525">
            <a:solidFill>
              <a:srgbClr val="1D8A78"/>
            </a:solidFill>
            <a:prstDash val="solid"/>
          </a:ln>
        </p:spPr>
      </p:sp>
      <p:sp>
        <p:nvSpPr>
          <p:cNvPr id="11" name="Rectangle 10">
            <a:extLst>
              <a:ext uri="{FF2B5EF4-FFF2-40B4-BE49-F238E27FC236}">
                <a16:creationId xmlns:a16="http://schemas.microsoft.com/office/drawing/2014/main" id="{348DDB3D-8E1C-472F-8DAC-E84E912F061F}"/>
              </a:ext>
            </a:extLst>
          </p:cNvPr>
          <p:cNvSpPr>
            <a:spLocks noGrp="1"/>
          </p:cNvSpPr>
          <p:nvPr/>
        </p:nvSpPr>
        <p:spPr>
          <a:xfrm>
            <a:off x="3543300" y="2990850"/>
            <a:ext cx="361950" cy="19050"/>
          </a:xfrm>
          <a:prstGeom prst="rect">
            <a:avLst/>
          </a:prstGeom>
          <a:solidFill>
            <a:srgbClr val="1D8A78"/>
          </a:solidFill>
          <a:ln w="0">
            <a:solidFill>
              <a:srgbClr val="000000">
                <a:alpha val="0"/>
              </a:srgbClr>
            </a:solidFill>
            <a:prstDash val="solid"/>
          </a:ln>
        </p:spPr>
      </p:sp>
      <p:sp>
        <p:nvSpPr>
          <p:cNvPr id="12" name="Rectangle 11">
            <a:extLst>
              <a:ext uri="{FF2B5EF4-FFF2-40B4-BE49-F238E27FC236}">
                <a16:creationId xmlns:a16="http://schemas.microsoft.com/office/drawing/2014/main" id="{50B20246-FFE8-4F96-ABF2-907E303B9E4E}"/>
              </a:ext>
            </a:extLst>
          </p:cNvPr>
          <p:cNvSpPr>
            <a:spLocks noGrp="1"/>
          </p:cNvSpPr>
          <p:nvPr/>
        </p:nvSpPr>
        <p:spPr>
          <a:xfrm>
            <a:off x="3543300" y="3181350"/>
            <a:ext cx="17335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Georgia"/>
                <a:ea typeface="Georgia"/>
                <a:cs typeface="Georgia"/>
              </a:defRPr>
            </a:pPr>
            <a:r>
              <a:rPr sz="1500" b="1">
                <a:solidFill>
                  <a:srgbClr val="FFFFFF"/>
                </a:solidFill>
                <a:latin typeface="Georgia"/>
                <a:ea typeface="Georgia"/>
                <a:cs typeface="Georgia"/>
              </a:rPr>
              <a:t>Rôles et accès</a:t>
            </a:r>
          </a:p>
        </p:txBody>
      </p:sp>
      <p:sp>
        <p:nvSpPr>
          <p:cNvPr id="13" name="Rectangle 12">
            <a:extLst>
              <a:ext uri="{FF2B5EF4-FFF2-40B4-BE49-F238E27FC236}">
                <a16:creationId xmlns:a16="http://schemas.microsoft.com/office/drawing/2014/main" id="{2859DF7A-4919-4542-8645-275A8A9EE58B}"/>
              </a:ext>
            </a:extLst>
          </p:cNvPr>
          <p:cNvSpPr>
            <a:spLocks noGrp="1"/>
          </p:cNvSpPr>
          <p:nvPr/>
        </p:nvSpPr>
        <p:spPr>
          <a:xfrm>
            <a:off x="3543300" y="3638550"/>
            <a:ext cx="1962150" cy="971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D7E1EE"/>
                </a:solidFill>
                <a:latin typeface="Avenir Next"/>
                <a:ea typeface="Avenir Next"/>
                <a:cs typeface="Avenir Next"/>
              </a:defRPr>
            </a:pPr>
            <a:r>
              <a:rPr sz="938" b="0">
                <a:solidFill>
                  <a:srgbClr val="D7E1EE"/>
                </a:solidFill>
                <a:latin typeface="Avenir Next"/>
                <a:ea typeface="Avenir Next"/>
                <a:cs typeface="Avenir Next"/>
              </a:rPr>
              <a:t>les usages sont cadrés par les responsabilités, les droits d'accès et le niveau de sensibilité</a:t>
            </a:r>
          </a:p>
        </p:txBody>
      </p:sp>
      <p:sp>
        <p:nvSpPr>
          <p:cNvPr id="14" name="Rectangle 13">
            <a:extLst>
              <a:ext uri="{FF2B5EF4-FFF2-40B4-BE49-F238E27FC236}">
                <a16:creationId xmlns:a16="http://schemas.microsoft.com/office/drawing/2014/main" id="{0C7DF79F-7CD0-45C8-AD41-FC4F73BD9A20}"/>
              </a:ext>
            </a:extLst>
          </p:cNvPr>
          <p:cNvSpPr>
            <a:spLocks noGrp="1"/>
          </p:cNvSpPr>
          <p:nvPr/>
        </p:nvSpPr>
        <p:spPr>
          <a:xfrm>
            <a:off x="6076950" y="2724150"/>
            <a:ext cx="2495550" cy="2362200"/>
          </a:xfrm>
          <a:prstGeom prst="rect">
            <a:avLst/>
          </a:prstGeom>
          <a:solidFill>
            <a:srgbClr val="173049"/>
          </a:solidFill>
          <a:ln w="9525">
            <a:solidFill>
              <a:srgbClr val="2B4C66"/>
            </a:solidFill>
            <a:prstDash val="solid"/>
          </a:ln>
        </p:spPr>
      </p:sp>
      <p:sp>
        <p:nvSpPr>
          <p:cNvPr id="15" name="Rectangle 14">
            <a:extLst>
              <a:ext uri="{FF2B5EF4-FFF2-40B4-BE49-F238E27FC236}">
                <a16:creationId xmlns:a16="http://schemas.microsoft.com/office/drawing/2014/main" id="{2873B453-CC1D-44FB-844E-9501A0BCC353}"/>
              </a:ext>
            </a:extLst>
          </p:cNvPr>
          <p:cNvSpPr>
            <a:spLocks noGrp="1"/>
          </p:cNvSpPr>
          <p:nvPr/>
        </p:nvSpPr>
        <p:spPr>
          <a:xfrm>
            <a:off x="6305550" y="2990850"/>
            <a:ext cx="361950" cy="19050"/>
          </a:xfrm>
          <a:prstGeom prst="rect">
            <a:avLst/>
          </a:prstGeom>
          <a:solidFill>
            <a:srgbClr val="DE6A1F"/>
          </a:solidFill>
          <a:ln w="0">
            <a:solidFill>
              <a:srgbClr val="000000">
                <a:alpha val="0"/>
              </a:srgbClr>
            </a:solidFill>
            <a:prstDash val="solid"/>
          </a:ln>
        </p:spPr>
      </p:sp>
      <p:sp>
        <p:nvSpPr>
          <p:cNvPr id="16" name="Rectangle 15">
            <a:extLst>
              <a:ext uri="{FF2B5EF4-FFF2-40B4-BE49-F238E27FC236}">
                <a16:creationId xmlns:a16="http://schemas.microsoft.com/office/drawing/2014/main" id="{F1C2481A-14BC-4EFF-97BD-C165C004C131}"/>
              </a:ext>
            </a:extLst>
          </p:cNvPr>
          <p:cNvSpPr>
            <a:spLocks noGrp="1"/>
          </p:cNvSpPr>
          <p:nvPr/>
        </p:nvSpPr>
        <p:spPr>
          <a:xfrm>
            <a:off x="6305550" y="3181350"/>
            <a:ext cx="17335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Georgia"/>
                <a:ea typeface="Georgia"/>
                <a:cs typeface="Georgia"/>
              </a:defRPr>
            </a:pPr>
            <a:r>
              <a:rPr sz="1500" b="1">
                <a:solidFill>
                  <a:srgbClr val="FFFFFF"/>
                </a:solidFill>
                <a:latin typeface="Georgia"/>
                <a:ea typeface="Georgia"/>
                <a:cs typeface="Georgia"/>
              </a:rPr>
              <a:t>Validation humaine</a:t>
            </a:r>
          </a:p>
        </p:txBody>
      </p:sp>
      <p:sp>
        <p:nvSpPr>
          <p:cNvPr id="17" name="Rectangle 16">
            <a:extLst>
              <a:ext uri="{FF2B5EF4-FFF2-40B4-BE49-F238E27FC236}">
                <a16:creationId xmlns:a16="http://schemas.microsoft.com/office/drawing/2014/main" id="{E55EC578-84BF-4BBB-B0F4-1EDDF01D6C8A}"/>
              </a:ext>
            </a:extLst>
          </p:cNvPr>
          <p:cNvSpPr>
            <a:spLocks noGrp="1"/>
          </p:cNvSpPr>
          <p:nvPr/>
        </p:nvSpPr>
        <p:spPr>
          <a:xfrm>
            <a:off x="6305550" y="3638550"/>
            <a:ext cx="1962150" cy="971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D7E1EE"/>
                </a:solidFill>
                <a:latin typeface="Avenir Next"/>
                <a:ea typeface="Avenir Next"/>
                <a:cs typeface="Avenir Next"/>
              </a:defRPr>
            </a:pPr>
            <a:r>
              <a:rPr sz="938" b="0">
                <a:solidFill>
                  <a:srgbClr val="D7E1EE"/>
                </a:solidFill>
                <a:latin typeface="Avenir Next"/>
                <a:ea typeface="Avenir Next"/>
                <a:cs typeface="Avenir Next"/>
              </a:rPr>
              <a:t>les automatisations critiques restent revues et supervisées, surtout lorsqu'elles touchent au client ou à la décision</a:t>
            </a:r>
          </a:p>
        </p:txBody>
      </p:sp>
      <p:sp>
        <p:nvSpPr>
          <p:cNvPr id="18" name="Rectangle 17">
            <a:extLst>
              <a:ext uri="{FF2B5EF4-FFF2-40B4-BE49-F238E27FC236}">
                <a16:creationId xmlns:a16="http://schemas.microsoft.com/office/drawing/2014/main" id="{501965CB-87F0-434E-B435-BB146BD04570}"/>
              </a:ext>
            </a:extLst>
          </p:cNvPr>
          <p:cNvSpPr>
            <a:spLocks noGrp="1"/>
          </p:cNvSpPr>
          <p:nvPr/>
        </p:nvSpPr>
        <p:spPr>
          <a:xfrm>
            <a:off x="8839200" y="2724150"/>
            <a:ext cx="2495550" cy="2362200"/>
          </a:xfrm>
          <a:prstGeom prst="rect">
            <a:avLst/>
          </a:prstGeom>
          <a:solidFill>
            <a:srgbClr val="173049"/>
          </a:solidFill>
          <a:ln w="9525">
            <a:solidFill>
              <a:srgbClr val="2B4C66"/>
            </a:solidFill>
            <a:prstDash val="solid"/>
          </a:ln>
        </p:spPr>
      </p:sp>
      <p:sp>
        <p:nvSpPr>
          <p:cNvPr id="19" name="Rectangle 18">
            <a:extLst>
              <a:ext uri="{FF2B5EF4-FFF2-40B4-BE49-F238E27FC236}">
                <a16:creationId xmlns:a16="http://schemas.microsoft.com/office/drawing/2014/main" id="{B0617FD0-E459-466B-8608-4543187875ED}"/>
              </a:ext>
            </a:extLst>
          </p:cNvPr>
          <p:cNvSpPr>
            <a:spLocks noGrp="1"/>
          </p:cNvSpPr>
          <p:nvPr/>
        </p:nvSpPr>
        <p:spPr>
          <a:xfrm>
            <a:off x="9067800" y="2990850"/>
            <a:ext cx="361950" cy="19050"/>
          </a:xfrm>
          <a:prstGeom prst="rect">
            <a:avLst/>
          </a:prstGeom>
          <a:solidFill>
            <a:srgbClr val="1D8A78"/>
          </a:solidFill>
          <a:ln w="0">
            <a:solidFill>
              <a:srgbClr val="000000">
                <a:alpha val="0"/>
              </a:srgbClr>
            </a:solidFill>
            <a:prstDash val="solid"/>
          </a:ln>
        </p:spPr>
      </p:sp>
      <p:sp>
        <p:nvSpPr>
          <p:cNvPr id="20" name="Rectangle 19">
            <a:extLst>
              <a:ext uri="{FF2B5EF4-FFF2-40B4-BE49-F238E27FC236}">
                <a16:creationId xmlns:a16="http://schemas.microsoft.com/office/drawing/2014/main" id="{5184066E-D5F8-4FC5-938D-A0A2F34230D7}"/>
              </a:ext>
            </a:extLst>
          </p:cNvPr>
          <p:cNvSpPr>
            <a:spLocks noGrp="1"/>
          </p:cNvSpPr>
          <p:nvPr/>
        </p:nvSpPr>
        <p:spPr>
          <a:xfrm>
            <a:off x="9067800" y="3181350"/>
            <a:ext cx="17335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FFFFF"/>
                </a:solidFill>
                <a:latin typeface="Georgia"/>
                <a:ea typeface="Georgia"/>
                <a:cs typeface="Georgia"/>
              </a:defRPr>
            </a:pPr>
            <a:r>
              <a:rPr sz="1500" b="1">
                <a:solidFill>
                  <a:srgbClr val="FFFFFF"/>
                </a:solidFill>
                <a:latin typeface="Georgia"/>
                <a:ea typeface="Georgia"/>
                <a:cs typeface="Georgia"/>
              </a:rPr>
              <a:t>Déploiement progressif</a:t>
            </a:r>
          </a:p>
        </p:txBody>
      </p:sp>
      <p:sp>
        <p:nvSpPr>
          <p:cNvPr id="21" name="Rectangle 20">
            <a:extLst>
              <a:ext uri="{FF2B5EF4-FFF2-40B4-BE49-F238E27FC236}">
                <a16:creationId xmlns:a16="http://schemas.microsoft.com/office/drawing/2014/main" id="{B2F2AB6F-135C-41F6-AD40-7761F55467B9}"/>
              </a:ext>
            </a:extLst>
          </p:cNvPr>
          <p:cNvSpPr>
            <a:spLocks noGrp="1"/>
          </p:cNvSpPr>
          <p:nvPr/>
        </p:nvSpPr>
        <p:spPr>
          <a:xfrm>
            <a:off x="9067800" y="3638550"/>
            <a:ext cx="1962150" cy="971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D7E1EE"/>
                </a:solidFill>
                <a:latin typeface="Avenir Next"/>
                <a:ea typeface="Avenir Next"/>
                <a:cs typeface="Avenir Next"/>
              </a:defRPr>
            </a:pPr>
            <a:r>
              <a:rPr sz="938" b="0">
                <a:solidFill>
                  <a:srgbClr val="D7E1EE"/>
                </a:solidFill>
                <a:latin typeface="Avenir Next"/>
                <a:ea typeface="Avenir Next"/>
                <a:cs typeface="Avenir Next"/>
              </a:rPr>
              <a:t>on commence restreint, on mesure, on sécurise, puis on élargit seulement ce qui fonctionne réellement</a:t>
            </a:r>
          </a:p>
        </p:txBody>
      </p:sp>
      <p:sp>
        <p:nvSpPr>
          <p:cNvPr id="22" name="Rectangle 21">
            <a:extLst>
              <a:ext uri="{FF2B5EF4-FFF2-40B4-BE49-F238E27FC236}">
                <a16:creationId xmlns:a16="http://schemas.microsoft.com/office/drawing/2014/main" id="{BEA636FC-F09C-4CA1-BC1D-B2DC5A6E1984}"/>
              </a:ext>
            </a:extLst>
          </p:cNvPr>
          <p:cNvSpPr>
            <a:spLocks noGrp="1"/>
          </p:cNvSpPr>
          <p:nvPr/>
        </p:nvSpPr>
        <p:spPr>
          <a:xfrm>
            <a:off x="552450" y="5581650"/>
            <a:ext cx="10287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FFFF"/>
                </a:solidFill>
                <a:latin typeface="Avenir Next"/>
                <a:ea typeface="Avenir Next"/>
                <a:cs typeface="Avenir Next"/>
              </a:defRPr>
            </a:pPr>
            <a:r>
              <a:rPr sz="975" b="1">
                <a:solidFill>
                  <a:srgbClr val="FFFFFF"/>
                </a:solidFill>
                <a:latin typeface="Avenir Next"/>
                <a:ea typeface="Avenir Next"/>
                <a:cs typeface="Avenir Next"/>
              </a:rPr>
              <a:t>Message à faire passer : une IA utile, maîtrisable, compatible avec les exigences de confidentialité, de contrôle et de performance d'une entreprise comme ELTON.</a:t>
            </a:r>
          </a:p>
        </p:txBody>
      </p:sp>
      <p:sp>
        <p:nvSpPr>
          <p:cNvPr id="23" name="Rectangle 22">
            <a:extLst>
              <a:ext uri="{FF2B5EF4-FFF2-40B4-BE49-F238E27FC236}">
                <a16:creationId xmlns:a16="http://schemas.microsoft.com/office/drawing/2014/main" id="{72B6B088-14C2-434B-87F6-660ECD7B0A4A}"/>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24" name="Rectangle 23">
            <a:extLst>
              <a:ext uri="{FF2B5EF4-FFF2-40B4-BE49-F238E27FC236}">
                <a16:creationId xmlns:a16="http://schemas.microsoft.com/office/drawing/2014/main" id="{CABD5B2E-82AE-48C7-BB6F-033F24410CFF}"/>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Gouvernance</a:t>
            </a:r>
          </a:p>
        </p:txBody>
      </p:sp>
      <p:sp>
        <p:nvSpPr>
          <p:cNvPr id="25" name="Rectangle 24">
            <a:extLst>
              <a:ext uri="{FF2B5EF4-FFF2-40B4-BE49-F238E27FC236}">
                <a16:creationId xmlns:a16="http://schemas.microsoft.com/office/drawing/2014/main" id="{F9D37E80-7675-4862-9918-6B8D3879B092}"/>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07</a:t>
            </a:r>
          </a:p>
        </p:txBody>
      </p:sp>
    </p:spTree>
    <p:extLst>
      <p:ext uri="{BB962C8B-B14F-4D97-AF65-F5344CB8AC3E}">
        <p14:creationId xmlns:p14="http://schemas.microsoft.com/office/powerpoint/2010/main" val="1642699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1DFB0E53-C65D-4750-979B-340F38410E6D}"/>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2CD44C15-7A5C-4139-AC49-8951251D6888}"/>
              </a:ext>
            </a:extLst>
          </p:cNvPr>
          <p:cNvSpPr>
            <a:spLocks noGrp="1"/>
          </p:cNvSpPr>
          <p:nvPr/>
        </p:nvSpPr>
        <p:spPr>
          <a:xfrm>
            <a:off x="552450" y="485775"/>
            <a:ext cx="95250" cy="952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67DED4E5-6BF8-4A66-BD42-6BDEF196673B}"/>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M E S U R E   D E   L A   V A L E U R</a:t>
            </a:r>
          </a:p>
        </p:txBody>
      </p:sp>
      <p:sp>
        <p:nvSpPr>
          <p:cNvPr id="4" name="Rectangle 3">
            <a:extLst>
              <a:ext uri="{FF2B5EF4-FFF2-40B4-BE49-F238E27FC236}">
                <a16:creationId xmlns:a16="http://schemas.microsoft.com/office/drawing/2014/main" id="{1BEBDECD-90AF-4A25-BEF9-D2A125DBD5B4}"/>
              </a:ext>
            </a:extLst>
          </p:cNvPr>
          <p:cNvSpPr>
            <a:spLocks noGrp="1"/>
          </p:cNvSpPr>
          <p:nvPr/>
        </p:nvSpPr>
        <p:spPr>
          <a:xfrm>
            <a:off x="552450" y="800100"/>
            <a:ext cx="85725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7263E"/>
                </a:solidFill>
                <a:latin typeface="Georgia"/>
                <a:ea typeface="Georgia"/>
                <a:cs typeface="Georgia"/>
              </a:defRPr>
            </a:pPr>
            <a:r>
              <a:rPr sz="2475" b="1">
                <a:solidFill>
                  <a:srgbClr val="17263E"/>
                </a:solidFill>
                <a:latin typeface="Georgia"/>
                <a:ea typeface="Georgia"/>
                <a:cs typeface="Georgia"/>
              </a:rPr>
              <a:t>Le pilote doit être jugé sur quelques indicateurs business simples.</a:t>
            </a:r>
          </a:p>
        </p:txBody>
      </p:sp>
      <p:sp>
        <p:nvSpPr>
          <p:cNvPr id="5" name="Rectangle 4">
            <a:extLst>
              <a:ext uri="{FF2B5EF4-FFF2-40B4-BE49-F238E27FC236}">
                <a16:creationId xmlns:a16="http://schemas.microsoft.com/office/drawing/2014/main" id="{18132881-C8B1-481F-B072-52D559704177}"/>
              </a:ext>
            </a:extLst>
          </p:cNvPr>
          <p:cNvSpPr>
            <a:spLocks noGrp="1"/>
          </p:cNvSpPr>
          <p:nvPr/>
        </p:nvSpPr>
        <p:spPr>
          <a:xfrm>
            <a:off x="552450" y="1676400"/>
            <a:ext cx="9334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C6777"/>
                </a:solidFill>
                <a:latin typeface="Avenir Next"/>
                <a:ea typeface="Avenir Next"/>
                <a:cs typeface="Avenir Next"/>
              </a:defRPr>
            </a:pPr>
            <a:r>
              <a:rPr sz="1050" b="0">
                <a:solidFill>
                  <a:srgbClr val="5C6777"/>
                </a:solidFill>
                <a:latin typeface="Avenir Next"/>
                <a:ea typeface="Avenir Next"/>
                <a:cs typeface="Avenir Next"/>
              </a:rPr>
              <a:t>Le feedback demandait du ROI et des résultats mesurables. La meilleure réponse, sans inventer de chiffres, est de montrer dès maintenant ce que la direction pourra mesurer pendant le pilote.</a:t>
            </a:r>
          </a:p>
        </p:txBody>
      </p:sp>
      <p:sp>
        <p:nvSpPr>
          <p:cNvPr id="6" name="Rectangle 5">
            <a:extLst>
              <a:ext uri="{FF2B5EF4-FFF2-40B4-BE49-F238E27FC236}">
                <a16:creationId xmlns:a16="http://schemas.microsoft.com/office/drawing/2014/main" id="{CF5D9AF7-A886-4F66-A9C9-E6A4E43447AA}"/>
              </a:ext>
            </a:extLst>
          </p:cNvPr>
          <p:cNvSpPr>
            <a:spLocks noGrp="1"/>
          </p:cNvSpPr>
          <p:nvPr/>
        </p:nvSpPr>
        <p:spPr>
          <a:xfrm>
            <a:off x="552450" y="2667000"/>
            <a:ext cx="9525" cy="571500"/>
          </a:xfrm>
          <a:prstGeom prst="rect">
            <a:avLst/>
          </a:prstGeom>
          <a:solidFill>
            <a:srgbClr val="DE6A1F"/>
          </a:solidFill>
          <a:ln w="0">
            <a:solidFill>
              <a:srgbClr val="000000">
                <a:alpha val="0"/>
              </a:srgbClr>
            </a:solidFill>
            <a:prstDash val="solid"/>
          </a:ln>
        </p:spPr>
      </p:sp>
      <p:sp>
        <p:nvSpPr>
          <p:cNvPr id="7" name="Rectangle 6">
            <a:extLst>
              <a:ext uri="{FF2B5EF4-FFF2-40B4-BE49-F238E27FC236}">
                <a16:creationId xmlns:a16="http://schemas.microsoft.com/office/drawing/2014/main" id="{3104A2D5-C270-4896-9BBB-FD1DF9A54816}"/>
              </a:ext>
            </a:extLst>
          </p:cNvPr>
          <p:cNvSpPr>
            <a:spLocks noGrp="1"/>
          </p:cNvSpPr>
          <p:nvPr/>
        </p:nvSpPr>
        <p:spPr>
          <a:xfrm>
            <a:off x="704850" y="272415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a:solidFill>
                  <a:srgbClr val="17263E"/>
                </a:solidFill>
                <a:latin typeface="Georgia"/>
                <a:ea typeface="Georgia"/>
                <a:cs typeface="Georgia"/>
              </a:rPr>
              <a:t>Temps</a:t>
            </a:r>
          </a:p>
        </p:txBody>
      </p:sp>
      <p:sp>
        <p:nvSpPr>
          <p:cNvPr id="8" name="Rectangle 7">
            <a:extLst>
              <a:ext uri="{FF2B5EF4-FFF2-40B4-BE49-F238E27FC236}">
                <a16:creationId xmlns:a16="http://schemas.microsoft.com/office/drawing/2014/main" id="{A608F0E9-1ED4-4E8A-9A46-27F5C967331E}"/>
              </a:ext>
            </a:extLst>
          </p:cNvPr>
          <p:cNvSpPr>
            <a:spLocks noGrp="1"/>
          </p:cNvSpPr>
          <p:nvPr/>
        </p:nvSpPr>
        <p:spPr>
          <a:xfrm>
            <a:off x="704850" y="31051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Heures récupérées</a:t>
            </a:r>
          </a:p>
        </p:txBody>
      </p:sp>
      <p:sp>
        <p:nvSpPr>
          <p:cNvPr id="9" name="Rectangle 8">
            <a:extLst>
              <a:ext uri="{FF2B5EF4-FFF2-40B4-BE49-F238E27FC236}">
                <a16:creationId xmlns:a16="http://schemas.microsoft.com/office/drawing/2014/main" id="{3A8BD9B3-3BCB-44C5-8C05-AB8ACABDBBCB}"/>
              </a:ext>
            </a:extLst>
          </p:cNvPr>
          <p:cNvSpPr>
            <a:spLocks noGrp="1"/>
          </p:cNvSpPr>
          <p:nvPr/>
        </p:nvSpPr>
        <p:spPr>
          <a:xfrm>
            <a:off x="704850" y="32766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reporting, relances, recherche d'information</a:t>
            </a:r>
          </a:p>
        </p:txBody>
      </p:sp>
      <p:sp>
        <p:nvSpPr>
          <p:cNvPr id="10" name="Rectangle 9">
            <a:extLst>
              <a:ext uri="{FF2B5EF4-FFF2-40B4-BE49-F238E27FC236}">
                <a16:creationId xmlns:a16="http://schemas.microsoft.com/office/drawing/2014/main" id="{AC3BD58F-AFB4-4C2C-8786-CF6CB208E8D0}"/>
              </a:ext>
            </a:extLst>
          </p:cNvPr>
          <p:cNvSpPr>
            <a:spLocks noGrp="1"/>
          </p:cNvSpPr>
          <p:nvPr/>
        </p:nvSpPr>
        <p:spPr>
          <a:xfrm>
            <a:off x="3238500" y="2667000"/>
            <a:ext cx="9525" cy="571500"/>
          </a:xfrm>
          <a:prstGeom prst="rect">
            <a:avLst/>
          </a:prstGeom>
          <a:solidFill>
            <a:srgbClr val="1D8A78"/>
          </a:solidFill>
          <a:ln w="0">
            <a:solidFill>
              <a:srgbClr val="000000">
                <a:alpha val="0"/>
              </a:srgbClr>
            </a:solidFill>
            <a:prstDash val="solid"/>
          </a:ln>
        </p:spPr>
      </p:sp>
      <p:sp>
        <p:nvSpPr>
          <p:cNvPr id="11" name="Rectangle 10">
            <a:extLst>
              <a:ext uri="{FF2B5EF4-FFF2-40B4-BE49-F238E27FC236}">
                <a16:creationId xmlns:a16="http://schemas.microsoft.com/office/drawing/2014/main" id="{0318FDB4-7974-4095-BDF8-A8615A1246C9}"/>
              </a:ext>
            </a:extLst>
          </p:cNvPr>
          <p:cNvSpPr>
            <a:spLocks noGrp="1"/>
          </p:cNvSpPr>
          <p:nvPr/>
        </p:nvSpPr>
        <p:spPr>
          <a:xfrm>
            <a:off x="3390900" y="272415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a:solidFill>
                  <a:srgbClr val="17263E"/>
                </a:solidFill>
                <a:latin typeface="Georgia"/>
                <a:ea typeface="Georgia"/>
                <a:cs typeface="Georgia"/>
              </a:rPr>
              <a:t>Qualité</a:t>
            </a:r>
          </a:p>
        </p:txBody>
      </p:sp>
      <p:sp>
        <p:nvSpPr>
          <p:cNvPr id="12" name="Rectangle 11">
            <a:extLst>
              <a:ext uri="{FF2B5EF4-FFF2-40B4-BE49-F238E27FC236}">
                <a16:creationId xmlns:a16="http://schemas.microsoft.com/office/drawing/2014/main" id="{EF30DB14-4F8A-40FA-888E-343A351C1EF6}"/>
              </a:ext>
            </a:extLst>
          </p:cNvPr>
          <p:cNvSpPr>
            <a:spLocks noGrp="1"/>
          </p:cNvSpPr>
          <p:nvPr/>
        </p:nvSpPr>
        <p:spPr>
          <a:xfrm>
            <a:off x="3390900" y="31051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Erreurs et re-saisies</a:t>
            </a:r>
          </a:p>
        </p:txBody>
      </p:sp>
      <p:sp>
        <p:nvSpPr>
          <p:cNvPr id="13" name="Rectangle 12">
            <a:extLst>
              <a:ext uri="{FF2B5EF4-FFF2-40B4-BE49-F238E27FC236}">
                <a16:creationId xmlns:a16="http://schemas.microsoft.com/office/drawing/2014/main" id="{E2AC8C95-102C-4FB9-8DEC-556EC4DD2F99}"/>
              </a:ext>
            </a:extLst>
          </p:cNvPr>
          <p:cNvSpPr>
            <a:spLocks noGrp="1"/>
          </p:cNvSpPr>
          <p:nvPr/>
        </p:nvSpPr>
        <p:spPr>
          <a:xfrm>
            <a:off x="3390900" y="32766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cohérence, conformité, fiabilité</a:t>
            </a:r>
          </a:p>
        </p:txBody>
      </p:sp>
      <p:sp>
        <p:nvSpPr>
          <p:cNvPr id="14" name="Rectangle 13">
            <a:extLst>
              <a:ext uri="{FF2B5EF4-FFF2-40B4-BE49-F238E27FC236}">
                <a16:creationId xmlns:a16="http://schemas.microsoft.com/office/drawing/2014/main" id="{3D60C9C9-3BD9-48E2-9BA8-473CEA7853CF}"/>
              </a:ext>
            </a:extLst>
          </p:cNvPr>
          <p:cNvSpPr>
            <a:spLocks noGrp="1"/>
          </p:cNvSpPr>
          <p:nvPr/>
        </p:nvSpPr>
        <p:spPr>
          <a:xfrm>
            <a:off x="5924550" y="2667000"/>
            <a:ext cx="9525" cy="571500"/>
          </a:xfrm>
          <a:prstGeom prst="rect">
            <a:avLst/>
          </a:prstGeom>
          <a:solidFill>
            <a:srgbClr val="DE6A1F"/>
          </a:solidFill>
          <a:ln w="0">
            <a:solidFill>
              <a:srgbClr val="000000">
                <a:alpha val="0"/>
              </a:srgbClr>
            </a:solidFill>
            <a:prstDash val="solid"/>
          </a:ln>
        </p:spPr>
      </p:sp>
      <p:sp>
        <p:nvSpPr>
          <p:cNvPr id="15" name="Rectangle 14">
            <a:extLst>
              <a:ext uri="{FF2B5EF4-FFF2-40B4-BE49-F238E27FC236}">
                <a16:creationId xmlns:a16="http://schemas.microsoft.com/office/drawing/2014/main" id="{07B6FC20-6C27-42B6-BC5F-96C987D11CE7}"/>
              </a:ext>
            </a:extLst>
          </p:cNvPr>
          <p:cNvSpPr>
            <a:spLocks noGrp="1"/>
          </p:cNvSpPr>
          <p:nvPr/>
        </p:nvSpPr>
        <p:spPr>
          <a:xfrm>
            <a:off x="6076950" y="272415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a:solidFill>
                  <a:srgbClr val="17263E"/>
                </a:solidFill>
                <a:latin typeface="Georgia"/>
                <a:ea typeface="Georgia"/>
                <a:cs typeface="Georgia"/>
              </a:rPr>
              <a:t>Service</a:t>
            </a:r>
          </a:p>
        </p:txBody>
      </p:sp>
      <p:sp>
        <p:nvSpPr>
          <p:cNvPr id="16" name="Rectangle 15">
            <a:extLst>
              <a:ext uri="{FF2B5EF4-FFF2-40B4-BE49-F238E27FC236}">
                <a16:creationId xmlns:a16="http://schemas.microsoft.com/office/drawing/2014/main" id="{87D096B2-5BFF-42A9-82AB-91FEFD3E62D2}"/>
              </a:ext>
            </a:extLst>
          </p:cNvPr>
          <p:cNvSpPr>
            <a:spLocks noGrp="1"/>
          </p:cNvSpPr>
          <p:nvPr/>
        </p:nvSpPr>
        <p:spPr>
          <a:xfrm>
            <a:off x="6076950" y="31051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Délais de réponse</a:t>
            </a:r>
          </a:p>
        </p:txBody>
      </p:sp>
      <p:sp>
        <p:nvSpPr>
          <p:cNvPr id="17" name="Rectangle 16">
            <a:extLst>
              <a:ext uri="{FF2B5EF4-FFF2-40B4-BE49-F238E27FC236}">
                <a16:creationId xmlns:a16="http://schemas.microsoft.com/office/drawing/2014/main" id="{E22B72C7-887F-481E-BFF0-8C54B8749E2C}"/>
              </a:ext>
            </a:extLst>
          </p:cNvPr>
          <p:cNvSpPr>
            <a:spLocks noGrp="1"/>
          </p:cNvSpPr>
          <p:nvPr/>
        </p:nvSpPr>
        <p:spPr>
          <a:xfrm>
            <a:off x="6076950" y="32766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clients internes et externes</a:t>
            </a:r>
          </a:p>
        </p:txBody>
      </p:sp>
      <p:sp>
        <p:nvSpPr>
          <p:cNvPr id="18" name="Rectangle 17">
            <a:extLst>
              <a:ext uri="{FF2B5EF4-FFF2-40B4-BE49-F238E27FC236}">
                <a16:creationId xmlns:a16="http://schemas.microsoft.com/office/drawing/2014/main" id="{D29E9FDA-88D9-4D99-83D6-6BAE2A02BE4F}"/>
              </a:ext>
            </a:extLst>
          </p:cNvPr>
          <p:cNvSpPr>
            <a:spLocks noGrp="1"/>
          </p:cNvSpPr>
          <p:nvPr/>
        </p:nvSpPr>
        <p:spPr>
          <a:xfrm>
            <a:off x="8610600" y="2667000"/>
            <a:ext cx="9525" cy="571500"/>
          </a:xfrm>
          <a:prstGeom prst="rect">
            <a:avLst/>
          </a:prstGeom>
          <a:solidFill>
            <a:srgbClr val="1D8A78"/>
          </a:solidFill>
          <a:ln w="0">
            <a:solidFill>
              <a:srgbClr val="000000">
                <a:alpha val="0"/>
              </a:srgbClr>
            </a:solidFill>
            <a:prstDash val="solid"/>
          </a:ln>
        </p:spPr>
      </p:sp>
      <p:sp>
        <p:nvSpPr>
          <p:cNvPr id="19" name="Rectangle 18">
            <a:extLst>
              <a:ext uri="{FF2B5EF4-FFF2-40B4-BE49-F238E27FC236}">
                <a16:creationId xmlns:a16="http://schemas.microsoft.com/office/drawing/2014/main" id="{8B72CBBC-E8D4-494E-BD5D-E4AFAD4011FC}"/>
              </a:ext>
            </a:extLst>
          </p:cNvPr>
          <p:cNvSpPr>
            <a:spLocks noGrp="1"/>
          </p:cNvSpPr>
          <p:nvPr/>
        </p:nvSpPr>
        <p:spPr>
          <a:xfrm>
            <a:off x="8763000" y="2724150"/>
            <a:ext cx="1619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7263E"/>
                </a:solidFill>
                <a:latin typeface="Georgia"/>
                <a:ea typeface="Georgia"/>
                <a:cs typeface="Georgia"/>
              </a:defRPr>
            </a:pPr>
            <a:r>
              <a:rPr sz="2025" b="1">
                <a:solidFill>
                  <a:srgbClr val="17263E"/>
                </a:solidFill>
                <a:latin typeface="Georgia"/>
                <a:ea typeface="Georgia"/>
                <a:cs typeface="Georgia"/>
              </a:rPr>
              <a:t>Adoption</a:t>
            </a:r>
          </a:p>
        </p:txBody>
      </p:sp>
      <p:sp>
        <p:nvSpPr>
          <p:cNvPr id="20" name="Rectangle 19">
            <a:extLst>
              <a:ext uri="{FF2B5EF4-FFF2-40B4-BE49-F238E27FC236}">
                <a16:creationId xmlns:a16="http://schemas.microsoft.com/office/drawing/2014/main" id="{EFE4CC6D-A8BC-42BD-9508-EA064AF9F937}"/>
              </a:ext>
            </a:extLst>
          </p:cNvPr>
          <p:cNvSpPr>
            <a:spLocks noGrp="1"/>
          </p:cNvSpPr>
          <p:nvPr/>
        </p:nvSpPr>
        <p:spPr>
          <a:xfrm>
            <a:off x="8763000" y="3105150"/>
            <a:ext cx="1714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Usage réel par équipe</a:t>
            </a:r>
          </a:p>
        </p:txBody>
      </p:sp>
      <p:sp>
        <p:nvSpPr>
          <p:cNvPr id="21" name="Rectangle 20">
            <a:extLst>
              <a:ext uri="{FF2B5EF4-FFF2-40B4-BE49-F238E27FC236}">
                <a16:creationId xmlns:a16="http://schemas.microsoft.com/office/drawing/2014/main" id="{259FDE80-09B9-4D28-8593-87E648359C57}"/>
              </a:ext>
            </a:extLst>
          </p:cNvPr>
          <p:cNvSpPr>
            <a:spLocks noGrp="1"/>
          </p:cNvSpPr>
          <p:nvPr/>
        </p:nvSpPr>
        <p:spPr>
          <a:xfrm>
            <a:off x="8763000" y="32766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C6777"/>
                </a:solidFill>
                <a:latin typeface="Avenir Next"/>
                <a:ea typeface="Avenir Next"/>
                <a:cs typeface="Avenir Next"/>
              </a:defRPr>
            </a:pPr>
            <a:r>
              <a:rPr sz="638" b="0">
                <a:solidFill>
                  <a:srgbClr val="5C6777"/>
                </a:solidFill>
                <a:latin typeface="Avenir Next"/>
                <a:ea typeface="Avenir Next"/>
                <a:cs typeface="Avenir Next"/>
              </a:rPr>
              <a:t>taux d'utilisation, récurrence, utilité perçue</a:t>
            </a:r>
          </a:p>
        </p:txBody>
      </p:sp>
      <p:sp>
        <p:nvSpPr>
          <p:cNvPr id="22" name="Rectangle 21">
            <a:extLst>
              <a:ext uri="{FF2B5EF4-FFF2-40B4-BE49-F238E27FC236}">
                <a16:creationId xmlns:a16="http://schemas.microsoft.com/office/drawing/2014/main" id="{FC81EB50-D757-482B-9A97-95A9A5D6A227}"/>
              </a:ext>
            </a:extLst>
          </p:cNvPr>
          <p:cNvSpPr>
            <a:spLocks noGrp="1"/>
          </p:cNvSpPr>
          <p:nvPr/>
        </p:nvSpPr>
        <p:spPr>
          <a:xfrm>
            <a:off x="552450" y="3962400"/>
            <a:ext cx="6096000" cy="1524000"/>
          </a:xfrm>
          <a:prstGeom prst="rect">
            <a:avLst/>
          </a:prstGeom>
          <a:solidFill>
            <a:srgbClr val="FFFDFC"/>
          </a:solidFill>
          <a:ln w="9525">
            <a:solidFill>
              <a:srgbClr val="D9D1C6"/>
            </a:solidFill>
            <a:prstDash val="solid"/>
          </a:ln>
        </p:spPr>
      </p:sp>
      <p:sp>
        <p:nvSpPr>
          <p:cNvPr id="23" name="Rectangle 22">
            <a:extLst>
              <a:ext uri="{FF2B5EF4-FFF2-40B4-BE49-F238E27FC236}">
                <a16:creationId xmlns:a16="http://schemas.microsoft.com/office/drawing/2014/main" id="{6A986783-972F-4B2B-9A24-5DCEDD0F43C4}"/>
              </a:ext>
            </a:extLst>
          </p:cNvPr>
          <p:cNvSpPr>
            <a:spLocks noGrp="1"/>
          </p:cNvSpPr>
          <p:nvPr/>
        </p:nvSpPr>
        <p:spPr>
          <a:xfrm>
            <a:off x="552450" y="3962400"/>
            <a:ext cx="76200" cy="1524000"/>
          </a:xfrm>
          <a:prstGeom prst="rect">
            <a:avLst/>
          </a:prstGeom>
          <a:solidFill>
            <a:srgbClr val="1D8A78"/>
          </a:solidFill>
          <a:ln w="0">
            <a:solidFill>
              <a:srgbClr val="000000">
                <a:alpha val="0"/>
              </a:srgbClr>
            </a:solidFill>
            <a:prstDash val="solid"/>
          </a:ln>
        </p:spPr>
      </p:sp>
      <p:sp>
        <p:nvSpPr>
          <p:cNvPr id="24" name="Rectangle 23">
            <a:extLst>
              <a:ext uri="{FF2B5EF4-FFF2-40B4-BE49-F238E27FC236}">
                <a16:creationId xmlns:a16="http://schemas.microsoft.com/office/drawing/2014/main" id="{682D3224-0573-4F18-9E4E-3E70876FCE10}"/>
              </a:ext>
            </a:extLst>
          </p:cNvPr>
          <p:cNvSpPr>
            <a:spLocks noGrp="1"/>
          </p:cNvSpPr>
          <p:nvPr/>
        </p:nvSpPr>
        <p:spPr>
          <a:xfrm>
            <a:off x="819150" y="4229100"/>
            <a:ext cx="1905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63E"/>
                </a:solidFill>
                <a:latin typeface="Georgia"/>
                <a:ea typeface="Georgia"/>
                <a:cs typeface="Georgia"/>
              </a:defRPr>
            </a:pPr>
            <a:r>
              <a:rPr sz="1350" b="1">
                <a:solidFill>
                  <a:srgbClr val="17263E"/>
                </a:solidFill>
                <a:latin typeface="Georgia"/>
                <a:ea typeface="Georgia"/>
                <a:cs typeface="Georgia"/>
              </a:rPr>
              <a:t>Lecture DG attendue</a:t>
            </a:r>
          </a:p>
        </p:txBody>
      </p:sp>
      <p:sp>
        <p:nvSpPr>
          <p:cNvPr id="25" name="Rectangle 24">
            <a:extLst>
              <a:ext uri="{FF2B5EF4-FFF2-40B4-BE49-F238E27FC236}">
                <a16:creationId xmlns:a16="http://schemas.microsoft.com/office/drawing/2014/main" id="{A8D43CF4-9D3E-4862-B659-47252491D94C}"/>
              </a:ext>
            </a:extLst>
          </p:cNvPr>
          <p:cNvSpPr>
            <a:spLocks noGrp="1"/>
          </p:cNvSpPr>
          <p:nvPr/>
        </p:nvSpPr>
        <p:spPr>
          <a:xfrm>
            <a:off x="819150" y="4629150"/>
            <a:ext cx="53340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À la fin du pilote, la question n'est pas “l'IA est-elle intéressante ?”, mais “quels gains ont été observés, sur quels processus, à quelles conditions, et faut-il étendre ou non ?”.</a:t>
            </a:r>
          </a:p>
        </p:txBody>
      </p:sp>
      <p:sp>
        <p:nvSpPr>
          <p:cNvPr id="26" name="Rectangle 25">
            <a:extLst>
              <a:ext uri="{FF2B5EF4-FFF2-40B4-BE49-F238E27FC236}">
                <a16:creationId xmlns:a16="http://schemas.microsoft.com/office/drawing/2014/main" id="{D1A085E2-A689-43C3-A508-7EA4405D8519}"/>
              </a:ext>
            </a:extLst>
          </p:cNvPr>
          <p:cNvSpPr>
            <a:spLocks noGrp="1"/>
          </p:cNvSpPr>
          <p:nvPr/>
        </p:nvSpPr>
        <p:spPr>
          <a:xfrm>
            <a:off x="7010400" y="3962400"/>
            <a:ext cx="4400550" cy="1828800"/>
          </a:xfrm>
          <a:prstGeom prst="rect">
            <a:avLst/>
          </a:prstGeom>
          <a:solidFill>
            <a:srgbClr val="102338"/>
          </a:solidFill>
          <a:ln w="9525">
            <a:solidFill>
              <a:srgbClr val="102338"/>
            </a:solidFill>
            <a:prstDash val="solid"/>
          </a:ln>
        </p:spPr>
      </p:sp>
      <p:sp>
        <p:nvSpPr>
          <p:cNvPr id="27" name="Rectangle 26">
            <a:extLst>
              <a:ext uri="{FF2B5EF4-FFF2-40B4-BE49-F238E27FC236}">
                <a16:creationId xmlns:a16="http://schemas.microsoft.com/office/drawing/2014/main" id="{BA755DF6-C65D-495E-9DBA-A8FA633B7BCD}"/>
              </a:ext>
            </a:extLst>
          </p:cNvPr>
          <p:cNvSpPr>
            <a:spLocks noGrp="1"/>
          </p:cNvSpPr>
          <p:nvPr/>
        </p:nvSpPr>
        <p:spPr>
          <a:xfrm>
            <a:off x="7353300" y="424815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D7E1EE"/>
                </a:solidFill>
                <a:latin typeface="Avenir Next"/>
                <a:ea typeface="Avenir Next"/>
                <a:cs typeface="Avenir Next"/>
              </a:defRPr>
            </a:pPr>
            <a:r>
              <a:rPr sz="750" b="1">
                <a:solidFill>
                  <a:srgbClr val="D7E1EE"/>
                </a:solidFill>
                <a:latin typeface="Avenir Next"/>
                <a:ea typeface="Avenir Next"/>
                <a:cs typeface="Avenir Next"/>
              </a:rPr>
              <a:t>FORMULE DE LECTURE ROI</a:t>
            </a:r>
          </a:p>
        </p:txBody>
      </p:sp>
      <p:sp>
        <p:nvSpPr>
          <p:cNvPr id="28" name="Rectangle 27">
            <a:extLst>
              <a:ext uri="{FF2B5EF4-FFF2-40B4-BE49-F238E27FC236}">
                <a16:creationId xmlns:a16="http://schemas.microsoft.com/office/drawing/2014/main" id="{F5726783-3AE4-4381-8720-CF97431436F8}"/>
              </a:ext>
            </a:extLst>
          </p:cNvPr>
          <p:cNvSpPr>
            <a:spLocks noGrp="1"/>
          </p:cNvSpPr>
          <p:nvPr/>
        </p:nvSpPr>
        <p:spPr>
          <a:xfrm>
            <a:off x="7353300" y="4610100"/>
            <a:ext cx="220980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FFFFFF"/>
                </a:solidFill>
                <a:latin typeface="Georgia"/>
                <a:ea typeface="Georgia"/>
                <a:cs typeface="Georgia"/>
              </a:defRPr>
            </a:pPr>
            <a:r>
              <a:rPr sz="1275" b="1">
                <a:solidFill>
                  <a:srgbClr val="FFFFFF"/>
                </a:solidFill>
                <a:latin typeface="Georgia"/>
                <a:ea typeface="Georgia"/>
                <a:cs typeface="Georgia"/>
              </a:rPr>
              <a:t>heures récupérées</a:t>
            </a:r>
          </a:p>
          <a:p>
            <a:pPr algn="l">
              <a:defRPr sz="1275" b="1">
                <a:solidFill>
                  <a:srgbClr val="FFFFFF"/>
                </a:solidFill>
                <a:latin typeface="Georgia"/>
                <a:ea typeface="Georgia"/>
                <a:cs typeface="Georgia"/>
              </a:defRPr>
            </a:pPr>
            <a:r>
              <a:rPr sz="1275" b="1">
                <a:solidFill>
                  <a:srgbClr val="FFFFFF"/>
                </a:solidFill>
                <a:latin typeface="Georgia"/>
                <a:ea typeface="Georgia"/>
                <a:cs typeface="Georgia"/>
              </a:rPr>
              <a:t>+ erreurs évitées</a:t>
            </a:r>
          </a:p>
          <a:p>
            <a:pPr algn="l">
              <a:defRPr sz="1275" b="1">
                <a:solidFill>
                  <a:srgbClr val="FFFFFF"/>
                </a:solidFill>
                <a:latin typeface="Georgia"/>
                <a:ea typeface="Georgia"/>
                <a:cs typeface="Georgia"/>
              </a:defRPr>
            </a:pPr>
            <a:r>
              <a:rPr sz="1275" b="1">
                <a:solidFill>
                  <a:srgbClr val="FFFFFF"/>
                </a:solidFill>
                <a:latin typeface="Georgia"/>
                <a:ea typeface="Georgia"/>
                <a:cs typeface="Georgia"/>
              </a:rPr>
              <a:t>+ meilleure qualité de service</a:t>
            </a:r>
          </a:p>
          <a:p>
            <a:pPr algn="l">
              <a:defRPr sz="1275" b="1">
                <a:solidFill>
                  <a:srgbClr val="FFFFFF"/>
                </a:solidFill>
                <a:latin typeface="Georgia"/>
                <a:ea typeface="Georgia"/>
                <a:cs typeface="Georgia"/>
              </a:defRPr>
            </a:pPr>
            <a:r>
              <a:rPr sz="1275" b="1">
                <a:solidFill>
                  <a:srgbClr val="FFFFFF"/>
                </a:solidFill>
                <a:latin typeface="Georgia"/>
                <a:ea typeface="Georgia"/>
                <a:cs typeface="Georgia"/>
              </a:rPr>
              <a:t>- coût de mise en œuvre</a:t>
            </a:r>
          </a:p>
        </p:txBody>
      </p:sp>
      <p:sp>
        <p:nvSpPr>
          <p:cNvPr id="29" name="Rectangle 28">
            <a:extLst>
              <a:ext uri="{FF2B5EF4-FFF2-40B4-BE49-F238E27FC236}">
                <a16:creationId xmlns:a16="http://schemas.microsoft.com/office/drawing/2014/main" id="{C603FF94-AA7A-4C1B-A1AE-BE3703E73AC3}"/>
              </a:ext>
            </a:extLst>
          </p:cNvPr>
          <p:cNvSpPr>
            <a:spLocks noGrp="1"/>
          </p:cNvSpPr>
          <p:nvPr/>
        </p:nvSpPr>
        <p:spPr>
          <a:xfrm>
            <a:off x="9772650" y="4648200"/>
            <a:ext cx="12954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D7E1EE"/>
                </a:solidFill>
                <a:latin typeface="Avenir Next"/>
                <a:ea typeface="Avenir Next"/>
                <a:cs typeface="Avenir Next"/>
              </a:defRPr>
            </a:pPr>
            <a:r>
              <a:rPr sz="788" b="0">
                <a:solidFill>
                  <a:srgbClr val="D7E1EE"/>
                </a:solidFill>
                <a:latin typeface="Avenir Next"/>
                <a:ea typeface="Avenir Next"/>
                <a:cs typeface="Avenir Next"/>
              </a:rPr>
              <a:t>Cette quantification doit être objectivée dans l'audit, puis suivie sur le pilote.</a:t>
            </a:r>
          </a:p>
        </p:txBody>
      </p:sp>
      <p:sp>
        <p:nvSpPr>
          <p:cNvPr id="30" name="Rectangle 29">
            <a:extLst>
              <a:ext uri="{FF2B5EF4-FFF2-40B4-BE49-F238E27FC236}">
                <a16:creationId xmlns:a16="http://schemas.microsoft.com/office/drawing/2014/main" id="{4A47C0DD-9870-4E05-9598-8A3CE73D4115}"/>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31" name="Rectangle 30">
            <a:extLst>
              <a:ext uri="{FF2B5EF4-FFF2-40B4-BE49-F238E27FC236}">
                <a16:creationId xmlns:a16="http://schemas.microsoft.com/office/drawing/2014/main" id="{A4CB2AAD-A51B-4453-A950-4C364E8F0130}"/>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Mesure de la valeur</a:t>
            </a:r>
          </a:p>
        </p:txBody>
      </p:sp>
      <p:sp>
        <p:nvSpPr>
          <p:cNvPr id="32" name="Rectangle 31">
            <a:extLst>
              <a:ext uri="{FF2B5EF4-FFF2-40B4-BE49-F238E27FC236}">
                <a16:creationId xmlns:a16="http://schemas.microsoft.com/office/drawing/2014/main" id="{DD881AC4-C6D0-4964-B2D7-C6EAF07EFA07}"/>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08</a:t>
            </a:r>
          </a:p>
        </p:txBody>
      </p:sp>
    </p:spTree>
    <p:extLst>
      <p:ext uri="{BB962C8B-B14F-4D97-AF65-F5344CB8AC3E}">
        <p14:creationId xmlns:p14="http://schemas.microsoft.com/office/powerpoint/2010/main" val="1216002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B6C9C77-89BC-4DBB-84B7-63C0ED7DEF04}"/>
              </a:ext>
            </a:extLst>
          </p:cNvPr>
          <p:cNvSpPr>
            <a:spLocks noGrp="1"/>
          </p:cNvSpPr>
          <p:nvPr/>
        </p:nvSpPr>
        <p:spPr>
          <a:xfrm>
            <a:off x="0" y="0"/>
            <a:ext cx="12192000" cy="6858000"/>
          </a:xfrm>
          <a:prstGeom prst="rect">
            <a:avLst/>
          </a:prstGeom>
          <a:solidFill>
            <a:srgbClr val="F6F1EA"/>
          </a:solidFill>
          <a:ln w="0">
            <a:solidFill>
              <a:srgbClr val="000000">
                <a:alpha val="0"/>
              </a:srgbClr>
            </a:solidFill>
            <a:prstDash val="solid"/>
          </a:ln>
        </p:spPr>
      </p:sp>
      <p:sp>
        <p:nvSpPr>
          <p:cNvPr id="2" name="Rectangle 1">
            <a:extLst>
              <a:ext uri="{FF2B5EF4-FFF2-40B4-BE49-F238E27FC236}">
                <a16:creationId xmlns:a16="http://schemas.microsoft.com/office/drawing/2014/main" id="{3829B6DB-BBE0-46ED-83BE-B74775BCC1C8}"/>
              </a:ext>
            </a:extLst>
          </p:cNvPr>
          <p:cNvSpPr>
            <a:spLocks noGrp="1"/>
          </p:cNvSpPr>
          <p:nvPr/>
        </p:nvSpPr>
        <p:spPr>
          <a:xfrm>
            <a:off x="552450" y="485775"/>
            <a:ext cx="95250" cy="95250"/>
          </a:xfrm>
          <a:prstGeom prst="rect">
            <a:avLst/>
          </a:prstGeom>
          <a:solidFill>
            <a:srgbClr val="DE6A1F"/>
          </a:solidFill>
          <a:ln w="0">
            <a:solidFill>
              <a:srgbClr val="000000">
                <a:alpha val="0"/>
              </a:srgbClr>
            </a:solidFill>
            <a:prstDash val="solid"/>
          </a:ln>
        </p:spPr>
      </p:sp>
      <p:sp>
        <p:nvSpPr>
          <p:cNvPr id="3" name="Rectangle 2">
            <a:extLst>
              <a:ext uri="{FF2B5EF4-FFF2-40B4-BE49-F238E27FC236}">
                <a16:creationId xmlns:a16="http://schemas.microsoft.com/office/drawing/2014/main" id="{7AD29FCC-0BAA-4D0A-AFFB-8C8E2DDC45EB}"/>
              </a:ext>
            </a:extLst>
          </p:cNvPr>
          <p:cNvSpPr>
            <a:spLocks noGrp="1"/>
          </p:cNvSpPr>
          <p:nvPr/>
        </p:nvSpPr>
        <p:spPr>
          <a:xfrm>
            <a:off x="762000" y="457200"/>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5C6777"/>
                </a:solidFill>
                <a:latin typeface="Avenir Next"/>
                <a:ea typeface="Avenir Next"/>
                <a:cs typeface="Avenir Next"/>
              </a:defRPr>
            </a:pPr>
            <a:r>
              <a:rPr sz="713" b="1">
                <a:solidFill>
                  <a:srgbClr val="5C6777"/>
                </a:solidFill>
                <a:latin typeface="Avenir Next"/>
                <a:ea typeface="Avenir Next"/>
                <a:cs typeface="Avenir Next"/>
              </a:rPr>
              <a:t>P R O C H A I N E   É T A P E</a:t>
            </a:r>
          </a:p>
        </p:txBody>
      </p:sp>
      <p:sp>
        <p:nvSpPr>
          <p:cNvPr id="4" name="Rectangle 3">
            <a:extLst>
              <a:ext uri="{FF2B5EF4-FFF2-40B4-BE49-F238E27FC236}">
                <a16:creationId xmlns:a16="http://schemas.microsoft.com/office/drawing/2014/main" id="{424D7D66-F5E7-47B4-85BC-0EC826017600}"/>
              </a:ext>
            </a:extLst>
          </p:cNvPr>
          <p:cNvSpPr>
            <a:spLocks noGrp="1"/>
          </p:cNvSpPr>
          <p:nvPr/>
        </p:nvSpPr>
        <p:spPr>
          <a:xfrm>
            <a:off x="552450" y="800100"/>
            <a:ext cx="85725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17263E"/>
                </a:solidFill>
                <a:latin typeface="Georgia"/>
                <a:ea typeface="Georgia"/>
                <a:cs typeface="Georgia"/>
              </a:defRPr>
            </a:pPr>
            <a:r>
              <a:rPr sz="2475" b="1">
                <a:solidFill>
                  <a:srgbClr val="17263E"/>
                </a:solidFill>
                <a:latin typeface="Georgia"/>
                <a:ea typeface="Georgia"/>
                <a:cs typeface="Georgia"/>
              </a:rPr>
              <a:t>La suite la plus crédible est simple : cadrer, auditer, décider.</a:t>
            </a:r>
          </a:p>
        </p:txBody>
      </p:sp>
      <p:sp>
        <p:nvSpPr>
          <p:cNvPr id="5" name="Rectangle 4">
            <a:extLst>
              <a:ext uri="{FF2B5EF4-FFF2-40B4-BE49-F238E27FC236}">
                <a16:creationId xmlns:a16="http://schemas.microsoft.com/office/drawing/2014/main" id="{496C760B-1D1D-4666-BA8E-CAC5FE907394}"/>
              </a:ext>
            </a:extLst>
          </p:cNvPr>
          <p:cNvSpPr>
            <a:spLocks noGrp="1"/>
          </p:cNvSpPr>
          <p:nvPr/>
        </p:nvSpPr>
        <p:spPr>
          <a:xfrm>
            <a:off x="552450" y="1676400"/>
            <a:ext cx="93345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5C6777"/>
                </a:solidFill>
                <a:latin typeface="Avenir Next"/>
                <a:ea typeface="Avenir Next"/>
                <a:cs typeface="Avenir Next"/>
              </a:defRPr>
            </a:pPr>
            <a:r>
              <a:rPr sz="1050" b="0">
                <a:solidFill>
                  <a:srgbClr val="5C6777"/>
                </a:solidFill>
                <a:latin typeface="Avenir Next"/>
                <a:ea typeface="Avenir Next"/>
                <a:cs typeface="Avenir Next"/>
              </a:rPr>
              <a:t>L'appel à l'action doit rester unique et clair. L'objectif du premier échange n'est pas de vendre un programme complet, mais de vérifier si un audit ciblé a du sens pour ELTON et sur quels sujets.</a:t>
            </a:r>
          </a:p>
        </p:txBody>
      </p:sp>
      <p:sp>
        <p:nvSpPr>
          <p:cNvPr id="6" name="Rectangle 5">
            <a:extLst>
              <a:ext uri="{FF2B5EF4-FFF2-40B4-BE49-F238E27FC236}">
                <a16:creationId xmlns:a16="http://schemas.microsoft.com/office/drawing/2014/main" id="{060F6ADD-C470-4A03-9130-E922A2527253}"/>
              </a:ext>
            </a:extLst>
          </p:cNvPr>
          <p:cNvSpPr>
            <a:spLocks noGrp="1"/>
          </p:cNvSpPr>
          <p:nvPr/>
        </p:nvSpPr>
        <p:spPr>
          <a:xfrm>
            <a:off x="552450" y="2724150"/>
            <a:ext cx="514350" cy="514350"/>
          </a:xfrm>
          <a:prstGeom prst="rect">
            <a:avLst/>
          </a:prstGeom>
          <a:solidFill>
            <a:srgbClr val="DE6A1F"/>
          </a:solidFill>
          <a:ln w="0">
            <a:solidFill>
              <a:srgbClr val="000000">
                <a:alpha val="0"/>
              </a:srgbClr>
            </a:solidFill>
            <a:prstDash val="solid"/>
          </a:ln>
        </p:spPr>
      </p:sp>
      <p:sp>
        <p:nvSpPr>
          <p:cNvPr id="7" name="Rectangle 6">
            <a:extLst>
              <a:ext uri="{FF2B5EF4-FFF2-40B4-BE49-F238E27FC236}">
                <a16:creationId xmlns:a16="http://schemas.microsoft.com/office/drawing/2014/main" id="{DAE5327B-3D8E-4F02-BA55-87138D4D3C65}"/>
              </a:ext>
            </a:extLst>
          </p:cNvPr>
          <p:cNvSpPr>
            <a:spLocks noGrp="1"/>
          </p:cNvSpPr>
          <p:nvPr/>
        </p:nvSpPr>
        <p:spPr>
          <a:xfrm>
            <a:off x="552450" y="2838450"/>
            <a:ext cx="5143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500" b="1">
                <a:solidFill>
                  <a:srgbClr val="FFFFFF"/>
                </a:solidFill>
                <a:latin typeface="Georgia"/>
                <a:ea typeface="Georgia"/>
                <a:cs typeface="Georgia"/>
              </a:defRPr>
            </a:pPr>
            <a:r>
              <a:rPr sz="1500" b="1">
                <a:solidFill>
                  <a:srgbClr val="FFFFFF"/>
                </a:solidFill>
                <a:latin typeface="Georgia"/>
                <a:ea typeface="Georgia"/>
                <a:cs typeface="Georgia"/>
              </a:rPr>
              <a:t>01</a:t>
            </a:r>
          </a:p>
        </p:txBody>
      </p:sp>
      <p:sp>
        <p:nvSpPr>
          <p:cNvPr id="8" name="Rectangle 7">
            <a:extLst>
              <a:ext uri="{FF2B5EF4-FFF2-40B4-BE49-F238E27FC236}">
                <a16:creationId xmlns:a16="http://schemas.microsoft.com/office/drawing/2014/main" id="{CBFA1A22-6E5D-4CFD-967A-D5B10C37A8E4}"/>
              </a:ext>
            </a:extLst>
          </p:cNvPr>
          <p:cNvSpPr>
            <a:spLocks noGrp="1"/>
          </p:cNvSpPr>
          <p:nvPr/>
        </p:nvSpPr>
        <p:spPr>
          <a:xfrm>
            <a:off x="1295400" y="2743200"/>
            <a:ext cx="1581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7263E"/>
                </a:solidFill>
                <a:latin typeface="Georgia"/>
                <a:ea typeface="Georgia"/>
                <a:cs typeface="Georgia"/>
              </a:defRPr>
            </a:pPr>
            <a:r>
              <a:rPr sz="1425" b="1">
                <a:solidFill>
                  <a:srgbClr val="17263E"/>
                </a:solidFill>
                <a:latin typeface="Georgia"/>
                <a:ea typeface="Georgia"/>
                <a:cs typeface="Georgia"/>
              </a:rPr>
              <a:t>Échange de cadrage</a:t>
            </a:r>
          </a:p>
        </p:txBody>
      </p:sp>
      <p:sp>
        <p:nvSpPr>
          <p:cNvPr id="9" name="Rectangle 8">
            <a:extLst>
              <a:ext uri="{FF2B5EF4-FFF2-40B4-BE49-F238E27FC236}">
                <a16:creationId xmlns:a16="http://schemas.microsoft.com/office/drawing/2014/main" id="{CCB7DC8E-0585-482B-A365-519A4A305A2E}"/>
              </a:ext>
            </a:extLst>
          </p:cNvPr>
          <p:cNvSpPr>
            <a:spLocks noGrp="1"/>
          </p:cNvSpPr>
          <p:nvPr/>
        </p:nvSpPr>
        <p:spPr>
          <a:xfrm>
            <a:off x="1295400" y="3200398"/>
            <a:ext cx="1619250" cy="30480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dirty="0">
                <a:solidFill>
                  <a:srgbClr val="5C6777"/>
                </a:solidFill>
                <a:latin typeface="Avenir Next"/>
                <a:ea typeface="Avenir Next"/>
                <a:cs typeface="Avenir Next"/>
              </a:rPr>
              <a:t>45 minutes avec la direction </a:t>
            </a:r>
            <a:r>
              <a:rPr sz="938" b="0" dirty="0" err="1">
                <a:solidFill>
                  <a:srgbClr val="5C6777"/>
                </a:solidFill>
                <a:latin typeface="Avenir Next"/>
                <a:ea typeface="Avenir Next"/>
                <a:cs typeface="Avenir Next"/>
              </a:rPr>
              <a:t>ou</a:t>
            </a:r>
            <a:r>
              <a:rPr sz="938" b="0" dirty="0">
                <a:solidFill>
                  <a:srgbClr val="5C6777"/>
                </a:solidFill>
                <a:latin typeface="Avenir Next"/>
                <a:ea typeface="Avenir Next"/>
                <a:cs typeface="Avenir Next"/>
              </a:rPr>
              <a:t> la </a:t>
            </a:r>
            <a:r>
              <a:rPr sz="938" b="0" dirty="0" err="1">
                <a:solidFill>
                  <a:srgbClr val="5C6777"/>
                </a:solidFill>
                <a:latin typeface="Avenir Next"/>
                <a:ea typeface="Avenir Next"/>
                <a:cs typeface="Avenir Next"/>
              </a:rPr>
              <a:t>personne</a:t>
            </a:r>
            <a:r>
              <a:rPr sz="938" b="0" dirty="0">
                <a:solidFill>
                  <a:srgbClr val="5C6777"/>
                </a:solidFill>
                <a:latin typeface="Avenir Next"/>
                <a:ea typeface="Avenir Next"/>
                <a:cs typeface="Avenir Next"/>
              </a:rPr>
              <a:t> </a:t>
            </a:r>
            <a:r>
              <a:rPr sz="938" b="0" dirty="0" err="1">
                <a:solidFill>
                  <a:srgbClr val="5C6777"/>
                </a:solidFill>
                <a:latin typeface="Avenir Next"/>
                <a:ea typeface="Avenir Next"/>
                <a:cs typeface="Avenir Next"/>
              </a:rPr>
              <a:t>mandatée</a:t>
            </a:r>
            <a:endParaRPr sz="938" b="0" dirty="0">
              <a:solidFill>
                <a:srgbClr val="5C6777"/>
              </a:solidFill>
              <a:latin typeface="Avenir Next"/>
              <a:ea typeface="Avenir Next"/>
              <a:cs typeface="Avenir Next"/>
            </a:endParaRPr>
          </a:p>
        </p:txBody>
      </p:sp>
      <p:sp>
        <p:nvSpPr>
          <p:cNvPr id="10" name="Rectangle 9">
            <a:extLst>
              <a:ext uri="{FF2B5EF4-FFF2-40B4-BE49-F238E27FC236}">
                <a16:creationId xmlns:a16="http://schemas.microsoft.com/office/drawing/2014/main" id="{EBEB6B0E-4619-4E53-83D7-C645BF40A5FC}"/>
              </a:ext>
            </a:extLst>
          </p:cNvPr>
          <p:cNvSpPr>
            <a:spLocks noGrp="1"/>
          </p:cNvSpPr>
          <p:nvPr/>
        </p:nvSpPr>
        <p:spPr>
          <a:xfrm>
            <a:off x="2952750" y="2724150"/>
            <a:ext cx="514350" cy="514350"/>
          </a:xfrm>
          <a:prstGeom prst="rect">
            <a:avLst/>
          </a:prstGeom>
          <a:solidFill>
            <a:srgbClr val="1D8A78"/>
          </a:solidFill>
          <a:ln w="0">
            <a:solidFill>
              <a:srgbClr val="000000">
                <a:alpha val="0"/>
              </a:srgbClr>
            </a:solidFill>
            <a:prstDash val="solid"/>
          </a:ln>
        </p:spPr>
      </p:sp>
      <p:sp>
        <p:nvSpPr>
          <p:cNvPr id="11" name="Rectangle 10">
            <a:extLst>
              <a:ext uri="{FF2B5EF4-FFF2-40B4-BE49-F238E27FC236}">
                <a16:creationId xmlns:a16="http://schemas.microsoft.com/office/drawing/2014/main" id="{723D9139-71E4-4B10-8C86-33774E74CEDF}"/>
              </a:ext>
            </a:extLst>
          </p:cNvPr>
          <p:cNvSpPr>
            <a:spLocks noGrp="1"/>
          </p:cNvSpPr>
          <p:nvPr/>
        </p:nvSpPr>
        <p:spPr>
          <a:xfrm>
            <a:off x="2952750" y="2838450"/>
            <a:ext cx="5143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500" b="1">
                <a:solidFill>
                  <a:srgbClr val="FFFFFF"/>
                </a:solidFill>
                <a:latin typeface="Georgia"/>
                <a:ea typeface="Georgia"/>
                <a:cs typeface="Georgia"/>
              </a:defRPr>
            </a:pPr>
            <a:r>
              <a:rPr sz="1500" b="1">
                <a:solidFill>
                  <a:srgbClr val="FFFFFF"/>
                </a:solidFill>
                <a:latin typeface="Georgia"/>
                <a:ea typeface="Georgia"/>
                <a:cs typeface="Georgia"/>
              </a:rPr>
              <a:t>02</a:t>
            </a:r>
          </a:p>
        </p:txBody>
      </p:sp>
      <p:sp>
        <p:nvSpPr>
          <p:cNvPr id="12" name="Rectangle 11">
            <a:extLst>
              <a:ext uri="{FF2B5EF4-FFF2-40B4-BE49-F238E27FC236}">
                <a16:creationId xmlns:a16="http://schemas.microsoft.com/office/drawing/2014/main" id="{0A1958CA-D8E1-425A-B78B-C861E71B2820}"/>
              </a:ext>
            </a:extLst>
          </p:cNvPr>
          <p:cNvSpPr>
            <a:spLocks noGrp="1"/>
          </p:cNvSpPr>
          <p:nvPr/>
        </p:nvSpPr>
        <p:spPr>
          <a:xfrm>
            <a:off x="3695700" y="2743200"/>
            <a:ext cx="1581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7263E"/>
                </a:solidFill>
                <a:latin typeface="Georgia"/>
                <a:ea typeface="Georgia"/>
                <a:cs typeface="Georgia"/>
              </a:defRPr>
            </a:pPr>
            <a:r>
              <a:rPr sz="1425" b="1">
                <a:solidFill>
                  <a:srgbClr val="17263E"/>
                </a:solidFill>
                <a:latin typeface="Georgia"/>
                <a:ea typeface="Georgia"/>
                <a:cs typeface="Georgia"/>
              </a:rPr>
              <a:t>Audit d'entrée</a:t>
            </a:r>
          </a:p>
        </p:txBody>
      </p:sp>
      <p:sp>
        <p:nvSpPr>
          <p:cNvPr id="13" name="Rectangle 12">
            <a:extLst>
              <a:ext uri="{FF2B5EF4-FFF2-40B4-BE49-F238E27FC236}">
                <a16:creationId xmlns:a16="http://schemas.microsoft.com/office/drawing/2014/main" id="{130E65B9-89A8-4DDC-A59D-F6B9009CF8A7}"/>
              </a:ext>
            </a:extLst>
          </p:cNvPr>
          <p:cNvSpPr>
            <a:spLocks noGrp="1"/>
          </p:cNvSpPr>
          <p:nvPr/>
        </p:nvSpPr>
        <p:spPr>
          <a:xfrm>
            <a:off x="3695700" y="3105150"/>
            <a:ext cx="1619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lecture rapide des priorités, frictions, données et risques</a:t>
            </a:r>
          </a:p>
        </p:txBody>
      </p:sp>
      <p:sp>
        <p:nvSpPr>
          <p:cNvPr id="14" name="Rectangle 13">
            <a:extLst>
              <a:ext uri="{FF2B5EF4-FFF2-40B4-BE49-F238E27FC236}">
                <a16:creationId xmlns:a16="http://schemas.microsoft.com/office/drawing/2014/main" id="{C039E24A-626A-4DA2-8883-7C44833D6249}"/>
              </a:ext>
            </a:extLst>
          </p:cNvPr>
          <p:cNvSpPr>
            <a:spLocks noGrp="1"/>
          </p:cNvSpPr>
          <p:nvPr/>
        </p:nvSpPr>
        <p:spPr>
          <a:xfrm>
            <a:off x="5353050" y="2724150"/>
            <a:ext cx="514350" cy="514350"/>
          </a:xfrm>
          <a:prstGeom prst="rect">
            <a:avLst/>
          </a:prstGeom>
          <a:solidFill>
            <a:srgbClr val="DE6A1F"/>
          </a:solidFill>
          <a:ln w="0">
            <a:solidFill>
              <a:srgbClr val="000000">
                <a:alpha val="0"/>
              </a:srgbClr>
            </a:solidFill>
            <a:prstDash val="solid"/>
          </a:ln>
        </p:spPr>
      </p:sp>
      <p:sp>
        <p:nvSpPr>
          <p:cNvPr id="15" name="Rectangle 14">
            <a:extLst>
              <a:ext uri="{FF2B5EF4-FFF2-40B4-BE49-F238E27FC236}">
                <a16:creationId xmlns:a16="http://schemas.microsoft.com/office/drawing/2014/main" id="{9F55FD58-15D8-4F12-933B-90C3439D6885}"/>
              </a:ext>
            </a:extLst>
          </p:cNvPr>
          <p:cNvSpPr>
            <a:spLocks noGrp="1"/>
          </p:cNvSpPr>
          <p:nvPr/>
        </p:nvSpPr>
        <p:spPr>
          <a:xfrm>
            <a:off x="5353050" y="2838450"/>
            <a:ext cx="5143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500" b="1">
                <a:solidFill>
                  <a:srgbClr val="FFFFFF"/>
                </a:solidFill>
                <a:latin typeface="Georgia"/>
                <a:ea typeface="Georgia"/>
                <a:cs typeface="Georgia"/>
              </a:defRPr>
            </a:pPr>
            <a:r>
              <a:rPr sz="1500" b="1">
                <a:solidFill>
                  <a:srgbClr val="FFFFFF"/>
                </a:solidFill>
                <a:latin typeface="Georgia"/>
                <a:ea typeface="Georgia"/>
                <a:cs typeface="Georgia"/>
              </a:rPr>
              <a:t>03</a:t>
            </a:r>
          </a:p>
        </p:txBody>
      </p:sp>
      <p:sp>
        <p:nvSpPr>
          <p:cNvPr id="16" name="Rectangle 15">
            <a:extLst>
              <a:ext uri="{FF2B5EF4-FFF2-40B4-BE49-F238E27FC236}">
                <a16:creationId xmlns:a16="http://schemas.microsoft.com/office/drawing/2014/main" id="{2823FB43-E4B9-4BE6-870B-BC8F17C38C8A}"/>
              </a:ext>
            </a:extLst>
          </p:cNvPr>
          <p:cNvSpPr>
            <a:spLocks noGrp="1"/>
          </p:cNvSpPr>
          <p:nvPr/>
        </p:nvSpPr>
        <p:spPr>
          <a:xfrm>
            <a:off x="6096000" y="2743200"/>
            <a:ext cx="15811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7263E"/>
                </a:solidFill>
                <a:latin typeface="Georgia"/>
                <a:ea typeface="Georgia"/>
                <a:cs typeface="Georgia"/>
              </a:defRPr>
            </a:pPr>
            <a:r>
              <a:rPr sz="1425" b="1">
                <a:solidFill>
                  <a:srgbClr val="17263E"/>
                </a:solidFill>
                <a:latin typeface="Georgia"/>
                <a:ea typeface="Georgia"/>
                <a:cs typeface="Georgia"/>
              </a:rPr>
              <a:t>Orientation</a:t>
            </a:r>
          </a:p>
        </p:txBody>
      </p:sp>
      <p:sp>
        <p:nvSpPr>
          <p:cNvPr id="17" name="Rectangle 16">
            <a:extLst>
              <a:ext uri="{FF2B5EF4-FFF2-40B4-BE49-F238E27FC236}">
                <a16:creationId xmlns:a16="http://schemas.microsoft.com/office/drawing/2014/main" id="{E61A2DF8-451E-401C-AC83-8F3D9774B409}"/>
              </a:ext>
            </a:extLst>
          </p:cNvPr>
          <p:cNvSpPr>
            <a:spLocks noGrp="1"/>
          </p:cNvSpPr>
          <p:nvPr/>
        </p:nvSpPr>
        <p:spPr>
          <a:xfrm>
            <a:off x="6096000" y="3105150"/>
            <a:ext cx="1619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5C6777"/>
                </a:solidFill>
                <a:latin typeface="Avenir Next"/>
                <a:ea typeface="Avenir Next"/>
                <a:cs typeface="Avenir Next"/>
              </a:defRPr>
            </a:pPr>
            <a:r>
              <a:rPr sz="938" b="0">
                <a:solidFill>
                  <a:srgbClr val="5C6777"/>
                </a:solidFill>
                <a:latin typeface="Avenir Next"/>
                <a:ea typeface="Avenir Next"/>
                <a:cs typeface="Avenir Next"/>
              </a:rPr>
              <a:t>note de recommandations et arbitrage sur la bonne suite</a:t>
            </a:r>
          </a:p>
        </p:txBody>
      </p:sp>
      <p:sp>
        <p:nvSpPr>
          <p:cNvPr id="18" name="Rectangle 17">
            <a:extLst>
              <a:ext uri="{FF2B5EF4-FFF2-40B4-BE49-F238E27FC236}">
                <a16:creationId xmlns:a16="http://schemas.microsoft.com/office/drawing/2014/main" id="{26DFEBA5-3C14-445E-8F62-599774B1674C}"/>
              </a:ext>
            </a:extLst>
          </p:cNvPr>
          <p:cNvSpPr>
            <a:spLocks noGrp="1"/>
          </p:cNvSpPr>
          <p:nvPr/>
        </p:nvSpPr>
        <p:spPr>
          <a:xfrm>
            <a:off x="7886700" y="2533650"/>
            <a:ext cx="3524250" cy="2971800"/>
          </a:xfrm>
          <a:prstGeom prst="rect">
            <a:avLst/>
          </a:prstGeom>
          <a:solidFill>
            <a:srgbClr val="102338"/>
          </a:solidFill>
          <a:ln w="9525">
            <a:solidFill>
              <a:srgbClr val="102338"/>
            </a:solidFill>
            <a:prstDash val="solid"/>
          </a:ln>
        </p:spPr>
      </p:sp>
      <p:sp>
        <p:nvSpPr>
          <p:cNvPr id="19" name="Rectangle 18">
            <a:extLst>
              <a:ext uri="{FF2B5EF4-FFF2-40B4-BE49-F238E27FC236}">
                <a16:creationId xmlns:a16="http://schemas.microsoft.com/office/drawing/2014/main" id="{76BA59F6-9D8E-4E8C-BBD1-A0B486C15920}"/>
              </a:ext>
            </a:extLst>
          </p:cNvPr>
          <p:cNvSpPr>
            <a:spLocks noGrp="1"/>
          </p:cNvSpPr>
          <p:nvPr/>
        </p:nvSpPr>
        <p:spPr>
          <a:xfrm>
            <a:off x="8210550" y="2895600"/>
            <a:ext cx="209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FFFFFF"/>
                </a:solidFill>
                <a:latin typeface="Georgia"/>
                <a:ea typeface="Georgia"/>
                <a:cs typeface="Georgia"/>
              </a:defRPr>
            </a:pPr>
            <a:r>
              <a:rPr sz="1350" b="1">
                <a:solidFill>
                  <a:srgbClr val="FFFFFF"/>
                </a:solidFill>
                <a:latin typeface="Georgia"/>
                <a:ea typeface="Georgia"/>
                <a:cs typeface="Georgia"/>
              </a:rPr>
              <a:t>Coordonnées à partager</a:t>
            </a:r>
          </a:p>
        </p:txBody>
      </p:sp>
      <p:sp>
        <p:nvSpPr>
          <p:cNvPr id="20" name="Rectangle 19">
            <a:extLst>
              <a:ext uri="{FF2B5EF4-FFF2-40B4-BE49-F238E27FC236}">
                <a16:creationId xmlns:a16="http://schemas.microsoft.com/office/drawing/2014/main" id="{EBB94113-C9F3-4078-9EC1-49E5A9514B9A}"/>
              </a:ext>
            </a:extLst>
          </p:cNvPr>
          <p:cNvSpPr>
            <a:spLocks noGrp="1"/>
          </p:cNvSpPr>
          <p:nvPr/>
        </p:nvSpPr>
        <p:spPr>
          <a:xfrm>
            <a:off x="8210550" y="3314700"/>
            <a:ext cx="238125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D7E1EE"/>
                </a:solidFill>
                <a:latin typeface="Avenir Next"/>
                <a:ea typeface="Avenir Next"/>
                <a:cs typeface="Avenir Next"/>
              </a:defRPr>
            </a:pPr>
            <a:r>
              <a:rPr sz="938" b="0" dirty="0" err="1">
                <a:solidFill>
                  <a:srgbClr val="D7E1EE"/>
                </a:solidFill>
                <a:latin typeface="Avenir Next"/>
                <a:ea typeface="Avenir Next"/>
                <a:cs typeface="Avenir Next"/>
              </a:rPr>
              <a:t>www.transferai.ci</a:t>
            </a:r>
            <a:endParaRPr sz="938" b="0" dirty="0">
              <a:solidFill>
                <a:srgbClr val="D7E1EE"/>
              </a:solidFill>
              <a:latin typeface="Avenir Next"/>
              <a:ea typeface="Avenir Next"/>
              <a:cs typeface="Avenir Next"/>
            </a:endParaRPr>
          </a:p>
          <a:p>
            <a:pPr algn="l">
              <a:defRPr sz="938" b="0">
                <a:solidFill>
                  <a:srgbClr val="D7E1EE"/>
                </a:solidFill>
                <a:latin typeface="Avenir Next"/>
                <a:ea typeface="Avenir Next"/>
                <a:cs typeface="Avenir Next"/>
              </a:defRPr>
            </a:pPr>
            <a:r>
              <a:rPr sz="938" b="0" dirty="0" err="1">
                <a:solidFill>
                  <a:srgbClr val="D7E1EE"/>
                </a:solidFill>
                <a:latin typeface="Avenir Next"/>
                <a:ea typeface="Avenir Next"/>
                <a:cs typeface="Avenir Next"/>
              </a:rPr>
              <a:t>contact@transferai.ci</a:t>
            </a:r>
            <a:endParaRPr sz="938" b="0" dirty="0">
              <a:solidFill>
                <a:srgbClr val="D7E1EE"/>
              </a:solidFill>
              <a:latin typeface="Avenir Next"/>
              <a:ea typeface="Avenir Next"/>
              <a:cs typeface="Avenir Next"/>
            </a:endParaRPr>
          </a:p>
          <a:p>
            <a:pPr algn="l">
              <a:defRPr sz="938" b="0">
                <a:solidFill>
                  <a:srgbClr val="D7E1EE"/>
                </a:solidFill>
                <a:latin typeface="Avenir Next"/>
                <a:ea typeface="Avenir Next"/>
                <a:cs typeface="Avenir Next"/>
              </a:defRPr>
            </a:pPr>
            <a:r>
              <a:rPr sz="938" b="0">
                <a:solidFill>
                  <a:srgbClr val="D7E1EE"/>
                </a:solidFill>
                <a:latin typeface="Avenir Next"/>
                <a:ea typeface="Avenir Next"/>
                <a:cs typeface="Avenir Next"/>
              </a:rPr>
              <a:t>+225 07 16 57 39 90</a:t>
            </a:r>
          </a:p>
          <a:p>
            <a:pPr algn="l">
              <a:defRPr sz="938" b="0">
                <a:solidFill>
                  <a:srgbClr val="D7E1EE"/>
                </a:solidFill>
                <a:latin typeface="Avenir Next"/>
                <a:ea typeface="Avenir Next"/>
                <a:cs typeface="Avenir Next"/>
              </a:defRPr>
            </a:pPr>
            <a:r>
              <a:rPr sz="938" b="0" dirty="0">
                <a:solidFill>
                  <a:srgbClr val="D7E1EE"/>
                </a:solidFill>
                <a:latin typeface="Avenir Next"/>
                <a:ea typeface="Avenir Next"/>
                <a:cs typeface="Avenir Next"/>
              </a:rPr>
              <a:t>Riviera 3, carrefour Sainte Famille, Abidjan</a:t>
            </a:r>
          </a:p>
        </p:txBody>
      </p:sp>
      <p:sp>
        <p:nvSpPr>
          <p:cNvPr id="21" name="Rectangle 20">
            <a:extLst>
              <a:ext uri="{FF2B5EF4-FFF2-40B4-BE49-F238E27FC236}">
                <a16:creationId xmlns:a16="http://schemas.microsoft.com/office/drawing/2014/main" id="{7EE3B5B2-688F-4513-A06C-D0A97F609CCE}"/>
              </a:ext>
            </a:extLst>
          </p:cNvPr>
          <p:cNvSpPr>
            <a:spLocks noGrp="1"/>
          </p:cNvSpPr>
          <p:nvPr/>
        </p:nvSpPr>
        <p:spPr>
          <a:xfrm>
            <a:off x="8210550" y="4610100"/>
            <a:ext cx="2266950" cy="19050"/>
          </a:xfrm>
          <a:prstGeom prst="rect">
            <a:avLst/>
          </a:prstGeom>
          <a:solidFill>
            <a:srgbClr val="1D8A78"/>
          </a:solidFill>
          <a:ln w="0">
            <a:solidFill>
              <a:srgbClr val="000000">
                <a:alpha val="0"/>
              </a:srgbClr>
            </a:solidFill>
            <a:prstDash val="solid"/>
          </a:ln>
        </p:spPr>
      </p:sp>
      <p:sp>
        <p:nvSpPr>
          <p:cNvPr id="22" name="Rectangle 21">
            <a:extLst>
              <a:ext uri="{FF2B5EF4-FFF2-40B4-BE49-F238E27FC236}">
                <a16:creationId xmlns:a16="http://schemas.microsoft.com/office/drawing/2014/main" id="{C1C9C58E-8194-447F-89DC-92B298F7BA2D}"/>
              </a:ext>
            </a:extLst>
          </p:cNvPr>
          <p:cNvSpPr>
            <a:spLocks noGrp="1"/>
          </p:cNvSpPr>
          <p:nvPr/>
        </p:nvSpPr>
        <p:spPr>
          <a:xfrm>
            <a:off x="8210550" y="4800600"/>
            <a:ext cx="25908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FFFFFF"/>
                </a:solidFill>
                <a:latin typeface="Avenir Next"/>
                <a:ea typeface="Avenir Next"/>
                <a:cs typeface="Avenir Next"/>
              </a:defRPr>
            </a:pPr>
            <a:r>
              <a:rPr sz="863" b="1">
                <a:solidFill>
                  <a:srgbClr val="FFFFFF"/>
                </a:solidFill>
                <a:latin typeface="Avenir Next"/>
                <a:ea typeface="Avenir Next"/>
                <a:cs typeface="Avenir Next"/>
              </a:rPr>
              <a:t>Formule courte recommandée : nous vous aidons à identifier les usages les plus utiles, à former les bonnes équipes et à choisir la bonne suite pour l'entreprise.</a:t>
            </a:r>
          </a:p>
        </p:txBody>
      </p:sp>
      <p:sp>
        <p:nvSpPr>
          <p:cNvPr id="23" name="Rectangle 22">
            <a:extLst>
              <a:ext uri="{FF2B5EF4-FFF2-40B4-BE49-F238E27FC236}">
                <a16:creationId xmlns:a16="http://schemas.microsoft.com/office/drawing/2014/main" id="{CA232485-C4EA-4AA3-9A60-DED58E76D83F}"/>
              </a:ext>
            </a:extLst>
          </p:cNvPr>
          <p:cNvSpPr>
            <a:spLocks noGrp="1"/>
          </p:cNvSpPr>
          <p:nvPr/>
        </p:nvSpPr>
        <p:spPr>
          <a:xfrm>
            <a:off x="552450" y="6496050"/>
            <a:ext cx="11087100" cy="9525"/>
          </a:xfrm>
          <a:prstGeom prst="rect">
            <a:avLst/>
          </a:prstGeom>
          <a:solidFill>
            <a:srgbClr val="D9D1C6"/>
          </a:solidFill>
          <a:ln w="0">
            <a:solidFill>
              <a:srgbClr val="000000">
                <a:alpha val="0"/>
              </a:srgbClr>
            </a:solidFill>
            <a:prstDash val="solid"/>
          </a:ln>
        </p:spPr>
      </p:sp>
      <p:sp>
        <p:nvSpPr>
          <p:cNvPr id="24" name="Rectangle 23">
            <a:extLst>
              <a:ext uri="{FF2B5EF4-FFF2-40B4-BE49-F238E27FC236}">
                <a16:creationId xmlns:a16="http://schemas.microsoft.com/office/drawing/2014/main" id="{0534E828-90D0-43E5-840C-C20CCAE91CB8}"/>
              </a:ext>
            </a:extLst>
          </p:cNvPr>
          <p:cNvSpPr>
            <a:spLocks noGrp="1"/>
          </p:cNvSpPr>
          <p:nvPr/>
        </p:nvSpPr>
        <p:spPr>
          <a:xfrm>
            <a:off x="552450" y="6562725"/>
            <a:ext cx="8763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563" b="0">
                <a:solidFill>
                  <a:srgbClr val="5C6777"/>
                </a:solidFill>
                <a:latin typeface="Avenir Next"/>
                <a:ea typeface="Avenir Next"/>
                <a:cs typeface="Avenir Next"/>
              </a:defRPr>
            </a:pPr>
            <a:r>
              <a:rPr sz="563" b="0">
                <a:solidFill>
                  <a:srgbClr val="5C6777"/>
                </a:solidFill>
                <a:latin typeface="Avenir Next"/>
                <a:ea typeface="Avenir Next"/>
                <a:cs typeface="Avenir Next"/>
              </a:rPr>
              <a:t>TransferAI Africa | Offre ciblée ELTON Oil CI | Clôture</a:t>
            </a:r>
          </a:p>
        </p:txBody>
      </p:sp>
      <p:sp>
        <p:nvSpPr>
          <p:cNvPr id="25" name="Rectangle 24">
            <a:extLst>
              <a:ext uri="{FF2B5EF4-FFF2-40B4-BE49-F238E27FC236}">
                <a16:creationId xmlns:a16="http://schemas.microsoft.com/office/drawing/2014/main" id="{915FA6F1-0F0B-4134-AF52-E370CFE7F206}"/>
              </a:ext>
            </a:extLst>
          </p:cNvPr>
          <p:cNvSpPr>
            <a:spLocks noGrp="1"/>
          </p:cNvSpPr>
          <p:nvPr/>
        </p:nvSpPr>
        <p:spPr>
          <a:xfrm>
            <a:off x="11239500" y="6524625"/>
            <a:ext cx="419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5C6777"/>
                </a:solidFill>
                <a:latin typeface="Georgia"/>
                <a:ea typeface="Georgia"/>
                <a:cs typeface="Georgia"/>
              </a:defRPr>
            </a:pPr>
            <a:r>
              <a:rPr sz="825" b="1">
                <a:solidFill>
                  <a:srgbClr val="5C6777"/>
                </a:solidFill>
                <a:latin typeface="Georgia"/>
                <a:ea typeface="Georgia"/>
                <a:cs typeface="Georgia"/>
              </a:rPr>
              <a:t>09</a:t>
            </a:r>
          </a:p>
        </p:txBody>
      </p:sp>
    </p:spTree>
    <p:extLst>
      <p:ext uri="{BB962C8B-B14F-4D97-AF65-F5344CB8AC3E}">
        <p14:creationId xmlns:p14="http://schemas.microsoft.com/office/powerpoint/2010/main" val="102884970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1738</Words>
  <Application>Microsoft Macintosh PowerPoint</Application>
  <DocSecurity>0</DocSecurity>
  <PresentationFormat>Widescreen</PresentationFormat>
  <Paragraphs>189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Avenir Next</vt:lpstr>
      <vt:lpstr>Calibri</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vtoc limited</cp:lastModifiedBy>
  <cp:revision>1</cp:revision>
  <dcterms:created xsi:type="dcterms:W3CDTF">2026-05-22T18:31:29Z</dcterms:created>
  <dcterms:modified xsi:type="dcterms:W3CDTF">2026-05-22T19:22:14Z</dcterms:modified>
</cp:coreProperties>
</file>