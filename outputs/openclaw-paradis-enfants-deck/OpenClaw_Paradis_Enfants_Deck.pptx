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-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>
            <a:extLst>
              <a:ext uri="{FF2B5EF4-FFF2-40B4-BE49-F238E27FC236}">
                <a16:creationId xmlns:a16="http://schemas.microsoft.com/office/drawing/2014/main" id="{24F5BC80-BA3E-4F34-9BCD-872D023D6C1C}"/>
              </a:ext>
            </a:extLst>
          </p:cNvPr>
          <p:cNvSpPr>
            <a:spLocks noGrp="1"/>
          </p:cNvSpPr>
          <p:nvPr/>
        </p:nvSpPr>
        <p:spPr>
          <a:xfrm>
            <a:off x="-381000" y="-190500"/>
            <a:ext cx="3429000" cy="3429000"/>
          </a:xfrm>
          <a:prstGeom prst="ellipse">
            <a:avLst/>
          </a:prstGeom>
          <a:solidFill>
            <a:srgbClr val="FFE8F6"/>
          </a:solidFill>
          <a:ln w="0">
            <a:solidFill>
              <a:srgbClr val="FFE8F6"/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0BA3417-D829-48F0-B423-EF7C3AD9D8C7}"/>
              </a:ext>
            </a:extLst>
          </p:cNvPr>
          <p:cNvSpPr>
            <a:spLocks noGrp="1"/>
          </p:cNvSpPr>
          <p:nvPr/>
        </p:nvSpPr>
        <p:spPr>
          <a:xfrm>
            <a:off x="8096250" y="381000"/>
            <a:ext cx="3619500" cy="3619500"/>
          </a:xfrm>
          <a:prstGeom prst="ellipse">
            <a:avLst/>
          </a:prstGeom>
          <a:solidFill>
            <a:srgbClr val="E6EAFF"/>
          </a:solidFill>
          <a:ln w="0">
            <a:solidFill>
              <a:srgbClr val="E6EAFF"/>
            </a:solidFill>
            <a:prstDash val="solid"/>
          </a:ln>
        </p:spPr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1A8DB38-12B6-454E-8C74-E65A4ECF3EBE}"/>
              </a:ext>
            </a:extLst>
          </p:cNvPr>
          <p:cNvSpPr>
            <a:spLocks noGrp="1"/>
          </p:cNvSpPr>
          <p:nvPr/>
        </p:nvSpPr>
        <p:spPr>
          <a:xfrm>
            <a:off x="666750" y="4476750"/>
            <a:ext cx="10858500" cy="1524000"/>
          </a:xfrm>
          <a:prstGeom prst="roundRect">
            <a:avLst>
              <a:gd name="adj" fmla="val 15000"/>
            </a:avLst>
          </a:prstGeom>
          <a:solidFill>
            <a:srgbClr val="324CFF"/>
          </a:solidFill>
          <a:ln w="0">
            <a:solidFill>
              <a:srgbClr val="324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60C15F-B245-42FE-B092-99801199E063}"/>
              </a:ext>
            </a:extLst>
          </p:cNvPr>
          <p:cNvSpPr>
            <a:spLocks noGrp="1"/>
          </p:cNvSpPr>
          <p:nvPr/>
        </p:nvSpPr>
        <p:spPr>
          <a:xfrm>
            <a:off x="781050" y="685800"/>
            <a:ext cx="590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FF5ABF"/>
                </a:solidFill>
              </a:defRPr>
            </a:pPr>
            <a:r>
              <a:rPr sz="1200" b="1" i="0">
                <a:solidFill>
                  <a:srgbClr val="FF5ABF"/>
                </a:solidFill>
              </a:rPr>
              <a:t>TRANSFERAI • NETTELECOM CI • PARADIS D'ENFANTS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B23979-473E-4313-83EA-058B2944ADA8}"/>
              </a:ext>
            </a:extLst>
          </p:cNvPr>
          <p:cNvSpPr>
            <a:spLocks noGrp="1"/>
          </p:cNvSpPr>
          <p:nvPr/>
        </p:nvSpPr>
        <p:spPr>
          <a:xfrm>
            <a:off x="761999" y="1143000"/>
            <a:ext cx="8934894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 b="1" i="0">
                <a:solidFill>
                  <a:srgbClr val="1F2A7A"/>
                </a:solidFill>
              </a:defRPr>
            </a:pPr>
            <a:r>
              <a:rPr sz="3000" b="1" i="0" dirty="0">
                <a:solidFill>
                  <a:srgbClr val="1F2A7A"/>
                </a:solidFill>
              </a:rPr>
              <a:t>Comment TikTok, Facebook et WhatsApp </a:t>
            </a:r>
            <a:r>
              <a:rPr sz="3000" b="1" i="0" dirty="0" err="1">
                <a:solidFill>
                  <a:srgbClr val="1F2A7A"/>
                </a:solidFill>
              </a:rPr>
              <a:t>deviennent</a:t>
            </a:r>
            <a:endParaRPr sz="3000" b="1" i="0" dirty="0">
              <a:solidFill>
                <a:srgbClr val="1F2A7A"/>
              </a:solidFill>
            </a:endParaRPr>
          </a:p>
          <a:p>
            <a:pPr algn="ctr">
              <a:defRPr sz="3000" b="1" i="0">
                <a:solidFill>
                  <a:srgbClr val="1F2A7A"/>
                </a:solidFill>
              </a:defRPr>
            </a:pPr>
            <a:r>
              <a:rPr sz="3000" b="1" i="0" dirty="0" err="1">
                <a:solidFill>
                  <a:srgbClr val="1F2A7A"/>
                </a:solidFill>
              </a:rPr>
              <a:t>une</a:t>
            </a:r>
            <a:r>
              <a:rPr sz="3000" b="1" i="0" dirty="0">
                <a:solidFill>
                  <a:srgbClr val="1F2A7A"/>
                </a:solidFill>
              </a:rPr>
              <a:t> boutique </a:t>
            </a:r>
            <a:r>
              <a:rPr sz="3000" b="1" i="0" dirty="0" err="1">
                <a:solidFill>
                  <a:srgbClr val="1F2A7A"/>
                </a:solidFill>
              </a:rPr>
              <a:t>pilotée</a:t>
            </a:r>
            <a:r>
              <a:rPr sz="3000" b="1" i="0" dirty="0">
                <a:solidFill>
                  <a:srgbClr val="1F2A7A"/>
                </a:solidFill>
              </a:rPr>
              <a:t> par </a:t>
            </a:r>
            <a:r>
              <a:rPr sz="3000" b="1" i="0" dirty="0" err="1">
                <a:solidFill>
                  <a:srgbClr val="1F2A7A"/>
                </a:solidFill>
              </a:rPr>
              <a:t>l'IA</a:t>
            </a:r>
            <a:endParaRPr sz="3000" b="1" i="0" dirty="0">
              <a:solidFill>
                <a:srgbClr val="1F2A7A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16D91A-C494-4C8D-A014-A82D04BC0326}"/>
              </a:ext>
            </a:extLst>
          </p:cNvPr>
          <p:cNvSpPr>
            <a:spLocks noGrp="1"/>
          </p:cNvSpPr>
          <p:nvPr/>
        </p:nvSpPr>
        <p:spPr>
          <a:xfrm>
            <a:off x="781050" y="2990850"/>
            <a:ext cx="6191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 i="0">
                <a:solidFill>
                  <a:srgbClr val="475569"/>
                </a:solidFill>
              </a:defRPr>
            </a:pPr>
            <a:r>
              <a:rPr sz="1575" b="0" i="0" dirty="0">
                <a:solidFill>
                  <a:srgbClr val="475569"/>
                </a:solidFill>
              </a:rPr>
              <a:t>Une </a:t>
            </a:r>
            <a:r>
              <a:rPr sz="1575" b="0" i="0" dirty="0" err="1">
                <a:solidFill>
                  <a:srgbClr val="475569"/>
                </a:solidFill>
              </a:rPr>
              <a:t>démonstration</a:t>
            </a:r>
            <a:r>
              <a:rPr sz="1575" b="0" i="0" dirty="0">
                <a:solidFill>
                  <a:srgbClr val="475569"/>
                </a:solidFill>
              </a:rPr>
              <a:t> concrète du tunnel social commerce : </a:t>
            </a:r>
            <a:r>
              <a:rPr sz="1575" b="0" i="0" dirty="0" err="1">
                <a:solidFill>
                  <a:srgbClr val="475569"/>
                </a:solidFill>
              </a:rPr>
              <a:t>attirer</a:t>
            </a:r>
            <a:r>
              <a:rPr sz="1575" b="0" i="0" dirty="0">
                <a:solidFill>
                  <a:srgbClr val="475569"/>
                </a:solidFill>
              </a:rPr>
              <a:t>, </a:t>
            </a:r>
            <a:r>
              <a:rPr sz="1575" b="0" i="0" dirty="0" err="1">
                <a:solidFill>
                  <a:srgbClr val="475569"/>
                </a:solidFill>
              </a:rPr>
              <a:t>convertir</a:t>
            </a:r>
            <a:r>
              <a:rPr sz="1575" b="0" i="0" dirty="0">
                <a:solidFill>
                  <a:srgbClr val="475569"/>
                </a:solidFill>
              </a:rPr>
              <a:t>, </a:t>
            </a:r>
            <a:r>
              <a:rPr sz="1575" b="0" i="0" dirty="0" err="1">
                <a:solidFill>
                  <a:srgbClr val="475569"/>
                </a:solidFill>
              </a:rPr>
              <a:t>enregistrer</a:t>
            </a:r>
            <a:r>
              <a:rPr sz="1575" b="0" i="0" dirty="0">
                <a:solidFill>
                  <a:srgbClr val="475569"/>
                </a:solidFill>
              </a:rPr>
              <a:t> dans le CRM</a:t>
            </a:r>
            <a:r>
              <a:rPr lang="en-GB" sz="1575" b="0" i="0" dirty="0">
                <a:solidFill>
                  <a:srgbClr val="475569"/>
                </a:solidFill>
              </a:rPr>
              <a:t> (base </a:t>
            </a:r>
            <a:r>
              <a:rPr lang="en-GB" sz="1575" dirty="0">
                <a:solidFill>
                  <a:srgbClr val="475569"/>
                </a:solidFill>
              </a:rPr>
              <a:t>de données </a:t>
            </a:r>
            <a:r>
              <a:rPr lang="en-GB" sz="1575" b="0" i="0" dirty="0">
                <a:solidFill>
                  <a:srgbClr val="475569"/>
                </a:solidFill>
              </a:rPr>
              <a:t>de contact)</a:t>
            </a:r>
            <a:r>
              <a:rPr sz="1575" b="0" i="0" dirty="0">
                <a:solidFill>
                  <a:srgbClr val="475569"/>
                </a:solidFill>
              </a:rPr>
              <a:t>, </a:t>
            </a:r>
            <a:r>
              <a:rPr sz="1575" b="0" i="0" dirty="0" err="1">
                <a:solidFill>
                  <a:srgbClr val="475569"/>
                </a:solidFill>
              </a:rPr>
              <a:t>relancer</a:t>
            </a:r>
            <a:r>
              <a:rPr sz="1575" b="0" i="0" dirty="0">
                <a:solidFill>
                  <a:srgbClr val="475569"/>
                </a:solidFill>
              </a:rPr>
              <a:t>, </a:t>
            </a:r>
            <a:r>
              <a:rPr sz="1575" b="0" i="0" dirty="0" err="1">
                <a:solidFill>
                  <a:srgbClr val="475569"/>
                </a:solidFill>
              </a:rPr>
              <a:t>vendre</a:t>
            </a:r>
            <a:r>
              <a:rPr sz="1575" b="0" i="0" dirty="0">
                <a:solidFill>
                  <a:srgbClr val="475569"/>
                </a:solidFill>
              </a:rPr>
              <a:t>, </a:t>
            </a:r>
            <a:r>
              <a:rPr sz="1575" b="0" i="0" dirty="0" err="1">
                <a:solidFill>
                  <a:srgbClr val="475569"/>
                </a:solidFill>
              </a:rPr>
              <a:t>encaisser</a:t>
            </a:r>
            <a:r>
              <a:rPr sz="1575" b="0" i="0" dirty="0">
                <a:solidFill>
                  <a:srgbClr val="475569"/>
                </a:solidFill>
              </a:rPr>
              <a:t> et </a:t>
            </a:r>
            <a:r>
              <a:rPr sz="1575" b="0" i="0" dirty="0" err="1">
                <a:solidFill>
                  <a:srgbClr val="475569"/>
                </a:solidFill>
              </a:rPr>
              <a:t>suivre</a:t>
            </a:r>
            <a:r>
              <a:rPr sz="1575" b="0" i="0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3ED6CD5-D13B-4FD2-BD0D-87A91992D7FE}"/>
              </a:ext>
            </a:extLst>
          </p:cNvPr>
          <p:cNvSpPr>
            <a:spLocks noGrp="1"/>
          </p:cNvSpPr>
          <p:nvPr/>
        </p:nvSpPr>
        <p:spPr>
          <a:xfrm>
            <a:off x="781050" y="390525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F7D6EB"/>
          </a:solidFill>
          <a:ln w="0">
            <a:solidFill>
              <a:srgbClr val="F7D6EB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B9BB8A-DC91-4320-A257-A4A2168D6666}"/>
              </a:ext>
            </a:extLst>
          </p:cNvPr>
          <p:cNvSpPr>
            <a:spLocks noGrp="1"/>
          </p:cNvSpPr>
          <p:nvPr/>
        </p:nvSpPr>
        <p:spPr>
          <a:xfrm>
            <a:off x="895350" y="3971925"/>
            <a:ext cx="1390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1F2A7A"/>
                </a:solidFill>
              </a:defRPr>
            </a:pPr>
            <a:r>
              <a:rPr sz="1050" b="1" i="0">
                <a:solidFill>
                  <a:srgbClr val="1F2A7A"/>
                </a:solidFill>
              </a:rPr>
              <a:t>TikTok attire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3377275-A4A3-4E32-8E1D-A5ADA9FCE7F8}"/>
              </a:ext>
            </a:extLst>
          </p:cNvPr>
          <p:cNvSpPr>
            <a:spLocks noGrp="1"/>
          </p:cNvSpPr>
          <p:nvPr/>
        </p:nvSpPr>
        <p:spPr>
          <a:xfrm>
            <a:off x="2533650" y="3905250"/>
            <a:ext cx="1809750" cy="323850"/>
          </a:xfrm>
          <a:prstGeom prst="roundRect">
            <a:avLst>
              <a:gd name="adj" fmla="val 50000"/>
            </a:avLst>
          </a:prstGeom>
          <a:solidFill>
            <a:srgbClr val="EDEBFF"/>
          </a:solidFill>
          <a:ln w="0">
            <a:solidFill>
              <a:srgbClr val="EDEBF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F6398F-310B-4B6A-9264-A1DEC92E6F0D}"/>
              </a:ext>
            </a:extLst>
          </p:cNvPr>
          <p:cNvSpPr>
            <a:spLocks noGrp="1"/>
          </p:cNvSpPr>
          <p:nvPr/>
        </p:nvSpPr>
        <p:spPr>
          <a:xfrm>
            <a:off x="2647950" y="3971925"/>
            <a:ext cx="1581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1F2A7A"/>
                </a:solidFill>
              </a:defRPr>
            </a:pPr>
            <a:r>
              <a:rPr sz="1050" b="1" i="0">
                <a:solidFill>
                  <a:srgbClr val="1F2A7A"/>
                </a:solidFill>
              </a:rPr>
              <a:t>Facebook rassure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2F03A94-ADEB-412C-B8E4-E0B82C9E99D3}"/>
              </a:ext>
            </a:extLst>
          </p:cNvPr>
          <p:cNvSpPr>
            <a:spLocks noGrp="1"/>
          </p:cNvSpPr>
          <p:nvPr/>
        </p:nvSpPr>
        <p:spPr>
          <a:xfrm>
            <a:off x="4476750" y="3905250"/>
            <a:ext cx="1885950" cy="323850"/>
          </a:xfrm>
          <a:prstGeom prst="roundRect">
            <a:avLst>
              <a:gd name="adj" fmla="val 50000"/>
            </a:avLst>
          </a:prstGeom>
          <a:solidFill>
            <a:srgbClr val="E5F5EF"/>
          </a:solidFill>
          <a:ln w="0">
            <a:solidFill>
              <a:srgbClr val="E5F5EF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BF3AB5-D747-4385-90B5-45FB14761B15}"/>
              </a:ext>
            </a:extLst>
          </p:cNvPr>
          <p:cNvSpPr>
            <a:spLocks noGrp="1"/>
          </p:cNvSpPr>
          <p:nvPr/>
        </p:nvSpPr>
        <p:spPr>
          <a:xfrm>
            <a:off x="4591050" y="3971925"/>
            <a:ext cx="1657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1F9D72"/>
                </a:solidFill>
              </a:defRPr>
            </a:pPr>
            <a:r>
              <a:rPr sz="1050" b="1" i="0">
                <a:solidFill>
                  <a:srgbClr val="1F9D72"/>
                </a:solidFill>
              </a:rPr>
              <a:t>WhatsApp convertit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81D7D1-B1BD-466C-A4F4-481E62C7632E}"/>
              </a:ext>
            </a:extLst>
          </p:cNvPr>
          <p:cNvSpPr>
            <a:spLocks noGrp="1"/>
          </p:cNvSpPr>
          <p:nvPr/>
        </p:nvSpPr>
        <p:spPr>
          <a:xfrm>
            <a:off x="971550" y="4762500"/>
            <a:ext cx="5429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 i="0">
                <a:solidFill>
                  <a:srgbClr val="FFFFFF"/>
                </a:solidFill>
              </a:defRPr>
            </a:pPr>
            <a:r>
              <a:rPr sz="1575" b="0" i="0" dirty="0">
                <a:solidFill>
                  <a:srgbClr val="FFFFFF"/>
                </a:solidFill>
              </a:rPr>
              <a:t>1. Les </a:t>
            </a:r>
            <a:r>
              <a:rPr sz="1575" b="0" i="0" dirty="0" err="1">
                <a:solidFill>
                  <a:srgbClr val="FFFFFF"/>
                </a:solidFill>
              </a:rPr>
              <a:t>contenus</a:t>
            </a:r>
            <a:r>
              <a:rPr sz="1575" b="0" i="0" dirty="0">
                <a:solidFill>
                  <a:srgbClr val="FFFFFF"/>
                </a:solidFill>
              </a:rPr>
              <a:t> </a:t>
            </a:r>
            <a:r>
              <a:rPr sz="1575" b="0" i="0" dirty="0" err="1">
                <a:solidFill>
                  <a:srgbClr val="FFFFFF"/>
                </a:solidFill>
              </a:rPr>
              <a:t>sociaux</a:t>
            </a:r>
            <a:r>
              <a:rPr sz="1575" b="0" i="0" dirty="0">
                <a:solidFill>
                  <a:srgbClr val="FFFFFF"/>
                </a:solidFill>
              </a:rPr>
              <a:t> </a:t>
            </a:r>
            <a:r>
              <a:rPr sz="1575" b="0" i="0" dirty="0" err="1">
                <a:solidFill>
                  <a:srgbClr val="FFFFFF"/>
                </a:solidFill>
              </a:rPr>
              <a:t>créent</a:t>
            </a:r>
            <a:r>
              <a:rPr sz="1575" b="0" i="0" dirty="0">
                <a:solidFill>
                  <a:srgbClr val="FFFFFF"/>
                </a:solidFill>
              </a:rPr>
              <a:t> la </a:t>
            </a:r>
            <a:r>
              <a:rPr sz="1575" b="0" i="0" dirty="0" err="1">
                <a:solidFill>
                  <a:srgbClr val="FFFFFF"/>
                </a:solidFill>
              </a:rPr>
              <a:t>demande</a:t>
            </a:r>
            <a:endParaRPr sz="1575" b="0" i="0" dirty="0">
              <a:solidFill>
                <a:srgbClr val="FFFFFF"/>
              </a:solidFill>
            </a:endParaRPr>
          </a:p>
          <a:p>
            <a:pPr>
              <a:defRPr sz="1575" b="0" i="0">
                <a:solidFill>
                  <a:srgbClr val="FFFFFF"/>
                </a:solidFill>
              </a:defRPr>
            </a:pPr>
            <a:r>
              <a:rPr sz="1575" b="0" i="0" dirty="0">
                <a:solidFill>
                  <a:srgbClr val="FFFFFF"/>
                </a:solidFill>
              </a:rPr>
              <a:t>2. OpenClaw structure la conversation</a:t>
            </a:r>
          </a:p>
          <a:p>
            <a:pPr>
              <a:defRPr sz="1575" b="0" i="0">
                <a:solidFill>
                  <a:srgbClr val="FFFFFF"/>
                </a:solidFill>
              </a:defRPr>
            </a:pPr>
            <a:r>
              <a:rPr sz="1575" b="0" i="0" dirty="0">
                <a:solidFill>
                  <a:srgbClr val="FFFFFF"/>
                </a:solidFill>
              </a:rPr>
              <a:t>3. Le CRM garde la </a:t>
            </a:r>
            <a:r>
              <a:rPr sz="1575" b="0" i="0" dirty="0" err="1">
                <a:solidFill>
                  <a:srgbClr val="FFFFFF"/>
                </a:solidFill>
              </a:rPr>
              <a:t>mémoire</a:t>
            </a:r>
            <a:r>
              <a:rPr sz="1575" b="0" i="0" dirty="0">
                <a:solidFill>
                  <a:srgbClr val="FFFFFF"/>
                </a:solidFill>
              </a:rPr>
              <a:t> client</a:t>
            </a:r>
          </a:p>
          <a:p>
            <a:pPr>
              <a:defRPr sz="1575" b="0" i="0">
                <a:solidFill>
                  <a:srgbClr val="FFFFFF"/>
                </a:solidFill>
              </a:defRPr>
            </a:pPr>
            <a:r>
              <a:rPr sz="1575" b="0" i="0" dirty="0">
                <a:solidFill>
                  <a:srgbClr val="FFFFFF"/>
                </a:solidFill>
              </a:rPr>
              <a:t>4. La boutique relance, </a:t>
            </a:r>
            <a:r>
              <a:rPr sz="1575" b="0" i="0" dirty="0" err="1">
                <a:solidFill>
                  <a:srgbClr val="FFFFFF"/>
                </a:solidFill>
              </a:rPr>
              <a:t>encaisse</a:t>
            </a:r>
            <a:r>
              <a:rPr sz="1575" b="0" i="0" dirty="0">
                <a:solidFill>
                  <a:srgbClr val="FFFFFF"/>
                </a:solidFill>
              </a:rPr>
              <a:t> et suit </a:t>
            </a:r>
            <a:r>
              <a:rPr sz="1575" b="0" i="0" dirty="0" err="1">
                <a:solidFill>
                  <a:srgbClr val="FFFFFF"/>
                </a:solidFill>
              </a:rPr>
              <a:t>mieux</a:t>
            </a:r>
            <a:endParaRPr sz="1575" b="0" i="0" dirty="0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9DD3AD-2185-4BB0-83DE-068E097E46F2}"/>
              </a:ext>
            </a:extLst>
          </p:cNvPr>
          <p:cNvSpPr>
            <a:spLocks noGrp="1"/>
          </p:cNvSpPr>
          <p:nvPr/>
        </p:nvSpPr>
        <p:spPr>
          <a:xfrm>
            <a:off x="7239000" y="4953000"/>
            <a:ext cx="3714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Support de démonstration commerciale</a:t>
            </a:r>
          </a:p>
          <a:p>
            <a:pPr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Projet piloté par TransferAI, notre hub IA, en collaboration avec Nettelecom CI.</a:t>
            </a:r>
          </a:p>
        </p:txBody>
      </p:sp>
    </p:spTree>
    <p:extLst>
      <p:ext uri="{BB962C8B-B14F-4D97-AF65-F5344CB8AC3E}">
        <p14:creationId xmlns:p14="http://schemas.microsoft.com/office/powerpoint/2010/main" val="459473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8">
            <a:extLst>
              <a:ext uri="{FF2B5EF4-FFF2-40B4-BE49-F238E27FC236}">
                <a16:creationId xmlns:a16="http://schemas.microsoft.com/office/drawing/2014/main" id="{BF6769B6-E842-417D-96BF-9F8BB5D1A7B8}"/>
              </a:ext>
            </a:extLst>
          </p:cNvPr>
          <p:cNvSpPr>
            <a:spLocks noGrp="1"/>
          </p:cNvSpPr>
          <p:nvPr/>
        </p:nvSpPr>
        <p:spPr>
          <a:xfrm>
            <a:off x="-762000" y="-476250"/>
            <a:ext cx="2857500" cy="2857500"/>
          </a:xfrm>
          <a:prstGeom prst="ellipse">
            <a:avLst/>
          </a:prstGeom>
          <a:solidFill>
            <a:srgbClr val="FFE8F6"/>
          </a:solidFill>
          <a:ln w="0">
            <a:solidFill>
              <a:srgbClr val="FFE8F6"/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188D31F-06B1-4F90-9AF9-B0BBB0FA367D}"/>
              </a:ext>
            </a:extLst>
          </p:cNvPr>
          <p:cNvSpPr>
            <a:spLocks noGrp="1"/>
          </p:cNvSpPr>
          <p:nvPr/>
        </p:nvSpPr>
        <p:spPr>
          <a:xfrm>
            <a:off x="9810750" y="4953000"/>
            <a:ext cx="2476500" cy="2476500"/>
          </a:xfrm>
          <a:prstGeom prst="ellipse">
            <a:avLst/>
          </a:prstGeom>
          <a:solidFill>
            <a:srgbClr val="E8ECFF"/>
          </a:solidFill>
          <a:ln w="0">
            <a:solidFill>
              <a:srgbClr val="E8ECFF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899184-A9BB-419D-B481-D04EC7C59959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FF5ABF"/>
                </a:solidFill>
              </a:defRPr>
            </a:pPr>
            <a:r>
              <a:rPr sz="975" b="1" i="0">
                <a:solidFill>
                  <a:srgbClr val="FF5ABF"/>
                </a:solidFill>
              </a:rPr>
              <a:t>LIVE TIKTOK • TRANSFERAI x NETTELECOM CI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CF8D96-AA4C-4A6C-B27F-57A75C6B5FB5}"/>
              </a:ext>
            </a:extLst>
          </p:cNvPr>
          <p:cNvSpPr>
            <a:spLocks noGrp="1"/>
          </p:cNvSpPr>
          <p:nvPr/>
        </p:nvSpPr>
        <p:spPr>
          <a:xfrm>
            <a:off x="-233916" y="723900"/>
            <a:ext cx="11740116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 i="0">
                <a:solidFill>
                  <a:srgbClr val="1F2A7A"/>
                </a:solidFill>
              </a:defRPr>
            </a:pPr>
            <a:r>
              <a:rPr sz="2400" b="1" i="0" dirty="0">
                <a:solidFill>
                  <a:srgbClr val="1F2A7A"/>
                </a:solidFill>
              </a:rPr>
              <a:t>Le </a:t>
            </a:r>
            <a:r>
              <a:rPr sz="2400" b="1" i="0" dirty="0" err="1">
                <a:solidFill>
                  <a:srgbClr val="1F2A7A"/>
                </a:solidFill>
              </a:rPr>
              <a:t>vrai</a:t>
            </a:r>
            <a:r>
              <a:rPr sz="2400" b="1" i="0" dirty="0">
                <a:solidFill>
                  <a:srgbClr val="1F2A7A"/>
                </a:solidFill>
              </a:rPr>
              <a:t> </a:t>
            </a:r>
            <a:r>
              <a:rPr sz="2400" b="1" i="0" dirty="0" err="1">
                <a:solidFill>
                  <a:srgbClr val="1F2A7A"/>
                </a:solidFill>
              </a:rPr>
              <a:t>problème</a:t>
            </a:r>
            <a:r>
              <a:rPr sz="2400" b="1" i="0" dirty="0">
                <a:solidFill>
                  <a:srgbClr val="1F2A7A"/>
                </a:solidFill>
              </a:rPr>
              <a:t> : les réseaux </a:t>
            </a:r>
            <a:r>
              <a:rPr sz="2400" b="1" i="0" dirty="0" err="1">
                <a:solidFill>
                  <a:srgbClr val="1F2A7A"/>
                </a:solidFill>
              </a:rPr>
              <a:t>génèrent</a:t>
            </a:r>
            <a:r>
              <a:rPr sz="2400" b="1" i="0" dirty="0">
                <a:solidFill>
                  <a:srgbClr val="1F2A7A"/>
                </a:solidFill>
              </a:rPr>
              <a:t> </a:t>
            </a:r>
            <a:r>
              <a:rPr sz="2400" b="1" i="0" dirty="0" err="1">
                <a:solidFill>
                  <a:srgbClr val="1F2A7A"/>
                </a:solidFill>
              </a:rPr>
              <a:t>l'intérêt</a:t>
            </a:r>
            <a:r>
              <a:rPr sz="2400" b="1" i="0" dirty="0">
                <a:solidFill>
                  <a:srgbClr val="1F2A7A"/>
                </a:solidFill>
              </a:rPr>
              <a:t>, </a:t>
            </a:r>
            <a:r>
              <a:rPr sz="2400" b="1" i="0" dirty="0" err="1">
                <a:solidFill>
                  <a:srgbClr val="1F2A7A"/>
                </a:solidFill>
              </a:rPr>
              <a:t>mais</a:t>
            </a:r>
            <a:r>
              <a:rPr sz="2400" b="1" i="0" dirty="0">
                <a:solidFill>
                  <a:srgbClr val="1F2A7A"/>
                </a:solidFill>
              </a:rPr>
              <a:t> la boutique </a:t>
            </a:r>
            <a:r>
              <a:rPr sz="2400" b="1" i="0" dirty="0" err="1">
                <a:solidFill>
                  <a:srgbClr val="1F2A7A"/>
                </a:solidFill>
              </a:rPr>
              <a:t>perd</a:t>
            </a:r>
            <a:r>
              <a:rPr sz="2400" b="1" i="0" dirty="0">
                <a:solidFill>
                  <a:srgbClr val="1F2A7A"/>
                </a:solidFill>
              </a:rPr>
              <a:t> encore des ventes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033720-8AA3-4254-AE49-BB9B57715502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1038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75569"/>
                </a:solidFill>
              </a:defRPr>
            </a:pPr>
            <a:r>
              <a:rPr sz="975" b="0" i="0">
                <a:solidFill>
                  <a:srgbClr val="475569"/>
                </a:solidFill>
              </a:rPr>
              <a:t>Projet piloté par TransferAI, notre hub IA, en collaboration avec Nettelecom CI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142E7CD-D423-4606-9397-D5F79E47C1FE}"/>
              </a:ext>
            </a:extLst>
          </p:cNvPr>
          <p:cNvSpPr>
            <a:spLocks noGrp="1"/>
          </p:cNvSpPr>
          <p:nvPr/>
        </p:nvSpPr>
        <p:spPr>
          <a:xfrm>
            <a:off x="685800" y="1428749"/>
            <a:ext cx="5143500" cy="4457699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7DC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569F5BD-64D3-443A-9712-4123B25470D8}"/>
              </a:ext>
            </a:extLst>
          </p:cNvPr>
          <p:cNvSpPr>
            <a:spLocks noGrp="1"/>
          </p:cNvSpPr>
          <p:nvPr/>
        </p:nvSpPr>
        <p:spPr>
          <a:xfrm>
            <a:off x="6172200" y="1428750"/>
            <a:ext cx="5334000" cy="4457700"/>
          </a:xfrm>
          <a:prstGeom prst="roundRect">
            <a:avLst>
              <a:gd name="adj" fmla="val 3810"/>
            </a:avLst>
          </a:prstGeom>
          <a:solidFill>
            <a:srgbClr val="EDF1FF"/>
          </a:solidFill>
          <a:ln w="9525">
            <a:solidFill>
              <a:srgbClr val="D8DFF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9FABC5-615E-401B-8F0C-3AC9BA85A18A}"/>
              </a:ext>
            </a:extLst>
          </p:cNvPr>
          <p:cNvSpPr>
            <a:spLocks noGrp="1"/>
          </p:cNvSpPr>
          <p:nvPr/>
        </p:nvSpPr>
        <p:spPr>
          <a:xfrm>
            <a:off x="933450" y="16764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 i="0">
                <a:solidFill>
                  <a:srgbClr val="1F2A7A"/>
                </a:solidFill>
              </a:defRPr>
            </a:pPr>
            <a:r>
              <a:rPr sz="1800" b="1" i="0">
                <a:solidFill>
                  <a:srgbClr val="1F2A7A"/>
                </a:solidFill>
              </a:rPr>
              <a:t>Sans OpenClaw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4D920A-14ED-46C1-9584-ACD316CB9937}"/>
              </a:ext>
            </a:extLst>
          </p:cNvPr>
          <p:cNvSpPr>
            <a:spLocks noGrp="1"/>
          </p:cNvSpPr>
          <p:nvPr/>
        </p:nvSpPr>
        <p:spPr>
          <a:xfrm>
            <a:off x="933450" y="2171700"/>
            <a:ext cx="44767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172033"/>
                </a:solidFill>
              </a:defRPr>
            </a:pPr>
            <a:r>
              <a:rPr sz="1350" b="0" i="0">
                <a:solidFill>
                  <a:srgbClr val="172033"/>
                </a:solidFill>
              </a:rPr>
              <a:t>• TikTok et Facebook attirent des clientes, mais les demandes se perdent en DM et sur WhatsApp.</a:t>
            </a:r>
          </a:p>
          <a:p>
            <a:pPr>
              <a:defRPr sz="1350" b="0" i="0">
                <a:solidFill>
                  <a:srgbClr val="172033"/>
                </a:solidFill>
              </a:defRPr>
            </a:pPr>
            <a:r>
              <a:rPr sz="1350" b="0" i="0">
                <a:solidFill>
                  <a:srgbClr val="172033"/>
                </a:solidFill>
              </a:rPr>
              <a:t>• La vendeuse doit se souvenir de qui cherchait quelle taille ou quel article.</a:t>
            </a:r>
          </a:p>
          <a:p>
            <a:pPr>
              <a:defRPr sz="1350" b="0" i="0">
                <a:solidFill>
                  <a:srgbClr val="172033"/>
                </a:solidFill>
              </a:defRPr>
            </a:pPr>
            <a:r>
              <a:rPr sz="1350" b="0" i="0">
                <a:solidFill>
                  <a:srgbClr val="172033"/>
                </a:solidFill>
              </a:rPr>
              <a:t>• Les nouveaux arrivages ne sont pas relancés vers les bonnes clientes.</a:t>
            </a:r>
          </a:p>
          <a:p>
            <a:pPr>
              <a:defRPr sz="1350" b="0" i="0">
                <a:solidFill>
                  <a:srgbClr val="172033"/>
                </a:solidFill>
              </a:defRPr>
            </a:pPr>
            <a:r>
              <a:rPr sz="1350" b="0" i="0">
                <a:solidFill>
                  <a:srgbClr val="172033"/>
                </a:solidFill>
              </a:rPr>
              <a:t>• Les promotions sont diffusées à tout le monde sans priorité.</a:t>
            </a:r>
          </a:p>
          <a:p>
            <a:pPr>
              <a:defRPr sz="1350" b="0" i="0">
                <a:solidFill>
                  <a:srgbClr val="172033"/>
                </a:solidFill>
              </a:defRPr>
            </a:pPr>
            <a:r>
              <a:rPr sz="1350" b="0" i="0">
                <a:solidFill>
                  <a:srgbClr val="172033"/>
                </a:solidFill>
              </a:rPr>
              <a:t>• Le soir, il n'y a pas de vision claire : qui a écrit, qui a acheté, qui doit être relancée.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55973BF-EE42-46D9-BA42-FA0CA2B1303F}"/>
              </a:ext>
            </a:extLst>
          </p:cNvPr>
          <p:cNvSpPr>
            <a:spLocks noGrp="1"/>
          </p:cNvSpPr>
          <p:nvPr/>
        </p:nvSpPr>
        <p:spPr>
          <a:xfrm>
            <a:off x="914400" y="4895850"/>
            <a:ext cx="1581150" cy="323850"/>
          </a:xfrm>
          <a:prstGeom prst="roundRect">
            <a:avLst>
              <a:gd name="adj" fmla="val 50000"/>
            </a:avLst>
          </a:prstGeom>
          <a:solidFill>
            <a:srgbClr val="FFE6E6"/>
          </a:solidFill>
          <a:ln w="0">
            <a:solidFill>
              <a:srgbClr val="FFE6E6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EA3028-54E6-4BA8-8CEF-80D91CFA6C45}"/>
              </a:ext>
            </a:extLst>
          </p:cNvPr>
          <p:cNvSpPr>
            <a:spLocks noGrp="1"/>
          </p:cNvSpPr>
          <p:nvPr/>
        </p:nvSpPr>
        <p:spPr>
          <a:xfrm>
            <a:off x="1028700" y="4962525"/>
            <a:ext cx="1352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9A2E2E"/>
                </a:solidFill>
              </a:defRPr>
            </a:pPr>
            <a:r>
              <a:rPr sz="1050" b="1" i="0">
                <a:solidFill>
                  <a:srgbClr val="9A2E2E"/>
                </a:solidFill>
              </a:rPr>
              <a:t>Fuite d'attention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DA7D282-5453-43EC-949B-8296A42182DD}"/>
              </a:ext>
            </a:extLst>
          </p:cNvPr>
          <p:cNvSpPr>
            <a:spLocks noGrp="1"/>
          </p:cNvSpPr>
          <p:nvPr/>
        </p:nvSpPr>
        <p:spPr>
          <a:xfrm>
            <a:off x="2609850" y="4895850"/>
            <a:ext cx="1428750" cy="323850"/>
          </a:xfrm>
          <a:prstGeom prst="roundRect">
            <a:avLst>
              <a:gd name="adj" fmla="val 50000"/>
            </a:avLst>
          </a:prstGeom>
          <a:solidFill>
            <a:srgbClr val="FFF0D8"/>
          </a:solidFill>
          <a:ln w="0">
            <a:solidFill>
              <a:srgbClr val="FFF0D8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438A40-5895-4243-9067-4454D75A2764}"/>
              </a:ext>
            </a:extLst>
          </p:cNvPr>
          <p:cNvSpPr>
            <a:spLocks noGrp="1"/>
          </p:cNvSpPr>
          <p:nvPr/>
        </p:nvSpPr>
        <p:spPr>
          <a:xfrm>
            <a:off x="2724150" y="4962525"/>
            <a:ext cx="1200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8A5612"/>
                </a:solidFill>
              </a:defRPr>
            </a:pPr>
            <a:r>
              <a:rPr sz="1050" b="1" i="0">
                <a:solidFill>
                  <a:srgbClr val="8A5612"/>
                </a:solidFill>
              </a:rPr>
              <a:t>Fuite de suivi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BCA8BB0-B022-4FE4-B258-044F54C77C7F}"/>
              </a:ext>
            </a:extLst>
          </p:cNvPr>
          <p:cNvSpPr>
            <a:spLocks noGrp="1"/>
          </p:cNvSpPr>
          <p:nvPr/>
        </p:nvSpPr>
        <p:spPr>
          <a:xfrm>
            <a:off x="4152900" y="4895850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FBE1F4"/>
          </a:solidFill>
          <a:ln w="0">
            <a:solidFill>
              <a:srgbClr val="FBE1F4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748548-7E83-4D36-8558-7BD22A82BF04}"/>
              </a:ext>
            </a:extLst>
          </p:cNvPr>
          <p:cNvSpPr>
            <a:spLocks noGrp="1"/>
          </p:cNvSpPr>
          <p:nvPr/>
        </p:nvSpPr>
        <p:spPr>
          <a:xfrm>
            <a:off x="4267200" y="4962525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1F2A7A"/>
                </a:solidFill>
              </a:defRPr>
            </a:pPr>
            <a:r>
              <a:rPr sz="1050" b="1" i="0">
                <a:solidFill>
                  <a:srgbClr val="1F2A7A"/>
                </a:solidFill>
              </a:rPr>
              <a:t>Fuite de relance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C5A980-EEBC-44F9-8701-9AFA06196959}"/>
              </a:ext>
            </a:extLst>
          </p:cNvPr>
          <p:cNvSpPr>
            <a:spLocks noGrp="1"/>
          </p:cNvSpPr>
          <p:nvPr/>
        </p:nvSpPr>
        <p:spPr>
          <a:xfrm>
            <a:off x="6419850" y="16764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 i="0">
                <a:solidFill>
                  <a:srgbClr val="324CFF"/>
                </a:solidFill>
              </a:defRPr>
            </a:pPr>
            <a:r>
              <a:rPr sz="1800" b="1" i="0">
                <a:solidFill>
                  <a:srgbClr val="324CFF"/>
                </a:solidFill>
              </a:rPr>
              <a:t>Ce que l'IA corrige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41BA66-81E1-4E6C-B50C-B4DF0BEEC56E}"/>
              </a:ext>
            </a:extLst>
          </p:cNvPr>
          <p:cNvSpPr>
            <a:spLocks noGrp="1"/>
          </p:cNvSpPr>
          <p:nvPr/>
        </p:nvSpPr>
        <p:spPr>
          <a:xfrm>
            <a:off x="6419850" y="2171700"/>
            <a:ext cx="46291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172033"/>
                </a:solidFill>
              </a:defRPr>
            </a:pPr>
            <a:r>
              <a:rPr sz="1350" b="0" i="0" dirty="0">
                <a:solidFill>
                  <a:srgbClr val="172033"/>
                </a:solidFill>
              </a:rPr>
              <a:t>• </a:t>
            </a:r>
            <a:r>
              <a:rPr sz="1350" b="0" i="0" dirty="0" err="1">
                <a:solidFill>
                  <a:srgbClr val="172033"/>
                </a:solidFill>
              </a:rPr>
              <a:t>Chaque</a:t>
            </a:r>
            <a:r>
              <a:rPr sz="1350" b="0" i="0" dirty="0">
                <a:solidFill>
                  <a:srgbClr val="172033"/>
                </a:solidFill>
              </a:rPr>
              <a:t> </a:t>
            </a:r>
            <a:r>
              <a:rPr sz="1350" b="0" i="0" dirty="0" err="1">
                <a:solidFill>
                  <a:srgbClr val="172033"/>
                </a:solidFill>
              </a:rPr>
              <a:t>demande</a:t>
            </a:r>
            <a:r>
              <a:rPr sz="1350" b="0" i="0" dirty="0">
                <a:solidFill>
                  <a:srgbClr val="172033"/>
                </a:solidFill>
              </a:rPr>
              <a:t> </a:t>
            </a:r>
            <a:r>
              <a:rPr sz="1350" b="0" i="0" dirty="0" err="1">
                <a:solidFill>
                  <a:srgbClr val="172033"/>
                </a:solidFill>
              </a:rPr>
              <a:t>entrante</a:t>
            </a:r>
            <a:r>
              <a:rPr sz="1350" b="0" i="0" dirty="0">
                <a:solidFill>
                  <a:srgbClr val="172033"/>
                </a:solidFill>
              </a:rPr>
              <a:t> est </a:t>
            </a:r>
            <a:r>
              <a:rPr sz="1350" b="0" i="0" dirty="0" err="1">
                <a:solidFill>
                  <a:srgbClr val="172033"/>
                </a:solidFill>
              </a:rPr>
              <a:t>classée</a:t>
            </a:r>
            <a:r>
              <a:rPr sz="1350" b="0" i="0" dirty="0">
                <a:solidFill>
                  <a:srgbClr val="172033"/>
                </a:solidFill>
              </a:rPr>
              <a:t> par canal, </a:t>
            </a:r>
            <a:r>
              <a:rPr sz="1350" b="0" i="0" dirty="0" err="1">
                <a:solidFill>
                  <a:srgbClr val="172033"/>
                </a:solidFill>
              </a:rPr>
              <a:t>produit</a:t>
            </a:r>
            <a:r>
              <a:rPr sz="1350" b="0" i="0" dirty="0">
                <a:solidFill>
                  <a:srgbClr val="172033"/>
                </a:solidFill>
              </a:rPr>
              <a:t>, taille, urgence et </a:t>
            </a:r>
            <a:r>
              <a:rPr sz="1350" b="0" i="0" dirty="0" err="1">
                <a:solidFill>
                  <a:srgbClr val="172033"/>
                </a:solidFill>
              </a:rPr>
              <a:t>statut</a:t>
            </a:r>
            <a:r>
              <a:rPr sz="1350" b="0" i="0" dirty="0">
                <a:solidFill>
                  <a:srgbClr val="172033"/>
                </a:solidFill>
              </a:rPr>
              <a:t>.</a:t>
            </a:r>
          </a:p>
          <a:p>
            <a:pPr>
              <a:defRPr sz="1350" b="0" i="0">
                <a:solidFill>
                  <a:srgbClr val="172033"/>
                </a:solidFill>
              </a:defRPr>
            </a:pPr>
            <a:r>
              <a:rPr sz="1350" b="0" i="0" dirty="0">
                <a:solidFill>
                  <a:srgbClr val="172033"/>
                </a:solidFill>
              </a:rPr>
              <a:t>• OpenClaw </a:t>
            </a:r>
            <a:r>
              <a:rPr sz="1350" b="0" i="0" dirty="0" err="1">
                <a:solidFill>
                  <a:srgbClr val="172033"/>
                </a:solidFill>
              </a:rPr>
              <a:t>transforme</a:t>
            </a:r>
            <a:r>
              <a:rPr sz="1350" b="0" i="0" dirty="0">
                <a:solidFill>
                  <a:srgbClr val="172033"/>
                </a:solidFill>
              </a:rPr>
              <a:t> WhatsApp </a:t>
            </a:r>
            <a:r>
              <a:rPr sz="1350" b="0" i="0" dirty="0" err="1">
                <a:solidFill>
                  <a:srgbClr val="172033"/>
                </a:solidFill>
              </a:rPr>
              <a:t>en</a:t>
            </a:r>
            <a:r>
              <a:rPr sz="1350" b="0" i="0" dirty="0">
                <a:solidFill>
                  <a:srgbClr val="172033"/>
                </a:solidFill>
              </a:rPr>
              <a:t> point de conversion </a:t>
            </a:r>
            <a:r>
              <a:rPr sz="1350" b="0" i="0" dirty="0" err="1">
                <a:solidFill>
                  <a:srgbClr val="172033"/>
                </a:solidFill>
              </a:rPr>
              <a:t>organisé</a:t>
            </a:r>
            <a:r>
              <a:rPr sz="1350" b="0" i="0" dirty="0">
                <a:solidFill>
                  <a:srgbClr val="172033"/>
                </a:solidFill>
              </a:rPr>
              <a:t>.</a:t>
            </a:r>
          </a:p>
          <a:p>
            <a:pPr>
              <a:defRPr sz="1350" b="0" i="0">
                <a:solidFill>
                  <a:srgbClr val="172033"/>
                </a:solidFill>
              </a:defRPr>
            </a:pPr>
            <a:r>
              <a:rPr sz="1350" b="0" i="0" dirty="0">
                <a:solidFill>
                  <a:srgbClr val="172033"/>
                </a:solidFill>
              </a:rPr>
              <a:t>• Le CRM garde la </a:t>
            </a:r>
            <a:r>
              <a:rPr sz="1350" b="0" i="0" dirty="0" err="1">
                <a:solidFill>
                  <a:srgbClr val="172033"/>
                </a:solidFill>
              </a:rPr>
              <a:t>mémoire</a:t>
            </a:r>
            <a:r>
              <a:rPr sz="1350" b="0" i="0" dirty="0">
                <a:solidFill>
                  <a:srgbClr val="172033"/>
                </a:solidFill>
              </a:rPr>
              <a:t> des </a:t>
            </a:r>
            <a:r>
              <a:rPr sz="1350" b="0" i="0" dirty="0" err="1">
                <a:solidFill>
                  <a:srgbClr val="172033"/>
                </a:solidFill>
              </a:rPr>
              <a:t>clientes</a:t>
            </a:r>
            <a:r>
              <a:rPr sz="1350" b="0" i="0" dirty="0">
                <a:solidFill>
                  <a:srgbClr val="172033"/>
                </a:solidFill>
              </a:rPr>
              <a:t> et des </a:t>
            </a:r>
            <a:r>
              <a:rPr sz="1350" b="0" i="0" dirty="0" err="1">
                <a:solidFill>
                  <a:srgbClr val="172033"/>
                </a:solidFill>
              </a:rPr>
              <a:t>besoins</a:t>
            </a:r>
            <a:r>
              <a:rPr sz="1350" b="0" i="0" dirty="0">
                <a:solidFill>
                  <a:srgbClr val="172033"/>
                </a:solidFill>
              </a:rPr>
              <a:t> </a:t>
            </a:r>
            <a:r>
              <a:rPr sz="1350" b="0" i="0" dirty="0" err="1">
                <a:solidFill>
                  <a:srgbClr val="172033"/>
                </a:solidFill>
              </a:rPr>
              <a:t>en</a:t>
            </a:r>
            <a:r>
              <a:rPr sz="1350" b="0" i="0" dirty="0">
                <a:solidFill>
                  <a:srgbClr val="172033"/>
                </a:solidFill>
              </a:rPr>
              <a:t> </a:t>
            </a:r>
            <a:r>
              <a:rPr sz="1350" b="0" i="0" dirty="0" err="1">
                <a:solidFill>
                  <a:srgbClr val="172033"/>
                </a:solidFill>
              </a:rPr>
              <a:t>attente</a:t>
            </a:r>
            <a:r>
              <a:rPr sz="1350" b="0" i="0" dirty="0">
                <a:solidFill>
                  <a:srgbClr val="172033"/>
                </a:solidFill>
              </a:rPr>
              <a:t>.</a:t>
            </a:r>
          </a:p>
          <a:p>
            <a:pPr>
              <a:defRPr sz="1350" b="0" i="0">
                <a:solidFill>
                  <a:srgbClr val="172033"/>
                </a:solidFill>
              </a:defRPr>
            </a:pPr>
            <a:r>
              <a:rPr sz="1350" b="0" i="0" dirty="0">
                <a:solidFill>
                  <a:srgbClr val="172033"/>
                </a:solidFill>
              </a:rPr>
              <a:t>• La boutique </a:t>
            </a:r>
            <a:r>
              <a:rPr sz="1350" b="0" i="0" dirty="0" err="1">
                <a:solidFill>
                  <a:srgbClr val="172033"/>
                </a:solidFill>
              </a:rPr>
              <a:t>sait</a:t>
            </a:r>
            <a:r>
              <a:rPr sz="1350" b="0" i="0" dirty="0">
                <a:solidFill>
                  <a:srgbClr val="172033"/>
                </a:solidFill>
              </a:rPr>
              <a:t> qui </a:t>
            </a:r>
            <a:r>
              <a:rPr sz="1350" b="0" i="0" dirty="0" err="1">
                <a:solidFill>
                  <a:srgbClr val="172033"/>
                </a:solidFill>
              </a:rPr>
              <a:t>relancer</a:t>
            </a:r>
            <a:r>
              <a:rPr sz="1350" b="0" i="0" dirty="0">
                <a:solidFill>
                  <a:srgbClr val="172033"/>
                </a:solidFill>
              </a:rPr>
              <a:t> pour un </a:t>
            </a:r>
            <a:r>
              <a:rPr sz="1350" b="0" i="0" dirty="0" err="1">
                <a:solidFill>
                  <a:srgbClr val="172033"/>
                </a:solidFill>
              </a:rPr>
              <a:t>nouvel</a:t>
            </a:r>
            <a:r>
              <a:rPr sz="1350" b="0" i="0" dirty="0">
                <a:solidFill>
                  <a:srgbClr val="172033"/>
                </a:solidFill>
              </a:rPr>
              <a:t> </a:t>
            </a:r>
            <a:r>
              <a:rPr sz="1350" b="0" i="0" dirty="0" err="1">
                <a:solidFill>
                  <a:srgbClr val="172033"/>
                </a:solidFill>
              </a:rPr>
              <a:t>arrivage</a:t>
            </a:r>
            <a:r>
              <a:rPr sz="1350" b="0" i="0" dirty="0">
                <a:solidFill>
                  <a:srgbClr val="172033"/>
                </a:solidFill>
              </a:rPr>
              <a:t>, </a:t>
            </a:r>
            <a:r>
              <a:rPr sz="1350" b="0" i="0" dirty="0" err="1">
                <a:solidFill>
                  <a:srgbClr val="172033"/>
                </a:solidFill>
              </a:rPr>
              <a:t>une</a:t>
            </a:r>
            <a:r>
              <a:rPr sz="1350" b="0" i="0" dirty="0">
                <a:solidFill>
                  <a:srgbClr val="172033"/>
                </a:solidFill>
              </a:rPr>
              <a:t> promotion </a:t>
            </a:r>
            <a:r>
              <a:rPr sz="1350" b="0" i="0" dirty="0" err="1">
                <a:solidFill>
                  <a:srgbClr val="172033"/>
                </a:solidFill>
              </a:rPr>
              <a:t>ou</a:t>
            </a:r>
            <a:r>
              <a:rPr sz="1350" b="0" i="0" dirty="0">
                <a:solidFill>
                  <a:srgbClr val="172033"/>
                </a:solidFill>
              </a:rPr>
              <a:t> </a:t>
            </a:r>
            <a:r>
              <a:rPr sz="1350" b="0" i="0" dirty="0" err="1">
                <a:solidFill>
                  <a:srgbClr val="172033"/>
                </a:solidFill>
              </a:rPr>
              <a:t>une</a:t>
            </a:r>
            <a:r>
              <a:rPr sz="1350" b="0" i="0" dirty="0">
                <a:solidFill>
                  <a:srgbClr val="172033"/>
                </a:solidFill>
              </a:rPr>
              <a:t> livraison.</a:t>
            </a:r>
          </a:p>
          <a:p>
            <a:pPr>
              <a:defRPr sz="1350" b="0" i="0">
                <a:solidFill>
                  <a:srgbClr val="172033"/>
                </a:solidFill>
              </a:defRPr>
            </a:pPr>
            <a:r>
              <a:rPr sz="1350" b="0" i="0" dirty="0">
                <a:solidFill>
                  <a:srgbClr val="172033"/>
                </a:solidFill>
              </a:rPr>
              <a:t>• Le pilotage </a:t>
            </a:r>
            <a:r>
              <a:rPr sz="1350" b="0" i="0" dirty="0" err="1">
                <a:solidFill>
                  <a:srgbClr val="172033"/>
                </a:solidFill>
              </a:rPr>
              <a:t>quotidien</a:t>
            </a:r>
            <a:r>
              <a:rPr sz="1350" b="0" i="0" dirty="0">
                <a:solidFill>
                  <a:srgbClr val="172033"/>
                </a:solidFill>
              </a:rPr>
              <a:t> </a:t>
            </a:r>
            <a:r>
              <a:rPr sz="1350" b="0" i="0" dirty="0" err="1">
                <a:solidFill>
                  <a:srgbClr val="172033"/>
                </a:solidFill>
              </a:rPr>
              <a:t>devient</a:t>
            </a:r>
            <a:r>
              <a:rPr sz="1350" b="0" i="0" dirty="0">
                <a:solidFill>
                  <a:srgbClr val="172033"/>
                </a:solidFill>
              </a:rPr>
              <a:t> </a:t>
            </a:r>
            <a:r>
              <a:rPr sz="1350" b="0" i="0" dirty="0" err="1">
                <a:solidFill>
                  <a:srgbClr val="172033"/>
                </a:solidFill>
              </a:rPr>
              <a:t>lisible</a:t>
            </a:r>
            <a:r>
              <a:rPr sz="1350" b="0" i="0" dirty="0">
                <a:solidFill>
                  <a:srgbClr val="172033"/>
                </a:solidFill>
              </a:rPr>
              <a:t> </a:t>
            </a:r>
            <a:r>
              <a:rPr sz="1350" b="0" i="0" dirty="0" err="1">
                <a:solidFill>
                  <a:srgbClr val="172033"/>
                </a:solidFill>
              </a:rPr>
              <a:t>depuis</a:t>
            </a:r>
            <a:r>
              <a:rPr sz="1350" b="0" i="0" dirty="0">
                <a:solidFill>
                  <a:srgbClr val="172033"/>
                </a:solidFill>
              </a:rPr>
              <a:t> Telegram </a:t>
            </a:r>
            <a:r>
              <a:rPr sz="1350" b="0" i="0" dirty="0" err="1">
                <a:solidFill>
                  <a:srgbClr val="172033"/>
                </a:solidFill>
              </a:rPr>
              <a:t>ou</a:t>
            </a:r>
            <a:r>
              <a:rPr sz="1350" b="0" i="0" dirty="0">
                <a:solidFill>
                  <a:srgbClr val="172033"/>
                </a:solidFill>
              </a:rPr>
              <a:t> un tableau simple.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CB3741-2F90-4334-AFF2-F2A1E2A35DA4}"/>
              </a:ext>
            </a:extLst>
          </p:cNvPr>
          <p:cNvSpPr>
            <a:spLocks noGrp="1"/>
          </p:cNvSpPr>
          <p:nvPr/>
        </p:nvSpPr>
        <p:spPr>
          <a:xfrm>
            <a:off x="6419850" y="4857750"/>
            <a:ext cx="4476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1F2A7A"/>
                </a:solidFill>
              </a:defRPr>
            </a:pPr>
            <a:r>
              <a:rPr sz="1500" b="1" i="0" dirty="0" err="1">
                <a:solidFill>
                  <a:srgbClr val="1F2A7A"/>
                </a:solidFill>
              </a:rPr>
              <a:t>L'enjeu</a:t>
            </a:r>
            <a:r>
              <a:rPr sz="1500" b="1" i="0" dirty="0">
                <a:solidFill>
                  <a:srgbClr val="1F2A7A"/>
                </a:solidFill>
              </a:rPr>
              <a:t> </a:t>
            </a:r>
            <a:r>
              <a:rPr sz="1500" b="1" i="0" dirty="0" err="1">
                <a:solidFill>
                  <a:srgbClr val="1F2A7A"/>
                </a:solidFill>
              </a:rPr>
              <a:t>n'est</a:t>
            </a:r>
            <a:r>
              <a:rPr sz="1500" b="1" i="0" dirty="0">
                <a:solidFill>
                  <a:srgbClr val="1F2A7A"/>
                </a:solidFill>
              </a:rPr>
              <a:t> pas </a:t>
            </a:r>
            <a:r>
              <a:rPr sz="1500" b="1" i="0" dirty="0" err="1">
                <a:solidFill>
                  <a:srgbClr val="1F2A7A"/>
                </a:solidFill>
              </a:rPr>
              <a:t>seulement</a:t>
            </a:r>
            <a:r>
              <a:rPr sz="1500" b="1" i="0" dirty="0">
                <a:solidFill>
                  <a:srgbClr val="1F2A7A"/>
                </a:solidFill>
              </a:rPr>
              <a:t> le stock.</a:t>
            </a:r>
          </a:p>
          <a:p>
            <a:pPr>
              <a:defRPr sz="1500" b="1" i="0">
                <a:solidFill>
                  <a:srgbClr val="1F2A7A"/>
                </a:solidFill>
              </a:defRPr>
            </a:pPr>
            <a:r>
              <a:rPr sz="1500" b="1" i="0" dirty="0" err="1">
                <a:solidFill>
                  <a:srgbClr val="1F2A7A"/>
                </a:solidFill>
              </a:rPr>
              <a:t>L'enjeu</a:t>
            </a:r>
            <a:r>
              <a:rPr sz="1500" b="1" i="0" dirty="0">
                <a:solidFill>
                  <a:srgbClr val="1F2A7A"/>
                </a:solidFill>
              </a:rPr>
              <a:t> est de transformer le </a:t>
            </a:r>
            <a:r>
              <a:rPr sz="1500" b="1" i="0" dirty="0" err="1">
                <a:solidFill>
                  <a:srgbClr val="1F2A7A"/>
                </a:solidFill>
              </a:rPr>
              <a:t>trafic</a:t>
            </a:r>
            <a:r>
              <a:rPr sz="1500" b="1" i="0" dirty="0">
                <a:solidFill>
                  <a:srgbClr val="1F2A7A"/>
                </a:solidFill>
              </a:rPr>
              <a:t> social </a:t>
            </a:r>
            <a:r>
              <a:rPr sz="1500" b="1" i="0" dirty="0" err="1">
                <a:solidFill>
                  <a:srgbClr val="1F2A7A"/>
                </a:solidFill>
              </a:rPr>
              <a:t>en</a:t>
            </a:r>
            <a:r>
              <a:rPr sz="1500" b="1" i="0" dirty="0">
                <a:solidFill>
                  <a:srgbClr val="1F2A7A"/>
                </a:solidFill>
              </a:rPr>
              <a:t> conversations </a:t>
            </a:r>
            <a:r>
              <a:rPr sz="1500" b="1" i="0" dirty="0" err="1">
                <a:solidFill>
                  <a:srgbClr val="1F2A7A"/>
                </a:solidFill>
              </a:rPr>
              <a:t>tracées</a:t>
            </a:r>
            <a:r>
              <a:rPr sz="1500" b="1" i="0" dirty="0">
                <a:solidFill>
                  <a:srgbClr val="1F2A7A"/>
                </a:solidFill>
              </a:rPr>
              <a:t>, </a:t>
            </a:r>
            <a:r>
              <a:rPr sz="1500" b="1" i="0" dirty="0" err="1">
                <a:solidFill>
                  <a:srgbClr val="1F2A7A"/>
                </a:solidFill>
              </a:rPr>
              <a:t>puis</a:t>
            </a:r>
            <a:r>
              <a:rPr sz="1500" b="1" i="0" dirty="0">
                <a:solidFill>
                  <a:srgbClr val="1F2A7A"/>
                </a:solidFill>
              </a:rPr>
              <a:t> </a:t>
            </a:r>
            <a:r>
              <a:rPr sz="1500" b="1" i="0" dirty="0" err="1">
                <a:solidFill>
                  <a:srgbClr val="1F2A7A"/>
                </a:solidFill>
              </a:rPr>
              <a:t>en</a:t>
            </a:r>
            <a:r>
              <a:rPr sz="1500" b="1" i="0" dirty="0">
                <a:solidFill>
                  <a:srgbClr val="1F2A7A"/>
                </a:solidFill>
              </a:rPr>
              <a:t> ventes </a:t>
            </a:r>
            <a:r>
              <a:rPr sz="1500" b="1" i="0" dirty="0" err="1">
                <a:solidFill>
                  <a:srgbClr val="1F2A7A"/>
                </a:solidFill>
              </a:rPr>
              <a:t>suivies</a:t>
            </a:r>
            <a:r>
              <a:rPr sz="1500" b="1" i="0" dirty="0">
                <a:solidFill>
                  <a:srgbClr val="1F2A7A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6036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val 29">
            <a:extLst>
              <a:ext uri="{FF2B5EF4-FFF2-40B4-BE49-F238E27FC236}">
                <a16:creationId xmlns:a16="http://schemas.microsoft.com/office/drawing/2014/main" id="{04EF2188-05B8-4D3D-9CB6-2037DC5887DC}"/>
              </a:ext>
            </a:extLst>
          </p:cNvPr>
          <p:cNvSpPr>
            <a:spLocks noGrp="1"/>
          </p:cNvSpPr>
          <p:nvPr/>
        </p:nvSpPr>
        <p:spPr>
          <a:xfrm>
            <a:off x="-762000" y="-476250"/>
            <a:ext cx="2857500" cy="2857500"/>
          </a:xfrm>
          <a:prstGeom prst="ellipse">
            <a:avLst/>
          </a:prstGeom>
          <a:solidFill>
            <a:srgbClr val="FFE8F6"/>
          </a:solidFill>
          <a:ln w="0">
            <a:solidFill>
              <a:srgbClr val="FFE8F6"/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4B99441-C5BE-435E-BE42-1C786D215B1D}"/>
              </a:ext>
            </a:extLst>
          </p:cNvPr>
          <p:cNvSpPr>
            <a:spLocks noGrp="1"/>
          </p:cNvSpPr>
          <p:nvPr/>
        </p:nvSpPr>
        <p:spPr>
          <a:xfrm>
            <a:off x="9810750" y="4953000"/>
            <a:ext cx="2476500" cy="2476500"/>
          </a:xfrm>
          <a:prstGeom prst="ellipse">
            <a:avLst/>
          </a:prstGeom>
          <a:solidFill>
            <a:srgbClr val="E8ECFF"/>
          </a:solidFill>
          <a:ln w="0">
            <a:solidFill>
              <a:srgbClr val="E8ECFF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472867-F134-4AC0-BFFC-6EBBA00FD48B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FF5ABF"/>
                </a:solidFill>
              </a:defRPr>
            </a:pPr>
            <a:r>
              <a:rPr sz="975" b="1" i="0">
                <a:solidFill>
                  <a:srgbClr val="FF5ABF"/>
                </a:solidFill>
              </a:rPr>
              <a:t>LIVE TIKTOK • TRANSFERAI x NETTELECOM CI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86F654-5271-4EE9-95C8-1451A0A70257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 i="0">
                <a:solidFill>
                  <a:srgbClr val="1F2A7A"/>
                </a:solidFill>
              </a:defRPr>
            </a:pPr>
            <a:r>
              <a:rPr sz="2400" b="1" i="0">
                <a:solidFill>
                  <a:srgbClr val="1F2A7A"/>
                </a:solidFill>
              </a:rPr>
              <a:t>Le tunnel concret : TikTok et Facebook alimentent WhatsApp, OpenClaw organise, le CRM mémorise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8F3C73-DFC0-4530-BB9C-2355555856D4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1038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75569"/>
                </a:solidFill>
              </a:defRPr>
            </a:pPr>
            <a:r>
              <a:rPr sz="975" b="0" i="0">
                <a:solidFill>
                  <a:srgbClr val="475569"/>
                </a:solidFill>
              </a:rPr>
              <a:t>Projet piloté par TransferAI, notre hub IA, en collaboration avec Nettelecom CI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351E6B8-03FC-4C6E-9CF8-03B1E43A9B1F}"/>
              </a:ext>
            </a:extLst>
          </p:cNvPr>
          <p:cNvSpPr>
            <a:spLocks noGrp="1"/>
          </p:cNvSpPr>
          <p:nvPr/>
        </p:nvSpPr>
        <p:spPr>
          <a:xfrm>
            <a:off x="571500" y="2476500"/>
            <a:ext cx="1714500" cy="1600200"/>
          </a:xfrm>
          <a:prstGeom prst="roundRect">
            <a:avLst>
              <a:gd name="adj" fmla="val 14286"/>
            </a:avLst>
          </a:prstGeom>
          <a:solidFill>
            <a:srgbClr val="F7D6EB"/>
          </a:solidFill>
          <a:ln w="0">
            <a:solidFill>
              <a:srgbClr val="F7D6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9EE484-98D5-47A4-A7EB-DF2EFB00FDFA}"/>
              </a:ext>
            </a:extLst>
          </p:cNvPr>
          <p:cNvSpPr>
            <a:spLocks noGrp="1"/>
          </p:cNvSpPr>
          <p:nvPr/>
        </p:nvSpPr>
        <p:spPr>
          <a:xfrm>
            <a:off x="723900" y="2667000"/>
            <a:ext cx="1409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 i="0">
                <a:solidFill>
                  <a:srgbClr val="1F2A7A"/>
                </a:solidFill>
              </a:defRPr>
            </a:pPr>
            <a:r>
              <a:rPr sz="1800" b="1" i="0">
                <a:solidFill>
                  <a:srgbClr val="1F2A7A"/>
                </a:solidFill>
              </a:rPr>
              <a:t>TikTok / Facebook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396F00-EB3C-438D-B4F8-C9486B376FC9}"/>
              </a:ext>
            </a:extLst>
          </p:cNvPr>
          <p:cNvSpPr>
            <a:spLocks noGrp="1"/>
          </p:cNvSpPr>
          <p:nvPr/>
        </p:nvSpPr>
        <p:spPr>
          <a:xfrm>
            <a:off x="723900" y="3409950"/>
            <a:ext cx="1409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 dirty="0" err="1">
                <a:solidFill>
                  <a:srgbClr val="172033"/>
                </a:solidFill>
              </a:rPr>
              <a:t>Vidéos</a:t>
            </a:r>
            <a:r>
              <a:rPr sz="1275" b="0" i="0" dirty="0">
                <a:solidFill>
                  <a:srgbClr val="172033"/>
                </a:solidFill>
              </a:rPr>
              <a:t>, posts, messages et </a:t>
            </a:r>
            <a:r>
              <a:rPr sz="1275" b="0" i="0" dirty="0" err="1">
                <a:solidFill>
                  <a:srgbClr val="172033"/>
                </a:solidFill>
              </a:rPr>
              <a:t>clics</a:t>
            </a:r>
            <a:r>
              <a:rPr sz="1275" b="0" i="0" dirty="0">
                <a:solidFill>
                  <a:srgbClr val="172033"/>
                </a:solidFill>
              </a:rPr>
              <a:t> entrants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31E063-F379-4458-8558-9CED160D28CD}"/>
              </a:ext>
            </a:extLst>
          </p:cNvPr>
          <p:cNvSpPr>
            <a:spLocks noGrp="1"/>
          </p:cNvSpPr>
          <p:nvPr/>
        </p:nvSpPr>
        <p:spPr>
          <a:xfrm>
            <a:off x="2362200" y="3048000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 i="0">
                <a:solidFill>
                  <a:srgbClr val="FF5ABF"/>
                </a:solidFill>
              </a:defRPr>
            </a:pPr>
            <a:r>
              <a:rPr sz="1800" b="1" i="0">
                <a:solidFill>
                  <a:srgbClr val="FF5ABF"/>
                </a:solidFill>
              </a:rPr>
              <a:t>→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71C8BD0-F9D3-4FD1-830B-C7D6B5BD498C}"/>
              </a:ext>
            </a:extLst>
          </p:cNvPr>
          <p:cNvSpPr>
            <a:spLocks noGrp="1"/>
          </p:cNvSpPr>
          <p:nvPr/>
        </p:nvSpPr>
        <p:spPr>
          <a:xfrm>
            <a:off x="2552700" y="2476500"/>
            <a:ext cx="1714500" cy="1600200"/>
          </a:xfrm>
          <a:prstGeom prst="roundRect">
            <a:avLst>
              <a:gd name="adj" fmla="val 14286"/>
            </a:avLst>
          </a:prstGeom>
          <a:solidFill>
            <a:srgbClr val="E5F5EF"/>
          </a:solidFill>
          <a:ln w="0">
            <a:solidFill>
              <a:srgbClr val="E5F5E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52A88D-B539-4485-B641-7EFE3832EEFC}"/>
              </a:ext>
            </a:extLst>
          </p:cNvPr>
          <p:cNvSpPr>
            <a:spLocks noGrp="1"/>
          </p:cNvSpPr>
          <p:nvPr/>
        </p:nvSpPr>
        <p:spPr>
          <a:xfrm>
            <a:off x="2705100" y="2667000"/>
            <a:ext cx="1409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 i="0">
                <a:solidFill>
                  <a:srgbClr val="1F9D72"/>
                </a:solidFill>
              </a:defRPr>
            </a:pPr>
            <a:r>
              <a:rPr sz="1800" b="1" i="0">
                <a:solidFill>
                  <a:srgbClr val="1F9D72"/>
                </a:solidFill>
              </a:rPr>
              <a:t>WhatsApp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1784A9-F8F0-4058-B7D7-16E533FC1201}"/>
              </a:ext>
            </a:extLst>
          </p:cNvPr>
          <p:cNvSpPr>
            <a:spLocks noGrp="1"/>
          </p:cNvSpPr>
          <p:nvPr/>
        </p:nvSpPr>
        <p:spPr>
          <a:xfrm>
            <a:off x="2705100" y="3181350"/>
            <a:ext cx="1409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 dirty="0">
                <a:solidFill>
                  <a:srgbClr val="172033"/>
                </a:solidFill>
              </a:rPr>
              <a:t>Questions, </a:t>
            </a:r>
            <a:r>
              <a:rPr sz="1275" b="0" i="0" dirty="0" err="1">
                <a:solidFill>
                  <a:srgbClr val="172033"/>
                </a:solidFill>
              </a:rPr>
              <a:t>tailles</a:t>
            </a:r>
            <a:r>
              <a:rPr sz="1275" b="0" i="0" dirty="0">
                <a:solidFill>
                  <a:srgbClr val="172033"/>
                </a:solidFill>
              </a:rPr>
              <a:t>, prix, livraison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67CBFB-C505-44EF-BBD2-B65E5ADB6F8B}"/>
              </a:ext>
            </a:extLst>
          </p:cNvPr>
          <p:cNvSpPr>
            <a:spLocks noGrp="1"/>
          </p:cNvSpPr>
          <p:nvPr/>
        </p:nvSpPr>
        <p:spPr>
          <a:xfrm>
            <a:off x="4343400" y="3048000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 i="0">
                <a:solidFill>
                  <a:srgbClr val="FF5ABF"/>
                </a:solidFill>
              </a:defRPr>
            </a:pPr>
            <a:r>
              <a:rPr sz="1800" b="1" i="0">
                <a:solidFill>
                  <a:srgbClr val="FF5ABF"/>
                </a:solidFill>
              </a:rPr>
              <a:t>→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219ED21-9C29-40AF-B7B8-6C914DB97345}"/>
              </a:ext>
            </a:extLst>
          </p:cNvPr>
          <p:cNvSpPr>
            <a:spLocks noGrp="1"/>
          </p:cNvSpPr>
          <p:nvPr/>
        </p:nvSpPr>
        <p:spPr>
          <a:xfrm>
            <a:off x="4533900" y="2476500"/>
            <a:ext cx="1905000" cy="1600200"/>
          </a:xfrm>
          <a:prstGeom prst="roundRect">
            <a:avLst>
              <a:gd name="adj" fmla="val 14286"/>
            </a:avLst>
          </a:prstGeom>
          <a:solidFill>
            <a:srgbClr val="EDEBFF"/>
          </a:solidFill>
          <a:ln w="0">
            <a:solidFill>
              <a:srgbClr val="EDEB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1DAB70-DBA8-4D63-8A9C-B1AC20D651BA}"/>
              </a:ext>
            </a:extLst>
          </p:cNvPr>
          <p:cNvSpPr>
            <a:spLocks noGrp="1"/>
          </p:cNvSpPr>
          <p:nvPr/>
        </p:nvSpPr>
        <p:spPr>
          <a:xfrm>
            <a:off x="4686300" y="2667000"/>
            <a:ext cx="1600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 i="0">
                <a:solidFill>
                  <a:srgbClr val="1F2A7A"/>
                </a:solidFill>
              </a:defRPr>
            </a:pPr>
            <a:r>
              <a:rPr sz="1800" b="1" i="0">
                <a:solidFill>
                  <a:srgbClr val="1F2A7A"/>
                </a:solidFill>
              </a:rPr>
              <a:t>OpenClaw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FE991C-A8F6-4F3E-A2E9-2DCC83EF3DC2}"/>
              </a:ext>
            </a:extLst>
          </p:cNvPr>
          <p:cNvSpPr>
            <a:spLocks noGrp="1"/>
          </p:cNvSpPr>
          <p:nvPr/>
        </p:nvSpPr>
        <p:spPr>
          <a:xfrm>
            <a:off x="4686300" y="3181350"/>
            <a:ext cx="16002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Qualification, réponse, étiquetage, routage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D55383-2884-4CB0-983C-7F9747A51B2C}"/>
              </a:ext>
            </a:extLst>
          </p:cNvPr>
          <p:cNvSpPr>
            <a:spLocks noGrp="1"/>
          </p:cNvSpPr>
          <p:nvPr/>
        </p:nvSpPr>
        <p:spPr>
          <a:xfrm>
            <a:off x="6515100" y="3048000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 i="0">
                <a:solidFill>
                  <a:srgbClr val="FF5ABF"/>
                </a:solidFill>
              </a:defRPr>
            </a:pPr>
            <a:r>
              <a:rPr sz="1800" b="1" i="0">
                <a:solidFill>
                  <a:srgbClr val="FF5ABF"/>
                </a:solidFill>
              </a:rPr>
              <a:t>→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E896D96-B83B-43D4-A5BF-450B737A5F27}"/>
              </a:ext>
            </a:extLst>
          </p:cNvPr>
          <p:cNvSpPr>
            <a:spLocks noGrp="1"/>
          </p:cNvSpPr>
          <p:nvPr/>
        </p:nvSpPr>
        <p:spPr>
          <a:xfrm>
            <a:off x="6705600" y="2476500"/>
            <a:ext cx="1714500" cy="1600200"/>
          </a:xfrm>
          <a:prstGeom prst="roundRect">
            <a:avLst>
              <a:gd name="adj" fmla="val 14286"/>
            </a:avLst>
          </a:prstGeom>
          <a:solidFill>
            <a:srgbClr val="FFF5E7"/>
          </a:solidFill>
          <a:ln w="0">
            <a:solidFill>
              <a:srgbClr val="FFF5E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52E71BF-5921-4BE5-806C-4FB9A0A51491}"/>
              </a:ext>
            </a:extLst>
          </p:cNvPr>
          <p:cNvSpPr>
            <a:spLocks noGrp="1"/>
          </p:cNvSpPr>
          <p:nvPr/>
        </p:nvSpPr>
        <p:spPr>
          <a:xfrm>
            <a:off x="6858000" y="2667000"/>
            <a:ext cx="1409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 i="0">
                <a:solidFill>
                  <a:srgbClr val="1F2A7A"/>
                </a:solidFill>
              </a:defRPr>
            </a:pPr>
            <a:r>
              <a:rPr sz="1800" b="1" i="0">
                <a:solidFill>
                  <a:srgbClr val="1F2A7A"/>
                </a:solidFill>
              </a:rPr>
              <a:t>CRM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B791E4-6105-464E-9892-C843B8D49EFA}"/>
              </a:ext>
            </a:extLst>
          </p:cNvPr>
          <p:cNvSpPr>
            <a:spLocks noGrp="1"/>
          </p:cNvSpPr>
          <p:nvPr/>
        </p:nvSpPr>
        <p:spPr>
          <a:xfrm>
            <a:off x="6858000" y="3181350"/>
            <a:ext cx="1409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Mémoire client, statut, prochaine action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25A78EA-134D-4AB9-9EC8-61A216220880}"/>
              </a:ext>
            </a:extLst>
          </p:cNvPr>
          <p:cNvSpPr>
            <a:spLocks noGrp="1"/>
          </p:cNvSpPr>
          <p:nvPr/>
        </p:nvSpPr>
        <p:spPr>
          <a:xfrm>
            <a:off x="8496300" y="3048000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 i="0">
                <a:solidFill>
                  <a:srgbClr val="FF5ABF"/>
                </a:solidFill>
              </a:defRPr>
            </a:pPr>
            <a:r>
              <a:rPr sz="1800" b="1" i="0">
                <a:solidFill>
                  <a:srgbClr val="FF5ABF"/>
                </a:solidFill>
              </a:rPr>
              <a:t>→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31B5635-68BD-462E-A176-73E4CAD73937}"/>
              </a:ext>
            </a:extLst>
          </p:cNvPr>
          <p:cNvSpPr>
            <a:spLocks noGrp="1"/>
          </p:cNvSpPr>
          <p:nvPr/>
        </p:nvSpPr>
        <p:spPr>
          <a:xfrm>
            <a:off x="8686800" y="2476500"/>
            <a:ext cx="2095500" cy="1600200"/>
          </a:xfrm>
          <a:prstGeom prst="roundRect">
            <a:avLst>
              <a:gd name="adj" fmla="val 14286"/>
            </a:avLst>
          </a:prstGeom>
          <a:solidFill>
            <a:srgbClr val="E8ECFF"/>
          </a:solidFill>
          <a:ln w="0">
            <a:solidFill>
              <a:srgbClr val="E8E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752ACF1-8FD4-4F8C-AF9D-74F07272827A}"/>
              </a:ext>
            </a:extLst>
          </p:cNvPr>
          <p:cNvSpPr>
            <a:spLocks noGrp="1"/>
          </p:cNvSpPr>
          <p:nvPr/>
        </p:nvSpPr>
        <p:spPr>
          <a:xfrm>
            <a:off x="8839200" y="2667000"/>
            <a:ext cx="1790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 i="0">
                <a:solidFill>
                  <a:srgbClr val="1F2A7A"/>
                </a:solidFill>
              </a:defRPr>
            </a:pPr>
            <a:r>
              <a:rPr sz="1800" b="1" i="0">
                <a:solidFill>
                  <a:srgbClr val="1F2A7A"/>
                </a:solidFill>
              </a:rPr>
              <a:t>Relance &amp; vente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7E95CC-E4C2-4559-A326-775C3929429A}"/>
              </a:ext>
            </a:extLst>
          </p:cNvPr>
          <p:cNvSpPr>
            <a:spLocks noGrp="1"/>
          </p:cNvSpPr>
          <p:nvPr/>
        </p:nvSpPr>
        <p:spPr>
          <a:xfrm>
            <a:off x="8839200" y="3181350"/>
            <a:ext cx="1790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Arrivage, promo, commande, Mobile Money, livraison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40D4CD2-C0F1-46FD-ADDA-ECA5AF0DE14D}"/>
              </a:ext>
            </a:extLst>
          </p:cNvPr>
          <p:cNvSpPr>
            <a:spLocks noGrp="1"/>
          </p:cNvSpPr>
          <p:nvPr/>
        </p:nvSpPr>
        <p:spPr>
          <a:xfrm>
            <a:off x="819150" y="16002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FF5ABF"/>
                </a:solidFill>
              </a:defRPr>
            </a:pPr>
            <a:r>
              <a:rPr sz="1500" b="1" i="0">
                <a:solidFill>
                  <a:srgbClr val="FF5ABF"/>
                </a:solidFill>
              </a:rPr>
              <a:t>Lecture simple pour le client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9B17889-00D7-4010-9A7B-06B1DB16CE5A}"/>
              </a:ext>
            </a:extLst>
          </p:cNvPr>
          <p:cNvSpPr>
            <a:spLocks noGrp="1"/>
          </p:cNvSpPr>
          <p:nvPr/>
        </p:nvSpPr>
        <p:spPr>
          <a:xfrm>
            <a:off x="800100" y="4324350"/>
            <a:ext cx="495300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 i="0">
                <a:solidFill>
                  <a:srgbClr val="172033"/>
                </a:solidFill>
              </a:defRPr>
            </a:pPr>
            <a:r>
              <a:rPr sz="1650" b="0" i="0" dirty="0">
                <a:solidFill>
                  <a:srgbClr val="172033"/>
                </a:solidFill>
              </a:rPr>
              <a:t>1. Les réseaux </a:t>
            </a:r>
            <a:r>
              <a:rPr sz="1650" b="0" i="0" dirty="0" err="1">
                <a:solidFill>
                  <a:srgbClr val="172033"/>
                </a:solidFill>
              </a:rPr>
              <a:t>attirent</a:t>
            </a:r>
            <a:endParaRPr sz="1650" b="0" i="0" dirty="0">
              <a:solidFill>
                <a:srgbClr val="172033"/>
              </a:solidFill>
            </a:endParaRPr>
          </a:p>
          <a:p>
            <a:pPr>
              <a:defRPr sz="1650" b="0" i="0">
                <a:solidFill>
                  <a:srgbClr val="172033"/>
                </a:solidFill>
              </a:defRPr>
            </a:pPr>
            <a:r>
              <a:rPr sz="1650" b="0" i="0" dirty="0">
                <a:solidFill>
                  <a:srgbClr val="172033"/>
                </a:solidFill>
              </a:rPr>
              <a:t>2. WhatsApp </a:t>
            </a:r>
            <a:r>
              <a:rPr sz="1650" b="0" i="0" dirty="0" err="1">
                <a:solidFill>
                  <a:srgbClr val="172033"/>
                </a:solidFill>
              </a:rPr>
              <a:t>convertit</a:t>
            </a:r>
            <a:endParaRPr sz="1650" b="0" i="0" dirty="0">
              <a:solidFill>
                <a:srgbClr val="172033"/>
              </a:solidFill>
            </a:endParaRPr>
          </a:p>
          <a:p>
            <a:pPr>
              <a:defRPr sz="1650" b="0" i="0">
                <a:solidFill>
                  <a:srgbClr val="172033"/>
                </a:solidFill>
              </a:defRPr>
            </a:pPr>
            <a:r>
              <a:rPr sz="1650" b="0" i="0" dirty="0">
                <a:solidFill>
                  <a:srgbClr val="172033"/>
                </a:solidFill>
              </a:rPr>
              <a:t>3. OpenClaw </a:t>
            </a:r>
            <a:r>
              <a:rPr sz="1650" b="0" i="0" dirty="0" err="1">
                <a:solidFill>
                  <a:srgbClr val="172033"/>
                </a:solidFill>
              </a:rPr>
              <a:t>comprend</a:t>
            </a:r>
            <a:r>
              <a:rPr sz="1650" b="0" i="0" dirty="0">
                <a:solidFill>
                  <a:srgbClr val="172033"/>
                </a:solidFill>
              </a:rPr>
              <a:t> le </a:t>
            </a:r>
            <a:r>
              <a:rPr sz="1650" b="0" i="0" dirty="0" err="1">
                <a:solidFill>
                  <a:srgbClr val="172033"/>
                </a:solidFill>
              </a:rPr>
              <a:t>besoin</a:t>
            </a:r>
            <a:endParaRPr sz="1650" b="0" i="0" dirty="0">
              <a:solidFill>
                <a:srgbClr val="172033"/>
              </a:solidFill>
            </a:endParaRPr>
          </a:p>
          <a:p>
            <a:pPr>
              <a:defRPr sz="1650" b="0" i="0">
                <a:solidFill>
                  <a:srgbClr val="172033"/>
                </a:solidFill>
              </a:defRPr>
            </a:pPr>
            <a:r>
              <a:rPr sz="1650" b="0" i="0" dirty="0">
                <a:solidFill>
                  <a:srgbClr val="172033"/>
                </a:solidFill>
              </a:rPr>
              <a:t>4. Le CRM </a:t>
            </a:r>
            <a:r>
              <a:rPr sz="1650" b="0" i="0" dirty="0" err="1">
                <a:solidFill>
                  <a:srgbClr val="172033"/>
                </a:solidFill>
              </a:rPr>
              <a:t>n'oublie</a:t>
            </a:r>
            <a:r>
              <a:rPr sz="1650" b="0" i="0" dirty="0">
                <a:solidFill>
                  <a:srgbClr val="172033"/>
                </a:solidFill>
              </a:rPr>
              <a:t> rien</a:t>
            </a:r>
          </a:p>
          <a:p>
            <a:pPr>
              <a:defRPr sz="1650" b="0" i="0">
                <a:solidFill>
                  <a:srgbClr val="172033"/>
                </a:solidFill>
              </a:defRPr>
            </a:pPr>
            <a:r>
              <a:rPr sz="1650" b="0" i="0" dirty="0">
                <a:solidFill>
                  <a:srgbClr val="172033"/>
                </a:solidFill>
              </a:rPr>
              <a:t>5. La boutique relance, </a:t>
            </a:r>
            <a:r>
              <a:rPr sz="1650" b="0" i="0" dirty="0" err="1">
                <a:solidFill>
                  <a:srgbClr val="172033"/>
                </a:solidFill>
              </a:rPr>
              <a:t>encaisse</a:t>
            </a:r>
            <a:r>
              <a:rPr sz="1650" b="0" i="0" dirty="0">
                <a:solidFill>
                  <a:srgbClr val="172033"/>
                </a:solidFill>
              </a:rPr>
              <a:t> et suit </a:t>
            </a:r>
            <a:r>
              <a:rPr sz="1650" b="0" i="0" dirty="0" err="1">
                <a:solidFill>
                  <a:srgbClr val="172033"/>
                </a:solidFill>
              </a:rPr>
              <a:t>mieux</a:t>
            </a:r>
            <a:endParaRPr sz="1650" b="0" i="0" dirty="0">
              <a:solidFill>
                <a:srgbClr val="172033"/>
              </a:solidFill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1543D7B-1116-498B-B8A5-F08BC4E4AB54}"/>
              </a:ext>
            </a:extLst>
          </p:cNvPr>
          <p:cNvSpPr>
            <a:spLocks noGrp="1"/>
          </p:cNvSpPr>
          <p:nvPr/>
        </p:nvSpPr>
        <p:spPr>
          <a:xfrm>
            <a:off x="6667500" y="4514850"/>
            <a:ext cx="4095750" cy="156210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7DC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4B95C0-19A3-44A3-8C1F-2A03C104E7A4}"/>
              </a:ext>
            </a:extLst>
          </p:cNvPr>
          <p:cNvSpPr>
            <a:spLocks noGrp="1"/>
          </p:cNvSpPr>
          <p:nvPr/>
        </p:nvSpPr>
        <p:spPr>
          <a:xfrm>
            <a:off x="6896100" y="47053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324CFF"/>
                </a:solidFill>
              </a:defRPr>
            </a:pPr>
            <a:r>
              <a:rPr sz="1500" b="1" i="0">
                <a:solidFill>
                  <a:srgbClr val="324CFF"/>
                </a:solidFill>
              </a:rPr>
              <a:t>Exemple concret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AA991D3-3891-42BE-8EDA-0DD0D0B1475C}"/>
              </a:ext>
            </a:extLst>
          </p:cNvPr>
          <p:cNvSpPr>
            <a:spLocks noGrp="1"/>
          </p:cNvSpPr>
          <p:nvPr/>
        </p:nvSpPr>
        <p:spPr>
          <a:xfrm>
            <a:off x="6896100" y="4991100"/>
            <a:ext cx="3619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Une cliente voit un contenu TikTok, écrit sur WhatsApp pour un ensemble 6 mois. OpenClaw classe la demande, crée la fiche CRM, puis la boutique la relance, encaisse par Mobile Money et suit la livraison.</a:t>
            </a:r>
          </a:p>
        </p:txBody>
      </p:sp>
    </p:spTree>
    <p:extLst>
      <p:ext uri="{BB962C8B-B14F-4D97-AF65-F5344CB8AC3E}">
        <p14:creationId xmlns:p14="http://schemas.microsoft.com/office/powerpoint/2010/main" val="2002411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B3DA7DC3-1E67-461E-88E4-35FE8B0AACB2}"/>
              </a:ext>
            </a:extLst>
          </p:cNvPr>
          <p:cNvSpPr>
            <a:spLocks noGrp="1"/>
          </p:cNvSpPr>
          <p:nvPr/>
        </p:nvSpPr>
        <p:spPr>
          <a:xfrm>
            <a:off x="-762000" y="-476250"/>
            <a:ext cx="2857500" cy="2857500"/>
          </a:xfrm>
          <a:prstGeom prst="ellipse">
            <a:avLst/>
          </a:prstGeom>
          <a:solidFill>
            <a:srgbClr val="FFE8F6"/>
          </a:solidFill>
          <a:ln w="0">
            <a:solidFill>
              <a:srgbClr val="FFE8F6"/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067D6A8-EC96-4CA0-A442-675721C4EC7D}"/>
              </a:ext>
            </a:extLst>
          </p:cNvPr>
          <p:cNvSpPr>
            <a:spLocks noGrp="1"/>
          </p:cNvSpPr>
          <p:nvPr/>
        </p:nvSpPr>
        <p:spPr>
          <a:xfrm>
            <a:off x="9810750" y="4953000"/>
            <a:ext cx="2476500" cy="2476500"/>
          </a:xfrm>
          <a:prstGeom prst="ellipse">
            <a:avLst/>
          </a:prstGeom>
          <a:solidFill>
            <a:srgbClr val="E8ECFF"/>
          </a:solidFill>
          <a:ln w="0">
            <a:solidFill>
              <a:srgbClr val="E8ECFF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83E221-C90A-4308-950C-1E9E125985A4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FF5ABF"/>
                </a:solidFill>
              </a:defRPr>
            </a:pPr>
            <a:r>
              <a:rPr sz="975" b="1" i="0">
                <a:solidFill>
                  <a:srgbClr val="FF5ABF"/>
                </a:solidFill>
              </a:rPr>
              <a:t>LIVE TIKTOK • TRANSFERAI x NETTELECOM CI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FDBDFA-E8D3-4911-B23F-9D8B6CAC4EC5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 i="0">
                <a:solidFill>
                  <a:srgbClr val="1F2A7A"/>
                </a:solidFill>
              </a:defRPr>
            </a:pPr>
            <a:r>
              <a:rPr sz="2400" b="1" i="0">
                <a:solidFill>
                  <a:srgbClr val="1F2A7A"/>
                </a:solidFill>
              </a:rPr>
              <a:t>Démonstration : ce qui se passe quand une cliente écrit sur WhatsApp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331BEF-8401-4AAB-A336-C00571F138DA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1038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75569"/>
                </a:solidFill>
              </a:defRPr>
            </a:pPr>
            <a:r>
              <a:rPr sz="975" b="0" i="0">
                <a:solidFill>
                  <a:srgbClr val="475569"/>
                </a:solidFill>
              </a:rPr>
              <a:t>Projet piloté par TransferAI, notre hub IA, en collaboration avec Nettelecom CI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CCEF997-53C0-4D81-ADBB-6F701A19F151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4000500" cy="43434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7DC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4D7DA9F-117A-4D8C-8127-BCF436A1314C}"/>
              </a:ext>
            </a:extLst>
          </p:cNvPr>
          <p:cNvSpPr>
            <a:spLocks noGrp="1"/>
          </p:cNvSpPr>
          <p:nvPr/>
        </p:nvSpPr>
        <p:spPr>
          <a:xfrm>
            <a:off x="5143500" y="1428750"/>
            <a:ext cx="5676900" cy="4343400"/>
          </a:xfrm>
          <a:prstGeom prst="roundRect">
            <a:avLst>
              <a:gd name="adj" fmla="val 3509"/>
            </a:avLst>
          </a:prstGeom>
          <a:solidFill>
            <a:srgbClr val="EEF2FF"/>
          </a:solidFill>
          <a:ln w="9525">
            <a:solidFill>
              <a:srgbClr val="D8DFF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F99321-7C17-49E3-B90D-5A5D05F3F7F6}"/>
              </a:ext>
            </a:extLst>
          </p:cNvPr>
          <p:cNvSpPr>
            <a:spLocks noGrp="1"/>
          </p:cNvSpPr>
          <p:nvPr/>
        </p:nvSpPr>
        <p:spPr>
          <a:xfrm>
            <a:off x="1143000" y="1622350"/>
            <a:ext cx="2647950" cy="3238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 i="0">
                <a:solidFill>
                  <a:srgbClr val="1F2A7A"/>
                </a:solidFill>
              </a:defRPr>
            </a:pPr>
            <a:r>
              <a:rPr sz="1800" b="1" i="0" dirty="0">
                <a:solidFill>
                  <a:srgbClr val="1F2A7A"/>
                </a:solidFill>
              </a:rPr>
              <a:t>Conversation </a:t>
            </a:r>
            <a:r>
              <a:rPr sz="1800" b="1" i="0" dirty="0" err="1">
                <a:solidFill>
                  <a:srgbClr val="1F2A7A"/>
                </a:solidFill>
              </a:rPr>
              <a:t>cliente</a:t>
            </a:r>
            <a:endParaRPr sz="1800" b="1" i="0" dirty="0">
              <a:solidFill>
                <a:srgbClr val="1F2A7A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AC90F1F-B18D-4C33-AC90-39FCA5CE48A4}"/>
              </a:ext>
            </a:extLst>
          </p:cNvPr>
          <p:cNvSpPr>
            <a:spLocks noGrp="1"/>
          </p:cNvSpPr>
          <p:nvPr/>
        </p:nvSpPr>
        <p:spPr>
          <a:xfrm>
            <a:off x="1028700" y="2419350"/>
            <a:ext cx="2857500" cy="342900"/>
          </a:xfrm>
          <a:prstGeom prst="roundRect">
            <a:avLst>
              <a:gd name="adj" fmla="val 28571"/>
            </a:avLst>
          </a:prstGeom>
          <a:solidFill>
            <a:srgbClr val="F4F6FA"/>
          </a:solidFill>
          <a:ln w="0">
            <a:solidFill>
              <a:srgbClr val="F4F6FA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8615E6-4B73-4368-B61B-F63AA389EF83}"/>
              </a:ext>
            </a:extLst>
          </p:cNvPr>
          <p:cNvSpPr>
            <a:spLocks noGrp="1"/>
          </p:cNvSpPr>
          <p:nvPr/>
        </p:nvSpPr>
        <p:spPr>
          <a:xfrm>
            <a:off x="1133475" y="2390775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172033"/>
                </a:solidFill>
              </a:defRPr>
            </a:pPr>
            <a:r>
              <a:rPr sz="1200" b="0" i="0" dirty="0">
                <a:solidFill>
                  <a:srgbClr val="172033"/>
                </a:solidFill>
              </a:rPr>
              <a:t>Bonjour, je </a:t>
            </a:r>
            <a:r>
              <a:rPr sz="1200" b="0" i="0" dirty="0" err="1">
                <a:solidFill>
                  <a:srgbClr val="172033"/>
                </a:solidFill>
              </a:rPr>
              <a:t>cherche</a:t>
            </a:r>
            <a:r>
              <a:rPr sz="1200" b="0" i="0" dirty="0">
                <a:solidFill>
                  <a:srgbClr val="172033"/>
                </a:solidFill>
              </a:rPr>
              <a:t> </a:t>
            </a:r>
            <a:r>
              <a:rPr sz="1200" b="0" i="0" dirty="0" err="1">
                <a:solidFill>
                  <a:srgbClr val="172033"/>
                </a:solidFill>
              </a:rPr>
              <a:t>une</a:t>
            </a:r>
            <a:r>
              <a:rPr sz="1200" b="0" i="0" dirty="0">
                <a:solidFill>
                  <a:srgbClr val="172033"/>
                </a:solidFill>
              </a:rPr>
              <a:t> tenue </a:t>
            </a:r>
            <a:r>
              <a:rPr sz="1200" b="0" i="0" dirty="0" err="1">
                <a:solidFill>
                  <a:srgbClr val="172033"/>
                </a:solidFill>
              </a:rPr>
              <a:t>bébé</a:t>
            </a:r>
            <a:r>
              <a:rPr sz="1200" b="0" i="0" dirty="0">
                <a:solidFill>
                  <a:srgbClr val="172033"/>
                </a:solidFill>
              </a:rPr>
              <a:t> 6 </a:t>
            </a:r>
            <a:r>
              <a:rPr sz="1200" b="0" i="0" dirty="0" err="1">
                <a:solidFill>
                  <a:srgbClr val="172033"/>
                </a:solidFill>
              </a:rPr>
              <a:t>mois</a:t>
            </a:r>
            <a:r>
              <a:rPr sz="1200" b="0" i="0" dirty="0">
                <a:solidFill>
                  <a:srgbClr val="172033"/>
                </a:solidFill>
              </a:rPr>
              <a:t>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DE28785-C467-408E-A07F-BA41656CA40B}"/>
              </a:ext>
            </a:extLst>
          </p:cNvPr>
          <p:cNvSpPr>
            <a:spLocks noGrp="1"/>
          </p:cNvSpPr>
          <p:nvPr/>
        </p:nvSpPr>
        <p:spPr>
          <a:xfrm>
            <a:off x="1409700" y="2971800"/>
            <a:ext cx="2381250" cy="609600"/>
          </a:xfrm>
          <a:prstGeom prst="roundRect">
            <a:avLst>
              <a:gd name="adj" fmla="val 28571"/>
            </a:avLst>
          </a:prstGeom>
          <a:solidFill>
            <a:srgbClr val="E7F4EE"/>
          </a:solidFill>
          <a:ln w="0">
            <a:solidFill>
              <a:srgbClr val="E7F4EE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18C26F-9894-4319-83FA-C0263C62D5B2}"/>
              </a:ext>
            </a:extLst>
          </p:cNvPr>
          <p:cNvSpPr>
            <a:spLocks noGrp="1"/>
          </p:cNvSpPr>
          <p:nvPr/>
        </p:nvSpPr>
        <p:spPr>
          <a:xfrm>
            <a:off x="1543050" y="3095625"/>
            <a:ext cx="21145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1F9D72"/>
                </a:solidFill>
              </a:defRPr>
            </a:pPr>
            <a:r>
              <a:rPr sz="1200" b="0" i="0" dirty="0">
                <a:solidFill>
                  <a:srgbClr val="1F9D72"/>
                </a:solidFill>
              </a:rPr>
              <a:t>Bonjour madame. Est-</a:t>
            </a:r>
            <a:r>
              <a:rPr sz="1200" b="0" i="0" dirty="0" err="1">
                <a:solidFill>
                  <a:srgbClr val="1F9D72"/>
                </a:solidFill>
              </a:rPr>
              <a:t>ce</a:t>
            </a:r>
            <a:r>
              <a:rPr sz="1200" b="0" i="0" dirty="0">
                <a:solidFill>
                  <a:srgbClr val="1F9D72"/>
                </a:solidFill>
              </a:rPr>
              <a:t> pour fille, garçon </a:t>
            </a:r>
            <a:r>
              <a:rPr sz="1200" b="0" i="0" dirty="0" err="1">
                <a:solidFill>
                  <a:srgbClr val="1F9D72"/>
                </a:solidFill>
              </a:rPr>
              <a:t>ou</a:t>
            </a:r>
            <a:r>
              <a:rPr sz="1200" b="0" i="0" dirty="0">
                <a:solidFill>
                  <a:srgbClr val="1F9D72"/>
                </a:solidFill>
              </a:rPr>
              <a:t> mixte ?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51461C0-2142-4943-8843-13A4354FAB01}"/>
              </a:ext>
            </a:extLst>
          </p:cNvPr>
          <p:cNvSpPr>
            <a:spLocks noGrp="1"/>
          </p:cNvSpPr>
          <p:nvPr/>
        </p:nvSpPr>
        <p:spPr>
          <a:xfrm>
            <a:off x="1028700" y="3752850"/>
            <a:ext cx="2857500" cy="553336"/>
          </a:xfrm>
          <a:prstGeom prst="roundRect">
            <a:avLst>
              <a:gd name="adj" fmla="val 28571"/>
            </a:avLst>
          </a:prstGeom>
          <a:solidFill>
            <a:srgbClr val="F4F6FA"/>
          </a:solidFill>
          <a:ln w="0">
            <a:solidFill>
              <a:srgbClr val="F4F6FA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AA7BBE-352C-4105-BD2E-116088FAA290}"/>
              </a:ext>
            </a:extLst>
          </p:cNvPr>
          <p:cNvSpPr>
            <a:spLocks noGrp="1"/>
          </p:cNvSpPr>
          <p:nvPr/>
        </p:nvSpPr>
        <p:spPr>
          <a:xfrm>
            <a:off x="1162050" y="3752850"/>
            <a:ext cx="2590800" cy="4762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172033"/>
                </a:solidFill>
              </a:defRPr>
            </a:pPr>
            <a:r>
              <a:rPr sz="1200" b="0" i="0" dirty="0">
                <a:solidFill>
                  <a:srgbClr val="172033"/>
                </a:solidFill>
              </a:rPr>
              <a:t>Pour garçon. Je </a:t>
            </a:r>
            <a:r>
              <a:rPr sz="1200" b="0" i="0" dirty="0" err="1">
                <a:solidFill>
                  <a:srgbClr val="172033"/>
                </a:solidFill>
              </a:rPr>
              <a:t>veux</a:t>
            </a:r>
            <a:r>
              <a:rPr sz="1200" b="0" i="0" dirty="0">
                <a:solidFill>
                  <a:srgbClr val="172033"/>
                </a:solidFill>
              </a:rPr>
              <a:t> </a:t>
            </a:r>
            <a:r>
              <a:rPr sz="1200" b="0" i="0" dirty="0" err="1">
                <a:solidFill>
                  <a:srgbClr val="172033"/>
                </a:solidFill>
              </a:rPr>
              <a:t>aussi</a:t>
            </a:r>
            <a:r>
              <a:rPr sz="1200" b="0" i="0" dirty="0">
                <a:solidFill>
                  <a:srgbClr val="172033"/>
                </a:solidFill>
              </a:rPr>
              <a:t> savoir </a:t>
            </a:r>
            <a:r>
              <a:rPr sz="1200" b="0" i="0" dirty="0" err="1">
                <a:solidFill>
                  <a:srgbClr val="172033"/>
                </a:solidFill>
              </a:rPr>
              <a:t>si</a:t>
            </a:r>
            <a:r>
              <a:rPr sz="1200" b="0" i="0" dirty="0">
                <a:solidFill>
                  <a:srgbClr val="172033"/>
                </a:solidFill>
              </a:rPr>
              <a:t> vous </a:t>
            </a:r>
            <a:r>
              <a:rPr sz="1200" b="0" i="0" dirty="0" err="1">
                <a:solidFill>
                  <a:srgbClr val="172033"/>
                </a:solidFill>
              </a:rPr>
              <a:t>livrez</a:t>
            </a:r>
            <a:r>
              <a:rPr sz="1200" b="0" i="0" dirty="0">
                <a:solidFill>
                  <a:srgbClr val="172033"/>
                </a:solidFill>
              </a:rPr>
              <a:t> à </a:t>
            </a:r>
            <a:r>
              <a:rPr sz="1200" b="0" i="0" dirty="0" err="1">
                <a:solidFill>
                  <a:srgbClr val="172033"/>
                </a:solidFill>
              </a:rPr>
              <a:t>Cocody</a:t>
            </a:r>
            <a:r>
              <a:rPr sz="1200" b="0" i="0" dirty="0">
                <a:solidFill>
                  <a:srgbClr val="172033"/>
                </a:solidFill>
              </a:rPr>
              <a:t>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5A2EEF2-369C-4BD5-A209-0453E43767C4}"/>
              </a:ext>
            </a:extLst>
          </p:cNvPr>
          <p:cNvSpPr>
            <a:spLocks noGrp="1"/>
          </p:cNvSpPr>
          <p:nvPr/>
        </p:nvSpPr>
        <p:spPr>
          <a:xfrm>
            <a:off x="1371600" y="4562475"/>
            <a:ext cx="2381250" cy="876300"/>
          </a:xfrm>
          <a:prstGeom prst="roundRect">
            <a:avLst>
              <a:gd name="adj" fmla="val 28571"/>
            </a:avLst>
          </a:prstGeom>
          <a:solidFill>
            <a:srgbClr val="E7F4EE"/>
          </a:solidFill>
          <a:ln w="0">
            <a:solidFill>
              <a:srgbClr val="E7F4EE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ACE3EE-25E7-48EC-97B3-FBDC3213E92D}"/>
              </a:ext>
            </a:extLst>
          </p:cNvPr>
          <p:cNvSpPr>
            <a:spLocks noGrp="1"/>
          </p:cNvSpPr>
          <p:nvPr/>
        </p:nvSpPr>
        <p:spPr>
          <a:xfrm>
            <a:off x="1543050" y="4705349"/>
            <a:ext cx="21145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1F9D72"/>
                </a:solidFill>
              </a:defRPr>
            </a:pPr>
            <a:r>
              <a:rPr sz="1200" b="0" i="0" dirty="0">
                <a:solidFill>
                  <a:srgbClr val="1F9D72"/>
                </a:solidFill>
              </a:rPr>
              <a:t>Oui, livraison possible. Je vous </a:t>
            </a:r>
            <a:r>
              <a:rPr sz="1200" b="0" i="0" dirty="0" err="1">
                <a:solidFill>
                  <a:srgbClr val="1F9D72"/>
                </a:solidFill>
              </a:rPr>
              <a:t>prépare</a:t>
            </a:r>
            <a:r>
              <a:rPr sz="1200" b="0" i="0" dirty="0">
                <a:solidFill>
                  <a:srgbClr val="1F9D72"/>
                </a:solidFill>
              </a:rPr>
              <a:t> les options et </a:t>
            </a:r>
            <a:r>
              <a:rPr sz="1200" b="0" i="0" dirty="0" err="1">
                <a:solidFill>
                  <a:srgbClr val="1F9D72"/>
                </a:solidFill>
              </a:rPr>
              <a:t>j'enregistre</a:t>
            </a:r>
            <a:r>
              <a:rPr sz="1200" b="0" i="0" dirty="0">
                <a:solidFill>
                  <a:srgbClr val="1F9D72"/>
                </a:solidFill>
              </a:rPr>
              <a:t> </a:t>
            </a:r>
            <a:r>
              <a:rPr sz="1200" b="0" i="0" dirty="0" err="1">
                <a:solidFill>
                  <a:srgbClr val="1F9D72"/>
                </a:solidFill>
              </a:rPr>
              <a:t>votre</a:t>
            </a:r>
            <a:r>
              <a:rPr sz="1200" b="0" i="0" dirty="0">
                <a:solidFill>
                  <a:srgbClr val="1F9D72"/>
                </a:solidFill>
              </a:rPr>
              <a:t> </a:t>
            </a:r>
            <a:r>
              <a:rPr sz="1200" b="0" i="0" dirty="0" err="1">
                <a:solidFill>
                  <a:srgbClr val="1F9D72"/>
                </a:solidFill>
              </a:rPr>
              <a:t>besoin</a:t>
            </a:r>
            <a:r>
              <a:rPr sz="1200" b="0" i="0" dirty="0">
                <a:solidFill>
                  <a:srgbClr val="1F9D72"/>
                </a:solidFill>
              </a:rPr>
              <a:t>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F60AFE-4FDB-4B85-B70B-02E6BE41463A}"/>
              </a:ext>
            </a:extLst>
          </p:cNvPr>
          <p:cNvSpPr>
            <a:spLocks noGrp="1"/>
          </p:cNvSpPr>
          <p:nvPr/>
        </p:nvSpPr>
        <p:spPr>
          <a:xfrm>
            <a:off x="5391150" y="1571625"/>
            <a:ext cx="3848543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 i="0">
                <a:solidFill>
                  <a:srgbClr val="324CFF"/>
                </a:solidFill>
              </a:defRPr>
            </a:pPr>
            <a:r>
              <a:rPr sz="1800" b="1" i="0" dirty="0">
                <a:solidFill>
                  <a:srgbClr val="324CFF"/>
                </a:solidFill>
              </a:rPr>
              <a:t>Actions OpenClaw </a:t>
            </a:r>
            <a:r>
              <a:rPr sz="1800" b="1" i="0" dirty="0" err="1">
                <a:solidFill>
                  <a:srgbClr val="324CFF"/>
                </a:solidFill>
              </a:rPr>
              <a:t>en</a:t>
            </a:r>
            <a:r>
              <a:rPr sz="1800" b="1" i="0" dirty="0">
                <a:solidFill>
                  <a:srgbClr val="324CFF"/>
                </a:solidFill>
              </a:rPr>
              <a:t> arrière-plan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2B8538-F555-4F5B-AC82-E7A26E510D70}"/>
              </a:ext>
            </a:extLst>
          </p:cNvPr>
          <p:cNvSpPr>
            <a:spLocks noGrp="1"/>
          </p:cNvSpPr>
          <p:nvPr/>
        </p:nvSpPr>
        <p:spPr>
          <a:xfrm>
            <a:off x="5391150" y="2133600"/>
            <a:ext cx="4953000" cy="2076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172033"/>
                </a:solidFill>
              </a:defRPr>
            </a:pPr>
            <a:r>
              <a:rPr sz="1350" b="0" i="0" dirty="0">
                <a:solidFill>
                  <a:srgbClr val="172033"/>
                </a:solidFill>
              </a:rPr>
              <a:t>• </a:t>
            </a:r>
            <a:r>
              <a:rPr sz="1350" b="0" i="0" dirty="0" err="1">
                <a:solidFill>
                  <a:srgbClr val="172033"/>
                </a:solidFill>
              </a:rPr>
              <a:t>Détecte</a:t>
            </a:r>
            <a:r>
              <a:rPr sz="1350" b="0" i="0" dirty="0">
                <a:solidFill>
                  <a:srgbClr val="172033"/>
                </a:solidFill>
              </a:rPr>
              <a:t> la source : WhatsApp, issue d'un </a:t>
            </a:r>
            <a:r>
              <a:rPr sz="1350" b="0" i="0" dirty="0" err="1">
                <a:solidFill>
                  <a:srgbClr val="172033"/>
                </a:solidFill>
              </a:rPr>
              <a:t>trafic</a:t>
            </a:r>
            <a:r>
              <a:rPr sz="1350" b="0" i="0" dirty="0">
                <a:solidFill>
                  <a:srgbClr val="172033"/>
                </a:solidFill>
              </a:rPr>
              <a:t> social.</a:t>
            </a:r>
          </a:p>
          <a:p>
            <a:pPr>
              <a:defRPr sz="1350" b="0" i="0">
                <a:solidFill>
                  <a:srgbClr val="172033"/>
                </a:solidFill>
              </a:defRPr>
            </a:pPr>
            <a:r>
              <a:rPr sz="1350" b="0" i="0" dirty="0">
                <a:solidFill>
                  <a:srgbClr val="172033"/>
                </a:solidFill>
              </a:rPr>
              <a:t>• </a:t>
            </a:r>
            <a:r>
              <a:rPr sz="1350" b="0" i="0" dirty="0" err="1">
                <a:solidFill>
                  <a:srgbClr val="172033"/>
                </a:solidFill>
              </a:rPr>
              <a:t>Résume</a:t>
            </a:r>
            <a:r>
              <a:rPr sz="1350" b="0" i="0" dirty="0">
                <a:solidFill>
                  <a:srgbClr val="172033"/>
                </a:solidFill>
              </a:rPr>
              <a:t> la </a:t>
            </a:r>
            <a:r>
              <a:rPr sz="1350" b="0" i="0" dirty="0" err="1">
                <a:solidFill>
                  <a:srgbClr val="172033"/>
                </a:solidFill>
              </a:rPr>
              <a:t>demande</a:t>
            </a:r>
            <a:r>
              <a:rPr sz="1350" b="0" i="0" dirty="0">
                <a:solidFill>
                  <a:srgbClr val="172033"/>
                </a:solidFill>
              </a:rPr>
              <a:t> : tenue </a:t>
            </a:r>
            <a:r>
              <a:rPr sz="1350" b="0" i="0" dirty="0" err="1">
                <a:solidFill>
                  <a:srgbClr val="172033"/>
                </a:solidFill>
              </a:rPr>
              <a:t>bébé</a:t>
            </a:r>
            <a:r>
              <a:rPr sz="1350" b="0" i="0" dirty="0">
                <a:solidFill>
                  <a:srgbClr val="172033"/>
                </a:solidFill>
              </a:rPr>
              <a:t>, 6 </a:t>
            </a:r>
            <a:r>
              <a:rPr sz="1350" b="0" i="0" dirty="0" err="1">
                <a:solidFill>
                  <a:srgbClr val="172033"/>
                </a:solidFill>
              </a:rPr>
              <a:t>mois</a:t>
            </a:r>
            <a:r>
              <a:rPr sz="1350" b="0" i="0" dirty="0">
                <a:solidFill>
                  <a:srgbClr val="172033"/>
                </a:solidFill>
              </a:rPr>
              <a:t>, garçon, livraison à </a:t>
            </a:r>
            <a:r>
              <a:rPr sz="1350" b="0" i="0" dirty="0" err="1">
                <a:solidFill>
                  <a:srgbClr val="172033"/>
                </a:solidFill>
              </a:rPr>
              <a:t>Cocody</a:t>
            </a:r>
            <a:r>
              <a:rPr sz="1350" b="0" i="0" dirty="0">
                <a:solidFill>
                  <a:srgbClr val="172033"/>
                </a:solidFill>
              </a:rPr>
              <a:t>.</a:t>
            </a:r>
          </a:p>
          <a:p>
            <a:pPr>
              <a:defRPr sz="1350" b="0" i="0">
                <a:solidFill>
                  <a:srgbClr val="172033"/>
                </a:solidFill>
              </a:defRPr>
            </a:pPr>
            <a:r>
              <a:rPr sz="1350" b="0" i="0" dirty="0">
                <a:solidFill>
                  <a:srgbClr val="172033"/>
                </a:solidFill>
              </a:rPr>
              <a:t>• </a:t>
            </a:r>
            <a:r>
              <a:rPr sz="1350" b="0" i="0" dirty="0" err="1">
                <a:solidFill>
                  <a:srgbClr val="172033"/>
                </a:solidFill>
              </a:rPr>
              <a:t>Affecte</a:t>
            </a:r>
            <a:r>
              <a:rPr sz="1350" b="0" i="0" dirty="0">
                <a:solidFill>
                  <a:srgbClr val="172033"/>
                </a:solidFill>
              </a:rPr>
              <a:t> un </a:t>
            </a:r>
            <a:r>
              <a:rPr sz="1350" b="0" i="0" dirty="0" err="1">
                <a:solidFill>
                  <a:srgbClr val="172033"/>
                </a:solidFill>
              </a:rPr>
              <a:t>statut</a:t>
            </a:r>
            <a:r>
              <a:rPr sz="1350" b="0" i="0" dirty="0">
                <a:solidFill>
                  <a:srgbClr val="172033"/>
                </a:solidFill>
              </a:rPr>
              <a:t> : </a:t>
            </a:r>
            <a:r>
              <a:rPr sz="1350" b="0" i="0" dirty="0" err="1">
                <a:solidFill>
                  <a:srgbClr val="172033"/>
                </a:solidFill>
              </a:rPr>
              <a:t>demande</a:t>
            </a:r>
            <a:r>
              <a:rPr sz="1350" b="0" i="0" dirty="0">
                <a:solidFill>
                  <a:srgbClr val="172033"/>
                </a:solidFill>
              </a:rPr>
              <a:t> </a:t>
            </a:r>
            <a:r>
              <a:rPr sz="1350" b="0" i="0" dirty="0" err="1">
                <a:solidFill>
                  <a:srgbClr val="172033"/>
                </a:solidFill>
              </a:rPr>
              <a:t>chaude</a:t>
            </a:r>
            <a:r>
              <a:rPr sz="1350" b="0" i="0" dirty="0">
                <a:solidFill>
                  <a:srgbClr val="172033"/>
                </a:solidFill>
              </a:rPr>
              <a:t> / à </a:t>
            </a:r>
            <a:r>
              <a:rPr sz="1350" b="0" i="0" dirty="0" err="1">
                <a:solidFill>
                  <a:srgbClr val="172033"/>
                </a:solidFill>
              </a:rPr>
              <a:t>traiter</a:t>
            </a:r>
            <a:r>
              <a:rPr sz="1350" b="0" i="0" dirty="0">
                <a:solidFill>
                  <a:srgbClr val="172033"/>
                </a:solidFill>
              </a:rPr>
              <a:t> </a:t>
            </a:r>
            <a:r>
              <a:rPr sz="1350" b="0" i="0" dirty="0" err="1">
                <a:solidFill>
                  <a:srgbClr val="172033"/>
                </a:solidFill>
              </a:rPr>
              <a:t>aujourd'hui</a:t>
            </a:r>
            <a:r>
              <a:rPr sz="1350" b="0" i="0" dirty="0">
                <a:solidFill>
                  <a:srgbClr val="172033"/>
                </a:solidFill>
              </a:rPr>
              <a:t>.</a:t>
            </a:r>
          </a:p>
          <a:p>
            <a:pPr>
              <a:defRPr sz="1350" b="0" i="0">
                <a:solidFill>
                  <a:srgbClr val="172033"/>
                </a:solidFill>
              </a:defRPr>
            </a:pPr>
            <a:r>
              <a:rPr sz="1350" b="0" i="0" dirty="0">
                <a:solidFill>
                  <a:srgbClr val="172033"/>
                </a:solidFill>
              </a:rPr>
              <a:t>• Propose la </a:t>
            </a:r>
            <a:r>
              <a:rPr sz="1350" b="0" i="0" dirty="0" err="1">
                <a:solidFill>
                  <a:srgbClr val="172033"/>
                </a:solidFill>
              </a:rPr>
              <a:t>réponse</a:t>
            </a:r>
            <a:r>
              <a:rPr sz="1350" b="0" i="0" dirty="0">
                <a:solidFill>
                  <a:srgbClr val="172033"/>
                </a:solidFill>
              </a:rPr>
              <a:t> type </a:t>
            </a:r>
            <a:r>
              <a:rPr sz="1350" b="0" i="0" dirty="0" err="1">
                <a:solidFill>
                  <a:srgbClr val="172033"/>
                </a:solidFill>
              </a:rPr>
              <a:t>puis</a:t>
            </a:r>
            <a:r>
              <a:rPr sz="1350" b="0" i="0" dirty="0">
                <a:solidFill>
                  <a:srgbClr val="172033"/>
                </a:solidFill>
              </a:rPr>
              <a:t> route vers la vendeuse </a:t>
            </a:r>
            <a:r>
              <a:rPr sz="1350" b="0" i="0" dirty="0" err="1">
                <a:solidFill>
                  <a:srgbClr val="172033"/>
                </a:solidFill>
              </a:rPr>
              <a:t>si</a:t>
            </a:r>
            <a:r>
              <a:rPr sz="1350" b="0" i="0" dirty="0">
                <a:solidFill>
                  <a:srgbClr val="172033"/>
                </a:solidFill>
              </a:rPr>
              <a:t> </a:t>
            </a:r>
            <a:r>
              <a:rPr sz="1350" b="0" i="0" dirty="0" err="1">
                <a:solidFill>
                  <a:srgbClr val="172033"/>
                </a:solidFill>
              </a:rPr>
              <a:t>besoin</a:t>
            </a:r>
            <a:r>
              <a:rPr sz="1350" b="0" i="0" dirty="0">
                <a:solidFill>
                  <a:srgbClr val="172033"/>
                </a:solidFill>
              </a:rPr>
              <a:t>.</a:t>
            </a:r>
          </a:p>
          <a:p>
            <a:pPr>
              <a:defRPr sz="1350" b="0" i="0">
                <a:solidFill>
                  <a:srgbClr val="172033"/>
                </a:solidFill>
              </a:defRPr>
            </a:pPr>
            <a:r>
              <a:rPr sz="1350" b="0" i="0" dirty="0">
                <a:solidFill>
                  <a:srgbClr val="172033"/>
                </a:solidFill>
              </a:rPr>
              <a:t>• </a:t>
            </a:r>
            <a:r>
              <a:rPr sz="1350" b="0" i="0" dirty="0" err="1">
                <a:solidFill>
                  <a:srgbClr val="172033"/>
                </a:solidFill>
              </a:rPr>
              <a:t>Prépare</a:t>
            </a:r>
            <a:r>
              <a:rPr sz="1350" b="0" i="0" dirty="0">
                <a:solidFill>
                  <a:srgbClr val="172033"/>
                </a:solidFill>
              </a:rPr>
              <a:t> déjà la </a:t>
            </a:r>
            <a:r>
              <a:rPr sz="1350" b="0" i="0" dirty="0" err="1">
                <a:solidFill>
                  <a:srgbClr val="172033"/>
                </a:solidFill>
              </a:rPr>
              <a:t>prochaine</a:t>
            </a:r>
            <a:r>
              <a:rPr sz="1350" b="0" i="0" dirty="0">
                <a:solidFill>
                  <a:srgbClr val="172033"/>
                </a:solidFill>
              </a:rPr>
              <a:t> action : </a:t>
            </a:r>
            <a:r>
              <a:rPr sz="1350" b="0" i="0" dirty="0" err="1">
                <a:solidFill>
                  <a:srgbClr val="172033"/>
                </a:solidFill>
              </a:rPr>
              <a:t>envoyer</a:t>
            </a:r>
            <a:r>
              <a:rPr sz="1350" b="0" i="0" dirty="0">
                <a:solidFill>
                  <a:srgbClr val="172033"/>
                </a:solidFill>
              </a:rPr>
              <a:t> les </a:t>
            </a:r>
            <a:r>
              <a:rPr sz="1350" b="0" i="0" dirty="0" err="1">
                <a:solidFill>
                  <a:srgbClr val="172033"/>
                </a:solidFill>
              </a:rPr>
              <a:t>visuels</a:t>
            </a:r>
            <a:r>
              <a:rPr sz="1350" b="0" i="0" dirty="0">
                <a:solidFill>
                  <a:srgbClr val="172033"/>
                </a:solidFill>
              </a:rPr>
              <a:t>, le prix, le mode de </a:t>
            </a:r>
            <a:r>
              <a:rPr sz="1350" b="0" i="0" dirty="0" err="1">
                <a:solidFill>
                  <a:srgbClr val="172033"/>
                </a:solidFill>
              </a:rPr>
              <a:t>paiement</a:t>
            </a:r>
            <a:r>
              <a:rPr sz="1350" b="0" i="0" dirty="0">
                <a:solidFill>
                  <a:srgbClr val="172033"/>
                </a:solidFill>
              </a:rPr>
              <a:t> et la </a:t>
            </a:r>
            <a:r>
              <a:rPr sz="1350" b="0" i="0" dirty="0" err="1">
                <a:solidFill>
                  <a:srgbClr val="172033"/>
                </a:solidFill>
              </a:rPr>
              <a:t>disponibilité</a:t>
            </a:r>
            <a:r>
              <a:rPr sz="1350" b="0" i="0" dirty="0">
                <a:solidFill>
                  <a:srgbClr val="172033"/>
                </a:solidFill>
              </a:rPr>
              <a:t>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291C40F-9C6F-4DDF-8F2D-A1074F9A2653}"/>
              </a:ext>
            </a:extLst>
          </p:cNvPr>
          <p:cNvSpPr>
            <a:spLocks noGrp="1"/>
          </p:cNvSpPr>
          <p:nvPr/>
        </p:nvSpPr>
        <p:spPr>
          <a:xfrm>
            <a:off x="5391150" y="4510197"/>
            <a:ext cx="4953000" cy="117622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7DC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E61E72E-FD43-4F0C-B713-D24707F4ACF4}"/>
              </a:ext>
            </a:extLst>
          </p:cNvPr>
          <p:cNvSpPr>
            <a:spLocks noGrp="1"/>
          </p:cNvSpPr>
          <p:nvPr/>
        </p:nvSpPr>
        <p:spPr>
          <a:xfrm>
            <a:off x="5619750" y="46672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FF5ABF"/>
                </a:solidFill>
              </a:defRPr>
            </a:pPr>
            <a:r>
              <a:rPr sz="1350" b="1" i="0">
                <a:solidFill>
                  <a:srgbClr val="FF5ABF"/>
                </a:solidFill>
              </a:rPr>
              <a:t>Résultat business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35EDBF4-0582-42B1-830D-FC2D94F1ACA9}"/>
              </a:ext>
            </a:extLst>
          </p:cNvPr>
          <p:cNvSpPr>
            <a:spLocks noGrp="1"/>
          </p:cNvSpPr>
          <p:nvPr/>
        </p:nvSpPr>
        <p:spPr>
          <a:xfrm>
            <a:off x="5619750" y="5010150"/>
            <a:ext cx="4457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172033"/>
                </a:solidFill>
              </a:defRPr>
            </a:pPr>
            <a:r>
              <a:rPr sz="1200" b="0" i="0">
                <a:solidFill>
                  <a:srgbClr val="172033"/>
                </a:solidFill>
              </a:rPr>
              <a:t>La conversation n'est plus juste un message.</a:t>
            </a:r>
          </a:p>
          <a:p>
            <a:pPr>
              <a:defRPr sz="1200" b="0" i="0">
                <a:solidFill>
                  <a:srgbClr val="172033"/>
                </a:solidFill>
              </a:defRPr>
            </a:pPr>
            <a:r>
              <a:rPr sz="1200" b="0" i="0">
                <a:solidFill>
                  <a:srgbClr val="172033"/>
                </a:solidFill>
              </a:rPr>
              <a:t>Elle devient un lead structuré, une demande exploitable et une vente potentielle suivie.</a:t>
            </a:r>
          </a:p>
        </p:txBody>
      </p:sp>
    </p:spTree>
    <p:extLst>
      <p:ext uri="{BB962C8B-B14F-4D97-AF65-F5344CB8AC3E}">
        <p14:creationId xmlns:p14="http://schemas.microsoft.com/office/powerpoint/2010/main" val="1527250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C119FC7E-A368-4596-AC59-526555F3BE57}"/>
              </a:ext>
            </a:extLst>
          </p:cNvPr>
          <p:cNvSpPr>
            <a:spLocks noGrp="1"/>
          </p:cNvSpPr>
          <p:nvPr/>
        </p:nvSpPr>
        <p:spPr>
          <a:xfrm>
            <a:off x="-762000" y="-476250"/>
            <a:ext cx="2857500" cy="2857500"/>
          </a:xfrm>
          <a:prstGeom prst="ellipse">
            <a:avLst/>
          </a:prstGeom>
          <a:solidFill>
            <a:srgbClr val="FFE8F6"/>
          </a:solidFill>
          <a:ln w="0">
            <a:solidFill>
              <a:srgbClr val="FFE8F6"/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1368997-329A-4EA5-A51C-B45C0F7404B5}"/>
              </a:ext>
            </a:extLst>
          </p:cNvPr>
          <p:cNvSpPr>
            <a:spLocks noGrp="1"/>
          </p:cNvSpPr>
          <p:nvPr/>
        </p:nvSpPr>
        <p:spPr>
          <a:xfrm>
            <a:off x="9810750" y="4953000"/>
            <a:ext cx="2476500" cy="2476500"/>
          </a:xfrm>
          <a:prstGeom prst="ellipse">
            <a:avLst/>
          </a:prstGeom>
          <a:solidFill>
            <a:srgbClr val="E8ECFF"/>
          </a:solidFill>
          <a:ln w="0">
            <a:solidFill>
              <a:srgbClr val="E8ECFF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BC99B2-4612-4DB3-8D5B-CF32DE08B26D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FF5ABF"/>
                </a:solidFill>
              </a:defRPr>
            </a:pPr>
            <a:r>
              <a:rPr sz="975" b="1" i="0">
                <a:solidFill>
                  <a:srgbClr val="FF5ABF"/>
                </a:solidFill>
              </a:rPr>
              <a:t>LIVE TIKTOK • TRANSFERAI x NETTELECOM CI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A6CFFC-7407-4141-A14E-F74140AFAFF3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 i="0">
                <a:solidFill>
                  <a:srgbClr val="1F2A7A"/>
                </a:solidFill>
              </a:defRPr>
            </a:pPr>
            <a:r>
              <a:rPr sz="2400" b="1" i="0">
                <a:solidFill>
                  <a:srgbClr val="1F2A7A"/>
                </a:solidFill>
              </a:rPr>
              <a:t>Démonstration CRM : comment OpenClaw transforme une conversation en fiche cliente actionnable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601B77-E2D0-401D-BB28-2497D2B0355B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1038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75569"/>
                </a:solidFill>
              </a:defRPr>
            </a:pPr>
            <a:r>
              <a:rPr sz="975" b="0" i="0">
                <a:solidFill>
                  <a:srgbClr val="475569"/>
                </a:solidFill>
              </a:rPr>
              <a:t>Projet piloté par TransferAI, notre hub IA, en collaboration avec Nettelecom CI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E12E9A-FF37-44DE-9E24-6812E81C88FA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914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475569"/>
                </a:solidFill>
              </a:defRPr>
            </a:pPr>
            <a:r>
              <a:rPr sz="1350" b="0" i="0">
                <a:solidFill>
                  <a:srgbClr val="475569"/>
                </a:solidFill>
              </a:rPr>
              <a:t>Le CRM ne sert pas seulement à stocker des noms.</a:t>
            </a:r>
          </a:p>
          <a:p>
            <a:pPr>
              <a:defRPr sz="1350" b="0" i="0">
                <a:solidFill>
                  <a:srgbClr val="475569"/>
                </a:solidFill>
              </a:defRPr>
            </a:pPr>
            <a:r>
              <a:rPr sz="1350" b="0" i="0">
                <a:solidFill>
                  <a:srgbClr val="475569"/>
                </a:solidFill>
              </a:rPr>
              <a:t>Il sert à ne plus oublier qui attend quoi, sur quel canal, et quelle relance doit partir.</a:t>
            </a:r>
          </a:p>
        </p:txBody>
      </p:sp>
      <p:graphicFrame>
        <p:nvGraphicFramePr>
          <p:cNvPr id="20" name="Table 19"/>
          <p:cNvGraphicFramePr/>
          <p:nvPr/>
        </p:nvGraphicFramePr>
        <p:xfrm>
          <a:off x="685800" y="2343150"/>
          <a:ext cx="10782300" cy="2514600"/>
        </p:xfrm>
        <a:graphic>
          <a:graphicData uri="http://schemas.openxmlformats.org/drawingml/2006/table">
            <a:tbl>
              <a:tblPr firstRow="1" bandRow="1"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24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324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Cliente</a:t>
                      </a:r>
                    </a:p>
                  </a:txBody>
                  <a:tcPr>
                    <a:solidFill>
                      <a:srgbClr val="324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Besoin</a:t>
                      </a:r>
                    </a:p>
                  </a:txBody>
                  <a:tcPr>
                    <a:solidFill>
                      <a:srgbClr val="324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Âge/Taille</a:t>
                      </a:r>
                    </a:p>
                  </a:txBody>
                  <a:tcPr>
                    <a:solidFill>
                      <a:srgbClr val="324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Statut CRM</a:t>
                      </a:r>
                    </a:p>
                  </a:txBody>
                  <a:tcPr>
                    <a:solidFill>
                      <a:srgbClr val="324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Prochaine action</a:t>
                      </a:r>
                    </a:p>
                  </a:txBody>
                  <a:tcPr>
                    <a:solidFill>
                      <a:srgbClr val="324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</a:rPr>
                        <a:t>TikTok -&gt; WhatsApp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</a:rPr>
                        <a:t>Aminata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</a:rPr>
                        <a:t>Ensemble bébé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</a:rPr>
                        <a:t>6 mois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</a:rPr>
                        <a:t>Lead chaud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</a:rPr>
                        <a:t>Envoyer 3 options aujourd'hui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</a:rPr>
                        <a:t>Facebook -&gt; WhatsApp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</a:rPr>
                        <a:t>Awa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</a:rPr>
                        <a:t>Coffret naissance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</a:rPr>
                        <a:t>0-3 mois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</a:rPr>
                        <a:t>En attente de stock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</a:rPr>
                        <a:t>Relancer au prochain arrivage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</a:rPr>
                        <a:t>WhatsApp direct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</a:rPr>
                        <a:t>Mariam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</a:rPr>
                        <a:t>Pyjama enfant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</a:rPr>
                        <a:t>4 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</a:rPr>
                        <a:t>Commande à confirmer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</a:rPr>
                        <a:t>Valider le stock puis la livraison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</a:rPr>
                        <a:t>TikTok DM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</a:rPr>
                        <a:t>Fatou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</a:rPr>
                        <a:t>Robe fille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</a:rPr>
                        <a:t>12 mois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</a:rPr>
                        <a:t>À réactiver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</a:rPr>
                        <a:t>Promotion week-end à envoyer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C6F17D2-F9B1-49D4-8C7B-E72667BA6E4E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5143500" cy="997245"/>
          </a:xfrm>
          <a:prstGeom prst="roundRect">
            <a:avLst>
              <a:gd name="adj" fmla="val 19048"/>
            </a:avLst>
          </a:prstGeom>
          <a:solidFill>
            <a:srgbClr val="E7F4EE"/>
          </a:solidFill>
          <a:ln w="9525">
            <a:solidFill>
              <a:srgbClr val="CFEB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B12577-2144-44B8-86F6-E3C8020699C7}"/>
              </a:ext>
            </a:extLst>
          </p:cNvPr>
          <p:cNvSpPr>
            <a:spLocks noGrp="1"/>
          </p:cNvSpPr>
          <p:nvPr/>
        </p:nvSpPr>
        <p:spPr>
          <a:xfrm>
            <a:off x="914400" y="51816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1F9D72"/>
                </a:solidFill>
              </a:defRPr>
            </a:pPr>
            <a:r>
              <a:rPr sz="1350" b="1" i="0">
                <a:solidFill>
                  <a:srgbClr val="1F9D72"/>
                </a:solidFill>
              </a:rPr>
              <a:t>Ce que la démonstration doit faire comprendre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1275A2-6450-4120-ACF8-3BD88207140D}"/>
              </a:ext>
            </a:extLst>
          </p:cNvPr>
          <p:cNvSpPr>
            <a:spLocks noGrp="1"/>
          </p:cNvSpPr>
          <p:nvPr/>
        </p:nvSpPr>
        <p:spPr>
          <a:xfrm>
            <a:off x="914400" y="5410200"/>
            <a:ext cx="466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172033"/>
                </a:solidFill>
              </a:defRPr>
            </a:pPr>
            <a:r>
              <a:rPr sz="1200" b="0" i="0" dirty="0">
                <a:solidFill>
                  <a:srgbClr val="172033"/>
                </a:solidFill>
              </a:rPr>
              <a:t>OpenClaw </a:t>
            </a:r>
            <a:r>
              <a:rPr sz="1200" b="0" i="0" dirty="0" err="1">
                <a:solidFill>
                  <a:srgbClr val="172033"/>
                </a:solidFill>
              </a:rPr>
              <a:t>classe</a:t>
            </a:r>
            <a:r>
              <a:rPr sz="1200" b="0" i="0" dirty="0">
                <a:solidFill>
                  <a:srgbClr val="172033"/>
                </a:solidFill>
              </a:rPr>
              <a:t>, </a:t>
            </a:r>
            <a:r>
              <a:rPr sz="1200" b="0" i="0" dirty="0" err="1">
                <a:solidFill>
                  <a:srgbClr val="172033"/>
                </a:solidFill>
              </a:rPr>
              <a:t>résume</a:t>
            </a:r>
            <a:r>
              <a:rPr sz="1200" b="0" i="0" dirty="0">
                <a:solidFill>
                  <a:srgbClr val="172033"/>
                </a:solidFill>
              </a:rPr>
              <a:t>, </a:t>
            </a:r>
            <a:r>
              <a:rPr sz="1200" b="0" i="0" dirty="0" err="1">
                <a:solidFill>
                  <a:srgbClr val="172033"/>
                </a:solidFill>
              </a:rPr>
              <a:t>étiquette</a:t>
            </a:r>
            <a:r>
              <a:rPr sz="1200" b="0" i="0" dirty="0">
                <a:solidFill>
                  <a:srgbClr val="172033"/>
                </a:solidFill>
              </a:rPr>
              <a:t> et </a:t>
            </a:r>
            <a:r>
              <a:rPr sz="1200" b="0" i="0" dirty="0" err="1">
                <a:solidFill>
                  <a:srgbClr val="172033"/>
                </a:solidFill>
              </a:rPr>
              <a:t>prépare</a:t>
            </a:r>
            <a:r>
              <a:rPr sz="1200" b="0" i="0" dirty="0">
                <a:solidFill>
                  <a:srgbClr val="172033"/>
                </a:solidFill>
              </a:rPr>
              <a:t> </a:t>
            </a:r>
            <a:r>
              <a:rPr sz="1200" b="0" i="0" dirty="0" err="1">
                <a:solidFill>
                  <a:srgbClr val="172033"/>
                </a:solidFill>
              </a:rPr>
              <a:t>l'action</a:t>
            </a:r>
            <a:r>
              <a:rPr sz="1200" b="0" i="0" dirty="0">
                <a:solidFill>
                  <a:srgbClr val="172033"/>
                </a:solidFill>
              </a:rPr>
              <a:t> </a:t>
            </a:r>
            <a:r>
              <a:rPr sz="1200" b="0" i="0" dirty="0" err="1">
                <a:solidFill>
                  <a:srgbClr val="172033"/>
                </a:solidFill>
              </a:rPr>
              <a:t>commerciale</a:t>
            </a:r>
            <a:r>
              <a:rPr sz="1200" b="0" i="0" dirty="0">
                <a:solidFill>
                  <a:srgbClr val="172033"/>
                </a:solidFill>
              </a:rPr>
              <a:t>. Le CRM </a:t>
            </a:r>
            <a:r>
              <a:rPr sz="1200" b="0" i="0" dirty="0" err="1">
                <a:solidFill>
                  <a:srgbClr val="172033"/>
                </a:solidFill>
              </a:rPr>
              <a:t>devient</a:t>
            </a:r>
            <a:r>
              <a:rPr sz="1200" b="0" i="0" dirty="0">
                <a:solidFill>
                  <a:srgbClr val="172033"/>
                </a:solidFill>
              </a:rPr>
              <a:t> la </a:t>
            </a:r>
            <a:r>
              <a:rPr sz="1200" b="0" i="0" dirty="0" err="1">
                <a:solidFill>
                  <a:srgbClr val="172033"/>
                </a:solidFill>
              </a:rPr>
              <a:t>mémoire</a:t>
            </a:r>
            <a:r>
              <a:rPr sz="1200" b="0" i="0" dirty="0">
                <a:solidFill>
                  <a:srgbClr val="172033"/>
                </a:solidFill>
              </a:rPr>
              <a:t> </a:t>
            </a:r>
            <a:r>
              <a:rPr sz="1200" b="0" i="0" dirty="0" err="1">
                <a:solidFill>
                  <a:srgbClr val="172033"/>
                </a:solidFill>
              </a:rPr>
              <a:t>vivante</a:t>
            </a:r>
            <a:r>
              <a:rPr sz="1200" b="0" i="0" dirty="0">
                <a:solidFill>
                  <a:srgbClr val="172033"/>
                </a:solidFill>
              </a:rPr>
              <a:t> de la boutique.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55ADC1C-0D23-47AE-941D-8FE22587E2D3}"/>
              </a:ext>
            </a:extLst>
          </p:cNvPr>
          <p:cNvSpPr>
            <a:spLocks noGrp="1"/>
          </p:cNvSpPr>
          <p:nvPr/>
        </p:nvSpPr>
        <p:spPr>
          <a:xfrm>
            <a:off x="6191250" y="5010150"/>
            <a:ext cx="5276850" cy="11239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7DC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037095-4152-4F92-85D9-AC09A2AB3296}"/>
              </a:ext>
            </a:extLst>
          </p:cNvPr>
          <p:cNvSpPr>
            <a:spLocks noGrp="1"/>
          </p:cNvSpPr>
          <p:nvPr/>
        </p:nvSpPr>
        <p:spPr>
          <a:xfrm>
            <a:off x="6419850" y="51816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FF5ABF"/>
                </a:solidFill>
              </a:defRPr>
            </a:pPr>
            <a:r>
              <a:rPr sz="1350" b="1" i="0">
                <a:solidFill>
                  <a:srgbClr val="FF5ABF"/>
                </a:solidFill>
              </a:rPr>
              <a:t>Champs CRM à montrer en démo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CA8422-478F-4CC6-8CDC-CF066E9C64BC}"/>
              </a:ext>
            </a:extLst>
          </p:cNvPr>
          <p:cNvSpPr>
            <a:spLocks noGrp="1"/>
          </p:cNvSpPr>
          <p:nvPr/>
        </p:nvSpPr>
        <p:spPr>
          <a:xfrm>
            <a:off x="6419850" y="54102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172033"/>
                </a:solidFill>
              </a:defRPr>
            </a:pPr>
            <a:r>
              <a:rPr sz="1200" b="0" i="0">
                <a:solidFill>
                  <a:srgbClr val="172033"/>
                </a:solidFill>
              </a:rPr>
              <a:t>Prénom, nom, numéro WhatsApp, e-mail si disponible, canal d'origine, besoin, taille/âge, statut, relance, paiement, livraison ou retrait.</a:t>
            </a:r>
          </a:p>
        </p:txBody>
      </p:sp>
    </p:spTree>
    <p:extLst>
      <p:ext uri="{BB962C8B-B14F-4D97-AF65-F5344CB8AC3E}">
        <p14:creationId xmlns:p14="http://schemas.microsoft.com/office/powerpoint/2010/main" val="1927957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val 25">
            <a:extLst>
              <a:ext uri="{FF2B5EF4-FFF2-40B4-BE49-F238E27FC236}">
                <a16:creationId xmlns:a16="http://schemas.microsoft.com/office/drawing/2014/main" id="{4602398D-FC69-42FC-B3E4-046B0484D36A}"/>
              </a:ext>
            </a:extLst>
          </p:cNvPr>
          <p:cNvSpPr>
            <a:spLocks noGrp="1"/>
          </p:cNvSpPr>
          <p:nvPr/>
        </p:nvSpPr>
        <p:spPr>
          <a:xfrm>
            <a:off x="-762000" y="-476250"/>
            <a:ext cx="2857500" cy="2857500"/>
          </a:xfrm>
          <a:prstGeom prst="ellipse">
            <a:avLst/>
          </a:prstGeom>
          <a:solidFill>
            <a:srgbClr val="FFE8F6"/>
          </a:solidFill>
          <a:ln w="0">
            <a:solidFill>
              <a:srgbClr val="FFE8F6"/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CC8E8BF-9E65-43D9-BFA1-7730909BAFD7}"/>
              </a:ext>
            </a:extLst>
          </p:cNvPr>
          <p:cNvSpPr>
            <a:spLocks noGrp="1"/>
          </p:cNvSpPr>
          <p:nvPr/>
        </p:nvSpPr>
        <p:spPr>
          <a:xfrm>
            <a:off x="9810750" y="4953000"/>
            <a:ext cx="2476500" cy="2476500"/>
          </a:xfrm>
          <a:prstGeom prst="ellipse">
            <a:avLst/>
          </a:prstGeom>
          <a:solidFill>
            <a:srgbClr val="E8ECFF"/>
          </a:solidFill>
          <a:ln w="0">
            <a:solidFill>
              <a:srgbClr val="E8ECFF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BA75C6-7C52-4A37-8999-71369F907A53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FF5ABF"/>
                </a:solidFill>
              </a:defRPr>
            </a:pPr>
            <a:r>
              <a:rPr sz="975" b="1" i="0">
                <a:solidFill>
                  <a:srgbClr val="FF5ABF"/>
                </a:solidFill>
              </a:rPr>
              <a:t>LIVE TIKTOK • TRANSFERAI x NETTELECOM CI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ED95EA-F1FB-4B4F-BA5F-F5FF5B017475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 i="0">
                <a:solidFill>
                  <a:srgbClr val="1F2A7A"/>
                </a:solidFill>
              </a:defRPr>
            </a:pPr>
            <a:r>
              <a:rPr sz="2400" b="1" i="0">
                <a:solidFill>
                  <a:srgbClr val="1F2A7A"/>
                </a:solidFill>
              </a:rPr>
              <a:t>Paiement Mobile Money : commande, confirmation et suivi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F07BC0-6D8B-483D-9B35-1EC663117DEA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1038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75569"/>
                </a:solidFill>
              </a:defRPr>
            </a:pPr>
            <a:r>
              <a:rPr sz="975" b="0" i="0">
                <a:solidFill>
                  <a:srgbClr val="475569"/>
                </a:solidFill>
              </a:rPr>
              <a:t>Projet piloté par TransferAI, notre hub IA, en collaboration avec Nettelecom CI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FADDAF0-D036-4266-9607-15BAD4EAB333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4953000" cy="37338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7DC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2F747E-FC63-47D5-9927-97746A688DAE}"/>
              </a:ext>
            </a:extLst>
          </p:cNvPr>
          <p:cNvSpPr>
            <a:spLocks noGrp="1"/>
          </p:cNvSpPr>
          <p:nvPr/>
        </p:nvSpPr>
        <p:spPr>
          <a:xfrm>
            <a:off x="933450" y="18478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 i="0">
                <a:solidFill>
                  <a:srgbClr val="1F2A7A"/>
                </a:solidFill>
              </a:defRPr>
            </a:pPr>
            <a:r>
              <a:rPr sz="1800" b="1" i="0">
                <a:solidFill>
                  <a:srgbClr val="1F2A7A"/>
                </a:solidFill>
              </a:rPr>
              <a:t>Flux recommandé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3AA207D-C8C9-45AB-91AF-90EED186E3D7}"/>
              </a:ext>
            </a:extLst>
          </p:cNvPr>
          <p:cNvSpPr>
            <a:spLocks noGrp="1"/>
          </p:cNvSpPr>
          <p:nvPr/>
        </p:nvSpPr>
        <p:spPr>
          <a:xfrm>
            <a:off x="933450" y="2305050"/>
            <a:ext cx="4438650" cy="552450"/>
          </a:xfrm>
          <a:prstGeom prst="roundRect">
            <a:avLst>
              <a:gd name="adj" fmla="val 27586"/>
            </a:avLst>
          </a:prstGeom>
          <a:solidFill>
            <a:srgbClr val="EDEBFF"/>
          </a:solidFill>
          <a:ln w="0">
            <a:solidFill>
              <a:srgbClr val="EDEBFF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1DC72D-2954-4A14-B6FB-5B67A8927F04}"/>
              </a:ext>
            </a:extLst>
          </p:cNvPr>
          <p:cNvSpPr>
            <a:spLocks noGrp="1"/>
          </p:cNvSpPr>
          <p:nvPr/>
        </p:nvSpPr>
        <p:spPr>
          <a:xfrm>
            <a:off x="1085850" y="238125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1F2A7A"/>
                </a:solidFill>
              </a:defRPr>
            </a:pPr>
            <a:r>
              <a:rPr sz="1125" b="1" i="0">
                <a:solidFill>
                  <a:srgbClr val="1F2A7A"/>
                </a:solidFill>
              </a:rPr>
              <a:t>1. Commande créée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F51CC6-D50A-469F-BDF2-A3E7481E20C7}"/>
              </a:ext>
            </a:extLst>
          </p:cNvPr>
          <p:cNvSpPr>
            <a:spLocks noGrp="1"/>
          </p:cNvSpPr>
          <p:nvPr/>
        </p:nvSpPr>
        <p:spPr>
          <a:xfrm>
            <a:off x="1085850" y="25717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 i="0">
                <a:solidFill>
                  <a:srgbClr val="172033"/>
                </a:solidFill>
              </a:defRPr>
            </a:pPr>
            <a:r>
              <a:rPr sz="825" b="0" i="0">
                <a:solidFill>
                  <a:srgbClr val="172033"/>
                </a:solidFill>
              </a:rPr>
              <a:t>La demande WhatsApp devient une commande avec cliente, produit, montant et zone.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AD3140C-0316-425E-8EAB-089936B57CD6}"/>
              </a:ext>
            </a:extLst>
          </p:cNvPr>
          <p:cNvSpPr>
            <a:spLocks noGrp="1"/>
          </p:cNvSpPr>
          <p:nvPr/>
        </p:nvSpPr>
        <p:spPr>
          <a:xfrm>
            <a:off x="933450" y="3067050"/>
            <a:ext cx="4438650" cy="552450"/>
          </a:xfrm>
          <a:prstGeom prst="roundRect">
            <a:avLst>
              <a:gd name="adj" fmla="val 27586"/>
            </a:avLst>
          </a:prstGeom>
          <a:solidFill>
            <a:srgbClr val="FFF5E7"/>
          </a:solidFill>
          <a:ln w="0">
            <a:solidFill>
              <a:srgbClr val="FFF5E7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76688A-F28D-4910-A1E7-A1B93D0BB013}"/>
              </a:ext>
            </a:extLst>
          </p:cNvPr>
          <p:cNvSpPr>
            <a:spLocks noGrp="1"/>
          </p:cNvSpPr>
          <p:nvPr/>
        </p:nvSpPr>
        <p:spPr>
          <a:xfrm>
            <a:off x="1085850" y="314325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1F2A7A"/>
                </a:solidFill>
              </a:defRPr>
            </a:pPr>
            <a:r>
              <a:rPr sz="1125" b="1" i="0">
                <a:solidFill>
                  <a:srgbClr val="1F2A7A"/>
                </a:solidFill>
              </a:rPr>
              <a:t>2. Paiement proposé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292A69-FA3F-438A-AD87-3AB66FAE8CD7}"/>
              </a:ext>
            </a:extLst>
          </p:cNvPr>
          <p:cNvSpPr>
            <a:spLocks noGrp="1"/>
          </p:cNvSpPr>
          <p:nvPr/>
        </p:nvSpPr>
        <p:spPr>
          <a:xfrm>
            <a:off x="1085850" y="33337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 i="0">
                <a:solidFill>
                  <a:srgbClr val="172033"/>
                </a:solidFill>
              </a:defRPr>
            </a:pPr>
            <a:r>
              <a:rPr sz="825" b="0" i="0">
                <a:solidFill>
                  <a:srgbClr val="172033"/>
                </a:solidFill>
              </a:rPr>
              <a:t>La boutique envoie son numéro d'encaissement ou un lien de règlement.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29E62D9-B19C-4471-97DD-3D23D39A285D}"/>
              </a:ext>
            </a:extLst>
          </p:cNvPr>
          <p:cNvSpPr>
            <a:spLocks noGrp="1"/>
          </p:cNvSpPr>
          <p:nvPr/>
        </p:nvSpPr>
        <p:spPr>
          <a:xfrm>
            <a:off x="933450" y="3829050"/>
            <a:ext cx="4438650" cy="552450"/>
          </a:xfrm>
          <a:prstGeom prst="roundRect">
            <a:avLst>
              <a:gd name="adj" fmla="val 27586"/>
            </a:avLst>
          </a:prstGeom>
          <a:solidFill>
            <a:srgbClr val="E7F4EE"/>
          </a:solidFill>
          <a:ln w="0">
            <a:solidFill>
              <a:srgbClr val="E7F4EE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EF18B3-C0BF-4892-84E5-E4087E8CAB94}"/>
              </a:ext>
            </a:extLst>
          </p:cNvPr>
          <p:cNvSpPr>
            <a:spLocks noGrp="1"/>
          </p:cNvSpPr>
          <p:nvPr/>
        </p:nvSpPr>
        <p:spPr>
          <a:xfrm>
            <a:off x="1085850" y="390525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1F2A7A"/>
                </a:solidFill>
              </a:defRPr>
            </a:pPr>
            <a:r>
              <a:rPr sz="1125" b="1" i="0">
                <a:solidFill>
                  <a:srgbClr val="1F2A7A"/>
                </a:solidFill>
              </a:rPr>
              <a:t>3. Paiement confirmé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838FCB-EEDB-4081-8E0A-7783D1146EA1}"/>
              </a:ext>
            </a:extLst>
          </p:cNvPr>
          <p:cNvSpPr>
            <a:spLocks noGrp="1"/>
          </p:cNvSpPr>
          <p:nvPr/>
        </p:nvSpPr>
        <p:spPr>
          <a:xfrm>
            <a:off x="1085850" y="40957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 i="0">
                <a:solidFill>
                  <a:srgbClr val="172033"/>
                </a:solidFill>
              </a:defRPr>
            </a:pPr>
            <a:r>
              <a:rPr sz="825" b="0" i="0">
                <a:solidFill>
                  <a:srgbClr val="172033"/>
                </a:solidFill>
              </a:rPr>
              <a:t>Le statut passe à payé, à vérifier ou échoué avec une référence claire.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5942CF3-5BA0-492E-8282-B1688AAB0F00}"/>
              </a:ext>
            </a:extLst>
          </p:cNvPr>
          <p:cNvSpPr>
            <a:spLocks noGrp="1"/>
          </p:cNvSpPr>
          <p:nvPr/>
        </p:nvSpPr>
        <p:spPr>
          <a:xfrm>
            <a:off x="933450" y="4591050"/>
            <a:ext cx="4438650" cy="552450"/>
          </a:xfrm>
          <a:prstGeom prst="roundRect">
            <a:avLst>
              <a:gd name="adj" fmla="val 27586"/>
            </a:avLst>
          </a:prstGeom>
          <a:solidFill>
            <a:srgbClr val="FBE1F4"/>
          </a:solidFill>
          <a:ln w="0">
            <a:solidFill>
              <a:srgbClr val="FBE1F4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EC3C86-94E8-432D-BF39-2089828DEE21}"/>
              </a:ext>
            </a:extLst>
          </p:cNvPr>
          <p:cNvSpPr>
            <a:spLocks noGrp="1"/>
          </p:cNvSpPr>
          <p:nvPr/>
        </p:nvSpPr>
        <p:spPr>
          <a:xfrm>
            <a:off x="1085850" y="466725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1F2A7A"/>
                </a:solidFill>
              </a:defRPr>
            </a:pPr>
            <a:r>
              <a:rPr sz="1125" b="1" i="0">
                <a:solidFill>
                  <a:srgbClr val="1F2A7A"/>
                </a:solidFill>
              </a:rPr>
              <a:t>4. Livraison déclenchée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EEBFAD-A23F-4431-8BF1-02FE74492DAC}"/>
              </a:ext>
            </a:extLst>
          </p:cNvPr>
          <p:cNvSpPr>
            <a:spLocks noGrp="1"/>
          </p:cNvSpPr>
          <p:nvPr/>
        </p:nvSpPr>
        <p:spPr>
          <a:xfrm>
            <a:off x="1085850" y="48577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 i="0">
                <a:solidFill>
                  <a:srgbClr val="172033"/>
                </a:solidFill>
              </a:defRPr>
            </a:pPr>
            <a:r>
              <a:rPr sz="825" b="0" i="0">
                <a:solidFill>
                  <a:srgbClr val="172033"/>
                </a:solidFill>
              </a:rPr>
              <a:t>La commande bascule en préparation puis en livraison avec suivi dans le tableau.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E379338-B412-4C3F-B42D-9291A89535F8}"/>
              </a:ext>
            </a:extLst>
          </p:cNvPr>
          <p:cNvSpPr>
            <a:spLocks noGrp="1"/>
          </p:cNvSpPr>
          <p:nvPr/>
        </p:nvSpPr>
        <p:spPr>
          <a:xfrm>
            <a:off x="6019800" y="1619250"/>
            <a:ext cx="5448300" cy="4356248"/>
          </a:xfrm>
          <a:prstGeom prst="roundRect">
            <a:avLst>
              <a:gd name="adj" fmla="val 4082"/>
            </a:avLst>
          </a:prstGeom>
          <a:solidFill>
            <a:srgbClr val="EEF2FF"/>
          </a:solidFill>
          <a:ln w="9525">
            <a:solidFill>
              <a:srgbClr val="D8DFF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BAFABF-2996-482B-823B-FE5E9C265121}"/>
              </a:ext>
            </a:extLst>
          </p:cNvPr>
          <p:cNvSpPr>
            <a:spLocks noGrp="1"/>
          </p:cNvSpPr>
          <p:nvPr/>
        </p:nvSpPr>
        <p:spPr>
          <a:xfrm>
            <a:off x="6267450" y="18478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 i="0">
                <a:solidFill>
                  <a:srgbClr val="324CFF"/>
                </a:solidFill>
              </a:defRPr>
            </a:pPr>
            <a:r>
              <a:rPr sz="1650" b="1" i="0">
                <a:solidFill>
                  <a:srgbClr val="324CFF"/>
                </a:solidFill>
              </a:rPr>
              <a:t>Champs du tableau de bord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643DBDF-F1B5-4840-A9FF-A59CAEB8FDCD}"/>
              </a:ext>
            </a:extLst>
          </p:cNvPr>
          <p:cNvSpPr>
            <a:spLocks noGrp="1"/>
          </p:cNvSpPr>
          <p:nvPr/>
        </p:nvSpPr>
        <p:spPr>
          <a:xfrm>
            <a:off x="6267450" y="2266950"/>
            <a:ext cx="4686300" cy="2247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172033"/>
                </a:solidFill>
              </a:defRPr>
            </a:pPr>
            <a:r>
              <a:rPr sz="1200" b="0" i="0">
                <a:solidFill>
                  <a:srgbClr val="172033"/>
                </a:solidFill>
              </a:rPr>
              <a:t>• Nom et prénom de la cliente</a:t>
            </a:r>
          </a:p>
          <a:p>
            <a:pPr>
              <a:defRPr sz="1200" b="0" i="0">
                <a:solidFill>
                  <a:srgbClr val="172033"/>
                </a:solidFill>
              </a:defRPr>
            </a:pPr>
            <a:r>
              <a:rPr sz="1200" b="0" i="0">
                <a:solidFill>
                  <a:srgbClr val="172033"/>
                </a:solidFill>
              </a:rPr>
              <a:t>• Numéro WhatsApp et e-mail si disponible</a:t>
            </a:r>
          </a:p>
          <a:p>
            <a:pPr>
              <a:defRPr sz="1200" b="0" i="0">
                <a:solidFill>
                  <a:srgbClr val="172033"/>
                </a:solidFill>
              </a:defRPr>
            </a:pPr>
            <a:r>
              <a:rPr sz="1200" b="0" i="0">
                <a:solidFill>
                  <a:srgbClr val="172033"/>
                </a:solidFill>
              </a:rPr>
              <a:t>• Numéro de commande et montant total</a:t>
            </a:r>
          </a:p>
          <a:p>
            <a:pPr>
              <a:defRPr sz="1200" b="0" i="0">
                <a:solidFill>
                  <a:srgbClr val="172033"/>
                </a:solidFill>
              </a:defRPr>
            </a:pPr>
            <a:r>
              <a:rPr sz="1200" b="0" i="0">
                <a:solidFill>
                  <a:srgbClr val="172033"/>
                </a:solidFill>
              </a:rPr>
              <a:t>• Mode de paiement choisi et numéro d'encaissement</a:t>
            </a:r>
          </a:p>
          <a:p>
            <a:pPr>
              <a:defRPr sz="1200" b="0" i="0">
                <a:solidFill>
                  <a:srgbClr val="172033"/>
                </a:solidFill>
              </a:defRPr>
            </a:pPr>
            <a:r>
              <a:rPr sz="1200" b="0" i="0">
                <a:solidFill>
                  <a:srgbClr val="172033"/>
                </a:solidFill>
              </a:rPr>
              <a:t>• Référence de transaction Mobile Money</a:t>
            </a:r>
          </a:p>
          <a:p>
            <a:pPr>
              <a:defRPr sz="1200" b="0" i="0">
                <a:solidFill>
                  <a:srgbClr val="172033"/>
                </a:solidFill>
              </a:defRPr>
            </a:pPr>
            <a:r>
              <a:rPr sz="1200" b="0" i="0">
                <a:solidFill>
                  <a:srgbClr val="172033"/>
                </a:solidFill>
              </a:rPr>
              <a:t>• Statut : en attente, payé, à vérifier, échoué</a:t>
            </a:r>
          </a:p>
          <a:p>
            <a:pPr>
              <a:defRPr sz="1200" b="0" i="0">
                <a:solidFill>
                  <a:srgbClr val="172033"/>
                </a:solidFill>
              </a:defRPr>
            </a:pPr>
            <a:r>
              <a:rPr sz="1200" b="0" i="0">
                <a:solidFill>
                  <a:srgbClr val="172033"/>
                </a:solidFill>
              </a:rPr>
              <a:t>• Responsable de validation côté boutique</a:t>
            </a:r>
          </a:p>
          <a:p>
            <a:pPr>
              <a:defRPr sz="1200" b="0" i="0">
                <a:solidFill>
                  <a:srgbClr val="172033"/>
                </a:solidFill>
              </a:defRPr>
            </a:pPr>
            <a:r>
              <a:rPr sz="1200" b="0" i="0">
                <a:solidFill>
                  <a:srgbClr val="172033"/>
                </a:solidFill>
              </a:rPr>
              <a:t>• Statut de préparation et de livraison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8215085-011B-47F1-94B9-5980C99C4F46}"/>
              </a:ext>
            </a:extLst>
          </p:cNvPr>
          <p:cNvSpPr>
            <a:spLocks noGrp="1"/>
          </p:cNvSpPr>
          <p:nvPr/>
        </p:nvSpPr>
        <p:spPr>
          <a:xfrm>
            <a:off x="6019800" y="4953000"/>
            <a:ext cx="5448300" cy="72390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9525">
            <a:solidFill>
              <a:srgbClr val="D7DC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131320-6934-4953-B53E-6C2ADBFF6B4E}"/>
              </a:ext>
            </a:extLst>
          </p:cNvPr>
          <p:cNvSpPr>
            <a:spLocks noGrp="1"/>
          </p:cNvSpPr>
          <p:nvPr/>
        </p:nvSpPr>
        <p:spPr>
          <a:xfrm>
            <a:off x="6267450" y="4603898"/>
            <a:ext cx="2857500" cy="3872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FF5ABF"/>
                </a:solidFill>
              </a:defRPr>
            </a:pPr>
            <a:r>
              <a:rPr sz="1350" b="1" i="0" dirty="0">
                <a:solidFill>
                  <a:srgbClr val="FF5ABF"/>
                </a:solidFill>
              </a:rPr>
              <a:t>Message à faire passer au client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3853A97-EC0C-451F-913E-F45A8CB0FA6A}"/>
              </a:ext>
            </a:extLst>
          </p:cNvPr>
          <p:cNvSpPr>
            <a:spLocks noGrp="1"/>
          </p:cNvSpPr>
          <p:nvPr/>
        </p:nvSpPr>
        <p:spPr>
          <a:xfrm>
            <a:off x="6267450" y="50292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 i="0">
                <a:solidFill>
                  <a:srgbClr val="172033"/>
                </a:solidFill>
              </a:defRPr>
            </a:pPr>
            <a:r>
              <a:rPr sz="1050" b="0" i="0" dirty="0">
                <a:solidFill>
                  <a:srgbClr val="172033"/>
                </a:solidFill>
              </a:rPr>
              <a:t>OpenClaw ne </a:t>
            </a:r>
            <a:r>
              <a:rPr sz="1050" b="0" i="0" dirty="0" err="1">
                <a:solidFill>
                  <a:srgbClr val="172033"/>
                </a:solidFill>
              </a:rPr>
              <a:t>s'arrête</a:t>
            </a:r>
            <a:r>
              <a:rPr sz="1050" b="0" i="0" dirty="0">
                <a:solidFill>
                  <a:srgbClr val="172033"/>
                </a:solidFill>
              </a:rPr>
              <a:t> pas à </a:t>
            </a:r>
            <a:r>
              <a:rPr sz="1050" b="0" i="0" dirty="0" err="1">
                <a:solidFill>
                  <a:srgbClr val="172033"/>
                </a:solidFill>
              </a:rPr>
              <a:t>répondre</a:t>
            </a:r>
            <a:r>
              <a:rPr sz="1050" b="0" i="0" dirty="0">
                <a:solidFill>
                  <a:srgbClr val="172033"/>
                </a:solidFill>
              </a:rPr>
              <a:t> sur WhatsApp. Il aide la boutique à transformer le message </a:t>
            </a:r>
            <a:r>
              <a:rPr sz="1050" b="0" i="0" dirty="0" err="1">
                <a:solidFill>
                  <a:srgbClr val="172033"/>
                </a:solidFill>
              </a:rPr>
              <a:t>en</a:t>
            </a:r>
            <a:r>
              <a:rPr sz="1050" b="0" i="0" dirty="0">
                <a:solidFill>
                  <a:srgbClr val="172033"/>
                </a:solidFill>
              </a:rPr>
              <a:t> </a:t>
            </a:r>
            <a:r>
              <a:rPr sz="1050" b="0" i="0" dirty="0" err="1">
                <a:solidFill>
                  <a:srgbClr val="172033"/>
                </a:solidFill>
              </a:rPr>
              <a:t>commande</a:t>
            </a:r>
            <a:r>
              <a:rPr sz="1050" b="0" i="0" dirty="0">
                <a:solidFill>
                  <a:srgbClr val="172033"/>
                </a:solidFill>
              </a:rPr>
              <a:t>, la </a:t>
            </a:r>
            <a:r>
              <a:rPr sz="1050" b="0" i="0" dirty="0" err="1">
                <a:solidFill>
                  <a:srgbClr val="172033"/>
                </a:solidFill>
              </a:rPr>
              <a:t>commande</a:t>
            </a:r>
            <a:r>
              <a:rPr sz="1050" b="0" i="0" dirty="0">
                <a:solidFill>
                  <a:srgbClr val="172033"/>
                </a:solidFill>
              </a:rPr>
              <a:t> </a:t>
            </a:r>
            <a:r>
              <a:rPr sz="1050" b="0" i="0" dirty="0" err="1">
                <a:solidFill>
                  <a:srgbClr val="172033"/>
                </a:solidFill>
              </a:rPr>
              <a:t>en</a:t>
            </a:r>
            <a:r>
              <a:rPr sz="1050" b="0" i="0" dirty="0">
                <a:solidFill>
                  <a:srgbClr val="172033"/>
                </a:solidFill>
              </a:rPr>
              <a:t> </a:t>
            </a:r>
            <a:r>
              <a:rPr sz="1050" b="0" i="0" dirty="0" err="1">
                <a:solidFill>
                  <a:srgbClr val="172033"/>
                </a:solidFill>
              </a:rPr>
              <a:t>paiement</a:t>
            </a:r>
            <a:r>
              <a:rPr sz="1050" b="0" i="0" dirty="0">
                <a:solidFill>
                  <a:srgbClr val="172033"/>
                </a:solidFill>
              </a:rPr>
              <a:t>, </a:t>
            </a:r>
            <a:r>
              <a:rPr sz="1050" b="0" i="0" dirty="0" err="1">
                <a:solidFill>
                  <a:srgbClr val="172033"/>
                </a:solidFill>
              </a:rPr>
              <a:t>puis</a:t>
            </a:r>
            <a:r>
              <a:rPr sz="1050" b="0" i="0" dirty="0">
                <a:solidFill>
                  <a:srgbClr val="172033"/>
                </a:solidFill>
              </a:rPr>
              <a:t> le </a:t>
            </a:r>
            <a:r>
              <a:rPr sz="1050" b="0" i="0" dirty="0" err="1">
                <a:solidFill>
                  <a:srgbClr val="172033"/>
                </a:solidFill>
              </a:rPr>
              <a:t>paiement</a:t>
            </a:r>
            <a:r>
              <a:rPr sz="1050" b="0" i="0" dirty="0">
                <a:solidFill>
                  <a:srgbClr val="172033"/>
                </a:solidFill>
              </a:rPr>
              <a:t> </a:t>
            </a:r>
            <a:r>
              <a:rPr sz="1050" b="0" i="0" dirty="0" err="1">
                <a:solidFill>
                  <a:srgbClr val="172033"/>
                </a:solidFill>
              </a:rPr>
              <a:t>en</a:t>
            </a:r>
            <a:r>
              <a:rPr sz="1050" b="0" i="0" dirty="0">
                <a:solidFill>
                  <a:srgbClr val="172033"/>
                </a:solidFill>
              </a:rPr>
              <a:t> livraison </a:t>
            </a:r>
            <a:r>
              <a:rPr sz="1050" b="0" i="0" dirty="0" err="1">
                <a:solidFill>
                  <a:srgbClr val="172033"/>
                </a:solidFill>
              </a:rPr>
              <a:t>suivie</a:t>
            </a:r>
            <a:r>
              <a:rPr sz="1050" b="0" i="0" dirty="0">
                <a:solidFill>
                  <a:srgbClr val="172033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21510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>
            <a:extLst>
              <a:ext uri="{FF2B5EF4-FFF2-40B4-BE49-F238E27FC236}">
                <a16:creationId xmlns:a16="http://schemas.microsoft.com/office/drawing/2014/main" id="{45743749-DD74-40D0-A000-C204647D3627}"/>
              </a:ext>
            </a:extLst>
          </p:cNvPr>
          <p:cNvSpPr>
            <a:spLocks noGrp="1"/>
          </p:cNvSpPr>
          <p:nvPr/>
        </p:nvSpPr>
        <p:spPr>
          <a:xfrm>
            <a:off x="-762000" y="-476250"/>
            <a:ext cx="2857500" cy="2857500"/>
          </a:xfrm>
          <a:prstGeom prst="ellipse">
            <a:avLst/>
          </a:prstGeom>
          <a:solidFill>
            <a:srgbClr val="FFE8F6"/>
          </a:solidFill>
          <a:ln w="0">
            <a:solidFill>
              <a:srgbClr val="FFE8F6"/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0D6B4D0-432E-4009-BAD0-22F758F03231}"/>
              </a:ext>
            </a:extLst>
          </p:cNvPr>
          <p:cNvSpPr>
            <a:spLocks noGrp="1"/>
          </p:cNvSpPr>
          <p:nvPr/>
        </p:nvSpPr>
        <p:spPr>
          <a:xfrm>
            <a:off x="9810750" y="4953000"/>
            <a:ext cx="2476500" cy="2476500"/>
          </a:xfrm>
          <a:prstGeom prst="ellipse">
            <a:avLst/>
          </a:prstGeom>
          <a:solidFill>
            <a:srgbClr val="E8ECFF"/>
          </a:solidFill>
          <a:ln w="0">
            <a:solidFill>
              <a:srgbClr val="E8ECFF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C21712-5DCA-4A51-A118-FE124A68C250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FF5ABF"/>
                </a:solidFill>
              </a:defRPr>
            </a:pPr>
            <a:r>
              <a:rPr sz="975" b="1" i="0">
                <a:solidFill>
                  <a:srgbClr val="FF5ABF"/>
                </a:solidFill>
              </a:rPr>
              <a:t>LIVE TIKTOK • TRANSFERAI x NETTELECOM CI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81562D-F5A3-4100-9EF5-6A9B1E4C7A20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 i="0">
                <a:solidFill>
                  <a:srgbClr val="1F2A7A"/>
                </a:solidFill>
              </a:defRPr>
            </a:pPr>
            <a:r>
              <a:rPr sz="2400" b="1" i="0" dirty="0">
                <a:solidFill>
                  <a:srgbClr val="1F2A7A"/>
                </a:solidFill>
              </a:rPr>
              <a:t>Nouveaux </a:t>
            </a:r>
            <a:r>
              <a:rPr sz="2400" b="1" i="0" dirty="0" err="1">
                <a:solidFill>
                  <a:srgbClr val="1F2A7A"/>
                </a:solidFill>
              </a:rPr>
              <a:t>arrivages</a:t>
            </a:r>
            <a:r>
              <a:rPr sz="2400" b="1" i="0" dirty="0">
                <a:solidFill>
                  <a:srgbClr val="1F2A7A"/>
                </a:solidFill>
              </a:rPr>
              <a:t>, promotions, </a:t>
            </a:r>
            <a:r>
              <a:rPr sz="2400" b="1" i="0" dirty="0" err="1">
                <a:solidFill>
                  <a:srgbClr val="1F2A7A"/>
                </a:solidFill>
              </a:rPr>
              <a:t>commandes</a:t>
            </a:r>
            <a:r>
              <a:rPr sz="2400" b="1" i="0" dirty="0">
                <a:solidFill>
                  <a:srgbClr val="1F2A7A"/>
                </a:solidFill>
              </a:rPr>
              <a:t> : </a:t>
            </a:r>
            <a:r>
              <a:rPr sz="2400" b="1" i="0" dirty="0" err="1">
                <a:solidFill>
                  <a:srgbClr val="1F2A7A"/>
                </a:solidFill>
              </a:rPr>
              <a:t>l'IA</a:t>
            </a:r>
            <a:r>
              <a:rPr sz="2400" b="1" i="0" dirty="0">
                <a:solidFill>
                  <a:srgbClr val="1F2A7A"/>
                </a:solidFill>
              </a:rPr>
              <a:t> </a:t>
            </a:r>
            <a:r>
              <a:rPr sz="2400" b="1" i="0" dirty="0" err="1">
                <a:solidFill>
                  <a:srgbClr val="1F2A7A"/>
                </a:solidFill>
              </a:rPr>
              <a:t>automatise</a:t>
            </a:r>
            <a:r>
              <a:rPr sz="2400" b="1" i="0" dirty="0">
                <a:solidFill>
                  <a:srgbClr val="1F2A7A"/>
                </a:solidFill>
              </a:rPr>
              <a:t> les bons </a:t>
            </a:r>
            <a:r>
              <a:rPr sz="2400" b="1" i="0" dirty="0" err="1">
                <a:solidFill>
                  <a:srgbClr val="1F2A7A"/>
                </a:solidFill>
              </a:rPr>
              <a:t>gestes</a:t>
            </a:r>
            <a:r>
              <a:rPr sz="2400" b="1" i="0" dirty="0">
                <a:solidFill>
                  <a:srgbClr val="1F2A7A"/>
                </a:solidFill>
              </a:rPr>
              <a:t> </a:t>
            </a:r>
            <a:r>
              <a:rPr sz="2400" b="1" i="0" dirty="0" err="1">
                <a:solidFill>
                  <a:srgbClr val="1F2A7A"/>
                </a:solidFill>
              </a:rPr>
              <a:t>commerciaux</a:t>
            </a:r>
            <a:endParaRPr sz="2400" b="1" i="0" dirty="0">
              <a:solidFill>
                <a:srgbClr val="1F2A7A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D9FD18-5DB8-4E48-A564-9A190A0DE1BD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1038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75569"/>
                </a:solidFill>
              </a:defRPr>
            </a:pPr>
            <a:r>
              <a:rPr sz="975" b="0" i="0">
                <a:solidFill>
                  <a:srgbClr val="475569"/>
                </a:solidFill>
              </a:rPr>
              <a:t>Projet piloté par TransferAI, notre hub IA, en collaboration avec Nettelecom CI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CB8BF0B-5056-4262-925C-1AD5605DC39D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2209800" cy="2762250"/>
          </a:xfrm>
          <a:prstGeom prst="roundRect">
            <a:avLst>
              <a:gd name="adj" fmla="val 10345"/>
            </a:avLst>
          </a:prstGeom>
          <a:solidFill>
            <a:srgbClr val="FFF5E7"/>
          </a:solidFill>
          <a:ln w="0">
            <a:solidFill>
              <a:srgbClr val="FFF5E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7BE29E-BEF4-40A8-AA86-EBC77A7F50F0}"/>
              </a:ext>
            </a:extLst>
          </p:cNvPr>
          <p:cNvSpPr>
            <a:spLocks noGrp="1"/>
          </p:cNvSpPr>
          <p:nvPr/>
        </p:nvSpPr>
        <p:spPr>
          <a:xfrm>
            <a:off x="857250" y="234315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 i="0">
                <a:solidFill>
                  <a:srgbClr val="D89C32"/>
                </a:solidFill>
              </a:defRPr>
            </a:pPr>
            <a:r>
              <a:rPr sz="1800" b="1" i="0">
                <a:solidFill>
                  <a:srgbClr val="D89C32"/>
                </a:solidFill>
              </a:rPr>
              <a:t>Nouveaux arrivages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E359B8-B6CD-424E-B070-EFC8172A0DBA}"/>
              </a:ext>
            </a:extLst>
          </p:cNvPr>
          <p:cNvSpPr>
            <a:spLocks noGrp="1"/>
          </p:cNvSpPr>
          <p:nvPr/>
        </p:nvSpPr>
        <p:spPr>
          <a:xfrm>
            <a:off x="857250" y="2876550"/>
            <a:ext cx="18669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Le CRM sait quelles clientes attendaient une taille, un coffret naissance ou une nouvelle collection. OpenClaw prépare la relance ciblée.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C032524-1A56-4014-987D-6B263C3011EE}"/>
              </a:ext>
            </a:extLst>
          </p:cNvPr>
          <p:cNvSpPr>
            <a:spLocks noGrp="1"/>
          </p:cNvSpPr>
          <p:nvPr/>
        </p:nvSpPr>
        <p:spPr>
          <a:xfrm>
            <a:off x="3543300" y="2095500"/>
            <a:ext cx="2209800" cy="2762250"/>
          </a:xfrm>
          <a:prstGeom prst="roundRect">
            <a:avLst>
              <a:gd name="adj" fmla="val 10345"/>
            </a:avLst>
          </a:prstGeom>
          <a:solidFill>
            <a:srgbClr val="FBE1F4"/>
          </a:solidFill>
          <a:ln w="0">
            <a:solidFill>
              <a:srgbClr val="FBE1F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23144B-EA0B-4F96-ADFF-8CD075473B4E}"/>
              </a:ext>
            </a:extLst>
          </p:cNvPr>
          <p:cNvSpPr>
            <a:spLocks noGrp="1"/>
          </p:cNvSpPr>
          <p:nvPr/>
        </p:nvSpPr>
        <p:spPr>
          <a:xfrm>
            <a:off x="3714750" y="234315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 i="0">
                <a:solidFill>
                  <a:srgbClr val="FF5ABF"/>
                </a:solidFill>
              </a:defRPr>
            </a:pPr>
            <a:r>
              <a:rPr sz="1800" b="1" i="0">
                <a:solidFill>
                  <a:srgbClr val="FF5ABF"/>
                </a:solidFill>
              </a:rPr>
              <a:t>Promotions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8081B2-8B78-4489-B5DA-4C06729FC6D1}"/>
              </a:ext>
            </a:extLst>
          </p:cNvPr>
          <p:cNvSpPr>
            <a:spLocks noGrp="1"/>
          </p:cNvSpPr>
          <p:nvPr/>
        </p:nvSpPr>
        <p:spPr>
          <a:xfrm>
            <a:off x="3714750" y="2876550"/>
            <a:ext cx="18669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Au lieu d'un message unique pour tout le monde, la boutique envoie des offres mieux ciblées : liquidation, week-end, lots, retour école.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AB7E6F6-2E80-4729-A264-06E5F575DB37}"/>
              </a:ext>
            </a:extLst>
          </p:cNvPr>
          <p:cNvSpPr>
            <a:spLocks noGrp="1"/>
          </p:cNvSpPr>
          <p:nvPr/>
        </p:nvSpPr>
        <p:spPr>
          <a:xfrm>
            <a:off x="6400800" y="2095500"/>
            <a:ext cx="2209800" cy="2762250"/>
          </a:xfrm>
          <a:prstGeom prst="roundRect">
            <a:avLst>
              <a:gd name="adj" fmla="val 10345"/>
            </a:avLst>
          </a:prstGeom>
          <a:solidFill>
            <a:srgbClr val="E7F4EE"/>
          </a:solidFill>
          <a:ln w="0">
            <a:solidFill>
              <a:srgbClr val="E7F4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693385-CF6A-4E2D-8963-F2C86B0CD864}"/>
              </a:ext>
            </a:extLst>
          </p:cNvPr>
          <p:cNvSpPr>
            <a:spLocks noGrp="1"/>
          </p:cNvSpPr>
          <p:nvPr/>
        </p:nvSpPr>
        <p:spPr>
          <a:xfrm>
            <a:off x="6572250" y="234315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 i="0">
                <a:solidFill>
                  <a:srgbClr val="1F9D72"/>
                </a:solidFill>
              </a:defRPr>
            </a:pPr>
            <a:r>
              <a:rPr sz="1800" b="1" i="0">
                <a:solidFill>
                  <a:srgbClr val="1F9D72"/>
                </a:solidFill>
              </a:rPr>
              <a:t>Commandes &amp; livraison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D949E1-3A67-46DD-8260-CEDFF3A5EB74}"/>
              </a:ext>
            </a:extLst>
          </p:cNvPr>
          <p:cNvSpPr>
            <a:spLocks noGrp="1"/>
          </p:cNvSpPr>
          <p:nvPr/>
        </p:nvSpPr>
        <p:spPr>
          <a:xfrm>
            <a:off x="6572250" y="2876550"/>
            <a:ext cx="18669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OpenClaw aide à suivre confirmation, préparation, expédition, livraison et recontact post-achat sans laisser de conversation dormir.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24C93ED-571E-4C81-927B-39827B98C6D1}"/>
              </a:ext>
            </a:extLst>
          </p:cNvPr>
          <p:cNvSpPr>
            <a:spLocks noGrp="1"/>
          </p:cNvSpPr>
          <p:nvPr/>
        </p:nvSpPr>
        <p:spPr>
          <a:xfrm>
            <a:off x="9258300" y="2095500"/>
            <a:ext cx="2209800" cy="2762250"/>
          </a:xfrm>
          <a:prstGeom prst="roundRect">
            <a:avLst>
              <a:gd name="adj" fmla="val 10345"/>
            </a:avLst>
          </a:prstGeom>
          <a:solidFill>
            <a:srgbClr val="EDEBFF"/>
          </a:solidFill>
          <a:ln w="0">
            <a:solidFill>
              <a:srgbClr val="EDEB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7BADCA-84EA-4D04-ACFF-1AA44AAB2A4B}"/>
              </a:ext>
            </a:extLst>
          </p:cNvPr>
          <p:cNvSpPr>
            <a:spLocks noGrp="1"/>
          </p:cNvSpPr>
          <p:nvPr/>
        </p:nvSpPr>
        <p:spPr>
          <a:xfrm>
            <a:off x="9429750" y="234315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 i="0">
                <a:solidFill>
                  <a:srgbClr val="324CFF"/>
                </a:solidFill>
              </a:defRPr>
            </a:pPr>
            <a:r>
              <a:rPr sz="1800" b="1" i="0">
                <a:solidFill>
                  <a:srgbClr val="324CFF"/>
                </a:solidFill>
              </a:rPr>
              <a:t>Pilotage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975BF1-BBA5-40A2-8134-A0820A4FA8BE}"/>
              </a:ext>
            </a:extLst>
          </p:cNvPr>
          <p:cNvSpPr>
            <a:spLocks noGrp="1"/>
          </p:cNvSpPr>
          <p:nvPr/>
        </p:nvSpPr>
        <p:spPr>
          <a:xfrm>
            <a:off x="9429750" y="2876550"/>
            <a:ext cx="18669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La gérante reçoit les chiffres et alertes utiles : demandes du jour, clientes à relancer, produits critiques et commandes en attente.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02AE88-9125-4F1B-9504-ABE9D6C1F946}"/>
              </a:ext>
            </a:extLst>
          </p:cNvPr>
          <p:cNvSpPr>
            <a:spLocks noGrp="1"/>
          </p:cNvSpPr>
          <p:nvPr/>
        </p:nvSpPr>
        <p:spPr>
          <a:xfrm>
            <a:off x="685800" y="5252484"/>
            <a:ext cx="6321056" cy="1958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1F2A7A"/>
                </a:solidFill>
              </a:defRPr>
            </a:pPr>
            <a:r>
              <a:rPr sz="1500" b="1" i="0" dirty="0" err="1">
                <a:solidFill>
                  <a:srgbClr val="1F2A7A"/>
                </a:solidFill>
              </a:rPr>
              <a:t>Démonstration</a:t>
            </a:r>
            <a:r>
              <a:rPr sz="1500" b="1" i="0" dirty="0">
                <a:solidFill>
                  <a:srgbClr val="1F2A7A"/>
                </a:solidFill>
              </a:rPr>
              <a:t> </a:t>
            </a:r>
            <a:r>
              <a:rPr sz="1500" b="1" i="0" dirty="0" err="1">
                <a:solidFill>
                  <a:srgbClr val="1F2A7A"/>
                </a:solidFill>
              </a:rPr>
              <a:t>commerciale</a:t>
            </a:r>
            <a:r>
              <a:rPr sz="1500" b="1" i="0" dirty="0">
                <a:solidFill>
                  <a:srgbClr val="1F2A7A"/>
                </a:solidFill>
              </a:rPr>
              <a:t> à faire </a:t>
            </a:r>
            <a:r>
              <a:rPr sz="1500" b="1" i="0" dirty="0" err="1">
                <a:solidFill>
                  <a:srgbClr val="1F2A7A"/>
                </a:solidFill>
              </a:rPr>
              <a:t>en</a:t>
            </a:r>
            <a:r>
              <a:rPr sz="1500" b="1" i="0" dirty="0">
                <a:solidFill>
                  <a:srgbClr val="1F2A7A"/>
                </a:solidFill>
              </a:rPr>
              <a:t> </a:t>
            </a:r>
            <a:r>
              <a:rPr sz="1500" b="1" i="0" dirty="0" err="1">
                <a:solidFill>
                  <a:srgbClr val="1F2A7A"/>
                </a:solidFill>
              </a:rPr>
              <a:t>réunion</a:t>
            </a:r>
            <a:endParaRPr sz="1500" b="1" i="0" dirty="0">
              <a:solidFill>
                <a:srgbClr val="1F2A7A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491DDB3-126B-49E5-981F-7AA20B589FA4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172033"/>
                </a:solidFill>
              </a:defRPr>
            </a:pPr>
            <a:r>
              <a:rPr sz="1350" b="0" i="0" dirty="0" err="1">
                <a:solidFill>
                  <a:srgbClr val="172033"/>
                </a:solidFill>
              </a:rPr>
              <a:t>Montrer</a:t>
            </a:r>
            <a:r>
              <a:rPr sz="1350" b="0" i="0" dirty="0">
                <a:solidFill>
                  <a:srgbClr val="172033"/>
                </a:solidFill>
              </a:rPr>
              <a:t> un </a:t>
            </a:r>
            <a:r>
              <a:rPr sz="1350" b="0" i="0" dirty="0" err="1">
                <a:solidFill>
                  <a:srgbClr val="172033"/>
                </a:solidFill>
              </a:rPr>
              <a:t>scénario</a:t>
            </a:r>
            <a:r>
              <a:rPr sz="1350" b="0" i="0" dirty="0">
                <a:solidFill>
                  <a:srgbClr val="172033"/>
                </a:solidFill>
              </a:rPr>
              <a:t> simple : </a:t>
            </a:r>
            <a:r>
              <a:rPr sz="1350" b="0" i="0" dirty="0" err="1">
                <a:solidFill>
                  <a:srgbClr val="172033"/>
                </a:solidFill>
              </a:rPr>
              <a:t>une</a:t>
            </a:r>
            <a:r>
              <a:rPr sz="1350" b="0" i="0" dirty="0">
                <a:solidFill>
                  <a:srgbClr val="172033"/>
                </a:solidFill>
              </a:rPr>
              <a:t> </a:t>
            </a:r>
            <a:r>
              <a:rPr sz="1350" b="0" i="0" dirty="0" err="1">
                <a:solidFill>
                  <a:srgbClr val="172033"/>
                </a:solidFill>
              </a:rPr>
              <a:t>cliente</a:t>
            </a:r>
            <a:r>
              <a:rPr sz="1350" b="0" i="0" dirty="0">
                <a:solidFill>
                  <a:srgbClr val="172033"/>
                </a:solidFill>
              </a:rPr>
              <a:t> </a:t>
            </a:r>
            <a:r>
              <a:rPr sz="1350" b="0" i="0" dirty="0" err="1">
                <a:solidFill>
                  <a:srgbClr val="172033"/>
                </a:solidFill>
              </a:rPr>
              <a:t>demande</a:t>
            </a:r>
            <a:r>
              <a:rPr sz="1350" b="0" i="0" dirty="0">
                <a:solidFill>
                  <a:srgbClr val="172033"/>
                </a:solidFill>
              </a:rPr>
              <a:t> un ensemble sur WhatsApp, la boutique </a:t>
            </a:r>
            <a:r>
              <a:rPr sz="1350" b="0" i="0" dirty="0" err="1">
                <a:solidFill>
                  <a:srgbClr val="172033"/>
                </a:solidFill>
              </a:rPr>
              <a:t>n'a</a:t>
            </a:r>
            <a:r>
              <a:rPr sz="1350" b="0" i="0" dirty="0">
                <a:solidFill>
                  <a:srgbClr val="172033"/>
                </a:solidFill>
              </a:rPr>
              <a:t> pas le stock </a:t>
            </a:r>
            <a:r>
              <a:rPr sz="1350" b="0" i="0" dirty="0" err="1">
                <a:solidFill>
                  <a:srgbClr val="172033"/>
                </a:solidFill>
              </a:rPr>
              <a:t>aujourd'hui</a:t>
            </a:r>
            <a:r>
              <a:rPr sz="1350" b="0" i="0" dirty="0">
                <a:solidFill>
                  <a:srgbClr val="172033"/>
                </a:solidFill>
              </a:rPr>
              <a:t>, la fiche CRM garde </a:t>
            </a:r>
            <a:r>
              <a:rPr sz="1350" b="0" i="0" dirty="0" err="1">
                <a:solidFill>
                  <a:srgbClr val="172033"/>
                </a:solidFill>
              </a:rPr>
              <a:t>l'attente</a:t>
            </a:r>
            <a:r>
              <a:rPr sz="1350" b="0" i="0" dirty="0">
                <a:solidFill>
                  <a:srgbClr val="172033"/>
                </a:solidFill>
              </a:rPr>
              <a:t>, </a:t>
            </a:r>
            <a:r>
              <a:rPr sz="1350" b="0" i="0" dirty="0" err="1">
                <a:solidFill>
                  <a:srgbClr val="172033"/>
                </a:solidFill>
              </a:rPr>
              <a:t>puis</a:t>
            </a:r>
            <a:r>
              <a:rPr sz="1350" b="0" i="0" dirty="0">
                <a:solidFill>
                  <a:srgbClr val="172033"/>
                </a:solidFill>
              </a:rPr>
              <a:t> OpenClaw la relance </a:t>
            </a:r>
            <a:r>
              <a:rPr sz="1350" b="0" i="0" dirty="0" err="1">
                <a:solidFill>
                  <a:srgbClr val="172033"/>
                </a:solidFill>
              </a:rPr>
              <a:t>automatiquement</a:t>
            </a:r>
            <a:r>
              <a:rPr sz="1350" b="0" i="0" dirty="0">
                <a:solidFill>
                  <a:srgbClr val="172033"/>
                </a:solidFill>
              </a:rPr>
              <a:t> au prochain </a:t>
            </a:r>
            <a:r>
              <a:rPr sz="1350" b="0" i="0" dirty="0" err="1">
                <a:solidFill>
                  <a:srgbClr val="172033"/>
                </a:solidFill>
              </a:rPr>
              <a:t>arrivage</a:t>
            </a:r>
            <a:r>
              <a:rPr sz="1350" b="0" i="0" dirty="0">
                <a:solidFill>
                  <a:srgbClr val="172033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59509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>
            <a:extLst>
              <a:ext uri="{FF2B5EF4-FFF2-40B4-BE49-F238E27FC236}">
                <a16:creationId xmlns:a16="http://schemas.microsoft.com/office/drawing/2014/main" id="{0E20E096-8719-4C3C-96CD-F027E5FFA5A3}"/>
              </a:ext>
            </a:extLst>
          </p:cNvPr>
          <p:cNvSpPr>
            <a:spLocks noGrp="1"/>
          </p:cNvSpPr>
          <p:nvPr/>
        </p:nvSpPr>
        <p:spPr>
          <a:xfrm>
            <a:off x="-762000" y="-476250"/>
            <a:ext cx="2857500" cy="2857500"/>
          </a:xfrm>
          <a:prstGeom prst="ellipse">
            <a:avLst/>
          </a:prstGeom>
          <a:solidFill>
            <a:srgbClr val="FFE8F6"/>
          </a:solidFill>
          <a:ln w="0">
            <a:solidFill>
              <a:srgbClr val="FFE8F6"/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9A33ACF-8D68-4422-997B-D533A14EB67F}"/>
              </a:ext>
            </a:extLst>
          </p:cNvPr>
          <p:cNvSpPr>
            <a:spLocks noGrp="1"/>
          </p:cNvSpPr>
          <p:nvPr/>
        </p:nvSpPr>
        <p:spPr>
          <a:xfrm>
            <a:off x="9810750" y="4953000"/>
            <a:ext cx="2476500" cy="2476500"/>
          </a:xfrm>
          <a:prstGeom prst="ellipse">
            <a:avLst/>
          </a:prstGeom>
          <a:solidFill>
            <a:srgbClr val="E8ECFF"/>
          </a:solidFill>
          <a:ln w="0">
            <a:solidFill>
              <a:srgbClr val="E8ECFF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905FF3-AC9A-4AD4-A76C-F7D21B199819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FF5ABF"/>
                </a:solidFill>
              </a:defRPr>
            </a:pPr>
            <a:r>
              <a:rPr sz="975" b="1" i="0">
                <a:solidFill>
                  <a:srgbClr val="FF5ABF"/>
                </a:solidFill>
              </a:rPr>
              <a:t>LIVE TIKTOK • TRANSFERAI x NETTELECOM CI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3A814A-197B-46EA-834C-2AFD62E3D5A3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 i="0">
                <a:solidFill>
                  <a:srgbClr val="1F2A7A"/>
                </a:solidFill>
              </a:defRPr>
            </a:pPr>
            <a:r>
              <a:rPr sz="2400" b="1" i="0">
                <a:solidFill>
                  <a:srgbClr val="1F2A7A"/>
                </a:solidFill>
              </a:rPr>
              <a:t>Le tableau de bord Telegram : la gérante voit sa boutique sans relire toutes les conversations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46BA93-F708-4A93-A5AD-376685939863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1038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75569"/>
                </a:solidFill>
              </a:defRPr>
            </a:pPr>
            <a:r>
              <a:rPr sz="975" b="0" i="0">
                <a:solidFill>
                  <a:srgbClr val="475569"/>
                </a:solidFill>
              </a:rPr>
              <a:t>Projet piloté par TransferAI, notre hub IA, en collaboration avec Nettelecom CI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930C391-A571-4090-A06A-852D445066A4}"/>
              </a:ext>
            </a:extLst>
          </p:cNvPr>
          <p:cNvSpPr>
            <a:spLocks noGrp="1"/>
          </p:cNvSpPr>
          <p:nvPr/>
        </p:nvSpPr>
        <p:spPr>
          <a:xfrm>
            <a:off x="1009650" y="1657350"/>
            <a:ext cx="4000500" cy="3619500"/>
          </a:xfrm>
          <a:prstGeom prst="roundRect">
            <a:avLst>
              <a:gd name="adj" fmla="val 6316"/>
            </a:avLst>
          </a:prstGeom>
          <a:solidFill>
            <a:srgbClr val="1F2A7A"/>
          </a:solidFill>
          <a:ln w="0">
            <a:solidFill>
              <a:srgbClr val="1F2A7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75437A-819B-43A6-94AB-90D403671EB5}"/>
              </a:ext>
            </a:extLst>
          </p:cNvPr>
          <p:cNvSpPr>
            <a:spLocks noGrp="1"/>
          </p:cNvSpPr>
          <p:nvPr/>
        </p:nvSpPr>
        <p:spPr>
          <a:xfrm>
            <a:off x="1314450" y="19240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C7D2FE"/>
                </a:solidFill>
              </a:defRPr>
            </a:pPr>
            <a:r>
              <a:rPr sz="1350" b="1" i="0">
                <a:solidFill>
                  <a:srgbClr val="C7D2FE"/>
                </a:solidFill>
              </a:rPr>
              <a:t>@openclaw_paradis_bot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64200F-A829-439B-AA5A-BE615B98ACCE}"/>
              </a:ext>
            </a:extLst>
          </p:cNvPr>
          <p:cNvSpPr>
            <a:spLocks noGrp="1"/>
          </p:cNvSpPr>
          <p:nvPr/>
        </p:nvSpPr>
        <p:spPr>
          <a:xfrm>
            <a:off x="1314450" y="22288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BILAN DU SOIR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2064BC-21D5-4EC5-814A-1B8CA001F195}"/>
              </a:ext>
            </a:extLst>
          </p:cNvPr>
          <p:cNvSpPr>
            <a:spLocks noGrp="1"/>
          </p:cNvSpPr>
          <p:nvPr/>
        </p:nvSpPr>
        <p:spPr>
          <a:xfrm>
            <a:off x="1314450" y="2724150"/>
            <a:ext cx="3143250" cy="1771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Demandes entrantes : 26</a:t>
            </a:r>
          </a:p>
          <a:p>
            <a:pPr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Commandes confirmées : 9</a:t>
            </a:r>
          </a:p>
          <a:p>
            <a:pPr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Paiements Mobile Money reçus : 6</a:t>
            </a:r>
          </a:p>
          <a:p>
            <a:pPr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Paiements à vérifier : 2</a:t>
            </a:r>
          </a:p>
          <a:p>
            <a:pPr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Top demandes : ensembles 6 mois, coffrets naissance</a:t>
            </a:r>
          </a:p>
          <a:p>
            <a:pPr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Stock critique : pyjamas 6 mois, body naissance</a:t>
            </a:r>
          </a:p>
          <a:p>
            <a:pPr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Clientes à relancer : 7</a:t>
            </a:r>
          </a:p>
          <a:p>
            <a:pPr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Livraisons à suivre demain : 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762F2B-79E5-4AB8-9041-623CC58E1FC6}"/>
              </a:ext>
            </a:extLst>
          </p:cNvPr>
          <p:cNvSpPr>
            <a:spLocks noGrp="1"/>
          </p:cNvSpPr>
          <p:nvPr/>
        </p:nvSpPr>
        <p:spPr>
          <a:xfrm>
            <a:off x="1314450" y="476250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0" i="0">
                <a:solidFill>
                  <a:srgbClr val="D6DCF7"/>
                </a:solidFill>
              </a:defRPr>
            </a:pPr>
            <a:r>
              <a:rPr sz="900" b="0" i="0">
                <a:solidFill>
                  <a:srgbClr val="D6DCF7"/>
                </a:solidFill>
              </a:rPr>
              <a:t>20:00 • Africa/Abidjan • généré automatiquement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0F0200F-ACE1-42F7-BD2C-1B7DC89E9C8B}"/>
              </a:ext>
            </a:extLst>
          </p:cNvPr>
          <p:cNvSpPr>
            <a:spLocks noGrp="1"/>
          </p:cNvSpPr>
          <p:nvPr/>
        </p:nvSpPr>
        <p:spPr>
          <a:xfrm>
            <a:off x="5581650" y="1790700"/>
            <a:ext cx="533400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DC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925ED5-6213-4C69-BF7F-02872F0E1028}"/>
              </a:ext>
            </a:extLst>
          </p:cNvPr>
          <p:cNvSpPr>
            <a:spLocks noGrp="1"/>
          </p:cNvSpPr>
          <p:nvPr/>
        </p:nvSpPr>
        <p:spPr>
          <a:xfrm>
            <a:off x="5829300" y="20383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324CFF"/>
                </a:solidFill>
              </a:defRPr>
            </a:pPr>
            <a:r>
              <a:rPr sz="1350" b="1" i="0">
                <a:solidFill>
                  <a:srgbClr val="324CFF"/>
                </a:solidFill>
              </a:rPr>
              <a:t>Pourquoi cette slide compte en démonstration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11F44B-7297-4D6C-99F1-4D1C4BE64361}"/>
              </a:ext>
            </a:extLst>
          </p:cNvPr>
          <p:cNvSpPr>
            <a:spLocks noGrp="1"/>
          </p:cNvSpPr>
          <p:nvPr/>
        </p:nvSpPr>
        <p:spPr>
          <a:xfrm>
            <a:off x="5829300" y="2362200"/>
            <a:ext cx="476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172033"/>
                </a:solidFill>
              </a:defRPr>
            </a:pPr>
            <a:r>
              <a:rPr sz="1200" b="0" i="0">
                <a:solidFill>
                  <a:srgbClr val="172033"/>
                </a:solidFill>
              </a:rPr>
              <a:t>Le client comprend d'un coup qu'il n'achète pas seulement un bot de réponse. Il achète une boutique mieux lisible, mieux suivie et mieux pilotée.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E5833EA-0799-4ACF-9506-7B66325049B0}"/>
              </a:ext>
            </a:extLst>
          </p:cNvPr>
          <p:cNvSpPr>
            <a:spLocks noGrp="1"/>
          </p:cNvSpPr>
          <p:nvPr/>
        </p:nvSpPr>
        <p:spPr>
          <a:xfrm>
            <a:off x="5581650" y="3581400"/>
            <a:ext cx="5334000" cy="1676400"/>
          </a:xfrm>
          <a:prstGeom prst="roundRect">
            <a:avLst>
              <a:gd name="adj" fmla="val 9091"/>
            </a:avLst>
          </a:prstGeom>
          <a:solidFill>
            <a:srgbClr val="FFF5E7"/>
          </a:solidFill>
          <a:ln w="9525">
            <a:solidFill>
              <a:srgbClr val="F6E2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5BFE81-C016-4EBD-9424-5C17671AA48F}"/>
              </a:ext>
            </a:extLst>
          </p:cNvPr>
          <p:cNvSpPr>
            <a:spLocks noGrp="1"/>
          </p:cNvSpPr>
          <p:nvPr/>
        </p:nvSpPr>
        <p:spPr>
          <a:xfrm>
            <a:off x="5829300" y="38290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D89C32"/>
                </a:solidFill>
              </a:defRPr>
            </a:pPr>
            <a:r>
              <a:rPr sz="1350" b="1" i="0">
                <a:solidFill>
                  <a:srgbClr val="D89C32"/>
                </a:solidFill>
              </a:rPr>
              <a:t>Éléments à lire à voix haute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E1BD73-864B-48C8-ABA7-817B09F0DF3D}"/>
              </a:ext>
            </a:extLst>
          </p:cNvPr>
          <p:cNvSpPr>
            <a:spLocks noGrp="1"/>
          </p:cNvSpPr>
          <p:nvPr/>
        </p:nvSpPr>
        <p:spPr>
          <a:xfrm>
            <a:off x="5829300" y="4171950"/>
            <a:ext cx="47625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172033"/>
                </a:solidFill>
              </a:defRPr>
            </a:pPr>
            <a:r>
              <a:rPr sz="1200" b="0" i="0">
                <a:solidFill>
                  <a:srgbClr val="172033"/>
                </a:solidFill>
              </a:rPr>
              <a:t>• Qui a écrit aujourd'hui ?</a:t>
            </a:r>
          </a:p>
          <a:p>
            <a:pPr>
              <a:defRPr sz="1200" b="0" i="0">
                <a:solidFill>
                  <a:srgbClr val="172033"/>
                </a:solidFill>
              </a:defRPr>
            </a:pPr>
            <a:r>
              <a:rPr sz="1200" b="0" i="0">
                <a:solidFill>
                  <a:srgbClr val="172033"/>
                </a:solidFill>
              </a:rPr>
              <a:t>• Qui a acheté ?</a:t>
            </a:r>
          </a:p>
          <a:p>
            <a:pPr>
              <a:defRPr sz="1200" b="0" i="0">
                <a:solidFill>
                  <a:srgbClr val="172033"/>
                </a:solidFill>
              </a:defRPr>
            </a:pPr>
            <a:r>
              <a:rPr sz="1200" b="0" i="0">
                <a:solidFill>
                  <a:srgbClr val="172033"/>
                </a:solidFill>
              </a:rPr>
              <a:t>• Qui faut-il relancer demain ?</a:t>
            </a:r>
          </a:p>
          <a:p>
            <a:pPr>
              <a:defRPr sz="1200" b="0" i="0">
                <a:solidFill>
                  <a:srgbClr val="172033"/>
                </a:solidFill>
              </a:defRPr>
            </a:pPr>
            <a:r>
              <a:rPr sz="1200" b="0" i="0">
                <a:solidFill>
                  <a:srgbClr val="172033"/>
                </a:solidFill>
              </a:rPr>
              <a:t>• Quels produits deviennent critiques ?</a:t>
            </a:r>
          </a:p>
        </p:txBody>
      </p:sp>
    </p:spTree>
    <p:extLst>
      <p:ext uri="{BB962C8B-B14F-4D97-AF65-F5344CB8AC3E}">
        <p14:creationId xmlns:p14="http://schemas.microsoft.com/office/powerpoint/2010/main" val="1357516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>
            <a:extLst>
              <a:ext uri="{FF2B5EF4-FFF2-40B4-BE49-F238E27FC236}">
                <a16:creationId xmlns:a16="http://schemas.microsoft.com/office/drawing/2014/main" id="{01208164-2C89-4A88-B99D-B87755D835B2}"/>
              </a:ext>
            </a:extLst>
          </p:cNvPr>
          <p:cNvSpPr>
            <a:spLocks noGrp="1"/>
          </p:cNvSpPr>
          <p:nvPr/>
        </p:nvSpPr>
        <p:spPr>
          <a:xfrm>
            <a:off x="-762000" y="-476250"/>
            <a:ext cx="2857500" cy="2857500"/>
          </a:xfrm>
          <a:prstGeom prst="ellipse">
            <a:avLst/>
          </a:prstGeom>
          <a:solidFill>
            <a:srgbClr val="FFE8F6"/>
          </a:solidFill>
          <a:ln w="0">
            <a:solidFill>
              <a:srgbClr val="FFE8F6"/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19A0D78-61D4-484E-8DFD-D4C7C76BFE47}"/>
              </a:ext>
            </a:extLst>
          </p:cNvPr>
          <p:cNvSpPr>
            <a:spLocks noGrp="1"/>
          </p:cNvSpPr>
          <p:nvPr/>
        </p:nvSpPr>
        <p:spPr>
          <a:xfrm>
            <a:off x="9810750" y="4953000"/>
            <a:ext cx="2476500" cy="2476500"/>
          </a:xfrm>
          <a:prstGeom prst="ellipse">
            <a:avLst/>
          </a:prstGeom>
          <a:solidFill>
            <a:srgbClr val="E8ECFF"/>
          </a:solidFill>
          <a:ln w="0">
            <a:solidFill>
              <a:srgbClr val="E8ECFF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3F6060-BC74-422A-AEE3-86958A5CA541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FF5ABF"/>
                </a:solidFill>
              </a:defRPr>
            </a:pPr>
            <a:r>
              <a:rPr sz="975" b="1" i="0">
                <a:solidFill>
                  <a:srgbClr val="FF5ABF"/>
                </a:solidFill>
              </a:rPr>
              <a:t>LIVE TIKTOK • TRANSFERAI x NETTELECOM CI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796D10-4A7B-49AB-B978-F5BB63C1F6F2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 i="0">
                <a:solidFill>
                  <a:srgbClr val="1F2A7A"/>
                </a:solidFill>
              </a:defRPr>
            </a:pPr>
            <a:r>
              <a:rPr sz="2400" b="1" i="0">
                <a:solidFill>
                  <a:srgbClr val="1F2A7A"/>
                </a:solidFill>
              </a:rPr>
              <a:t>Ce qu'il faut du client pour rendre la boutique faisable avec OpenClaw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9650A3-6F76-4D0D-8953-D00EC35E9136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1038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75569"/>
                </a:solidFill>
              </a:defRPr>
            </a:pPr>
            <a:r>
              <a:rPr sz="975" b="0" i="0">
                <a:solidFill>
                  <a:srgbClr val="475569"/>
                </a:solidFill>
              </a:rPr>
              <a:t>Projet piloté par TransferAI, notre hub IA, en collaboration avec Nettelecom CI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A9E054B-742E-4CCE-B282-4ABCD8D9A0B9}"/>
              </a:ext>
            </a:extLst>
          </p:cNvPr>
          <p:cNvSpPr>
            <a:spLocks noGrp="1"/>
          </p:cNvSpPr>
          <p:nvPr/>
        </p:nvSpPr>
        <p:spPr>
          <a:xfrm>
            <a:off x="685800" y="1828800"/>
            <a:ext cx="2628900" cy="3162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C6738E-1B02-4500-A387-697D4FE6674E}"/>
              </a:ext>
            </a:extLst>
          </p:cNvPr>
          <p:cNvSpPr>
            <a:spLocks noGrp="1"/>
          </p:cNvSpPr>
          <p:nvPr/>
        </p:nvSpPr>
        <p:spPr>
          <a:xfrm>
            <a:off x="857250" y="20955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 i="0">
                <a:solidFill>
                  <a:srgbClr val="1F2A7A"/>
                </a:solidFill>
              </a:defRPr>
            </a:pPr>
            <a:r>
              <a:rPr sz="1800" b="1" i="0">
                <a:solidFill>
                  <a:srgbClr val="1F2A7A"/>
                </a:solidFill>
              </a:rPr>
              <a:t>Base clients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C74922-64F1-45B8-BDCD-24DC861C3870}"/>
              </a:ext>
            </a:extLst>
          </p:cNvPr>
          <p:cNvSpPr>
            <a:spLocks noGrp="1"/>
          </p:cNvSpPr>
          <p:nvPr/>
        </p:nvSpPr>
        <p:spPr>
          <a:xfrm>
            <a:off x="857250" y="2590800"/>
            <a:ext cx="2286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• Prénom et nom des clientes</a:t>
            </a:r>
          </a:p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• Numéros WhatsApp</a:t>
            </a:r>
          </a:p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• Adresses e-mail si disponibles</a:t>
            </a:r>
          </a:p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• Commune ou zone de livraison si connue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B8E3A24-B4BD-4C08-A203-D09983A63C7D}"/>
              </a:ext>
            </a:extLst>
          </p:cNvPr>
          <p:cNvSpPr>
            <a:spLocks noGrp="1"/>
          </p:cNvSpPr>
          <p:nvPr/>
        </p:nvSpPr>
        <p:spPr>
          <a:xfrm>
            <a:off x="3733800" y="1828800"/>
            <a:ext cx="2628900" cy="3162300"/>
          </a:xfrm>
          <a:prstGeom prst="roundRect">
            <a:avLst>
              <a:gd name="adj" fmla="val 8696"/>
            </a:avLst>
          </a:prstGeom>
          <a:solidFill>
            <a:srgbClr val="EEF2FF"/>
          </a:solidFill>
          <a:ln w="0">
            <a:solidFill>
              <a:srgbClr val="EEF2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567A34-2C26-42B3-A623-DD65A6EA8C60}"/>
              </a:ext>
            </a:extLst>
          </p:cNvPr>
          <p:cNvSpPr>
            <a:spLocks noGrp="1"/>
          </p:cNvSpPr>
          <p:nvPr/>
        </p:nvSpPr>
        <p:spPr>
          <a:xfrm>
            <a:off x="3905250" y="20955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 i="0">
                <a:solidFill>
                  <a:srgbClr val="1F2A7A"/>
                </a:solidFill>
              </a:defRPr>
            </a:pPr>
            <a:r>
              <a:rPr sz="1800" b="1" i="0">
                <a:solidFill>
                  <a:srgbClr val="1F2A7A"/>
                </a:solidFill>
              </a:rPr>
              <a:t>Canaux &amp; catalogue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9B3BA4-D21B-4B9A-8B9C-C21813A7302E}"/>
              </a:ext>
            </a:extLst>
          </p:cNvPr>
          <p:cNvSpPr>
            <a:spLocks noGrp="1"/>
          </p:cNvSpPr>
          <p:nvPr/>
        </p:nvSpPr>
        <p:spPr>
          <a:xfrm>
            <a:off x="3905250" y="2590800"/>
            <a:ext cx="2286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• Compte TikTok officiel</a:t>
            </a:r>
          </a:p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• Compte Facebook officiel</a:t>
            </a:r>
          </a:p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• Numéro WhatsApp principal de vente</a:t>
            </a:r>
          </a:p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• Catalogue : produit, taille/âge, prix, stock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7817C15-046C-4234-B439-61E62F67E39B}"/>
              </a:ext>
            </a:extLst>
          </p:cNvPr>
          <p:cNvSpPr>
            <a:spLocks noGrp="1"/>
          </p:cNvSpPr>
          <p:nvPr/>
        </p:nvSpPr>
        <p:spPr>
          <a:xfrm>
            <a:off x="6781800" y="1828800"/>
            <a:ext cx="2628900" cy="3162300"/>
          </a:xfrm>
          <a:prstGeom prst="roundRect">
            <a:avLst>
              <a:gd name="adj" fmla="val 8696"/>
            </a:avLst>
          </a:prstGeom>
          <a:solidFill>
            <a:srgbClr val="E7F4EE"/>
          </a:solidFill>
          <a:ln w="0">
            <a:solidFill>
              <a:srgbClr val="E7F4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766667-7B21-455B-8DB7-7EF4CAC166B6}"/>
              </a:ext>
            </a:extLst>
          </p:cNvPr>
          <p:cNvSpPr>
            <a:spLocks noGrp="1"/>
          </p:cNvSpPr>
          <p:nvPr/>
        </p:nvSpPr>
        <p:spPr>
          <a:xfrm>
            <a:off x="6953250" y="20955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 i="0">
                <a:solidFill>
                  <a:srgbClr val="1F2A7A"/>
                </a:solidFill>
              </a:defRPr>
            </a:pPr>
            <a:r>
              <a:rPr sz="1800" b="1" i="0">
                <a:solidFill>
                  <a:srgbClr val="1F2A7A"/>
                </a:solidFill>
              </a:rPr>
              <a:t>Paiement &amp; pilotage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966390-7B6D-4961-AE67-76B94521A962}"/>
              </a:ext>
            </a:extLst>
          </p:cNvPr>
          <p:cNvSpPr>
            <a:spLocks noGrp="1"/>
          </p:cNvSpPr>
          <p:nvPr/>
        </p:nvSpPr>
        <p:spPr>
          <a:xfrm>
            <a:off x="6953250" y="2590800"/>
            <a:ext cx="2286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• Moyens Mobile Money acceptés</a:t>
            </a:r>
          </a:p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• Numéros d'encaissement</a:t>
            </a:r>
          </a:p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• Personne qui confirme les paiements</a:t>
            </a:r>
          </a:p>
          <a:p>
            <a:pPr>
              <a:defRPr sz="1275" b="0" i="0">
                <a:solidFill>
                  <a:srgbClr val="172033"/>
                </a:solidFill>
              </a:defRPr>
            </a:pPr>
            <a:r>
              <a:rPr sz="1275" b="0" i="0">
                <a:solidFill>
                  <a:srgbClr val="172033"/>
                </a:solidFill>
              </a:rPr>
              <a:t>• Compte Telegram et priorités de lancement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9321EBC-4E63-48A3-9183-66E02FD861E9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8724900" cy="781050"/>
          </a:xfrm>
          <a:prstGeom prst="roundRect">
            <a:avLst>
              <a:gd name="adj" fmla="val 19512"/>
            </a:avLst>
          </a:prstGeom>
          <a:solidFill>
            <a:srgbClr val="1F2A7A"/>
          </a:solidFill>
          <a:ln w="0">
            <a:solidFill>
              <a:srgbClr val="1F2A7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5B32F0-24FE-4A68-91CD-7A6065EA0453}"/>
              </a:ext>
            </a:extLst>
          </p:cNvPr>
          <p:cNvSpPr>
            <a:spLocks noGrp="1"/>
          </p:cNvSpPr>
          <p:nvPr/>
        </p:nvSpPr>
        <p:spPr>
          <a:xfrm>
            <a:off x="933450" y="5429250"/>
            <a:ext cx="819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Message clé : nous ne demandons pas une transformation lourde. Nous demandons les données minimales pour relier réseaux sociaux, WhatsApp, CRM, Mobile Money, relances et pilotage.</a:t>
            </a:r>
          </a:p>
        </p:txBody>
      </p:sp>
    </p:spTree>
    <p:extLst>
      <p:ext uri="{BB962C8B-B14F-4D97-AF65-F5344CB8AC3E}">
        <p14:creationId xmlns:p14="http://schemas.microsoft.com/office/powerpoint/2010/main" val="886945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val 32">
            <a:extLst>
              <a:ext uri="{FF2B5EF4-FFF2-40B4-BE49-F238E27FC236}">
                <a16:creationId xmlns:a16="http://schemas.microsoft.com/office/drawing/2014/main" id="{732D8CB2-4A7B-4EC7-A08B-F15ED826D7C2}"/>
              </a:ext>
            </a:extLst>
          </p:cNvPr>
          <p:cNvSpPr>
            <a:spLocks noGrp="1"/>
          </p:cNvSpPr>
          <p:nvPr/>
        </p:nvSpPr>
        <p:spPr>
          <a:xfrm>
            <a:off x="-762000" y="-476250"/>
            <a:ext cx="2857500" cy="2857500"/>
          </a:xfrm>
          <a:prstGeom prst="ellipse">
            <a:avLst/>
          </a:prstGeom>
          <a:solidFill>
            <a:srgbClr val="FFE8F6"/>
          </a:solidFill>
          <a:ln w="0">
            <a:solidFill>
              <a:srgbClr val="FFE8F6"/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73B86CB-C98F-4D63-90AD-6A293C6EAB21}"/>
              </a:ext>
            </a:extLst>
          </p:cNvPr>
          <p:cNvSpPr>
            <a:spLocks noGrp="1"/>
          </p:cNvSpPr>
          <p:nvPr/>
        </p:nvSpPr>
        <p:spPr>
          <a:xfrm>
            <a:off x="9810750" y="4953000"/>
            <a:ext cx="2476500" cy="2476500"/>
          </a:xfrm>
          <a:prstGeom prst="ellipse">
            <a:avLst/>
          </a:prstGeom>
          <a:solidFill>
            <a:srgbClr val="E8ECFF"/>
          </a:solidFill>
          <a:ln w="0">
            <a:solidFill>
              <a:srgbClr val="E8ECFF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66983E-5253-4E58-9AEA-D2A6CC1E826B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FF5ABF"/>
                </a:solidFill>
              </a:defRPr>
            </a:pPr>
            <a:r>
              <a:rPr sz="975" b="1" i="0">
                <a:solidFill>
                  <a:srgbClr val="FF5ABF"/>
                </a:solidFill>
              </a:rPr>
              <a:t>LIVE TIKTOK • TRANSFERAI x NETTELECOM CI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71AD06-0D92-4658-B9AF-D720AE6589D3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 i="0">
                <a:solidFill>
                  <a:srgbClr val="1F2A7A"/>
                </a:solidFill>
              </a:defRPr>
            </a:pPr>
            <a:r>
              <a:rPr sz="2400" b="1" i="0">
                <a:solidFill>
                  <a:srgbClr val="1F2A7A"/>
                </a:solidFill>
              </a:rPr>
              <a:t>Plan de lancement : ce que la boutique voit dans les 30 premiers jours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875C53-193A-46EC-A418-E478DBCC2DA2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1038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75569"/>
                </a:solidFill>
              </a:defRPr>
            </a:pPr>
            <a:r>
              <a:rPr sz="975" b="0" i="0">
                <a:solidFill>
                  <a:srgbClr val="475569"/>
                </a:solidFill>
              </a:rPr>
              <a:t>Projet piloté par TransferAI, notre hub IA, en collaboration avec Nettelecom CI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3EEDF6C-E6C2-422C-99B9-75E9E9AC3B06}"/>
              </a:ext>
            </a:extLst>
          </p:cNvPr>
          <p:cNvSpPr>
            <a:spLocks noGrp="1"/>
          </p:cNvSpPr>
          <p:nvPr/>
        </p:nvSpPr>
        <p:spPr>
          <a:xfrm>
            <a:off x="838200" y="2533650"/>
            <a:ext cx="2362200" cy="2019300"/>
          </a:xfrm>
          <a:prstGeom prst="roundRect">
            <a:avLst>
              <a:gd name="adj" fmla="val 11321"/>
            </a:avLst>
          </a:prstGeom>
          <a:solidFill>
            <a:srgbClr val="FBE1F4"/>
          </a:solidFill>
          <a:ln w="0">
            <a:solidFill>
              <a:srgbClr val="FBE1F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4A9249-540C-444B-9170-321845CDCBC8}"/>
              </a:ext>
            </a:extLst>
          </p:cNvPr>
          <p:cNvSpPr>
            <a:spLocks noGrp="1"/>
          </p:cNvSpPr>
          <p:nvPr/>
        </p:nvSpPr>
        <p:spPr>
          <a:xfrm>
            <a:off x="1009650" y="2762250"/>
            <a:ext cx="2019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 i="0">
                <a:solidFill>
                  <a:srgbClr val="1F2A7A"/>
                </a:solidFill>
              </a:defRPr>
            </a:pPr>
            <a:r>
              <a:rPr sz="1950" b="1" i="0">
                <a:solidFill>
                  <a:srgbClr val="1F2A7A"/>
                </a:solidFill>
              </a:rPr>
              <a:t>Jours 1-3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F32CC8-37C4-4816-8B44-BEEF47CD1926}"/>
              </a:ext>
            </a:extLst>
          </p:cNvPr>
          <p:cNvSpPr>
            <a:spLocks noGrp="1"/>
          </p:cNvSpPr>
          <p:nvPr/>
        </p:nvSpPr>
        <p:spPr>
          <a:xfrm>
            <a:off x="1009650" y="3219450"/>
            <a:ext cx="20193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172033"/>
                </a:solidFill>
              </a:defRPr>
            </a:pPr>
            <a:r>
              <a:rPr sz="1350" b="0" i="0">
                <a:solidFill>
                  <a:srgbClr val="172033"/>
                </a:solidFill>
              </a:rPr>
              <a:t>Cadrage, récupération du catalogue, scripts WhatsApp, priorités réseaux.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083C7B-8144-4BC9-9D34-BA10B09BE1DE}"/>
              </a:ext>
            </a:extLst>
          </p:cNvPr>
          <p:cNvSpPr>
            <a:spLocks noGrp="1"/>
          </p:cNvSpPr>
          <p:nvPr/>
        </p:nvSpPr>
        <p:spPr>
          <a:xfrm>
            <a:off x="3267075" y="3333750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 i="0">
                <a:solidFill>
                  <a:srgbClr val="FF5ABF"/>
                </a:solidFill>
              </a:defRPr>
            </a:pPr>
            <a:r>
              <a:rPr sz="1800" b="1" i="0">
                <a:solidFill>
                  <a:srgbClr val="FF5ABF"/>
                </a:solidFill>
              </a:rPr>
              <a:t>→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6EF3838-8BFB-40BE-83CF-D2C2DDBA37F0}"/>
              </a:ext>
            </a:extLst>
          </p:cNvPr>
          <p:cNvSpPr>
            <a:spLocks noGrp="1"/>
          </p:cNvSpPr>
          <p:nvPr/>
        </p:nvSpPr>
        <p:spPr>
          <a:xfrm>
            <a:off x="3562350" y="2533650"/>
            <a:ext cx="2362200" cy="2019300"/>
          </a:xfrm>
          <a:prstGeom prst="roundRect">
            <a:avLst>
              <a:gd name="adj" fmla="val 11321"/>
            </a:avLst>
          </a:prstGeom>
          <a:solidFill>
            <a:srgbClr val="EDEBFF"/>
          </a:solidFill>
          <a:ln w="0">
            <a:solidFill>
              <a:srgbClr val="EDEB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B61B04-6D95-4A8F-A10C-B89075CE058C}"/>
              </a:ext>
            </a:extLst>
          </p:cNvPr>
          <p:cNvSpPr>
            <a:spLocks noGrp="1"/>
          </p:cNvSpPr>
          <p:nvPr/>
        </p:nvSpPr>
        <p:spPr>
          <a:xfrm>
            <a:off x="3733800" y="2762250"/>
            <a:ext cx="2019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 i="0">
                <a:solidFill>
                  <a:srgbClr val="1F2A7A"/>
                </a:solidFill>
              </a:defRPr>
            </a:pPr>
            <a:r>
              <a:rPr sz="1950" b="1" i="0">
                <a:solidFill>
                  <a:srgbClr val="1F2A7A"/>
                </a:solidFill>
              </a:rPr>
              <a:t>Semaine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40065F-96AF-447E-86B2-6BD1778A2C85}"/>
              </a:ext>
            </a:extLst>
          </p:cNvPr>
          <p:cNvSpPr>
            <a:spLocks noGrp="1"/>
          </p:cNvSpPr>
          <p:nvPr/>
        </p:nvSpPr>
        <p:spPr>
          <a:xfrm>
            <a:off x="3733800" y="3219450"/>
            <a:ext cx="20193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172033"/>
                </a:solidFill>
              </a:defRPr>
            </a:pPr>
            <a:r>
              <a:rPr sz="1350" b="0" i="0">
                <a:solidFill>
                  <a:srgbClr val="172033"/>
                </a:solidFill>
              </a:rPr>
              <a:t>Mise en place de l'accueil WhatsApp, étiquetage OpenClaw, première fiche CRM.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5756CA-8576-42BB-AF92-0D73EAB493C0}"/>
              </a:ext>
            </a:extLst>
          </p:cNvPr>
          <p:cNvSpPr>
            <a:spLocks noGrp="1"/>
          </p:cNvSpPr>
          <p:nvPr/>
        </p:nvSpPr>
        <p:spPr>
          <a:xfrm>
            <a:off x="5991225" y="3333750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 i="0">
                <a:solidFill>
                  <a:srgbClr val="FF5ABF"/>
                </a:solidFill>
              </a:defRPr>
            </a:pPr>
            <a:r>
              <a:rPr sz="1800" b="1" i="0">
                <a:solidFill>
                  <a:srgbClr val="FF5ABF"/>
                </a:solidFill>
              </a:rPr>
              <a:t>→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A15FE14-11BE-4745-91D3-A4C813B03290}"/>
              </a:ext>
            </a:extLst>
          </p:cNvPr>
          <p:cNvSpPr>
            <a:spLocks noGrp="1"/>
          </p:cNvSpPr>
          <p:nvPr/>
        </p:nvSpPr>
        <p:spPr>
          <a:xfrm>
            <a:off x="6286500" y="2533650"/>
            <a:ext cx="2362200" cy="2019300"/>
          </a:xfrm>
          <a:prstGeom prst="roundRect">
            <a:avLst>
              <a:gd name="adj" fmla="val 11321"/>
            </a:avLst>
          </a:prstGeom>
          <a:solidFill>
            <a:srgbClr val="E7F4EE"/>
          </a:solidFill>
          <a:ln w="0">
            <a:solidFill>
              <a:srgbClr val="E7F4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2140CA-9DEB-4747-A1B2-5579586F86F5}"/>
              </a:ext>
            </a:extLst>
          </p:cNvPr>
          <p:cNvSpPr>
            <a:spLocks noGrp="1"/>
          </p:cNvSpPr>
          <p:nvPr/>
        </p:nvSpPr>
        <p:spPr>
          <a:xfrm>
            <a:off x="6457950" y="2762250"/>
            <a:ext cx="2019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 i="0">
                <a:solidFill>
                  <a:srgbClr val="1F2A7A"/>
                </a:solidFill>
              </a:defRPr>
            </a:pPr>
            <a:r>
              <a:rPr sz="1950" b="1" i="0">
                <a:solidFill>
                  <a:srgbClr val="1F2A7A"/>
                </a:solidFill>
              </a:rPr>
              <a:t>Semaine 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EADE8D-50EE-4A58-A429-D37F61644852}"/>
              </a:ext>
            </a:extLst>
          </p:cNvPr>
          <p:cNvSpPr>
            <a:spLocks noGrp="1"/>
          </p:cNvSpPr>
          <p:nvPr/>
        </p:nvSpPr>
        <p:spPr>
          <a:xfrm>
            <a:off x="6457950" y="3219450"/>
            <a:ext cx="20193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172033"/>
                </a:solidFill>
              </a:defRPr>
            </a:pPr>
            <a:r>
              <a:rPr sz="1350" b="0" i="0">
                <a:solidFill>
                  <a:srgbClr val="172033"/>
                </a:solidFill>
              </a:rPr>
              <a:t>Relances simples, nouveaux arrivages, suivi des commandes et premiers rapports Telegram.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7058D8-7B56-48DD-9B56-1589BE82D9C1}"/>
              </a:ext>
            </a:extLst>
          </p:cNvPr>
          <p:cNvSpPr>
            <a:spLocks noGrp="1"/>
          </p:cNvSpPr>
          <p:nvPr/>
        </p:nvSpPr>
        <p:spPr>
          <a:xfrm>
            <a:off x="8715375" y="3333750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 i="0">
                <a:solidFill>
                  <a:srgbClr val="FF5ABF"/>
                </a:solidFill>
              </a:defRPr>
            </a:pPr>
            <a:r>
              <a:rPr sz="1800" b="1" i="0">
                <a:solidFill>
                  <a:srgbClr val="FF5ABF"/>
                </a:solidFill>
              </a:rPr>
              <a:t>→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79576C0-7A4C-4D55-81ED-4FAC6D837E7E}"/>
              </a:ext>
            </a:extLst>
          </p:cNvPr>
          <p:cNvSpPr>
            <a:spLocks noGrp="1"/>
          </p:cNvSpPr>
          <p:nvPr/>
        </p:nvSpPr>
        <p:spPr>
          <a:xfrm>
            <a:off x="9010650" y="2533650"/>
            <a:ext cx="2362200" cy="2019300"/>
          </a:xfrm>
          <a:prstGeom prst="roundRect">
            <a:avLst>
              <a:gd name="adj" fmla="val 11321"/>
            </a:avLst>
          </a:prstGeom>
          <a:solidFill>
            <a:srgbClr val="FFF5E7"/>
          </a:solidFill>
          <a:ln w="0">
            <a:solidFill>
              <a:srgbClr val="FFF5E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D0E8DD-38BB-42CD-9EB6-A8BFA6577A65}"/>
              </a:ext>
            </a:extLst>
          </p:cNvPr>
          <p:cNvSpPr>
            <a:spLocks noGrp="1"/>
          </p:cNvSpPr>
          <p:nvPr/>
        </p:nvSpPr>
        <p:spPr>
          <a:xfrm>
            <a:off x="9182100" y="2762250"/>
            <a:ext cx="2019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 i="0">
                <a:solidFill>
                  <a:srgbClr val="1F2A7A"/>
                </a:solidFill>
              </a:defRPr>
            </a:pPr>
            <a:r>
              <a:rPr sz="1950" b="1" i="0">
                <a:solidFill>
                  <a:srgbClr val="1F2A7A"/>
                </a:solidFill>
              </a:rPr>
              <a:t>Semaine 3-4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2DC262-9A43-408E-9334-4FBAD4DFB3E2}"/>
              </a:ext>
            </a:extLst>
          </p:cNvPr>
          <p:cNvSpPr>
            <a:spLocks noGrp="1"/>
          </p:cNvSpPr>
          <p:nvPr/>
        </p:nvSpPr>
        <p:spPr>
          <a:xfrm>
            <a:off x="9182100" y="3219450"/>
            <a:ext cx="20193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172033"/>
                </a:solidFill>
              </a:defRPr>
            </a:pPr>
            <a:r>
              <a:rPr sz="1350" b="0" i="0">
                <a:solidFill>
                  <a:srgbClr val="172033"/>
                </a:solidFill>
              </a:rPr>
              <a:t>Ajustements, statuts CRM, paiement Mobile Money, routines promo et pilotage des produits critiques.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14B509-4F48-4E8C-9D8E-D4EDCBC64368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FF5ABF"/>
                </a:solidFill>
              </a:defRPr>
            </a:pPr>
            <a:r>
              <a:rPr sz="1350" b="1" i="0">
                <a:solidFill>
                  <a:srgbClr val="FF5ABF"/>
                </a:solidFill>
              </a:rPr>
              <a:t>Promesse finale au client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F1943F-61C3-4EA3-B08B-D1D10A4F260D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981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172033"/>
                </a:solidFill>
              </a:defRPr>
            </a:pPr>
            <a:r>
              <a:rPr sz="1350" b="0" i="0">
                <a:solidFill>
                  <a:srgbClr val="172033"/>
                </a:solidFill>
              </a:rPr>
              <a:t>En 30 jours, la boutique peut déjà voir une différence concrète : moins de messages perdus, plus de relances utiles, plus de mémoire client et un pilotage quotidien plus clair.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A176DA5-03B6-4723-8EF1-45CF19898707}"/>
              </a:ext>
            </a:extLst>
          </p:cNvPr>
          <p:cNvSpPr>
            <a:spLocks noGrp="1"/>
          </p:cNvSpPr>
          <p:nvPr/>
        </p:nvSpPr>
        <p:spPr>
          <a:xfrm>
            <a:off x="685800" y="514350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F7D6EB"/>
          </a:solidFill>
          <a:ln w="0">
            <a:solidFill>
              <a:srgbClr val="F7D6EB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98B1B9E-5707-44DF-9454-A71FCCABFE0B}"/>
              </a:ext>
            </a:extLst>
          </p:cNvPr>
          <p:cNvSpPr>
            <a:spLocks noGrp="1"/>
          </p:cNvSpPr>
          <p:nvPr/>
        </p:nvSpPr>
        <p:spPr>
          <a:xfrm>
            <a:off x="800100" y="5210175"/>
            <a:ext cx="1390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1F2A7A"/>
                </a:solidFill>
              </a:defRPr>
            </a:pPr>
            <a:r>
              <a:rPr sz="1050" b="1" i="0">
                <a:solidFill>
                  <a:srgbClr val="1F2A7A"/>
                </a:solidFill>
              </a:rPr>
              <a:t>TikTok attire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B6B127B-2F74-4126-BEB3-6AEAAC5B0EA3}"/>
              </a:ext>
            </a:extLst>
          </p:cNvPr>
          <p:cNvSpPr>
            <a:spLocks noGrp="1"/>
          </p:cNvSpPr>
          <p:nvPr/>
        </p:nvSpPr>
        <p:spPr>
          <a:xfrm>
            <a:off x="2419350" y="5143500"/>
            <a:ext cx="1714500" cy="323850"/>
          </a:xfrm>
          <a:prstGeom prst="roundRect">
            <a:avLst>
              <a:gd name="adj" fmla="val 50000"/>
            </a:avLst>
          </a:prstGeom>
          <a:solidFill>
            <a:srgbClr val="E7F4EE"/>
          </a:solidFill>
          <a:ln w="0">
            <a:solidFill>
              <a:srgbClr val="E7F4EE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8B1019C-F3D7-4834-AE07-C36576F07708}"/>
              </a:ext>
            </a:extLst>
          </p:cNvPr>
          <p:cNvSpPr>
            <a:spLocks noGrp="1"/>
          </p:cNvSpPr>
          <p:nvPr/>
        </p:nvSpPr>
        <p:spPr>
          <a:xfrm>
            <a:off x="2533650" y="5210175"/>
            <a:ext cx="1485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1F9D72"/>
                </a:solidFill>
              </a:defRPr>
            </a:pPr>
            <a:r>
              <a:rPr sz="1050" b="1" i="0">
                <a:solidFill>
                  <a:srgbClr val="1F9D72"/>
                </a:solidFill>
              </a:rPr>
              <a:t>WhatsApp convertit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7200AAE-9162-4082-8E80-59C099841896}"/>
              </a:ext>
            </a:extLst>
          </p:cNvPr>
          <p:cNvSpPr>
            <a:spLocks noGrp="1"/>
          </p:cNvSpPr>
          <p:nvPr/>
        </p:nvSpPr>
        <p:spPr>
          <a:xfrm>
            <a:off x="4248150" y="5143500"/>
            <a:ext cx="1809750" cy="323850"/>
          </a:xfrm>
          <a:prstGeom prst="roundRect">
            <a:avLst>
              <a:gd name="adj" fmla="val 50000"/>
            </a:avLst>
          </a:prstGeom>
          <a:solidFill>
            <a:srgbClr val="EDEBFF"/>
          </a:solidFill>
          <a:ln w="0">
            <a:solidFill>
              <a:srgbClr val="EDEBFF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90BFA8E-1385-4CF2-8B96-0D5884FF1A01}"/>
              </a:ext>
            </a:extLst>
          </p:cNvPr>
          <p:cNvSpPr>
            <a:spLocks noGrp="1"/>
          </p:cNvSpPr>
          <p:nvPr/>
        </p:nvSpPr>
        <p:spPr>
          <a:xfrm>
            <a:off x="4362450" y="5210175"/>
            <a:ext cx="1581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324CFF"/>
                </a:solidFill>
              </a:defRPr>
            </a:pPr>
            <a:r>
              <a:rPr sz="1050" b="1" i="0">
                <a:solidFill>
                  <a:srgbClr val="324CFF"/>
                </a:solidFill>
              </a:rPr>
              <a:t>OpenClaw structure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4FB6B2B6-3F67-43F9-A5E0-F754752405CA}"/>
              </a:ext>
            </a:extLst>
          </p:cNvPr>
          <p:cNvSpPr>
            <a:spLocks noGrp="1"/>
          </p:cNvSpPr>
          <p:nvPr/>
        </p:nvSpPr>
        <p:spPr>
          <a:xfrm>
            <a:off x="6172200" y="5143500"/>
            <a:ext cx="1524000" cy="323850"/>
          </a:xfrm>
          <a:prstGeom prst="roundRect">
            <a:avLst>
              <a:gd name="adj" fmla="val 50000"/>
            </a:avLst>
          </a:prstGeom>
          <a:solidFill>
            <a:srgbClr val="FFF5E7"/>
          </a:solidFill>
          <a:ln w="0">
            <a:solidFill>
              <a:srgbClr val="FFF5E7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FFD0A5D-D667-4EDD-8479-1C961090DAA1}"/>
              </a:ext>
            </a:extLst>
          </p:cNvPr>
          <p:cNvSpPr>
            <a:spLocks noGrp="1"/>
          </p:cNvSpPr>
          <p:nvPr/>
        </p:nvSpPr>
        <p:spPr>
          <a:xfrm>
            <a:off x="6286500" y="5210175"/>
            <a:ext cx="1295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D89C32"/>
                </a:solidFill>
              </a:defRPr>
            </a:pPr>
            <a:r>
              <a:rPr sz="1050" b="1" i="0">
                <a:solidFill>
                  <a:srgbClr val="D89C32"/>
                </a:solidFill>
              </a:rPr>
              <a:t>CRM mémorise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99E2F9E-1865-4B3D-8573-D37C9F68F368}"/>
              </a:ext>
            </a:extLst>
          </p:cNvPr>
          <p:cNvSpPr>
            <a:spLocks noGrp="1"/>
          </p:cNvSpPr>
          <p:nvPr/>
        </p:nvSpPr>
        <p:spPr>
          <a:xfrm>
            <a:off x="7810500" y="5143500"/>
            <a:ext cx="1657350" cy="323850"/>
          </a:xfrm>
          <a:prstGeom prst="roundRect">
            <a:avLst>
              <a:gd name="adj" fmla="val 50000"/>
            </a:avLst>
          </a:prstGeom>
          <a:solidFill>
            <a:srgbClr val="E8ECFF"/>
          </a:solidFill>
          <a:ln w="0">
            <a:solidFill>
              <a:srgbClr val="E8ECFF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B963AF6-BF78-45F6-B333-F99DA4C760CA}"/>
              </a:ext>
            </a:extLst>
          </p:cNvPr>
          <p:cNvSpPr>
            <a:spLocks noGrp="1"/>
          </p:cNvSpPr>
          <p:nvPr/>
        </p:nvSpPr>
        <p:spPr>
          <a:xfrm>
            <a:off x="7924800" y="5210175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1F2A7A"/>
                </a:solidFill>
              </a:defRPr>
            </a:pPr>
            <a:r>
              <a:rPr sz="1050" b="1" i="0">
                <a:solidFill>
                  <a:srgbClr val="1F2A7A"/>
                </a:solidFill>
              </a:rPr>
              <a:t>Telegram pilote</a:t>
            </a:r>
          </a:p>
        </p:txBody>
      </p:sp>
    </p:spTree>
    <p:extLst>
      <p:ext uri="{BB962C8B-B14F-4D97-AF65-F5344CB8AC3E}">
        <p14:creationId xmlns:p14="http://schemas.microsoft.com/office/powerpoint/2010/main" val="97306335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1732</Words>
  <Application>Microsoft Macintosh PowerPoint</Application>
  <DocSecurity>0</DocSecurity>
  <PresentationFormat>Widescreen</PresentationFormat>
  <Paragraphs>211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vtoc limited</cp:lastModifiedBy>
  <cp:revision>1</cp:revision>
  <dcterms:created xsi:type="dcterms:W3CDTF">2026-06-26T12:19:15Z</dcterms:created>
  <dcterms:modified xsi:type="dcterms:W3CDTF">2026-06-26T12:27:47Z</dcterms:modified>
</cp:coreProperties>
</file>